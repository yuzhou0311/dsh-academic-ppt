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适用：开场需要把实际现象收束为一个能被研究回答的问题。
避免：已经进入结果精读，或现象图只起装饰作用。
证据需要：可定位的现象或需求证据；明确尚未回答的关系。
构图关系：现象建立入口，证据解释为何重要，问题连接下一页的检验。
候选替代：research-gap, hero-evidence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适用：一幅复杂图需要完整画幅读清轴、图例与关系。
避免：没有单一共同问题，却把无关拼图塞满整页。
证据需要：原图、定位、完整轴和单位；解释在图中邻接或进入讲稿。
构图关系：阅读入口由证据本身决定，内部多面板仍需实际阅读顺序。
候选替代：evidence-margin, small-multiples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适用：一幅可读主图只需要短的解释与适用边界。
避免：旁注很长，或窄栏使主图的关键标签不可读。
证据需要：主图来源；旁注须区分观察、推断和边界。
构图关系：证据占主要画幅，侧栏就近解释局部，不复述整页标题。
候选替代：hero-evidence, evidence-ledger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适用：同一证据需要明确分开结果解释与适用边界。
避免：两个辅助区都只写同义结论。
证据需要：一幅证据，得到该解释的依据，至少一个真实限制条件。
构图关系：大证据跨两层；上部解释，下部条件，避免相同大小三卡。
候选替代：evidence-margin, mechanism-proof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适用：两个处理、方法或状态在同一评价口径下直接比较。
避免：两组研究的样本、指标或尺度不可比且未披露。
证据需要：A/B 的同一尺度、基准、分母、评价窗口和独立样本定义。
构图关系：两个证据在相同高度与尺度对齐，共享比较条件只写一次。
候选替代：before-after-delta, literature-matrix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适用：同一对象的两个时间点或干预前后需要同时呈现差异。
避免：不同对象被误写成前后变化，或未排除时间混杂。
证据需要：对象配对规则、前后时间、变化的计量方式与混杂限制。
构图关系：上部保留前后证据；下部以差异或变化机制连接，不重复两个描述。
候选替代：paired-comparison, contradiction-explainer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适用：同一变量在不超过四个明确条件下比较，且能共用尺度。
避免：原论文四个过密面板仍看不清，或各图坐标不相容。
证据需要：各面板的条件、共享或明确不同的尺度、完整图例和来源。
构图关系：行列有明确语义；位置代表条件，不能为凑四格而添结果。
候选替代：paired-comparison, hero-evidence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适用：趋势/分布与少量精确统计值需要同时供观众核对。
避免：数字表仅复述图中全部数值，或不确定性来源未知。
证据需要：结果图、同一分析的统计量、单位、n 和不确定性定义。
构图关系：上部读模式，下部核对数值；统计表不应挤成小角落。
候选替代：distribution-uncertainty, evidence-ledger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适用：需要区分个体观测分布和总体估计区间。
避免：只有均值却编造离散点、箱线图或置信区间。
证据需要：原始观测或已报告分布；已报告或可复算区间；区间的定义。
构图关系：分布与估计分开表达，并共享样本及单位说明。
候选替代：result-statistics, paired-comparison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适用：需要把局部现象放回总体对象、空间或系统。
避免：局部图与总体没有可追踪对应，或裁剪丢掉决定性边界。
证据需要：总体与局部的定位关系、比例尺/坐标、裁剪与放大说明。
构图关系：总览跨两层，两个局部与总览中明确标记的位置对应。
候选替代：hero-evidence, evidence-ledger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适用：研究把不同尺度的观测、过程或外推联系起来。
避免：仅有三个平行对象却画成上下游或尺度递进。
证据需要：每层的空间/时间支持、测量对象和跨尺度映射假设。
构图关系：一个连续关系图表达尺度转换；辅助栏列出不能直接外推的条件。
候选替代：method-pipeline, source-evidence-map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适用：多篇研究为同一个问题提供不同证据角色。
避免：只是将论文封面并排，缺少共同问题或支持关系。
证据需要：每个来源的具体结论、定位和支持/冲突/补充身份。
构图关系：来源列对接论证图；连接线必须能解释支持的具体命题。
候选替代：literature-matrix, cross-study-synthesis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适用：跨研究按少数相同维度进行可审查比较。
避免：表中塞下每篇论文的所有摘要，或指标定义不同却直接排名。
证据需要：来源、研究条件、比较维度与不可比项，逐行可追溯。
构图关系：列是比较维度，行是研究或方法；边界与缺测必须显式保留。
候选替代：source-evidence-map, cross-study-synthesis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适用：需要从已有研究推导一个具体缺口。
避免：用“研究很少”代替证据，或未检索就宣布首次。
证据需要：已有能力的真实证据、失效/未覆盖条件及可检验问题。
构图关系：上部对照能力与边界，下部把缺口写成可操作的关系。
候选替代：question-evidence, proposal-decision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适用：方法有清晰的输入、变换、输出以及相应条件。
避免：步骤本身是反馈或并行依赖，却被线性箭头掩盖。
证据需要：真实操作和数据流；每一步的输入输出对象；训练/评估边界。
构图关系：主流程横贯画幅，下方解释输入条件与输出验证，箭头端点真实。
候选替代：method-swimlane, feedback-cycle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适用：两个主体、数据源或阶段并行执行后汇合。
避免：实际仅是三个相邻标签，或流程顺序/同步关系未知。
证据需要：各泳道主体、共享阶段、交互/汇合点及传递对象。
构图关系：行代表主体、列代表阶段；跨行连线表达数据交换，不做装饰。
候选替代：method-pipeline, factorial-design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适用：观测或反馈改变系统的下一状态，线性列表会丢失核心机制。
避免：没有实际更新方程或因果方向，却画一个闭环表示完整。
证据需要：预测状态、观测、误差/创新量、更新对象和时间索引。
构图关系：闭环中区分预测、观测与校正，右栏保留状态/参数/单位身份。
候选替代：method-pipeline, equation-interpretation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适用：需要说明样本如何分组、接受处理并进入共同评估。
避免：直接放结果却没有交代随机化、对照或分析单位。
证据需要：实验单位、分配规则、处理、对照、评价指标和重复结构。
构图关系：分支代表处理，汇合代表共同评估；下栏保留公平比较的条件。
候选替代：factorial-design, cohort-flow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适用：样本数量在筛选、随访或清洗中发生变化。
避免：只有总样本量，无法核对各步骤的数量守恒。
证据需要：每一步的样本数量、排除理由、分析集与重复单位。
构图关系：纵向流转与右侧排除/分组对应，不能以流程图掩盖样本变化。
候选替代：experiment-design, result-statistics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适用：两个或多个因素的处理组合决定实验安排。
避免：观测分组被误写成随机因子设计。
证据需要：因素、水平、重复、随机化/区组方式、交互效应的分析定义。
构图关系：左侧精确组合矩阵，右侧表达分配/分析关系。
候选替代：experiment-design, literature-matrix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适用：机制示意需要与具体结果相互核对。
避免：示意箭头被当成因果证据，或证据只支持相关性。
证据需要：机制来源、对应观测/干预、替代解释和适用边界。
构图关系：左机制右证据逐点对应，下栏标明证据不能证明什么。
候选替代：evidence-ledger, contradiction-explainer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适用：核心方程值得逐项解释，并且影响后续方法或判断。
避免：公式仅增加学术感，或渲染不能保留数学符号。
证据需要：公式来源/推导身份、变量与单位、假设、适用域。
构图关系：公式为主视觉；符号解释与假设是不同层，不能只放无定义方程。
候选替代：feedback-cycle, method-pipeline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适用：需要把性能变化与具体移除/替换的组件关联。
避免：多个因素同时变化却把差异归因于单一组件。
证据需要：基线、唯一干预、共同训练/验证条件、方差和指标方向。
构图关系：左侧结果对齐右侧组件/干预表，阅读者能核查每个比较的含义。
候选替代：result-statistics, paired-comparison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适用：结论随环境、参数或数据分布变化，需要呈现失效区域。
避免：只有最佳配置的一个数字，却宣称普遍稳健。
证据需要：实际扫描范围、指标尺度、失败条件与未观测区域。
构图关系：上部条件空间保留连续性/离散性，下部解释有效域与失效域。
候选替代：small-multiples, limitation-response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适用：研究得到方向不同的结果，需要解释条件差异。
避免：通过删去反向结果来制造一致结论。
证据需要：两项结果的真实出处、指标、样本、尺度及可比性。
构图关系：冲突先可见，再比较可能解释；假设性的解释明确为推断。
候选替代：paired-comparison, cross-study-synthesis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适用：一组研究已经比较过，需要回答共同问题并保留分歧。
避免：未完成逐项核对就生成包罗万象的共识。
证据需要：比较过的来源、支持/冲突/缺测记录和推断边界。
构图关系：上部证据关系压缩但可追溯，下部明确综合判断与尚未知之处。
候选替代：literature-matrix, source-evidence-map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适用：需要把局限具体连接到影响和补救/验证动作。
避免：列出泛泛缺点，然后默认未来工作必然解决。
证据需要：局限的证据、影响哪一项判断、可测的响应与失败分支。
构图关系：每一行是局限→影响→行动的同一关系，行数由实际材料决定。
候选替代：proposal-decision, robustness-landscape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适用：尚未实施的方案需要解释如何得到可判定结果。
避免：将预期效果写成已取得结果，或只画成功路线。
证据需要：明确假设、公平对照、观测指标、预先定义的判断及失败后行动。
构图关系：问题通向实验，再分为支持/不支持两条路径，保留两种结果。
候选替代：experiment-design, research-gap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适用：多个工作包有真实数据、方法或交付物依赖。
避免：只需并列任务清单却画大量无意义箭头。
证据需要：每个工作包的输入、输出、负责人/边界、依赖与汇合。
构图关系：节点是研究任务，边是可说明的交付物，关键路径不能靠颜色臆断。
候选替代：method-swimlane, milestone-timeline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适用：研究进度必须对应时间和可核验交付物。
避免：时间点没有依据，或把所有任务画成顺序串行。
证据需要：开始/结束或阶段时间、依赖、当前状态与验收定义。
构图关系：上部时间与任务对齐，下部说明关键里程碑如何被验收。
候选替代：work-package-dependency, proposal-decision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适用：需要解释资源如何分配，并核对总量与项目。
避免：缺少真实预算或数量，却用饼图面积暗示精确比例。
证据需要：真实总量、单位、分配规则、分类互斥性与加总校验。
构图关系：结构图解释归属，表格保留精确数值；图表不新增虚构预算。
候选替代：result-statistics, literature-matrix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适用：结尾需要回到开场问题，明确已知、边界和下一步讨论。
避免：最后一页只重复章节标题或喊口号。
证据需要：已讲过的证据链、可支持的回答、不可外推范围。
构图关系：主区域回答问题，下部将关键证据与未决条件并置，不引入新发现。
候选替代：cross-study-synthesis, question-evidence
所有示意图均原创；图形形态用于显示信息关系，不能作为论文图或实际研究结果使用。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-evidenc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32</a:t>
            </a:r>
            <a:endParaRPr lang="zh-CN" sz="1350" dirty="0"/>
          </a:p>
        </p:txBody>
      </p:sp>
      <p:sp>
        <p:nvSpPr>
          <p:cNvPr id="3" name="question-evidenc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现象、证据与可检验问题</a:t>
            </a:r>
            <a:endParaRPr lang="zh-CN" sz="3150" dirty="0"/>
          </a:p>
        </p:txBody>
      </p:sp>
      <p:sp>
        <p:nvSpPr>
          <p:cNvPr id="4" name="question-evidenc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question-evidence/drawing/art-observation/e1"/>
          <p:cNvSpPr/>
          <p:nvPr/>
        </p:nvSpPr>
        <p:spPr>
          <a:xfrm>
            <a:off x="457200" y="1676400"/>
            <a:ext cx="68793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观察对象与空间关系示意</a:t>
            </a:r>
            <a:endParaRPr lang="zh-CN" sz="1800" dirty="0"/>
          </a:p>
        </p:txBody>
      </p:sp>
      <p:sp>
        <p:nvSpPr>
          <p:cNvPr id="6" name="question-evidence/drawing/art-observation/e2"/>
          <p:cNvSpPr/>
          <p:nvPr/>
        </p:nvSpPr>
        <p:spPr>
          <a:xfrm>
            <a:off x="457200" y="2152650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question-evidence/drawing/art-observation/e3"/>
          <p:cNvSpPr/>
          <p:nvPr/>
        </p:nvSpPr>
        <p:spPr>
          <a:xfrm>
            <a:off x="1205696" y="2152650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question-evidence/drawing/art-observation/e4"/>
          <p:cNvSpPr/>
          <p:nvPr/>
        </p:nvSpPr>
        <p:spPr>
          <a:xfrm>
            <a:off x="1954191" y="2152650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question-evidence/drawing/art-observation/e5"/>
          <p:cNvSpPr/>
          <p:nvPr/>
        </p:nvSpPr>
        <p:spPr>
          <a:xfrm>
            <a:off x="2702687" y="2152650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question-evidence/drawing/art-observation/e6"/>
          <p:cNvSpPr/>
          <p:nvPr/>
        </p:nvSpPr>
        <p:spPr>
          <a:xfrm>
            <a:off x="3451183" y="2152650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question-evidence/drawing/art-observation/e7"/>
          <p:cNvSpPr/>
          <p:nvPr/>
        </p:nvSpPr>
        <p:spPr>
          <a:xfrm>
            <a:off x="4199678" y="2152650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question-evidence/drawing/art-observation/e8"/>
          <p:cNvSpPr/>
          <p:nvPr/>
        </p:nvSpPr>
        <p:spPr>
          <a:xfrm>
            <a:off x="4948174" y="2152650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question-evidence/drawing/art-observation/e9"/>
          <p:cNvSpPr/>
          <p:nvPr/>
        </p:nvSpPr>
        <p:spPr>
          <a:xfrm>
            <a:off x="5696670" y="2152650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question-evidence/drawing/art-observation/e10"/>
          <p:cNvSpPr/>
          <p:nvPr/>
        </p:nvSpPr>
        <p:spPr>
          <a:xfrm>
            <a:off x="6445165" y="2152650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question-evidence/drawing/art-observation/e11"/>
          <p:cNvSpPr/>
          <p:nvPr/>
        </p:nvSpPr>
        <p:spPr>
          <a:xfrm>
            <a:off x="457200" y="2560638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question-evidence/drawing/art-observation/e12"/>
          <p:cNvSpPr/>
          <p:nvPr/>
        </p:nvSpPr>
        <p:spPr>
          <a:xfrm>
            <a:off x="1205696" y="2560638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question-evidence/drawing/art-observation/e13"/>
          <p:cNvSpPr/>
          <p:nvPr/>
        </p:nvSpPr>
        <p:spPr>
          <a:xfrm>
            <a:off x="1954191" y="2560638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question-evidence/drawing/art-observation/e14"/>
          <p:cNvSpPr/>
          <p:nvPr/>
        </p:nvSpPr>
        <p:spPr>
          <a:xfrm>
            <a:off x="2702687" y="2560638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question-evidence/drawing/art-observation/e15"/>
          <p:cNvSpPr/>
          <p:nvPr/>
        </p:nvSpPr>
        <p:spPr>
          <a:xfrm>
            <a:off x="3451183" y="2560638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question-evidence/drawing/art-observation/e16"/>
          <p:cNvSpPr/>
          <p:nvPr/>
        </p:nvSpPr>
        <p:spPr>
          <a:xfrm>
            <a:off x="4199678" y="2560638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question-evidence/drawing/art-observation/e17"/>
          <p:cNvSpPr/>
          <p:nvPr/>
        </p:nvSpPr>
        <p:spPr>
          <a:xfrm>
            <a:off x="4948174" y="2560638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question-evidence/drawing/art-observation/e18"/>
          <p:cNvSpPr/>
          <p:nvPr/>
        </p:nvSpPr>
        <p:spPr>
          <a:xfrm>
            <a:off x="5696670" y="2560638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question-evidence/drawing/art-observation/e19"/>
          <p:cNvSpPr/>
          <p:nvPr/>
        </p:nvSpPr>
        <p:spPr>
          <a:xfrm>
            <a:off x="6445165" y="2560638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question-evidence/drawing/art-observation/e20"/>
          <p:cNvSpPr/>
          <p:nvPr/>
        </p:nvSpPr>
        <p:spPr>
          <a:xfrm>
            <a:off x="457200" y="2968625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question-evidence/drawing/art-observation/e21"/>
          <p:cNvSpPr/>
          <p:nvPr/>
        </p:nvSpPr>
        <p:spPr>
          <a:xfrm>
            <a:off x="1205696" y="2968625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question-evidence/drawing/art-observation/e22"/>
          <p:cNvSpPr/>
          <p:nvPr/>
        </p:nvSpPr>
        <p:spPr>
          <a:xfrm>
            <a:off x="1954191" y="2968625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question-evidence/drawing/art-observation/e23"/>
          <p:cNvSpPr/>
          <p:nvPr/>
        </p:nvSpPr>
        <p:spPr>
          <a:xfrm>
            <a:off x="2702687" y="2968625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question-evidence/drawing/art-observation/e24"/>
          <p:cNvSpPr/>
          <p:nvPr/>
        </p:nvSpPr>
        <p:spPr>
          <a:xfrm>
            <a:off x="3451183" y="2968625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question-evidence/drawing/art-observation/e25"/>
          <p:cNvSpPr/>
          <p:nvPr/>
        </p:nvSpPr>
        <p:spPr>
          <a:xfrm>
            <a:off x="4199678" y="2968625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question-evidence/drawing/art-observation/e26"/>
          <p:cNvSpPr/>
          <p:nvPr/>
        </p:nvSpPr>
        <p:spPr>
          <a:xfrm>
            <a:off x="4948174" y="2968625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question-evidence/drawing/art-observation/e27"/>
          <p:cNvSpPr/>
          <p:nvPr/>
        </p:nvSpPr>
        <p:spPr>
          <a:xfrm>
            <a:off x="5696670" y="2968625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question-evidence/drawing/art-observation/e28"/>
          <p:cNvSpPr/>
          <p:nvPr/>
        </p:nvSpPr>
        <p:spPr>
          <a:xfrm>
            <a:off x="6445165" y="2968625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question-evidence/drawing/art-observation/e29"/>
          <p:cNvSpPr/>
          <p:nvPr/>
        </p:nvSpPr>
        <p:spPr>
          <a:xfrm>
            <a:off x="457200" y="3376613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question-evidence/drawing/art-observation/e30"/>
          <p:cNvSpPr/>
          <p:nvPr/>
        </p:nvSpPr>
        <p:spPr>
          <a:xfrm>
            <a:off x="1205696" y="3376613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question-evidence/drawing/art-observation/e31"/>
          <p:cNvSpPr/>
          <p:nvPr/>
        </p:nvSpPr>
        <p:spPr>
          <a:xfrm>
            <a:off x="1954191" y="3376613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question-evidence/drawing/art-observation/e32"/>
          <p:cNvSpPr/>
          <p:nvPr/>
        </p:nvSpPr>
        <p:spPr>
          <a:xfrm>
            <a:off x="2702687" y="3376613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question-evidence/drawing/art-observation/e33"/>
          <p:cNvSpPr/>
          <p:nvPr/>
        </p:nvSpPr>
        <p:spPr>
          <a:xfrm>
            <a:off x="3451183" y="3376613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question-evidence/drawing/art-observation/e34"/>
          <p:cNvSpPr/>
          <p:nvPr/>
        </p:nvSpPr>
        <p:spPr>
          <a:xfrm>
            <a:off x="4199678" y="3376613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question-evidence/drawing/art-observation/e35"/>
          <p:cNvSpPr/>
          <p:nvPr/>
        </p:nvSpPr>
        <p:spPr>
          <a:xfrm>
            <a:off x="4948174" y="3376613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question-evidence/drawing/art-observation/e36"/>
          <p:cNvSpPr/>
          <p:nvPr/>
        </p:nvSpPr>
        <p:spPr>
          <a:xfrm>
            <a:off x="5696670" y="3376613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question-evidence/drawing/art-observation/e37"/>
          <p:cNvSpPr/>
          <p:nvPr/>
        </p:nvSpPr>
        <p:spPr>
          <a:xfrm>
            <a:off x="6445165" y="3376613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question-evidence/drawing/art-observation/e38"/>
          <p:cNvSpPr/>
          <p:nvPr/>
        </p:nvSpPr>
        <p:spPr>
          <a:xfrm>
            <a:off x="457200" y="3784600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question-evidence/drawing/art-observation/e39"/>
          <p:cNvSpPr/>
          <p:nvPr/>
        </p:nvSpPr>
        <p:spPr>
          <a:xfrm>
            <a:off x="1205696" y="3784600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question-evidence/drawing/art-observation/e40"/>
          <p:cNvSpPr/>
          <p:nvPr/>
        </p:nvSpPr>
        <p:spPr>
          <a:xfrm>
            <a:off x="1954191" y="3784600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question-evidence/drawing/art-observation/e41"/>
          <p:cNvSpPr/>
          <p:nvPr/>
        </p:nvSpPr>
        <p:spPr>
          <a:xfrm>
            <a:off x="2702687" y="3784600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question-evidence/drawing/art-observation/e42"/>
          <p:cNvSpPr/>
          <p:nvPr/>
        </p:nvSpPr>
        <p:spPr>
          <a:xfrm>
            <a:off x="3451183" y="3784600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question-evidence/drawing/art-observation/e43"/>
          <p:cNvSpPr/>
          <p:nvPr/>
        </p:nvSpPr>
        <p:spPr>
          <a:xfrm>
            <a:off x="4199678" y="3784600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question-evidence/drawing/art-observation/e44"/>
          <p:cNvSpPr/>
          <p:nvPr/>
        </p:nvSpPr>
        <p:spPr>
          <a:xfrm>
            <a:off x="4948174" y="3784600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question-evidence/drawing/art-observation/e45"/>
          <p:cNvSpPr/>
          <p:nvPr/>
        </p:nvSpPr>
        <p:spPr>
          <a:xfrm>
            <a:off x="5696670" y="3784600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question-evidence/drawing/art-observation/e46"/>
          <p:cNvSpPr/>
          <p:nvPr/>
        </p:nvSpPr>
        <p:spPr>
          <a:xfrm>
            <a:off x="6445165" y="3784600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question-evidence/drawing/art-observation/e47"/>
          <p:cNvSpPr/>
          <p:nvPr/>
        </p:nvSpPr>
        <p:spPr>
          <a:xfrm>
            <a:off x="457200" y="4192588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question-evidence/drawing/art-observation/e48"/>
          <p:cNvSpPr/>
          <p:nvPr/>
        </p:nvSpPr>
        <p:spPr>
          <a:xfrm>
            <a:off x="1205696" y="4192588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question-evidence/drawing/art-observation/e49"/>
          <p:cNvSpPr/>
          <p:nvPr/>
        </p:nvSpPr>
        <p:spPr>
          <a:xfrm>
            <a:off x="1954191" y="4192588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question-evidence/drawing/art-observation/e50"/>
          <p:cNvSpPr/>
          <p:nvPr/>
        </p:nvSpPr>
        <p:spPr>
          <a:xfrm>
            <a:off x="2702687" y="4192588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question-evidence/drawing/art-observation/e51"/>
          <p:cNvSpPr/>
          <p:nvPr/>
        </p:nvSpPr>
        <p:spPr>
          <a:xfrm>
            <a:off x="3451183" y="4192588"/>
            <a:ext cx="729446" cy="388938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question-evidence/drawing/art-observation/e52"/>
          <p:cNvSpPr/>
          <p:nvPr/>
        </p:nvSpPr>
        <p:spPr>
          <a:xfrm>
            <a:off x="4199678" y="4192588"/>
            <a:ext cx="729446" cy="388938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question-evidence/drawing/art-observation/e53"/>
          <p:cNvSpPr/>
          <p:nvPr/>
        </p:nvSpPr>
        <p:spPr>
          <a:xfrm>
            <a:off x="4948174" y="4192588"/>
            <a:ext cx="729446" cy="388938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question-evidence/drawing/art-observation/e54"/>
          <p:cNvSpPr/>
          <p:nvPr/>
        </p:nvSpPr>
        <p:spPr>
          <a:xfrm>
            <a:off x="5696670" y="4192588"/>
            <a:ext cx="729446" cy="388938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question-evidence/drawing/art-observation/e55"/>
          <p:cNvSpPr/>
          <p:nvPr/>
        </p:nvSpPr>
        <p:spPr>
          <a:xfrm>
            <a:off x="6445165" y="4192588"/>
            <a:ext cx="729446" cy="388938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question-evidence/drawing/art-observation/e56"/>
          <p:cNvSpPr/>
          <p:nvPr/>
        </p:nvSpPr>
        <p:spPr>
          <a:xfrm>
            <a:off x="1205696" y="2560638"/>
            <a:ext cx="1496991" cy="815975"/>
          </a:xfrm>
          <a:prstGeom prst="rect">
            <a:avLst/>
          </a:prstGeom>
          <a:ln w="14288">
            <a:solidFill>
              <a:srgbClr val="235F89"/>
            </a:solidFill>
            <a:prstDash val="solid"/>
          </a:ln>
        </p:spPr>
      </p:sp>
      <p:sp>
        <p:nvSpPr>
          <p:cNvPr id="61" name="question-evidence/drawing/art-observation/e57"/>
          <p:cNvSpPr/>
          <p:nvPr/>
        </p:nvSpPr>
        <p:spPr>
          <a:xfrm>
            <a:off x="4948174" y="3376613"/>
            <a:ext cx="1496991" cy="815975"/>
          </a:xfrm>
          <a:prstGeom prst="rect">
            <a:avLst/>
          </a:prstGeom>
          <a:ln w="14288">
            <a:solidFill>
              <a:srgbClr val="B6684C"/>
            </a:solidFill>
            <a:prstDash val="solid"/>
          </a:ln>
        </p:spPr>
      </p:sp>
      <p:sp>
        <p:nvSpPr>
          <p:cNvPr id="62" name="question-evidence/drawing/art-observation/e58"/>
          <p:cNvSpPr/>
          <p:nvPr/>
        </p:nvSpPr>
        <p:spPr>
          <a:xfrm>
            <a:off x="1262846" y="2617788"/>
            <a:ext cx="381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zh-CN" sz="1800" dirty="0"/>
          </a:p>
        </p:txBody>
      </p:sp>
      <p:sp>
        <p:nvSpPr>
          <p:cNvPr id="63" name="question-evidence/drawing/art-observation/e59"/>
          <p:cNvSpPr/>
          <p:nvPr/>
        </p:nvSpPr>
        <p:spPr>
          <a:xfrm>
            <a:off x="5005324" y="3433763"/>
            <a:ext cx="381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zh-CN" sz="1800" dirty="0"/>
          </a:p>
        </p:txBody>
      </p:sp>
      <p:sp>
        <p:nvSpPr>
          <p:cNvPr id="64" name="question-evidence/drawing/art-context/e1/segment-1"/>
          <p:cNvSpPr/>
          <p:nvPr/>
        </p:nvSpPr>
        <p:spPr>
          <a:xfrm>
            <a:off x="7674864" y="168592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65" name="question-evidence/drawing/art-context/e2"/>
          <p:cNvSpPr/>
          <p:nvPr/>
        </p:nvSpPr>
        <p:spPr>
          <a:xfrm>
            <a:off x="7674864" y="1809750"/>
            <a:ext cx="40599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现象发生的条件</a:t>
            </a:r>
            <a:endParaRPr lang="zh-CN" sz="1800" dirty="0"/>
          </a:p>
        </p:txBody>
      </p:sp>
      <p:sp>
        <p:nvSpPr>
          <p:cNvPr id="66" name="question-evidence/drawing/art-context/e3"/>
          <p:cNvSpPr/>
          <p:nvPr/>
        </p:nvSpPr>
        <p:spPr>
          <a:xfrm>
            <a:off x="7674864" y="2141220"/>
            <a:ext cx="4059936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测量对象、时间与环境决定现象的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含义。</a:t>
            </a:r>
            <a:endParaRPr lang="zh-CN" sz="2100" dirty="0"/>
          </a:p>
        </p:txBody>
      </p:sp>
      <p:sp>
        <p:nvSpPr>
          <p:cNvPr id="67" name="question-evidence/drawing/art-question/e1/segment-1"/>
          <p:cNvSpPr/>
          <p:nvPr/>
        </p:nvSpPr>
        <p:spPr>
          <a:xfrm>
            <a:off x="457200" y="497205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68" name="question-evidence/drawing/art-question/e2"/>
          <p:cNvSpPr/>
          <p:nvPr/>
        </p:nvSpPr>
        <p:spPr>
          <a:xfrm>
            <a:off x="457200" y="5095875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需要回答的问题</a:t>
            </a:r>
            <a:endParaRPr lang="zh-CN" sz="1800" dirty="0"/>
          </a:p>
        </p:txBody>
      </p:sp>
      <p:sp>
        <p:nvSpPr>
          <p:cNvPr id="69" name="question-evidence/drawing/art-question/e3"/>
          <p:cNvSpPr/>
          <p:nvPr/>
        </p:nvSpPr>
        <p:spPr>
          <a:xfrm>
            <a:off x="457200" y="5427345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哪些观测能够约束当前研究问题？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evidenc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32</a:t>
            </a:r>
            <a:endParaRPr lang="zh-CN" sz="1350" dirty="0"/>
          </a:p>
        </p:txBody>
      </p:sp>
      <p:sp>
        <p:nvSpPr>
          <p:cNvPr id="3" name="hero-evidenc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单一证据精读</a:t>
            </a:r>
            <a:endParaRPr lang="zh-CN" sz="3150" dirty="0"/>
          </a:p>
        </p:txBody>
      </p:sp>
      <p:sp>
        <p:nvSpPr>
          <p:cNvPr id="4" name="hero-evidenc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hero-evidence/drawing/art-evidence/e1"/>
          <p:cNvSpPr/>
          <p:nvPr/>
        </p:nvSpPr>
        <p:spPr>
          <a:xfrm>
            <a:off x="457200" y="1676400"/>
            <a:ext cx="721766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合成观测分布</a:t>
            </a:r>
            <a:endParaRPr lang="zh-CN" sz="1800" dirty="0"/>
          </a:p>
        </p:txBody>
      </p:sp>
      <p:sp>
        <p:nvSpPr>
          <p:cNvPr id="6" name="hero-evidence/drawing/art-evidence/e2/segment-1"/>
          <p:cNvSpPr/>
          <p:nvPr/>
        </p:nvSpPr>
        <p:spPr>
          <a:xfrm>
            <a:off x="981075" y="2247900"/>
            <a:ext cx="0" cy="325755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7" name="hero-evidence/drawing/art-evidence/e2/segment-2"/>
          <p:cNvSpPr/>
          <p:nvPr/>
        </p:nvSpPr>
        <p:spPr>
          <a:xfrm>
            <a:off x="981075" y="5505450"/>
            <a:ext cx="6379464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8" name="hero-evidence/drawing/art-evidence/e3"/>
          <p:cNvSpPr/>
          <p:nvPr/>
        </p:nvSpPr>
        <p:spPr>
          <a:xfrm>
            <a:off x="2595875" y="471811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hero-evidence/drawing/art-evidence/e4"/>
          <p:cNvSpPr/>
          <p:nvPr/>
        </p:nvSpPr>
        <p:spPr>
          <a:xfrm>
            <a:off x="2729225" y="435978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hero-evidence/drawing/art-evidence/e5"/>
          <p:cNvSpPr/>
          <p:nvPr/>
        </p:nvSpPr>
        <p:spPr>
          <a:xfrm>
            <a:off x="2862575" y="419690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hero-evidence/drawing/art-evidence/e6"/>
          <p:cNvSpPr/>
          <p:nvPr/>
        </p:nvSpPr>
        <p:spPr>
          <a:xfrm>
            <a:off x="2595875" y="377342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hero-evidence/drawing/art-evidence/e7"/>
          <p:cNvSpPr/>
          <p:nvPr/>
        </p:nvSpPr>
        <p:spPr>
          <a:xfrm>
            <a:off x="2729225" y="361054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hero-evidence/drawing/art-evidence/e8"/>
          <p:cNvSpPr/>
          <p:nvPr/>
        </p:nvSpPr>
        <p:spPr>
          <a:xfrm>
            <a:off x="2862575" y="338251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hero-evidence/drawing/art-evidence/e9"/>
          <p:cNvSpPr/>
          <p:nvPr/>
        </p:nvSpPr>
        <p:spPr>
          <a:xfrm>
            <a:off x="2595875" y="312191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hero-evidence/drawing/art-evidence/e10"/>
          <p:cNvSpPr/>
          <p:nvPr/>
        </p:nvSpPr>
        <p:spPr>
          <a:xfrm>
            <a:off x="2729225" y="282873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hero-evidence/drawing/art-evidence/e11"/>
          <p:cNvSpPr/>
          <p:nvPr/>
        </p:nvSpPr>
        <p:spPr>
          <a:xfrm>
            <a:off x="2148200" y="564832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A</a:t>
            </a:r>
            <a:endParaRPr lang="zh-CN" sz="1800" dirty="0"/>
          </a:p>
        </p:txBody>
      </p:sp>
      <p:sp>
        <p:nvSpPr>
          <p:cNvPr id="17" name="hero-evidence/drawing/art-evidence/e12"/>
          <p:cNvSpPr/>
          <p:nvPr/>
        </p:nvSpPr>
        <p:spPr>
          <a:xfrm>
            <a:off x="5402839" y="452266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hero-evidence/drawing/art-evidence/e13"/>
          <p:cNvSpPr/>
          <p:nvPr/>
        </p:nvSpPr>
        <p:spPr>
          <a:xfrm>
            <a:off x="5536189" y="413175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hero-evidence/drawing/art-evidence/e14"/>
          <p:cNvSpPr/>
          <p:nvPr/>
        </p:nvSpPr>
        <p:spPr>
          <a:xfrm>
            <a:off x="5669539" y="400145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hero-evidence/drawing/art-evidence/e15"/>
          <p:cNvSpPr/>
          <p:nvPr/>
        </p:nvSpPr>
        <p:spPr>
          <a:xfrm>
            <a:off x="5402839" y="357797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hero-evidence/drawing/art-evidence/e16"/>
          <p:cNvSpPr/>
          <p:nvPr/>
        </p:nvSpPr>
        <p:spPr>
          <a:xfrm>
            <a:off x="5536189" y="338251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hero-evidence/drawing/art-evidence/e17"/>
          <p:cNvSpPr/>
          <p:nvPr/>
        </p:nvSpPr>
        <p:spPr>
          <a:xfrm>
            <a:off x="5669539" y="321964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hero-evidence/drawing/art-evidence/e18"/>
          <p:cNvSpPr/>
          <p:nvPr/>
        </p:nvSpPr>
        <p:spPr>
          <a:xfrm>
            <a:off x="5402839" y="289388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hero-evidence/drawing/art-evidence/e19"/>
          <p:cNvSpPr/>
          <p:nvPr/>
        </p:nvSpPr>
        <p:spPr>
          <a:xfrm>
            <a:off x="5536189" y="273100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hero-evidence/drawing/art-evidence/e20"/>
          <p:cNvSpPr/>
          <p:nvPr/>
        </p:nvSpPr>
        <p:spPr>
          <a:xfrm>
            <a:off x="4955164" y="564832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B</a:t>
            </a:r>
            <a:endParaRPr lang="zh-CN" sz="1800" dirty="0"/>
          </a:p>
        </p:txBody>
      </p:sp>
      <p:sp>
        <p:nvSpPr>
          <p:cNvPr id="26" name="hero-evidence/drawing/art-evidence/e21"/>
          <p:cNvSpPr/>
          <p:nvPr/>
        </p:nvSpPr>
        <p:spPr>
          <a:xfrm>
            <a:off x="8238744" y="1676400"/>
            <a:ext cx="349605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 局部结构</a:t>
            </a:r>
            <a:endParaRPr lang="zh-CN" sz="1800" dirty="0"/>
          </a:p>
        </p:txBody>
      </p:sp>
      <p:sp>
        <p:nvSpPr>
          <p:cNvPr id="27" name="hero-evidence/drawing/art-evidence/e22"/>
          <p:cNvSpPr/>
          <p:nvPr/>
        </p:nvSpPr>
        <p:spPr>
          <a:xfrm>
            <a:off x="8238744" y="2152650"/>
            <a:ext cx="651586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hero-evidence/drawing/art-evidence/e23"/>
          <p:cNvSpPr/>
          <p:nvPr/>
        </p:nvSpPr>
        <p:spPr>
          <a:xfrm>
            <a:off x="8909380" y="2152650"/>
            <a:ext cx="651586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hero-evidence/drawing/art-evidence/e24"/>
          <p:cNvSpPr/>
          <p:nvPr/>
        </p:nvSpPr>
        <p:spPr>
          <a:xfrm>
            <a:off x="9580016" y="2152650"/>
            <a:ext cx="651586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hero-evidence/drawing/art-evidence/e25"/>
          <p:cNvSpPr/>
          <p:nvPr/>
        </p:nvSpPr>
        <p:spPr>
          <a:xfrm>
            <a:off x="10250653" y="2152650"/>
            <a:ext cx="651586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hero-evidence/drawing/art-evidence/e26"/>
          <p:cNvSpPr/>
          <p:nvPr/>
        </p:nvSpPr>
        <p:spPr>
          <a:xfrm>
            <a:off x="10921289" y="2152650"/>
            <a:ext cx="651586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hero-evidence/drawing/art-evidence/e27"/>
          <p:cNvSpPr/>
          <p:nvPr/>
        </p:nvSpPr>
        <p:spPr>
          <a:xfrm>
            <a:off x="8238744" y="2632710"/>
            <a:ext cx="651586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hero-evidence/drawing/art-evidence/e28"/>
          <p:cNvSpPr/>
          <p:nvPr/>
        </p:nvSpPr>
        <p:spPr>
          <a:xfrm>
            <a:off x="8909380" y="2632710"/>
            <a:ext cx="651586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hero-evidence/drawing/art-evidence/e29"/>
          <p:cNvSpPr/>
          <p:nvPr/>
        </p:nvSpPr>
        <p:spPr>
          <a:xfrm>
            <a:off x="9580016" y="2632710"/>
            <a:ext cx="651586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hero-evidence/drawing/art-evidence/e30"/>
          <p:cNvSpPr/>
          <p:nvPr/>
        </p:nvSpPr>
        <p:spPr>
          <a:xfrm>
            <a:off x="10250653" y="2632710"/>
            <a:ext cx="651586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hero-evidence/drawing/art-evidence/e31"/>
          <p:cNvSpPr/>
          <p:nvPr/>
        </p:nvSpPr>
        <p:spPr>
          <a:xfrm>
            <a:off x="10921289" y="2632710"/>
            <a:ext cx="651586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hero-evidence/drawing/art-evidence/e32"/>
          <p:cNvSpPr/>
          <p:nvPr/>
        </p:nvSpPr>
        <p:spPr>
          <a:xfrm>
            <a:off x="8238744" y="3112770"/>
            <a:ext cx="651586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hero-evidence/drawing/art-evidence/e33"/>
          <p:cNvSpPr/>
          <p:nvPr/>
        </p:nvSpPr>
        <p:spPr>
          <a:xfrm>
            <a:off x="8909380" y="3112770"/>
            <a:ext cx="651586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hero-evidence/drawing/art-evidence/e34"/>
          <p:cNvSpPr/>
          <p:nvPr/>
        </p:nvSpPr>
        <p:spPr>
          <a:xfrm>
            <a:off x="9580016" y="3112770"/>
            <a:ext cx="651586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hero-evidence/drawing/art-evidence/e35"/>
          <p:cNvSpPr/>
          <p:nvPr/>
        </p:nvSpPr>
        <p:spPr>
          <a:xfrm>
            <a:off x="10250653" y="3112770"/>
            <a:ext cx="651586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hero-evidence/drawing/art-evidence/e36"/>
          <p:cNvSpPr/>
          <p:nvPr/>
        </p:nvSpPr>
        <p:spPr>
          <a:xfrm>
            <a:off x="10921289" y="3112770"/>
            <a:ext cx="651586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hero-evidence/drawing/art-evidence/e37/segment-1"/>
          <p:cNvSpPr/>
          <p:nvPr/>
        </p:nvSpPr>
        <p:spPr>
          <a:xfrm>
            <a:off x="8238744" y="418338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43" name="hero-evidence/drawing/art-evidence/e38"/>
          <p:cNvSpPr/>
          <p:nvPr/>
        </p:nvSpPr>
        <p:spPr>
          <a:xfrm>
            <a:off x="8238744" y="4307205"/>
            <a:ext cx="349605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共同条件</a:t>
            </a:r>
            <a:endParaRPr lang="zh-CN" sz="1800" dirty="0"/>
          </a:p>
        </p:txBody>
      </p:sp>
      <p:sp>
        <p:nvSpPr>
          <p:cNvPr id="44" name="hero-evidence/drawing/art-evidence/e39"/>
          <p:cNvSpPr/>
          <p:nvPr/>
        </p:nvSpPr>
        <p:spPr>
          <a:xfrm>
            <a:off x="8238744" y="4638675"/>
            <a:ext cx="3496056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不同面板回答同一个问题，并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共享对象与评价口径。</a:t>
            </a:r>
            <a:endParaRPr lang="zh-CN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margi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32</a:t>
            </a:r>
            <a:endParaRPr lang="zh-CN" sz="1350" dirty="0"/>
          </a:p>
        </p:txBody>
      </p:sp>
      <p:sp>
        <p:nvSpPr>
          <p:cNvPr id="3" name="evidence-margi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主证据与开放旁注</a:t>
            </a:r>
            <a:endParaRPr lang="zh-CN" sz="3150" dirty="0"/>
          </a:p>
        </p:txBody>
      </p:sp>
      <p:sp>
        <p:nvSpPr>
          <p:cNvPr id="4" name="evidence-margi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evidence-margin/drawing/art-evidence/e1"/>
          <p:cNvSpPr/>
          <p:nvPr/>
        </p:nvSpPr>
        <p:spPr>
          <a:xfrm>
            <a:off x="457200" y="1676400"/>
            <a:ext cx="778154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主证据（形态示意）</a:t>
            </a:r>
            <a:endParaRPr lang="zh-CN" sz="1800" dirty="0"/>
          </a:p>
        </p:txBody>
      </p:sp>
      <p:sp>
        <p:nvSpPr>
          <p:cNvPr id="6" name="evidence-margin/drawing/art-evidence/e2/segment-1"/>
          <p:cNvSpPr/>
          <p:nvPr/>
        </p:nvSpPr>
        <p:spPr>
          <a:xfrm>
            <a:off x="990600" y="2266950"/>
            <a:ext cx="700049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7" name="evidence-margin/drawing/art-evidence/e3/segment-1"/>
          <p:cNvSpPr/>
          <p:nvPr/>
        </p:nvSpPr>
        <p:spPr>
          <a:xfrm>
            <a:off x="990600" y="3368675"/>
            <a:ext cx="700049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" name="evidence-margin/drawing/art-evidence/e4/segment-1"/>
          <p:cNvSpPr/>
          <p:nvPr/>
        </p:nvSpPr>
        <p:spPr>
          <a:xfrm>
            <a:off x="990600" y="4470400"/>
            <a:ext cx="700049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9" name="evidence-margin/drawing/art-evidence/e5/segment-1"/>
          <p:cNvSpPr/>
          <p:nvPr/>
        </p:nvSpPr>
        <p:spPr>
          <a:xfrm>
            <a:off x="990600" y="5572125"/>
            <a:ext cx="700049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evidence-margin/drawing/art-evidence/e6/segment-1"/>
          <p:cNvSpPr/>
          <p:nvPr/>
        </p:nvSpPr>
        <p:spPr>
          <a:xfrm>
            <a:off x="990600" y="2266950"/>
            <a:ext cx="0" cy="3305175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1" name="evidence-margin/drawing/art-evidence/e6/segment-2"/>
          <p:cNvSpPr/>
          <p:nvPr/>
        </p:nvSpPr>
        <p:spPr>
          <a:xfrm>
            <a:off x="990600" y="5572125"/>
            <a:ext cx="7000494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2" name="evidence-margin/drawing/art-evidence/e7/segment-1"/>
          <p:cNvSpPr/>
          <p:nvPr/>
        </p:nvSpPr>
        <p:spPr>
          <a:xfrm flipV="1">
            <a:off x="990600" y="4580572"/>
            <a:ext cx="1750124" cy="396621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3" name="evidence-margin/drawing/art-evidence/e7/segment-2"/>
          <p:cNvSpPr/>
          <p:nvPr/>
        </p:nvSpPr>
        <p:spPr>
          <a:xfrm flipV="1">
            <a:off x="2740724" y="4018693"/>
            <a:ext cx="1750123" cy="561880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4" name="evidence-margin/drawing/art-evidence/e7/segment-3"/>
          <p:cNvSpPr/>
          <p:nvPr/>
        </p:nvSpPr>
        <p:spPr>
          <a:xfrm flipV="1">
            <a:off x="4490847" y="3721227"/>
            <a:ext cx="1750123" cy="297466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5" name="evidence-margin/drawing/art-evidence/e7/segment-4"/>
          <p:cNvSpPr/>
          <p:nvPr/>
        </p:nvSpPr>
        <p:spPr>
          <a:xfrm flipV="1">
            <a:off x="6240970" y="3060192"/>
            <a:ext cx="1750124" cy="661035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6" name="evidence-margin/drawing/art-evidence/e8"/>
          <p:cNvSpPr/>
          <p:nvPr/>
        </p:nvSpPr>
        <p:spPr>
          <a:xfrm>
            <a:off x="952500" y="493909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vidence-margin/drawing/art-evidence/e9"/>
          <p:cNvSpPr/>
          <p:nvPr/>
        </p:nvSpPr>
        <p:spPr>
          <a:xfrm>
            <a:off x="2702624" y="454247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vidence-margin/drawing/art-evidence/e10"/>
          <p:cNvSpPr/>
          <p:nvPr/>
        </p:nvSpPr>
        <p:spPr>
          <a:xfrm>
            <a:off x="4452747" y="398059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vidence-margin/drawing/art-evidence/e11"/>
          <p:cNvSpPr/>
          <p:nvPr/>
        </p:nvSpPr>
        <p:spPr>
          <a:xfrm>
            <a:off x="6202870" y="368312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vidence-margin/drawing/art-evidence/e12"/>
          <p:cNvSpPr/>
          <p:nvPr/>
        </p:nvSpPr>
        <p:spPr>
          <a:xfrm>
            <a:off x="7952994" y="3022092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evidence-margin/drawing/art-evidence/e13/segment-1"/>
          <p:cNvSpPr/>
          <p:nvPr/>
        </p:nvSpPr>
        <p:spPr>
          <a:xfrm flipV="1">
            <a:off x="990600" y="4250055"/>
            <a:ext cx="1750124" cy="396621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2" name="evidence-margin/drawing/art-evidence/e13/segment-2"/>
          <p:cNvSpPr/>
          <p:nvPr/>
        </p:nvSpPr>
        <p:spPr>
          <a:xfrm>
            <a:off x="2740724" y="4250055"/>
            <a:ext cx="1750123" cy="33052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3" name="evidence-margin/drawing/art-evidence/e13/segment-3"/>
          <p:cNvSpPr/>
          <p:nvPr/>
        </p:nvSpPr>
        <p:spPr>
          <a:xfrm flipV="1">
            <a:off x="4490847" y="3589020"/>
            <a:ext cx="1750123" cy="694087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4" name="evidence-margin/drawing/art-evidence/e13/segment-4"/>
          <p:cNvSpPr/>
          <p:nvPr/>
        </p:nvSpPr>
        <p:spPr>
          <a:xfrm flipV="1">
            <a:off x="6240970" y="3324606"/>
            <a:ext cx="1750124" cy="264414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5" name="evidence-margin/drawing/art-evidence/e14"/>
          <p:cNvSpPr/>
          <p:nvPr/>
        </p:nvSpPr>
        <p:spPr>
          <a:xfrm>
            <a:off x="952500" y="460857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evidence-margin/drawing/art-evidence/e15"/>
          <p:cNvSpPr/>
          <p:nvPr/>
        </p:nvSpPr>
        <p:spPr>
          <a:xfrm>
            <a:off x="2702624" y="421195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evidence-margin/drawing/art-evidence/e16"/>
          <p:cNvSpPr/>
          <p:nvPr/>
        </p:nvSpPr>
        <p:spPr>
          <a:xfrm>
            <a:off x="4452747" y="4245007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evidence-margin/drawing/art-evidence/e17"/>
          <p:cNvSpPr/>
          <p:nvPr/>
        </p:nvSpPr>
        <p:spPr>
          <a:xfrm>
            <a:off x="6202870" y="355092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evidence-margin/drawing/art-evidence/e18"/>
          <p:cNvSpPr/>
          <p:nvPr/>
        </p:nvSpPr>
        <p:spPr>
          <a:xfrm>
            <a:off x="7952994" y="328650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evidence-margin/drawing/art-evidence/e19"/>
          <p:cNvSpPr/>
          <p:nvPr/>
        </p:nvSpPr>
        <p:spPr>
          <a:xfrm>
            <a:off x="990600" y="5705475"/>
            <a:ext cx="700049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31" name="evidence-margin/drawing/art-interpretation/e1/segment-1"/>
          <p:cNvSpPr/>
          <p:nvPr/>
        </p:nvSpPr>
        <p:spPr>
          <a:xfrm>
            <a:off x="8689848" y="203644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2" name="evidence-margin/drawing/art-interpretation/e2"/>
          <p:cNvSpPr/>
          <p:nvPr/>
        </p:nvSpPr>
        <p:spPr>
          <a:xfrm>
            <a:off x="8689848" y="2160270"/>
            <a:ext cx="304495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解释与适用边界</a:t>
            </a:r>
            <a:endParaRPr lang="zh-CN" sz="1800" dirty="0"/>
          </a:p>
        </p:txBody>
      </p:sp>
      <p:sp>
        <p:nvSpPr>
          <p:cNvPr id="33" name="evidence-margin/drawing/art-interpretation/e3"/>
          <p:cNvSpPr/>
          <p:nvPr/>
        </p:nvSpPr>
        <p:spPr>
          <a:xfrm>
            <a:off x="8689848" y="2491740"/>
            <a:ext cx="3044952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先描述观察，再解释支持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的判断。</a:t>
            </a:r>
            <a:endParaRPr lang="zh-CN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ledger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32</a:t>
            </a:r>
            <a:endParaRPr lang="zh-CN" sz="1350" dirty="0"/>
          </a:p>
        </p:txBody>
      </p:sp>
      <p:sp>
        <p:nvSpPr>
          <p:cNvPr id="3" name="evidence-ledger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主图、解释与边界分层</a:t>
            </a:r>
            <a:endParaRPr lang="zh-CN" sz="3150" dirty="0"/>
          </a:p>
        </p:txBody>
      </p:sp>
      <p:sp>
        <p:nvSpPr>
          <p:cNvPr id="4" name="evidence-ledger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evidence-ledger/drawing/art-evidence/e1"/>
          <p:cNvSpPr/>
          <p:nvPr/>
        </p:nvSpPr>
        <p:spPr>
          <a:xfrm>
            <a:off x="457200" y="1676400"/>
            <a:ext cx="721766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观察或结果（合成观测）</a:t>
            </a:r>
            <a:endParaRPr lang="zh-CN" sz="1800" dirty="0"/>
          </a:p>
        </p:txBody>
      </p:sp>
      <p:sp>
        <p:nvSpPr>
          <p:cNvPr id="6" name="evidence-ledger/drawing/art-evidence/e2/segment-1"/>
          <p:cNvSpPr/>
          <p:nvPr/>
        </p:nvSpPr>
        <p:spPr>
          <a:xfrm>
            <a:off x="981075" y="2247900"/>
            <a:ext cx="0" cy="325755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7" name="evidence-ledger/drawing/art-evidence/e2/segment-2"/>
          <p:cNvSpPr/>
          <p:nvPr/>
        </p:nvSpPr>
        <p:spPr>
          <a:xfrm>
            <a:off x="981075" y="5505450"/>
            <a:ext cx="6379464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8" name="evidence-ledger/drawing/art-evidence/e3"/>
          <p:cNvSpPr/>
          <p:nvPr/>
        </p:nvSpPr>
        <p:spPr>
          <a:xfrm>
            <a:off x="2595875" y="471811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vidence-ledger/drawing/art-evidence/e4"/>
          <p:cNvSpPr/>
          <p:nvPr/>
        </p:nvSpPr>
        <p:spPr>
          <a:xfrm>
            <a:off x="2729225" y="435978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vidence-ledger/drawing/art-evidence/e5"/>
          <p:cNvSpPr/>
          <p:nvPr/>
        </p:nvSpPr>
        <p:spPr>
          <a:xfrm>
            <a:off x="2862575" y="419690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vidence-ledger/drawing/art-evidence/e6"/>
          <p:cNvSpPr/>
          <p:nvPr/>
        </p:nvSpPr>
        <p:spPr>
          <a:xfrm>
            <a:off x="2595875" y="377342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vidence-ledger/drawing/art-evidence/e7"/>
          <p:cNvSpPr/>
          <p:nvPr/>
        </p:nvSpPr>
        <p:spPr>
          <a:xfrm>
            <a:off x="2729225" y="361054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vidence-ledger/drawing/art-evidence/e8"/>
          <p:cNvSpPr/>
          <p:nvPr/>
        </p:nvSpPr>
        <p:spPr>
          <a:xfrm>
            <a:off x="2862575" y="338251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vidence-ledger/drawing/art-evidence/e9"/>
          <p:cNvSpPr/>
          <p:nvPr/>
        </p:nvSpPr>
        <p:spPr>
          <a:xfrm>
            <a:off x="2595875" y="312191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vidence-ledger/drawing/art-evidence/e10"/>
          <p:cNvSpPr/>
          <p:nvPr/>
        </p:nvSpPr>
        <p:spPr>
          <a:xfrm>
            <a:off x="2729225" y="282873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vidence-ledger/drawing/art-evidence/e11"/>
          <p:cNvSpPr/>
          <p:nvPr/>
        </p:nvSpPr>
        <p:spPr>
          <a:xfrm>
            <a:off x="2148200" y="564832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A</a:t>
            </a:r>
            <a:endParaRPr lang="zh-CN" sz="1800" dirty="0"/>
          </a:p>
        </p:txBody>
      </p:sp>
      <p:sp>
        <p:nvSpPr>
          <p:cNvPr id="17" name="evidence-ledger/drawing/art-evidence/e12"/>
          <p:cNvSpPr/>
          <p:nvPr/>
        </p:nvSpPr>
        <p:spPr>
          <a:xfrm>
            <a:off x="5402839" y="452266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vidence-ledger/drawing/art-evidence/e13"/>
          <p:cNvSpPr/>
          <p:nvPr/>
        </p:nvSpPr>
        <p:spPr>
          <a:xfrm>
            <a:off x="5536189" y="413175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vidence-ledger/drawing/art-evidence/e14"/>
          <p:cNvSpPr/>
          <p:nvPr/>
        </p:nvSpPr>
        <p:spPr>
          <a:xfrm>
            <a:off x="5669539" y="400145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vidence-ledger/drawing/art-evidence/e15"/>
          <p:cNvSpPr/>
          <p:nvPr/>
        </p:nvSpPr>
        <p:spPr>
          <a:xfrm>
            <a:off x="5402839" y="357797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evidence-ledger/drawing/art-evidence/e16"/>
          <p:cNvSpPr/>
          <p:nvPr/>
        </p:nvSpPr>
        <p:spPr>
          <a:xfrm>
            <a:off x="5536189" y="338251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evidence-ledger/drawing/art-evidence/e17"/>
          <p:cNvSpPr/>
          <p:nvPr/>
        </p:nvSpPr>
        <p:spPr>
          <a:xfrm>
            <a:off x="5669539" y="321964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evidence-ledger/drawing/art-evidence/e18"/>
          <p:cNvSpPr/>
          <p:nvPr/>
        </p:nvSpPr>
        <p:spPr>
          <a:xfrm>
            <a:off x="5402839" y="289388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evidence-ledger/drawing/art-evidence/e19"/>
          <p:cNvSpPr/>
          <p:nvPr/>
        </p:nvSpPr>
        <p:spPr>
          <a:xfrm>
            <a:off x="5536189" y="273100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evidence-ledger/drawing/art-evidence/e20"/>
          <p:cNvSpPr/>
          <p:nvPr/>
        </p:nvSpPr>
        <p:spPr>
          <a:xfrm>
            <a:off x="4955164" y="564832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B</a:t>
            </a:r>
            <a:endParaRPr lang="zh-CN" sz="1800" dirty="0"/>
          </a:p>
        </p:txBody>
      </p:sp>
      <p:sp>
        <p:nvSpPr>
          <p:cNvPr id="26" name="evidence-ledger/drawing/art-interpretation/e1/segment-1"/>
          <p:cNvSpPr/>
          <p:nvPr/>
        </p:nvSpPr>
        <p:spPr>
          <a:xfrm>
            <a:off x="8125968" y="168592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7" name="evidence-ledger/drawing/art-interpretation/e2"/>
          <p:cNvSpPr/>
          <p:nvPr/>
        </p:nvSpPr>
        <p:spPr>
          <a:xfrm>
            <a:off x="8125968" y="1809750"/>
            <a:ext cx="360883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结果意味着什么</a:t>
            </a:r>
            <a:endParaRPr lang="zh-CN" sz="1800" dirty="0"/>
          </a:p>
        </p:txBody>
      </p:sp>
      <p:sp>
        <p:nvSpPr>
          <p:cNvPr id="28" name="evidence-ledger/drawing/art-interpretation/e3"/>
          <p:cNvSpPr/>
          <p:nvPr/>
        </p:nvSpPr>
        <p:spPr>
          <a:xfrm>
            <a:off x="8125968" y="2141220"/>
            <a:ext cx="3608832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先描述观察，再解释支持的判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断。</a:t>
            </a:r>
            <a:endParaRPr lang="zh-CN" sz="2100" dirty="0"/>
          </a:p>
        </p:txBody>
      </p:sp>
      <p:sp>
        <p:nvSpPr>
          <p:cNvPr id="29" name="evidence-ledger/drawing/art-boundary/e1/segment-1"/>
          <p:cNvSpPr/>
          <p:nvPr/>
        </p:nvSpPr>
        <p:spPr>
          <a:xfrm>
            <a:off x="8125968" y="405193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0" name="evidence-ledger/drawing/art-boundary/e2"/>
          <p:cNvSpPr/>
          <p:nvPr/>
        </p:nvSpPr>
        <p:spPr>
          <a:xfrm>
            <a:off x="8125968" y="4175760"/>
            <a:ext cx="360883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何时不应外推</a:t>
            </a:r>
            <a:endParaRPr lang="zh-CN" sz="1800" dirty="0"/>
          </a:p>
        </p:txBody>
      </p:sp>
      <p:sp>
        <p:nvSpPr>
          <p:cNvPr id="31" name="evidence-ledger/drawing/art-boundary/e3"/>
          <p:cNvSpPr/>
          <p:nvPr/>
        </p:nvSpPr>
        <p:spPr>
          <a:xfrm>
            <a:off x="8125968" y="4507230"/>
            <a:ext cx="3608832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证据之外的条件仍需独立检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验。</a:t>
            </a:r>
            <a:endParaRPr lang="zh-CN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red-compariso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32</a:t>
            </a:r>
            <a:endParaRPr lang="zh-CN" sz="1350" dirty="0"/>
          </a:p>
        </p:txBody>
      </p:sp>
      <p:sp>
        <p:nvSpPr>
          <p:cNvPr id="3" name="paired-compariso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共尺度对照</a:t>
            </a:r>
            <a:endParaRPr lang="zh-CN" sz="3150" dirty="0"/>
          </a:p>
        </p:txBody>
      </p:sp>
      <p:sp>
        <p:nvSpPr>
          <p:cNvPr id="4" name="paired-compariso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paired-comparison/drawing/art-a/e1"/>
          <p:cNvSpPr/>
          <p:nvPr/>
        </p:nvSpPr>
        <p:spPr>
          <a:xfrm>
            <a:off x="457200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 A（合成观测）</a:t>
            </a:r>
            <a:endParaRPr lang="zh-CN" sz="1800" dirty="0"/>
          </a:p>
        </p:txBody>
      </p:sp>
      <p:sp>
        <p:nvSpPr>
          <p:cNvPr id="6" name="paired-comparison/drawing/art-a/e2/segment-1"/>
          <p:cNvSpPr/>
          <p:nvPr/>
        </p:nvSpPr>
        <p:spPr>
          <a:xfrm>
            <a:off x="981075" y="2247900"/>
            <a:ext cx="0" cy="220599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7" name="paired-comparison/drawing/art-a/e2/segment-2"/>
          <p:cNvSpPr/>
          <p:nvPr/>
        </p:nvSpPr>
        <p:spPr>
          <a:xfrm>
            <a:off x="981075" y="4453890"/>
            <a:ext cx="4631436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8" name="paired-comparison/drawing/art-a/e3"/>
          <p:cNvSpPr/>
          <p:nvPr/>
        </p:nvSpPr>
        <p:spPr>
          <a:xfrm>
            <a:off x="2106427" y="3908412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paired-comparison/drawing/art-a/e4"/>
          <p:cNvSpPr/>
          <p:nvPr/>
        </p:nvSpPr>
        <p:spPr>
          <a:xfrm>
            <a:off x="2239777" y="366575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aired-comparison/drawing/art-a/e5"/>
          <p:cNvSpPr/>
          <p:nvPr/>
        </p:nvSpPr>
        <p:spPr>
          <a:xfrm>
            <a:off x="2373127" y="355545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paired-comparison/drawing/art-a/e6"/>
          <p:cNvSpPr/>
          <p:nvPr/>
        </p:nvSpPr>
        <p:spPr>
          <a:xfrm>
            <a:off x="2106427" y="326867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aired-comparison/drawing/art-a/e7"/>
          <p:cNvSpPr/>
          <p:nvPr/>
        </p:nvSpPr>
        <p:spPr>
          <a:xfrm>
            <a:off x="2239777" y="315837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paired-comparison/drawing/art-a/e8"/>
          <p:cNvSpPr/>
          <p:nvPr/>
        </p:nvSpPr>
        <p:spPr>
          <a:xfrm>
            <a:off x="2373127" y="300395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paired-comparison/drawing/art-a/e9"/>
          <p:cNvSpPr/>
          <p:nvPr/>
        </p:nvSpPr>
        <p:spPr>
          <a:xfrm>
            <a:off x="2106427" y="282747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paired-comparison/drawing/art-a/e10"/>
          <p:cNvSpPr/>
          <p:nvPr/>
        </p:nvSpPr>
        <p:spPr>
          <a:xfrm>
            <a:off x="2239777" y="262893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paired-comparison/drawing/art-a/e11"/>
          <p:cNvSpPr/>
          <p:nvPr/>
        </p:nvSpPr>
        <p:spPr>
          <a:xfrm>
            <a:off x="1658752" y="459676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A</a:t>
            </a:r>
            <a:endParaRPr lang="zh-CN" sz="1800" dirty="0"/>
          </a:p>
        </p:txBody>
      </p:sp>
      <p:sp>
        <p:nvSpPr>
          <p:cNvPr id="17" name="paired-comparison/drawing/art-a/e12"/>
          <p:cNvSpPr/>
          <p:nvPr/>
        </p:nvSpPr>
        <p:spPr>
          <a:xfrm>
            <a:off x="4144259" y="377605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paired-comparison/drawing/art-a/e13"/>
          <p:cNvSpPr/>
          <p:nvPr/>
        </p:nvSpPr>
        <p:spPr>
          <a:xfrm>
            <a:off x="4277609" y="3511334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paired-comparison/drawing/art-a/e14"/>
          <p:cNvSpPr/>
          <p:nvPr/>
        </p:nvSpPr>
        <p:spPr>
          <a:xfrm>
            <a:off x="4410959" y="342309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paired-comparison/drawing/art-a/e15"/>
          <p:cNvSpPr/>
          <p:nvPr/>
        </p:nvSpPr>
        <p:spPr>
          <a:xfrm>
            <a:off x="4144259" y="313631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paired-comparison/drawing/art-a/e16"/>
          <p:cNvSpPr/>
          <p:nvPr/>
        </p:nvSpPr>
        <p:spPr>
          <a:xfrm>
            <a:off x="4277609" y="300395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paired-comparison/drawing/art-a/e17"/>
          <p:cNvSpPr/>
          <p:nvPr/>
        </p:nvSpPr>
        <p:spPr>
          <a:xfrm>
            <a:off x="4410959" y="2893657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paired-comparison/drawing/art-a/e18"/>
          <p:cNvSpPr/>
          <p:nvPr/>
        </p:nvSpPr>
        <p:spPr>
          <a:xfrm>
            <a:off x="4144259" y="267305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paired-comparison/drawing/art-a/e19"/>
          <p:cNvSpPr/>
          <p:nvPr/>
        </p:nvSpPr>
        <p:spPr>
          <a:xfrm>
            <a:off x="4277609" y="256275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paired-comparison/drawing/art-a/e20"/>
          <p:cNvSpPr/>
          <p:nvPr/>
        </p:nvSpPr>
        <p:spPr>
          <a:xfrm>
            <a:off x="3696584" y="459676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B</a:t>
            </a:r>
            <a:endParaRPr lang="zh-CN" sz="1800" dirty="0"/>
          </a:p>
        </p:txBody>
      </p:sp>
      <p:sp>
        <p:nvSpPr>
          <p:cNvPr id="26" name="paired-comparison/drawing/art-b/e1"/>
          <p:cNvSpPr/>
          <p:nvPr/>
        </p:nvSpPr>
        <p:spPr>
          <a:xfrm>
            <a:off x="6265164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 B（合成观测）</a:t>
            </a:r>
            <a:endParaRPr lang="zh-CN" sz="1800" dirty="0"/>
          </a:p>
        </p:txBody>
      </p:sp>
      <p:sp>
        <p:nvSpPr>
          <p:cNvPr id="27" name="paired-comparison/drawing/art-b/e2/segment-1"/>
          <p:cNvSpPr/>
          <p:nvPr/>
        </p:nvSpPr>
        <p:spPr>
          <a:xfrm>
            <a:off x="6789039" y="2247900"/>
            <a:ext cx="0" cy="220599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28" name="paired-comparison/drawing/art-b/e2/segment-2"/>
          <p:cNvSpPr/>
          <p:nvPr/>
        </p:nvSpPr>
        <p:spPr>
          <a:xfrm>
            <a:off x="6789039" y="4453890"/>
            <a:ext cx="4631436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29" name="paired-comparison/drawing/art-b/e3"/>
          <p:cNvSpPr/>
          <p:nvPr/>
        </p:nvSpPr>
        <p:spPr>
          <a:xfrm>
            <a:off x="7914391" y="3908412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paired-comparison/drawing/art-b/e4"/>
          <p:cNvSpPr/>
          <p:nvPr/>
        </p:nvSpPr>
        <p:spPr>
          <a:xfrm>
            <a:off x="8047741" y="366575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paired-comparison/drawing/art-b/e5"/>
          <p:cNvSpPr/>
          <p:nvPr/>
        </p:nvSpPr>
        <p:spPr>
          <a:xfrm>
            <a:off x="8181091" y="355545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paired-comparison/drawing/art-b/e6"/>
          <p:cNvSpPr/>
          <p:nvPr/>
        </p:nvSpPr>
        <p:spPr>
          <a:xfrm>
            <a:off x="7914391" y="326867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paired-comparison/drawing/art-b/e7"/>
          <p:cNvSpPr/>
          <p:nvPr/>
        </p:nvSpPr>
        <p:spPr>
          <a:xfrm>
            <a:off x="8047741" y="315837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paired-comparison/drawing/art-b/e8"/>
          <p:cNvSpPr/>
          <p:nvPr/>
        </p:nvSpPr>
        <p:spPr>
          <a:xfrm>
            <a:off x="8181091" y="300395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paired-comparison/drawing/art-b/e9"/>
          <p:cNvSpPr/>
          <p:nvPr/>
        </p:nvSpPr>
        <p:spPr>
          <a:xfrm>
            <a:off x="7914391" y="282747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paired-comparison/drawing/art-b/e10"/>
          <p:cNvSpPr/>
          <p:nvPr/>
        </p:nvSpPr>
        <p:spPr>
          <a:xfrm>
            <a:off x="8047741" y="262893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paired-comparison/drawing/art-b/e11"/>
          <p:cNvSpPr/>
          <p:nvPr/>
        </p:nvSpPr>
        <p:spPr>
          <a:xfrm>
            <a:off x="7466716" y="459676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A</a:t>
            </a:r>
            <a:endParaRPr lang="zh-CN" sz="1800" dirty="0"/>
          </a:p>
        </p:txBody>
      </p:sp>
      <p:sp>
        <p:nvSpPr>
          <p:cNvPr id="38" name="paired-comparison/drawing/art-b/e12"/>
          <p:cNvSpPr/>
          <p:nvPr/>
        </p:nvSpPr>
        <p:spPr>
          <a:xfrm>
            <a:off x="9952223" y="377605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paired-comparison/drawing/art-b/e13"/>
          <p:cNvSpPr/>
          <p:nvPr/>
        </p:nvSpPr>
        <p:spPr>
          <a:xfrm>
            <a:off x="10085573" y="3511334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paired-comparison/drawing/art-b/e14"/>
          <p:cNvSpPr/>
          <p:nvPr/>
        </p:nvSpPr>
        <p:spPr>
          <a:xfrm>
            <a:off x="10218923" y="342309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paired-comparison/drawing/art-b/e15"/>
          <p:cNvSpPr/>
          <p:nvPr/>
        </p:nvSpPr>
        <p:spPr>
          <a:xfrm>
            <a:off x="9952223" y="313631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paired-comparison/drawing/art-b/e16"/>
          <p:cNvSpPr/>
          <p:nvPr/>
        </p:nvSpPr>
        <p:spPr>
          <a:xfrm>
            <a:off x="10085573" y="300395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paired-comparison/drawing/art-b/e17"/>
          <p:cNvSpPr/>
          <p:nvPr/>
        </p:nvSpPr>
        <p:spPr>
          <a:xfrm>
            <a:off x="10218923" y="2893657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paired-comparison/drawing/art-b/e18"/>
          <p:cNvSpPr/>
          <p:nvPr/>
        </p:nvSpPr>
        <p:spPr>
          <a:xfrm>
            <a:off x="9952223" y="267305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paired-comparison/drawing/art-b/e19"/>
          <p:cNvSpPr/>
          <p:nvPr/>
        </p:nvSpPr>
        <p:spPr>
          <a:xfrm>
            <a:off x="10085573" y="256275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paired-comparison/drawing/art-b/e20"/>
          <p:cNvSpPr/>
          <p:nvPr/>
        </p:nvSpPr>
        <p:spPr>
          <a:xfrm>
            <a:off x="9504548" y="459676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B</a:t>
            </a:r>
            <a:endParaRPr lang="zh-CN" sz="1800" dirty="0"/>
          </a:p>
        </p:txBody>
      </p:sp>
      <p:sp>
        <p:nvSpPr>
          <p:cNvPr id="47" name="paired-comparison/drawing/art-conditions/e1"/>
          <p:cNvSpPr/>
          <p:nvPr/>
        </p:nvSpPr>
        <p:spPr>
          <a:xfrm>
            <a:off x="457200" y="5225415"/>
            <a:ext cx="47625" cy="832485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paired-comparison/drawing/art-conditions/e2"/>
          <p:cNvSpPr/>
          <p:nvPr/>
        </p:nvSpPr>
        <p:spPr>
          <a:xfrm>
            <a:off x="628650" y="5470208"/>
            <a:ext cx="110109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使比较成立的共同条件：同一指标、样本定义与评价窗口。</a:t>
            </a:r>
            <a:endParaRPr lang="zh-CN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-after-delta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32</a:t>
            </a:r>
            <a:endParaRPr lang="zh-CN" sz="1350" dirty="0"/>
          </a:p>
        </p:txBody>
      </p:sp>
      <p:sp>
        <p:nvSpPr>
          <p:cNvPr id="3" name="before-after-delta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前后状态与差异解释</a:t>
            </a:r>
            <a:endParaRPr lang="zh-CN" sz="3150" dirty="0"/>
          </a:p>
        </p:txBody>
      </p:sp>
      <p:sp>
        <p:nvSpPr>
          <p:cNvPr id="4" name="before-after-delta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before-after-delta/drawing/art-before/e1"/>
          <p:cNvSpPr/>
          <p:nvPr/>
        </p:nvSpPr>
        <p:spPr>
          <a:xfrm>
            <a:off x="457200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基线或干预前（结构示意）</a:t>
            </a:r>
            <a:endParaRPr lang="zh-CN" sz="1800" dirty="0"/>
          </a:p>
        </p:txBody>
      </p:sp>
      <p:sp>
        <p:nvSpPr>
          <p:cNvPr id="6" name="before-after-delta/drawing/art-before/e2"/>
          <p:cNvSpPr/>
          <p:nvPr/>
        </p:nvSpPr>
        <p:spPr>
          <a:xfrm>
            <a:off x="457200" y="2152650"/>
            <a:ext cx="1046302" cy="621665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before-after-delta/drawing/art-before/e3"/>
          <p:cNvSpPr/>
          <p:nvPr/>
        </p:nvSpPr>
        <p:spPr>
          <a:xfrm>
            <a:off x="1522552" y="2152650"/>
            <a:ext cx="1046302" cy="621665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before-after-delta/drawing/art-before/e4"/>
          <p:cNvSpPr/>
          <p:nvPr/>
        </p:nvSpPr>
        <p:spPr>
          <a:xfrm>
            <a:off x="2587904" y="2152650"/>
            <a:ext cx="1046302" cy="621665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before-after-delta/drawing/art-before/e5"/>
          <p:cNvSpPr/>
          <p:nvPr/>
        </p:nvSpPr>
        <p:spPr>
          <a:xfrm>
            <a:off x="3653257" y="2152650"/>
            <a:ext cx="1046302" cy="621665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before-after-delta/drawing/art-before/e6"/>
          <p:cNvSpPr/>
          <p:nvPr/>
        </p:nvSpPr>
        <p:spPr>
          <a:xfrm>
            <a:off x="4718609" y="2152650"/>
            <a:ext cx="1046302" cy="621665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before-after-delta/drawing/art-before/e7"/>
          <p:cNvSpPr/>
          <p:nvPr/>
        </p:nvSpPr>
        <p:spPr>
          <a:xfrm>
            <a:off x="457200" y="2793365"/>
            <a:ext cx="1046302" cy="621665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before-after-delta/drawing/art-before/e8"/>
          <p:cNvSpPr/>
          <p:nvPr/>
        </p:nvSpPr>
        <p:spPr>
          <a:xfrm>
            <a:off x="1522552" y="2793365"/>
            <a:ext cx="1046302" cy="621665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before-after-delta/drawing/art-before/e9"/>
          <p:cNvSpPr/>
          <p:nvPr/>
        </p:nvSpPr>
        <p:spPr>
          <a:xfrm>
            <a:off x="2587904" y="2793365"/>
            <a:ext cx="1046302" cy="621665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before-after-delta/drawing/art-before/e10"/>
          <p:cNvSpPr/>
          <p:nvPr/>
        </p:nvSpPr>
        <p:spPr>
          <a:xfrm>
            <a:off x="3653257" y="2793365"/>
            <a:ext cx="1046302" cy="621665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before-after-delta/drawing/art-before/e11"/>
          <p:cNvSpPr/>
          <p:nvPr/>
        </p:nvSpPr>
        <p:spPr>
          <a:xfrm>
            <a:off x="4718609" y="2793365"/>
            <a:ext cx="1046302" cy="621665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before-after-delta/drawing/art-before/e12"/>
          <p:cNvSpPr/>
          <p:nvPr/>
        </p:nvSpPr>
        <p:spPr>
          <a:xfrm>
            <a:off x="457200" y="3434080"/>
            <a:ext cx="1046302" cy="621665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before-after-delta/drawing/art-before/e13"/>
          <p:cNvSpPr/>
          <p:nvPr/>
        </p:nvSpPr>
        <p:spPr>
          <a:xfrm>
            <a:off x="1522552" y="3434080"/>
            <a:ext cx="1046302" cy="621665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before-after-delta/drawing/art-before/e14"/>
          <p:cNvSpPr/>
          <p:nvPr/>
        </p:nvSpPr>
        <p:spPr>
          <a:xfrm>
            <a:off x="2587904" y="3434080"/>
            <a:ext cx="1046302" cy="621665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before-after-delta/drawing/art-before/e15"/>
          <p:cNvSpPr/>
          <p:nvPr/>
        </p:nvSpPr>
        <p:spPr>
          <a:xfrm>
            <a:off x="3653257" y="3434080"/>
            <a:ext cx="1046302" cy="621665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before-after-delta/drawing/art-before/e16"/>
          <p:cNvSpPr/>
          <p:nvPr/>
        </p:nvSpPr>
        <p:spPr>
          <a:xfrm>
            <a:off x="4718609" y="3434080"/>
            <a:ext cx="1046302" cy="621665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before-after-delta/drawing/art-after/e1"/>
          <p:cNvSpPr/>
          <p:nvPr/>
        </p:nvSpPr>
        <p:spPr>
          <a:xfrm>
            <a:off x="6265164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随访或干预后（结构示意）</a:t>
            </a:r>
            <a:endParaRPr lang="zh-CN" sz="1800" dirty="0"/>
          </a:p>
        </p:txBody>
      </p:sp>
      <p:sp>
        <p:nvSpPr>
          <p:cNvPr id="22" name="before-after-delta/drawing/art-after/e2"/>
          <p:cNvSpPr/>
          <p:nvPr/>
        </p:nvSpPr>
        <p:spPr>
          <a:xfrm>
            <a:off x="6265164" y="2152650"/>
            <a:ext cx="1046302" cy="621665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before-after-delta/drawing/art-after/e3"/>
          <p:cNvSpPr/>
          <p:nvPr/>
        </p:nvSpPr>
        <p:spPr>
          <a:xfrm>
            <a:off x="7330516" y="2152650"/>
            <a:ext cx="1046302" cy="621665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before-after-delta/drawing/art-after/e4"/>
          <p:cNvSpPr/>
          <p:nvPr/>
        </p:nvSpPr>
        <p:spPr>
          <a:xfrm>
            <a:off x="8395868" y="2152650"/>
            <a:ext cx="1046302" cy="621665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before-after-delta/drawing/art-after/e5"/>
          <p:cNvSpPr/>
          <p:nvPr/>
        </p:nvSpPr>
        <p:spPr>
          <a:xfrm>
            <a:off x="9461221" y="2152650"/>
            <a:ext cx="1046302" cy="621665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before-after-delta/drawing/art-after/e6"/>
          <p:cNvSpPr/>
          <p:nvPr/>
        </p:nvSpPr>
        <p:spPr>
          <a:xfrm>
            <a:off x="10526573" y="2152650"/>
            <a:ext cx="1046302" cy="621665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before-after-delta/drawing/art-after/e7"/>
          <p:cNvSpPr/>
          <p:nvPr/>
        </p:nvSpPr>
        <p:spPr>
          <a:xfrm>
            <a:off x="6265164" y="2793365"/>
            <a:ext cx="1046302" cy="621665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before-after-delta/drawing/art-after/e8"/>
          <p:cNvSpPr/>
          <p:nvPr/>
        </p:nvSpPr>
        <p:spPr>
          <a:xfrm>
            <a:off x="7330516" y="2793365"/>
            <a:ext cx="1046302" cy="621665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before-after-delta/drawing/art-after/e9"/>
          <p:cNvSpPr/>
          <p:nvPr/>
        </p:nvSpPr>
        <p:spPr>
          <a:xfrm>
            <a:off x="8395868" y="2793365"/>
            <a:ext cx="1046302" cy="621665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before-after-delta/drawing/art-after/e10"/>
          <p:cNvSpPr/>
          <p:nvPr/>
        </p:nvSpPr>
        <p:spPr>
          <a:xfrm>
            <a:off x="9461221" y="2793365"/>
            <a:ext cx="1046302" cy="621665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before-after-delta/drawing/art-after/e11"/>
          <p:cNvSpPr/>
          <p:nvPr/>
        </p:nvSpPr>
        <p:spPr>
          <a:xfrm>
            <a:off x="10526573" y="2793365"/>
            <a:ext cx="1046302" cy="621665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before-after-delta/drawing/art-after/e12"/>
          <p:cNvSpPr/>
          <p:nvPr/>
        </p:nvSpPr>
        <p:spPr>
          <a:xfrm>
            <a:off x="6265164" y="3434080"/>
            <a:ext cx="1046302" cy="621665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before-after-delta/drawing/art-after/e13"/>
          <p:cNvSpPr/>
          <p:nvPr/>
        </p:nvSpPr>
        <p:spPr>
          <a:xfrm>
            <a:off x="7330516" y="3434080"/>
            <a:ext cx="1046302" cy="621665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before-after-delta/drawing/art-after/e14"/>
          <p:cNvSpPr/>
          <p:nvPr/>
        </p:nvSpPr>
        <p:spPr>
          <a:xfrm>
            <a:off x="8395868" y="3434080"/>
            <a:ext cx="1046302" cy="621665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before-after-delta/drawing/art-after/e15"/>
          <p:cNvSpPr/>
          <p:nvPr/>
        </p:nvSpPr>
        <p:spPr>
          <a:xfrm>
            <a:off x="9461221" y="3434080"/>
            <a:ext cx="1046302" cy="621665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before-after-delta/drawing/art-after/e16"/>
          <p:cNvSpPr/>
          <p:nvPr/>
        </p:nvSpPr>
        <p:spPr>
          <a:xfrm>
            <a:off x="10526573" y="3434080"/>
            <a:ext cx="1046302" cy="621665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before-after-delta/drawing/art-delta/e1/segment-1"/>
          <p:cNvSpPr/>
          <p:nvPr/>
        </p:nvSpPr>
        <p:spPr>
          <a:xfrm>
            <a:off x="457200" y="449008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8" name="before-after-delta/drawing/art-delta/e2"/>
          <p:cNvSpPr/>
          <p:nvPr/>
        </p:nvSpPr>
        <p:spPr>
          <a:xfrm>
            <a:off x="457200" y="461391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配对差异与解释</a:t>
            </a:r>
            <a:endParaRPr lang="zh-CN" sz="1800" dirty="0"/>
          </a:p>
        </p:txBody>
      </p:sp>
      <p:sp>
        <p:nvSpPr>
          <p:cNvPr id="39" name="before-after-delta/drawing/art-delta/e3"/>
          <p:cNvSpPr/>
          <p:nvPr/>
        </p:nvSpPr>
        <p:spPr>
          <a:xfrm>
            <a:off x="457200" y="4945380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在相同评价口径下解释差异，保留替代解释。</a:t>
            </a:r>
            <a:endParaRPr lang="zh-CN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ll-multiples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32</a:t>
            </a:r>
            <a:endParaRPr lang="zh-CN" sz="1350" dirty="0"/>
          </a:p>
        </p:txBody>
      </p:sp>
      <p:sp>
        <p:nvSpPr>
          <p:cNvPr id="3" name="small-multiples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 可比较的多面板</a:t>
            </a:r>
            <a:endParaRPr lang="zh-CN" sz="3150" dirty="0"/>
          </a:p>
        </p:txBody>
      </p:sp>
      <p:sp>
        <p:nvSpPr>
          <p:cNvPr id="4" name="small-multiples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small-multiples/drawing/art-a/e1"/>
          <p:cNvSpPr/>
          <p:nvPr/>
        </p:nvSpPr>
        <p:spPr>
          <a:xfrm>
            <a:off x="457200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A（形态示意）</a:t>
            </a:r>
            <a:endParaRPr lang="zh-CN" sz="1800" dirty="0"/>
          </a:p>
        </p:txBody>
      </p:sp>
      <p:sp>
        <p:nvSpPr>
          <p:cNvPr id="6" name="small-multiples/drawing/art-a/e2/segment-1"/>
          <p:cNvSpPr/>
          <p:nvPr/>
        </p:nvSpPr>
        <p:spPr>
          <a:xfrm>
            <a:off x="990600" y="226695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7" name="small-multiples/drawing/art-a/e3/segment-1"/>
          <p:cNvSpPr/>
          <p:nvPr/>
        </p:nvSpPr>
        <p:spPr>
          <a:xfrm>
            <a:off x="990600" y="259461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" name="small-multiples/drawing/art-a/e4/segment-1"/>
          <p:cNvSpPr/>
          <p:nvPr/>
        </p:nvSpPr>
        <p:spPr>
          <a:xfrm>
            <a:off x="990600" y="292227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9" name="small-multiples/drawing/art-a/e5/segment-1"/>
          <p:cNvSpPr/>
          <p:nvPr/>
        </p:nvSpPr>
        <p:spPr>
          <a:xfrm>
            <a:off x="990600" y="324993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small-multiples/drawing/art-a/e6/segment-1"/>
          <p:cNvSpPr/>
          <p:nvPr/>
        </p:nvSpPr>
        <p:spPr>
          <a:xfrm>
            <a:off x="990600" y="2266950"/>
            <a:ext cx="0" cy="98298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1" name="small-multiples/drawing/art-a/e6/segment-2"/>
          <p:cNvSpPr/>
          <p:nvPr/>
        </p:nvSpPr>
        <p:spPr>
          <a:xfrm>
            <a:off x="990600" y="3249930"/>
            <a:ext cx="468858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2" name="small-multiples/drawing/art-a/e7/segment-1"/>
          <p:cNvSpPr/>
          <p:nvPr/>
        </p:nvSpPr>
        <p:spPr>
          <a:xfrm flipV="1">
            <a:off x="990600" y="2955036"/>
            <a:ext cx="1172147" cy="11795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3" name="small-multiples/drawing/art-a/e7/segment-2"/>
          <p:cNvSpPr/>
          <p:nvPr/>
        </p:nvSpPr>
        <p:spPr>
          <a:xfrm flipV="1">
            <a:off x="2162747" y="2787929"/>
            <a:ext cx="1172147" cy="167107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4" name="small-multiples/drawing/art-a/e7/segment-3"/>
          <p:cNvSpPr/>
          <p:nvPr/>
        </p:nvSpPr>
        <p:spPr>
          <a:xfrm flipV="1">
            <a:off x="3334893" y="2699461"/>
            <a:ext cx="1172147" cy="8846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5" name="small-multiples/drawing/art-a/e7/segment-4"/>
          <p:cNvSpPr/>
          <p:nvPr/>
        </p:nvSpPr>
        <p:spPr>
          <a:xfrm flipV="1">
            <a:off x="4507040" y="2502865"/>
            <a:ext cx="1172147" cy="196596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6" name="small-multiples/drawing/art-a/e8"/>
          <p:cNvSpPr/>
          <p:nvPr/>
        </p:nvSpPr>
        <p:spPr>
          <a:xfrm>
            <a:off x="952500" y="303489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mall-multiples/drawing/art-a/e9"/>
          <p:cNvSpPr/>
          <p:nvPr/>
        </p:nvSpPr>
        <p:spPr>
          <a:xfrm>
            <a:off x="2124647" y="291693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mall-multiples/drawing/art-a/e10"/>
          <p:cNvSpPr/>
          <p:nvPr/>
        </p:nvSpPr>
        <p:spPr>
          <a:xfrm>
            <a:off x="3296793" y="274982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mall-multiples/drawing/art-a/e11"/>
          <p:cNvSpPr/>
          <p:nvPr/>
        </p:nvSpPr>
        <p:spPr>
          <a:xfrm>
            <a:off x="4468940" y="2661361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mall-multiples/drawing/art-a/e12"/>
          <p:cNvSpPr/>
          <p:nvPr/>
        </p:nvSpPr>
        <p:spPr>
          <a:xfrm>
            <a:off x="5641086" y="246476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mall-multiples/drawing/art-a/e13/segment-1"/>
          <p:cNvSpPr/>
          <p:nvPr/>
        </p:nvSpPr>
        <p:spPr>
          <a:xfrm flipV="1">
            <a:off x="990600" y="2856738"/>
            <a:ext cx="1172147" cy="11795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2" name="small-multiples/drawing/art-a/e13/segment-2"/>
          <p:cNvSpPr/>
          <p:nvPr/>
        </p:nvSpPr>
        <p:spPr>
          <a:xfrm>
            <a:off x="2162747" y="2856738"/>
            <a:ext cx="1172147" cy="983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3" name="small-multiples/drawing/art-a/e13/segment-3"/>
          <p:cNvSpPr/>
          <p:nvPr/>
        </p:nvSpPr>
        <p:spPr>
          <a:xfrm flipV="1">
            <a:off x="3334893" y="2660142"/>
            <a:ext cx="1172147" cy="206426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4" name="small-multiples/drawing/art-a/e13/segment-4"/>
          <p:cNvSpPr/>
          <p:nvPr/>
        </p:nvSpPr>
        <p:spPr>
          <a:xfrm flipV="1">
            <a:off x="4507040" y="2581504"/>
            <a:ext cx="1172147" cy="7863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5" name="small-multiples/drawing/art-a/e14"/>
          <p:cNvSpPr/>
          <p:nvPr/>
        </p:nvSpPr>
        <p:spPr>
          <a:xfrm>
            <a:off x="952500" y="293659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mall-multiples/drawing/art-a/e15"/>
          <p:cNvSpPr/>
          <p:nvPr/>
        </p:nvSpPr>
        <p:spPr>
          <a:xfrm>
            <a:off x="2124647" y="281863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mall-multiples/drawing/art-a/e16"/>
          <p:cNvSpPr/>
          <p:nvPr/>
        </p:nvSpPr>
        <p:spPr>
          <a:xfrm>
            <a:off x="3296793" y="282846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mall-multiples/drawing/art-a/e17"/>
          <p:cNvSpPr/>
          <p:nvPr/>
        </p:nvSpPr>
        <p:spPr>
          <a:xfrm>
            <a:off x="4468940" y="2622042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mall-multiples/drawing/art-a/e18"/>
          <p:cNvSpPr/>
          <p:nvPr/>
        </p:nvSpPr>
        <p:spPr>
          <a:xfrm>
            <a:off x="5641086" y="2543404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mall-multiples/drawing/art-a/e19"/>
          <p:cNvSpPr/>
          <p:nvPr/>
        </p:nvSpPr>
        <p:spPr>
          <a:xfrm>
            <a:off x="990600" y="3383280"/>
            <a:ext cx="468858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31" name="small-multiples/drawing/art-b/e1"/>
          <p:cNvSpPr/>
          <p:nvPr/>
        </p:nvSpPr>
        <p:spPr>
          <a:xfrm>
            <a:off x="6265164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B（形态示意）</a:t>
            </a:r>
            <a:endParaRPr lang="zh-CN" sz="1800" dirty="0"/>
          </a:p>
        </p:txBody>
      </p:sp>
      <p:sp>
        <p:nvSpPr>
          <p:cNvPr id="32" name="small-multiples/drawing/art-b/e2/segment-1"/>
          <p:cNvSpPr/>
          <p:nvPr/>
        </p:nvSpPr>
        <p:spPr>
          <a:xfrm>
            <a:off x="6798564" y="226695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3" name="small-multiples/drawing/art-b/e3/segment-1"/>
          <p:cNvSpPr/>
          <p:nvPr/>
        </p:nvSpPr>
        <p:spPr>
          <a:xfrm>
            <a:off x="6798564" y="259461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4" name="small-multiples/drawing/art-b/e4/segment-1"/>
          <p:cNvSpPr/>
          <p:nvPr/>
        </p:nvSpPr>
        <p:spPr>
          <a:xfrm>
            <a:off x="6798564" y="292227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5" name="small-multiples/drawing/art-b/e5/segment-1"/>
          <p:cNvSpPr/>
          <p:nvPr/>
        </p:nvSpPr>
        <p:spPr>
          <a:xfrm>
            <a:off x="6798564" y="324993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6" name="small-multiples/drawing/art-b/e6/segment-1"/>
          <p:cNvSpPr/>
          <p:nvPr/>
        </p:nvSpPr>
        <p:spPr>
          <a:xfrm>
            <a:off x="6798564" y="2266950"/>
            <a:ext cx="0" cy="98298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37" name="small-multiples/drawing/art-b/e6/segment-2"/>
          <p:cNvSpPr/>
          <p:nvPr/>
        </p:nvSpPr>
        <p:spPr>
          <a:xfrm>
            <a:off x="6798564" y="3249930"/>
            <a:ext cx="468858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38" name="small-multiples/drawing/art-b/e7/segment-1"/>
          <p:cNvSpPr/>
          <p:nvPr/>
        </p:nvSpPr>
        <p:spPr>
          <a:xfrm flipV="1">
            <a:off x="6798564" y="2856738"/>
            <a:ext cx="1172146" cy="11795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39" name="small-multiples/drawing/art-b/e7/segment-2"/>
          <p:cNvSpPr/>
          <p:nvPr/>
        </p:nvSpPr>
        <p:spPr>
          <a:xfrm>
            <a:off x="7970711" y="2856738"/>
            <a:ext cx="1172147" cy="9830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40" name="small-multiples/drawing/art-b/e7/segment-3"/>
          <p:cNvSpPr/>
          <p:nvPr/>
        </p:nvSpPr>
        <p:spPr>
          <a:xfrm flipV="1">
            <a:off x="9142857" y="2660142"/>
            <a:ext cx="1172147" cy="206426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41" name="small-multiples/drawing/art-b/e7/segment-4"/>
          <p:cNvSpPr/>
          <p:nvPr/>
        </p:nvSpPr>
        <p:spPr>
          <a:xfrm flipV="1">
            <a:off x="10315004" y="2581504"/>
            <a:ext cx="1172146" cy="7863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42" name="small-multiples/drawing/art-b/e8"/>
          <p:cNvSpPr/>
          <p:nvPr/>
        </p:nvSpPr>
        <p:spPr>
          <a:xfrm>
            <a:off x="6760464" y="293659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mall-multiples/drawing/art-b/e9"/>
          <p:cNvSpPr/>
          <p:nvPr/>
        </p:nvSpPr>
        <p:spPr>
          <a:xfrm>
            <a:off x="7932610" y="281863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mall-multiples/drawing/art-b/e10"/>
          <p:cNvSpPr/>
          <p:nvPr/>
        </p:nvSpPr>
        <p:spPr>
          <a:xfrm>
            <a:off x="9104757" y="282846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mall-multiples/drawing/art-b/e11"/>
          <p:cNvSpPr/>
          <p:nvPr/>
        </p:nvSpPr>
        <p:spPr>
          <a:xfrm>
            <a:off x="10276904" y="2622042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mall-multiples/drawing/art-b/e12"/>
          <p:cNvSpPr/>
          <p:nvPr/>
        </p:nvSpPr>
        <p:spPr>
          <a:xfrm>
            <a:off x="11449050" y="254340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mall-multiples/drawing/art-b/e13/segment-1"/>
          <p:cNvSpPr/>
          <p:nvPr/>
        </p:nvSpPr>
        <p:spPr>
          <a:xfrm>
            <a:off x="6798564" y="2660142"/>
            <a:ext cx="1172146" cy="9829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48" name="small-multiples/drawing/art-b/e13/segment-2"/>
          <p:cNvSpPr/>
          <p:nvPr/>
        </p:nvSpPr>
        <p:spPr>
          <a:xfrm flipV="1">
            <a:off x="7970711" y="2728951"/>
            <a:ext cx="1172147" cy="29489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49" name="small-multiples/drawing/art-b/e13/segment-3"/>
          <p:cNvSpPr/>
          <p:nvPr/>
        </p:nvSpPr>
        <p:spPr>
          <a:xfrm>
            <a:off x="9142857" y="2728951"/>
            <a:ext cx="1172147" cy="147447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50" name="small-multiples/drawing/art-b/e13/segment-4"/>
          <p:cNvSpPr/>
          <p:nvPr/>
        </p:nvSpPr>
        <p:spPr>
          <a:xfrm flipV="1">
            <a:off x="10315004" y="2807589"/>
            <a:ext cx="1172146" cy="68809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51" name="small-multiples/drawing/art-b/e14"/>
          <p:cNvSpPr/>
          <p:nvPr/>
        </p:nvSpPr>
        <p:spPr>
          <a:xfrm>
            <a:off x="6760464" y="2622042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mall-multiples/drawing/art-b/e15"/>
          <p:cNvSpPr/>
          <p:nvPr/>
        </p:nvSpPr>
        <p:spPr>
          <a:xfrm>
            <a:off x="7932610" y="272034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mall-multiples/drawing/art-b/e16"/>
          <p:cNvSpPr/>
          <p:nvPr/>
        </p:nvSpPr>
        <p:spPr>
          <a:xfrm>
            <a:off x="9104757" y="269085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mall-multiples/drawing/art-b/e17"/>
          <p:cNvSpPr/>
          <p:nvPr/>
        </p:nvSpPr>
        <p:spPr>
          <a:xfrm>
            <a:off x="10276904" y="283829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mall-multiples/drawing/art-b/e18"/>
          <p:cNvSpPr/>
          <p:nvPr/>
        </p:nvSpPr>
        <p:spPr>
          <a:xfrm>
            <a:off x="11449050" y="2769489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mall-multiples/drawing/art-b/e19"/>
          <p:cNvSpPr/>
          <p:nvPr/>
        </p:nvSpPr>
        <p:spPr>
          <a:xfrm>
            <a:off x="6798564" y="3383280"/>
            <a:ext cx="468858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57" name="small-multiples/drawing/art-c/e1"/>
          <p:cNvSpPr/>
          <p:nvPr/>
        </p:nvSpPr>
        <p:spPr>
          <a:xfrm>
            <a:off x="457200" y="3998595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C（形态示意）</a:t>
            </a:r>
            <a:endParaRPr lang="zh-CN" sz="1800" dirty="0"/>
          </a:p>
        </p:txBody>
      </p:sp>
      <p:sp>
        <p:nvSpPr>
          <p:cNvPr id="58" name="small-multiples/drawing/art-c/e2/segment-1"/>
          <p:cNvSpPr/>
          <p:nvPr/>
        </p:nvSpPr>
        <p:spPr>
          <a:xfrm>
            <a:off x="990600" y="458914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59" name="small-multiples/drawing/art-c/e3/segment-1"/>
          <p:cNvSpPr/>
          <p:nvPr/>
        </p:nvSpPr>
        <p:spPr>
          <a:xfrm>
            <a:off x="990600" y="491680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60" name="small-multiples/drawing/art-c/e4/segment-1"/>
          <p:cNvSpPr/>
          <p:nvPr/>
        </p:nvSpPr>
        <p:spPr>
          <a:xfrm>
            <a:off x="990600" y="524446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61" name="small-multiples/drawing/art-c/e5/segment-1"/>
          <p:cNvSpPr/>
          <p:nvPr/>
        </p:nvSpPr>
        <p:spPr>
          <a:xfrm>
            <a:off x="990600" y="557212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62" name="small-multiples/drawing/art-c/e6/segment-1"/>
          <p:cNvSpPr/>
          <p:nvPr/>
        </p:nvSpPr>
        <p:spPr>
          <a:xfrm>
            <a:off x="990600" y="4589145"/>
            <a:ext cx="0" cy="98298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63" name="small-multiples/drawing/art-c/e6/segment-2"/>
          <p:cNvSpPr/>
          <p:nvPr/>
        </p:nvSpPr>
        <p:spPr>
          <a:xfrm>
            <a:off x="990600" y="5572125"/>
            <a:ext cx="468858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64" name="small-multiples/drawing/art-c/e7/segment-1"/>
          <p:cNvSpPr/>
          <p:nvPr/>
        </p:nvSpPr>
        <p:spPr>
          <a:xfrm>
            <a:off x="990600" y="4982337"/>
            <a:ext cx="1172147" cy="9829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65" name="small-multiples/drawing/art-c/e7/segment-2"/>
          <p:cNvSpPr/>
          <p:nvPr/>
        </p:nvSpPr>
        <p:spPr>
          <a:xfrm flipV="1">
            <a:off x="2162747" y="5051146"/>
            <a:ext cx="1172147" cy="29489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66" name="small-multiples/drawing/art-c/e7/segment-3"/>
          <p:cNvSpPr/>
          <p:nvPr/>
        </p:nvSpPr>
        <p:spPr>
          <a:xfrm>
            <a:off x="3334893" y="5051146"/>
            <a:ext cx="1172147" cy="147447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67" name="small-multiples/drawing/art-c/e7/segment-4"/>
          <p:cNvSpPr/>
          <p:nvPr/>
        </p:nvSpPr>
        <p:spPr>
          <a:xfrm flipV="1">
            <a:off x="4507040" y="5129784"/>
            <a:ext cx="1172147" cy="68809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68" name="small-multiples/drawing/art-c/e8"/>
          <p:cNvSpPr/>
          <p:nvPr/>
        </p:nvSpPr>
        <p:spPr>
          <a:xfrm>
            <a:off x="952500" y="494423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mall-multiples/drawing/art-c/e9"/>
          <p:cNvSpPr/>
          <p:nvPr/>
        </p:nvSpPr>
        <p:spPr>
          <a:xfrm>
            <a:off x="2124647" y="504253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mall-multiples/drawing/art-c/e10"/>
          <p:cNvSpPr/>
          <p:nvPr/>
        </p:nvSpPr>
        <p:spPr>
          <a:xfrm>
            <a:off x="3296793" y="501304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mall-multiples/drawing/art-c/e11"/>
          <p:cNvSpPr/>
          <p:nvPr/>
        </p:nvSpPr>
        <p:spPr>
          <a:xfrm>
            <a:off x="4468940" y="516049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mall-multiples/drawing/art-c/e12"/>
          <p:cNvSpPr/>
          <p:nvPr/>
        </p:nvSpPr>
        <p:spPr>
          <a:xfrm>
            <a:off x="5641086" y="509168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mall-multiples/drawing/art-c/e13/segment-1"/>
          <p:cNvSpPr/>
          <p:nvPr/>
        </p:nvSpPr>
        <p:spPr>
          <a:xfrm flipV="1">
            <a:off x="990600" y="5060975"/>
            <a:ext cx="1172147" cy="334213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74" name="small-multiples/drawing/art-c/e13/segment-2"/>
          <p:cNvSpPr/>
          <p:nvPr/>
        </p:nvSpPr>
        <p:spPr>
          <a:xfrm>
            <a:off x="2162747" y="5060975"/>
            <a:ext cx="1172147" cy="9829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75" name="small-multiples/drawing/art-c/e13/segment-3"/>
          <p:cNvSpPr/>
          <p:nvPr/>
        </p:nvSpPr>
        <p:spPr>
          <a:xfrm flipV="1">
            <a:off x="3334893" y="4825060"/>
            <a:ext cx="1172147" cy="334213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76" name="small-multiples/drawing/art-c/e13/segment-4"/>
          <p:cNvSpPr/>
          <p:nvPr/>
        </p:nvSpPr>
        <p:spPr>
          <a:xfrm>
            <a:off x="4507040" y="4825060"/>
            <a:ext cx="1172147" cy="9829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77" name="small-multiples/drawing/art-c/e14"/>
          <p:cNvSpPr/>
          <p:nvPr/>
        </p:nvSpPr>
        <p:spPr>
          <a:xfrm>
            <a:off x="952500" y="5357089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mall-multiples/drawing/art-c/e15"/>
          <p:cNvSpPr/>
          <p:nvPr/>
        </p:nvSpPr>
        <p:spPr>
          <a:xfrm>
            <a:off x="2124647" y="502287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mall-multiples/drawing/art-c/e16"/>
          <p:cNvSpPr/>
          <p:nvPr/>
        </p:nvSpPr>
        <p:spPr>
          <a:xfrm>
            <a:off x="3296793" y="512117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mall-multiples/drawing/art-c/e17"/>
          <p:cNvSpPr/>
          <p:nvPr/>
        </p:nvSpPr>
        <p:spPr>
          <a:xfrm>
            <a:off x="4468940" y="478696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mall-multiples/drawing/art-c/e18"/>
          <p:cNvSpPr/>
          <p:nvPr/>
        </p:nvSpPr>
        <p:spPr>
          <a:xfrm>
            <a:off x="5641086" y="488525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mall-multiples/drawing/art-c/e19"/>
          <p:cNvSpPr/>
          <p:nvPr/>
        </p:nvSpPr>
        <p:spPr>
          <a:xfrm>
            <a:off x="990600" y="5705475"/>
            <a:ext cx="468858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83" name="small-multiples/drawing/art-d/e1"/>
          <p:cNvSpPr/>
          <p:nvPr/>
        </p:nvSpPr>
        <p:spPr>
          <a:xfrm>
            <a:off x="6265164" y="3998595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D（形态示意）</a:t>
            </a:r>
            <a:endParaRPr lang="zh-CN" sz="1800" dirty="0"/>
          </a:p>
        </p:txBody>
      </p:sp>
      <p:sp>
        <p:nvSpPr>
          <p:cNvPr id="84" name="small-multiples/drawing/art-d/e2/segment-1"/>
          <p:cNvSpPr/>
          <p:nvPr/>
        </p:nvSpPr>
        <p:spPr>
          <a:xfrm>
            <a:off x="6798564" y="458914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5" name="small-multiples/drawing/art-d/e3/segment-1"/>
          <p:cNvSpPr/>
          <p:nvPr/>
        </p:nvSpPr>
        <p:spPr>
          <a:xfrm>
            <a:off x="6798564" y="491680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6" name="small-multiples/drawing/art-d/e4/segment-1"/>
          <p:cNvSpPr/>
          <p:nvPr/>
        </p:nvSpPr>
        <p:spPr>
          <a:xfrm>
            <a:off x="6798564" y="524446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7" name="small-multiples/drawing/art-d/e5/segment-1"/>
          <p:cNvSpPr/>
          <p:nvPr/>
        </p:nvSpPr>
        <p:spPr>
          <a:xfrm>
            <a:off x="6798564" y="557212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8" name="small-multiples/drawing/art-d/e6/segment-1"/>
          <p:cNvSpPr/>
          <p:nvPr/>
        </p:nvSpPr>
        <p:spPr>
          <a:xfrm>
            <a:off x="6798564" y="4589145"/>
            <a:ext cx="0" cy="98298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89" name="small-multiples/drawing/art-d/e6/segment-2"/>
          <p:cNvSpPr/>
          <p:nvPr/>
        </p:nvSpPr>
        <p:spPr>
          <a:xfrm>
            <a:off x="6798564" y="5572125"/>
            <a:ext cx="468858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90" name="small-multiples/drawing/art-d/e7/segment-1"/>
          <p:cNvSpPr/>
          <p:nvPr/>
        </p:nvSpPr>
        <p:spPr>
          <a:xfrm flipV="1">
            <a:off x="6798564" y="5060975"/>
            <a:ext cx="1172146" cy="334213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91" name="small-multiples/drawing/art-d/e7/segment-2"/>
          <p:cNvSpPr/>
          <p:nvPr/>
        </p:nvSpPr>
        <p:spPr>
          <a:xfrm>
            <a:off x="7970711" y="5060975"/>
            <a:ext cx="1172147" cy="9829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92" name="small-multiples/drawing/art-d/e7/segment-3"/>
          <p:cNvSpPr/>
          <p:nvPr/>
        </p:nvSpPr>
        <p:spPr>
          <a:xfrm flipV="1">
            <a:off x="9142857" y="4825060"/>
            <a:ext cx="1172147" cy="334213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93" name="small-multiples/drawing/art-d/e7/segment-4"/>
          <p:cNvSpPr/>
          <p:nvPr/>
        </p:nvSpPr>
        <p:spPr>
          <a:xfrm>
            <a:off x="10315004" y="4825060"/>
            <a:ext cx="1172146" cy="9829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94" name="small-multiples/drawing/art-d/e8"/>
          <p:cNvSpPr/>
          <p:nvPr/>
        </p:nvSpPr>
        <p:spPr>
          <a:xfrm>
            <a:off x="6760464" y="535708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mall-multiples/drawing/art-d/e9"/>
          <p:cNvSpPr/>
          <p:nvPr/>
        </p:nvSpPr>
        <p:spPr>
          <a:xfrm>
            <a:off x="7932610" y="502287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mall-multiples/drawing/art-d/e10"/>
          <p:cNvSpPr/>
          <p:nvPr/>
        </p:nvSpPr>
        <p:spPr>
          <a:xfrm>
            <a:off x="9104757" y="512117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mall-multiples/drawing/art-d/e11"/>
          <p:cNvSpPr/>
          <p:nvPr/>
        </p:nvSpPr>
        <p:spPr>
          <a:xfrm>
            <a:off x="10276904" y="4786960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mall-multiples/drawing/art-d/e12"/>
          <p:cNvSpPr/>
          <p:nvPr/>
        </p:nvSpPr>
        <p:spPr>
          <a:xfrm>
            <a:off x="11449050" y="488525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mall-multiples/drawing/art-d/e13/segment-1"/>
          <p:cNvSpPr/>
          <p:nvPr/>
        </p:nvSpPr>
        <p:spPr>
          <a:xfrm flipV="1">
            <a:off x="6798564" y="5277231"/>
            <a:ext cx="1172146" cy="11795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100" name="small-multiples/drawing/art-d/e13/segment-2"/>
          <p:cNvSpPr/>
          <p:nvPr/>
        </p:nvSpPr>
        <p:spPr>
          <a:xfrm flipV="1">
            <a:off x="7970711" y="5110124"/>
            <a:ext cx="1172147" cy="167107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101" name="small-multiples/drawing/art-d/e13/segment-3"/>
          <p:cNvSpPr/>
          <p:nvPr/>
        </p:nvSpPr>
        <p:spPr>
          <a:xfrm flipV="1">
            <a:off x="9142857" y="5021656"/>
            <a:ext cx="1172147" cy="8846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102" name="small-multiples/drawing/art-d/e13/segment-4"/>
          <p:cNvSpPr/>
          <p:nvPr/>
        </p:nvSpPr>
        <p:spPr>
          <a:xfrm flipV="1">
            <a:off x="10315004" y="4825060"/>
            <a:ext cx="1172146" cy="196596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103" name="small-multiples/drawing/art-d/e14"/>
          <p:cNvSpPr/>
          <p:nvPr/>
        </p:nvSpPr>
        <p:spPr>
          <a:xfrm>
            <a:off x="6760464" y="5357089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mall-multiples/drawing/art-d/e15"/>
          <p:cNvSpPr/>
          <p:nvPr/>
        </p:nvSpPr>
        <p:spPr>
          <a:xfrm>
            <a:off x="7932610" y="523913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mall-multiples/drawing/art-d/e16"/>
          <p:cNvSpPr/>
          <p:nvPr/>
        </p:nvSpPr>
        <p:spPr>
          <a:xfrm>
            <a:off x="9104757" y="5072024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mall-multiples/drawing/art-d/e17"/>
          <p:cNvSpPr/>
          <p:nvPr/>
        </p:nvSpPr>
        <p:spPr>
          <a:xfrm>
            <a:off x="10276904" y="498355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mall-multiples/drawing/art-d/e18"/>
          <p:cNvSpPr/>
          <p:nvPr/>
        </p:nvSpPr>
        <p:spPr>
          <a:xfrm>
            <a:off x="11449050" y="478696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mall-multiples/drawing/art-d/e19"/>
          <p:cNvSpPr/>
          <p:nvPr/>
        </p:nvSpPr>
        <p:spPr>
          <a:xfrm>
            <a:off x="6798564" y="5705475"/>
            <a:ext cx="468858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-statistics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32</a:t>
            </a:r>
            <a:endParaRPr lang="zh-CN" sz="1350" dirty="0"/>
          </a:p>
        </p:txBody>
      </p:sp>
      <p:sp>
        <p:nvSpPr>
          <p:cNvPr id="3" name="result-statistics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 总体结果与精确统计</a:t>
            </a:r>
            <a:endParaRPr lang="zh-CN" sz="3150" dirty="0"/>
          </a:p>
        </p:txBody>
      </p:sp>
      <p:sp>
        <p:nvSpPr>
          <p:cNvPr id="4" name="result-statistics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result-statistics/drawing/art-result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结果模式（形态示意）</a:t>
            </a:r>
            <a:endParaRPr lang="zh-CN" sz="1800" dirty="0"/>
          </a:p>
        </p:txBody>
      </p:sp>
      <p:sp>
        <p:nvSpPr>
          <p:cNvPr id="6" name="result-statistics/drawing/art-result/e2/segment-1"/>
          <p:cNvSpPr/>
          <p:nvPr/>
        </p:nvSpPr>
        <p:spPr>
          <a:xfrm>
            <a:off x="990600" y="2266950"/>
            <a:ext cx="1049655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7" name="result-statistics/drawing/art-result/e3/segment-1"/>
          <p:cNvSpPr/>
          <p:nvPr/>
        </p:nvSpPr>
        <p:spPr>
          <a:xfrm>
            <a:off x="990600" y="2813685"/>
            <a:ext cx="1049655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" name="result-statistics/drawing/art-result/e4/segment-1"/>
          <p:cNvSpPr/>
          <p:nvPr/>
        </p:nvSpPr>
        <p:spPr>
          <a:xfrm>
            <a:off x="990600" y="3360420"/>
            <a:ext cx="1049655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9" name="result-statistics/drawing/art-result/e5/segment-1"/>
          <p:cNvSpPr/>
          <p:nvPr/>
        </p:nvSpPr>
        <p:spPr>
          <a:xfrm>
            <a:off x="990600" y="3907155"/>
            <a:ext cx="1049655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result-statistics/drawing/art-result/e6/segment-1"/>
          <p:cNvSpPr/>
          <p:nvPr/>
        </p:nvSpPr>
        <p:spPr>
          <a:xfrm>
            <a:off x="990600" y="2266950"/>
            <a:ext cx="0" cy="1640205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1" name="result-statistics/drawing/art-result/e6/segment-2"/>
          <p:cNvSpPr/>
          <p:nvPr/>
        </p:nvSpPr>
        <p:spPr>
          <a:xfrm>
            <a:off x="990600" y="3907155"/>
            <a:ext cx="10496550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2" name="result-statistics/drawing/art-result/e7/segment-1"/>
          <p:cNvSpPr/>
          <p:nvPr/>
        </p:nvSpPr>
        <p:spPr>
          <a:xfrm flipV="1">
            <a:off x="990600" y="3415093"/>
            <a:ext cx="2624138" cy="196825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3" name="result-statistics/drawing/art-result/e7/segment-2"/>
          <p:cNvSpPr/>
          <p:nvPr/>
        </p:nvSpPr>
        <p:spPr>
          <a:xfrm flipV="1">
            <a:off x="3614738" y="3136259"/>
            <a:ext cx="2624138" cy="278835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4" name="result-statistics/drawing/art-result/e7/segment-3"/>
          <p:cNvSpPr/>
          <p:nvPr/>
        </p:nvSpPr>
        <p:spPr>
          <a:xfrm flipV="1">
            <a:off x="6238875" y="2988640"/>
            <a:ext cx="2624138" cy="14761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5" name="result-statistics/drawing/art-result/e7/segment-4"/>
          <p:cNvSpPr/>
          <p:nvPr/>
        </p:nvSpPr>
        <p:spPr>
          <a:xfrm flipV="1">
            <a:off x="8863013" y="2660599"/>
            <a:ext cx="2624138" cy="328041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6" name="result-statistics/drawing/art-result/e8"/>
          <p:cNvSpPr/>
          <p:nvPr/>
        </p:nvSpPr>
        <p:spPr>
          <a:xfrm>
            <a:off x="952500" y="357381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result-statistics/drawing/art-result/e9"/>
          <p:cNvSpPr/>
          <p:nvPr/>
        </p:nvSpPr>
        <p:spPr>
          <a:xfrm>
            <a:off x="3576638" y="337699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result-statistics/drawing/art-result/e10"/>
          <p:cNvSpPr/>
          <p:nvPr/>
        </p:nvSpPr>
        <p:spPr>
          <a:xfrm>
            <a:off x="6200775" y="309815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result-statistics/drawing/art-result/e11"/>
          <p:cNvSpPr/>
          <p:nvPr/>
        </p:nvSpPr>
        <p:spPr>
          <a:xfrm>
            <a:off x="8824913" y="2950540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result-statistics/drawing/art-result/e12"/>
          <p:cNvSpPr/>
          <p:nvPr/>
        </p:nvSpPr>
        <p:spPr>
          <a:xfrm>
            <a:off x="11449050" y="262249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result-statistics/drawing/art-result/e13/segment-1"/>
          <p:cNvSpPr/>
          <p:nvPr/>
        </p:nvSpPr>
        <p:spPr>
          <a:xfrm flipV="1">
            <a:off x="990600" y="3251073"/>
            <a:ext cx="2624138" cy="196825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2" name="result-statistics/drawing/art-result/e13/segment-2"/>
          <p:cNvSpPr/>
          <p:nvPr/>
        </p:nvSpPr>
        <p:spPr>
          <a:xfrm>
            <a:off x="3614738" y="3251073"/>
            <a:ext cx="2624138" cy="16402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3" name="result-statistics/drawing/art-result/e13/segment-3"/>
          <p:cNvSpPr/>
          <p:nvPr/>
        </p:nvSpPr>
        <p:spPr>
          <a:xfrm flipV="1">
            <a:off x="6238875" y="2923032"/>
            <a:ext cx="2624138" cy="344443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4" name="result-statistics/drawing/art-result/e13/segment-4"/>
          <p:cNvSpPr/>
          <p:nvPr/>
        </p:nvSpPr>
        <p:spPr>
          <a:xfrm flipV="1">
            <a:off x="8863013" y="2791816"/>
            <a:ext cx="2624138" cy="131216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5" name="result-statistics/drawing/art-result/e14"/>
          <p:cNvSpPr/>
          <p:nvPr/>
        </p:nvSpPr>
        <p:spPr>
          <a:xfrm>
            <a:off x="952500" y="340979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result-statistics/drawing/art-result/e15"/>
          <p:cNvSpPr/>
          <p:nvPr/>
        </p:nvSpPr>
        <p:spPr>
          <a:xfrm>
            <a:off x="3576638" y="321297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result-statistics/drawing/art-result/e16"/>
          <p:cNvSpPr/>
          <p:nvPr/>
        </p:nvSpPr>
        <p:spPr>
          <a:xfrm>
            <a:off x="6200775" y="322937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result-statistics/drawing/art-result/e17"/>
          <p:cNvSpPr/>
          <p:nvPr/>
        </p:nvSpPr>
        <p:spPr>
          <a:xfrm>
            <a:off x="8824913" y="2884932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result-statistics/drawing/art-result/e18"/>
          <p:cNvSpPr/>
          <p:nvPr/>
        </p:nvSpPr>
        <p:spPr>
          <a:xfrm>
            <a:off x="11449050" y="275371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result-statistics/drawing/art-result/e19"/>
          <p:cNvSpPr/>
          <p:nvPr/>
        </p:nvSpPr>
        <p:spPr>
          <a:xfrm>
            <a:off x="990600" y="4040505"/>
            <a:ext cx="104965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31" name="result-statistics/drawing/art-statistics/e1"/>
          <p:cNvSpPr/>
          <p:nvPr/>
        </p:nvSpPr>
        <p:spPr>
          <a:xfrm>
            <a:off x="457200" y="465582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精确统计与样本条件</a:t>
            </a:r>
            <a:endParaRPr lang="zh-CN" sz="1800" dirty="0"/>
          </a:p>
        </p:txBody>
      </p:sp>
      <p:sp>
        <p:nvSpPr>
          <p:cNvPr id="32" name="result-statistics/drawing/art-statistics/e2"/>
          <p:cNvSpPr/>
          <p:nvPr/>
        </p:nvSpPr>
        <p:spPr>
          <a:xfrm>
            <a:off x="457200" y="5084445"/>
            <a:ext cx="11277600" cy="448628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result-statistics/drawing/art-statistics/e3"/>
          <p:cNvSpPr/>
          <p:nvPr/>
        </p:nvSpPr>
        <p:spPr>
          <a:xfrm>
            <a:off x="552450" y="516207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统计量</a:t>
            </a:r>
            <a:endParaRPr lang="zh-CN" sz="1800" dirty="0"/>
          </a:p>
        </p:txBody>
      </p:sp>
      <p:sp>
        <p:nvSpPr>
          <p:cNvPr id="34" name="result-statistics/drawing/art-statistics/e4"/>
          <p:cNvSpPr/>
          <p:nvPr/>
        </p:nvSpPr>
        <p:spPr>
          <a:xfrm>
            <a:off x="3371850" y="516207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</a:t>
            </a:r>
            <a:endParaRPr lang="zh-CN" sz="1800" dirty="0"/>
          </a:p>
        </p:txBody>
      </p:sp>
      <p:sp>
        <p:nvSpPr>
          <p:cNvPr id="35" name="result-statistics/drawing/art-statistics/e5"/>
          <p:cNvSpPr/>
          <p:nvPr/>
        </p:nvSpPr>
        <p:spPr>
          <a:xfrm>
            <a:off x="6191250" y="516207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</a:t>
            </a:r>
            <a:endParaRPr lang="zh-CN" sz="1800" dirty="0"/>
          </a:p>
        </p:txBody>
      </p:sp>
      <p:sp>
        <p:nvSpPr>
          <p:cNvPr id="36" name="result-statistics/drawing/art-statistics/e6"/>
          <p:cNvSpPr/>
          <p:nvPr/>
        </p:nvSpPr>
        <p:spPr>
          <a:xfrm>
            <a:off x="9010650" y="516207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区间</a:t>
            </a:r>
            <a:endParaRPr lang="zh-CN" sz="1800" dirty="0"/>
          </a:p>
        </p:txBody>
      </p:sp>
      <p:sp>
        <p:nvSpPr>
          <p:cNvPr id="37" name="result-statistics/drawing/art-statistics/e7/segment-1"/>
          <p:cNvSpPr/>
          <p:nvPr/>
        </p:nvSpPr>
        <p:spPr>
          <a:xfrm>
            <a:off x="457200" y="5533073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8" name="result-statistics/drawing/art-statistics/e8"/>
          <p:cNvSpPr/>
          <p:nvPr/>
        </p:nvSpPr>
        <p:spPr>
          <a:xfrm>
            <a:off x="457200" y="5533073"/>
            <a:ext cx="11277600" cy="448628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result-statistics/drawing/art-statistics/e9"/>
          <p:cNvSpPr/>
          <p:nvPr/>
        </p:nvSpPr>
        <p:spPr>
          <a:xfrm>
            <a:off x="552450" y="561070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预定义</a:t>
            </a:r>
            <a:endParaRPr lang="zh-CN" sz="1800" dirty="0"/>
          </a:p>
        </p:txBody>
      </p:sp>
      <p:sp>
        <p:nvSpPr>
          <p:cNvPr id="40" name="result-statistics/drawing/art-statistics/e10"/>
          <p:cNvSpPr/>
          <p:nvPr/>
        </p:nvSpPr>
        <p:spPr>
          <a:xfrm>
            <a:off x="3371850" y="561070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完整保留</a:t>
            </a:r>
            <a:endParaRPr lang="zh-CN" sz="1800" dirty="0"/>
          </a:p>
        </p:txBody>
      </p:sp>
      <p:sp>
        <p:nvSpPr>
          <p:cNvPr id="41" name="result-statistics/drawing/art-statistics/e11"/>
          <p:cNvSpPr/>
          <p:nvPr/>
        </p:nvSpPr>
        <p:spPr>
          <a:xfrm>
            <a:off x="6191250" y="561070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独立重复</a:t>
            </a:r>
            <a:endParaRPr lang="zh-CN" sz="1800" dirty="0"/>
          </a:p>
        </p:txBody>
      </p:sp>
      <p:sp>
        <p:nvSpPr>
          <p:cNvPr id="42" name="result-statistics/drawing/art-statistics/e12"/>
          <p:cNvSpPr/>
          <p:nvPr/>
        </p:nvSpPr>
        <p:spPr>
          <a:xfrm>
            <a:off x="9010650" y="561070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明确类型</a:t>
            </a:r>
            <a:endParaRPr lang="zh-CN" sz="1800" dirty="0"/>
          </a:p>
        </p:txBody>
      </p:sp>
      <p:sp>
        <p:nvSpPr>
          <p:cNvPr id="43" name="result-statistics/drawing/art-statistics/e13/segment-1"/>
          <p:cNvSpPr/>
          <p:nvPr/>
        </p:nvSpPr>
        <p:spPr>
          <a:xfrm>
            <a:off x="457200" y="5981700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tribution-uncertainty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32</a:t>
            </a:r>
            <a:endParaRPr lang="zh-CN" sz="1350" dirty="0"/>
          </a:p>
        </p:txBody>
      </p:sp>
      <p:sp>
        <p:nvSpPr>
          <p:cNvPr id="3" name="distribution-uncertainty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 分布与估计不确定性</a:t>
            </a:r>
            <a:endParaRPr lang="zh-CN" sz="3150" dirty="0"/>
          </a:p>
        </p:txBody>
      </p:sp>
      <p:sp>
        <p:nvSpPr>
          <p:cNvPr id="4" name="distribution-uncertainty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distribution-uncertainty/drawing/art-distribution/e1"/>
          <p:cNvSpPr/>
          <p:nvPr/>
        </p:nvSpPr>
        <p:spPr>
          <a:xfrm>
            <a:off x="457200" y="1676400"/>
            <a:ext cx="642823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个体观测分布</a:t>
            </a:r>
            <a:endParaRPr lang="zh-CN" sz="1800" dirty="0"/>
          </a:p>
        </p:txBody>
      </p:sp>
      <p:sp>
        <p:nvSpPr>
          <p:cNvPr id="6" name="distribution-uncertainty/drawing/art-distribution/e2/segment-1"/>
          <p:cNvSpPr/>
          <p:nvPr/>
        </p:nvSpPr>
        <p:spPr>
          <a:xfrm>
            <a:off x="981075" y="2247900"/>
            <a:ext cx="0" cy="229362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7" name="distribution-uncertainty/drawing/art-distribution/e2/segment-2"/>
          <p:cNvSpPr/>
          <p:nvPr/>
        </p:nvSpPr>
        <p:spPr>
          <a:xfrm>
            <a:off x="981075" y="4541520"/>
            <a:ext cx="5590032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8" name="distribution-uncertainty/drawing/art-distribution/e3"/>
          <p:cNvSpPr/>
          <p:nvPr/>
        </p:nvSpPr>
        <p:spPr>
          <a:xfrm>
            <a:off x="2374834" y="397588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distribution-uncertainty/drawing/art-distribution/e4"/>
          <p:cNvSpPr/>
          <p:nvPr/>
        </p:nvSpPr>
        <p:spPr>
          <a:xfrm>
            <a:off x="2508184" y="372358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distribution-uncertainty/drawing/art-distribution/e5"/>
          <p:cNvSpPr/>
          <p:nvPr/>
        </p:nvSpPr>
        <p:spPr>
          <a:xfrm>
            <a:off x="2641534" y="360890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distribution-uncertainty/drawing/art-distribution/e6"/>
          <p:cNvSpPr/>
          <p:nvPr/>
        </p:nvSpPr>
        <p:spPr>
          <a:xfrm>
            <a:off x="2374834" y="331073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distribution-uncertainty/drawing/art-distribution/e7"/>
          <p:cNvSpPr/>
          <p:nvPr/>
        </p:nvSpPr>
        <p:spPr>
          <a:xfrm>
            <a:off x="2508184" y="319605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distribution-uncertainty/drawing/art-distribution/e8"/>
          <p:cNvSpPr/>
          <p:nvPr/>
        </p:nvSpPr>
        <p:spPr>
          <a:xfrm>
            <a:off x="2641534" y="303550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distribution-uncertainty/drawing/art-distribution/e9"/>
          <p:cNvSpPr/>
          <p:nvPr/>
        </p:nvSpPr>
        <p:spPr>
          <a:xfrm>
            <a:off x="2374834" y="285201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distribution-uncertainty/drawing/art-distribution/e10"/>
          <p:cNvSpPr/>
          <p:nvPr/>
        </p:nvSpPr>
        <p:spPr>
          <a:xfrm>
            <a:off x="2508184" y="264558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distribution-uncertainty/drawing/art-distribution/e11"/>
          <p:cNvSpPr/>
          <p:nvPr/>
        </p:nvSpPr>
        <p:spPr>
          <a:xfrm>
            <a:off x="1927159" y="468439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A</a:t>
            </a:r>
            <a:endParaRPr lang="zh-CN" sz="1800" dirty="0"/>
          </a:p>
        </p:txBody>
      </p:sp>
      <p:sp>
        <p:nvSpPr>
          <p:cNvPr id="17" name="distribution-uncertainty/drawing/art-distribution/e12"/>
          <p:cNvSpPr/>
          <p:nvPr/>
        </p:nvSpPr>
        <p:spPr>
          <a:xfrm>
            <a:off x="4834448" y="383827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distribution-uncertainty/drawing/art-distribution/e13"/>
          <p:cNvSpPr/>
          <p:nvPr/>
        </p:nvSpPr>
        <p:spPr>
          <a:xfrm>
            <a:off x="4967798" y="356303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distribution-uncertainty/drawing/art-distribution/e14"/>
          <p:cNvSpPr/>
          <p:nvPr/>
        </p:nvSpPr>
        <p:spPr>
          <a:xfrm>
            <a:off x="5101148" y="347129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distribution-uncertainty/drawing/art-distribution/e15"/>
          <p:cNvSpPr/>
          <p:nvPr/>
        </p:nvSpPr>
        <p:spPr>
          <a:xfrm>
            <a:off x="4834448" y="317312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distribution-uncertainty/drawing/art-distribution/e16"/>
          <p:cNvSpPr/>
          <p:nvPr/>
        </p:nvSpPr>
        <p:spPr>
          <a:xfrm>
            <a:off x="4967798" y="303550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distribution-uncertainty/drawing/art-distribution/e17"/>
          <p:cNvSpPr/>
          <p:nvPr/>
        </p:nvSpPr>
        <p:spPr>
          <a:xfrm>
            <a:off x="5101148" y="2920822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distribution-uncertainty/drawing/art-distribution/e18"/>
          <p:cNvSpPr/>
          <p:nvPr/>
        </p:nvSpPr>
        <p:spPr>
          <a:xfrm>
            <a:off x="4834448" y="269146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distribution-uncertainty/drawing/art-distribution/e19"/>
          <p:cNvSpPr/>
          <p:nvPr/>
        </p:nvSpPr>
        <p:spPr>
          <a:xfrm>
            <a:off x="4967798" y="2576779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distribution-uncertainty/drawing/art-distribution/e20"/>
          <p:cNvSpPr/>
          <p:nvPr/>
        </p:nvSpPr>
        <p:spPr>
          <a:xfrm>
            <a:off x="4386773" y="4684395"/>
            <a:ext cx="1238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B</a:t>
            </a:r>
            <a:endParaRPr lang="zh-CN" sz="1800" dirty="0"/>
          </a:p>
        </p:txBody>
      </p:sp>
      <p:sp>
        <p:nvSpPr>
          <p:cNvPr id="26" name="distribution-uncertainty/drawing/art-uncertainty/e1"/>
          <p:cNvSpPr/>
          <p:nvPr/>
        </p:nvSpPr>
        <p:spPr>
          <a:xfrm>
            <a:off x="7223760" y="1676400"/>
            <a:ext cx="45110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合成估计区间</a:t>
            </a:r>
            <a:endParaRPr lang="zh-CN" sz="1800" dirty="0"/>
          </a:p>
        </p:txBody>
      </p:sp>
      <p:sp>
        <p:nvSpPr>
          <p:cNvPr id="27" name="distribution-uncertainty/drawing/art-uncertainty/e2/segment-1"/>
          <p:cNvSpPr/>
          <p:nvPr/>
        </p:nvSpPr>
        <p:spPr>
          <a:xfrm>
            <a:off x="7557135" y="4570095"/>
            <a:ext cx="3920490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28" name="distribution-uncertainty/drawing/art-uncertainty/e3/segment-1"/>
          <p:cNvSpPr/>
          <p:nvPr/>
        </p:nvSpPr>
        <p:spPr>
          <a:xfrm>
            <a:off x="8027594" y="2864739"/>
            <a:ext cx="1685811" cy="0"/>
          </a:xfrm>
          <a:prstGeom prst="line">
            <a:avLst/>
          </a:prstGeom>
          <a:noFill/>
          <a:ln w="38100">
            <a:solidFill>
              <a:srgbClr val="235F89"/>
            </a:solidFill>
            <a:prstDash val="solid"/>
          </a:ln>
        </p:spPr>
      </p:sp>
      <p:sp>
        <p:nvSpPr>
          <p:cNvPr id="29" name="distribution-uncertainty/drawing/art-uncertainty/e4"/>
          <p:cNvSpPr/>
          <p:nvPr/>
        </p:nvSpPr>
        <p:spPr>
          <a:xfrm>
            <a:off x="8822874" y="2817114"/>
            <a:ext cx="95250" cy="9525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distribution-uncertainty/drawing/art-uncertainty/e5/segment-1"/>
          <p:cNvSpPr/>
          <p:nvPr/>
        </p:nvSpPr>
        <p:spPr>
          <a:xfrm>
            <a:off x="8498053" y="3440297"/>
            <a:ext cx="1607401" cy="0"/>
          </a:xfrm>
          <a:prstGeom prst="line">
            <a:avLst/>
          </a:prstGeom>
          <a:noFill/>
          <a:ln w="38100">
            <a:solidFill>
              <a:srgbClr val="327C72"/>
            </a:solidFill>
            <a:prstDash val="solid"/>
          </a:ln>
        </p:spPr>
      </p:sp>
      <p:sp>
        <p:nvSpPr>
          <p:cNvPr id="31" name="distribution-uncertainty/drawing/art-uncertainty/e6"/>
          <p:cNvSpPr/>
          <p:nvPr/>
        </p:nvSpPr>
        <p:spPr>
          <a:xfrm>
            <a:off x="9254128" y="3392672"/>
            <a:ext cx="95250" cy="9525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distribution-uncertainty/drawing/art-uncertainty/e7/segment-1"/>
          <p:cNvSpPr/>
          <p:nvPr/>
        </p:nvSpPr>
        <p:spPr>
          <a:xfrm>
            <a:off x="8968511" y="4015854"/>
            <a:ext cx="1528991" cy="0"/>
          </a:xfrm>
          <a:prstGeom prst="line">
            <a:avLst/>
          </a:prstGeom>
          <a:noFill/>
          <a:ln w="38100">
            <a:solidFill>
              <a:srgbClr val="235F89"/>
            </a:solidFill>
            <a:prstDash val="solid"/>
          </a:ln>
        </p:spPr>
      </p:sp>
      <p:sp>
        <p:nvSpPr>
          <p:cNvPr id="33" name="distribution-uncertainty/drawing/art-uncertainty/e8"/>
          <p:cNvSpPr/>
          <p:nvPr/>
        </p:nvSpPr>
        <p:spPr>
          <a:xfrm>
            <a:off x="9685382" y="3968229"/>
            <a:ext cx="95250" cy="9525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distribution-uncertainty/drawing/art-uncertainty/e9"/>
          <p:cNvSpPr/>
          <p:nvPr/>
        </p:nvSpPr>
        <p:spPr>
          <a:xfrm>
            <a:off x="7223760" y="4703445"/>
            <a:ext cx="45110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区间定义须明确</a:t>
            </a:r>
            <a:endParaRPr lang="zh-CN" sz="1800" dirty="0"/>
          </a:p>
        </p:txBody>
      </p:sp>
      <p:sp>
        <p:nvSpPr>
          <p:cNvPr id="35" name="distribution-uncertainty/drawing/art-sample/e1"/>
          <p:cNvSpPr/>
          <p:nvPr/>
        </p:nvSpPr>
        <p:spPr>
          <a:xfrm>
            <a:off x="457200" y="5356860"/>
            <a:ext cx="47625" cy="70104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distribution-uncertainty/drawing/art-sample/e2"/>
          <p:cNvSpPr/>
          <p:nvPr/>
        </p:nvSpPr>
        <p:spPr>
          <a:xfrm>
            <a:off x="628650" y="5535930"/>
            <a:ext cx="110109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样本与区间定义：报告 n、单位及区间定义。</a:t>
            </a:r>
            <a:endParaRPr lang="zh-CN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and-detail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32</a:t>
            </a:r>
            <a:endParaRPr lang="zh-CN" sz="1350" dirty="0"/>
          </a:p>
        </p:txBody>
      </p:sp>
      <p:sp>
        <p:nvSpPr>
          <p:cNvPr id="3" name="map-and-detail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 总体定位与局部证据</a:t>
            </a:r>
            <a:endParaRPr lang="zh-CN" sz="3150" dirty="0"/>
          </a:p>
        </p:txBody>
      </p:sp>
      <p:sp>
        <p:nvSpPr>
          <p:cNvPr id="4" name="map-and-detail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map-and-detail/drawing/art-overview/e1"/>
          <p:cNvSpPr/>
          <p:nvPr/>
        </p:nvSpPr>
        <p:spPr>
          <a:xfrm>
            <a:off x="457200" y="1676400"/>
            <a:ext cx="699211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总体空间与局部定位</a:t>
            </a:r>
            <a:endParaRPr lang="zh-CN" sz="1800" dirty="0"/>
          </a:p>
        </p:txBody>
      </p:sp>
      <p:sp>
        <p:nvSpPr>
          <p:cNvPr id="6" name="map-and-detail/drawing/art-overview/e2"/>
          <p:cNvSpPr/>
          <p:nvPr/>
        </p:nvSpPr>
        <p:spPr>
          <a:xfrm>
            <a:off x="457200" y="2152650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map-and-detail/drawing/art-overview/e3"/>
          <p:cNvSpPr/>
          <p:nvPr/>
        </p:nvSpPr>
        <p:spPr>
          <a:xfrm>
            <a:off x="1218226" y="2152650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map-and-detail/drawing/art-overview/e4"/>
          <p:cNvSpPr/>
          <p:nvPr/>
        </p:nvSpPr>
        <p:spPr>
          <a:xfrm>
            <a:off x="1979253" y="2152650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map-and-detail/drawing/art-overview/e5"/>
          <p:cNvSpPr/>
          <p:nvPr/>
        </p:nvSpPr>
        <p:spPr>
          <a:xfrm>
            <a:off x="2740279" y="2152650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map-and-detail/drawing/art-overview/e6"/>
          <p:cNvSpPr/>
          <p:nvPr/>
        </p:nvSpPr>
        <p:spPr>
          <a:xfrm>
            <a:off x="3501305" y="2152650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map-and-detail/drawing/art-overview/e7"/>
          <p:cNvSpPr/>
          <p:nvPr/>
        </p:nvSpPr>
        <p:spPr>
          <a:xfrm>
            <a:off x="4262332" y="2152650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map-and-detail/drawing/art-overview/e8"/>
          <p:cNvSpPr/>
          <p:nvPr/>
        </p:nvSpPr>
        <p:spPr>
          <a:xfrm>
            <a:off x="5023358" y="2152650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map-and-detail/drawing/art-overview/e9"/>
          <p:cNvSpPr/>
          <p:nvPr/>
        </p:nvSpPr>
        <p:spPr>
          <a:xfrm>
            <a:off x="5784384" y="2152650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map-and-detail/drawing/art-overview/e10"/>
          <p:cNvSpPr/>
          <p:nvPr/>
        </p:nvSpPr>
        <p:spPr>
          <a:xfrm>
            <a:off x="6545411" y="2152650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map-and-detail/drawing/art-overview/e11"/>
          <p:cNvSpPr/>
          <p:nvPr/>
        </p:nvSpPr>
        <p:spPr>
          <a:xfrm>
            <a:off x="457200" y="2779713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map-and-detail/drawing/art-overview/e12"/>
          <p:cNvSpPr/>
          <p:nvPr/>
        </p:nvSpPr>
        <p:spPr>
          <a:xfrm>
            <a:off x="1218226" y="2779713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map-and-detail/drawing/art-overview/e13"/>
          <p:cNvSpPr/>
          <p:nvPr/>
        </p:nvSpPr>
        <p:spPr>
          <a:xfrm>
            <a:off x="1979253" y="2779713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map-and-detail/drawing/art-overview/e14"/>
          <p:cNvSpPr/>
          <p:nvPr/>
        </p:nvSpPr>
        <p:spPr>
          <a:xfrm>
            <a:off x="2740279" y="2779713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map-and-detail/drawing/art-overview/e15"/>
          <p:cNvSpPr/>
          <p:nvPr/>
        </p:nvSpPr>
        <p:spPr>
          <a:xfrm>
            <a:off x="3501305" y="2779713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map-and-detail/drawing/art-overview/e16"/>
          <p:cNvSpPr/>
          <p:nvPr/>
        </p:nvSpPr>
        <p:spPr>
          <a:xfrm>
            <a:off x="4262332" y="2779713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map-and-detail/drawing/art-overview/e17"/>
          <p:cNvSpPr/>
          <p:nvPr/>
        </p:nvSpPr>
        <p:spPr>
          <a:xfrm>
            <a:off x="5023358" y="2779713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map-and-detail/drawing/art-overview/e18"/>
          <p:cNvSpPr/>
          <p:nvPr/>
        </p:nvSpPr>
        <p:spPr>
          <a:xfrm>
            <a:off x="5784384" y="2779713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map-and-detail/drawing/art-overview/e19"/>
          <p:cNvSpPr/>
          <p:nvPr/>
        </p:nvSpPr>
        <p:spPr>
          <a:xfrm>
            <a:off x="6545411" y="2779713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map-and-detail/drawing/art-overview/e20"/>
          <p:cNvSpPr/>
          <p:nvPr/>
        </p:nvSpPr>
        <p:spPr>
          <a:xfrm>
            <a:off x="457200" y="3406775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map-and-detail/drawing/art-overview/e21"/>
          <p:cNvSpPr/>
          <p:nvPr/>
        </p:nvSpPr>
        <p:spPr>
          <a:xfrm>
            <a:off x="1218226" y="3406775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map-and-detail/drawing/art-overview/e22"/>
          <p:cNvSpPr/>
          <p:nvPr/>
        </p:nvSpPr>
        <p:spPr>
          <a:xfrm>
            <a:off x="1979253" y="3406775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map-and-detail/drawing/art-overview/e23"/>
          <p:cNvSpPr/>
          <p:nvPr/>
        </p:nvSpPr>
        <p:spPr>
          <a:xfrm>
            <a:off x="2740279" y="3406775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map-and-detail/drawing/art-overview/e24"/>
          <p:cNvSpPr/>
          <p:nvPr/>
        </p:nvSpPr>
        <p:spPr>
          <a:xfrm>
            <a:off x="3501305" y="3406775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map-and-detail/drawing/art-overview/e25"/>
          <p:cNvSpPr/>
          <p:nvPr/>
        </p:nvSpPr>
        <p:spPr>
          <a:xfrm>
            <a:off x="4262332" y="3406775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map-and-detail/drawing/art-overview/e26"/>
          <p:cNvSpPr/>
          <p:nvPr/>
        </p:nvSpPr>
        <p:spPr>
          <a:xfrm>
            <a:off x="5023358" y="3406775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map-and-detail/drawing/art-overview/e27"/>
          <p:cNvSpPr/>
          <p:nvPr/>
        </p:nvSpPr>
        <p:spPr>
          <a:xfrm>
            <a:off x="5784384" y="3406775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map-and-detail/drawing/art-overview/e28"/>
          <p:cNvSpPr/>
          <p:nvPr/>
        </p:nvSpPr>
        <p:spPr>
          <a:xfrm>
            <a:off x="6545411" y="3406775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map-and-detail/drawing/art-overview/e29"/>
          <p:cNvSpPr/>
          <p:nvPr/>
        </p:nvSpPr>
        <p:spPr>
          <a:xfrm>
            <a:off x="457200" y="4033837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map-and-detail/drawing/art-overview/e30"/>
          <p:cNvSpPr/>
          <p:nvPr/>
        </p:nvSpPr>
        <p:spPr>
          <a:xfrm>
            <a:off x="1218226" y="4033837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map-and-detail/drawing/art-overview/e31"/>
          <p:cNvSpPr/>
          <p:nvPr/>
        </p:nvSpPr>
        <p:spPr>
          <a:xfrm>
            <a:off x="1979253" y="4033837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map-and-detail/drawing/art-overview/e32"/>
          <p:cNvSpPr/>
          <p:nvPr/>
        </p:nvSpPr>
        <p:spPr>
          <a:xfrm>
            <a:off x="2740279" y="4033837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map-and-detail/drawing/art-overview/e33"/>
          <p:cNvSpPr/>
          <p:nvPr/>
        </p:nvSpPr>
        <p:spPr>
          <a:xfrm>
            <a:off x="3501305" y="4033837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map-and-detail/drawing/art-overview/e34"/>
          <p:cNvSpPr/>
          <p:nvPr/>
        </p:nvSpPr>
        <p:spPr>
          <a:xfrm>
            <a:off x="4262332" y="4033837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map-and-detail/drawing/art-overview/e35"/>
          <p:cNvSpPr/>
          <p:nvPr/>
        </p:nvSpPr>
        <p:spPr>
          <a:xfrm>
            <a:off x="5023358" y="4033837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map-and-detail/drawing/art-overview/e36"/>
          <p:cNvSpPr/>
          <p:nvPr/>
        </p:nvSpPr>
        <p:spPr>
          <a:xfrm>
            <a:off x="5784384" y="4033837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map-and-detail/drawing/art-overview/e37"/>
          <p:cNvSpPr/>
          <p:nvPr/>
        </p:nvSpPr>
        <p:spPr>
          <a:xfrm>
            <a:off x="6545411" y="4033837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map-and-detail/drawing/art-overview/e38"/>
          <p:cNvSpPr/>
          <p:nvPr/>
        </p:nvSpPr>
        <p:spPr>
          <a:xfrm>
            <a:off x="457200" y="4660900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map-and-detail/drawing/art-overview/e39"/>
          <p:cNvSpPr/>
          <p:nvPr/>
        </p:nvSpPr>
        <p:spPr>
          <a:xfrm>
            <a:off x="1218226" y="4660900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map-and-detail/drawing/art-overview/e40"/>
          <p:cNvSpPr/>
          <p:nvPr/>
        </p:nvSpPr>
        <p:spPr>
          <a:xfrm>
            <a:off x="1979253" y="4660900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map-and-detail/drawing/art-overview/e41"/>
          <p:cNvSpPr/>
          <p:nvPr/>
        </p:nvSpPr>
        <p:spPr>
          <a:xfrm>
            <a:off x="2740279" y="4660900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map-and-detail/drawing/art-overview/e42"/>
          <p:cNvSpPr/>
          <p:nvPr/>
        </p:nvSpPr>
        <p:spPr>
          <a:xfrm>
            <a:off x="3501305" y="4660900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map-and-detail/drawing/art-overview/e43"/>
          <p:cNvSpPr/>
          <p:nvPr/>
        </p:nvSpPr>
        <p:spPr>
          <a:xfrm>
            <a:off x="4262332" y="4660900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map-and-detail/drawing/art-overview/e44"/>
          <p:cNvSpPr/>
          <p:nvPr/>
        </p:nvSpPr>
        <p:spPr>
          <a:xfrm>
            <a:off x="5023358" y="4660900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map-and-detail/drawing/art-overview/e45"/>
          <p:cNvSpPr/>
          <p:nvPr/>
        </p:nvSpPr>
        <p:spPr>
          <a:xfrm>
            <a:off x="5784384" y="4660900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map-and-detail/drawing/art-overview/e46"/>
          <p:cNvSpPr/>
          <p:nvPr/>
        </p:nvSpPr>
        <p:spPr>
          <a:xfrm>
            <a:off x="6545411" y="4660900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map-and-detail/drawing/art-overview/e47"/>
          <p:cNvSpPr/>
          <p:nvPr/>
        </p:nvSpPr>
        <p:spPr>
          <a:xfrm>
            <a:off x="457200" y="5287963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map-and-detail/drawing/art-overview/e48"/>
          <p:cNvSpPr/>
          <p:nvPr/>
        </p:nvSpPr>
        <p:spPr>
          <a:xfrm>
            <a:off x="1218226" y="5287963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map-and-detail/drawing/art-overview/e49"/>
          <p:cNvSpPr/>
          <p:nvPr/>
        </p:nvSpPr>
        <p:spPr>
          <a:xfrm>
            <a:off x="1979253" y="5287963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map-and-detail/drawing/art-overview/e50"/>
          <p:cNvSpPr/>
          <p:nvPr/>
        </p:nvSpPr>
        <p:spPr>
          <a:xfrm>
            <a:off x="2740279" y="5287963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map-and-detail/drawing/art-overview/e51"/>
          <p:cNvSpPr/>
          <p:nvPr/>
        </p:nvSpPr>
        <p:spPr>
          <a:xfrm>
            <a:off x="3501305" y="5287963"/>
            <a:ext cx="741976" cy="608012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map-and-detail/drawing/art-overview/e52"/>
          <p:cNvSpPr/>
          <p:nvPr/>
        </p:nvSpPr>
        <p:spPr>
          <a:xfrm>
            <a:off x="4262332" y="5287963"/>
            <a:ext cx="741976" cy="608012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map-and-detail/drawing/art-overview/e53"/>
          <p:cNvSpPr/>
          <p:nvPr/>
        </p:nvSpPr>
        <p:spPr>
          <a:xfrm>
            <a:off x="5023358" y="5287963"/>
            <a:ext cx="741976" cy="608012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map-and-detail/drawing/art-overview/e54"/>
          <p:cNvSpPr/>
          <p:nvPr/>
        </p:nvSpPr>
        <p:spPr>
          <a:xfrm>
            <a:off x="5784384" y="5287963"/>
            <a:ext cx="741976" cy="608012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map-and-detail/drawing/art-overview/e55"/>
          <p:cNvSpPr/>
          <p:nvPr/>
        </p:nvSpPr>
        <p:spPr>
          <a:xfrm>
            <a:off x="6545411" y="5287963"/>
            <a:ext cx="741976" cy="608012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map-and-detail/drawing/art-overview/e56"/>
          <p:cNvSpPr/>
          <p:nvPr/>
        </p:nvSpPr>
        <p:spPr>
          <a:xfrm>
            <a:off x="1218226" y="2779713"/>
            <a:ext cx="1522053" cy="1254125"/>
          </a:xfrm>
          <a:prstGeom prst="rect">
            <a:avLst/>
          </a:prstGeom>
          <a:ln w="14288">
            <a:solidFill>
              <a:srgbClr val="235F89"/>
            </a:solidFill>
            <a:prstDash val="solid"/>
          </a:ln>
        </p:spPr>
      </p:sp>
      <p:sp>
        <p:nvSpPr>
          <p:cNvPr id="61" name="map-and-detail/drawing/art-overview/e57"/>
          <p:cNvSpPr/>
          <p:nvPr/>
        </p:nvSpPr>
        <p:spPr>
          <a:xfrm>
            <a:off x="5023358" y="4033837"/>
            <a:ext cx="1522053" cy="1254125"/>
          </a:xfrm>
          <a:prstGeom prst="rect">
            <a:avLst/>
          </a:prstGeom>
          <a:ln w="14288">
            <a:solidFill>
              <a:srgbClr val="B6684C"/>
            </a:solidFill>
            <a:prstDash val="solid"/>
          </a:ln>
        </p:spPr>
      </p:sp>
      <p:sp>
        <p:nvSpPr>
          <p:cNvPr id="62" name="map-and-detail/drawing/art-overview/e58"/>
          <p:cNvSpPr/>
          <p:nvPr/>
        </p:nvSpPr>
        <p:spPr>
          <a:xfrm>
            <a:off x="1275376" y="2836863"/>
            <a:ext cx="381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zh-CN" sz="1800" dirty="0"/>
          </a:p>
        </p:txBody>
      </p:sp>
      <p:sp>
        <p:nvSpPr>
          <p:cNvPr id="63" name="map-and-detail/drawing/art-overview/e59"/>
          <p:cNvSpPr/>
          <p:nvPr/>
        </p:nvSpPr>
        <p:spPr>
          <a:xfrm>
            <a:off x="5080508" y="4090987"/>
            <a:ext cx="381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zh-CN" sz="1800" dirty="0"/>
          </a:p>
        </p:txBody>
      </p:sp>
      <p:sp>
        <p:nvSpPr>
          <p:cNvPr id="64" name="map-and-detail/drawing/art-detail-a/e1"/>
          <p:cNvSpPr/>
          <p:nvPr/>
        </p:nvSpPr>
        <p:spPr>
          <a:xfrm>
            <a:off x="7900416" y="1676400"/>
            <a:ext cx="38343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 A（结构示意）</a:t>
            </a:r>
            <a:endParaRPr lang="zh-CN" sz="1800" dirty="0"/>
          </a:p>
        </p:txBody>
      </p:sp>
      <p:sp>
        <p:nvSpPr>
          <p:cNvPr id="65" name="map-and-detail/drawing/art-detail-a/e2"/>
          <p:cNvSpPr/>
          <p:nvPr/>
        </p:nvSpPr>
        <p:spPr>
          <a:xfrm>
            <a:off x="7900416" y="2152650"/>
            <a:ext cx="719252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map-and-detail/drawing/art-detail-a/e3"/>
          <p:cNvSpPr/>
          <p:nvPr/>
        </p:nvSpPr>
        <p:spPr>
          <a:xfrm>
            <a:off x="8638718" y="2152650"/>
            <a:ext cx="719252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map-and-detail/drawing/art-detail-a/e4"/>
          <p:cNvSpPr/>
          <p:nvPr/>
        </p:nvSpPr>
        <p:spPr>
          <a:xfrm>
            <a:off x="9377020" y="2152650"/>
            <a:ext cx="719252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map-and-detail/drawing/art-detail-a/e5"/>
          <p:cNvSpPr/>
          <p:nvPr/>
        </p:nvSpPr>
        <p:spPr>
          <a:xfrm>
            <a:off x="10115321" y="2152650"/>
            <a:ext cx="719252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map-and-detail/drawing/art-detail-a/e6"/>
          <p:cNvSpPr/>
          <p:nvPr/>
        </p:nvSpPr>
        <p:spPr>
          <a:xfrm>
            <a:off x="10853623" y="2152650"/>
            <a:ext cx="719252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map-and-detail/drawing/art-detail-a/e7"/>
          <p:cNvSpPr/>
          <p:nvPr/>
        </p:nvSpPr>
        <p:spPr>
          <a:xfrm>
            <a:off x="7900416" y="2632710"/>
            <a:ext cx="719252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map-and-detail/drawing/art-detail-a/e8"/>
          <p:cNvSpPr/>
          <p:nvPr/>
        </p:nvSpPr>
        <p:spPr>
          <a:xfrm>
            <a:off x="8638718" y="2632710"/>
            <a:ext cx="719252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map-and-detail/drawing/art-detail-a/e9"/>
          <p:cNvSpPr/>
          <p:nvPr/>
        </p:nvSpPr>
        <p:spPr>
          <a:xfrm>
            <a:off x="9377020" y="2632710"/>
            <a:ext cx="719252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map-and-detail/drawing/art-detail-a/e10"/>
          <p:cNvSpPr/>
          <p:nvPr/>
        </p:nvSpPr>
        <p:spPr>
          <a:xfrm>
            <a:off x="10115321" y="2632710"/>
            <a:ext cx="719252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map-and-detail/drawing/art-detail-a/e11"/>
          <p:cNvSpPr/>
          <p:nvPr/>
        </p:nvSpPr>
        <p:spPr>
          <a:xfrm>
            <a:off x="10853623" y="2632710"/>
            <a:ext cx="719252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map-and-detail/drawing/art-detail-a/e12"/>
          <p:cNvSpPr/>
          <p:nvPr/>
        </p:nvSpPr>
        <p:spPr>
          <a:xfrm>
            <a:off x="7900416" y="3112770"/>
            <a:ext cx="719252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map-and-detail/drawing/art-detail-a/e13"/>
          <p:cNvSpPr/>
          <p:nvPr/>
        </p:nvSpPr>
        <p:spPr>
          <a:xfrm>
            <a:off x="8638718" y="3112770"/>
            <a:ext cx="719252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map-and-detail/drawing/art-detail-a/e14"/>
          <p:cNvSpPr/>
          <p:nvPr/>
        </p:nvSpPr>
        <p:spPr>
          <a:xfrm>
            <a:off x="9377020" y="3112770"/>
            <a:ext cx="719252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map-and-detail/drawing/art-detail-a/e15"/>
          <p:cNvSpPr/>
          <p:nvPr/>
        </p:nvSpPr>
        <p:spPr>
          <a:xfrm>
            <a:off x="10115321" y="3112770"/>
            <a:ext cx="719252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map-and-detail/drawing/art-detail-a/e16"/>
          <p:cNvSpPr/>
          <p:nvPr/>
        </p:nvSpPr>
        <p:spPr>
          <a:xfrm>
            <a:off x="10853623" y="3112770"/>
            <a:ext cx="719252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map-and-detail/drawing/art-detail-b/e1"/>
          <p:cNvSpPr/>
          <p:nvPr/>
        </p:nvSpPr>
        <p:spPr>
          <a:xfrm>
            <a:off x="7900416" y="3998595"/>
            <a:ext cx="38343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 B（结构示意）</a:t>
            </a:r>
            <a:endParaRPr lang="zh-CN" sz="1800" dirty="0"/>
          </a:p>
        </p:txBody>
      </p:sp>
      <p:sp>
        <p:nvSpPr>
          <p:cNvPr id="81" name="map-and-detail/drawing/art-detail-b/e2"/>
          <p:cNvSpPr/>
          <p:nvPr/>
        </p:nvSpPr>
        <p:spPr>
          <a:xfrm>
            <a:off x="7900416" y="4474845"/>
            <a:ext cx="719252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map-and-detail/drawing/art-detail-b/e3"/>
          <p:cNvSpPr/>
          <p:nvPr/>
        </p:nvSpPr>
        <p:spPr>
          <a:xfrm>
            <a:off x="8638718" y="4474845"/>
            <a:ext cx="719252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map-and-detail/drawing/art-detail-b/e4"/>
          <p:cNvSpPr/>
          <p:nvPr/>
        </p:nvSpPr>
        <p:spPr>
          <a:xfrm>
            <a:off x="9377020" y="4474845"/>
            <a:ext cx="719252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map-and-detail/drawing/art-detail-b/e5"/>
          <p:cNvSpPr/>
          <p:nvPr/>
        </p:nvSpPr>
        <p:spPr>
          <a:xfrm>
            <a:off x="10115321" y="4474845"/>
            <a:ext cx="719252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map-and-detail/drawing/art-detail-b/e6"/>
          <p:cNvSpPr/>
          <p:nvPr/>
        </p:nvSpPr>
        <p:spPr>
          <a:xfrm>
            <a:off x="10853623" y="4474845"/>
            <a:ext cx="719252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map-and-detail/drawing/art-detail-b/e7"/>
          <p:cNvSpPr/>
          <p:nvPr/>
        </p:nvSpPr>
        <p:spPr>
          <a:xfrm>
            <a:off x="7900416" y="4954905"/>
            <a:ext cx="719252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map-and-detail/drawing/art-detail-b/e8"/>
          <p:cNvSpPr/>
          <p:nvPr/>
        </p:nvSpPr>
        <p:spPr>
          <a:xfrm>
            <a:off x="8638718" y="4954905"/>
            <a:ext cx="719252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map-and-detail/drawing/art-detail-b/e9"/>
          <p:cNvSpPr/>
          <p:nvPr/>
        </p:nvSpPr>
        <p:spPr>
          <a:xfrm>
            <a:off x="9377020" y="4954905"/>
            <a:ext cx="719252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map-and-detail/drawing/art-detail-b/e10"/>
          <p:cNvSpPr/>
          <p:nvPr/>
        </p:nvSpPr>
        <p:spPr>
          <a:xfrm>
            <a:off x="10115321" y="4954905"/>
            <a:ext cx="719252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map-and-detail/drawing/art-detail-b/e11"/>
          <p:cNvSpPr/>
          <p:nvPr/>
        </p:nvSpPr>
        <p:spPr>
          <a:xfrm>
            <a:off x="10853623" y="4954905"/>
            <a:ext cx="719252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map-and-detail/drawing/art-detail-b/e12"/>
          <p:cNvSpPr/>
          <p:nvPr/>
        </p:nvSpPr>
        <p:spPr>
          <a:xfrm>
            <a:off x="7900416" y="5434965"/>
            <a:ext cx="719252" cy="461010"/>
          </a:xfrm>
          <a:prstGeom prst="rect">
            <a:avLst/>
          </a:prstGeom>
          <a:solidFill>
            <a:srgbClr val="C8DD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map-and-detail/drawing/art-detail-b/e13"/>
          <p:cNvSpPr/>
          <p:nvPr/>
        </p:nvSpPr>
        <p:spPr>
          <a:xfrm>
            <a:off x="8638718" y="5434965"/>
            <a:ext cx="719252" cy="461010"/>
          </a:xfrm>
          <a:prstGeom prst="rect">
            <a:avLst/>
          </a:prstGeom>
          <a:solidFill>
            <a:srgbClr val="8FB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map-and-detail/drawing/art-detail-b/e14"/>
          <p:cNvSpPr/>
          <p:nvPr/>
        </p:nvSpPr>
        <p:spPr>
          <a:xfrm>
            <a:off x="9377020" y="5434965"/>
            <a:ext cx="719252" cy="461010"/>
          </a:xfrm>
          <a:prstGeom prst="rect">
            <a:avLst/>
          </a:prstGeom>
          <a:solidFill>
            <a:srgbClr val="DD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map-and-detail/drawing/art-detail-b/e15"/>
          <p:cNvSpPr/>
          <p:nvPr/>
        </p:nvSpPr>
        <p:spPr>
          <a:xfrm>
            <a:off x="10115321" y="5434965"/>
            <a:ext cx="719252" cy="461010"/>
          </a:xfrm>
          <a:prstGeom prst="rect">
            <a:avLst/>
          </a:prstGeom>
          <a:solidFill>
            <a:srgbClr val="6E9C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map-and-detail/drawing/art-detail-b/e16"/>
          <p:cNvSpPr/>
          <p:nvPr/>
        </p:nvSpPr>
        <p:spPr>
          <a:xfrm>
            <a:off x="10853623" y="5434965"/>
            <a:ext cx="719252" cy="461010"/>
          </a:xfrm>
          <a:prstGeom prst="rect">
            <a:avLst/>
          </a:prstGeom>
          <a:solidFill>
            <a:srgbClr val="BDD3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ale-ladder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32</a:t>
            </a:r>
            <a:endParaRPr lang="zh-CN" sz="1350" dirty="0"/>
          </a:p>
        </p:txBody>
      </p:sp>
      <p:sp>
        <p:nvSpPr>
          <p:cNvPr id="3" name="scale-ladder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 跨尺度关系</a:t>
            </a:r>
            <a:endParaRPr lang="zh-CN" sz="3150" dirty="0"/>
          </a:p>
        </p:txBody>
      </p:sp>
      <p:sp>
        <p:nvSpPr>
          <p:cNvPr id="4" name="scale-ladder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scale-ladder/drawing/art-scales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跨尺度映射保留支持范围</a:t>
            </a:r>
            <a:endParaRPr lang="zh-CN" sz="1800" dirty="0"/>
          </a:p>
        </p:txBody>
      </p:sp>
      <p:sp>
        <p:nvSpPr>
          <p:cNvPr id="6" name="scale-ladder/drawing/art-scales/e2"/>
          <p:cNvSpPr/>
          <p:nvPr/>
        </p:nvSpPr>
        <p:spPr>
          <a:xfrm>
            <a:off x="457200" y="2200275"/>
            <a:ext cx="3044952" cy="7048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scale-ladder/drawing/art-scales/e3"/>
          <p:cNvSpPr/>
          <p:nvPr/>
        </p:nvSpPr>
        <p:spPr>
          <a:xfrm>
            <a:off x="457200" y="2200275"/>
            <a:ext cx="47625" cy="7048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cale-ladder/drawing/art-scales/e4"/>
          <p:cNvSpPr/>
          <p:nvPr/>
        </p:nvSpPr>
        <p:spPr>
          <a:xfrm>
            <a:off x="590550" y="2406015"/>
            <a:ext cx="279730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观测尺度</a:t>
            </a:r>
            <a:endParaRPr lang="zh-CN" sz="1800" dirty="0"/>
          </a:p>
        </p:txBody>
      </p:sp>
      <p:sp>
        <p:nvSpPr>
          <p:cNvPr id="9" name="scale-ladder/drawing/art-scales/e5"/>
          <p:cNvSpPr/>
          <p:nvPr/>
        </p:nvSpPr>
        <p:spPr>
          <a:xfrm>
            <a:off x="4517136" y="2771775"/>
            <a:ext cx="3044952" cy="7048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scale-ladder/drawing/art-scales/e6"/>
          <p:cNvSpPr/>
          <p:nvPr/>
        </p:nvSpPr>
        <p:spPr>
          <a:xfrm>
            <a:off x="4517136" y="2771775"/>
            <a:ext cx="47625" cy="7048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cale-ladder/drawing/art-scales/e7"/>
          <p:cNvSpPr/>
          <p:nvPr/>
        </p:nvSpPr>
        <p:spPr>
          <a:xfrm>
            <a:off x="4650486" y="2977515"/>
            <a:ext cx="279730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过程尺度</a:t>
            </a:r>
            <a:endParaRPr lang="zh-CN" sz="1800" dirty="0"/>
          </a:p>
        </p:txBody>
      </p:sp>
      <p:sp>
        <p:nvSpPr>
          <p:cNvPr id="12" name="scale-ladder/drawing/art-scales/e8"/>
          <p:cNvSpPr/>
          <p:nvPr/>
        </p:nvSpPr>
        <p:spPr>
          <a:xfrm>
            <a:off x="8577072" y="3343275"/>
            <a:ext cx="3044952" cy="7048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scale-ladder/drawing/art-scales/e9"/>
          <p:cNvSpPr/>
          <p:nvPr/>
        </p:nvSpPr>
        <p:spPr>
          <a:xfrm>
            <a:off x="8577072" y="3343275"/>
            <a:ext cx="47625" cy="7048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cale-ladder/drawing/art-scales/e10"/>
          <p:cNvSpPr/>
          <p:nvPr/>
        </p:nvSpPr>
        <p:spPr>
          <a:xfrm>
            <a:off x="8710422" y="3549015"/>
            <a:ext cx="279730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决策尺度</a:t>
            </a:r>
            <a:endParaRPr lang="zh-CN" sz="1800" dirty="0"/>
          </a:p>
        </p:txBody>
      </p:sp>
      <p:sp>
        <p:nvSpPr>
          <p:cNvPr id="15" name="scale-ladder/drawing/art-scales/e11/segment-1"/>
          <p:cNvSpPr/>
          <p:nvPr/>
        </p:nvSpPr>
        <p:spPr>
          <a:xfrm>
            <a:off x="3549777" y="2552700"/>
            <a:ext cx="459867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16" name="scale-ladder/drawing/art-scales/e11/segment-2"/>
          <p:cNvSpPr/>
          <p:nvPr/>
        </p:nvSpPr>
        <p:spPr>
          <a:xfrm>
            <a:off x="4009644" y="2552700"/>
            <a:ext cx="0" cy="571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17" name="scale-ladder/drawing/art-scales/e11/segment-3"/>
          <p:cNvSpPr/>
          <p:nvPr/>
        </p:nvSpPr>
        <p:spPr>
          <a:xfrm>
            <a:off x="4009644" y="3124200"/>
            <a:ext cx="450342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18" name="scale-ladder/drawing/art-scales/e12/segment-1"/>
          <p:cNvSpPr/>
          <p:nvPr/>
        </p:nvSpPr>
        <p:spPr>
          <a:xfrm>
            <a:off x="7609713" y="3124200"/>
            <a:ext cx="459867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19" name="scale-ladder/drawing/art-scales/e12/segment-2"/>
          <p:cNvSpPr/>
          <p:nvPr/>
        </p:nvSpPr>
        <p:spPr>
          <a:xfrm>
            <a:off x="8069580" y="3124200"/>
            <a:ext cx="0" cy="571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0" name="scale-ladder/drawing/art-scales/e12/segment-3"/>
          <p:cNvSpPr/>
          <p:nvPr/>
        </p:nvSpPr>
        <p:spPr>
          <a:xfrm>
            <a:off x="8069580" y="3695700"/>
            <a:ext cx="450342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1" name="scale-ladder/drawing/art-assumptions/e1/segment-1"/>
          <p:cNvSpPr/>
          <p:nvPr/>
        </p:nvSpPr>
        <p:spPr>
          <a:xfrm>
            <a:off x="457200" y="510349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2" name="scale-ladder/drawing/art-assumptions/e2"/>
          <p:cNvSpPr/>
          <p:nvPr/>
        </p:nvSpPr>
        <p:spPr>
          <a:xfrm>
            <a:off x="457200" y="522732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跨尺度映射条件</a:t>
            </a:r>
            <a:endParaRPr lang="zh-CN" sz="1800" dirty="0"/>
          </a:p>
        </p:txBody>
      </p:sp>
      <p:sp>
        <p:nvSpPr>
          <p:cNvPr id="23" name="scale-ladder/drawing/art-assumptions/e3"/>
          <p:cNvSpPr/>
          <p:nvPr/>
        </p:nvSpPr>
        <p:spPr>
          <a:xfrm>
            <a:off x="457200" y="5558790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保留假设、单位和适用范围。</a:t>
            </a:r>
            <a:endParaRPr lang="zh-CN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evidence-map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32</a:t>
            </a:r>
            <a:endParaRPr lang="zh-CN" sz="1350" dirty="0"/>
          </a:p>
        </p:txBody>
      </p:sp>
      <p:sp>
        <p:nvSpPr>
          <p:cNvPr id="3" name="source-evidence-map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 来源到论证的映射</a:t>
            </a:r>
            <a:endParaRPr lang="zh-CN" sz="3150" dirty="0"/>
          </a:p>
        </p:txBody>
      </p:sp>
      <p:sp>
        <p:nvSpPr>
          <p:cNvPr id="4" name="source-evidence-map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source-evidence-map/drawing/art-sources/e1"/>
          <p:cNvSpPr/>
          <p:nvPr/>
        </p:nvSpPr>
        <p:spPr>
          <a:xfrm>
            <a:off x="457200" y="1676400"/>
            <a:ext cx="33832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真实来源与定位</a:t>
            </a:r>
            <a:endParaRPr lang="zh-CN" sz="1800" dirty="0"/>
          </a:p>
        </p:txBody>
      </p:sp>
      <p:sp>
        <p:nvSpPr>
          <p:cNvPr id="6" name="source-evidence-map/drawing/art-sources/e2"/>
          <p:cNvSpPr/>
          <p:nvPr/>
        </p:nvSpPr>
        <p:spPr>
          <a:xfrm>
            <a:off x="457200" y="2105025"/>
            <a:ext cx="3383280" cy="969169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ource-evidence-map/drawing/art-sources/e3"/>
          <p:cNvSpPr/>
          <p:nvPr/>
        </p:nvSpPr>
        <p:spPr>
          <a:xfrm>
            <a:off x="552450" y="2442924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</a:t>
            </a:r>
            <a:endParaRPr lang="zh-CN" sz="1800" dirty="0"/>
          </a:p>
        </p:txBody>
      </p:sp>
      <p:sp>
        <p:nvSpPr>
          <p:cNvPr id="8" name="source-evidence-map/drawing/art-sources/e4"/>
          <p:cNvSpPr/>
          <p:nvPr/>
        </p:nvSpPr>
        <p:spPr>
          <a:xfrm>
            <a:off x="2244090" y="2442924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</a:t>
            </a:r>
            <a:endParaRPr lang="zh-CN" sz="1800" dirty="0"/>
          </a:p>
        </p:txBody>
      </p:sp>
      <p:sp>
        <p:nvSpPr>
          <p:cNvPr id="9" name="source-evidence-map/drawing/art-sources/e5/segment-1"/>
          <p:cNvSpPr/>
          <p:nvPr/>
        </p:nvSpPr>
        <p:spPr>
          <a:xfrm>
            <a:off x="457200" y="3074194"/>
            <a:ext cx="338328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source-evidence-map/drawing/art-sources/e6"/>
          <p:cNvSpPr/>
          <p:nvPr/>
        </p:nvSpPr>
        <p:spPr>
          <a:xfrm>
            <a:off x="457200" y="3074194"/>
            <a:ext cx="3383280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ource-evidence-map/drawing/art-sources/e7"/>
          <p:cNvSpPr/>
          <p:nvPr/>
        </p:nvSpPr>
        <p:spPr>
          <a:xfrm>
            <a:off x="552450" y="3412093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A</a:t>
            </a:r>
            <a:endParaRPr lang="zh-CN" sz="1800" dirty="0"/>
          </a:p>
        </p:txBody>
      </p:sp>
      <p:sp>
        <p:nvSpPr>
          <p:cNvPr id="12" name="source-evidence-map/drawing/art-sources/e8"/>
          <p:cNvSpPr/>
          <p:nvPr/>
        </p:nvSpPr>
        <p:spPr>
          <a:xfrm>
            <a:off x="2244090" y="3412093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</a:t>
            </a:r>
            <a:endParaRPr lang="zh-CN" sz="1800" dirty="0"/>
          </a:p>
        </p:txBody>
      </p:sp>
      <p:sp>
        <p:nvSpPr>
          <p:cNvPr id="13" name="source-evidence-map/drawing/art-sources/e9/segment-1"/>
          <p:cNvSpPr/>
          <p:nvPr/>
        </p:nvSpPr>
        <p:spPr>
          <a:xfrm>
            <a:off x="457200" y="4043363"/>
            <a:ext cx="338328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4" name="source-evidence-map/drawing/art-sources/e10"/>
          <p:cNvSpPr/>
          <p:nvPr/>
        </p:nvSpPr>
        <p:spPr>
          <a:xfrm>
            <a:off x="457200" y="4043363"/>
            <a:ext cx="3383280" cy="9691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ource-evidence-map/drawing/art-sources/e11"/>
          <p:cNvSpPr/>
          <p:nvPr/>
        </p:nvSpPr>
        <p:spPr>
          <a:xfrm>
            <a:off x="552450" y="4381262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B</a:t>
            </a:r>
            <a:endParaRPr lang="zh-CN" sz="1800" dirty="0"/>
          </a:p>
        </p:txBody>
      </p:sp>
      <p:sp>
        <p:nvSpPr>
          <p:cNvPr id="16" name="source-evidence-map/drawing/art-sources/e12"/>
          <p:cNvSpPr/>
          <p:nvPr/>
        </p:nvSpPr>
        <p:spPr>
          <a:xfrm>
            <a:off x="2244090" y="4381262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补充</a:t>
            </a:r>
            <a:endParaRPr lang="zh-CN" sz="1800" dirty="0"/>
          </a:p>
        </p:txBody>
      </p:sp>
      <p:sp>
        <p:nvSpPr>
          <p:cNvPr id="17" name="source-evidence-map/drawing/art-sources/e13/segment-1"/>
          <p:cNvSpPr/>
          <p:nvPr/>
        </p:nvSpPr>
        <p:spPr>
          <a:xfrm>
            <a:off x="457200" y="5012531"/>
            <a:ext cx="338328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8" name="source-evidence-map/drawing/art-sources/e14"/>
          <p:cNvSpPr/>
          <p:nvPr/>
        </p:nvSpPr>
        <p:spPr>
          <a:xfrm>
            <a:off x="457200" y="5012531"/>
            <a:ext cx="3383280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ource-evidence-map/drawing/art-sources/e15"/>
          <p:cNvSpPr/>
          <p:nvPr/>
        </p:nvSpPr>
        <p:spPr>
          <a:xfrm>
            <a:off x="552450" y="5350431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C</a:t>
            </a:r>
            <a:endParaRPr lang="zh-CN" sz="1800" dirty="0"/>
          </a:p>
        </p:txBody>
      </p:sp>
      <p:sp>
        <p:nvSpPr>
          <p:cNvPr id="20" name="source-evidence-map/drawing/art-sources/e16"/>
          <p:cNvSpPr/>
          <p:nvPr/>
        </p:nvSpPr>
        <p:spPr>
          <a:xfrm>
            <a:off x="2244090" y="5350431"/>
            <a:ext cx="15011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冲突</a:t>
            </a:r>
            <a:endParaRPr lang="zh-CN" sz="1800" dirty="0"/>
          </a:p>
        </p:txBody>
      </p:sp>
      <p:sp>
        <p:nvSpPr>
          <p:cNvPr id="21" name="source-evidence-map/drawing/art-sources/e17/segment-1"/>
          <p:cNvSpPr/>
          <p:nvPr/>
        </p:nvSpPr>
        <p:spPr>
          <a:xfrm>
            <a:off x="457200" y="5981700"/>
            <a:ext cx="338328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2" name="source-evidence-map/drawing/art-argument-map/e1"/>
          <p:cNvSpPr/>
          <p:nvPr/>
        </p:nvSpPr>
        <p:spPr>
          <a:xfrm>
            <a:off x="4291584" y="1676400"/>
            <a:ext cx="74432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来源与综合判断逐一对应</a:t>
            </a:r>
            <a:endParaRPr lang="zh-CN" sz="1800" dirty="0"/>
          </a:p>
        </p:txBody>
      </p:sp>
      <p:sp>
        <p:nvSpPr>
          <p:cNvPr id="23" name="source-evidence-map/drawing/art-argument-map/e2"/>
          <p:cNvSpPr/>
          <p:nvPr/>
        </p:nvSpPr>
        <p:spPr>
          <a:xfrm>
            <a:off x="4291584" y="2438400"/>
            <a:ext cx="2322322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4" name="source-evidence-map/drawing/art-argument-map/e3"/>
          <p:cNvSpPr/>
          <p:nvPr/>
        </p:nvSpPr>
        <p:spPr>
          <a:xfrm>
            <a:off x="4291584" y="2438400"/>
            <a:ext cx="47625" cy="8763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ource-evidence-map/drawing/art-argument-map/e4"/>
          <p:cNvSpPr/>
          <p:nvPr/>
        </p:nvSpPr>
        <p:spPr>
          <a:xfrm>
            <a:off x="4424934" y="2592705"/>
            <a:ext cx="2074672" cy="56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A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观察支持</a:t>
            </a:r>
            <a:endParaRPr lang="zh-CN" sz="1800" dirty="0"/>
          </a:p>
        </p:txBody>
      </p:sp>
      <p:sp>
        <p:nvSpPr>
          <p:cNvPr id="26" name="source-evidence-map/drawing/art-argument-map/e5"/>
          <p:cNvSpPr/>
          <p:nvPr/>
        </p:nvSpPr>
        <p:spPr>
          <a:xfrm>
            <a:off x="6852031" y="2438400"/>
            <a:ext cx="2322322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7" name="source-evidence-map/drawing/art-argument-map/e6"/>
          <p:cNvSpPr/>
          <p:nvPr/>
        </p:nvSpPr>
        <p:spPr>
          <a:xfrm>
            <a:off x="6852031" y="2438400"/>
            <a:ext cx="47625" cy="8763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ource-evidence-map/drawing/art-argument-map/e7"/>
          <p:cNvSpPr/>
          <p:nvPr/>
        </p:nvSpPr>
        <p:spPr>
          <a:xfrm>
            <a:off x="6985381" y="2592705"/>
            <a:ext cx="2074672" cy="56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B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机制补充</a:t>
            </a:r>
            <a:endParaRPr lang="zh-CN" sz="1800" dirty="0"/>
          </a:p>
        </p:txBody>
      </p:sp>
      <p:sp>
        <p:nvSpPr>
          <p:cNvPr id="29" name="source-evidence-map/drawing/art-argument-map/e8"/>
          <p:cNvSpPr/>
          <p:nvPr/>
        </p:nvSpPr>
        <p:spPr>
          <a:xfrm>
            <a:off x="9412478" y="2438400"/>
            <a:ext cx="2322322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0" name="source-evidence-map/drawing/art-argument-map/e9"/>
          <p:cNvSpPr/>
          <p:nvPr/>
        </p:nvSpPr>
        <p:spPr>
          <a:xfrm>
            <a:off x="9412478" y="2438400"/>
            <a:ext cx="47625" cy="876300"/>
          </a:xfrm>
          <a:prstGeom prst="rect">
            <a:avLst/>
          </a:prstGeom>
          <a:solidFill>
            <a:srgbClr val="B66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ource-evidence-map/drawing/art-argument-map/e10"/>
          <p:cNvSpPr/>
          <p:nvPr/>
        </p:nvSpPr>
        <p:spPr>
          <a:xfrm>
            <a:off x="9545828" y="2592705"/>
            <a:ext cx="2074672" cy="56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C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边界约束</a:t>
            </a:r>
            <a:endParaRPr lang="zh-CN" sz="1800" dirty="0"/>
          </a:p>
        </p:txBody>
      </p:sp>
      <p:sp>
        <p:nvSpPr>
          <p:cNvPr id="32" name="source-evidence-map/drawing/art-argument-map/e11"/>
          <p:cNvSpPr/>
          <p:nvPr/>
        </p:nvSpPr>
        <p:spPr>
          <a:xfrm>
            <a:off x="6003524" y="4962525"/>
            <a:ext cx="4019337" cy="7620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3" name="source-evidence-map/drawing/art-argument-map/e12"/>
          <p:cNvSpPr/>
          <p:nvPr/>
        </p:nvSpPr>
        <p:spPr>
          <a:xfrm>
            <a:off x="6003524" y="4962525"/>
            <a:ext cx="47625" cy="7620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ource-evidence-map/drawing/art-argument-map/e13"/>
          <p:cNvSpPr/>
          <p:nvPr/>
        </p:nvSpPr>
        <p:spPr>
          <a:xfrm>
            <a:off x="6136874" y="5196840"/>
            <a:ext cx="3771687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有条件的综合判断</a:t>
            </a:r>
            <a:endParaRPr lang="zh-CN" sz="1800" dirty="0"/>
          </a:p>
        </p:txBody>
      </p:sp>
      <p:sp>
        <p:nvSpPr>
          <p:cNvPr id="35" name="source-evidence-map/drawing/art-argument-map/e14/segment-1"/>
          <p:cNvSpPr/>
          <p:nvPr/>
        </p:nvSpPr>
        <p:spPr>
          <a:xfrm>
            <a:off x="5452745" y="3362325"/>
            <a:ext cx="0" cy="131445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6" name="source-evidence-map/drawing/art-argument-map/e14/segment-2"/>
          <p:cNvSpPr/>
          <p:nvPr/>
        </p:nvSpPr>
        <p:spPr>
          <a:xfrm>
            <a:off x="5452745" y="4676775"/>
            <a:ext cx="2560447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7" name="source-evidence-map/drawing/art-argument-map/e14/segment-3"/>
          <p:cNvSpPr/>
          <p:nvPr/>
        </p:nvSpPr>
        <p:spPr>
          <a:xfrm>
            <a:off x="8013192" y="4676775"/>
            <a:ext cx="0" cy="2286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8" name="source-evidence-map/drawing/art-argument-map/e15/segment-1"/>
          <p:cNvSpPr/>
          <p:nvPr/>
        </p:nvSpPr>
        <p:spPr>
          <a:xfrm>
            <a:off x="8013192" y="3362325"/>
            <a:ext cx="0" cy="131445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9" name="source-evidence-map/drawing/art-argument-map/e15/segment-2"/>
          <p:cNvSpPr/>
          <p:nvPr/>
        </p:nvSpPr>
        <p:spPr>
          <a:xfrm flipH="1">
            <a:off x="8013192" y="4676775"/>
            <a:ext cx="0" cy="2286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40" name="source-evidence-map/drawing/art-argument-map/e16/segment-1"/>
          <p:cNvSpPr/>
          <p:nvPr/>
        </p:nvSpPr>
        <p:spPr>
          <a:xfrm>
            <a:off x="10573639" y="3362325"/>
            <a:ext cx="0" cy="131445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41" name="source-evidence-map/drawing/art-argument-map/e16/segment-2"/>
          <p:cNvSpPr/>
          <p:nvPr/>
        </p:nvSpPr>
        <p:spPr>
          <a:xfrm flipH="1">
            <a:off x="8013192" y="4676775"/>
            <a:ext cx="2560447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42" name="source-evidence-map/drawing/art-argument-map/e16/segment-3"/>
          <p:cNvSpPr/>
          <p:nvPr/>
        </p:nvSpPr>
        <p:spPr>
          <a:xfrm>
            <a:off x="8013192" y="4676775"/>
            <a:ext cx="0" cy="2286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terature-matrix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32</a:t>
            </a:r>
            <a:endParaRPr lang="zh-CN" sz="1350" dirty="0"/>
          </a:p>
        </p:txBody>
      </p:sp>
      <p:sp>
        <p:nvSpPr>
          <p:cNvPr id="3" name="literature-matrix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 文献证据矩阵</a:t>
            </a:r>
            <a:endParaRPr lang="zh-CN" sz="3150" dirty="0"/>
          </a:p>
        </p:txBody>
      </p:sp>
      <p:sp>
        <p:nvSpPr>
          <p:cNvPr id="4" name="literature-matrix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literature-matrix/drawing/art-matrix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可审查的研究比较</a:t>
            </a:r>
            <a:endParaRPr lang="zh-CN" sz="1800" dirty="0"/>
          </a:p>
        </p:txBody>
      </p:sp>
      <p:sp>
        <p:nvSpPr>
          <p:cNvPr id="6" name="literature-matrix/drawing/art-matrix/e2"/>
          <p:cNvSpPr/>
          <p:nvPr/>
        </p:nvSpPr>
        <p:spPr>
          <a:xfrm>
            <a:off x="457200" y="2105025"/>
            <a:ext cx="11277600" cy="772001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literature-matrix/drawing/art-matrix/e3"/>
          <p:cNvSpPr/>
          <p:nvPr/>
        </p:nvSpPr>
        <p:spPr>
          <a:xfrm>
            <a:off x="552450" y="234434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</a:t>
            </a:r>
            <a:endParaRPr lang="zh-CN" sz="1800" dirty="0"/>
          </a:p>
        </p:txBody>
      </p:sp>
      <p:sp>
        <p:nvSpPr>
          <p:cNvPr id="8" name="literature-matrix/drawing/art-matrix/e4"/>
          <p:cNvSpPr/>
          <p:nvPr/>
        </p:nvSpPr>
        <p:spPr>
          <a:xfrm>
            <a:off x="3371850" y="234434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</a:t>
            </a:r>
            <a:endParaRPr lang="zh-CN" sz="1800" dirty="0"/>
          </a:p>
        </p:txBody>
      </p:sp>
      <p:sp>
        <p:nvSpPr>
          <p:cNvPr id="9" name="literature-matrix/drawing/art-matrix/e5"/>
          <p:cNvSpPr/>
          <p:nvPr/>
        </p:nvSpPr>
        <p:spPr>
          <a:xfrm>
            <a:off x="6191250" y="234434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</a:t>
            </a:r>
            <a:endParaRPr lang="zh-CN" sz="1800" dirty="0"/>
          </a:p>
        </p:txBody>
      </p:sp>
      <p:sp>
        <p:nvSpPr>
          <p:cNvPr id="10" name="literature-matrix/drawing/art-matrix/e6"/>
          <p:cNvSpPr/>
          <p:nvPr/>
        </p:nvSpPr>
        <p:spPr>
          <a:xfrm>
            <a:off x="9010650" y="2344341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</a:t>
            </a:r>
            <a:endParaRPr lang="zh-CN" sz="1800" dirty="0"/>
          </a:p>
        </p:txBody>
      </p:sp>
      <p:sp>
        <p:nvSpPr>
          <p:cNvPr id="11" name="literature-matrix/drawing/art-matrix/e7/segment-1"/>
          <p:cNvSpPr/>
          <p:nvPr/>
        </p:nvSpPr>
        <p:spPr>
          <a:xfrm>
            <a:off x="457200" y="2877026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2" name="literature-matrix/drawing/art-matrix/e8"/>
          <p:cNvSpPr/>
          <p:nvPr/>
        </p:nvSpPr>
        <p:spPr>
          <a:xfrm>
            <a:off x="457200" y="2877026"/>
            <a:ext cx="11277600" cy="772001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literature-matrix/drawing/art-matrix/e9"/>
          <p:cNvSpPr/>
          <p:nvPr/>
        </p:nvSpPr>
        <p:spPr>
          <a:xfrm>
            <a:off x="552450" y="3116342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A</a:t>
            </a:r>
            <a:endParaRPr lang="zh-CN" sz="1800" dirty="0"/>
          </a:p>
        </p:txBody>
      </p:sp>
      <p:sp>
        <p:nvSpPr>
          <p:cNvPr id="14" name="literature-matrix/drawing/art-matrix/e10"/>
          <p:cNvSpPr/>
          <p:nvPr/>
        </p:nvSpPr>
        <p:spPr>
          <a:xfrm>
            <a:off x="3371850" y="3116342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A</a:t>
            </a:r>
            <a:endParaRPr lang="zh-CN" sz="1800" dirty="0"/>
          </a:p>
        </p:txBody>
      </p:sp>
      <p:sp>
        <p:nvSpPr>
          <p:cNvPr id="15" name="literature-matrix/drawing/art-matrix/e11"/>
          <p:cNvSpPr/>
          <p:nvPr/>
        </p:nvSpPr>
        <p:spPr>
          <a:xfrm>
            <a:off x="6191250" y="3116342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 A</a:t>
            </a:r>
            <a:endParaRPr lang="zh-CN" sz="1800" dirty="0"/>
          </a:p>
        </p:txBody>
      </p:sp>
      <p:sp>
        <p:nvSpPr>
          <p:cNvPr id="16" name="literature-matrix/drawing/art-matrix/e12"/>
          <p:cNvSpPr/>
          <p:nvPr/>
        </p:nvSpPr>
        <p:spPr>
          <a:xfrm>
            <a:off x="9010650" y="3116342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</a:t>
            </a:r>
            <a:endParaRPr lang="zh-CN" sz="1800" dirty="0"/>
          </a:p>
        </p:txBody>
      </p:sp>
      <p:sp>
        <p:nvSpPr>
          <p:cNvPr id="17" name="literature-matrix/drawing/art-matrix/e13/segment-1"/>
          <p:cNvSpPr/>
          <p:nvPr/>
        </p:nvSpPr>
        <p:spPr>
          <a:xfrm>
            <a:off x="457200" y="3649028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8" name="literature-matrix/drawing/art-matrix/e14"/>
          <p:cNvSpPr/>
          <p:nvPr/>
        </p:nvSpPr>
        <p:spPr>
          <a:xfrm>
            <a:off x="457200" y="3649028"/>
            <a:ext cx="11277600" cy="7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literature-matrix/drawing/art-matrix/e15"/>
          <p:cNvSpPr/>
          <p:nvPr/>
        </p:nvSpPr>
        <p:spPr>
          <a:xfrm>
            <a:off x="552450" y="3888343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B</a:t>
            </a:r>
            <a:endParaRPr lang="zh-CN" sz="1800" dirty="0"/>
          </a:p>
        </p:txBody>
      </p:sp>
      <p:sp>
        <p:nvSpPr>
          <p:cNvPr id="20" name="literature-matrix/drawing/art-matrix/e16"/>
          <p:cNvSpPr/>
          <p:nvPr/>
        </p:nvSpPr>
        <p:spPr>
          <a:xfrm>
            <a:off x="3371850" y="3888343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B</a:t>
            </a:r>
            <a:endParaRPr lang="zh-CN" sz="1800" dirty="0"/>
          </a:p>
        </p:txBody>
      </p:sp>
      <p:sp>
        <p:nvSpPr>
          <p:cNvPr id="21" name="literature-matrix/drawing/art-matrix/e17"/>
          <p:cNvSpPr/>
          <p:nvPr/>
        </p:nvSpPr>
        <p:spPr>
          <a:xfrm>
            <a:off x="6191250" y="3888343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 B</a:t>
            </a:r>
            <a:endParaRPr lang="zh-CN" sz="1800" dirty="0"/>
          </a:p>
        </p:txBody>
      </p:sp>
      <p:sp>
        <p:nvSpPr>
          <p:cNvPr id="22" name="literature-matrix/drawing/art-matrix/e18"/>
          <p:cNvSpPr/>
          <p:nvPr/>
        </p:nvSpPr>
        <p:spPr>
          <a:xfrm>
            <a:off x="9010650" y="3888343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补充</a:t>
            </a:r>
            <a:endParaRPr lang="zh-CN" sz="1800" dirty="0"/>
          </a:p>
        </p:txBody>
      </p:sp>
      <p:sp>
        <p:nvSpPr>
          <p:cNvPr id="23" name="literature-matrix/drawing/art-matrix/e19/segment-1"/>
          <p:cNvSpPr/>
          <p:nvPr/>
        </p:nvSpPr>
        <p:spPr>
          <a:xfrm>
            <a:off x="457200" y="4421029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4" name="literature-matrix/drawing/art-matrix/e20"/>
          <p:cNvSpPr/>
          <p:nvPr/>
        </p:nvSpPr>
        <p:spPr>
          <a:xfrm>
            <a:off x="457200" y="4421029"/>
            <a:ext cx="11277600" cy="772001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literature-matrix/drawing/art-matrix/e21"/>
          <p:cNvSpPr/>
          <p:nvPr/>
        </p:nvSpPr>
        <p:spPr>
          <a:xfrm>
            <a:off x="552450" y="466034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C</a:t>
            </a:r>
            <a:endParaRPr lang="zh-CN" sz="1800" dirty="0"/>
          </a:p>
        </p:txBody>
      </p:sp>
      <p:sp>
        <p:nvSpPr>
          <p:cNvPr id="26" name="literature-matrix/drawing/art-matrix/e22"/>
          <p:cNvSpPr/>
          <p:nvPr/>
        </p:nvSpPr>
        <p:spPr>
          <a:xfrm>
            <a:off x="3371850" y="466034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A</a:t>
            </a:r>
            <a:endParaRPr lang="zh-CN" sz="1800" dirty="0"/>
          </a:p>
        </p:txBody>
      </p:sp>
      <p:sp>
        <p:nvSpPr>
          <p:cNvPr id="27" name="literature-matrix/drawing/art-matrix/e23"/>
          <p:cNvSpPr/>
          <p:nvPr/>
        </p:nvSpPr>
        <p:spPr>
          <a:xfrm>
            <a:off x="6191250" y="466034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 C</a:t>
            </a:r>
            <a:endParaRPr lang="zh-CN" sz="1800" dirty="0"/>
          </a:p>
        </p:txBody>
      </p:sp>
      <p:sp>
        <p:nvSpPr>
          <p:cNvPr id="28" name="literature-matrix/drawing/art-matrix/e24"/>
          <p:cNvSpPr/>
          <p:nvPr/>
        </p:nvSpPr>
        <p:spPr>
          <a:xfrm>
            <a:off x="9010650" y="4660344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有差异</a:t>
            </a:r>
            <a:endParaRPr lang="zh-CN" sz="1800" dirty="0"/>
          </a:p>
        </p:txBody>
      </p:sp>
      <p:sp>
        <p:nvSpPr>
          <p:cNvPr id="29" name="literature-matrix/drawing/art-matrix/e25/segment-1"/>
          <p:cNvSpPr/>
          <p:nvPr/>
        </p:nvSpPr>
        <p:spPr>
          <a:xfrm>
            <a:off x="457200" y="5193030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0" name="literature-matrix/drawing/art-scope/e1"/>
          <p:cNvSpPr/>
          <p:nvPr/>
        </p:nvSpPr>
        <p:spPr>
          <a:xfrm>
            <a:off x="457200" y="5488305"/>
            <a:ext cx="47625" cy="569595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literature-matrix/drawing/art-scope/e2"/>
          <p:cNvSpPr/>
          <p:nvPr/>
        </p:nvSpPr>
        <p:spPr>
          <a:xfrm>
            <a:off x="628650" y="5601653"/>
            <a:ext cx="110109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可比性与缺测说明：不同研究的缺测与不可比项需保留。</a:t>
            </a:r>
            <a:endParaRPr lang="zh-CN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earch-gap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32</a:t>
            </a:r>
            <a:endParaRPr lang="zh-CN" sz="1350" dirty="0"/>
          </a:p>
        </p:txBody>
      </p:sp>
      <p:sp>
        <p:nvSpPr>
          <p:cNvPr id="3" name="research-gap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 已有能力、失效条件与缺口</a:t>
            </a:r>
            <a:endParaRPr lang="zh-CN" sz="3150" dirty="0"/>
          </a:p>
        </p:txBody>
      </p:sp>
      <p:sp>
        <p:nvSpPr>
          <p:cNvPr id="4" name="research-gap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research-gap/drawing/art-known/e1"/>
          <p:cNvSpPr/>
          <p:nvPr/>
        </p:nvSpPr>
        <p:spPr>
          <a:xfrm>
            <a:off x="457200" y="1676400"/>
            <a:ext cx="608990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已检验条件下的证据</a:t>
            </a:r>
            <a:endParaRPr lang="zh-CN" sz="1800" dirty="0"/>
          </a:p>
        </p:txBody>
      </p:sp>
      <p:sp>
        <p:nvSpPr>
          <p:cNvPr id="6" name="research-gap/drawing/art-known/e2/segment-1"/>
          <p:cNvSpPr/>
          <p:nvPr/>
        </p:nvSpPr>
        <p:spPr>
          <a:xfrm>
            <a:off x="990600" y="2266950"/>
            <a:ext cx="530885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7" name="research-gap/drawing/art-known/e3/segment-1"/>
          <p:cNvSpPr/>
          <p:nvPr/>
        </p:nvSpPr>
        <p:spPr>
          <a:xfrm>
            <a:off x="990600" y="2857500"/>
            <a:ext cx="530885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" name="research-gap/drawing/art-known/e4/segment-1"/>
          <p:cNvSpPr/>
          <p:nvPr/>
        </p:nvSpPr>
        <p:spPr>
          <a:xfrm>
            <a:off x="990600" y="3448050"/>
            <a:ext cx="530885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9" name="research-gap/drawing/art-known/e5/segment-1"/>
          <p:cNvSpPr/>
          <p:nvPr/>
        </p:nvSpPr>
        <p:spPr>
          <a:xfrm>
            <a:off x="990600" y="4038600"/>
            <a:ext cx="530885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research-gap/drawing/art-known/e6/segment-1"/>
          <p:cNvSpPr/>
          <p:nvPr/>
        </p:nvSpPr>
        <p:spPr>
          <a:xfrm>
            <a:off x="990600" y="2266950"/>
            <a:ext cx="0" cy="177165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1" name="research-gap/drawing/art-known/e6/segment-2"/>
          <p:cNvSpPr/>
          <p:nvPr/>
        </p:nvSpPr>
        <p:spPr>
          <a:xfrm>
            <a:off x="990600" y="4038600"/>
            <a:ext cx="5308854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2" name="research-gap/drawing/art-known/e7/segment-1"/>
          <p:cNvSpPr/>
          <p:nvPr/>
        </p:nvSpPr>
        <p:spPr>
          <a:xfrm flipV="1">
            <a:off x="990600" y="3507105"/>
            <a:ext cx="1327214" cy="21259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3" name="research-gap/drawing/art-known/e7/segment-2"/>
          <p:cNvSpPr/>
          <p:nvPr/>
        </p:nvSpPr>
        <p:spPr>
          <a:xfrm flipV="1">
            <a:off x="2317814" y="3205925"/>
            <a:ext cx="1327214" cy="301181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4" name="research-gap/drawing/art-known/e7/segment-3"/>
          <p:cNvSpPr/>
          <p:nvPr/>
        </p:nvSpPr>
        <p:spPr>
          <a:xfrm flipV="1">
            <a:off x="3645027" y="3046476"/>
            <a:ext cx="1327213" cy="159449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5" name="research-gap/drawing/art-known/e7/segment-4"/>
          <p:cNvSpPr/>
          <p:nvPr/>
        </p:nvSpPr>
        <p:spPr>
          <a:xfrm flipV="1">
            <a:off x="4972241" y="2692146"/>
            <a:ext cx="1327214" cy="354330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6" name="research-gap/drawing/art-known/e8"/>
          <p:cNvSpPr/>
          <p:nvPr/>
        </p:nvSpPr>
        <p:spPr>
          <a:xfrm>
            <a:off x="952500" y="368160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research-gap/drawing/art-known/e9"/>
          <p:cNvSpPr/>
          <p:nvPr/>
        </p:nvSpPr>
        <p:spPr>
          <a:xfrm>
            <a:off x="2279714" y="346900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research-gap/drawing/art-known/e10"/>
          <p:cNvSpPr/>
          <p:nvPr/>
        </p:nvSpPr>
        <p:spPr>
          <a:xfrm>
            <a:off x="3606927" y="316782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research-gap/drawing/art-known/e11"/>
          <p:cNvSpPr/>
          <p:nvPr/>
        </p:nvSpPr>
        <p:spPr>
          <a:xfrm>
            <a:off x="4934141" y="300837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research-gap/drawing/art-known/e12"/>
          <p:cNvSpPr/>
          <p:nvPr/>
        </p:nvSpPr>
        <p:spPr>
          <a:xfrm>
            <a:off x="6261354" y="265404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research-gap/drawing/art-known/e13/segment-1"/>
          <p:cNvSpPr/>
          <p:nvPr/>
        </p:nvSpPr>
        <p:spPr>
          <a:xfrm flipV="1">
            <a:off x="990600" y="3329940"/>
            <a:ext cx="1327214" cy="21259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2" name="research-gap/drawing/art-known/e13/segment-2"/>
          <p:cNvSpPr/>
          <p:nvPr/>
        </p:nvSpPr>
        <p:spPr>
          <a:xfrm>
            <a:off x="2317814" y="3329940"/>
            <a:ext cx="1327214" cy="17716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3" name="research-gap/drawing/art-known/e13/segment-3"/>
          <p:cNvSpPr/>
          <p:nvPr/>
        </p:nvSpPr>
        <p:spPr>
          <a:xfrm flipV="1">
            <a:off x="3645027" y="2975610"/>
            <a:ext cx="1327213" cy="372047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4" name="research-gap/drawing/art-known/e13/segment-4"/>
          <p:cNvSpPr/>
          <p:nvPr/>
        </p:nvSpPr>
        <p:spPr>
          <a:xfrm flipV="1">
            <a:off x="4972241" y="2833878"/>
            <a:ext cx="1327214" cy="141732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5" name="research-gap/drawing/art-known/e14"/>
          <p:cNvSpPr/>
          <p:nvPr/>
        </p:nvSpPr>
        <p:spPr>
          <a:xfrm>
            <a:off x="952500" y="350443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research-gap/drawing/art-known/e15"/>
          <p:cNvSpPr/>
          <p:nvPr/>
        </p:nvSpPr>
        <p:spPr>
          <a:xfrm>
            <a:off x="2279714" y="329184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research-gap/drawing/art-known/e16"/>
          <p:cNvSpPr/>
          <p:nvPr/>
        </p:nvSpPr>
        <p:spPr>
          <a:xfrm>
            <a:off x="3606927" y="3309557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research-gap/drawing/art-known/e17"/>
          <p:cNvSpPr/>
          <p:nvPr/>
        </p:nvSpPr>
        <p:spPr>
          <a:xfrm>
            <a:off x="4934141" y="2937510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research-gap/drawing/art-known/e18"/>
          <p:cNvSpPr/>
          <p:nvPr/>
        </p:nvSpPr>
        <p:spPr>
          <a:xfrm>
            <a:off x="6261354" y="279577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research-gap/drawing/art-known/e19"/>
          <p:cNvSpPr/>
          <p:nvPr/>
        </p:nvSpPr>
        <p:spPr>
          <a:xfrm>
            <a:off x="990600" y="4171950"/>
            <a:ext cx="53088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31" name="research-gap/drawing/art-boundary/e1/segment-1"/>
          <p:cNvSpPr/>
          <p:nvPr/>
        </p:nvSpPr>
        <p:spPr>
          <a:xfrm>
            <a:off x="6998208" y="168592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2" name="research-gap/drawing/art-boundary/e2"/>
          <p:cNvSpPr/>
          <p:nvPr/>
        </p:nvSpPr>
        <p:spPr>
          <a:xfrm>
            <a:off x="6998208" y="1809750"/>
            <a:ext cx="473659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在哪些条件下仍不足</a:t>
            </a:r>
            <a:endParaRPr lang="zh-CN" sz="1800" dirty="0"/>
          </a:p>
        </p:txBody>
      </p:sp>
      <p:sp>
        <p:nvSpPr>
          <p:cNvPr id="33" name="research-gap/drawing/art-boundary/e3"/>
          <p:cNvSpPr/>
          <p:nvPr/>
        </p:nvSpPr>
        <p:spPr>
          <a:xfrm>
            <a:off x="6998208" y="2141220"/>
            <a:ext cx="4736592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证据之外的条件仍需独立检验。</a:t>
            </a:r>
            <a:endParaRPr lang="zh-CN" sz="2100" dirty="0"/>
          </a:p>
        </p:txBody>
      </p:sp>
      <p:sp>
        <p:nvSpPr>
          <p:cNvPr id="34" name="research-gap/drawing/art-gap/e1/segment-1"/>
          <p:cNvSpPr/>
          <p:nvPr/>
        </p:nvSpPr>
        <p:spPr>
          <a:xfrm>
            <a:off x="457200" y="484060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5" name="research-gap/drawing/art-gap/e2"/>
          <p:cNvSpPr/>
          <p:nvPr/>
        </p:nvSpPr>
        <p:spPr>
          <a:xfrm>
            <a:off x="457200" y="496443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由证据推出的研究问题</a:t>
            </a:r>
            <a:endParaRPr lang="zh-CN" sz="1800" dirty="0"/>
          </a:p>
        </p:txBody>
      </p:sp>
      <p:sp>
        <p:nvSpPr>
          <p:cNvPr id="36" name="research-gap/drawing/art-gap/e3"/>
          <p:cNvSpPr/>
          <p:nvPr/>
        </p:nvSpPr>
        <p:spPr>
          <a:xfrm>
            <a:off x="457200" y="5295900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把不足写成能够检验的关系。</a:t>
            </a:r>
            <a:endParaRPr lang="zh-CN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hod-pipelin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32</a:t>
            </a:r>
            <a:endParaRPr lang="zh-CN" sz="1350" dirty="0"/>
          </a:p>
        </p:txBody>
      </p:sp>
      <p:sp>
        <p:nvSpPr>
          <p:cNvPr id="3" name="method-pipelin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 方法管线与输入输出约束</a:t>
            </a:r>
            <a:endParaRPr lang="zh-CN" sz="3150" dirty="0"/>
          </a:p>
        </p:txBody>
      </p:sp>
      <p:sp>
        <p:nvSpPr>
          <p:cNvPr id="4" name="method-pipelin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method-pipeline/drawing/art-pipeline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真实操作与数据流</a:t>
            </a:r>
            <a:endParaRPr lang="zh-CN" sz="1800" dirty="0"/>
          </a:p>
        </p:txBody>
      </p:sp>
      <p:sp>
        <p:nvSpPr>
          <p:cNvPr id="6" name="method-pipeline/drawing/art-pipeline/e2"/>
          <p:cNvSpPr/>
          <p:nvPr/>
        </p:nvSpPr>
        <p:spPr>
          <a:xfrm>
            <a:off x="457200" y="2738438"/>
            <a:ext cx="35433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method-pipeline/drawing/art-pipeline/e3"/>
          <p:cNvSpPr/>
          <p:nvPr/>
        </p:nvSpPr>
        <p:spPr>
          <a:xfrm>
            <a:off x="457200" y="2738438"/>
            <a:ext cx="47625" cy="8191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method-pipeline/drawing/art-pipeline/e4"/>
          <p:cNvSpPr/>
          <p:nvPr/>
        </p:nvSpPr>
        <p:spPr>
          <a:xfrm>
            <a:off x="590550" y="3001328"/>
            <a:ext cx="32956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输入数据</a:t>
            </a:r>
            <a:endParaRPr lang="zh-CN" sz="1800" dirty="0"/>
          </a:p>
        </p:txBody>
      </p:sp>
      <p:sp>
        <p:nvSpPr>
          <p:cNvPr id="9" name="method-pipeline/drawing/art-pipeline/e5"/>
          <p:cNvSpPr/>
          <p:nvPr/>
        </p:nvSpPr>
        <p:spPr>
          <a:xfrm>
            <a:off x="4324350" y="2738438"/>
            <a:ext cx="35433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method-pipeline/drawing/art-pipeline/e6"/>
          <p:cNvSpPr/>
          <p:nvPr/>
        </p:nvSpPr>
        <p:spPr>
          <a:xfrm>
            <a:off x="4324350" y="2738438"/>
            <a:ext cx="47625" cy="8191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method-pipeline/drawing/art-pipeline/e7"/>
          <p:cNvSpPr/>
          <p:nvPr/>
        </p:nvSpPr>
        <p:spPr>
          <a:xfrm>
            <a:off x="4457700" y="3001328"/>
            <a:ext cx="32956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模型推断</a:t>
            </a:r>
            <a:endParaRPr lang="zh-CN" sz="1800" dirty="0"/>
          </a:p>
        </p:txBody>
      </p:sp>
      <p:sp>
        <p:nvSpPr>
          <p:cNvPr id="12" name="method-pipeline/drawing/art-pipeline/e8"/>
          <p:cNvSpPr/>
          <p:nvPr/>
        </p:nvSpPr>
        <p:spPr>
          <a:xfrm>
            <a:off x="8191500" y="2738438"/>
            <a:ext cx="35433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method-pipeline/drawing/art-pipeline/e9"/>
          <p:cNvSpPr/>
          <p:nvPr/>
        </p:nvSpPr>
        <p:spPr>
          <a:xfrm>
            <a:off x="8191500" y="2738438"/>
            <a:ext cx="47625" cy="8191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method-pipeline/drawing/art-pipeline/e10"/>
          <p:cNvSpPr/>
          <p:nvPr/>
        </p:nvSpPr>
        <p:spPr>
          <a:xfrm>
            <a:off x="8324850" y="3001328"/>
            <a:ext cx="32956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独立验证</a:t>
            </a:r>
            <a:endParaRPr lang="zh-CN" sz="1800" dirty="0"/>
          </a:p>
        </p:txBody>
      </p:sp>
      <p:sp>
        <p:nvSpPr>
          <p:cNvPr id="15" name="method-pipeline/drawing/art-pipeline/e11/segment-1"/>
          <p:cNvSpPr/>
          <p:nvPr/>
        </p:nvSpPr>
        <p:spPr>
          <a:xfrm>
            <a:off x="4048125" y="3148013"/>
            <a:ext cx="20955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6" name="method-pipeline/drawing/art-pipeline/e12/segment-1"/>
          <p:cNvSpPr/>
          <p:nvPr/>
        </p:nvSpPr>
        <p:spPr>
          <a:xfrm>
            <a:off x="7915275" y="3148013"/>
            <a:ext cx="20955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7" name="method-pipeline/drawing/art-inputs/e1/segment-1"/>
          <p:cNvSpPr/>
          <p:nvPr/>
        </p:nvSpPr>
        <p:spPr>
          <a:xfrm>
            <a:off x="457200" y="484060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18" name="method-pipeline/drawing/art-inputs/e2"/>
          <p:cNvSpPr/>
          <p:nvPr/>
        </p:nvSpPr>
        <p:spPr>
          <a:xfrm>
            <a:off x="457200" y="496443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输入与约束</a:t>
            </a:r>
            <a:endParaRPr lang="zh-CN" sz="1800" dirty="0"/>
          </a:p>
        </p:txBody>
      </p:sp>
      <p:sp>
        <p:nvSpPr>
          <p:cNvPr id="19" name="method-pipeline/drawing/art-inputs/e3"/>
          <p:cNvSpPr/>
          <p:nvPr/>
        </p:nvSpPr>
        <p:spPr>
          <a:xfrm>
            <a:off x="457200" y="5295900"/>
            <a:ext cx="546963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输入信息与使用条件明确。</a:t>
            </a:r>
            <a:endParaRPr lang="zh-CN" sz="2100" dirty="0"/>
          </a:p>
        </p:txBody>
      </p:sp>
      <p:sp>
        <p:nvSpPr>
          <p:cNvPr id="20" name="method-pipeline/drawing/art-validation/e1/segment-1"/>
          <p:cNvSpPr/>
          <p:nvPr/>
        </p:nvSpPr>
        <p:spPr>
          <a:xfrm>
            <a:off x="6265164" y="484060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1" name="method-pipeline/drawing/art-validation/e2"/>
          <p:cNvSpPr/>
          <p:nvPr/>
        </p:nvSpPr>
        <p:spPr>
          <a:xfrm>
            <a:off x="6265164" y="496443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输出与验证</a:t>
            </a:r>
            <a:endParaRPr lang="zh-CN" sz="1800" dirty="0"/>
          </a:p>
        </p:txBody>
      </p:sp>
      <p:sp>
        <p:nvSpPr>
          <p:cNvPr id="22" name="method-pipeline/drawing/art-validation/e3"/>
          <p:cNvSpPr/>
          <p:nvPr/>
        </p:nvSpPr>
        <p:spPr>
          <a:xfrm>
            <a:off x="6265164" y="5295900"/>
            <a:ext cx="546963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验证集与训练信息保持区分。</a:t>
            </a:r>
            <a:endParaRPr lang="zh-CN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hod-swimlan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32</a:t>
            </a:r>
            <a:endParaRPr lang="zh-CN" sz="1350" dirty="0"/>
          </a:p>
        </p:txBody>
      </p:sp>
      <p:sp>
        <p:nvSpPr>
          <p:cNvPr id="3" name="method-swimlan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 并行方法泳道</a:t>
            </a:r>
            <a:endParaRPr lang="zh-CN" sz="3150" dirty="0"/>
          </a:p>
        </p:txBody>
      </p:sp>
      <p:sp>
        <p:nvSpPr>
          <p:cNvPr id="4" name="method-swimlan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method-swimlane/drawing/art-swimlanes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并行数据源在同一阶段汇合</a:t>
            </a:r>
            <a:endParaRPr lang="zh-CN" sz="1800" dirty="0"/>
          </a:p>
        </p:txBody>
      </p:sp>
      <p:sp>
        <p:nvSpPr>
          <p:cNvPr id="6" name="method-swimlane/drawing/art-swimlanes/e2"/>
          <p:cNvSpPr/>
          <p:nvPr/>
        </p:nvSpPr>
        <p:spPr>
          <a:xfrm>
            <a:off x="457200" y="2219325"/>
            <a:ext cx="11277600" cy="1238250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method-swimlane/drawing/art-swimlanes/e3"/>
          <p:cNvSpPr/>
          <p:nvPr/>
        </p:nvSpPr>
        <p:spPr>
          <a:xfrm>
            <a:off x="600075" y="2505075"/>
            <a:ext cx="857250" cy="56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zh-CN" sz="1800" dirty="0"/>
          </a:p>
        </p:txBody>
      </p:sp>
      <p:sp>
        <p:nvSpPr>
          <p:cNvPr id="8" name="method-swimlane/drawing/art-swimlanes/e4"/>
          <p:cNvSpPr/>
          <p:nvPr/>
        </p:nvSpPr>
        <p:spPr>
          <a:xfrm>
            <a:off x="1524000" y="2362200"/>
            <a:ext cx="31369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9" name="method-swimlane/drawing/art-swimlanes/e5"/>
          <p:cNvSpPr/>
          <p:nvPr/>
        </p:nvSpPr>
        <p:spPr>
          <a:xfrm>
            <a:off x="1524000" y="2362200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method-swimlane/drawing/art-swimlanes/e6"/>
          <p:cNvSpPr/>
          <p:nvPr/>
        </p:nvSpPr>
        <p:spPr>
          <a:xfrm>
            <a:off x="1657350" y="2520315"/>
            <a:ext cx="2889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</a:t>
            </a:r>
            <a:endParaRPr lang="zh-CN" sz="1800" dirty="0"/>
          </a:p>
        </p:txBody>
      </p:sp>
      <p:sp>
        <p:nvSpPr>
          <p:cNvPr id="11" name="method-swimlane/drawing/art-swimlanes/e7"/>
          <p:cNvSpPr/>
          <p:nvPr/>
        </p:nvSpPr>
        <p:spPr>
          <a:xfrm>
            <a:off x="5060950" y="2362200"/>
            <a:ext cx="31369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2" name="method-swimlane/drawing/art-swimlanes/e8"/>
          <p:cNvSpPr/>
          <p:nvPr/>
        </p:nvSpPr>
        <p:spPr>
          <a:xfrm>
            <a:off x="5060950" y="2362200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method-swimlane/drawing/art-swimlanes/e9"/>
          <p:cNvSpPr/>
          <p:nvPr/>
        </p:nvSpPr>
        <p:spPr>
          <a:xfrm>
            <a:off x="5194300" y="2520315"/>
            <a:ext cx="2889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</a:t>
            </a:r>
            <a:endParaRPr lang="zh-CN" sz="1800" dirty="0"/>
          </a:p>
        </p:txBody>
      </p:sp>
      <p:sp>
        <p:nvSpPr>
          <p:cNvPr id="14" name="method-swimlane/drawing/art-swimlanes/e10"/>
          <p:cNvSpPr/>
          <p:nvPr/>
        </p:nvSpPr>
        <p:spPr>
          <a:xfrm>
            <a:off x="8597900" y="2362200"/>
            <a:ext cx="31369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5" name="method-swimlane/drawing/art-swimlanes/e11"/>
          <p:cNvSpPr/>
          <p:nvPr/>
        </p:nvSpPr>
        <p:spPr>
          <a:xfrm>
            <a:off x="8597900" y="2362200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method-swimlane/drawing/art-swimlanes/e12"/>
          <p:cNvSpPr/>
          <p:nvPr/>
        </p:nvSpPr>
        <p:spPr>
          <a:xfrm>
            <a:off x="8731250" y="2520315"/>
            <a:ext cx="2889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zh-CN" sz="1800" dirty="0"/>
          </a:p>
        </p:txBody>
      </p:sp>
      <p:sp>
        <p:nvSpPr>
          <p:cNvPr id="17" name="method-swimlane/drawing/art-swimlanes/e13/segment-1"/>
          <p:cNvSpPr/>
          <p:nvPr/>
        </p:nvSpPr>
        <p:spPr>
          <a:xfrm>
            <a:off x="4708525" y="2667000"/>
            <a:ext cx="295275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8" name="method-swimlane/drawing/art-swimlanes/e14/segment-1"/>
          <p:cNvSpPr/>
          <p:nvPr/>
        </p:nvSpPr>
        <p:spPr>
          <a:xfrm>
            <a:off x="8245475" y="2667000"/>
            <a:ext cx="295275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9" name="method-swimlane/drawing/art-swimlanes/e15"/>
          <p:cNvSpPr/>
          <p:nvPr/>
        </p:nvSpPr>
        <p:spPr>
          <a:xfrm>
            <a:off x="457200" y="3933825"/>
            <a:ext cx="11277600" cy="1238250"/>
          </a:xfrm>
          <a:prstGeom prst="rect">
            <a:avLst/>
          </a:prstGeom>
          <a:solidFill>
            <a:srgbClr val="EE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method-swimlane/drawing/art-swimlanes/e16"/>
          <p:cNvSpPr/>
          <p:nvPr/>
        </p:nvSpPr>
        <p:spPr>
          <a:xfrm>
            <a:off x="600075" y="4219575"/>
            <a:ext cx="857250" cy="56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zh-CN" sz="1800" dirty="0"/>
          </a:p>
        </p:txBody>
      </p:sp>
      <p:sp>
        <p:nvSpPr>
          <p:cNvPr id="21" name="method-swimlane/drawing/art-swimlanes/e17"/>
          <p:cNvSpPr/>
          <p:nvPr/>
        </p:nvSpPr>
        <p:spPr>
          <a:xfrm>
            <a:off x="1524000" y="4076700"/>
            <a:ext cx="31369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2" name="method-swimlane/drawing/art-swimlanes/e18"/>
          <p:cNvSpPr/>
          <p:nvPr/>
        </p:nvSpPr>
        <p:spPr>
          <a:xfrm>
            <a:off x="1524000" y="4076700"/>
            <a:ext cx="47625" cy="6096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method-swimlane/drawing/art-swimlanes/e19"/>
          <p:cNvSpPr/>
          <p:nvPr/>
        </p:nvSpPr>
        <p:spPr>
          <a:xfrm>
            <a:off x="1657350" y="4234815"/>
            <a:ext cx="2889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</a:t>
            </a:r>
            <a:endParaRPr lang="zh-CN" sz="1800" dirty="0"/>
          </a:p>
        </p:txBody>
      </p:sp>
      <p:sp>
        <p:nvSpPr>
          <p:cNvPr id="24" name="method-swimlane/drawing/art-swimlanes/e20"/>
          <p:cNvSpPr/>
          <p:nvPr/>
        </p:nvSpPr>
        <p:spPr>
          <a:xfrm>
            <a:off x="5060950" y="4076700"/>
            <a:ext cx="31369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5" name="method-swimlane/drawing/art-swimlanes/e21"/>
          <p:cNvSpPr/>
          <p:nvPr/>
        </p:nvSpPr>
        <p:spPr>
          <a:xfrm>
            <a:off x="5060950" y="4076700"/>
            <a:ext cx="47625" cy="6096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method-swimlane/drawing/art-swimlanes/e22"/>
          <p:cNvSpPr/>
          <p:nvPr/>
        </p:nvSpPr>
        <p:spPr>
          <a:xfrm>
            <a:off x="5194300" y="4234815"/>
            <a:ext cx="2889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</a:t>
            </a:r>
            <a:endParaRPr lang="zh-CN" sz="1800" dirty="0"/>
          </a:p>
        </p:txBody>
      </p:sp>
      <p:sp>
        <p:nvSpPr>
          <p:cNvPr id="27" name="method-swimlane/drawing/art-swimlanes/e23"/>
          <p:cNvSpPr/>
          <p:nvPr/>
        </p:nvSpPr>
        <p:spPr>
          <a:xfrm>
            <a:off x="8597900" y="4076700"/>
            <a:ext cx="31369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8" name="method-swimlane/drawing/art-swimlanes/e24"/>
          <p:cNvSpPr/>
          <p:nvPr/>
        </p:nvSpPr>
        <p:spPr>
          <a:xfrm>
            <a:off x="8597900" y="4076700"/>
            <a:ext cx="47625" cy="6096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method-swimlane/drawing/art-swimlanes/e25"/>
          <p:cNvSpPr/>
          <p:nvPr/>
        </p:nvSpPr>
        <p:spPr>
          <a:xfrm>
            <a:off x="8731250" y="4234815"/>
            <a:ext cx="28892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zh-CN" sz="1800" dirty="0"/>
          </a:p>
        </p:txBody>
      </p:sp>
      <p:sp>
        <p:nvSpPr>
          <p:cNvPr id="30" name="method-swimlane/drawing/art-swimlanes/e26/segment-1"/>
          <p:cNvSpPr/>
          <p:nvPr/>
        </p:nvSpPr>
        <p:spPr>
          <a:xfrm>
            <a:off x="4708525" y="4381500"/>
            <a:ext cx="295275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1" name="method-swimlane/drawing/art-swimlanes/e27/segment-1"/>
          <p:cNvSpPr/>
          <p:nvPr/>
        </p:nvSpPr>
        <p:spPr>
          <a:xfrm>
            <a:off x="8245475" y="4381500"/>
            <a:ext cx="295275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2" name="method-swimlane/drawing/art-swimlanes/e28/segment-1"/>
          <p:cNvSpPr/>
          <p:nvPr/>
        </p:nvSpPr>
        <p:spPr>
          <a:xfrm>
            <a:off x="6629400" y="3048000"/>
            <a:ext cx="0" cy="96202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3" name="method-swimlane/drawing/art-swimlanes/e29"/>
          <p:cNvSpPr/>
          <p:nvPr/>
        </p:nvSpPr>
        <p:spPr>
          <a:xfrm>
            <a:off x="6743700" y="3200400"/>
            <a:ext cx="1524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共享信息</a:t>
            </a:r>
            <a:endParaRPr lang="zh-CN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edback-cycl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32</a:t>
            </a:r>
            <a:endParaRPr lang="zh-CN" sz="1350" dirty="0"/>
          </a:p>
        </p:txBody>
      </p:sp>
      <p:sp>
        <p:nvSpPr>
          <p:cNvPr id="3" name="feedback-cycl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 状态更新与反馈回路</a:t>
            </a:r>
            <a:endParaRPr lang="zh-CN" sz="3150" dirty="0"/>
          </a:p>
        </p:txBody>
      </p:sp>
      <p:sp>
        <p:nvSpPr>
          <p:cNvPr id="4" name="feedback-cycl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feedback-cycle/drawing/art-cycle/e1"/>
          <p:cNvSpPr/>
          <p:nvPr/>
        </p:nvSpPr>
        <p:spPr>
          <a:xfrm>
            <a:off x="457200" y="1676400"/>
            <a:ext cx="766876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预测、观测与状态更新</a:t>
            </a:r>
            <a:endParaRPr lang="zh-CN" sz="1800" dirty="0"/>
          </a:p>
        </p:txBody>
      </p:sp>
      <p:sp>
        <p:nvSpPr>
          <p:cNvPr id="6" name="feedback-cycle/drawing/art-cycle/e2"/>
          <p:cNvSpPr/>
          <p:nvPr/>
        </p:nvSpPr>
        <p:spPr>
          <a:xfrm>
            <a:off x="552450" y="2295525"/>
            <a:ext cx="209550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feedback-cycle/drawing/art-cycle/e3"/>
          <p:cNvSpPr/>
          <p:nvPr/>
        </p:nvSpPr>
        <p:spPr>
          <a:xfrm>
            <a:off x="552450" y="2295525"/>
            <a:ext cx="47625" cy="6858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feedback-cycle/drawing/art-cycle/e4"/>
          <p:cNvSpPr/>
          <p:nvPr/>
        </p:nvSpPr>
        <p:spPr>
          <a:xfrm>
            <a:off x="685800" y="2491740"/>
            <a:ext cx="18478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预测状态</a:t>
            </a:r>
            <a:endParaRPr lang="zh-CN" sz="1800" dirty="0"/>
          </a:p>
        </p:txBody>
      </p:sp>
      <p:sp>
        <p:nvSpPr>
          <p:cNvPr id="9" name="feedback-cycle/drawing/art-cycle/e5"/>
          <p:cNvSpPr/>
          <p:nvPr/>
        </p:nvSpPr>
        <p:spPr>
          <a:xfrm>
            <a:off x="5935218" y="2295525"/>
            <a:ext cx="209550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feedback-cycle/drawing/art-cycle/e6"/>
          <p:cNvSpPr/>
          <p:nvPr/>
        </p:nvSpPr>
        <p:spPr>
          <a:xfrm>
            <a:off x="5935218" y="2295525"/>
            <a:ext cx="47625" cy="6858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feedback-cycle/drawing/art-cycle/e7"/>
          <p:cNvSpPr/>
          <p:nvPr/>
        </p:nvSpPr>
        <p:spPr>
          <a:xfrm>
            <a:off x="6068568" y="2491740"/>
            <a:ext cx="18478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创新量</a:t>
            </a:r>
            <a:endParaRPr lang="zh-CN" sz="1800" dirty="0"/>
          </a:p>
        </p:txBody>
      </p:sp>
      <p:sp>
        <p:nvSpPr>
          <p:cNvPr id="12" name="feedback-cycle/drawing/art-cycle/e8"/>
          <p:cNvSpPr/>
          <p:nvPr/>
        </p:nvSpPr>
        <p:spPr>
          <a:xfrm>
            <a:off x="5935218" y="5153025"/>
            <a:ext cx="209550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feedback-cycle/drawing/art-cycle/e9"/>
          <p:cNvSpPr/>
          <p:nvPr/>
        </p:nvSpPr>
        <p:spPr>
          <a:xfrm>
            <a:off x="5935218" y="5153025"/>
            <a:ext cx="47625" cy="685800"/>
          </a:xfrm>
          <a:prstGeom prst="rect">
            <a:avLst/>
          </a:prstGeom>
          <a:solidFill>
            <a:srgbClr val="B66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feedback-cycle/drawing/art-cycle/e10"/>
          <p:cNvSpPr/>
          <p:nvPr/>
        </p:nvSpPr>
        <p:spPr>
          <a:xfrm>
            <a:off x="6068568" y="5349240"/>
            <a:ext cx="18478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观测信息</a:t>
            </a:r>
            <a:endParaRPr lang="zh-CN" sz="1800" dirty="0"/>
          </a:p>
        </p:txBody>
      </p:sp>
      <p:sp>
        <p:nvSpPr>
          <p:cNvPr id="15" name="feedback-cycle/drawing/art-cycle/e11"/>
          <p:cNvSpPr/>
          <p:nvPr/>
        </p:nvSpPr>
        <p:spPr>
          <a:xfrm>
            <a:off x="552450" y="5153025"/>
            <a:ext cx="209550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6" name="feedback-cycle/drawing/art-cycle/e12"/>
          <p:cNvSpPr/>
          <p:nvPr/>
        </p:nvSpPr>
        <p:spPr>
          <a:xfrm>
            <a:off x="552450" y="5153025"/>
            <a:ext cx="47625" cy="6858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eedback-cycle/drawing/art-cycle/e13"/>
          <p:cNvSpPr/>
          <p:nvPr/>
        </p:nvSpPr>
        <p:spPr>
          <a:xfrm>
            <a:off x="685800" y="5349240"/>
            <a:ext cx="18478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更新状态</a:t>
            </a:r>
            <a:endParaRPr lang="zh-CN" sz="1800" dirty="0"/>
          </a:p>
        </p:txBody>
      </p:sp>
      <p:sp>
        <p:nvSpPr>
          <p:cNvPr id="18" name="feedback-cycle/drawing/art-cycle/e14/segment-1"/>
          <p:cNvSpPr/>
          <p:nvPr/>
        </p:nvSpPr>
        <p:spPr>
          <a:xfrm>
            <a:off x="2714625" y="2638425"/>
            <a:ext cx="3144393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9" name="feedback-cycle/drawing/art-cycle/e15/segment-1"/>
          <p:cNvSpPr/>
          <p:nvPr/>
        </p:nvSpPr>
        <p:spPr>
          <a:xfrm flipV="1">
            <a:off x="6982968" y="3048000"/>
            <a:ext cx="0" cy="203835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0" name="feedback-cycle/drawing/art-cycle/e16/segment-1"/>
          <p:cNvSpPr/>
          <p:nvPr/>
        </p:nvSpPr>
        <p:spPr>
          <a:xfrm flipV="1">
            <a:off x="1600200" y="3048000"/>
            <a:ext cx="0" cy="203835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1" name="feedback-cycle/drawing/art-cycle/e17/segment-1"/>
          <p:cNvSpPr/>
          <p:nvPr/>
        </p:nvSpPr>
        <p:spPr>
          <a:xfrm>
            <a:off x="8078343" y="2638425"/>
            <a:ext cx="3810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2" name="feedback-cycle/drawing/art-cycle/e17/segment-2"/>
          <p:cNvSpPr/>
          <p:nvPr/>
        </p:nvSpPr>
        <p:spPr>
          <a:xfrm>
            <a:off x="8116443" y="2638425"/>
            <a:ext cx="0" cy="33528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3" name="feedback-cycle/drawing/art-cycle/e17/segment-3"/>
          <p:cNvSpPr/>
          <p:nvPr/>
        </p:nvSpPr>
        <p:spPr>
          <a:xfrm flipH="1">
            <a:off x="1600200" y="5991225"/>
            <a:ext cx="6516243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4" name="feedback-cycle/drawing/art-cycle/e17/segment-4"/>
          <p:cNvSpPr/>
          <p:nvPr/>
        </p:nvSpPr>
        <p:spPr>
          <a:xfrm flipV="1">
            <a:off x="1600200" y="5886450"/>
            <a:ext cx="0" cy="10477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5" name="feedback-cycle/drawing/art-cycle/e18"/>
          <p:cNvSpPr/>
          <p:nvPr/>
        </p:nvSpPr>
        <p:spPr>
          <a:xfrm>
            <a:off x="2790825" y="3724275"/>
            <a:ext cx="300151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时间步推进</a:t>
            </a:r>
            <a:endParaRPr lang="zh-CN" sz="1800" dirty="0"/>
          </a:p>
        </p:txBody>
      </p:sp>
      <p:sp>
        <p:nvSpPr>
          <p:cNvPr id="26" name="feedback-cycle/drawing/art-states/e1/segment-1"/>
          <p:cNvSpPr/>
          <p:nvPr/>
        </p:nvSpPr>
        <p:spPr>
          <a:xfrm>
            <a:off x="8577072" y="168592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7" name="feedback-cycle/drawing/art-states/e2"/>
          <p:cNvSpPr/>
          <p:nvPr/>
        </p:nvSpPr>
        <p:spPr>
          <a:xfrm>
            <a:off x="8577072" y="1809750"/>
            <a:ext cx="315772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状态与更新条件</a:t>
            </a:r>
            <a:endParaRPr lang="zh-CN" sz="1800" dirty="0"/>
          </a:p>
        </p:txBody>
      </p:sp>
      <p:sp>
        <p:nvSpPr>
          <p:cNvPr id="28" name="feedback-cycle/drawing/art-states/e3"/>
          <p:cNvSpPr/>
          <p:nvPr/>
        </p:nvSpPr>
        <p:spPr>
          <a:xfrm>
            <a:off x="8577072" y="2141220"/>
            <a:ext cx="3157728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预测、观测与更新对象逐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项对应。</a:t>
            </a:r>
            <a:endParaRPr lang="zh-CN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eriment-desig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32</a:t>
            </a:r>
            <a:endParaRPr lang="zh-CN" sz="1350" dirty="0"/>
          </a:p>
        </p:txBody>
      </p:sp>
      <p:sp>
        <p:nvSpPr>
          <p:cNvPr id="3" name="experiment-desig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 实验处理与共同评估</a:t>
            </a:r>
            <a:endParaRPr lang="zh-CN" sz="3150" dirty="0"/>
          </a:p>
        </p:txBody>
      </p:sp>
      <p:sp>
        <p:nvSpPr>
          <p:cNvPr id="4" name="experiment-desig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experiment-design/drawing/art-design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处理分配与共同评估</a:t>
            </a:r>
            <a:endParaRPr lang="zh-CN" sz="1800" dirty="0"/>
          </a:p>
        </p:txBody>
      </p:sp>
      <p:sp>
        <p:nvSpPr>
          <p:cNvPr id="6" name="experiment-design/drawing/art-design/e2"/>
          <p:cNvSpPr/>
          <p:nvPr/>
        </p:nvSpPr>
        <p:spPr>
          <a:xfrm>
            <a:off x="5095875" y="2200275"/>
            <a:ext cx="200025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experiment-design/drawing/art-design/e3"/>
          <p:cNvSpPr/>
          <p:nvPr/>
        </p:nvSpPr>
        <p:spPr>
          <a:xfrm>
            <a:off x="5095875" y="2200275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xperiment-design/drawing/art-design/e4"/>
          <p:cNvSpPr/>
          <p:nvPr/>
        </p:nvSpPr>
        <p:spPr>
          <a:xfrm>
            <a:off x="5229225" y="2358390"/>
            <a:ext cx="1752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共同样本</a:t>
            </a:r>
            <a:endParaRPr lang="zh-CN" sz="1800" dirty="0"/>
          </a:p>
        </p:txBody>
      </p:sp>
      <p:sp>
        <p:nvSpPr>
          <p:cNvPr id="9" name="experiment-design/drawing/art-design/e5"/>
          <p:cNvSpPr/>
          <p:nvPr/>
        </p:nvSpPr>
        <p:spPr>
          <a:xfrm>
            <a:off x="742950" y="3056572"/>
            <a:ext cx="200025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experiment-design/drawing/art-design/e6"/>
          <p:cNvSpPr/>
          <p:nvPr/>
        </p:nvSpPr>
        <p:spPr>
          <a:xfrm>
            <a:off x="742950" y="3056572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xperiment-design/drawing/art-design/e7"/>
          <p:cNvSpPr/>
          <p:nvPr/>
        </p:nvSpPr>
        <p:spPr>
          <a:xfrm>
            <a:off x="876300" y="3214688"/>
            <a:ext cx="1752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A</a:t>
            </a:r>
            <a:endParaRPr lang="zh-CN" sz="1800" dirty="0"/>
          </a:p>
        </p:txBody>
      </p:sp>
      <p:sp>
        <p:nvSpPr>
          <p:cNvPr id="12" name="experiment-design/drawing/art-design/e8"/>
          <p:cNvSpPr/>
          <p:nvPr/>
        </p:nvSpPr>
        <p:spPr>
          <a:xfrm>
            <a:off x="9448800" y="3056572"/>
            <a:ext cx="200025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experiment-design/drawing/art-design/e9"/>
          <p:cNvSpPr/>
          <p:nvPr/>
        </p:nvSpPr>
        <p:spPr>
          <a:xfrm>
            <a:off x="9448800" y="3056572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xperiment-design/drawing/art-design/e10"/>
          <p:cNvSpPr/>
          <p:nvPr/>
        </p:nvSpPr>
        <p:spPr>
          <a:xfrm>
            <a:off x="9582150" y="3214688"/>
            <a:ext cx="1752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B</a:t>
            </a:r>
            <a:endParaRPr lang="zh-CN" sz="1800" dirty="0"/>
          </a:p>
        </p:txBody>
      </p:sp>
      <p:sp>
        <p:nvSpPr>
          <p:cNvPr id="15" name="experiment-design/drawing/art-design/e11"/>
          <p:cNvSpPr/>
          <p:nvPr/>
        </p:nvSpPr>
        <p:spPr>
          <a:xfrm>
            <a:off x="5095875" y="4057650"/>
            <a:ext cx="200025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6" name="experiment-design/drawing/art-design/e12"/>
          <p:cNvSpPr/>
          <p:nvPr/>
        </p:nvSpPr>
        <p:spPr>
          <a:xfrm>
            <a:off x="5095875" y="4057650"/>
            <a:ext cx="47625" cy="6096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xperiment-design/drawing/art-design/e13"/>
          <p:cNvSpPr/>
          <p:nvPr/>
        </p:nvSpPr>
        <p:spPr>
          <a:xfrm>
            <a:off x="5229225" y="4215765"/>
            <a:ext cx="1752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共同评估</a:t>
            </a:r>
            <a:endParaRPr lang="zh-CN" sz="1800" dirty="0"/>
          </a:p>
        </p:txBody>
      </p:sp>
      <p:sp>
        <p:nvSpPr>
          <p:cNvPr id="18" name="experiment-design/drawing/art-design/e14/segment-1"/>
          <p:cNvSpPr/>
          <p:nvPr/>
        </p:nvSpPr>
        <p:spPr>
          <a:xfrm>
            <a:off x="6096000" y="2809875"/>
            <a:ext cx="0" cy="17145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19" name="experiment-design/drawing/art-design/e14/segment-2"/>
          <p:cNvSpPr/>
          <p:nvPr/>
        </p:nvSpPr>
        <p:spPr>
          <a:xfrm flipH="1">
            <a:off x="1743075" y="2981325"/>
            <a:ext cx="4352925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0" name="experiment-design/drawing/art-design/e14/segment-3"/>
          <p:cNvSpPr/>
          <p:nvPr/>
        </p:nvSpPr>
        <p:spPr>
          <a:xfrm>
            <a:off x="1743075" y="2981325"/>
            <a:ext cx="0" cy="18097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1" name="experiment-design/drawing/art-design/e15/segment-1"/>
          <p:cNvSpPr/>
          <p:nvPr/>
        </p:nvSpPr>
        <p:spPr>
          <a:xfrm>
            <a:off x="6096000" y="2981325"/>
            <a:ext cx="4352925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2" name="experiment-design/drawing/art-design/e15/segment-2"/>
          <p:cNvSpPr/>
          <p:nvPr/>
        </p:nvSpPr>
        <p:spPr>
          <a:xfrm>
            <a:off x="10448925" y="2981325"/>
            <a:ext cx="0" cy="18097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3" name="experiment-design/drawing/art-design/e16/segment-1"/>
          <p:cNvSpPr/>
          <p:nvPr/>
        </p:nvSpPr>
        <p:spPr>
          <a:xfrm>
            <a:off x="1743075" y="3666172"/>
            <a:ext cx="0" cy="239078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4" name="experiment-design/drawing/art-design/e16/segment-2"/>
          <p:cNvSpPr/>
          <p:nvPr/>
        </p:nvSpPr>
        <p:spPr>
          <a:xfrm>
            <a:off x="1743075" y="3905250"/>
            <a:ext cx="4352925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5" name="experiment-design/drawing/art-design/e16/segment-3"/>
          <p:cNvSpPr/>
          <p:nvPr/>
        </p:nvSpPr>
        <p:spPr>
          <a:xfrm>
            <a:off x="6096000" y="3905250"/>
            <a:ext cx="0" cy="10477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6" name="experiment-design/drawing/art-design/e17/segment-1"/>
          <p:cNvSpPr/>
          <p:nvPr/>
        </p:nvSpPr>
        <p:spPr>
          <a:xfrm>
            <a:off x="10448925" y="3666172"/>
            <a:ext cx="0" cy="239078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7" name="experiment-design/drawing/art-design/e17/segment-2"/>
          <p:cNvSpPr/>
          <p:nvPr/>
        </p:nvSpPr>
        <p:spPr>
          <a:xfrm flipH="1">
            <a:off x="6096000" y="3905250"/>
            <a:ext cx="4352925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8" name="experiment-design/drawing/art-controls/e1/segment-1"/>
          <p:cNvSpPr/>
          <p:nvPr/>
        </p:nvSpPr>
        <p:spPr>
          <a:xfrm>
            <a:off x="457200" y="505968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9" name="experiment-design/drawing/art-controls/e2"/>
          <p:cNvSpPr/>
          <p:nvPr/>
        </p:nvSpPr>
        <p:spPr>
          <a:xfrm>
            <a:off x="457200" y="5183505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对照、重复与测量条件</a:t>
            </a:r>
            <a:endParaRPr lang="zh-CN" sz="1800" dirty="0"/>
          </a:p>
        </p:txBody>
      </p:sp>
      <p:sp>
        <p:nvSpPr>
          <p:cNvPr id="30" name="experiment-design/drawing/art-controls/e3"/>
          <p:cNvSpPr/>
          <p:nvPr/>
        </p:nvSpPr>
        <p:spPr>
          <a:xfrm>
            <a:off x="457200" y="5514975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实验单位、重复与对照保持可核查。</a:t>
            </a:r>
            <a:endParaRPr lang="zh-CN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hort-flow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32</a:t>
            </a:r>
            <a:endParaRPr lang="zh-CN" sz="1350" dirty="0"/>
          </a:p>
        </p:txBody>
      </p:sp>
      <p:sp>
        <p:nvSpPr>
          <p:cNvPr id="3" name="cohort-flow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 样本流转与排除理由</a:t>
            </a:r>
            <a:endParaRPr lang="zh-CN" sz="3150" dirty="0"/>
          </a:p>
        </p:txBody>
      </p:sp>
      <p:sp>
        <p:nvSpPr>
          <p:cNvPr id="4" name="cohort-flow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cohort-flow/drawing/art-flow/e1"/>
          <p:cNvSpPr/>
          <p:nvPr/>
        </p:nvSpPr>
        <p:spPr>
          <a:xfrm>
            <a:off x="457200" y="1676400"/>
            <a:ext cx="496214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样本流转</a:t>
            </a:r>
            <a:endParaRPr lang="zh-CN" sz="1800" dirty="0"/>
          </a:p>
        </p:txBody>
      </p:sp>
      <p:sp>
        <p:nvSpPr>
          <p:cNvPr id="6" name="cohort-flow/drawing/art-flow/e2"/>
          <p:cNvSpPr/>
          <p:nvPr/>
        </p:nvSpPr>
        <p:spPr>
          <a:xfrm>
            <a:off x="1102279" y="2247900"/>
            <a:ext cx="3671987" cy="66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cohort-flow/drawing/art-flow/e3"/>
          <p:cNvSpPr/>
          <p:nvPr/>
        </p:nvSpPr>
        <p:spPr>
          <a:xfrm>
            <a:off x="1102279" y="2247900"/>
            <a:ext cx="47625" cy="6667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cohort-flow/drawing/art-flow/e4"/>
          <p:cNvSpPr/>
          <p:nvPr/>
        </p:nvSpPr>
        <p:spPr>
          <a:xfrm>
            <a:off x="1235629" y="2434590"/>
            <a:ext cx="3424337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纳入样本</a:t>
            </a:r>
            <a:endParaRPr lang="zh-CN" sz="1800" dirty="0"/>
          </a:p>
        </p:txBody>
      </p:sp>
      <p:sp>
        <p:nvSpPr>
          <p:cNvPr id="9" name="cohort-flow/drawing/art-flow/e5"/>
          <p:cNvSpPr/>
          <p:nvPr/>
        </p:nvSpPr>
        <p:spPr>
          <a:xfrm>
            <a:off x="1102279" y="3486150"/>
            <a:ext cx="3671987" cy="66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cohort-flow/drawing/art-flow/e6"/>
          <p:cNvSpPr/>
          <p:nvPr/>
        </p:nvSpPr>
        <p:spPr>
          <a:xfrm>
            <a:off x="1102279" y="3486150"/>
            <a:ext cx="47625" cy="6667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cohort-flow/drawing/art-flow/e7"/>
          <p:cNvSpPr/>
          <p:nvPr/>
        </p:nvSpPr>
        <p:spPr>
          <a:xfrm>
            <a:off x="1235629" y="3672840"/>
            <a:ext cx="3424337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完成测量</a:t>
            </a:r>
            <a:endParaRPr lang="zh-CN" sz="1800" dirty="0"/>
          </a:p>
        </p:txBody>
      </p:sp>
      <p:sp>
        <p:nvSpPr>
          <p:cNvPr id="12" name="cohort-flow/drawing/art-flow/e8"/>
          <p:cNvSpPr/>
          <p:nvPr/>
        </p:nvSpPr>
        <p:spPr>
          <a:xfrm>
            <a:off x="1102279" y="4724400"/>
            <a:ext cx="3671987" cy="66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cohort-flow/drawing/art-flow/e9"/>
          <p:cNvSpPr/>
          <p:nvPr/>
        </p:nvSpPr>
        <p:spPr>
          <a:xfrm>
            <a:off x="1102279" y="4724400"/>
            <a:ext cx="47625" cy="6667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cohort-flow/drawing/art-flow/e10"/>
          <p:cNvSpPr/>
          <p:nvPr/>
        </p:nvSpPr>
        <p:spPr>
          <a:xfrm>
            <a:off x="1235629" y="4911090"/>
            <a:ext cx="3424337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分析样本</a:t>
            </a:r>
            <a:endParaRPr lang="zh-CN" sz="1800" dirty="0"/>
          </a:p>
        </p:txBody>
      </p:sp>
      <p:sp>
        <p:nvSpPr>
          <p:cNvPr id="15" name="cohort-flow/drawing/art-flow/e11/segment-1"/>
          <p:cNvSpPr/>
          <p:nvPr/>
        </p:nvSpPr>
        <p:spPr>
          <a:xfrm>
            <a:off x="2938272" y="2971800"/>
            <a:ext cx="0" cy="44767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6" name="cohort-flow/drawing/art-flow/e12/segment-1"/>
          <p:cNvSpPr/>
          <p:nvPr/>
        </p:nvSpPr>
        <p:spPr>
          <a:xfrm>
            <a:off x="2938272" y="4210050"/>
            <a:ext cx="0" cy="44767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7" name="cohort-flow/drawing/art-accounting/e1"/>
          <p:cNvSpPr/>
          <p:nvPr/>
        </p:nvSpPr>
        <p:spPr>
          <a:xfrm>
            <a:off x="5983224" y="1676400"/>
            <a:ext cx="575157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样本量与排除依据</a:t>
            </a:r>
            <a:endParaRPr lang="zh-CN" sz="1800" dirty="0"/>
          </a:p>
        </p:txBody>
      </p:sp>
      <p:sp>
        <p:nvSpPr>
          <p:cNvPr id="18" name="cohort-flow/drawing/art-accounting/e2"/>
          <p:cNvSpPr/>
          <p:nvPr/>
        </p:nvSpPr>
        <p:spPr>
          <a:xfrm>
            <a:off x="5983224" y="2105025"/>
            <a:ext cx="5751576" cy="969169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cohort-flow/drawing/art-accounting/e3"/>
          <p:cNvSpPr/>
          <p:nvPr/>
        </p:nvSpPr>
        <p:spPr>
          <a:xfrm>
            <a:off x="6078474" y="2442924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sz="1800" dirty="0"/>
          </a:p>
        </p:txBody>
      </p:sp>
      <p:sp>
        <p:nvSpPr>
          <p:cNvPr id="20" name="cohort-flow/drawing/art-accounting/e4"/>
          <p:cNvSpPr/>
          <p:nvPr/>
        </p:nvSpPr>
        <p:spPr>
          <a:xfrm>
            <a:off x="8954262" y="2442924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排除依据</a:t>
            </a:r>
            <a:endParaRPr lang="zh-CN" sz="1800" dirty="0"/>
          </a:p>
        </p:txBody>
      </p:sp>
      <p:sp>
        <p:nvSpPr>
          <p:cNvPr id="21" name="cohort-flow/drawing/art-accounting/e5/segment-1"/>
          <p:cNvSpPr/>
          <p:nvPr/>
        </p:nvSpPr>
        <p:spPr>
          <a:xfrm>
            <a:off x="5983224" y="3074194"/>
            <a:ext cx="575157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2" name="cohort-flow/drawing/art-accounting/e6"/>
          <p:cNvSpPr/>
          <p:nvPr/>
        </p:nvSpPr>
        <p:spPr>
          <a:xfrm>
            <a:off x="5983224" y="3074194"/>
            <a:ext cx="5751576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cohort-flow/drawing/art-accounting/e7"/>
          <p:cNvSpPr/>
          <p:nvPr/>
        </p:nvSpPr>
        <p:spPr>
          <a:xfrm>
            <a:off x="6078474" y="3412093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初筛</a:t>
            </a:r>
            <a:endParaRPr lang="zh-CN" sz="1800" dirty="0"/>
          </a:p>
        </p:txBody>
      </p:sp>
      <p:sp>
        <p:nvSpPr>
          <p:cNvPr id="24" name="cohort-flow/drawing/art-accounting/e8"/>
          <p:cNvSpPr/>
          <p:nvPr/>
        </p:nvSpPr>
        <p:spPr>
          <a:xfrm>
            <a:off x="8954262" y="3412093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纳排标准</a:t>
            </a:r>
            <a:endParaRPr lang="zh-CN" sz="1800" dirty="0"/>
          </a:p>
        </p:txBody>
      </p:sp>
      <p:sp>
        <p:nvSpPr>
          <p:cNvPr id="25" name="cohort-flow/drawing/art-accounting/e9/segment-1"/>
          <p:cNvSpPr/>
          <p:nvPr/>
        </p:nvSpPr>
        <p:spPr>
          <a:xfrm>
            <a:off x="5983224" y="4043363"/>
            <a:ext cx="575157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6" name="cohort-flow/drawing/art-accounting/e10"/>
          <p:cNvSpPr/>
          <p:nvPr/>
        </p:nvSpPr>
        <p:spPr>
          <a:xfrm>
            <a:off x="5983224" y="4043363"/>
            <a:ext cx="5751576" cy="9691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cohort-flow/drawing/art-accounting/e11"/>
          <p:cNvSpPr/>
          <p:nvPr/>
        </p:nvSpPr>
        <p:spPr>
          <a:xfrm>
            <a:off x="6078474" y="4381262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随访</a:t>
            </a:r>
            <a:endParaRPr lang="zh-CN" sz="1800" dirty="0"/>
          </a:p>
        </p:txBody>
      </p:sp>
      <p:sp>
        <p:nvSpPr>
          <p:cNvPr id="28" name="cohort-flow/drawing/art-accounting/e12"/>
          <p:cNvSpPr/>
          <p:nvPr/>
        </p:nvSpPr>
        <p:spPr>
          <a:xfrm>
            <a:off x="8954262" y="4381262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失访记录</a:t>
            </a:r>
            <a:endParaRPr lang="zh-CN" sz="1800" dirty="0"/>
          </a:p>
        </p:txBody>
      </p:sp>
      <p:sp>
        <p:nvSpPr>
          <p:cNvPr id="29" name="cohort-flow/drawing/art-accounting/e13/segment-1"/>
          <p:cNvSpPr/>
          <p:nvPr/>
        </p:nvSpPr>
        <p:spPr>
          <a:xfrm>
            <a:off x="5983224" y="5012531"/>
            <a:ext cx="575157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0" name="cohort-flow/drawing/art-accounting/e14"/>
          <p:cNvSpPr/>
          <p:nvPr/>
        </p:nvSpPr>
        <p:spPr>
          <a:xfrm>
            <a:off x="5983224" y="5012531"/>
            <a:ext cx="5751576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cohort-flow/drawing/art-accounting/e15"/>
          <p:cNvSpPr/>
          <p:nvPr/>
        </p:nvSpPr>
        <p:spPr>
          <a:xfrm>
            <a:off x="6078474" y="5350431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zh-CN" sz="1800" dirty="0"/>
          </a:p>
        </p:txBody>
      </p:sp>
      <p:sp>
        <p:nvSpPr>
          <p:cNvPr id="32" name="cohort-flow/drawing/art-accounting/e16"/>
          <p:cNvSpPr/>
          <p:nvPr/>
        </p:nvSpPr>
        <p:spPr>
          <a:xfrm>
            <a:off x="8954262" y="5350431"/>
            <a:ext cx="268528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缺测处理</a:t>
            </a:r>
            <a:endParaRPr lang="zh-CN" sz="1800" dirty="0"/>
          </a:p>
        </p:txBody>
      </p:sp>
      <p:sp>
        <p:nvSpPr>
          <p:cNvPr id="33" name="cohort-flow/drawing/art-accounting/e17/segment-1"/>
          <p:cNvSpPr/>
          <p:nvPr/>
        </p:nvSpPr>
        <p:spPr>
          <a:xfrm>
            <a:off x="5983224" y="5981700"/>
            <a:ext cx="575157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torial-desig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32</a:t>
            </a:r>
            <a:endParaRPr lang="zh-CN" sz="1350" dirty="0"/>
          </a:p>
        </p:txBody>
      </p:sp>
      <p:sp>
        <p:nvSpPr>
          <p:cNvPr id="3" name="factorial-desig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 因子、处理组合与分析</a:t>
            </a:r>
            <a:endParaRPr lang="zh-CN" sz="3150" dirty="0"/>
          </a:p>
        </p:txBody>
      </p:sp>
      <p:sp>
        <p:nvSpPr>
          <p:cNvPr id="4" name="factorial-desig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factorial-design/drawing/art-factors/e1"/>
          <p:cNvSpPr/>
          <p:nvPr/>
        </p:nvSpPr>
        <p:spPr>
          <a:xfrm>
            <a:off x="457200" y="1676400"/>
            <a:ext cx="586435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因素与水平组合</a:t>
            </a:r>
            <a:endParaRPr lang="zh-CN" sz="1800" dirty="0"/>
          </a:p>
        </p:txBody>
      </p:sp>
      <p:sp>
        <p:nvSpPr>
          <p:cNvPr id="6" name="factorial-design/drawing/art-factors/e2"/>
          <p:cNvSpPr/>
          <p:nvPr/>
        </p:nvSpPr>
        <p:spPr>
          <a:xfrm>
            <a:off x="457200" y="2105025"/>
            <a:ext cx="5864352" cy="775335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factorial-design/drawing/art-factors/e3"/>
          <p:cNvSpPr/>
          <p:nvPr/>
        </p:nvSpPr>
        <p:spPr>
          <a:xfrm>
            <a:off x="552450" y="234600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因子 1</a:t>
            </a:r>
            <a:endParaRPr lang="zh-CN" sz="1800" dirty="0"/>
          </a:p>
        </p:txBody>
      </p:sp>
      <p:sp>
        <p:nvSpPr>
          <p:cNvPr id="8" name="factorial-design/drawing/art-factors/e4"/>
          <p:cNvSpPr/>
          <p:nvPr/>
        </p:nvSpPr>
        <p:spPr>
          <a:xfrm>
            <a:off x="2507234" y="234600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因子 2</a:t>
            </a:r>
            <a:endParaRPr lang="zh-CN" sz="1800" dirty="0"/>
          </a:p>
        </p:txBody>
      </p:sp>
      <p:sp>
        <p:nvSpPr>
          <p:cNvPr id="9" name="factorial-design/drawing/art-factors/e5"/>
          <p:cNvSpPr/>
          <p:nvPr/>
        </p:nvSpPr>
        <p:spPr>
          <a:xfrm>
            <a:off x="4462018" y="234600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组别</a:t>
            </a:r>
            <a:endParaRPr lang="zh-CN" sz="1800" dirty="0"/>
          </a:p>
        </p:txBody>
      </p:sp>
      <p:sp>
        <p:nvSpPr>
          <p:cNvPr id="10" name="factorial-design/drawing/art-factors/e6/segment-1"/>
          <p:cNvSpPr/>
          <p:nvPr/>
        </p:nvSpPr>
        <p:spPr>
          <a:xfrm>
            <a:off x="457200" y="2880360"/>
            <a:ext cx="586435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1" name="factorial-design/drawing/art-factors/e7"/>
          <p:cNvSpPr/>
          <p:nvPr/>
        </p:nvSpPr>
        <p:spPr>
          <a:xfrm>
            <a:off x="457200" y="2880360"/>
            <a:ext cx="5864352" cy="775335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factorial-design/drawing/art-factors/e8"/>
          <p:cNvSpPr/>
          <p:nvPr/>
        </p:nvSpPr>
        <p:spPr>
          <a:xfrm>
            <a:off x="552450" y="3121343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</a:t>
            </a:r>
            <a:endParaRPr lang="zh-CN" sz="1800" dirty="0"/>
          </a:p>
        </p:txBody>
      </p:sp>
      <p:sp>
        <p:nvSpPr>
          <p:cNvPr id="13" name="factorial-design/drawing/art-factors/e9"/>
          <p:cNvSpPr/>
          <p:nvPr/>
        </p:nvSpPr>
        <p:spPr>
          <a:xfrm>
            <a:off x="2507234" y="3121343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</a:t>
            </a:r>
            <a:endParaRPr lang="zh-CN" sz="1800" dirty="0"/>
          </a:p>
        </p:txBody>
      </p:sp>
      <p:sp>
        <p:nvSpPr>
          <p:cNvPr id="14" name="factorial-design/drawing/art-factors/e10"/>
          <p:cNvSpPr/>
          <p:nvPr/>
        </p:nvSpPr>
        <p:spPr>
          <a:xfrm>
            <a:off x="4462018" y="3121343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zh-CN" sz="1800" dirty="0"/>
          </a:p>
        </p:txBody>
      </p:sp>
      <p:sp>
        <p:nvSpPr>
          <p:cNvPr id="15" name="factorial-design/drawing/art-factors/e11/segment-1"/>
          <p:cNvSpPr/>
          <p:nvPr/>
        </p:nvSpPr>
        <p:spPr>
          <a:xfrm>
            <a:off x="457200" y="3655695"/>
            <a:ext cx="586435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6" name="factorial-design/drawing/art-factors/e12"/>
          <p:cNvSpPr/>
          <p:nvPr/>
        </p:nvSpPr>
        <p:spPr>
          <a:xfrm>
            <a:off x="457200" y="3655695"/>
            <a:ext cx="5864352" cy="77533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actorial-design/drawing/art-factors/e13"/>
          <p:cNvSpPr/>
          <p:nvPr/>
        </p:nvSpPr>
        <p:spPr>
          <a:xfrm>
            <a:off x="552450" y="389667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</a:t>
            </a:r>
            <a:endParaRPr lang="zh-CN" sz="1800" dirty="0"/>
          </a:p>
        </p:txBody>
      </p:sp>
      <p:sp>
        <p:nvSpPr>
          <p:cNvPr id="18" name="factorial-design/drawing/art-factors/e14"/>
          <p:cNvSpPr/>
          <p:nvPr/>
        </p:nvSpPr>
        <p:spPr>
          <a:xfrm>
            <a:off x="2507234" y="389667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zh-CN" sz="1800" dirty="0"/>
          </a:p>
        </p:txBody>
      </p:sp>
      <p:sp>
        <p:nvSpPr>
          <p:cNvPr id="19" name="factorial-design/drawing/art-factors/e15"/>
          <p:cNvSpPr/>
          <p:nvPr/>
        </p:nvSpPr>
        <p:spPr>
          <a:xfrm>
            <a:off x="4462018" y="389667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zh-CN" sz="1800" dirty="0"/>
          </a:p>
        </p:txBody>
      </p:sp>
      <p:sp>
        <p:nvSpPr>
          <p:cNvPr id="20" name="factorial-design/drawing/art-factors/e16/segment-1"/>
          <p:cNvSpPr/>
          <p:nvPr/>
        </p:nvSpPr>
        <p:spPr>
          <a:xfrm>
            <a:off x="457200" y="4431030"/>
            <a:ext cx="586435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1" name="factorial-design/drawing/art-factors/e17"/>
          <p:cNvSpPr/>
          <p:nvPr/>
        </p:nvSpPr>
        <p:spPr>
          <a:xfrm>
            <a:off x="457200" y="4431030"/>
            <a:ext cx="5864352" cy="775335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factorial-design/drawing/art-factors/e18"/>
          <p:cNvSpPr/>
          <p:nvPr/>
        </p:nvSpPr>
        <p:spPr>
          <a:xfrm>
            <a:off x="552450" y="4672013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zh-CN" sz="1800" dirty="0"/>
          </a:p>
        </p:txBody>
      </p:sp>
      <p:sp>
        <p:nvSpPr>
          <p:cNvPr id="23" name="factorial-design/drawing/art-factors/e19"/>
          <p:cNvSpPr/>
          <p:nvPr/>
        </p:nvSpPr>
        <p:spPr>
          <a:xfrm>
            <a:off x="2507234" y="4672013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</a:t>
            </a:r>
            <a:endParaRPr lang="zh-CN" sz="1800" dirty="0"/>
          </a:p>
        </p:txBody>
      </p:sp>
      <p:sp>
        <p:nvSpPr>
          <p:cNvPr id="24" name="factorial-design/drawing/art-factors/e20"/>
          <p:cNvSpPr/>
          <p:nvPr/>
        </p:nvSpPr>
        <p:spPr>
          <a:xfrm>
            <a:off x="4462018" y="4672013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zh-CN" sz="1800" dirty="0"/>
          </a:p>
        </p:txBody>
      </p:sp>
      <p:sp>
        <p:nvSpPr>
          <p:cNvPr id="25" name="factorial-design/drawing/art-factors/e21/segment-1"/>
          <p:cNvSpPr/>
          <p:nvPr/>
        </p:nvSpPr>
        <p:spPr>
          <a:xfrm>
            <a:off x="457200" y="5206365"/>
            <a:ext cx="586435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6" name="factorial-design/drawing/art-factors/e22"/>
          <p:cNvSpPr/>
          <p:nvPr/>
        </p:nvSpPr>
        <p:spPr>
          <a:xfrm>
            <a:off x="457200" y="5206365"/>
            <a:ext cx="5864352" cy="77533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factorial-design/drawing/art-factors/e23"/>
          <p:cNvSpPr/>
          <p:nvPr/>
        </p:nvSpPr>
        <p:spPr>
          <a:xfrm>
            <a:off x="552450" y="544734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zh-CN" sz="1800" dirty="0"/>
          </a:p>
        </p:txBody>
      </p:sp>
      <p:sp>
        <p:nvSpPr>
          <p:cNvPr id="28" name="factorial-design/drawing/art-factors/e24"/>
          <p:cNvSpPr/>
          <p:nvPr/>
        </p:nvSpPr>
        <p:spPr>
          <a:xfrm>
            <a:off x="2507234" y="544734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zh-CN" sz="1800" dirty="0"/>
          </a:p>
        </p:txBody>
      </p:sp>
      <p:sp>
        <p:nvSpPr>
          <p:cNvPr id="29" name="factorial-design/drawing/art-factors/e25"/>
          <p:cNvSpPr/>
          <p:nvPr/>
        </p:nvSpPr>
        <p:spPr>
          <a:xfrm>
            <a:off x="4462018" y="5447348"/>
            <a:ext cx="176428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</a:t>
            </a:r>
            <a:endParaRPr lang="zh-CN" sz="1800" dirty="0"/>
          </a:p>
        </p:txBody>
      </p:sp>
      <p:sp>
        <p:nvSpPr>
          <p:cNvPr id="30" name="factorial-design/drawing/art-factors/e26/segment-1"/>
          <p:cNvSpPr/>
          <p:nvPr/>
        </p:nvSpPr>
        <p:spPr>
          <a:xfrm>
            <a:off x="457200" y="5981700"/>
            <a:ext cx="586435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1" name="factorial-design/drawing/art-allocation/e1"/>
          <p:cNvSpPr/>
          <p:nvPr/>
        </p:nvSpPr>
        <p:spPr>
          <a:xfrm>
            <a:off x="6772656" y="1676400"/>
            <a:ext cx="496214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处理分配与分析</a:t>
            </a:r>
            <a:endParaRPr lang="zh-CN" sz="1800" dirty="0"/>
          </a:p>
        </p:txBody>
      </p:sp>
      <p:sp>
        <p:nvSpPr>
          <p:cNvPr id="32" name="factorial-design/drawing/art-allocation/e2"/>
          <p:cNvSpPr/>
          <p:nvPr/>
        </p:nvSpPr>
        <p:spPr>
          <a:xfrm>
            <a:off x="8559028" y="2200275"/>
            <a:ext cx="13894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3" name="factorial-design/drawing/art-allocation/e3"/>
          <p:cNvSpPr/>
          <p:nvPr/>
        </p:nvSpPr>
        <p:spPr>
          <a:xfrm>
            <a:off x="8559028" y="2200275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factorial-design/drawing/art-allocation/e4"/>
          <p:cNvSpPr/>
          <p:nvPr/>
        </p:nvSpPr>
        <p:spPr>
          <a:xfrm>
            <a:off x="8692378" y="2358390"/>
            <a:ext cx="11417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共同样本</a:t>
            </a:r>
            <a:endParaRPr lang="zh-CN" sz="1800" dirty="0"/>
          </a:p>
        </p:txBody>
      </p:sp>
      <p:sp>
        <p:nvSpPr>
          <p:cNvPr id="35" name="factorial-design/drawing/art-allocation/e5"/>
          <p:cNvSpPr/>
          <p:nvPr/>
        </p:nvSpPr>
        <p:spPr>
          <a:xfrm>
            <a:off x="7058406" y="3648075"/>
            <a:ext cx="13894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6" name="factorial-design/drawing/art-allocation/e6"/>
          <p:cNvSpPr/>
          <p:nvPr/>
        </p:nvSpPr>
        <p:spPr>
          <a:xfrm>
            <a:off x="7058406" y="3648075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factorial-design/drawing/art-allocation/e7"/>
          <p:cNvSpPr/>
          <p:nvPr/>
        </p:nvSpPr>
        <p:spPr>
          <a:xfrm>
            <a:off x="7191756" y="3806190"/>
            <a:ext cx="11417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A</a:t>
            </a:r>
            <a:endParaRPr lang="zh-CN" sz="1800" dirty="0"/>
          </a:p>
        </p:txBody>
      </p:sp>
      <p:sp>
        <p:nvSpPr>
          <p:cNvPr id="38" name="factorial-design/drawing/art-allocation/e8"/>
          <p:cNvSpPr/>
          <p:nvPr/>
        </p:nvSpPr>
        <p:spPr>
          <a:xfrm>
            <a:off x="10059650" y="3648075"/>
            <a:ext cx="13894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9" name="factorial-design/drawing/art-allocation/e9"/>
          <p:cNvSpPr/>
          <p:nvPr/>
        </p:nvSpPr>
        <p:spPr>
          <a:xfrm>
            <a:off x="10059650" y="3648075"/>
            <a:ext cx="47625" cy="6096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factorial-design/drawing/art-allocation/e10"/>
          <p:cNvSpPr/>
          <p:nvPr/>
        </p:nvSpPr>
        <p:spPr>
          <a:xfrm>
            <a:off x="10193000" y="3806190"/>
            <a:ext cx="11417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B</a:t>
            </a:r>
            <a:endParaRPr lang="zh-CN" sz="1800" dirty="0"/>
          </a:p>
        </p:txBody>
      </p:sp>
      <p:sp>
        <p:nvSpPr>
          <p:cNvPr id="41" name="factorial-design/drawing/art-allocation/e11"/>
          <p:cNvSpPr/>
          <p:nvPr/>
        </p:nvSpPr>
        <p:spPr>
          <a:xfrm>
            <a:off x="8559028" y="5372100"/>
            <a:ext cx="13894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42" name="factorial-design/drawing/art-allocation/e12"/>
          <p:cNvSpPr/>
          <p:nvPr/>
        </p:nvSpPr>
        <p:spPr>
          <a:xfrm>
            <a:off x="8559028" y="5372100"/>
            <a:ext cx="47625" cy="6096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factorial-design/drawing/art-allocation/e13"/>
          <p:cNvSpPr/>
          <p:nvPr/>
        </p:nvSpPr>
        <p:spPr>
          <a:xfrm>
            <a:off x="8692378" y="5530215"/>
            <a:ext cx="11417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共同评估</a:t>
            </a:r>
            <a:endParaRPr lang="zh-CN" sz="1800" dirty="0"/>
          </a:p>
        </p:txBody>
      </p:sp>
      <p:sp>
        <p:nvSpPr>
          <p:cNvPr id="44" name="factorial-design/drawing/art-allocation/e14/segment-1"/>
          <p:cNvSpPr/>
          <p:nvPr/>
        </p:nvSpPr>
        <p:spPr>
          <a:xfrm>
            <a:off x="9253728" y="2809875"/>
            <a:ext cx="0" cy="17145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45" name="factorial-design/drawing/art-allocation/e14/segment-2"/>
          <p:cNvSpPr/>
          <p:nvPr/>
        </p:nvSpPr>
        <p:spPr>
          <a:xfrm flipH="1">
            <a:off x="7753106" y="2981325"/>
            <a:ext cx="1500622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46" name="factorial-design/drawing/art-allocation/e14/segment-3"/>
          <p:cNvSpPr/>
          <p:nvPr/>
        </p:nvSpPr>
        <p:spPr>
          <a:xfrm>
            <a:off x="7753106" y="2981325"/>
            <a:ext cx="0" cy="6096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47" name="factorial-design/drawing/art-allocation/e15/segment-1"/>
          <p:cNvSpPr/>
          <p:nvPr/>
        </p:nvSpPr>
        <p:spPr>
          <a:xfrm>
            <a:off x="9253728" y="2981325"/>
            <a:ext cx="1500622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48" name="factorial-design/drawing/art-allocation/e15/segment-2"/>
          <p:cNvSpPr/>
          <p:nvPr/>
        </p:nvSpPr>
        <p:spPr>
          <a:xfrm>
            <a:off x="10754350" y="2981325"/>
            <a:ext cx="0" cy="6096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49" name="factorial-design/drawing/art-allocation/e16/segment-1"/>
          <p:cNvSpPr/>
          <p:nvPr/>
        </p:nvSpPr>
        <p:spPr>
          <a:xfrm>
            <a:off x="7753106" y="4257675"/>
            <a:ext cx="0" cy="96202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50" name="factorial-design/drawing/art-allocation/e16/segment-2"/>
          <p:cNvSpPr/>
          <p:nvPr/>
        </p:nvSpPr>
        <p:spPr>
          <a:xfrm>
            <a:off x="7753106" y="5219700"/>
            <a:ext cx="1500622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51" name="factorial-design/drawing/art-allocation/e16/segment-3"/>
          <p:cNvSpPr/>
          <p:nvPr/>
        </p:nvSpPr>
        <p:spPr>
          <a:xfrm>
            <a:off x="9253728" y="5219700"/>
            <a:ext cx="0" cy="10477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52" name="factorial-design/drawing/art-allocation/e17/segment-1"/>
          <p:cNvSpPr/>
          <p:nvPr/>
        </p:nvSpPr>
        <p:spPr>
          <a:xfrm>
            <a:off x="10754350" y="4257675"/>
            <a:ext cx="0" cy="96202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53" name="factorial-design/drawing/art-allocation/e17/segment-2"/>
          <p:cNvSpPr/>
          <p:nvPr/>
        </p:nvSpPr>
        <p:spPr>
          <a:xfrm flipH="1">
            <a:off x="9253728" y="5219700"/>
            <a:ext cx="1500622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chanism-proof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32</a:t>
            </a:r>
            <a:endParaRPr lang="zh-CN" sz="1350" dirty="0"/>
          </a:p>
        </p:txBody>
      </p:sp>
      <p:sp>
        <p:nvSpPr>
          <p:cNvPr id="3" name="mechanism-proof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 机制与支持证据</a:t>
            </a:r>
            <a:endParaRPr lang="zh-CN" sz="3150" dirty="0"/>
          </a:p>
        </p:txBody>
      </p:sp>
      <p:sp>
        <p:nvSpPr>
          <p:cNvPr id="4" name="mechanism-proof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mechanism-proof/drawing/art-mechanism/e1"/>
          <p:cNvSpPr/>
          <p:nvPr/>
        </p:nvSpPr>
        <p:spPr>
          <a:xfrm>
            <a:off x="457200" y="1676400"/>
            <a:ext cx="56388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输入、作用与结果</a:t>
            </a:r>
            <a:endParaRPr lang="zh-CN" sz="1800" dirty="0"/>
          </a:p>
        </p:txBody>
      </p:sp>
      <p:sp>
        <p:nvSpPr>
          <p:cNvPr id="6" name="mechanism-proof/drawing/art-mechanism/e2"/>
          <p:cNvSpPr/>
          <p:nvPr/>
        </p:nvSpPr>
        <p:spPr>
          <a:xfrm>
            <a:off x="457200" y="2979420"/>
            <a:ext cx="16637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mechanism-proof/drawing/art-mechanism/e3"/>
          <p:cNvSpPr/>
          <p:nvPr/>
        </p:nvSpPr>
        <p:spPr>
          <a:xfrm>
            <a:off x="457200" y="2979420"/>
            <a:ext cx="47625" cy="8191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mechanism-proof/drawing/art-mechanism/e4"/>
          <p:cNvSpPr/>
          <p:nvPr/>
        </p:nvSpPr>
        <p:spPr>
          <a:xfrm>
            <a:off x="590550" y="3242310"/>
            <a:ext cx="14160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输入数据</a:t>
            </a:r>
            <a:endParaRPr lang="zh-CN" sz="1800" dirty="0"/>
          </a:p>
        </p:txBody>
      </p:sp>
      <p:sp>
        <p:nvSpPr>
          <p:cNvPr id="9" name="mechanism-proof/drawing/art-mechanism/e5"/>
          <p:cNvSpPr/>
          <p:nvPr/>
        </p:nvSpPr>
        <p:spPr>
          <a:xfrm>
            <a:off x="2444750" y="2979420"/>
            <a:ext cx="16637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mechanism-proof/drawing/art-mechanism/e6"/>
          <p:cNvSpPr/>
          <p:nvPr/>
        </p:nvSpPr>
        <p:spPr>
          <a:xfrm>
            <a:off x="2444750" y="2979420"/>
            <a:ext cx="47625" cy="8191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mechanism-proof/drawing/art-mechanism/e7"/>
          <p:cNvSpPr/>
          <p:nvPr/>
        </p:nvSpPr>
        <p:spPr>
          <a:xfrm>
            <a:off x="2578100" y="3242310"/>
            <a:ext cx="14160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模型推断</a:t>
            </a:r>
            <a:endParaRPr lang="zh-CN" sz="1800" dirty="0"/>
          </a:p>
        </p:txBody>
      </p:sp>
      <p:sp>
        <p:nvSpPr>
          <p:cNvPr id="12" name="mechanism-proof/drawing/art-mechanism/e8"/>
          <p:cNvSpPr/>
          <p:nvPr/>
        </p:nvSpPr>
        <p:spPr>
          <a:xfrm>
            <a:off x="4432300" y="2979420"/>
            <a:ext cx="16637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mechanism-proof/drawing/art-mechanism/e9"/>
          <p:cNvSpPr/>
          <p:nvPr/>
        </p:nvSpPr>
        <p:spPr>
          <a:xfrm>
            <a:off x="4432300" y="2979420"/>
            <a:ext cx="47625" cy="8191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mechanism-proof/drawing/art-mechanism/e10"/>
          <p:cNvSpPr/>
          <p:nvPr/>
        </p:nvSpPr>
        <p:spPr>
          <a:xfrm>
            <a:off x="4565650" y="3242310"/>
            <a:ext cx="14160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独立验证</a:t>
            </a:r>
            <a:endParaRPr lang="zh-CN" sz="1800" dirty="0"/>
          </a:p>
        </p:txBody>
      </p:sp>
      <p:sp>
        <p:nvSpPr>
          <p:cNvPr id="15" name="mechanism-proof/drawing/art-mechanism/e11/segment-1"/>
          <p:cNvSpPr/>
          <p:nvPr/>
        </p:nvSpPr>
        <p:spPr>
          <a:xfrm>
            <a:off x="2168525" y="3388995"/>
            <a:ext cx="20955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6" name="mechanism-proof/drawing/art-mechanism/e12/segment-1"/>
          <p:cNvSpPr/>
          <p:nvPr/>
        </p:nvSpPr>
        <p:spPr>
          <a:xfrm>
            <a:off x="4156075" y="3388995"/>
            <a:ext cx="20955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7" name="mechanism-proof/drawing/art-mechanism/e13"/>
          <p:cNvSpPr/>
          <p:nvPr/>
        </p:nvSpPr>
        <p:spPr>
          <a:xfrm>
            <a:off x="457200" y="2550795"/>
            <a:ext cx="16637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zh-CN" sz="1800" dirty="0"/>
          </a:p>
        </p:txBody>
      </p:sp>
      <p:sp>
        <p:nvSpPr>
          <p:cNvPr id="18" name="mechanism-proof/drawing/art-mechanism/e14"/>
          <p:cNvSpPr/>
          <p:nvPr/>
        </p:nvSpPr>
        <p:spPr>
          <a:xfrm>
            <a:off x="2444750" y="2550795"/>
            <a:ext cx="16637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变换</a:t>
            </a:r>
            <a:endParaRPr lang="zh-CN" sz="1800" dirty="0"/>
          </a:p>
        </p:txBody>
      </p:sp>
      <p:sp>
        <p:nvSpPr>
          <p:cNvPr id="19" name="mechanism-proof/drawing/art-mechanism/e15"/>
          <p:cNvSpPr/>
          <p:nvPr/>
        </p:nvSpPr>
        <p:spPr>
          <a:xfrm>
            <a:off x="4432300" y="2550795"/>
            <a:ext cx="16637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检验</a:t>
            </a:r>
            <a:endParaRPr lang="zh-CN" sz="1800" dirty="0"/>
          </a:p>
        </p:txBody>
      </p:sp>
      <p:sp>
        <p:nvSpPr>
          <p:cNvPr id="20" name="mechanism-proof/drawing/art-proof/e1"/>
          <p:cNvSpPr/>
          <p:nvPr/>
        </p:nvSpPr>
        <p:spPr>
          <a:xfrm>
            <a:off x="6547104" y="1676400"/>
            <a:ext cx="518769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支持或约束该机制的证据（形态示意）</a:t>
            </a:r>
            <a:endParaRPr lang="zh-CN" sz="1800" dirty="0"/>
          </a:p>
        </p:txBody>
      </p:sp>
      <p:sp>
        <p:nvSpPr>
          <p:cNvPr id="21" name="mechanism-proof/drawing/art-proof/e2/segment-1"/>
          <p:cNvSpPr/>
          <p:nvPr/>
        </p:nvSpPr>
        <p:spPr>
          <a:xfrm>
            <a:off x="7080504" y="2266950"/>
            <a:ext cx="440664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2" name="mechanism-proof/drawing/art-proof/e3/segment-1"/>
          <p:cNvSpPr/>
          <p:nvPr/>
        </p:nvSpPr>
        <p:spPr>
          <a:xfrm>
            <a:off x="7080504" y="3018155"/>
            <a:ext cx="440664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3" name="mechanism-proof/drawing/art-proof/e4/segment-1"/>
          <p:cNvSpPr/>
          <p:nvPr/>
        </p:nvSpPr>
        <p:spPr>
          <a:xfrm>
            <a:off x="7080504" y="3769360"/>
            <a:ext cx="440664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4" name="mechanism-proof/drawing/art-proof/e5/segment-1"/>
          <p:cNvSpPr/>
          <p:nvPr/>
        </p:nvSpPr>
        <p:spPr>
          <a:xfrm>
            <a:off x="7080504" y="4520565"/>
            <a:ext cx="440664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5" name="mechanism-proof/drawing/art-proof/e6/segment-1"/>
          <p:cNvSpPr/>
          <p:nvPr/>
        </p:nvSpPr>
        <p:spPr>
          <a:xfrm>
            <a:off x="7080504" y="2266950"/>
            <a:ext cx="0" cy="2253615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26" name="mechanism-proof/drawing/art-proof/e6/segment-2"/>
          <p:cNvSpPr/>
          <p:nvPr/>
        </p:nvSpPr>
        <p:spPr>
          <a:xfrm>
            <a:off x="7080504" y="4520565"/>
            <a:ext cx="440664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27" name="mechanism-proof/drawing/art-proof/e7/segment-1"/>
          <p:cNvSpPr/>
          <p:nvPr/>
        </p:nvSpPr>
        <p:spPr>
          <a:xfrm flipV="1">
            <a:off x="7080504" y="3619119"/>
            <a:ext cx="1101661" cy="270434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28" name="mechanism-proof/drawing/art-proof/e7/segment-2"/>
          <p:cNvSpPr/>
          <p:nvPr/>
        </p:nvSpPr>
        <p:spPr>
          <a:xfrm>
            <a:off x="8182165" y="3619119"/>
            <a:ext cx="1101662" cy="22536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29" name="mechanism-proof/drawing/art-proof/e7/segment-3"/>
          <p:cNvSpPr/>
          <p:nvPr/>
        </p:nvSpPr>
        <p:spPr>
          <a:xfrm flipV="1">
            <a:off x="9283827" y="3168396"/>
            <a:ext cx="1101662" cy="473259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30" name="mechanism-proof/drawing/art-proof/e7/segment-4"/>
          <p:cNvSpPr/>
          <p:nvPr/>
        </p:nvSpPr>
        <p:spPr>
          <a:xfrm flipV="1">
            <a:off x="10385489" y="2988107"/>
            <a:ext cx="1101661" cy="180289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31" name="mechanism-proof/drawing/art-proof/e8"/>
          <p:cNvSpPr/>
          <p:nvPr/>
        </p:nvSpPr>
        <p:spPr>
          <a:xfrm>
            <a:off x="7042404" y="385145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mechanism-proof/drawing/art-proof/e9"/>
          <p:cNvSpPr/>
          <p:nvPr/>
        </p:nvSpPr>
        <p:spPr>
          <a:xfrm>
            <a:off x="8144066" y="358101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mechanism-proof/drawing/art-proof/e10"/>
          <p:cNvSpPr/>
          <p:nvPr/>
        </p:nvSpPr>
        <p:spPr>
          <a:xfrm>
            <a:off x="9245727" y="360355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mechanism-proof/drawing/art-proof/e11"/>
          <p:cNvSpPr/>
          <p:nvPr/>
        </p:nvSpPr>
        <p:spPr>
          <a:xfrm>
            <a:off x="10347389" y="313029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mechanism-proof/drawing/art-proof/e12"/>
          <p:cNvSpPr/>
          <p:nvPr/>
        </p:nvSpPr>
        <p:spPr>
          <a:xfrm>
            <a:off x="11449050" y="2950007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mechanism-proof/drawing/art-proof/e13/segment-1"/>
          <p:cNvSpPr/>
          <p:nvPr/>
        </p:nvSpPr>
        <p:spPr>
          <a:xfrm>
            <a:off x="7080504" y="3168396"/>
            <a:ext cx="1101661" cy="225362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7" name="mechanism-proof/drawing/art-proof/e13/segment-2"/>
          <p:cNvSpPr/>
          <p:nvPr/>
        </p:nvSpPr>
        <p:spPr>
          <a:xfrm flipV="1">
            <a:off x="8182165" y="3326149"/>
            <a:ext cx="1101662" cy="67608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8" name="mechanism-proof/drawing/art-proof/e13/segment-3"/>
          <p:cNvSpPr/>
          <p:nvPr/>
        </p:nvSpPr>
        <p:spPr>
          <a:xfrm>
            <a:off x="9283827" y="3326149"/>
            <a:ext cx="1101662" cy="338042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9" name="mechanism-proof/drawing/art-proof/e13/segment-4"/>
          <p:cNvSpPr/>
          <p:nvPr/>
        </p:nvSpPr>
        <p:spPr>
          <a:xfrm flipV="1">
            <a:off x="10385489" y="3506438"/>
            <a:ext cx="1101661" cy="157753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40" name="mechanism-proof/drawing/art-proof/e14"/>
          <p:cNvSpPr/>
          <p:nvPr/>
        </p:nvSpPr>
        <p:spPr>
          <a:xfrm>
            <a:off x="7042404" y="313029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mechanism-proof/drawing/art-proof/e15"/>
          <p:cNvSpPr/>
          <p:nvPr/>
        </p:nvSpPr>
        <p:spPr>
          <a:xfrm>
            <a:off x="8144066" y="335565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mechanism-proof/drawing/art-proof/e16"/>
          <p:cNvSpPr/>
          <p:nvPr/>
        </p:nvSpPr>
        <p:spPr>
          <a:xfrm>
            <a:off x="9245727" y="3288049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mechanism-proof/drawing/art-proof/e17"/>
          <p:cNvSpPr/>
          <p:nvPr/>
        </p:nvSpPr>
        <p:spPr>
          <a:xfrm>
            <a:off x="10347389" y="3626091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mechanism-proof/drawing/art-proof/e18"/>
          <p:cNvSpPr/>
          <p:nvPr/>
        </p:nvSpPr>
        <p:spPr>
          <a:xfrm>
            <a:off x="11449050" y="346833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mechanism-proof/drawing/art-proof/e19"/>
          <p:cNvSpPr/>
          <p:nvPr/>
        </p:nvSpPr>
        <p:spPr>
          <a:xfrm>
            <a:off x="7080504" y="4653915"/>
            <a:ext cx="440664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46" name="mechanism-proof/drawing/art-limits/e1"/>
          <p:cNvSpPr/>
          <p:nvPr/>
        </p:nvSpPr>
        <p:spPr>
          <a:xfrm>
            <a:off x="457200" y="5269230"/>
            <a:ext cx="47625" cy="78867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mechanism-proof/drawing/art-limits/e2"/>
          <p:cNvSpPr/>
          <p:nvPr/>
        </p:nvSpPr>
        <p:spPr>
          <a:xfrm>
            <a:off x="628650" y="5492115"/>
            <a:ext cx="110109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因果与外推边界：相关性支持与因果解释分别陈述。</a:t>
            </a:r>
            <a:endParaRPr lang="zh-CN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quation-interpretatio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/ 32</a:t>
            </a:r>
            <a:endParaRPr lang="zh-CN" sz="1350" dirty="0"/>
          </a:p>
        </p:txBody>
      </p:sp>
      <p:sp>
        <p:nvSpPr>
          <p:cNvPr id="3" name="equation-interpretatio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 公式、符号与成立条件</a:t>
            </a:r>
            <a:endParaRPr lang="zh-CN" sz="3150" dirty="0"/>
          </a:p>
        </p:txBody>
      </p:sp>
      <p:sp>
        <p:nvSpPr>
          <p:cNvPr id="4" name="equation-interpretatio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equation-interpretation/drawing/art-equation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概念表达式示意</a:t>
            </a:r>
            <a:endParaRPr lang="zh-CN" sz="1800" dirty="0"/>
          </a:p>
        </p:txBody>
      </p:sp>
      <p:sp>
        <p:nvSpPr>
          <p:cNvPr id="6" name="equation-interpretation/drawing/art-equation/e2"/>
          <p:cNvSpPr/>
          <p:nvPr/>
        </p:nvSpPr>
        <p:spPr>
          <a:xfrm>
            <a:off x="457200" y="2232660"/>
            <a:ext cx="11277600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zh-CN" altLang="en-US" sz="315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更新状态 = 预测状态 + 校正项</a:t>
            </a:r>
            <a:endParaRPr lang="zh-CN" sz="3150" dirty="0"/>
          </a:p>
        </p:txBody>
      </p:sp>
      <p:sp>
        <p:nvSpPr>
          <p:cNvPr id="7" name="equation-interpretation/drawing/art-symbols/e1"/>
          <p:cNvSpPr/>
          <p:nvPr/>
        </p:nvSpPr>
        <p:spPr>
          <a:xfrm>
            <a:off x="457200" y="3648075"/>
            <a:ext cx="676656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变量、单位与含义</a:t>
            </a:r>
            <a:endParaRPr lang="zh-CN" sz="1800" dirty="0"/>
          </a:p>
        </p:txBody>
      </p:sp>
      <p:sp>
        <p:nvSpPr>
          <p:cNvPr id="8" name="equation-interpretation/drawing/art-symbols/e2"/>
          <p:cNvSpPr/>
          <p:nvPr/>
        </p:nvSpPr>
        <p:spPr>
          <a:xfrm>
            <a:off x="457200" y="4076700"/>
            <a:ext cx="6766560" cy="6350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quation-interpretation/drawing/art-symbols/e3"/>
          <p:cNvSpPr/>
          <p:nvPr/>
        </p:nvSpPr>
        <p:spPr>
          <a:xfrm>
            <a:off x="552450" y="4247515"/>
            <a:ext cx="31927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符号</a:t>
            </a:r>
            <a:endParaRPr lang="zh-CN" sz="1800" dirty="0"/>
          </a:p>
        </p:txBody>
      </p:sp>
      <p:sp>
        <p:nvSpPr>
          <p:cNvPr id="10" name="equation-interpretation/drawing/art-symbols/e4"/>
          <p:cNvSpPr/>
          <p:nvPr/>
        </p:nvSpPr>
        <p:spPr>
          <a:xfrm>
            <a:off x="3935730" y="4247515"/>
            <a:ext cx="31927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</a:t>
            </a:r>
            <a:endParaRPr lang="zh-CN" sz="1800" dirty="0"/>
          </a:p>
        </p:txBody>
      </p:sp>
      <p:sp>
        <p:nvSpPr>
          <p:cNvPr id="11" name="equation-interpretation/drawing/art-symbols/e5/segment-1"/>
          <p:cNvSpPr/>
          <p:nvPr/>
        </p:nvSpPr>
        <p:spPr>
          <a:xfrm>
            <a:off x="457200" y="4711700"/>
            <a:ext cx="676656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2" name="equation-interpretation/drawing/art-symbols/e6"/>
          <p:cNvSpPr/>
          <p:nvPr/>
        </p:nvSpPr>
        <p:spPr>
          <a:xfrm>
            <a:off x="457200" y="4711700"/>
            <a:ext cx="6766560" cy="635000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quation-interpretation/drawing/art-symbols/e7"/>
          <p:cNvSpPr/>
          <p:nvPr/>
        </p:nvSpPr>
        <p:spPr>
          <a:xfrm>
            <a:off x="552450" y="4882515"/>
            <a:ext cx="31927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</a:t>
            </a:r>
            <a:endParaRPr lang="zh-CN" sz="1800" dirty="0"/>
          </a:p>
        </p:txBody>
      </p:sp>
      <p:sp>
        <p:nvSpPr>
          <p:cNvPr id="14" name="equation-interpretation/drawing/art-symbols/e8"/>
          <p:cNvSpPr/>
          <p:nvPr/>
        </p:nvSpPr>
        <p:spPr>
          <a:xfrm>
            <a:off x="3935730" y="4882515"/>
            <a:ext cx="31927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模型输出</a:t>
            </a:r>
            <a:endParaRPr lang="zh-CN" sz="1800" dirty="0"/>
          </a:p>
        </p:txBody>
      </p:sp>
      <p:sp>
        <p:nvSpPr>
          <p:cNvPr id="15" name="equation-interpretation/drawing/art-symbols/e9/segment-1"/>
          <p:cNvSpPr/>
          <p:nvPr/>
        </p:nvSpPr>
        <p:spPr>
          <a:xfrm>
            <a:off x="457200" y="5346700"/>
            <a:ext cx="676656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6" name="equation-interpretation/drawing/art-symbols/e10"/>
          <p:cNvSpPr/>
          <p:nvPr/>
        </p:nvSpPr>
        <p:spPr>
          <a:xfrm>
            <a:off x="457200" y="5346700"/>
            <a:ext cx="676656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quation-interpretation/drawing/art-symbols/e11"/>
          <p:cNvSpPr/>
          <p:nvPr/>
        </p:nvSpPr>
        <p:spPr>
          <a:xfrm>
            <a:off x="552450" y="5517515"/>
            <a:ext cx="31927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校正</a:t>
            </a:r>
            <a:endParaRPr lang="zh-CN" sz="1800" dirty="0"/>
          </a:p>
        </p:txBody>
      </p:sp>
      <p:sp>
        <p:nvSpPr>
          <p:cNvPr id="18" name="equation-interpretation/drawing/art-symbols/e12"/>
          <p:cNvSpPr/>
          <p:nvPr/>
        </p:nvSpPr>
        <p:spPr>
          <a:xfrm>
            <a:off x="3935730" y="5517515"/>
            <a:ext cx="319278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观测约束</a:t>
            </a:r>
            <a:endParaRPr lang="zh-CN" sz="1800" dirty="0"/>
          </a:p>
        </p:txBody>
      </p:sp>
      <p:sp>
        <p:nvSpPr>
          <p:cNvPr id="19" name="equation-interpretation/drawing/art-symbols/e13/segment-1"/>
          <p:cNvSpPr/>
          <p:nvPr/>
        </p:nvSpPr>
        <p:spPr>
          <a:xfrm>
            <a:off x="457200" y="5981700"/>
            <a:ext cx="676656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0" name="equation-interpretation/drawing/art-assumptions/e1/segment-1"/>
          <p:cNvSpPr/>
          <p:nvPr/>
        </p:nvSpPr>
        <p:spPr>
          <a:xfrm>
            <a:off x="7674864" y="365760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1" name="equation-interpretation/drawing/art-assumptions/e2"/>
          <p:cNvSpPr/>
          <p:nvPr/>
        </p:nvSpPr>
        <p:spPr>
          <a:xfrm>
            <a:off x="7674864" y="3781425"/>
            <a:ext cx="40599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成立条件</a:t>
            </a:r>
            <a:endParaRPr lang="zh-CN" sz="1800" dirty="0"/>
          </a:p>
        </p:txBody>
      </p:sp>
      <p:sp>
        <p:nvSpPr>
          <p:cNvPr id="22" name="equation-interpretation/drawing/art-assumptions/e3"/>
          <p:cNvSpPr/>
          <p:nvPr/>
        </p:nvSpPr>
        <p:spPr>
          <a:xfrm>
            <a:off x="7674864" y="4112895"/>
            <a:ext cx="405993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保留假设、单位和适用范围。</a:t>
            </a:r>
            <a:endParaRPr lang="zh-CN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lation-study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/ 32</a:t>
            </a:r>
            <a:endParaRPr lang="zh-CN" sz="1350" dirty="0"/>
          </a:p>
        </p:txBody>
      </p:sp>
      <p:sp>
        <p:nvSpPr>
          <p:cNvPr id="3" name="ablation-study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 消融结果与干预定义</a:t>
            </a:r>
            <a:endParaRPr lang="zh-CN" sz="3150" dirty="0"/>
          </a:p>
        </p:txBody>
      </p:sp>
      <p:sp>
        <p:nvSpPr>
          <p:cNvPr id="4" name="ablation-study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ablation-study/drawing/art-effects/e1"/>
          <p:cNvSpPr/>
          <p:nvPr/>
        </p:nvSpPr>
        <p:spPr>
          <a:xfrm>
            <a:off x="457200" y="1676400"/>
            <a:ext cx="721766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合成消融数据，仅演示排列</a:t>
            </a:r>
            <a:endParaRPr lang="zh-CN" sz="1800" dirty="0"/>
          </a:p>
        </p:txBody>
      </p:sp>
      <p:sp>
        <p:nvSpPr>
          <p:cNvPr id="6" name="ablation-study/drawing/art-effects/e2/segment-1"/>
          <p:cNvSpPr/>
          <p:nvPr/>
        </p:nvSpPr>
        <p:spPr>
          <a:xfrm>
            <a:off x="1714500" y="2266950"/>
            <a:ext cx="0" cy="3267075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7" name="ablation-study/drawing/art-effects/e2/segment-2"/>
          <p:cNvSpPr/>
          <p:nvPr/>
        </p:nvSpPr>
        <p:spPr>
          <a:xfrm>
            <a:off x="1714500" y="5534025"/>
            <a:ext cx="5674614" cy="0"/>
          </a:xfrm>
          <a:prstGeom prst="line">
            <a:avLst/>
          </a:prstGeom>
          <a:noFill/>
          <a:ln w="19050">
            <a:solidFill>
              <a:srgbClr val="657887"/>
            </a:solidFill>
            <a:prstDash val="solid"/>
          </a:ln>
        </p:spPr>
      </p:sp>
      <p:sp>
        <p:nvSpPr>
          <p:cNvPr id="8" name="ablation-study/drawing/art-effects/e3/segment-1"/>
          <p:cNvSpPr/>
          <p:nvPr/>
        </p:nvSpPr>
        <p:spPr>
          <a:xfrm>
            <a:off x="1714500" y="2266950"/>
            <a:ext cx="0" cy="326707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9" name="ablation-study/drawing/art-effects/e4"/>
          <p:cNvSpPr/>
          <p:nvPr/>
        </p:nvSpPr>
        <p:spPr>
          <a:xfrm>
            <a:off x="1600200" y="5629275"/>
            <a:ext cx="3048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zh-CN" sz="1800" dirty="0"/>
          </a:p>
        </p:txBody>
      </p:sp>
      <p:sp>
        <p:nvSpPr>
          <p:cNvPr id="10" name="ablation-study/drawing/art-effects/e5/segment-1"/>
          <p:cNvSpPr/>
          <p:nvPr/>
        </p:nvSpPr>
        <p:spPr>
          <a:xfrm>
            <a:off x="3606038" y="2266950"/>
            <a:ext cx="0" cy="326707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1" name="ablation-study/drawing/art-effects/e6"/>
          <p:cNvSpPr/>
          <p:nvPr/>
        </p:nvSpPr>
        <p:spPr>
          <a:xfrm>
            <a:off x="3491738" y="5629275"/>
            <a:ext cx="3048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zh-CN" sz="1800" dirty="0"/>
          </a:p>
        </p:txBody>
      </p:sp>
      <p:sp>
        <p:nvSpPr>
          <p:cNvPr id="12" name="ablation-study/drawing/art-effects/e7/segment-1"/>
          <p:cNvSpPr/>
          <p:nvPr/>
        </p:nvSpPr>
        <p:spPr>
          <a:xfrm>
            <a:off x="5497576" y="2266950"/>
            <a:ext cx="0" cy="326707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3" name="ablation-study/drawing/art-effects/e8"/>
          <p:cNvSpPr/>
          <p:nvPr/>
        </p:nvSpPr>
        <p:spPr>
          <a:xfrm>
            <a:off x="5383276" y="5629275"/>
            <a:ext cx="3048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zh-CN" sz="1800" dirty="0"/>
          </a:p>
        </p:txBody>
      </p:sp>
      <p:sp>
        <p:nvSpPr>
          <p:cNvPr id="14" name="ablation-study/drawing/art-effects/e9/segment-1"/>
          <p:cNvSpPr/>
          <p:nvPr/>
        </p:nvSpPr>
        <p:spPr>
          <a:xfrm>
            <a:off x="7389114" y="2266950"/>
            <a:ext cx="0" cy="326707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5" name="ablation-study/drawing/art-effects/e10"/>
          <p:cNvSpPr/>
          <p:nvPr/>
        </p:nvSpPr>
        <p:spPr>
          <a:xfrm>
            <a:off x="7274814" y="5629275"/>
            <a:ext cx="3048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zh-CN" sz="1800" dirty="0"/>
          </a:p>
        </p:txBody>
      </p:sp>
      <p:sp>
        <p:nvSpPr>
          <p:cNvPr id="16" name="ablation-study/drawing/art-effects/e11"/>
          <p:cNvSpPr/>
          <p:nvPr/>
        </p:nvSpPr>
        <p:spPr>
          <a:xfrm>
            <a:off x="457200" y="2571877"/>
            <a:ext cx="1143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完整方法</a:t>
            </a:r>
            <a:endParaRPr lang="zh-CN" sz="1800" dirty="0"/>
          </a:p>
        </p:txBody>
      </p:sp>
      <p:sp>
        <p:nvSpPr>
          <p:cNvPr id="17" name="ablation-study/drawing/art-effects/e12"/>
          <p:cNvSpPr/>
          <p:nvPr/>
        </p:nvSpPr>
        <p:spPr>
          <a:xfrm>
            <a:off x="1733550" y="2590927"/>
            <a:ext cx="4312707" cy="266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ablation-study/drawing/art-effects/e13"/>
          <p:cNvSpPr/>
          <p:nvPr/>
        </p:nvSpPr>
        <p:spPr>
          <a:xfrm>
            <a:off x="457200" y="3660902"/>
            <a:ext cx="1143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去掉 A</a:t>
            </a:r>
            <a:endParaRPr lang="zh-CN" sz="1800" dirty="0"/>
          </a:p>
        </p:txBody>
      </p:sp>
      <p:sp>
        <p:nvSpPr>
          <p:cNvPr id="19" name="ablation-study/drawing/art-effects/e14"/>
          <p:cNvSpPr/>
          <p:nvPr/>
        </p:nvSpPr>
        <p:spPr>
          <a:xfrm>
            <a:off x="1733550" y="3679952"/>
            <a:ext cx="2950799" cy="2667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ablation-study/drawing/art-effects/e15"/>
          <p:cNvSpPr/>
          <p:nvPr/>
        </p:nvSpPr>
        <p:spPr>
          <a:xfrm>
            <a:off x="457200" y="4749927"/>
            <a:ext cx="11430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去掉 B</a:t>
            </a:r>
            <a:endParaRPr lang="zh-CN" sz="1800" dirty="0"/>
          </a:p>
        </p:txBody>
      </p:sp>
      <p:sp>
        <p:nvSpPr>
          <p:cNvPr id="21" name="ablation-study/drawing/art-effects/e16"/>
          <p:cNvSpPr/>
          <p:nvPr/>
        </p:nvSpPr>
        <p:spPr>
          <a:xfrm>
            <a:off x="1733550" y="4768977"/>
            <a:ext cx="3461515" cy="2667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ablation-study/drawing/art-interventions/e1"/>
          <p:cNvSpPr/>
          <p:nvPr/>
        </p:nvSpPr>
        <p:spPr>
          <a:xfrm>
            <a:off x="8125968" y="1676400"/>
            <a:ext cx="360883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组件与公平比较条件</a:t>
            </a:r>
            <a:endParaRPr lang="zh-CN" sz="1800" dirty="0"/>
          </a:p>
        </p:txBody>
      </p:sp>
      <p:sp>
        <p:nvSpPr>
          <p:cNvPr id="23" name="ablation-study/drawing/art-interventions/e2"/>
          <p:cNvSpPr/>
          <p:nvPr/>
        </p:nvSpPr>
        <p:spPr>
          <a:xfrm>
            <a:off x="8125968" y="2105025"/>
            <a:ext cx="3608832" cy="969169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ablation-study/drawing/art-interventions/e3"/>
          <p:cNvSpPr/>
          <p:nvPr/>
        </p:nvSpPr>
        <p:spPr>
          <a:xfrm>
            <a:off x="8221218" y="2442924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zh-CN" sz="1800" dirty="0"/>
          </a:p>
        </p:txBody>
      </p:sp>
      <p:sp>
        <p:nvSpPr>
          <p:cNvPr id="25" name="ablation-study/drawing/art-interventions/e4"/>
          <p:cNvSpPr/>
          <p:nvPr/>
        </p:nvSpPr>
        <p:spPr>
          <a:xfrm>
            <a:off x="10025634" y="2442924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变化</a:t>
            </a:r>
            <a:endParaRPr lang="zh-CN" sz="1800" dirty="0"/>
          </a:p>
        </p:txBody>
      </p:sp>
      <p:sp>
        <p:nvSpPr>
          <p:cNvPr id="26" name="ablation-study/drawing/art-interventions/e5/segment-1"/>
          <p:cNvSpPr/>
          <p:nvPr/>
        </p:nvSpPr>
        <p:spPr>
          <a:xfrm>
            <a:off x="8125968" y="3074194"/>
            <a:ext cx="360883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7" name="ablation-study/drawing/art-interventions/e6"/>
          <p:cNvSpPr/>
          <p:nvPr/>
        </p:nvSpPr>
        <p:spPr>
          <a:xfrm>
            <a:off x="8125968" y="3074194"/>
            <a:ext cx="3608832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ablation-study/drawing/art-interventions/e7"/>
          <p:cNvSpPr/>
          <p:nvPr/>
        </p:nvSpPr>
        <p:spPr>
          <a:xfrm>
            <a:off x="8221218" y="3412093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</a:t>
            </a:r>
            <a:endParaRPr lang="zh-CN" sz="1800" dirty="0"/>
          </a:p>
        </p:txBody>
      </p:sp>
      <p:sp>
        <p:nvSpPr>
          <p:cNvPr id="29" name="ablation-study/drawing/art-interventions/e8"/>
          <p:cNvSpPr/>
          <p:nvPr/>
        </p:nvSpPr>
        <p:spPr>
          <a:xfrm>
            <a:off x="10025634" y="3412093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完整方法</a:t>
            </a:r>
            <a:endParaRPr lang="zh-CN" sz="1800" dirty="0"/>
          </a:p>
        </p:txBody>
      </p:sp>
      <p:sp>
        <p:nvSpPr>
          <p:cNvPr id="30" name="ablation-study/drawing/art-interventions/e9/segment-1"/>
          <p:cNvSpPr/>
          <p:nvPr/>
        </p:nvSpPr>
        <p:spPr>
          <a:xfrm>
            <a:off x="8125968" y="4043363"/>
            <a:ext cx="360883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1" name="ablation-study/drawing/art-interventions/e10"/>
          <p:cNvSpPr/>
          <p:nvPr/>
        </p:nvSpPr>
        <p:spPr>
          <a:xfrm>
            <a:off x="8125968" y="4043363"/>
            <a:ext cx="3608832" cy="9691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ablation-study/drawing/art-interventions/e11"/>
          <p:cNvSpPr/>
          <p:nvPr/>
        </p:nvSpPr>
        <p:spPr>
          <a:xfrm>
            <a:off x="8221218" y="4381262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 A</a:t>
            </a:r>
            <a:endParaRPr lang="zh-CN" sz="1800" dirty="0"/>
          </a:p>
        </p:txBody>
      </p:sp>
      <p:sp>
        <p:nvSpPr>
          <p:cNvPr id="33" name="ablation-study/drawing/art-interventions/e12"/>
          <p:cNvSpPr/>
          <p:nvPr/>
        </p:nvSpPr>
        <p:spPr>
          <a:xfrm>
            <a:off x="10025634" y="4381262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去掉 A</a:t>
            </a:r>
            <a:endParaRPr lang="zh-CN" sz="1800" dirty="0"/>
          </a:p>
        </p:txBody>
      </p:sp>
      <p:sp>
        <p:nvSpPr>
          <p:cNvPr id="34" name="ablation-study/drawing/art-interventions/e13/segment-1"/>
          <p:cNvSpPr/>
          <p:nvPr/>
        </p:nvSpPr>
        <p:spPr>
          <a:xfrm>
            <a:off x="8125968" y="5012531"/>
            <a:ext cx="360883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5" name="ablation-study/drawing/art-interventions/e14"/>
          <p:cNvSpPr/>
          <p:nvPr/>
        </p:nvSpPr>
        <p:spPr>
          <a:xfrm>
            <a:off x="8125968" y="5012531"/>
            <a:ext cx="3608832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ablation-study/drawing/art-interventions/e15"/>
          <p:cNvSpPr/>
          <p:nvPr/>
        </p:nvSpPr>
        <p:spPr>
          <a:xfrm>
            <a:off x="8221218" y="5350431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 B</a:t>
            </a:r>
            <a:endParaRPr lang="zh-CN" sz="1800" dirty="0"/>
          </a:p>
        </p:txBody>
      </p:sp>
      <p:sp>
        <p:nvSpPr>
          <p:cNvPr id="37" name="ablation-study/drawing/art-interventions/e16"/>
          <p:cNvSpPr/>
          <p:nvPr/>
        </p:nvSpPr>
        <p:spPr>
          <a:xfrm>
            <a:off x="10025634" y="5350431"/>
            <a:ext cx="161391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去掉 B</a:t>
            </a:r>
            <a:endParaRPr lang="zh-CN" sz="1800" dirty="0"/>
          </a:p>
        </p:txBody>
      </p:sp>
      <p:sp>
        <p:nvSpPr>
          <p:cNvPr id="38" name="ablation-study/drawing/art-interventions/e17/segment-1"/>
          <p:cNvSpPr/>
          <p:nvPr/>
        </p:nvSpPr>
        <p:spPr>
          <a:xfrm>
            <a:off x="8125968" y="5981700"/>
            <a:ext cx="3608832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bustness-landscap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/ 32</a:t>
            </a:r>
            <a:endParaRPr lang="zh-CN" sz="1350" dirty="0"/>
          </a:p>
        </p:txBody>
      </p:sp>
      <p:sp>
        <p:nvSpPr>
          <p:cNvPr id="3" name="robustness-landscap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 条件变化与稳健性边界</a:t>
            </a:r>
            <a:endParaRPr lang="zh-CN" sz="3150" dirty="0"/>
          </a:p>
        </p:txBody>
      </p:sp>
      <p:sp>
        <p:nvSpPr>
          <p:cNvPr id="4" name="robustness-landscap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robustness-landscape/drawing/art-landscape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条件空间示意</a:t>
            </a:r>
            <a:endParaRPr lang="zh-CN" sz="1800" dirty="0"/>
          </a:p>
        </p:txBody>
      </p:sp>
      <p:sp>
        <p:nvSpPr>
          <p:cNvPr id="6" name="robustness-landscape/drawing/art-landscape/e2"/>
          <p:cNvSpPr/>
          <p:nvPr/>
        </p:nvSpPr>
        <p:spPr>
          <a:xfrm>
            <a:off x="457200" y="2377758"/>
            <a:ext cx="7810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 A</a:t>
            </a:r>
            <a:endParaRPr lang="zh-CN" sz="1800" dirty="0"/>
          </a:p>
        </p:txBody>
      </p:sp>
      <p:sp>
        <p:nvSpPr>
          <p:cNvPr id="7" name="robustness-landscape/drawing/art-landscape/e3"/>
          <p:cNvSpPr/>
          <p:nvPr/>
        </p:nvSpPr>
        <p:spPr>
          <a:xfrm>
            <a:off x="1314450" y="2190750"/>
            <a:ext cx="1676400" cy="631190"/>
          </a:xfrm>
          <a:prstGeom prst="rect">
            <a:avLst/>
          </a:prstGeom>
          <a:solidFill>
            <a:srgbClr val="DEE9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robustness-landscape/drawing/art-landscape/e4"/>
          <p:cNvSpPr/>
          <p:nvPr/>
        </p:nvSpPr>
        <p:spPr>
          <a:xfrm>
            <a:off x="3019425" y="2190750"/>
            <a:ext cx="1676400" cy="631190"/>
          </a:xfrm>
          <a:prstGeom prst="rect">
            <a:avLst/>
          </a:prstGeom>
          <a:solidFill>
            <a:srgbClr val="BBD1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robustness-landscape/drawing/art-landscape/e5"/>
          <p:cNvSpPr/>
          <p:nvPr/>
        </p:nvSpPr>
        <p:spPr>
          <a:xfrm>
            <a:off x="4724400" y="2190750"/>
            <a:ext cx="1676400" cy="631190"/>
          </a:xfrm>
          <a:prstGeom prst="rect">
            <a:avLst/>
          </a:prstGeom>
          <a:solidFill>
            <a:srgbClr val="8EB5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robustness-landscape/drawing/art-landscape/e6"/>
          <p:cNvSpPr/>
          <p:nvPr/>
        </p:nvSpPr>
        <p:spPr>
          <a:xfrm>
            <a:off x="6429375" y="2190750"/>
            <a:ext cx="1676400" cy="631190"/>
          </a:xfrm>
          <a:prstGeom prst="rect">
            <a:avLst/>
          </a:prstGeom>
          <a:solidFill>
            <a:srgbClr val="5591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robustness-landscape/drawing/art-landscape/e7"/>
          <p:cNvSpPr/>
          <p:nvPr/>
        </p:nvSpPr>
        <p:spPr>
          <a:xfrm>
            <a:off x="8134350" y="2190750"/>
            <a:ext cx="1676400" cy="631190"/>
          </a:xfrm>
          <a:prstGeom prst="rect">
            <a:avLst/>
          </a:prstGeom>
          <a:solidFill>
            <a:srgbClr val="2766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robustness-landscape/drawing/art-landscape/e8"/>
          <p:cNvSpPr/>
          <p:nvPr/>
        </p:nvSpPr>
        <p:spPr>
          <a:xfrm>
            <a:off x="9839325" y="2190750"/>
            <a:ext cx="1676400" cy="631190"/>
          </a:xfrm>
          <a:prstGeom prst="rect">
            <a:avLst/>
          </a:prstGeom>
          <a:solidFill>
            <a:srgbClr val="2049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robustness-landscape/drawing/art-landscape/e9"/>
          <p:cNvSpPr/>
          <p:nvPr/>
        </p:nvSpPr>
        <p:spPr>
          <a:xfrm>
            <a:off x="457200" y="3037523"/>
            <a:ext cx="7810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 B</a:t>
            </a:r>
            <a:endParaRPr lang="zh-CN" sz="1800" dirty="0"/>
          </a:p>
        </p:txBody>
      </p:sp>
      <p:sp>
        <p:nvSpPr>
          <p:cNvPr id="14" name="robustness-landscape/drawing/art-landscape/e10"/>
          <p:cNvSpPr/>
          <p:nvPr/>
        </p:nvSpPr>
        <p:spPr>
          <a:xfrm>
            <a:off x="1314450" y="2850515"/>
            <a:ext cx="1676400" cy="631190"/>
          </a:xfrm>
          <a:prstGeom prst="rect">
            <a:avLst/>
          </a:prstGeom>
          <a:solidFill>
            <a:srgbClr val="8EB5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robustness-landscape/drawing/art-landscape/e11"/>
          <p:cNvSpPr/>
          <p:nvPr/>
        </p:nvSpPr>
        <p:spPr>
          <a:xfrm>
            <a:off x="3019425" y="2850515"/>
            <a:ext cx="1676400" cy="631190"/>
          </a:xfrm>
          <a:prstGeom prst="rect">
            <a:avLst/>
          </a:prstGeom>
          <a:solidFill>
            <a:srgbClr val="5591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robustness-landscape/drawing/art-landscape/e12"/>
          <p:cNvSpPr/>
          <p:nvPr/>
        </p:nvSpPr>
        <p:spPr>
          <a:xfrm>
            <a:off x="4724400" y="2850515"/>
            <a:ext cx="1676400" cy="631190"/>
          </a:xfrm>
          <a:prstGeom prst="rect">
            <a:avLst/>
          </a:prstGeom>
          <a:solidFill>
            <a:srgbClr val="2766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robustness-landscape/drawing/art-landscape/e13"/>
          <p:cNvSpPr/>
          <p:nvPr/>
        </p:nvSpPr>
        <p:spPr>
          <a:xfrm>
            <a:off x="6429375" y="2850515"/>
            <a:ext cx="1676400" cy="631190"/>
          </a:xfrm>
          <a:prstGeom prst="rect">
            <a:avLst/>
          </a:prstGeom>
          <a:solidFill>
            <a:srgbClr val="2049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robustness-landscape/drawing/art-landscape/e14"/>
          <p:cNvSpPr/>
          <p:nvPr/>
        </p:nvSpPr>
        <p:spPr>
          <a:xfrm>
            <a:off x="8134350" y="2850515"/>
            <a:ext cx="1676400" cy="631190"/>
          </a:xfrm>
          <a:prstGeom prst="rect">
            <a:avLst/>
          </a:prstGeom>
          <a:solidFill>
            <a:srgbClr val="DEE9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robustness-landscape/drawing/art-landscape/e15"/>
          <p:cNvSpPr/>
          <p:nvPr/>
        </p:nvSpPr>
        <p:spPr>
          <a:xfrm>
            <a:off x="9839325" y="2850515"/>
            <a:ext cx="1676400" cy="631190"/>
          </a:xfrm>
          <a:prstGeom prst="rect">
            <a:avLst/>
          </a:prstGeom>
          <a:solidFill>
            <a:srgbClr val="BBD1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robustness-landscape/drawing/art-landscape/e16"/>
          <p:cNvSpPr/>
          <p:nvPr/>
        </p:nvSpPr>
        <p:spPr>
          <a:xfrm>
            <a:off x="457200" y="3697288"/>
            <a:ext cx="7810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 C</a:t>
            </a:r>
            <a:endParaRPr lang="zh-CN" sz="1800" dirty="0"/>
          </a:p>
        </p:txBody>
      </p:sp>
      <p:sp>
        <p:nvSpPr>
          <p:cNvPr id="21" name="robustness-landscape/drawing/art-landscape/e17"/>
          <p:cNvSpPr/>
          <p:nvPr/>
        </p:nvSpPr>
        <p:spPr>
          <a:xfrm>
            <a:off x="1314450" y="3510280"/>
            <a:ext cx="1676400" cy="631190"/>
          </a:xfrm>
          <a:prstGeom prst="rect">
            <a:avLst/>
          </a:prstGeom>
          <a:solidFill>
            <a:srgbClr val="2766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robustness-landscape/drawing/art-landscape/e18"/>
          <p:cNvSpPr/>
          <p:nvPr/>
        </p:nvSpPr>
        <p:spPr>
          <a:xfrm>
            <a:off x="3019425" y="3510280"/>
            <a:ext cx="1676400" cy="631190"/>
          </a:xfrm>
          <a:prstGeom prst="rect">
            <a:avLst/>
          </a:prstGeom>
          <a:solidFill>
            <a:srgbClr val="2049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robustness-landscape/drawing/art-landscape/e19"/>
          <p:cNvSpPr/>
          <p:nvPr/>
        </p:nvSpPr>
        <p:spPr>
          <a:xfrm>
            <a:off x="4724400" y="3510280"/>
            <a:ext cx="1676400" cy="631190"/>
          </a:xfrm>
          <a:prstGeom prst="rect">
            <a:avLst/>
          </a:prstGeom>
          <a:solidFill>
            <a:srgbClr val="DEE9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robustness-landscape/drawing/art-landscape/e20"/>
          <p:cNvSpPr/>
          <p:nvPr/>
        </p:nvSpPr>
        <p:spPr>
          <a:xfrm>
            <a:off x="6429375" y="3510280"/>
            <a:ext cx="1676400" cy="631190"/>
          </a:xfrm>
          <a:prstGeom prst="rect">
            <a:avLst/>
          </a:prstGeom>
          <a:solidFill>
            <a:srgbClr val="BBD1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robustness-landscape/drawing/art-landscape/e21"/>
          <p:cNvSpPr/>
          <p:nvPr/>
        </p:nvSpPr>
        <p:spPr>
          <a:xfrm>
            <a:off x="8134350" y="3510280"/>
            <a:ext cx="1676400" cy="631190"/>
          </a:xfrm>
          <a:prstGeom prst="rect">
            <a:avLst/>
          </a:prstGeom>
          <a:solidFill>
            <a:srgbClr val="8EB5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robustness-landscape/drawing/art-landscape/e22"/>
          <p:cNvSpPr/>
          <p:nvPr/>
        </p:nvSpPr>
        <p:spPr>
          <a:xfrm>
            <a:off x="9839325" y="3510280"/>
            <a:ext cx="1676400" cy="631190"/>
          </a:xfrm>
          <a:prstGeom prst="rect">
            <a:avLst/>
          </a:prstGeom>
          <a:solidFill>
            <a:srgbClr val="5591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robustness-landscape/drawing/art-landscape/e23"/>
          <p:cNvSpPr/>
          <p:nvPr/>
        </p:nvSpPr>
        <p:spPr>
          <a:xfrm>
            <a:off x="1314450" y="4284345"/>
            <a:ext cx="102298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条件变化</a:t>
            </a:r>
            <a:endParaRPr lang="zh-CN" sz="1800" dirty="0"/>
          </a:p>
        </p:txBody>
      </p:sp>
      <p:sp>
        <p:nvSpPr>
          <p:cNvPr id="28" name="robustness-landscape/drawing/art-supported/e1/segment-1"/>
          <p:cNvSpPr/>
          <p:nvPr/>
        </p:nvSpPr>
        <p:spPr>
          <a:xfrm>
            <a:off x="457200" y="497205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9" name="robustness-landscape/drawing/art-supported/e2"/>
          <p:cNvSpPr/>
          <p:nvPr/>
        </p:nvSpPr>
        <p:spPr>
          <a:xfrm>
            <a:off x="457200" y="5095875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被证据支持的范围</a:t>
            </a:r>
            <a:endParaRPr lang="zh-CN" sz="1800" dirty="0"/>
          </a:p>
        </p:txBody>
      </p:sp>
      <p:sp>
        <p:nvSpPr>
          <p:cNvPr id="30" name="robustness-landscape/drawing/art-supported/e3"/>
          <p:cNvSpPr/>
          <p:nvPr/>
        </p:nvSpPr>
        <p:spPr>
          <a:xfrm>
            <a:off x="457200" y="5427345"/>
            <a:ext cx="546963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在已检验条件内解释结果。</a:t>
            </a:r>
            <a:endParaRPr lang="zh-CN" sz="2100" dirty="0"/>
          </a:p>
        </p:txBody>
      </p:sp>
      <p:sp>
        <p:nvSpPr>
          <p:cNvPr id="31" name="robustness-landscape/drawing/art-failure/e1/segment-1"/>
          <p:cNvSpPr/>
          <p:nvPr/>
        </p:nvSpPr>
        <p:spPr>
          <a:xfrm>
            <a:off x="6265164" y="497205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2" name="robustness-landscape/drawing/art-failure/e2"/>
          <p:cNvSpPr/>
          <p:nvPr/>
        </p:nvSpPr>
        <p:spPr>
          <a:xfrm>
            <a:off x="6265164" y="5095875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失效或未知范围</a:t>
            </a:r>
            <a:endParaRPr lang="zh-CN" sz="1800" dirty="0"/>
          </a:p>
        </p:txBody>
      </p:sp>
      <p:sp>
        <p:nvSpPr>
          <p:cNvPr id="33" name="robustness-landscape/drawing/art-failure/e3"/>
          <p:cNvSpPr/>
          <p:nvPr/>
        </p:nvSpPr>
        <p:spPr>
          <a:xfrm>
            <a:off x="6265164" y="5427345"/>
            <a:ext cx="546963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未测量条件不自动视为有效。</a:t>
            </a:r>
            <a:endParaRPr lang="zh-CN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radiction-explainer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/ 32</a:t>
            </a:r>
            <a:endParaRPr lang="zh-CN" sz="1350" dirty="0"/>
          </a:p>
        </p:txBody>
      </p:sp>
      <p:sp>
        <p:nvSpPr>
          <p:cNvPr id="3" name="contradiction-explainer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 冲突结果与条件解释</a:t>
            </a:r>
            <a:endParaRPr lang="zh-CN" sz="3150" dirty="0"/>
          </a:p>
        </p:txBody>
      </p:sp>
      <p:sp>
        <p:nvSpPr>
          <p:cNvPr id="4" name="contradiction-explainer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contradiction-explainer/drawing/art-finding-a/e1"/>
          <p:cNvSpPr/>
          <p:nvPr/>
        </p:nvSpPr>
        <p:spPr>
          <a:xfrm>
            <a:off x="457200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A（形态示意）</a:t>
            </a:r>
            <a:endParaRPr lang="zh-CN" sz="1800" dirty="0"/>
          </a:p>
        </p:txBody>
      </p:sp>
      <p:sp>
        <p:nvSpPr>
          <p:cNvPr id="6" name="contradiction-explainer/drawing/art-finding-a/e2/segment-1"/>
          <p:cNvSpPr/>
          <p:nvPr/>
        </p:nvSpPr>
        <p:spPr>
          <a:xfrm>
            <a:off x="990600" y="226695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7" name="contradiction-explainer/drawing/art-finding-a/e3/segment-1"/>
          <p:cNvSpPr/>
          <p:nvPr/>
        </p:nvSpPr>
        <p:spPr>
          <a:xfrm>
            <a:off x="990600" y="281368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" name="contradiction-explainer/drawing/art-finding-a/e4/segment-1"/>
          <p:cNvSpPr/>
          <p:nvPr/>
        </p:nvSpPr>
        <p:spPr>
          <a:xfrm>
            <a:off x="990600" y="336042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9" name="contradiction-explainer/drawing/art-finding-a/e5/segment-1"/>
          <p:cNvSpPr/>
          <p:nvPr/>
        </p:nvSpPr>
        <p:spPr>
          <a:xfrm>
            <a:off x="990600" y="390715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contradiction-explainer/drawing/art-finding-a/e6/segment-1"/>
          <p:cNvSpPr/>
          <p:nvPr/>
        </p:nvSpPr>
        <p:spPr>
          <a:xfrm>
            <a:off x="990600" y="2266950"/>
            <a:ext cx="0" cy="1640205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1" name="contradiction-explainer/drawing/art-finding-a/e6/segment-2"/>
          <p:cNvSpPr/>
          <p:nvPr/>
        </p:nvSpPr>
        <p:spPr>
          <a:xfrm>
            <a:off x="990600" y="3907155"/>
            <a:ext cx="468858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12" name="contradiction-explainer/drawing/art-finding-a/e7/segment-1"/>
          <p:cNvSpPr/>
          <p:nvPr/>
        </p:nvSpPr>
        <p:spPr>
          <a:xfrm flipV="1">
            <a:off x="990600" y="3415093"/>
            <a:ext cx="1172147" cy="196825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3" name="contradiction-explainer/drawing/art-finding-a/e7/segment-2"/>
          <p:cNvSpPr/>
          <p:nvPr/>
        </p:nvSpPr>
        <p:spPr>
          <a:xfrm flipV="1">
            <a:off x="2162747" y="3136259"/>
            <a:ext cx="1172147" cy="278835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4" name="contradiction-explainer/drawing/art-finding-a/e7/segment-3"/>
          <p:cNvSpPr/>
          <p:nvPr/>
        </p:nvSpPr>
        <p:spPr>
          <a:xfrm flipV="1">
            <a:off x="3334893" y="2988640"/>
            <a:ext cx="1172147" cy="147618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5" name="contradiction-explainer/drawing/art-finding-a/e7/segment-4"/>
          <p:cNvSpPr/>
          <p:nvPr/>
        </p:nvSpPr>
        <p:spPr>
          <a:xfrm flipV="1">
            <a:off x="4507040" y="2660599"/>
            <a:ext cx="1172147" cy="328041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16" name="contradiction-explainer/drawing/art-finding-a/e8"/>
          <p:cNvSpPr/>
          <p:nvPr/>
        </p:nvSpPr>
        <p:spPr>
          <a:xfrm>
            <a:off x="952500" y="357381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contradiction-explainer/drawing/art-finding-a/e9"/>
          <p:cNvSpPr/>
          <p:nvPr/>
        </p:nvSpPr>
        <p:spPr>
          <a:xfrm>
            <a:off x="2124647" y="3376994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contradiction-explainer/drawing/art-finding-a/e10"/>
          <p:cNvSpPr/>
          <p:nvPr/>
        </p:nvSpPr>
        <p:spPr>
          <a:xfrm>
            <a:off x="3296793" y="309815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contradiction-explainer/drawing/art-finding-a/e11"/>
          <p:cNvSpPr/>
          <p:nvPr/>
        </p:nvSpPr>
        <p:spPr>
          <a:xfrm>
            <a:off x="4468940" y="2950540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contradiction-explainer/drawing/art-finding-a/e12"/>
          <p:cNvSpPr/>
          <p:nvPr/>
        </p:nvSpPr>
        <p:spPr>
          <a:xfrm>
            <a:off x="5641086" y="2622499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contradiction-explainer/drawing/art-finding-a/e13/segment-1"/>
          <p:cNvSpPr/>
          <p:nvPr/>
        </p:nvSpPr>
        <p:spPr>
          <a:xfrm flipV="1">
            <a:off x="990600" y="3251073"/>
            <a:ext cx="1172147" cy="196825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2" name="contradiction-explainer/drawing/art-finding-a/e13/segment-2"/>
          <p:cNvSpPr/>
          <p:nvPr/>
        </p:nvSpPr>
        <p:spPr>
          <a:xfrm>
            <a:off x="2162747" y="3251073"/>
            <a:ext cx="1172147" cy="16402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3" name="contradiction-explainer/drawing/art-finding-a/e13/segment-3"/>
          <p:cNvSpPr/>
          <p:nvPr/>
        </p:nvSpPr>
        <p:spPr>
          <a:xfrm flipV="1">
            <a:off x="3334893" y="2923032"/>
            <a:ext cx="1172147" cy="344443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4" name="contradiction-explainer/drawing/art-finding-a/e13/segment-4"/>
          <p:cNvSpPr/>
          <p:nvPr/>
        </p:nvSpPr>
        <p:spPr>
          <a:xfrm flipV="1">
            <a:off x="4507040" y="2791816"/>
            <a:ext cx="1172147" cy="131216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5" name="contradiction-explainer/drawing/art-finding-a/e14"/>
          <p:cNvSpPr/>
          <p:nvPr/>
        </p:nvSpPr>
        <p:spPr>
          <a:xfrm>
            <a:off x="952500" y="3409798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contradiction-explainer/drawing/art-finding-a/e15"/>
          <p:cNvSpPr/>
          <p:nvPr/>
        </p:nvSpPr>
        <p:spPr>
          <a:xfrm>
            <a:off x="2124647" y="321297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contradiction-explainer/drawing/art-finding-a/e16"/>
          <p:cNvSpPr/>
          <p:nvPr/>
        </p:nvSpPr>
        <p:spPr>
          <a:xfrm>
            <a:off x="3296793" y="3229375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contradiction-explainer/drawing/art-finding-a/e17"/>
          <p:cNvSpPr/>
          <p:nvPr/>
        </p:nvSpPr>
        <p:spPr>
          <a:xfrm>
            <a:off x="4468940" y="2884932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contradiction-explainer/drawing/art-finding-a/e18"/>
          <p:cNvSpPr/>
          <p:nvPr/>
        </p:nvSpPr>
        <p:spPr>
          <a:xfrm>
            <a:off x="5641086" y="275371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contradiction-explainer/drawing/art-finding-a/e19"/>
          <p:cNvSpPr/>
          <p:nvPr/>
        </p:nvSpPr>
        <p:spPr>
          <a:xfrm>
            <a:off x="990600" y="4040505"/>
            <a:ext cx="468858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31" name="contradiction-explainer/drawing/art-finding-b/e1"/>
          <p:cNvSpPr/>
          <p:nvPr/>
        </p:nvSpPr>
        <p:spPr>
          <a:xfrm>
            <a:off x="6265164" y="1676400"/>
            <a:ext cx="546963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B（形态示意）</a:t>
            </a:r>
            <a:endParaRPr lang="zh-CN" sz="1800" dirty="0"/>
          </a:p>
        </p:txBody>
      </p:sp>
      <p:sp>
        <p:nvSpPr>
          <p:cNvPr id="32" name="contradiction-explainer/drawing/art-finding-b/e2/segment-1"/>
          <p:cNvSpPr/>
          <p:nvPr/>
        </p:nvSpPr>
        <p:spPr>
          <a:xfrm>
            <a:off x="6798564" y="226695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3" name="contradiction-explainer/drawing/art-finding-b/e3/segment-1"/>
          <p:cNvSpPr/>
          <p:nvPr/>
        </p:nvSpPr>
        <p:spPr>
          <a:xfrm>
            <a:off x="6798564" y="281368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4" name="contradiction-explainer/drawing/art-finding-b/e4/segment-1"/>
          <p:cNvSpPr/>
          <p:nvPr/>
        </p:nvSpPr>
        <p:spPr>
          <a:xfrm>
            <a:off x="6798564" y="3360420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5" name="contradiction-explainer/drawing/art-finding-b/e5/segment-1"/>
          <p:cNvSpPr/>
          <p:nvPr/>
        </p:nvSpPr>
        <p:spPr>
          <a:xfrm>
            <a:off x="6798564" y="3907155"/>
            <a:ext cx="4688586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6" name="contradiction-explainer/drawing/art-finding-b/e6/segment-1"/>
          <p:cNvSpPr/>
          <p:nvPr/>
        </p:nvSpPr>
        <p:spPr>
          <a:xfrm>
            <a:off x="6798564" y="2266950"/>
            <a:ext cx="0" cy="1640205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37" name="contradiction-explainer/drawing/art-finding-b/e6/segment-2"/>
          <p:cNvSpPr/>
          <p:nvPr/>
        </p:nvSpPr>
        <p:spPr>
          <a:xfrm>
            <a:off x="6798564" y="3907155"/>
            <a:ext cx="4688586" cy="0"/>
          </a:xfrm>
          <a:prstGeom prst="line">
            <a:avLst/>
          </a:prstGeom>
          <a:noFill/>
          <a:ln w="14288">
            <a:solidFill>
              <a:srgbClr val="657887"/>
            </a:solidFill>
            <a:prstDash val="solid"/>
          </a:ln>
        </p:spPr>
      </p:sp>
      <p:sp>
        <p:nvSpPr>
          <p:cNvPr id="38" name="contradiction-explainer/drawing/art-finding-b/e7/segment-1"/>
          <p:cNvSpPr/>
          <p:nvPr/>
        </p:nvSpPr>
        <p:spPr>
          <a:xfrm flipV="1">
            <a:off x="6798564" y="3251073"/>
            <a:ext cx="1172146" cy="196825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39" name="contradiction-explainer/drawing/art-finding-b/e7/segment-2"/>
          <p:cNvSpPr/>
          <p:nvPr/>
        </p:nvSpPr>
        <p:spPr>
          <a:xfrm>
            <a:off x="7970711" y="3251073"/>
            <a:ext cx="1172147" cy="16402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40" name="contradiction-explainer/drawing/art-finding-b/e7/segment-3"/>
          <p:cNvSpPr/>
          <p:nvPr/>
        </p:nvSpPr>
        <p:spPr>
          <a:xfrm flipV="1">
            <a:off x="9142857" y="2923032"/>
            <a:ext cx="1172147" cy="344443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41" name="contradiction-explainer/drawing/art-finding-b/e7/segment-4"/>
          <p:cNvSpPr/>
          <p:nvPr/>
        </p:nvSpPr>
        <p:spPr>
          <a:xfrm flipV="1">
            <a:off x="10315004" y="2791816"/>
            <a:ext cx="1172146" cy="131216"/>
          </a:xfrm>
          <a:prstGeom prst="line">
            <a:avLst/>
          </a:prstGeom>
          <a:noFill/>
          <a:ln w="28575">
            <a:solidFill>
              <a:srgbClr val="235F89"/>
            </a:solidFill>
            <a:prstDash val="solid"/>
          </a:ln>
        </p:spPr>
      </p:sp>
      <p:sp>
        <p:nvSpPr>
          <p:cNvPr id="42" name="contradiction-explainer/drawing/art-finding-b/e8"/>
          <p:cNvSpPr/>
          <p:nvPr/>
        </p:nvSpPr>
        <p:spPr>
          <a:xfrm>
            <a:off x="6760464" y="3409798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contradiction-explainer/drawing/art-finding-b/e9"/>
          <p:cNvSpPr/>
          <p:nvPr/>
        </p:nvSpPr>
        <p:spPr>
          <a:xfrm>
            <a:off x="7932610" y="3212973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contradiction-explainer/drawing/art-finding-b/e10"/>
          <p:cNvSpPr/>
          <p:nvPr/>
        </p:nvSpPr>
        <p:spPr>
          <a:xfrm>
            <a:off x="9104757" y="3229375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contradiction-explainer/drawing/art-finding-b/e11"/>
          <p:cNvSpPr/>
          <p:nvPr/>
        </p:nvSpPr>
        <p:spPr>
          <a:xfrm>
            <a:off x="10276904" y="2884932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contradiction-explainer/drawing/art-finding-b/e12"/>
          <p:cNvSpPr/>
          <p:nvPr/>
        </p:nvSpPr>
        <p:spPr>
          <a:xfrm>
            <a:off x="11449050" y="2753716"/>
            <a:ext cx="76200" cy="76200"/>
          </a:xfrm>
          <a:prstGeom prst="ellipse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contradiction-explainer/drawing/art-finding-b/e13/segment-1"/>
          <p:cNvSpPr/>
          <p:nvPr/>
        </p:nvSpPr>
        <p:spPr>
          <a:xfrm>
            <a:off x="6798564" y="2923032"/>
            <a:ext cx="1172146" cy="164021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48" name="contradiction-explainer/drawing/art-finding-b/e13/segment-2"/>
          <p:cNvSpPr/>
          <p:nvPr/>
        </p:nvSpPr>
        <p:spPr>
          <a:xfrm flipV="1">
            <a:off x="7970711" y="3037846"/>
            <a:ext cx="1172147" cy="49206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49" name="contradiction-explainer/drawing/art-finding-b/e13/segment-3"/>
          <p:cNvSpPr/>
          <p:nvPr/>
        </p:nvSpPr>
        <p:spPr>
          <a:xfrm>
            <a:off x="9142857" y="3037846"/>
            <a:ext cx="1172147" cy="246031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50" name="contradiction-explainer/drawing/art-finding-b/e13/segment-4"/>
          <p:cNvSpPr/>
          <p:nvPr/>
        </p:nvSpPr>
        <p:spPr>
          <a:xfrm flipV="1">
            <a:off x="10315004" y="3169063"/>
            <a:ext cx="1172146" cy="114814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51" name="contradiction-explainer/drawing/art-finding-b/e14"/>
          <p:cNvSpPr/>
          <p:nvPr/>
        </p:nvSpPr>
        <p:spPr>
          <a:xfrm>
            <a:off x="6760464" y="2884932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contradiction-explainer/drawing/art-finding-b/e15"/>
          <p:cNvSpPr/>
          <p:nvPr/>
        </p:nvSpPr>
        <p:spPr>
          <a:xfrm>
            <a:off x="7932610" y="304895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contradiction-explainer/drawing/art-finding-b/e16"/>
          <p:cNvSpPr/>
          <p:nvPr/>
        </p:nvSpPr>
        <p:spPr>
          <a:xfrm>
            <a:off x="9104757" y="2999746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contradiction-explainer/drawing/art-finding-b/e17"/>
          <p:cNvSpPr/>
          <p:nvPr/>
        </p:nvSpPr>
        <p:spPr>
          <a:xfrm>
            <a:off x="10276904" y="3245777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contradiction-explainer/drawing/art-finding-b/e18"/>
          <p:cNvSpPr/>
          <p:nvPr/>
        </p:nvSpPr>
        <p:spPr>
          <a:xfrm>
            <a:off x="11449050" y="3130963"/>
            <a:ext cx="76200" cy="76200"/>
          </a:xfrm>
          <a:prstGeom prst="ellipse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contradiction-explainer/drawing/art-finding-b/e19"/>
          <p:cNvSpPr/>
          <p:nvPr/>
        </p:nvSpPr>
        <p:spPr>
          <a:xfrm>
            <a:off x="6798564" y="4040505"/>
            <a:ext cx="468858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共同观测窗口</a:t>
            </a:r>
            <a:endParaRPr lang="zh-CN" sz="1800" dirty="0"/>
          </a:p>
        </p:txBody>
      </p:sp>
      <p:sp>
        <p:nvSpPr>
          <p:cNvPr id="57" name="contradiction-explainer/drawing/art-explanation/e1/segment-1"/>
          <p:cNvSpPr/>
          <p:nvPr/>
        </p:nvSpPr>
        <p:spPr>
          <a:xfrm>
            <a:off x="457200" y="470916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58" name="contradiction-explainer/drawing/art-explanation/e2"/>
          <p:cNvSpPr/>
          <p:nvPr/>
        </p:nvSpPr>
        <p:spPr>
          <a:xfrm>
            <a:off x="457200" y="4832985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条件差异与替代解释</a:t>
            </a:r>
            <a:endParaRPr lang="zh-CN" sz="1800" dirty="0"/>
          </a:p>
        </p:txBody>
      </p:sp>
      <p:sp>
        <p:nvSpPr>
          <p:cNvPr id="59" name="contradiction-explainer/drawing/art-explanation/e3"/>
          <p:cNvSpPr/>
          <p:nvPr/>
        </p:nvSpPr>
        <p:spPr>
          <a:xfrm>
            <a:off x="457200" y="5164455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在相同评价口径下解释差异，保留替代解释。</a:t>
            </a:r>
            <a:endParaRPr lang="zh-CN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oss-study-synthesis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 / 32</a:t>
            </a:r>
            <a:endParaRPr lang="zh-CN" sz="1350" dirty="0"/>
          </a:p>
        </p:txBody>
      </p:sp>
      <p:sp>
        <p:nvSpPr>
          <p:cNvPr id="3" name="cross-study-synthesis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  跨研究证据与综合判断</a:t>
            </a:r>
            <a:endParaRPr lang="zh-CN" sz="3150" dirty="0"/>
          </a:p>
        </p:txBody>
      </p:sp>
      <p:sp>
        <p:nvSpPr>
          <p:cNvPr id="4" name="cross-study-synthesis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cross-study-synthesis/drawing/art-evidence-map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共同维度下的证据</a:t>
            </a:r>
            <a:endParaRPr lang="zh-CN" sz="1800" dirty="0"/>
          </a:p>
        </p:txBody>
      </p:sp>
      <p:sp>
        <p:nvSpPr>
          <p:cNvPr id="6" name="cross-study-synthesis/drawing/art-evidence-map/e2"/>
          <p:cNvSpPr/>
          <p:nvPr/>
        </p:nvSpPr>
        <p:spPr>
          <a:xfrm>
            <a:off x="457200" y="2105025"/>
            <a:ext cx="11277600" cy="56388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cross-study-synthesis/drawing/art-evidence-map/e3"/>
          <p:cNvSpPr/>
          <p:nvPr/>
        </p:nvSpPr>
        <p:spPr>
          <a:xfrm>
            <a:off x="552450" y="224028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</a:t>
            </a:r>
            <a:endParaRPr lang="zh-CN" sz="1800" dirty="0"/>
          </a:p>
        </p:txBody>
      </p:sp>
      <p:sp>
        <p:nvSpPr>
          <p:cNvPr id="8" name="cross-study-synthesis/drawing/art-evidence-map/e4"/>
          <p:cNvSpPr/>
          <p:nvPr/>
        </p:nvSpPr>
        <p:spPr>
          <a:xfrm>
            <a:off x="3371850" y="224028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</a:t>
            </a:r>
            <a:endParaRPr lang="zh-CN" sz="1800" dirty="0"/>
          </a:p>
        </p:txBody>
      </p:sp>
      <p:sp>
        <p:nvSpPr>
          <p:cNvPr id="9" name="cross-study-synthesis/drawing/art-evidence-map/e5"/>
          <p:cNvSpPr/>
          <p:nvPr/>
        </p:nvSpPr>
        <p:spPr>
          <a:xfrm>
            <a:off x="6191250" y="224028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</a:t>
            </a:r>
            <a:endParaRPr lang="zh-CN" sz="1800" dirty="0"/>
          </a:p>
        </p:txBody>
      </p:sp>
      <p:sp>
        <p:nvSpPr>
          <p:cNvPr id="10" name="cross-study-synthesis/drawing/art-evidence-map/e6"/>
          <p:cNvSpPr/>
          <p:nvPr/>
        </p:nvSpPr>
        <p:spPr>
          <a:xfrm>
            <a:off x="9010650" y="224028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</a:t>
            </a:r>
            <a:endParaRPr lang="zh-CN" sz="1800" dirty="0"/>
          </a:p>
        </p:txBody>
      </p:sp>
      <p:sp>
        <p:nvSpPr>
          <p:cNvPr id="11" name="cross-study-synthesis/drawing/art-evidence-map/e7/segment-1"/>
          <p:cNvSpPr/>
          <p:nvPr/>
        </p:nvSpPr>
        <p:spPr>
          <a:xfrm>
            <a:off x="457200" y="2668905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2" name="cross-study-synthesis/drawing/art-evidence-map/e8"/>
          <p:cNvSpPr/>
          <p:nvPr/>
        </p:nvSpPr>
        <p:spPr>
          <a:xfrm>
            <a:off x="457200" y="2668905"/>
            <a:ext cx="11277600" cy="563880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cross-study-synthesis/drawing/art-evidence-map/e9"/>
          <p:cNvSpPr/>
          <p:nvPr/>
        </p:nvSpPr>
        <p:spPr>
          <a:xfrm>
            <a:off x="552450" y="280416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A</a:t>
            </a:r>
            <a:endParaRPr lang="zh-CN" sz="1800" dirty="0"/>
          </a:p>
        </p:txBody>
      </p:sp>
      <p:sp>
        <p:nvSpPr>
          <p:cNvPr id="14" name="cross-study-synthesis/drawing/art-evidence-map/e10"/>
          <p:cNvSpPr/>
          <p:nvPr/>
        </p:nvSpPr>
        <p:spPr>
          <a:xfrm>
            <a:off x="3371850" y="280416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A</a:t>
            </a:r>
            <a:endParaRPr lang="zh-CN" sz="1800" dirty="0"/>
          </a:p>
        </p:txBody>
      </p:sp>
      <p:sp>
        <p:nvSpPr>
          <p:cNvPr id="15" name="cross-study-synthesis/drawing/art-evidence-map/e11"/>
          <p:cNvSpPr/>
          <p:nvPr/>
        </p:nvSpPr>
        <p:spPr>
          <a:xfrm>
            <a:off x="6191250" y="280416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 A</a:t>
            </a:r>
            <a:endParaRPr lang="zh-CN" sz="1800" dirty="0"/>
          </a:p>
        </p:txBody>
      </p:sp>
      <p:sp>
        <p:nvSpPr>
          <p:cNvPr id="16" name="cross-study-synthesis/drawing/art-evidence-map/e12"/>
          <p:cNvSpPr/>
          <p:nvPr/>
        </p:nvSpPr>
        <p:spPr>
          <a:xfrm>
            <a:off x="9010650" y="280416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</a:t>
            </a:r>
            <a:endParaRPr lang="zh-CN" sz="1800" dirty="0"/>
          </a:p>
        </p:txBody>
      </p:sp>
      <p:sp>
        <p:nvSpPr>
          <p:cNvPr id="17" name="cross-study-synthesis/drawing/art-evidence-map/e13/segment-1"/>
          <p:cNvSpPr/>
          <p:nvPr/>
        </p:nvSpPr>
        <p:spPr>
          <a:xfrm>
            <a:off x="457200" y="3232785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8" name="cross-study-synthesis/drawing/art-evidence-map/e14"/>
          <p:cNvSpPr/>
          <p:nvPr/>
        </p:nvSpPr>
        <p:spPr>
          <a:xfrm>
            <a:off x="457200" y="3232785"/>
            <a:ext cx="1127760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cross-study-synthesis/drawing/art-evidence-map/e15"/>
          <p:cNvSpPr/>
          <p:nvPr/>
        </p:nvSpPr>
        <p:spPr>
          <a:xfrm>
            <a:off x="552450" y="336804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B</a:t>
            </a:r>
            <a:endParaRPr lang="zh-CN" sz="1800" dirty="0"/>
          </a:p>
        </p:txBody>
      </p:sp>
      <p:sp>
        <p:nvSpPr>
          <p:cNvPr id="20" name="cross-study-synthesis/drawing/art-evidence-map/e16"/>
          <p:cNvSpPr/>
          <p:nvPr/>
        </p:nvSpPr>
        <p:spPr>
          <a:xfrm>
            <a:off x="3371850" y="336804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B</a:t>
            </a:r>
            <a:endParaRPr lang="zh-CN" sz="1800" dirty="0"/>
          </a:p>
        </p:txBody>
      </p:sp>
      <p:sp>
        <p:nvSpPr>
          <p:cNvPr id="21" name="cross-study-synthesis/drawing/art-evidence-map/e17"/>
          <p:cNvSpPr/>
          <p:nvPr/>
        </p:nvSpPr>
        <p:spPr>
          <a:xfrm>
            <a:off x="6191250" y="336804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 B</a:t>
            </a:r>
            <a:endParaRPr lang="zh-CN" sz="1800" dirty="0"/>
          </a:p>
        </p:txBody>
      </p:sp>
      <p:sp>
        <p:nvSpPr>
          <p:cNvPr id="22" name="cross-study-synthesis/drawing/art-evidence-map/e18"/>
          <p:cNvSpPr/>
          <p:nvPr/>
        </p:nvSpPr>
        <p:spPr>
          <a:xfrm>
            <a:off x="9010650" y="336804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补充</a:t>
            </a:r>
            <a:endParaRPr lang="zh-CN" sz="1800" dirty="0"/>
          </a:p>
        </p:txBody>
      </p:sp>
      <p:sp>
        <p:nvSpPr>
          <p:cNvPr id="23" name="cross-study-synthesis/drawing/art-evidence-map/e19/segment-1"/>
          <p:cNvSpPr/>
          <p:nvPr/>
        </p:nvSpPr>
        <p:spPr>
          <a:xfrm>
            <a:off x="457200" y="3796665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24" name="cross-study-synthesis/drawing/art-evidence-map/e20"/>
          <p:cNvSpPr/>
          <p:nvPr/>
        </p:nvSpPr>
        <p:spPr>
          <a:xfrm>
            <a:off x="457200" y="3796665"/>
            <a:ext cx="11277600" cy="563880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cross-study-synthesis/drawing/art-evidence-map/e21"/>
          <p:cNvSpPr/>
          <p:nvPr/>
        </p:nvSpPr>
        <p:spPr>
          <a:xfrm>
            <a:off x="552450" y="393192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C</a:t>
            </a:r>
            <a:endParaRPr lang="zh-CN" sz="1800" dirty="0"/>
          </a:p>
        </p:txBody>
      </p:sp>
      <p:sp>
        <p:nvSpPr>
          <p:cNvPr id="26" name="cross-study-synthesis/drawing/art-evidence-map/e22"/>
          <p:cNvSpPr/>
          <p:nvPr/>
        </p:nvSpPr>
        <p:spPr>
          <a:xfrm>
            <a:off x="3371850" y="393192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A</a:t>
            </a:r>
            <a:endParaRPr lang="zh-CN" sz="1800" dirty="0"/>
          </a:p>
        </p:txBody>
      </p:sp>
      <p:sp>
        <p:nvSpPr>
          <p:cNvPr id="27" name="cross-study-synthesis/drawing/art-evidence-map/e23"/>
          <p:cNvSpPr/>
          <p:nvPr/>
        </p:nvSpPr>
        <p:spPr>
          <a:xfrm>
            <a:off x="6191250" y="393192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 C</a:t>
            </a:r>
            <a:endParaRPr lang="zh-CN" sz="1800" dirty="0"/>
          </a:p>
        </p:txBody>
      </p:sp>
      <p:sp>
        <p:nvSpPr>
          <p:cNvPr id="28" name="cross-study-synthesis/drawing/art-evidence-map/e24"/>
          <p:cNvSpPr/>
          <p:nvPr/>
        </p:nvSpPr>
        <p:spPr>
          <a:xfrm>
            <a:off x="9010650" y="3931920"/>
            <a:ext cx="26289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有差异</a:t>
            </a:r>
            <a:endParaRPr lang="zh-CN" sz="1800" dirty="0"/>
          </a:p>
        </p:txBody>
      </p:sp>
      <p:sp>
        <p:nvSpPr>
          <p:cNvPr id="29" name="cross-study-synthesis/drawing/art-evidence-map/e25/segment-1"/>
          <p:cNvSpPr/>
          <p:nvPr/>
        </p:nvSpPr>
        <p:spPr>
          <a:xfrm>
            <a:off x="457200" y="4360545"/>
            <a:ext cx="11277600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30" name="cross-study-synthesis/drawing/art-synthesis/e1/segment-1"/>
          <p:cNvSpPr/>
          <p:nvPr/>
        </p:nvSpPr>
        <p:spPr>
          <a:xfrm>
            <a:off x="457200" y="475297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1" name="cross-study-synthesis/drawing/art-synthesis/e2"/>
          <p:cNvSpPr/>
          <p:nvPr/>
        </p:nvSpPr>
        <p:spPr>
          <a:xfrm>
            <a:off x="457200" y="4876800"/>
            <a:ext cx="73304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有条件的综合判断</a:t>
            </a:r>
            <a:endParaRPr lang="zh-CN" sz="1800" dirty="0"/>
          </a:p>
        </p:txBody>
      </p:sp>
      <p:sp>
        <p:nvSpPr>
          <p:cNvPr id="32" name="cross-study-synthesis/drawing/art-synthesis/e3"/>
          <p:cNvSpPr/>
          <p:nvPr/>
        </p:nvSpPr>
        <p:spPr>
          <a:xfrm>
            <a:off x="457200" y="5208270"/>
            <a:ext cx="733044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共同条件下的证据支持有边界的回答。</a:t>
            </a:r>
            <a:endParaRPr lang="zh-CN" sz="2100" dirty="0"/>
          </a:p>
        </p:txBody>
      </p:sp>
      <p:sp>
        <p:nvSpPr>
          <p:cNvPr id="33" name="cross-study-synthesis/drawing/art-unresolved/e1/segment-1"/>
          <p:cNvSpPr/>
          <p:nvPr/>
        </p:nvSpPr>
        <p:spPr>
          <a:xfrm>
            <a:off x="8238744" y="475297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34" name="cross-study-synthesis/drawing/art-unresolved/e2"/>
          <p:cNvSpPr/>
          <p:nvPr/>
        </p:nvSpPr>
        <p:spPr>
          <a:xfrm>
            <a:off x="8238744" y="4876800"/>
            <a:ext cx="349605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仍待回答</a:t>
            </a:r>
            <a:endParaRPr lang="zh-CN" sz="1800" dirty="0"/>
          </a:p>
        </p:txBody>
      </p:sp>
      <p:sp>
        <p:nvSpPr>
          <p:cNvPr id="35" name="cross-study-synthesis/drawing/art-unresolved/e3"/>
          <p:cNvSpPr/>
          <p:nvPr/>
        </p:nvSpPr>
        <p:spPr>
          <a:xfrm>
            <a:off x="8238744" y="5208270"/>
            <a:ext cx="349605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哪些条件仍缺少证据？</a:t>
            </a:r>
            <a:endParaRPr lang="zh-CN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mitation-respons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/ 32</a:t>
            </a:r>
            <a:endParaRPr lang="zh-CN" sz="1350" dirty="0"/>
          </a:p>
        </p:txBody>
      </p:sp>
      <p:sp>
        <p:nvSpPr>
          <p:cNvPr id="3" name="limitation-respons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 局限、影响与可检验响应</a:t>
            </a:r>
            <a:endParaRPr lang="zh-CN" sz="3150" dirty="0"/>
          </a:p>
        </p:txBody>
      </p:sp>
      <p:sp>
        <p:nvSpPr>
          <p:cNvPr id="4" name="limitation-respons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limitation-response/drawing/art-responses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影响哪项判断，如何进一步检验</a:t>
            </a:r>
            <a:endParaRPr lang="zh-CN" sz="1800" dirty="0"/>
          </a:p>
        </p:txBody>
      </p:sp>
      <p:sp>
        <p:nvSpPr>
          <p:cNvPr id="6" name="limitation-response/drawing/art-responses/e2"/>
          <p:cNvSpPr/>
          <p:nvPr/>
        </p:nvSpPr>
        <p:spPr>
          <a:xfrm>
            <a:off x="457200" y="2381250"/>
            <a:ext cx="3044952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limitation-response/drawing/art-responses/e3"/>
          <p:cNvSpPr/>
          <p:nvPr/>
        </p:nvSpPr>
        <p:spPr>
          <a:xfrm>
            <a:off x="457200" y="2381250"/>
            <a:ext cx="47625" cy="742950"/>
          </a:xfrm>
          <a:prstGeom prst="rect">
            <a:avLst/>
          </a:prstGeom>
          <a:solidFill>
            <a:srgbClr val="B66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limitation-response/drawing/art-responses/e4"/>
          <p:cNvSpPr/>
          <p:nvPr/>
        </p:nvSpPr>
        <p:spPr>
          <a:xfrm>
            <a:off x="590550" y="2606040"/>
            <a:ext cx="279730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样本范围</a:t>
            </a:r>
            <a:endParaRPr lang="zh-CN" sz="1800" dirty="0"/>
          </a:p>
        </p:txBody>
      </p:sp>
      <p:sp>
        <p:nvSpPr>
          <p:cNvPr id="9" name="limitation-response/drawing/art-responses/e5"/>
          <p:cNvSpPr/>
          <p:nvPr/>
        </p:nvSpPr>
        <p:spPr>
          <a:xfrm>
            <a:off x="4178808" y="2381250"/>
            <a:ext cx="338328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limitation-response/drawing/art-responses/e6"/>
          <p:cNvSpPr/>
          <p:nvPr/>
        </p:nvSpPr>
        <p:spPr>
          <a:xfrm>
            <a:off x="4178808" y="2381250"/>
            <a:ext cx="47625" cy="7429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mitation-response/drawing/art-responses/e7"/>
          <p:cNvSpPr/>
          <p:nvPr/>
        </p:nvSpPr>
        <p:spPr>
          <a:xfrm>
            <a:off x="4312158" y="2606040"/>
            <a:ext cx="313563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外推受限</a:t>
            </a:r>
            <a:endParaRPr lang="zh-CN" sz="1800" dirty="0"/>
          </a:p>
        </p:txBody>
      </p:sp>
      <p:sp>
        <p:nvSpPr>
          <p:cNvPr id="12" name="limitation-response/drawing/art-responses/e8"/>
          <p:cNvSpPr/>
          <p:nvPr/>
        </p:nvSpPr>
        <p:spPr>
          <a:xfrm>
            <a:off x="8238744" y="2381250"/>
            <a:ext cx="3496056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limitation-response/drawing/art-responses/e9"/>
          <p:cNvSpPr/>
          <p:nvPr/>
        </p:nvSpPr>
        <p:spPr>
          <a:xfrm>
            <a:off x="8238744" y="2381250"/>
            <a:ext cx="47625" cy="7429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mitation-response/drawing/art-responses/e10"/>
          <p:cNvSpPr/>
          <p:nvPr/>
        </p:nvSpPr>
        <p:spPr>
          <a:xfrm>
            <a:off x="8372094" y="2606040"/>
            <a:ext cx="324840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新增独立验证</a:t>
            </a:r>
            <a:endParaRPr lang="zh-CN" sz="1800" dirty="0"/>
          </a:p>
        </p:txBody>
      </p:sp>
      <p:sp>
        <p:nvSpPr>
          <p:cNvPr id="15" name="limitation-response/drawing/art-responses/e11/segment-1"/>
          <p:cNvSpPr/>
          <p:nvPr/>
        </p:nvSpPr>
        <p:spPr>
          <a:xfrm>
            <a:off x="3549777" y="2752725"/>
            <a:ext cx="571881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6" name="limitation-response/drawing/art-responses/e12/segment-1"/>
          <p:cNvSpPr/>
          <p:nvPr/>
        </p:nvSpPr>
        <p:spPr>
          <a:xfrm>
            <a:off x="7609713" y="2752725"/>
            <a:ext cx="571881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7" name="limitation-response/drawing/art-responses/e13"/>
          <p:cNvSpPr/>
          <p:nvPr/>
        </p:nvSpPr>
        <p:spPr>
          <a:xfrm>
            <a:off x="457200" y="3651250"/>
            <a:ext cx="3044952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8" name="limitation-response/drawing/art-responses/e14"/>
          <p:cNvSpPr/>
          <p:nvPr/>
        </p:nvSpPr>
        <p:spPr>
          <a:xfrm>
            <a:off x="457200" y="3651250"/>
            <a:ext cx="47625" cy="742950"/>
          </a:xfrm>
          <a:prstGeom prst="rect">
            <a:avLst/>
          </a:prstGeom>
          <a:solidFill>
            <a:srgbClr val="B66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limitation-response/drawing/art-responses/e15"/>
          <p:cNvSpPr/>
          <p:nvPr/>
        </p:nvSpPr>
        <p:spPr>
          <a:xfrm>
            <a:off x="590550" y="3876040"/>
            <a:ext cx="279730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测量误差</a:t>
            </a:r>
            <a:endParaRPr lang="zh-CN" sz="1800" dirty="0"/>
          </a:p>
        </p:txBody>
      </p:sp>
      <p:sp>
        <p:nvSpPr>
          <p:cNvPr id="20" name="limitation-response/drawing/art-responses/e16"/>
          <p:cNvSpPr/>
          <p:nvPr/>
        </p:nvSpPr>
        <p:spPr>
          <a:xfrm>
            <a:off x="4178808" y="3651250"/>
            <a:ext cx="338328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1" name="limitation-response/drawing/art-responses/e17"/>
          <p:cNvSpPr/>
          <p:nvPr/>
        </p:nvSpPr>
        <p:spPr>
          <a:xfrm>
            <a:off x="4178808" y="3651250"/>
            <a:ext cx="47625" cy="7429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limitation-response/drawing/art-responses/e18"/>
          <p:cNvSpPr/>
          <p:nvPr/>
        </p:nvSpPr>
        <p:spPr>
          <a:xfrm>
            <a:off x="4312158" y="3876040"/>
            <a:ext cx="313563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估计不确定</a:t>
            </a:r>
            <a:endParaRPr lang="zh-CN" sz="1800" dirty="0"/>
          </a:p>
        </p:txBody>
      </p:sp>
      <p:sp>
        <p:nvSpPr>
          <p:cNvPr id="23" name="limitation-response/drawing/art-responses/e19"/>
          <p:cNvSpPr/>
          <p:nvPr/>
        </p:nvSpPr>
        <p:spPr>
          <a:xfrm>
            <a:off x="8238744" y="3651250"/>
            <a:ext cx="3496056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4" name="limitation-response/drawing/art-responses/e20"/>
          <p:cNvSpPr/>
          <p:nvPr/>
        </p:nvSpPr>
        <p:spPr>
          <a:xfrm>
            <a:off x="8238744" y="3651250"/>
            <a:ext cx="47625" cy="7429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limitation-response/drawing/art-responses/e21"/>
          <p:cNvSpPr/>
          <p:nvPr/>
        </p:nvSpPr>
        <p:spPr>
          <a:xfrm>
            <a:off x="8372094" y="3876040"/>
            <a:ext cx="324840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检验误差传播</a:t>
            </a:r>
            <a:endParaRPr lang="zh-CN" sz="1800" dirty="0"/>
          </a:p>
        </p:txBody>
      </p:sp>
      <p:sp>
        <p:nvSpPr>
          <p:cNvPr id="26" name="limitation-response/drawing/art-responses/e22/segment-1"/>
          <p:cNvSpPr/>
          <p:nvPr/>
        </p:nvSpPr>
        <p:spPr>
          <a:xfrm>
            <a:off x="3549777" y="4022725"/>
            <a:ext cx="571881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7" name="limitation-response/drawing/art-responses/e23/segment-1"/>
          <p:cNvSpPr/>
          <p:nvPr/>
        </p:nvSpPr>
        <p:spPr>
          <a:xfrm>
            <a:off x="7609713" y="4022725"/>
            <a:ext cx="571881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8" name="limitation-response/drawing/art-responses/e24"/>
          <p:cNvSpPr/>
          <p:nvPr/>
        </p:nvSpPr>
        <p:spPr>
          <a:xfrm>
            <a:off x="457200" y="4921250"/>
            <a:ext cx="3044952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29" name="limitation-response/drawing/art-responses/e25"/>
          <p:cNvSpPr/>
          <p:nvPr/>
        </p:nvSpPr>
        <p:spPr>
          <a:xfrm>
            <a:off x="457200" y="4921250"/>
            <a:ext cx="47625" cy="742950"/>
          </a:xfrm>
          <a:prstGeom prst="rect">
            <a:avLst/>
          </a:prstGeom>
          <a:solidFill>
            <a:srgbClr val="B66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limitation-response/drawing/art-responses/e26"/>
          <p:cNvSpPr/>
          <p:nvPr/>
        </p:nvSpPr>
        <p:spPr>
          <a:xfrm>
            <a:off x="590550" y="5146040"/>
            <a:ext cx="279730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假设条件</a:t>
            </a:r>
            <a:endParaRPr lang="zh-CN" sz="1800" dirty="0"/>
          </a:p>
        </p:txBody>
      </p:sp>
      <p:sp>
        <p:nvSpPr>
          <p:cNvPr id="31" name="limitation-response/drawing/art-responses/e27"/>
          <p:cNvSpPr/>
          <p:nvPr/>
        </p:nvSpPr>
        <p:spPr>
          <a:xfrm>
            <a:off x="4178808" y="4921250"/>
            <a:ext cx="338328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2" name="limitation-response/drawing/art-responses/e28"/>
          <p:cNvSpPr/>
          <p:nvPr/>
        </p:nvSpPr>
        <p:spPr>
          <a:xfrm>
            <a:off x="4178808" y="4921250"/>
            <a:ext cx="47625" cy="7429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limitation-response/drawing/art-responses/e29"/>
          <p:cNvSpPr/>
          <p:nvPr/>
        </p:nvSpPr>
        <p:spPr>
          <a:xfrm>
            <a:off x="4312158" y="5146040"/>
            <a:ext cx="313563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解释有边界</a:t>
            </a:r>
            <a:endParaRPr lang="zh-CN" sz="1800" dirty="0"/>
          </a:p>
        </p:txBody>
      </p:sp>
      <p:sp>
        <p:nvSpPr>
          <p:cNvPr id="34" name="limitation-response/drawing/art-responses/e30"/>
          <p:cNvSpPr/>
          <p:nvPr/>
        </p:nvSpPr>
        <p:spPr>
          <a:xfrm>
            <a:off x="8238744" y="4921250"/>
            <a:ext cx="3496056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35" name="limitation-response/drawing/art-responses/e31"/>
          <p:cNvSpPr/>
          <p:nvPr/>
        </p:nvSpPr>
        <p:spPr>
          <a:xfrm>
            <a:off x="8238744" y="4921250"/>
            <a:ext cx="47625" cy="7429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limitation-response/drawing/art-responses/e32"/>
          <p:cNvSpPr/>
          <p:nvPr/>
        </p:nvSpPr>
        <p:spPr>
          <a:xfrm>
            <a:off x="8372094" y="5146040"/>
            <a:ext cx="324840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预设反例检验</a:t>
            </a:r>
            <a:endParaRPr lang="zh-CN" sz="1800" dirty="0"/>
          </a:p>
        </p:txBody>
      </p:sp>
      <p:sp>
        <p:nvSpPr>
          <p:cNvPr id="37" name="limitation-response/drawing/art-responses/e33/segment-1"/>
          <p:cNvSpPr/>
          <p:nvPr/>
        </p:nvSpPr>
        <p:spPr>
          <a:xfrm>
            <a:off x="3549777" y="5292725"/>
            <a:ext cx="571881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8" name="limitation-response/drawing/art-responses/e34/segment-1"/>
          <p:cNvSpPr/>
          <p:nvPr/>
        </p:nvSpPr>
        <p:spPr>
          <a:xfrm>
            <a:off x="7609713" y="5292725"/>
            <a:ext cx="571881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posal-decisio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/ 32</a:t>
            </a:r>
            <a:endParaRPr lang="zh-CN" sz="1350" dirty="0"/>
          </a:p>
        </p:txBody>
      </p:sp>
      <p:sp>
        <p:nvSpPr>
          <p:cNvPr id="3" name="proposal-decisio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 研究方案与判定分支</a:t>
            </a:r>
            <a:endParaRPr lang="zh-CN" sz="3150" dirty="0"/>
          </a:p>
        </p:txBody>
      </p:sp>
      <p:sp>
        <p:nvSpPr>
          <p:cNvPr id="4" name="proposal-decisio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proposal-decision/drawing/art-hypothesis/e1/segment-1"/>
          <p:cNvSpPr/>
          <p:nvPr/>
        </p:nvSpPr>
        <p:spPr>
          <a:xfrm>
            <a:off x="457200" y="212407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6" name="proposal-decision/drawing/art-hypothesis/e2"/>
          <p:cNvSpPr/>
          <p:nvPr/>
        </p:nvSpPr>
        <p:spPr>
          <a:xfrm>
            <a:off x="457200" y="2247900"/>
            <a:ext cx="28194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待检验假设</a:t>
            </a:r>
            <a:endParaRPr lang="zh-CN" sz="1800" dirty="0"/>
          </a:p>
        </p:txBody>
      </p:sp>
      <p:sp>
        <p:nvSpPr>
          <p:cNvPr id="7" name="proposal-decision/drawing/art-hypothesis/e3"/>
          <p:cNvSpPr/>
          <p:nvPr/>
        </p:nvSpPr>
        <p:spPr>
          <a:xfrm>
            <a:off x="457200" y="2579370"/>
            <a:ext cx="2819400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将假设写成可以被支持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或否定的关系。</a:t>
            </a:r>
            <a:endParaRPr lang="zh-CN" sz="2100" dirty="0"/>
          </a:p>
        </p:txBody>
      </p:sp>
      <p:sp>
        <p:nvSpPr>
          <p:cNvPr id="8" name="proposal-decision/drawing/art-test/e1"/>
          <p:cNvSpPr/>
          <p:nvPr/>
        </p:nvSpPr>
        <p:spPr>
          <a:xfrm>
            <a:off x="3727704" y="1676400"/>
            <a:ext cx="800709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预设判定保留两种结果</a:t>
            </a:r>
            <a:endParaRPr lang="zh-CN" sz="1800" dirty="0"/>
          </a:p>
        </p:txBody>
      </p:sp>
      <p:sp>
        <p:nvSpPr>
          <p:cNvPr id="9" name="proposal-decision/drawing/art-test/e2"/>
          <p:cNvSpPr/>
          <p:nvPr/>
        </p:nvSpPr>
        <p:spPr>
          <a:xfrm>
            <a:off x="3727704" y="3562350"/>
            <a:ext cx="2190750" cy="66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proposal-decision/drawing/art-test/e3"/>
          <p:cNvSpPr/>
          <p:nvPr/>
        </p:nvSpPr>
        <p:spPr>
          <a:xfrm>
            <a:off x="3727704" y="3562350"/>
            <a:ext cx="47625" cy="6667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proposal-decision/drawing/art-test/e4"/>
          <p:cNvSpPr/>
          <p:nvPr/>
        </p:nvSpPr>
        <p:spPr>
          <a:xfrm>
            <a:off x="3861054" y="3749040"/>
            <a:ext cx="19431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独立检验</a:t>
            </a:r>
            <a:endParaRPr lang="zh-CN" sz="1800" dirty="0"/>
          </a:p>
        </p:txBody>
      </p:sp>
      <p:sp>
        <p:nvSpPr>
          <p:cNvPr id="12" name="proposal-decision/drawing/art-test/e5"/>
          <p:cNvSpPr/>
          <p:nvPr/>
        </p:nvSpPr>
        <p:spPr>
          <a:xfrm>
            <a:off x="9544050" y="2362200"/>
            <a:ext cx="2190750" cy="66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proposal-decision/drawing/art-test/e6"/>
          <p:cNvSpPr/>
          <p:nvPr/>
        </p:nvSpPr>
        <p:spPr>
          <a:xfrm>
            <a:off x="9544050" y="2362200"/>
            <a:ext cx="47625" cy="6667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proposal-decision/drawing/art-test/e7"/>
          <p:cNvSpPr/>
          <p:nvPr/>
        </p:nvSpPr>
        <p:spPr>
          <a:xfrm>
            <a:off x="9677400" y="2548890"/>
            <a:ext cx="19431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支持假设</a:t>
            </a:r>
            <a:endParaRPr lang="zh-CN" sz="1800" dirty="0"/>
          </a:p>
        </p:txBody>
      </p:sp>
      <p:sp>
        <p:nvSpPr>
          <p:cNvPr id="15" name="proposal-decision/drawing/art-test/e8"/>
          <p:cNvSpPr/>
          <p:nvPr/>
        </p:nvSpPr>
        <p:spPr>
          <a:xfrm>
            <a:off x="9544050" y="5153025"/>
            <a:ext cx="2190750" cy="66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6" name="proposal-decision/drawing/art-test/e9"/>
          <p:cNvSpPr/>
          <p:nvPr/>
        </p:nvSpPr>
        <p:spPr>
          <a:xfrm>
            <a:off x="9544050" y="5153025"/>
            <a:ext cx="47625" cy="666750"/>
          </a:xfrm>
          <a:prstGeom prst="rect">
            <a:avLst/>
          </a:prstGeom>
          <a:solidFill>
            <a:srgbClr val="B66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proposal-decision/drawing/art-test/e10"/>
          <p:cNvSpPr/>
          <p:nvPr/>
        </p:nvSpPr>
        <p:spPr>
          <a:xfrm>
            <a:off x="9677400" y="5339715"/>
            <a:ext cx="19431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668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不支持假设</a:t>
            </a:r>
            <a:endParaRPr lang="zh-CN" sz="1800" dirty="0"/>
          </a:p>
        </p:txBody>
      </p:sp>
      <p:sp>
        <p:nvSpPr>
          <p:cNvPr id="18" name="proposal-decision/drawing/art-test/e11/segment-1"/>
          <p:cNvSpPr/>
          <p:nvPr/>
        </p:nvSpPr>
        <p:spPr>
          <a:xfrm>
            <a:off x="5975604" y="3895725"/>
            <a:ext cx="1755648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19" name="proposal-decision/drawing/art-test/e11/segment-2"/>
          <p:cNvSpPr/>
          <p:nvPr/>
        </p:nvSpPr>
        <p:spPr>
          <a:xfrm flipV="1">
            <a:off x="7731252" y="2695575"/>
            <a:ext cx="0" cy="120015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0" name="proposal-decision/drawing/art-test/e11/segment-3"/>
          <p:cNvSpPr/>
          <p:nvPr/>
        </p:nvSpPr>
        <p:spPr>
          <a:xfrm>
            <a:off x="7731252" y="2695575"/>
            <a:ext cx="1755648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1" name="proposal-decision/drawing/art-test/e12/segment-1"/>
          <p:cNvSpPr/>
          <p:nvPr/>
        </p:nvSpPr>
        <p:spPr>
          <a:xfrm>
            <a:off x="7731252" y="3895725"/>
            <a:ext cx="0" cy="1590675"/>
          </a:xfrm>
          <a:prstGeom prst="line">
            <a:avLst/>
          </a:prstGeom>
          <a:noFill/>
          <a:ln w="19050">
            <a:solidFill>
              <a:srgbClr val="B6684C"/>
            </a:solidFill>
            <a:prstDash val="solid"/>
          </a:ln>
        </p:spPr>
      </p:sp>
      <p:sp>
        <p:nvSpPr>
          <p:cNvPr id="22" name="proposal-decision/drawing/art-test/e12/segment-2"/>
          <p:cNvSpPr/>
          <p:nvPr/>
        </p:nvSpPr>
        <p:spPr>
          <a:xfrm>
            <a:off x="7731252" y="5486400"/>
            <a:ext cx="1755648" cy="0"/>
          </a:xfrm>
          <a:prstGeom prst="line">
            <a:avLst/>
          </a:prstGeom>
          <a:noFill/>
          <a:ln w="19050">
            <a:solidFill>
              <a:srgbClr val="B6684C"/>
            </a:solidFill>
            <a:prstDash val="solid"/>
            <a:tailEnd type="triangle"/>
          </a:ln>
        </p:spPr>
      </p:sp>
      <p:sp>
        <p:nvSpPr>
          <p:cNvPr id="23" name="proposal-decision/drawing/art-test/e13"/>
          <p:cNvSpPr/>
          <p:nvPr/>
        </p:nvSpPr>
        <p:spPr>
          <a:xfrm>
            <a:off x="7845552" y="4048125"/>
            <a:ext cx="142875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预定判断</a:t>
            </a:r>
            <a:endParaRPr lang="zh-CN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-package-dependency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 / 32</a:t>
            </a:r>
            <a:endParaRPr lang="zh-CN" sz="1350" dirty="0"/>
          </a:p>
        </p:txBody>
      </p:sp>
      <p:sp>
        <p:nvSpPr>
          <p:cNvPr id="3" name="work-package-dependency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  研究任务的依赖网络</a:t>
            </a:r>
            <a:endParaRPr lang="zh-CN" sz="3150" dirty="0"/>
          </a:p>
        </p:txBody>
      </p:sp>
      <p:sp>
        <p:nvSpPr>
          <p:cNvPr id="4" name="work-package-dependency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work-package-dependency/drawing/art-dependencies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任务、交付物与依赖</a:t>
            </a:r>
            <a:endParaRPr lang="zh-CN" sz="1800" dirty="0"/>
          </a:p>
        </p:txBody>
      </p:sp>
      <p:sp>
        <p:nvSpPr>
          <p:cNvPr id="6" name="work-package-dependency/drawing/art-dependencies/e2"/>
          <p:cNvSpPr/>
          <p:nvPr/>
        </p:nvSpPr>
        <p:spPr>
          <a:xfrm>
            <a:off x="4905375" y="2228850"/>
            <a:ext cx="238125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work-package-dependency/drawing/art-dependencies/e3"/>
          <p:cNvSpPr/>
          <p:nvPr/>
        </p:nvSpPr>
        <p:spPr>
          <a:xfrm>
            <a:off x="4905375" y="2228850"/>
            <a:ext cx="47625" cy="647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work-package-dependency/drawing/art-dependencies/e4"/>
          <p:cNvSpPr/>
          <p:nvPr/>
        </p:nvSpPr>
        <p:spPr>
          <a:xfrm>
            <a:off x="5038725" y="2406015"/>
            <a:ext cx="2133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共同问题</a:t>
            </a:r>
            <a:endParaRPr lang="zh-CN" sz="1800" dirty="0"/>
          </a:p>
        </p:txBody>
      </p:sp>
      <p:sp>
        <p:nvSpPr>
          <p:cNvPr id="9" name="work-package-dependency/drawing/art-dependencies/e5"/>
          <p:cNvSpPr/>
          <p:nvPr/>
        </p:nvSpPr>
        <p:spPr>
          <a:xfrm>
            <a:off x="600075" y="3560445"/>
            <a:ext cx="238125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work-package-dependency/drawing/art-dependencies/e6"/>
          <p:cNvSpPr/>
          <p:nvPr/>
        </p:nvSpPr>
        <p:spPr>
          <a:xfrm>
            <a:off x="600075" y="3560445"/>
            <a:ext cx="47625" cy="647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work-package-dependency/drawing/art-dependencies/e7"/>
          <p:cNvSpPr/>
          <p:nvPr/>
        </p:nvSpPr>
        <p:spPr>
          <a:xfrm>
            <a:off x="733425" y="3737610"/>
            <a:ext cx="2133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观测任务</a:t>
            </a:r>
            <a:endParaRPr lang="zh-CN" sz="1800" dirty="0"/>
          </a:p>
        </p:txBody>
      </p:sp>
      <p:sp>
        <p:nvSpPr>
          <p:cNvPr id="12" name="work-package-dependency/drawing/art-dependencies/e8"/>
          <p:cNvSpPr/>
          <p:nvPr/>
        </p:nvSpPr>
        <p:spPr>
          <a:xfrm>
            <a:off x="4905375" y="3560445"/>
            <a:ext cx="238125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work-package-dependency/drawing/art-dependencies/e9"/>
          <p:cNvSpPr/>
          <p:nvPr/>
        </p:nvSpPr>
        <p:spPr>
          <a:xfrm>
            <a:off x="4905375" y="3560445"/>
            <a:ext cx="47625" cy="6477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work-package-dependency/drawing/art-dependencies/e10"/>
          <p:cNvSpPr/>
          <p:nvPr/>
        </p:nvSpPr>
        <p:spPr>
          <a:xfrm>
            <a:off x="5038725" y="3737610"/>
            <a:ext cx="2133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方法任务</a:t>
            </a:r>
            <a:endParaRPr lang="zh-CN" sz="1800" dirty="0"/>
          </a:p>
        </p:txBody>
      </p:sp>
      <p:sp>
        <p:nvSpPr>
          <p:cNvPr id="15" name="work-package-dependency/drawing/art-dependencies/e11"/>
          <p:cNvSpPr/>
          <p:nvPr/>
        </p:nvSpPr>
        <p:spPr>
          <a:xfrm>
            <a:off x="9210675" y="3560445"/>
            <a:ext cx="238125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6" name="work-package-dependency/drawing/art-dependencies/e12"/>
          <p:cNvSpPr/>
          <p:nvPr/>
        </p:nvSpPr>
        <p:spPr>
          <a:xfrm>
            <a:off x="9210675" y="3560445"/>
            <a:ext cx="47625" cy="647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work-package-dependency/drawing/art-dependencies/e13"/>
          <p:cNvSpPr/>
          <p:nvPr/>
        </p:nvSpPr>
        <p:spPr>
          <a:xfrm>
            <a:off x="9344025" y="3737610"/>
            <a:ext cx="2133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验证任务</a:t>
            </a:r>
            <a:endParaRPr lang="zh-CN" sz="1800" dirty="0"/>
          </a:p>
        </p:txBody>
      </p:sp>
      <p:sp>
        <p:nvSpPr>
          <p:cNvPr id="18" name="work-package-dependency/drawing/art-dependencies/e14"/>
          <p:cNvSpPr/>
          <p:nvPr/>
        </p:nvSpPr>
        <p:spPr>
          <a:xfrm>
            <a:off x="4905375" y="5314950"/>
            <a:ext cx="238125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9" name="work-package-dependency/drawing/art-dependencies/e15"/>
          <p:cNvSpPr/>
          <p:nvPr/>
        </p:nvSpPr>
        <p:spPr>
          <a:xfrm>
            <a:off x="4905375" y="5314950"/>
            <a:ext cx="47625" cy="6477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work-package-dependency/drawing/art-dependencies/e16"/>
          <p:cNvSpPr/>
          <p:nvPr/>
        </p:nvSpPr>
        <p:spPr>
          <a:xfrm>
            <a:off x="5038725" y="5492115"/>
            <a:ext cx="2133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可核验交付物</a:t>
            </a:r>
            <a:endParaRPr lang="zh-CN" sz="1800" dirty="0"/>
          </a:p>
        </p:txBody>
      </p:sp>
      <p:sp>
        <p:nvSpPr>
          <p:cNvPr id="21" name="work-package-dependency/drawing/art-dependencies/e17/segment-1"/>
          <p:cNvSpPr/>
          <p:nvPr/>
        </p:nvSpPr>
        <p:spPr>
          <a:xfrm>
            <a:off x="6096000" y="2876550"/>
            <a:ext cx="0" cy="190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2" name="work-package-dependency/drawing/art-dependencies/e17/segment-2"/>
          <p:cNvSpPr/>
          <p:nvPr/>
        </p:nvSpPr>
        <p:spPr>
          <a:xfrm flipH="1">
            <a:off x="1790700" y="3067050"/>
            <a:ext cx="4305300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3" name="work-package-dependency/drawing/art-dependencies/e17/segment-3"/>
          <p:cNvSpPr/>
          <p:nvPr/>
        </p:nvSpPr>
        <p:spPr>
          <a:xfrm>
            <a:off x="1790700" y="3067050"/>
            <a:ext cx="0" cy="436245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4" name="work-package-dependency/drawing/art-dependencies/e18/segment-1"/>
          <p:cNvSpPr/>
          <p:nvPr/>
        </p:nvSpPr>
        <p:spPr>
          <a:xfrm>
            <a:off x="1790700" y="4208145"/>
            <a:ext cx="0" cy="93535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5" name="work-package-dependency/drawing/art-dependencies/e18/segment-2"/>
          <p:cNvSpPr/>
          <p:nvPr/>
        </p:nvSpPr>
        <p:spPr>
          <a:xfrm>
            <a:off x="1790700" y="5143500"/>
            <a:ext cx="430530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6" name="work-package-dependency/drawing/art-dependencies/e18/segment-3"/>
          <p:cNvSpPr/>
          <p:nvPr/>
        </p:nvSpPr>
        <p:spPr>
          <a:xfrm>
            <a:off x="6096000" y="5143500"/>
            <a:ext cx="0" cy="1143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7" name="work-package-dependency/drawing/art-dependencies/e19/segment-1"/>
          <p:cNvSpPr/>
          <p:nvPr/>
        </p:nvSpPr>
        <p:spPr>
          <a:xfrm>
            <a:off x="6096000" y="2876550"/>
            <a:ext cx="0" cy="190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8" name="work-package-dependency/drawing/art-dependencies/e19/segment-2"/>
          <p:cNvSpPr/>
          <p:nvPr/>
        </p:nvSpPr>
        <p:spPr>
          <a:xfrm>
            <a:off x="6096000" y="3067050"/>
            <a:ext cx="0" cy="436245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9" name="work-package-dependency/drawing/art-dependencies/e20/segment-1"/>
          <p:cNvSpPr/>
          <p:nvPr/>
        </p:nvSpPr>
        <p:spPr>
          <a:xfrm>
            <a:off x="6096000" y="4208145"/>
            <a:ext cx="0" cy="93535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0" name="work-package-dependency/drawing/art-dependencies/e20/segment-2"/>
          <p:cNvSpPr/>
          <p:nvPr/>
        </p:nvSpPr>
        <p:spPr>
          <a:xfrm>
            <a:off x="6096000" y="5143500"/>
            <a:ext cx="0" cy="1143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1" name="work-package-dependency/drawing/art-dependencies/e21/segment-1"/>
          <p:cNvSpPr/>
          <p:nvPr/>
        </p:nvSpPr>
        <p:spPr>
          <a:xfrm>
            <a:off x="6096000" y="2876550"/>
            <a:ext cx="0" cy="190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32" name="work-package-dependency/drawing/art-dependencies/e21/segment-2"/>
          <p:cNvSpPr/>
          <p:nvPr/>
        </p:nvSpPr>
        <p:spPr>
          <a:xfrm>
            <a:off x="6096000" y="3067050"/>
            <a:ext cx="4305300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33" name="work-package-dependency/drawing/art-dependencies/e21/segment-3"/>
          <p:cNvSpPr/>
          <p:nvPr/>
        </p:nvSpPr>
        <p:spPr>
          <a:xfrm>
            <a:off x="10401300" y="3067050"/>
            <a:ext cx="0" cy="436245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34" name="work-package-dependency/drawing/art-dependencies/e22/segment-1"/>
          <p:cNvSpPr/>
          <p:nvPr/>
        </p:nvSpPr>
        <p:spPr>
          <a:xfrm>
            <a:off x="10401300" y="4208145"/>
            <a:ext cx="0" cy="93535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5" name="work-package-dependency/drawing/art-dependencies/e22/segment-2"/>
          <p:cNvSpPr/>
          <p:nvPr/>
        </p:nvSpPr>
        <p:spPr>
          <a:xfrm flipH="1">
            <a:off x="6096000" y="5143500"/>
            <a:ext cx="430530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6" name="work-package-dependency/drawing/art-dependencies/e22/segment-3"/>
          <p:cNvSpPr/>
          <p:nvPr/>
        </p:nvSpPr>
        <p:spPr>
          <a:xfrm>
            <a:off x="6096000" y="5143500"/>
            <a:ext cx="0" cy="1143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lestone-timeline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/ 32</a:t>
            </a:r>
            <a:endParaRPr lang="zh-CN" sz="1350" dirty="0"/>
          </a:p>
        </p:txBody>
      </p:sp>
      <p:sp>
        <p:nvSpPr>
          <p:cNvPr id="3" name="milestone-timeline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 里程碑与验收证据</a:t>
            </a:r>
            <a:endParaRPr lang="zh-CN" sz="3150" dirty="0"/>
          </a:p>
        </p:txBody>
      </p:sp>
      <p:sp>
        <p:nvSpPr>
          <p:cNvPr id="4" name="milestone-timeline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milestone-timeline/drawing/art-timeline/e1"/>
          <p:cNvSpPr/>
          <p:nvPr/>
        </p:nvSpPr>
        <p:spPr>
          <a:xfrm>
            <a:off x="457200" y="167640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任务持续时间与交付节点</a:t>
            </a:r>
            <a:endParaRPr lang="zh-CN" sz="1800" dirty="0"/>
          </a:p>
        </p:txBody>
      </p:sp>
      <p:sp>
        <p:nvSpPr>
          <p:cNvPr id="6" name="milestone-timeline/drawing/art-timeline/e2"/>
          <p:cNvSpPr/>
          <p:nvPr/>
        </p:nvSpPr>
        <p:spPr>
          <a:xfrm>
            <a:off x="2171700" y="2181225"/>
            <a:ext cx="189357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1</a:t>
            </a:r>
            <a:endParaRPr lang="zh-CN" sz="1800" dirty="0"/>
          </a:p>
        </p:txBody>
      </p:sp>
      <p:sp>
        <p:nvSpPr>
          <p:cNvPr id="7" name="milestone-timeline/drawing/art-timeline/e3/segment-1"/>
          <p:cNvSpPr/>
          <p:nvPr/>
        </p:nvSpPr>
        <p:spPr>
          <a:xfrm>
            <a:off x="2171700" y="2562225"/>
            <a:ext cx="0" cy="226504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8" name="milestone-timeline/drawing/art-timeline/e4"/>
          <p:cNvSpPr/>
          <p:nvPr/>
        </p:nvSpPr>
        <p:spPr>
          <a:xfrm>
            <a:off x="4065270" y="2181225"/>
            <a:ext cx="189357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</a:t>
            </a:r>
            <a:endParaRPr lang="zh-CN" sz="1800" dirty="0"/>
          </a:p>
        </p:txBody>
      </p:sp>
      <p:sp>
        <p:nvSpPr>
          <p:cNvPr id="9" name="milestone-timeline/drawing/art-timeline/e5/segment-1"/>
          <p:cNvSpPr/>
          <p:nvPr/>
        </p:nvSpPr>
        <p:spPr>
          <a:xfrm>
            <a:off x="4065270" y="2562225"/>
            <a:ext cx="0" cy="226504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0" name="milestone-timeline/drawing/art-timeline/e6"/>
          <p:cNvSpPr/>
          <p:nvPr/>
        </p:nvSpPr>
        <p:spPr>
          <a:xfrm>
            <a:off x="5958840" y="2181225"/>
            <a:ext cx="189357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3</a:t>
            </a:r>
            <a:endParaRPr lang="zh-CN" sz="1800" dirty="0"/>
          </a:p>
        </p:txBody>
      </p:sp>
      <p:sp>
        <p:nvSpPr>
          <p:cNvPr id="11" name="milestone-timeline/drawing/art-timeline/e7/segment-1"/>
          <p:cNvSpPr/>
          <p:nvPr/>
        </p:nvSpPr>
        <p:spPr>
          <a:xfrm>
            <a:off x="5958840" y="2562225"/>
            <a:ext cx="0" cy="226504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2" name="milestone-timeline/drawing/art-timeline/e8"/>
          <p:cNvSpPr/>
          <p:nvPr/>
        </p:nvSpPr>
        <p:spPr>
          <a:xfrm>
            <a:off x="7852410" y="2181225"/>
            <a:ext cx="189357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4</a:t>
            </a:r>
            <a:endParaRPr lang="zh-CN" sz="1800" dirty="0"/>
          </a:p>
        </p:txBody>
      </p:sp>
      <p:sp>
        <p:nvSpPr>
          <p:cNvPr id="13" name="milestone-timeline/drawing/art-timeline/e9/segment-1"/>
          <p:cNvSpPr/>
          <p:nvPr/>
        </p:nvSpPr>
        <p:spPr>
          <a:xfrm>
            <a:off x="7852410" y="2562225"/>
            <a:ext cx="0" cy="226504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4" name="milestone-timeline/drawing/art-timeline/e10"/>
          <p:cNvSpPr/>
          <p:nvPr/>
        </p:nvSpPr>
        <p:spPr>
          <a:xfrm>
            <a:off x="9745980" y="2181225"/>
            <a:ext cx="189357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5</a:t>
            </a:r>
            <a:endParaRPr lang="zh-CN" sz="1800" dirty="0"/>
          </a:p>
        </p:txBody>
      </p:sp>
      <p:sp>
        <p:nvSpPr>
          <p:cNvPr id="15" name="milestone-timeline/drawing/art-timeline/e11/segment-1"/>
          <p:cNvSpPr/>
          <p:nvPr/>
        </p:nvSpPr>
        <p:spPr>
          <a:xfrm>
            <a:off x="9745980" y="2562225"/>
            <a:ext cx="0" cy="2265045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16" name="milestone-timeline/drawing/art-timeline/e12"/>
          <p:cNvSpPr/>
          <p:nvPr/>
        </p:nvSpPr>
        <p:spPr>
          <a:xfrm>
            <a:off x="457200" y="2686050"/>
            <a:ext cx="16002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数据准备</a:t>
            </a:r>
            <a:endParaRPr lang="zh-CN" sz="1800" dirty="0"/>
          </a:p>
        </p:txBody>
      </p:sp>
      <p:sp>
        <p:nvSpPr>
          <p:cNvPr id="17" name="milestone-timeline/drawing/art-timeline/e13"/>
          <p:cNvSpPr/>
          <p:nvPr/>
        </p:nvSpPr>
        <p:spPr>
          <a:xfrm>
            <a:off x="2228850" y="2714625"/>
            <a:ext cx="3653790" cy="2476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milestone-timeline/drawing/art-timeline/e14"/>
          <p:cNvSpPr/>
          <p:nvPr/>
        </p:nvSpPr>
        <p:spPr>
          <a:xfrm>
            <a:off x="457200" y="3328511"/>
            <a:ext cx="16002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方法构建</a:t>
            </a:r>
            <a:endParaRPr lang="zh-CN" sz="1800" dirty="0"/>
          </a:p>
        </p:txBody>
      </p:sp>
      <p:sp>
        <p:nvSpPr>
          <p:cNvPr id="19" name="milestone-timeline/drawing/art-timeline/e15"/>
          <p:cNvSpPr/>
          <p:nvPr/>
        </p:nvSpPr>
        <p:spPr>
          <a:xfrm>
            <a:off x="4122420" y="3357086"/>
            <a:ext cx="5547360" cy="2476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milestone-timeline/drawing/art-timeline/e16"/>
          <p:cNvSpPr/>
          <p:nvPr/>
        </p:nvSpPr>
        <p:spPr>
          <a:xfrm>
            <a:off x="457200" y="3970973"/>
            <a:ext cx="16002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独立验证</a:t>
            </a:r>
            <a:endParaRPr lang="zh-CN" sz="1800" dirty="0"/>
          </a:p>
        </p:txBody>
      </p:sp>
      <p:sp>
        <p:nvSpPr>
          <p:cNvPr id="21" name="milestone-timeline/drawing/art-timeline/e17"/>
          <p:cNvSpPr/>
          <p:nvPr/>
        </p:nvSpPr>
        <p:spPr>
          <a:xfrm>
            <a:off x="7909560" y="3999548"/>
            <a:ext cx="3653790" cy="2476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milestone-timeline/drawing/art-acceptance/e1/segment-1"/>
          <p:cNvSpPr/>
          <p:nvPr/>
        </p:nvSpPr>
        <p:spPr>
          <a:xfrm>
            <a:off x="457200" y="514731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3" name="milestone-timeline/drawing/art-acceptance/e2"/>
          <p:cNvSpPr/>
          <p:nvPr/>
        </p:nvSpPr>
        <p:spPr>
          <a:xfrm>
            <a:off x="457200" y="5271135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里程碑验收依据</a:t>
            </a:r>
            <a:endParaRPr lang="zh-CN" sz="1800" dirty="0"/>
          </a:p>
        </p:txBody>
      </p:sp>
      <p:sp>
        <p:nvSpPr>
          <p:cNvPr id="24" name="milestone-timeline/drawing/art-acceptance/e3"/>
          <p:cNvSpPr/>
          <p:nvPr/>
        </p:nvSpPr>
        <p:spPr>
          <a:xfrm>
            <a:off x="457200" y="5602605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每一里程碑对应可核验的产出。</a:t>
            </a:r>
            <a:endParaRPr lang="zh-CN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ource-allocatio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 / 32</a:t>
            </a:r>
            <a:endParaRPr lang="zh-CN" sz="1350" dirty="0"/>
          </a:p>
        </p:txBody>
      </p:sp>
      <p:sp>
        <p:nvSpPr>
          <p:cNvPr id="3" name="resource-allocatio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  资源结构与精确核对</a:t>
            </a:r>
            <a:endParaRPr lang="zh-CN" sz="3150" dirty="0"/>
          </a:p>
        </p:txBody>
      </p:sp>
      <p:sp>
        <p:nvSpPr>
          <p:cNvPr id="4" name="resource-allocatio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resource-allocation/drawing/art-allocation/e1"/>
          <p:cNvSpPr/>
          <p:nvPr/>
        </p:nvSpPr>
        <p:spPr>
          <a:xfrm>
            <a:off x="457200" y="1676400"/>
            <a:ext cx="530047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资源归属关系</a:t>
            </a:r>
            <a:endParaRPr lang="zh-CN" sz="1800" dirty="0"/>
          </a:p>
        </p:txBody>
      </p:sp>
      <p:sp>
        <p:nvSpPr>
          <p:cNvPr id="6" name="resource-allocation/drawing/art-allocation/e2"/>
          <p:cNvSpPr/>
          <p:nvPr/>
        </p:nvSpPr>
        <p:spPr>
          <a:xfrm>
            <a:off x="2444877" y="2228850"/>
            <a:ext cx="1325118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7" name="resource-allocation/drawing/art-allocation/e3"/>
          <p:cNvSpPr/>
          <p:nvPr/>
        </p:nvSpPr>
        <p:spPr>
          <a:xfrm>
            <a:off x="2444877" y="2228850"/>
            <a:ext cx="47625" cy="647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resource-allocation/drawing/art-allocation/e4"/>
          <p:cNvSpPr/>
          <p:nvPr/>
        </p:nvSpPr>
        <p:spPr>
          <a:xfrm>
            <a:off x="2578227" y="2406015"/>
            <a:ext cx="107746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资源总量</a:t>
            </a:r>
            <a:endParaRPr lang="zh-CN" sz="1800" dirty="0"/>
          </a:p>
        </p:txBody>
      </p:sp>
      <p:sp>
        <p:nvSpPr>
          <p:cNvPr id="9" name="resource-allocation/drawing/art-allocation/e5"/>
          <p:cNvSpPr/>
          <p:nvPr/>
        </p:nvSpPr>
        <p:spPr>
          <a:xfrm>
            <a:off x="600075" y="3560445"/>
            <a:ext cx="1325118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resource-allocation/drawing/art-allocation/e6"/>
          <p:cNvSpPr/>
          <p:nvPr/>
        </p:nvSpPr>
        <p:spPr>
          <a:xfrm>
            <a:off x="600075" y="3560445"/>
            <a:ext cx="47625" cy="647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resource-allocation/drawing/art-allocation/e7"/>
          <p:cNvSpPr/>
          <p:nvPr/>
        </p:nvSpPr>
        <p:spPr>
          <a:xfrm>
            <a:off x="733425" y="3737610"/>
            <a:ext cx="107746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设备资源</a:t>
            </a:r>
            <a:endParaRPr lang="zh-CN" sz="1800" dirty="0"/>
          </a:p>
        </p:txBody>
      </p:sp>
      <p:sp>
        <p:nvSpPr>
          <p:cNvPr id="12" name="resource-allocation/drawing/art-allocation/e8"/>
          <p:cNvSpPr/>
          <p:nvPr/>
        </p:nvSpPr>
        <p:spPr>
          <a:xfrm>
            <a:off x="2444877" y="3560445"/>
            <a:ext cx="1325118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resource-allocation/drawing/art-allocation/e9"/>
          <p:cNvSpPr/>
          <p:nvPr/>
        </p:nvSpPr>
        <p:spPr>
          <a:xfrm>
            <a:off x="2444877" y="3560445"/>
            <a:ext cx="47625" cy="6477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resource-allocation/drawing/art-allocation/e10"/>
          <p:cNvSpPr/>
          <p:nvPr/>
        </p:nvSpPr>
        <p:spPr>
          <a:xfrm>
            <a:off x="2578227" y="3737610"/>
            <a:ext cx="107746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测量资源</a:t>
            </a:r>
            <a:endParaRPr lang="zh-CN" sz="1800" dirty="0"/>
          </a:p>
        </p:txBody>
      </p:sp>
      <p:sp>
        <p:nvSpPr>
          <p:cNvPr id="15" name="resource-allocation/drawing/art-allocation/e11"/>
          <p:cNvSpPr/>
          <p:nvPr/>
        </p:nvSpPr>
        <p:spPr>
          <a:xfrm>
            <a:off x="4289679" y="3560445"/>
            <a:ext cx="1325118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6" name="resource-allocation/drawing/art-allocation/e12"/>
          <p:cNvSpPr/>
          <p:nvPr/>
        </p:nvSpPr>
        <p:spPr>
          <a:xfrm>
            <a:off x="4289679" y="3560445"/>
            <a:ext cx="47625" cy="64770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resource-allocation/drawing/art-allocation/e13"/>
          <p:cNvSpPr/>
          <p:nvPr/>
        </p:nvSpPr>
        <p:spPr>
          <a:xfrm>
            <a:off x="4423029" y="3737610"/>
            <a:ext cx="107746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验证资源</a:t>
            </a:r>
            <a:endParaRPr lang="zh-CN" sz="1800" dirty="0"/>
          </a:p>
        </p:txBody>
      </p:sp>
      <p:sp>
        <p:nvSpPr>
          <p:cNvPr id="18" name="resource-allocation/drawing/art-allocation/e14"/>
          <p:cNvSpPr/>
          <p:nvPr/>
        </p:nvSpPr>
        <p:spPr>
          <a:xfrm>
            <a:off x="2444877" y="5314950"/>
            <a:ext cx="1325118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9" name="resource-allocation/drawing/art-allocation/e15"/>
          <p:cNvSpPr/>
          <p:nvPr/>
        </p:nvSpPr>
        <p:spPr>
          <a:xfrm>
            <a:off x="2444877" y="5314950"/>
            <a:ext cx="47625" cy="64770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resource-allocation/drawing/art-allocation/e16"/>
          <p:cNvSpPr/>
          <p:nvPr/>
        </p:nvSpPr>
        <p:spPr>
          <a:xfrm>
            <a:off x="2578227" y="5492115"/>
            <a:ext cx="107746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总量核对</a:t>
            </a:r>
            <a:endParaRPr lang="zh-CN" sz="1800" dirty="0"/>
          </a:p>
        </p:txBody>
      </p:sp>
      <p:sp>
        <p:nvSpPr>
          <p:cNvPr id="21" name="resource-allocation/drawing/art-allocation/e17/segment-1"/>
          <p:cNvSpPr/>
          <p:nvPr/>
        </p:nvSpPr>
        <p:spPr>
          <a:xfrm>
            <a:off x="3107436" y="2876550"/>
            <a:ext cx="0" cy="190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2" name="resource-allocation/drawing/art-allocation/e17/segment-2"/>
          <p:cNvSpPr/>
          <p:nvPr/>
        </p:nvSpPr>
        <p:spPr>
          <a:xfrm flipH="1">
            <a:off x="1262634" y="3067050"/>
            <a:ext cx="1844802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3" name="resource-allocation/drawing/art-allocation/e17/segment-3"/>
          <p:cNvSpPr/>
          <p:nvPr/>
        </p:nvSpPr>
        <p:spPr>
          <a:xfrm>
            <a:off x="1262634" y="3067050"/>
            <a:ext cx="0" cy="436245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4" name="resource-allocation/drawing/art-allocation/e18/segment-1"/>
          <p:cNvSpPr/>
          <p:nvPr/>
        </p:nvSpPr>
        <p:spPr>
          <a:xfrm>
            <a:off x="1262634" y="4208145"/>
            <a:ext cx="0" cy="93535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5" name="resource-allocation/drawing/art-allocation/e18/segment-2"/>
          <p:cNvSpPr/>
          <p:nvPr/>
        </p:nvSpPr>
        <p:spPr>
          <a:xfrm>
            <a:off x="1262634" y="5143500"/>
            <a:ext cx="1844802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26" name="resource-allocation/drawing/art-allocation/e18/segment-3"/>
          <p:cNvSpPr/>
          <p:nvPr/>
        </p:nvSpPr>
        <p:spPr>
          <a:xfrm>
            <a:off x="3107436" y="5143500"/>
            <a:ext cx="0" cy="1143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7" name="resource-allocation/drawing/art-allocation/e19/segment-1"/>
          <p:cNvSpPr/>
          <p:nvPr/>
        </p:nvSpPr>
        <p:spPr>
          <a:xfrm>
            <a:off x="3107436" y="2876550"/>
            <a:ext cx="0" cy="190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28" name="resource-allocation/drawing/art-allocation/e19/segment-2"/>
          <p:cNvSpPr/>
          <p:nvPr/>
        </p:nvSpPr>
        <p:spPr>
          <a:xfrm>
            <a:off x="3107436" y="3067050"/>
            <a:ext cx="0" cy="436245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29" name="resource-allocation/drawing/art-allocation/e20/segment-1"/>
          <p:cNvSpPr/>
          <p:nvPr/>
        </p:nvSpPr>
        <p:spPr>
          <a:xfrm>
            <a:off x="3107436" y="4208145"/>
            <a:ext cx="0" cy="93535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0" name="resource-allocation/drawing/art-allocation/e20/segment-2"/>
          <p:cNvSpPr/>
          <p:nvPr/>
        </p:nvSpPr>
        <p:spPr>
          <a:xfrm>
            <a:off x="3107436" y="5143500"/>
            <a:ext cx="0" cy="1143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1" name="resource-allocation/drawing/art-allocation/e21/segment-1"/>
          <p:cNvSpPr/>
          <p:nvPr/>
        </p:nvSpPr>
        <p:spPr>
          <a:xfrm>
            <a:off x="3107436" y="2876550"/>
            <a:ext cx="0" cy="19050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32" name="resource-allocation/drawing/art-allocation/e21/segment-2"/>
          <p:cNvSpPr/>
          <p:nvPr/>
        </p:nvSpPr>
        <p:spPr>
          <a:xfrm>
            <a:off x="3107436" y="3067050"/>
            <a:ext cx="1844802" cy="0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</a:ln>
        </p:spPr>
      </p:sp>
      <p:sp>
        <p:nvSpPr>
          <p:cNvPr id="33" name="resource-allocation/drawing/art-allocation/e21/segment-3"/>
          <p:cNvSpPr/>
          <p:nvPr/>
        </p:nvSpPr>
        <p:spPr>
          <a:xfrm>
            <a:off x="4952238" y="3067050"/>
            <a:ext cx="0" cy="436245"/>
          </a:xfrm>
          <a:prstGeom prst="line">
            <a:avLst/>
          </a:prstGeom>
          <a:noFill/>
          <a:ln w="19050">
            <a:solidFill>
              <a:srgbClr val="235F89"/>
            </a:solidFill>
            <a:prstDash val="solid"/>
            <a:tailEnd type="triangle"/>
          </a:ln>
        </p:spPr>
      </p:sp>
      <p:sp>
        <p:nvSpPr>
          <p:cNvPr id="34" name="resource-allocation/drawing/art-allocation/e22/segment-1"/>
          <p:cNvSpPr/>
          <p:nvPr/>
        </p:nvSpPr>
        <p:spPr>
          <a:xfrm>
            <a:off x="4952238" y="4208145"/>
            <a:ext cx="0" cy="935355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5" name="resource-allocation/drawing/art-allocation/e22/segment-2"/>
          <p:cNvSpPr/>
          <p:nvPr/>
        </p:nvSpPr>
        <p:spPr>
          <a:xfrm flipH="1">
            <a:off x="3107436" y="5143500"/>
            <a:ext cx="1844802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</a:ln>
        </p:spPr>
      </p:sp>
      <p:sp>
        <p:nvSpPr>
          <p:cNvPr id="36" name="resource-allocation/drawing/art-allocation/e22/segment-3"/>
          <p:cNvSpPr/>
          <p:nvPr/>
        </p:nvSpPr>
        <p:spPr>
          <a:xfrm>
            <a:off x="3107436" y="5143500"/>
            <a:ext cx="0" cy="11430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37" name="resource-allocation/drawing/art-accounting/e1"/>
          <p:cNvSpPr/>
          <p:nvPr/>
        </p:nvSpPr>
        <p:spPr>
          <a:xfrm>
            <a:off x="6208776" y="1676400"/>
            <a:ext cx="552602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精确数值与总量核对</a:t>
            </a:r>
            <a:endParaRPr lang="zh-CN" sz="1800" dirty="0"/>
          </a:p>
        </p:txBody>
      </p:sp>
      <p:sp>
        <p:nvSpPr>
          <p:cNvPr id="38" name="resource-allocation/drawing/art-accounting/e2"/>
          <p:cNvSpPr/>
          <p:nvPr/>
        </p:nvSpPr>
        <p:spPr>
          <a:xfrm>
            <a:off x="6208776" y="2105025"/>
            <a:ext cx="5526024" cy="969169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resource-allocation/drawing/art-accounting/e3"/>
          <p:cNvSpPr/>
          <p:nvPr/>
        </p:nvSpPr>
        <p:spPr>
          <a:xfrm>
            <a:off x="6304026" y="2442924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类别</a:t>
            </a:r>
            <a:endParaRPr lang="zh-CN" sz="1800" dirty="0"/>
          </a:p>
        </p:txBody>
      </p:sp>
      <p:sp>
        <p:nvSpPr>
          <p:cNvPr id="40" name="resource-allocation/drawing/art-accounting/e4"/>
          <p:cNvSpPr/>
          <p:nvPr/>
        </p:nvSpPr>
        <p:spPr>
          <a:xfrm>
            <a:off x="8146034" y="2442924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</a:t>
            </a:r>
            <a:endParaRPr lang="zh-CN" sz="1800" dirty="0"/>
          </a:p>
        </p:txBody>
      </p:sp>
      <p:sp>
        <p:nvSpPr>
          <p:cNvPr id="41" name="resource-allocation/drawing/art-accounting/e5"/>
          <p:cNvSpPr/>
          <p:nvPr/>
        </p:nvSpPr>
        <p:spPr>
          <a:xfrm>
            <a:off x="9988042" y="2442924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核查</a:t>
            </a:r>
            <a:endParaRPr lang="zh-CN" sz="1800" dirty="0"/>
          </a:p>
        </p:txBody>
      </p:sp>
      <p:sp>
        <p:nvSpPr>
          <p:cNvPr id="42" name="resource-allocation/drawing/art-accounting/e6/segment-1"/>
          <p:cNvSpPr/>
          <p:nvPr/>
        </p:nvSpPr>
        <p:spPr>
          <a:xfrm>
            <a:off x="6208776" y="3074194"/>
            <a:ext cx="552602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43" name="resource-allocation/drawing/art-accounting/e7"/>
          <p:cNvSpPr/>
          <p:nvPr/>
        </p:nvSpPr>
        <p:spPr>
          <a:xfrm>
            <a:off x="6208776" y="3074194"/>
            <a:ext cx="5526024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resource-allocation/drawing/art-accounting/e8"/>
          <p:cNvSpPr/>
          <p:nvPr/>
        </p:nvSpPr>
        <p:spPr>
          <a:xfrm>
            <a:off x="6304026" y="3412093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</a:t>
            </a:r>
            <a:endParaRPr lang="zh-CN" sz="1800" dirty="0"/>
          </a:p>
        </p:txBody>
      </p:sp>
      <p:sp>
        <p:nvSpPr>
          <p:cNvPr id="45" name="resource-allocation/drawing/art-accounting/e9"/>
          <p:cNvSpPr/>
          <p:nvPr/>
        </p:nvSpPr>
        <p:spPr>
          <a:xfrm>
            <a:off x="8146034" y="3412093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预算表</a:t>
            </a:r>
            <a:endParaRPr lang="zh-CN" sz="1800" dirty="0"/>
          </a:p>
        </p:txBody>
      </p:sp>
      <p:sp>
        <p:nvSpPr>
          <p:cNvPr id="46" name="resource-allocation/drawing/art-accounting/e10"/>
          <p:cNvSpPr/>
          <p:nvPr/>
        </p:nvSpPr>
        <p:spPr>
          <a:xfrm>
            <a:off x="9988042" y="3412093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</a:t>
            </a:r>
            <a:endParaRPr lang="zh-CN" sz="1800" dirty="0"/>
          </a:p>
        </p:txBody>
      </p:sp>
      <p:sp>
        <p:nvSpPr>
          <p:cNvPr id="47" name="resource-allocation/drawing/art-accounting/e11/segment-1"/>
          <p:cNvSpPr/>
          <p:nvPr/>
        </p:nvSpPr>
        <p:spPr>
          <a:xfrm>
            <a:off x="6208776" y="4043363"/>
            <a:ext cx="552602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48" name="resource-allocation/drawing/art-accounting/e12"/>
          <p:cNvSpPr/>
          <p:nvPr/>
        </p:nvSpPr>
        <p:spPr>
          <a:xfrm>
            <a:off x="6208776" y="4043363"/>
            <a:ext cx="5526024" cy="9691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resource-allocation/drawing/art-accounting/e13"/>
          <p:cNvSpPr/>
          <p:nvPr/>
        </p:nvSpPr>
        <p:spPr>
          <a:xfrm>
            <a:off x="6304026" y="4381262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</a:t>
            </a:r>
            <a:endParaRPr lang="zh-CN" sz="1800" dirty="0"/>
          </a:p>
        </p:txBody>
      </p:sp>
      <p:sp>
        <p:nvSpPr>
          <p:cNvPr id="50" name="resource-allocation/drawing/art-accounting/e14"/>
          <p:cNvSpPr/>
          <p:nvPr/>
        </p:nvSpPr>
        <p:spPr>
          <a:xfrm>
            <a:off x="8146034" y="4381262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任务表</a:t>
            </a:r>
            <a:endParaRPr lang="zh-CN" sz="1800" dirty="0"/>
          </a:p>
        </p:txBody>
      </p:sp>
      <p:sp>
        <p:nvSpPr>
          <p:cNvPr id="51" name="resource-allocation/drawing/art-accounting/e15"/>
          <p:cNvSpPr/>
          <p:nvPr/>
        </p:nvSpPr>
        <p:spPr>
          <a:xfrm>
            <a:off x="9988042" y="4381262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</a:t>
            </a:r>
            <a:endParaRPr lang="zh-CN" sz="1800" dirty="0"/>
          </a:p>
        </p:txBody>
      </p:sp>
      <p:sp>
        <p:nvSpPr>
          <p:cNvPr id="52" name="resource-allocation/drawing/art-accounting/e16/segment-1"/>
          <p:cNvSpPr/>
          <p:nvPr/>
        </p:nvSpPr>
        <p:spPr>
          <a:xfrm>
            <a:off x="6208776" y="5012531"/>
            <a:ext cx="552602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  <p:sp>
        <p:nvSpPr>
          <p:cNvPr id="53" name="resource-allocation/drawing/art-accounting/e17"/>
          <p:cNvSpPr/>
          <p:nvPr/>
        </p:nvSpPr>
        <p:spPr>
          <a:xfrm>
            <a:off x="6208776" y="5012531"/>
            <a:ext cx="5526024" cy="969169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resource-allocation/drawing/art-accounting/e18"/>
          <p:cNvSpPr/>
          <p:nvPr/>
        </p:nvSpPr>
        <p:spPr>
          <a:xfrm>
            <a:off x="6304026" y="5350431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总量</a:t>
            </a:r>
            <a:endParaRPr lang="zh-CN" sz="1800" dirty="0"/>
          </a:p>
        </p:txBody>
      </p:sp>
      <p:sp>
        <p:nvSpPr>
          <p:cNvPr id="55" name="resource-allocation/drawing/art-accounting/e19"/>
          <p:cNvSpPr/>
          <p:nvPr/>
        </p:nvSpPr>
        <p:spPr>
          <a:xfrm>
            <a:off x="8146034" y="5350431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原始表</a:t>
            </a:r>
            <a:endParaRPr lang="zh-CN" sz="1800" dirty="0"/>
          </a:p>
        </p:txBody>
      </p:sp>
      <p:sp>
        <p:nvSpPr>
          <p:cNvPr id="56" name="resource-allocation/drawing/art-accounting/e20"/>
          <p:cNvSpPr/>
          <p:nvPr/>
        </p:nvSpPr>
        <p:spPr>
          <a:xfrm>
            <a:off x="9988042" y="5350431"/>
            <a:ext cx="1651508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加总</a:t>
            </a:r>
            <a:endParaRPr lang="zh-CN" sz="1800" dirty="0"/>
          </a:p>
        </p:txBody>
      </p:sp>
      <p:sp>
        <p:nvSpPr>
          <p:cNvPr id="57" name="resource-allocation/drawing/art-accounting/e21/segment-1"/>
          <p:cNvSpPr/>
          <p:nvPr/>
        </p:nvSpPr>
        <p:spPr>
          <a:xfrm>
            <a:off x="6208776" y="5981700"/>
            <a:ext cx="5526024" cy="0"/>
          </a:xfrm>
          <a:prstGeom prst="line">
            <a:avLst/>
          </a:prstGeom>
          <a:noFill/>
          <a:ln w="9525">
            <a:solidFill>
              <a:srgbClr val="CFDCE5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lusion-return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/ 32</a:t>
            </a:r>
            <a:endParaRPr lang="zh-CN" sz="1350" dirty="0"/>
          </a:p>
        </p:txBody>
      </p:sp>
      <p:sp>
        <p:nvSpPr>
          <p:cNvPr id="3" name="conclusion-return/title"/>
          <p:cNvSpPr/>
          <p:nvPr/>
        </p:nvSpPr>
        <p:spPr>
          <a:xfrm>
            <a:off x="457200" y="457200"/>
            <a:ext cx="11277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 以证据回应开场问题</a:t>
            </a:r>
            <a:endParaRPr lang="zh-CN" sz="3150" dirty="0"/>
          </a:p>
        </p:txBody>
      </p:sp>
      <p:sp>
        <p:nvSpPr>
          <p:cNvPr id="4" name="conclusion-return/kicker"/>
          <p:cNvSpPr/>
          <p:nvPr/>
        </p:nvSpPr>
        <p:spPr>
          <a:xfrm>
            <a:off x="457200" y="1057275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5788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原创结构示意；不含真实研究结论或实验数据</a:t>
            </a:r>
            <a:endParaRPr lang="zh-CN" sz="1800" dirty="0"/>
          </a:p>
        </p:txBody>
      </p:sp>
      <p:sp>
        <p:nvSpPr>
          <p:cNvPr id="5" name="conclusion-return/drawing/art-answer/e1/segment-1"/>
          <p:cNvSpPr/>
          <p:nvPr/>
        </p:nvSpPr>
        <p:spPr>
          <a:xfrm>
            <a:off x="457200" y="1685925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6" name="conclusion-return/drawing/art-answer/e2"/>
          <p:cNvSpPr/>
          <p:nvPr/>
        </p:nvSpPr>
        <p:spPr>
          <a:xfrm>
            <a:off x="457200" y="1809750"/>
            <a:ext cx="1127760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对开场问题的有条件回答</a:t>
            </a:r>
            <a:endParaRPr lang="zh-CN" sz="1800" dirty="0"/>
          </a:p>
        </p:txBody>
      </p:sp>
      <p:sp>
        <p:nvSpPr>
          <p:cNvPr id="7" name="conclusion-return/drawing/art-answer/e3"/>
          <p:cNvSpPr/>
          <p:nvPr/>
        </p:nvSpPr>
        <p:spPr>
          <a:xfrm>
            <a:off x="457200" y="2141220"/>
            <a:ext cx="112776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回到开场问题，回答证据支持了什么。</a:t>
            </a:r>
            <a:endParaRPr lang="zh-CN" sz="2100" dirty="0"/>
          </a:p>
        </p:txBody>
      </p:sp>
      <p:sp>
        <p:nvSpPr>
          <p:cNvPr id="8" name="conclusion-return/drawing/art-support/e1"/>
          <p:cNvSpPr/>
          <p:nvPr/>
        </p:nvSpPr>
        <p:spPr>
          <a:xfrm>
            <a:off x="457200" y="3910965"/>
            <a:ext cx="733044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已呈现证据的相互关系</a:t>
            </a:r>
            <a:endParaRPr lang="zh-CN" sz="1800" dirty="0"/>
          </a:p>
        </p:txBody>
      </p:sp>
      <p:sp>
        <p:nvSpPr>
          <p:cNvPr id="9" name="conclusion-return/drawing/art-support/e2"/>
          <p:cNvSpPr/>
          <p:nvPr/>
        </p:nvSpPr>
        <p:spPr>
          <a:xfrm>
            <a:off x="457200" y="4672965"/>
            <a:ext cx="222758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0" name="conclusion-return/drawing/art-support/e3"/>
          <p:cNvSpPr/>
          <p:nvPr/>
        </p:nvSpPr>
        <p:spPr>
          <a:xfrm>
            <a:off x="457200" y="4672965"/>
            <a:ext cx="47625" cy="8191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conclusion-return/drawing/art-support/e4"/>
          <p:cNvSpPr/>
          <p:nvPr/>
        </p:nvSpPr>
        <p:spPr>
          <a:xfrm>
            <a:off x="590550" y="4935855"/>
            <a:ext cx="197993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输入数据</a:t>
            </a:r>
            <a:endParaRPr lang="zh-CN" sz="1800" dirty="0"/>
          </a:p>
        </p:txBody>
      </p:sp>
      <p:sp>
        <p:nvSpPr>
          <p:cNvPr id="12" name="conclusion-return/drawing/art-support/e5"/>
          <p:cNvSpPr/>
          <p:nvPr/>
        </p:nvSpPr>
        <p:spPr>
          <a:xfrm>
            <a:off x="3008630" y="4672965"/>
            <a:ext cx="222758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3" name="conclusion-return/drawing/art-support/e6"/>
          <p:cNvSpPr/>
          <p:nvPr/>
        </p:nvSpPr>
        <p:spPr>
          <a:xfrm>
            <a:off x="3008630" y="4672965"/>
            <a:ext cx="47625" cy="819150"/>
          </a:xfrm>
          <a:prstGeom prst="rect">
            <a:avLst/>
          </a:prstGeom>
          <a:solidFill>
            <a:srgbClr val="327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conclusion-return/drawing/art-support/e7"/>
          <p:cNvSpPr/>
          <p:nvPr/>
        </p:nvSpPr>
        <p:spPr>
          <a:xfrm>
            <a:off x="3141980" y="4935855"/>
            <a:ext cx="197993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模型推断</a:t>
            </a:r>
            <a:endParaRPr lang="zh-CN" sz="1800" dirty="0"/>
          </a:p>
        </p:txBody>
      </p:sp>
      <p:sp>
        <p:nvSpPr>
          <p:cNvPr id="15" name="conclusion-return/drawing/art-support/e8"/>
          <p:cNvSpPr/>
          <p:nvPr/>
        </p:nvSpPr>
        <p:spPr>
          <a:xfrm>
            <a:off x="5560060" y="4672965"/>
            <a:ext cx="222758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CFDCE5"/>
            </a:solidFill>
            <a:prstDash val="solid"/>
          </a:ln>
        </p:spPr>
      </p:sp>
      <p:sp>
        <p:nvSpPr>
          <p:cNvPr id="16" name="conclusion-return/drawing/art-support/e9"/>
          <p:cNvSpPr/>
          <p:nvPr/>
        </p:nvSpPr>
        <p:spPr>
          <a:xfrm>
            <a:off x="5560060" y="4672965"/>
            <a:ext cx="47625" cy="819150"/>
          </a:xfrm>
          <a:prstGeom prst="rect">
            <a:avLst/>
          </a:prstGeom>
          <a:solidFill>
            <a:srgbClr val="235F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conclusion-return/drawing/art-support/e10"/>
          <p:cNvSpPr/>
          <p:nvPr/>
        </p:nvSpPr>
        <p:spPr>
          <a:xfrm>
            <a:off x="5693410" y="4935855"/>
            <a:ext cx="1979930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35F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独立验证</a:t>
            </a:r>
            <a:endParaRPr lang="zh-CN" sz="1800" dirty="0"/>
          </a:p>
        </p:txBody>
      </p:sp>
      <p:sp>
        <p:nvSpPr>
          <p:cNvPr id="18" name="conclusion-return/drawing/art-support/e11/segment-1"/>
          <p:cNvSpPr/>
          <p:nvPr/>
        </p:nvSpPr>
        <p:spPr>
          <a:xfrm>
            <a:off x="2732405" y="5082540"/>
            <a:ext cx="20955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19" name="conclusion-return/drawing/art-support/e12/segment-1"/>
          <p:cNvSpPr/>
          <p:nvPr/>
        </p:nvSpPr>
        <p:spPr>
          <a:xfrm>
            <a:off x="5283835" y="5082540"/>
            <a:ext cx="209550" cy="0"/>
          </a:xfrm>
          <a:prstGeom prst="line">
            <a:avLst/>
          </a:prstGeom>
          <a:noFill/>
          <a:ln w="19050">
            <a:solidFill>
              <a:srgbClr val="327C72"/>
            </a:solidFill>
            <a:prstDash val="solid"/>
            <a:tailEnd type="triangle"/>
          </a:ln>
        </p:spPr>
      </p:sp>
      <p:sp>
        <p:nvSpPr>
          <p:cNvPr id="20" name="conclusion-return/drawing/art-boundary/e1/segment-1"/>
          <p:cNvSpPr/>
          <p:nvPr/>
        </p:nvSpPr>
        <p:spPr>
          <a:xfrm>
            <a:off x="8238744" y="3920490"/>
            <a:ext cx="666750" cy="0"/>
          </a:xfrm>
          <a:prstGeom prst="line">
            <a:avLst/>
          </a:prstGeom>
          <a:noFill/>
          <a:ln w="28575">
            <a:solidFill>
              <a:srgbClr val="327C72"/>
            </a:solidFill>
            <a:prstDash val="solid"/>
          </a:ln>
        </p:spPr>
      </p:sp>
      <p:sp>
        <p:nvSpPr>
          <p:cNvPr id="21" name="conclusion-return/drawing/art-boundary/e2"/>
          <p:cNvSpPr/>
          <p:nvPr/>
        </p:nvSpPr>
        <p:spPr>
          <a:xfrm>
            <a:off x="8238744" y="4044315"/>
            <a:ext cx="349605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327C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讨论与下一步判断</a:t>
            </a:r>
            <a:endParaRPr lang="zh-CN" sz="1800" dirty="0"/>
          </a:p>
        </p:txBody>
      </p:sp>
      <p:sp>
        <p:nvSpPr>
          <p:cNvPr id="22" name="conclusion-return/drawing/art-boundary/e3"/>
          <p:cNvSpPr/>
          <p:nvPr/>
        </p:nvSpPr>
        <p:spPr>
          <a:xfrm>
            <a:off x="8238744" y="4375785"/>
            <a:ext cx="3496056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证据之外的条件仍需独立检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34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DSH Academic PPT 0.9.0 原创学术页面语法</dc:title>
  <dc:subject>学术研究汇报</dc:subject>
  <dc:creator>DSH Academic PPT</dc:creator>
  <cp:lastModifiedBy>DSH Academic PPT</cp:lastModifiedBy>
  <cp:revision>1</cp:revision>
  <dcterms:created xsi:type="dcterms:W3CDTF">2026-10-27T05:16:47Z</dcterms:created>
  <dcterms:modified xsi:type="dcterms:W3CDTF">2026-10-27T05:16:47Z</dcterms:modified>
</cp:coreProperties>
</file>