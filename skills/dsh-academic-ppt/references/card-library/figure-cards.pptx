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figure-caption: 一张主图与紧邻的观察解释
一张主图与紧邻的观察解释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figure-observation: 图在左侧，单组短解释在右侧
图在左侧，单组短解释在右侧
避免：图形比例或信息关系不符时换结构；不按卡片数量缩小科研图，不自动裁图、不在数据区覆盖文字；局部图须另行登记和核对。
原图来源：示意B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figure-reverse: 先读问题与条件，再查看右侧图
先读问题与条件，再查看右侧图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figure-pair: 同尺度并列两图，保留共同解释
同尺度并列两图，保留共同解释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
原图来源：示意B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figure-stack: 两幅图上下排列，每幅配一条短解释
两幅图上下排列，每幅配一条短解释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
原图来源：示意C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figure-sequence: 按真实先后排列三幅图与阶段标签
按真实先后排列三幅图与阶段标签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
原图来源：示意C
原创结构示意，不含研究数据
urn:dsh-academic-ppt:original-card-schematic
Original catalog schematic
MIT
完整示意图，无裁切
原图来源：示意D
原创结构示意，不含研究数据
urn:dsh-academic-ppt:original-card-schematic
Original catalog schematic
MIT
明确预置的示意B局部；图片卡片本身不自动裁切。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figure-matrix: 按两个明确维度组织四幅图
按两个明确维度组织四幅图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
原图来源：示意B
原创结构示意，不含研究数据
urn:dsh-academic-ppt:original-card-schematic
Original catalog schematic
MIT
完整示意图，无裁切
原图来源：示意C
原创结构示意，不含研究数据
urn:dsh-academic-ppt:original-card-schematic
Original catalog schematic
MIT
完整示意图，无裁切
原图来源：示意D
原创结构示意，不含研究数据
urn:dsh-academic-ppt:original-card-schematic
Original catalog schematic
MIT
明确预置的示意B局部；图片卡片本身不自动裁切。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figure-zoom: 完整图与另行核对的局部图对照
完整图与另行核对的局部图对照
避免：图形比例或信息关系不符时换结构；不按卡片数量缩小科研图，不自动裁图、不在数据区覆盖文字；局部图须另行登记和核对。
原图来源：示意B
原创结构示意，不含研究数据
urn:dsh-academic-ppt:original-card-schematic
Original catalog schematic
MIT
完整示意图，无裁切
原图来源：示意D
原创结构示意，不含研究数据
urn:dsh-academic-ppt:original-card-schematic
Original catalog schematic
MIT
明确预置的示意B局部；图片卡片本身不自动裁切。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figure-overview-details: 上方总览，下方两幅相关局部证据
上方总览，下方两幅相关局部证据
避免：图形比例或信息关系不符时换结构；不按卡片数量缩小科研图，不自动裁图、不在数据区覆盖文字；局部图须另行登记和核对。
原图来源：示意B
原创结构示意，不含研究数据
urn:dsh-academic-ppt:original-card-schematic
Original catalog schematic
MIT
完整示意图，无裁切
原图来源：示意A
原创结构示意，不含研究数据
urn:dsh-academic-ppt:original-card-schematic
Original catalog schematic
MIT
完整示意图，无裁切
原图来源：示意D
原创结构示意，不含研究数据
urn:dsh-academic-ppt:original-card-schematic
Original catalog schematic
MIT
明确预置的示意B局部；图片卡片本身不自动裁切。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figure-margin-notes: 主图居中，两侧分别说明条件与解释
主图居中，两侧分别说明条件与解释
避免：图形比例或信息关系不符时换结构；不按卡片数量缩小科研图，不自动裁图、不在数据区覆盖文字；局部图须另行登记和核对。
原图来源：示意C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figure-metrics: 主图下方配成对数值及单位
主图下方配成对数值及单位
避免：图形比例或信息关系不符时换结构；不按卡片数量缩小科研图，不自动裁图、不在数据区覆盖文字；局部图须另行登记和核对。
原图来源：示意A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图片嵌入与证据。本页为原创卡片组件图册，不是研究报告，所有内容和读数仅用于展示结构。
figure-conditions: 图上方列操作条件，下方保留结论边界
图上方列操作条件，下方保留结论边界
避免：图形比例或信息关系不符时换结构；不按卡片数量缩小科研图，不自动裁图、不在数据区覆盖文字；局部图须另行登记和核对。
原图来源：示意C
原创结构示意，不含研究数据
urn:dsh-academic-ppt:original-card-schematic
Original catalog schematic
MIT
完整示意图，无裁切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19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12</a:t>
            </a:r>
            <a:endParaRPr lang="zh-CN" sz="1350" dirty="0"/>
          </a:p>
        </p:txBody>
      </p:sp>
      <p:sp>
        <p:nvSpPr>
          <p:cNvPr id="3" name="cards-19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  上图下释证据卡</a:t>
            </a:r>
            <a:endParaRPr lang="zh-CN" sz="2400" dirty="0"/>
          </a:p>
        </p:txBody>
      </p:sp>
      <p:sp>
        <p:nvSpPr>
          <p:cNvPr id="4" name="cards-19/card/figure-caption/surface"/>
          <p:cNvSpPr/>
          <p:nvPr/>
        </p:nvSpPr>
        <p:spPr>
          <a:xfrm>
            <a:off x="762000" y="1409700"/>
            <a:ext cx="10668000" cy="4876800"/>
          </a:xfrm>
          <a:prstGeom prst="roundRect">
            <a:avLst>
              <a:gd name="adj" fmla="val 14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19/card/figure-caption/note-rule"/>
          <p:cNvSpPr/>
          <p:nvPr/>
        </p:nvSpPr>
        <p:spPr>
          <a:xfrm>
            <a:off x="952500" y="5721858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19/card/figure-caption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图像与观察</a:t>
            </a:r>
            <a:endParaRPr lang="zh-CN" sz="2100" dirty="0"/>
          </a:p>
        </p:txBody>
      </p:sp>
      <p:sp>
        <p:nvSpPr>
          <p:cNvPr id="7" name="cards-19/card/figure-caption/body"/>
          <p:cNvSpPr/>
          <p:nvPr/>
        </p:nvSpPr>
        <p:spPr>
          <a:xfrm>
            <a:off x="952500" y="5305044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说明图中可见的关系及成立条件。</a:t>
            </a:r>
            <a:endParaRPr lang="zh-CN" sz="1800" dirty="0"/>
          </a:p>
        </p:txBody>
      </p:sp>
      <p:sp>
        <p:nvSpPr>
          <p:cNvPr id="8" name="cards-19/card/figure-caption/note"/>
          <p:cNvSpPr/>
          <p:nvPr/>
        </p:nvSpPr>
        <p:spPr>
          <a:xfrm>
            <a:off x="952500" y="5817108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结构示例，非研究结果。</a:t>
            </a:r>
            <a:endParaRPr lang="zh-CN" sz="1800" dirty="0"/>
          </a:p>
        </p:txBody>
      </p:sp>
      <p:pic>
        <p:nvPicPr>
          <p:cNvPr id="9" name="cards-19/card/figure-caption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974" y="2040255"/>
            <a:ext cx="8944051" cy="2795016"/>
          </a:xfrm>
          <a:prstGeom prst="rect">
            <a:avLst/>
          </a:prstGeom>
        </p:spPr>
      </p:pic>
      <p:sp>
        <p:nvSpPr>
          <p:cNvPr id="10" name="cards-19/card/figure-caption/figure-0:caption"/>
          <p:cNvSpPr/>
          <p:nvPr/>
        </p:nvSpPr>
        <p:spPr>
          <a:xfrm>
            <a:off x="952500" y="4920996"/>
            <a:ext cx="102870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0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12</a:t>
            </a:r>
            <a:endParaRPr lang="zh-CN" sz="1350" dirty="0"/>
          </a:p>
        </p:txBody>
      </p:sp>
      <p:sp>
        <p:nvSpPr>
          <p:cNvPr id="3" name="cards-20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  图旁读图卡</a:t>
            </a:r>
            <a:endParaRPr lang="zh-CN" sz="2400" dirty="0"/>
          </a:p>
        </p:txBody>
      </p:sp>
      <p:sp>
        <p:nvSpPr>
          <p:cNvPr id="4" name="cards-20/card/figure-observation/surface"/>
          <p:cNvSpPr/>
          <p:nvPr/>
        </p:nvSpPr>
        <p:spPr>
          <a:xfrm>
            <a:off x="762000" y="1409700"/>
            <a:ext cx="10668000" cy="3688080"/>
          </a:xfrm>
          <a:prstGeom prst="roundRect">
            <a:avLst>
              <a:gd name="adj" fmla="val 25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0/card/figure-observation/note-rule"/>
          <p:cNvSpPr/>
          <p:nvPr/>
        </p:nvSpPr>
        <p:spPr>
          <a:xfrm>
            <a:off x="952500" y="4533138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0/card/figure-observation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图与就近解释</a:t>
            </a:r>
            <a:endParaRPr lang="zh-CN" sz="2100" dirty="0"/>
          </a:p>
        </p:txBody>
      </p:sp>
      <p:sp>
        <p:nvSpPr>
          <p:cNvPr id="7" name="cards-20/card/figure-observation/body"/>
          <p:cNvSpPr/>
          <p:nvPr/>
        </p:nvSpPr>
        <p:spPr>
          <a:xfrm>
            <a:off x="7597902" y="2040255"/>
            <a:ext cx="364159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先指出读图位置，再说明支持范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围。</a:t>
            </a:r>
            <a:endParaRPr lang="zh-CN" sz="1800" dirty="0"/>
          </a:p>
        </p:txBody>
      </p:sp>
      <p:sp>
        <p:nvSpPr>
          <p:cNvPr id="8" name="cards-20/card/figure-observation/item-0/label"/>
          <p:cNvSpPr/>
          <p:nvPr/>
        </p:nvSpPr>
        <p:spPr>
          <a:xfrm>
            <a:off x="7597902" y="2740533"/>
            <a:ext cx="364159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看哪里</a:t>
            </a:r>
            <a:endParaRPr lang="zh-CN" sz="1800" dirty="0"/>
          </a:p>
        </p:txBody>
      </p:sp>
      <p:sp>
        <p:nvSpPr>
          <p:cNvPr id="9" name="cards-20/card/figure-observation/item-0/detail"/>
          <p:cNvSpPr/>
          <p:nvPr/>
        </p:nvSpPr>
        <p:spPr>
          <a:xfrm>
            <a:off x="7597902" y="3067050"/>
            <a:ext cx="364159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保留关键区域与原始图例。</a:t>
            </a:r>
            <a:endParaRPr lang="zh-CN" sz="1800" dirty="0"/>
          </a:p>
        </p:txBody>
      </p:sp>
      <p:sp>
        <p:nvSpPr>
          <p:cNvPr id="10" name="cards-20/card/figure-observation/note"/>
          <p:cNvSpPr/>
          <p:nvPr/>
        </p:nvSpPr>
        <p:spPr>
          <a:xfrm>
            <a:off x="952500" y="4628388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不覆盖图内标签。</a:t>
            </a:r>
            <a:endParaRPr lang="zh-CN" sz="1800" dirty="0"/>
          </a:p>
        </p:txBody>
      </p:sp>
      <p:pic>
        <p:nvPicPr>
          <p:cNvPr id="11" name="cards-20/card/figure-observation/figure-0:image" descr="结构示例 B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040255"/>
            <a:ext cx="6473952" cy="2023110"/>
          </a:xfrm>
          <a:prstGeom prst="rect">
            <a:avLst/>
          </a:prstGeom>
        </p:spPr>
      </p:pic>
      <p:sp>
        <p:nvSpPr>
          <p:cNvPr id="12" name="cards-20/card/figure-observation/figure-0:caption"/>
          <p:cNvSpPr/>
          <p:nvPr/>
        </p:nvSpPr>
        <p:spPr>
          <a:xfrm>
            <a:off x="952500" y="4149090"/>
            <a:ext cx="6473952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12</a:t>
            </a:r>
            <a:endParaRPr lang="zh-CN" sz="1350" dirty="0"/>
          </a:p>
        </p:txBody>
      </p:sp>
      <p:sp>
        <p:nvSpPr>
          <p:cNvPr id="3" name="cards-21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  引导先读卡</a:t>
            </a:r>
            <a:endParaRPr lang="zh-CN" sz="2400" dirty="0"/>
          </a:p>
        </p:txBody>
      </p:sp>
      <p:sp>
        <p:nvSpPr>
          <p:cNvPr id="4" name="cards-21/card/figure-reverse/surface"/>
          <p:cNvSpPr/>
          <p:nvPr/>
        </p:nvSpPr>
        <p:spPr>
          <a:xfrm>
            <a:off x="762000" y="1409700"/>
            <a:ext cx="10668000" cy="3688080"/>
          </a:xfrm>
          <a:prstGeom prst="roundRect">
            <a:avLst>
              <a:gd name="adj" fmla="val 25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1/card/figure-reverse/note-rule"/>
          <p:cNvSpPr/>
          <p:nvPr/>
        </p:nvSpPr>
        <p:spPr>
          <a:xfrm>
            <a:off x="952500" y="4533138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1/card/figure-reverse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问题引导读图</a:t>
            </a:r>
            <a:endParaRPr lang="zh-CN" sz="2100" dirty="0"/>
          </a:p>
        </p:txBody>
      </p:sp>
      <p:sp>
        <p:nvSpPr>
          <p:cNvPr id="7" name="cards-21/card/figure-reverse/body"/>
          <p:cNvSpPr/>
          <p:nvPr/>
        </p:nvSpPr>
        <p:spPr>
          <a:xfrm>
            <a:off x="952500" y="2040255"/>
            <a:ext cx="364159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先明确比较条件。</a:t>
            </a:r>
            <a:endParaRPr lang="zh-CN" sz="1800" dirty="0"/>
          </a:p>
        </p:txBody>
      </p:sp>
      <p:sp>
        <p:nvSpPr>
          <p:cNvPr id="8" name="cards-21/card/figure-reverse/item-0/label"/>
          <p:cNvSpPr/>
          <p:nvPr/>
        </p:nvSpPr>
        <p:spPr>
          <a:xfrm>
            <a:off x="952500" y="2457069"/>
            <a:ext cx="364159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比较对象</a:t>
            </a:r>
            <a:endParaRPr lang="zh-CN" sz="1800" dirty="0"/>
          </a:p>
        </p:txBody>
      </p:sp>
      <p:sp>
        <p:nvSpPr>
          <p:cNvPr id="9" name="cards-21/card/figure-reverse/item-0/detail"/>
          <p:cNvSpPr/>
          <p:nvPr/>
        </p:nvSpPr>
        <p:spPr>
          <a:xfrm>
            <a:off x="952500" y="2783586"/>
            <a:ext cx="364159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保持同一观察口径。</a:t>
            </a:r>
            <a:endParaRPr lang="zh-CN" sz="1800" dirty="0"/>
          </a:p>
        </p:txBody>
      </p:sp>
      <p:sp>
        <p:nvSpPr>
          <p:cNvPr id="10" name="cards-21/card/figure-reverse/note"/>
          <p:cNvSpPr/>
          <p:nvPr/>
        </p:nvSpPr>
        <p:spPr>
          <a:xfrm>
            <a:off x="952500" y="4628388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结构示例，非研究结果。</a:t>
            </a:r>
            <a:endParaRPr lang="zh-CN" sz="1800" dirty="0"/>
          </a:p>
        </p:txBody>
      </p:sp>
      <p:pic>
        <p:nvPicPr>
          <p:cNvPr id="11" name="cards-21/card/figure-reverse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5548" y="2040255"/>
            <a:ext cx="6473952" cy="2023110"/>
          </a:xfrm>
          <a:prstGeom prst="rect">
            <a:avLst/>
          </a:prstGeom>
        </p:spPr>
      </p:pic>
      <p:sp>
        <p:nvSpPr>
          <p:cNvPr id="12" name="cards-21/card/figure-reverse/figure-0:caption"/>
          <p:cNvSpPr/>
          <p:nvPr/>
        </p:nvSpPr>
        <p:spPr>
          <a:xfrm>
            <a:off x="4765548" y="4149090"/>
            <a:ext cx="6473952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12</a:t>
            </a:r>
            <a:endParaRPr lang="zh-CN" sz="1350" dirty="0"/>
          </a:p>
        </p:txBody>
      </p:sp>
      <p:sp>
        <p:nvSpPr>
          <p:cNvPr id="3" name="cards-22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  双图对读卡</a:t>
            </a:r>
            <a:endParaRPr lang="zh-CN" sz="2400" dirty="0"/>
          </a:p>
        </p:txBody>
      </p:sp>
      <p:sp>
        <p:nvSpPr>
          <p:cNvPr id="4" name="cards-22/card/figure-pair/surface"/>
          <p:cNvSpPr/>
          <p:nvPr/>
        </p:nvSpPr>
        <p:spPr>
          <a:xfrm>
            <a:off x="762000" y="1409700"/>
            <a:ext cx="10668000" cy="3662339"/>
          </a:xfrm>
          <a:prstGeom prst="roundRect">
            <a:avLst>
              <a:gd name="adj" fmla="val 260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2/card/figure-pair/note-rule"/>
          <p:cNvSpPr/>
          <p:nvPr/>
        </p:nvSpPr>
        <p:spPr>
          <a:xfrm>
            <a:off x="952500" y="4507397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2/card/figure-pair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同一口径下对读</a:t>
            </a:r>
            <a:endParaRPr lang="zh-CN" sz="2100" dirty="0"/>
          </a:p>
        </p:txBody>
      </p:sp>
      <p:sp>
        <p:nvSpPr>
          <p:cNvPr id="7" name="cards-22/card/figure-pair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保留两图身份与共同尺度，再解释差别。</a:t>
            </a:r>
            <a:endParaRPr lang="zh-CN" sz="1800" dirty="0"/>
          </a:p>
        </p:txBody>
      </p:sp>
      <p:sp>
        <p:nvSpPr>
          <p:cNvPr id="8" name="cards-22/card/figure-pair/note"/>
          <p:cNvSpPr/>
          <p:nvPr/>
        </p:nvSpPr>
        <p:spPr>
          <a:xfrm>
            <a:off x="952500" y="4602647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并列本身不证明因果。</a:t>
            </a:r>
            <a:endParaRPr lang="zh-CN" sz="1800" dirty="0"/>
          </a:p>
        </p:txBody>
      </p:sp>
      <p:pic>
        <p:nvPicPr>
          <p:cNvPr id="9" name="cards-22/card/figure-pair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457069"/>
            <a:ext cx="5057775" cy="1580555"/>
          </a:xfrm>
          <a:prstGeom prst="rect">
            <a:avLst/>
          </a:prstGeom>
        </p:spPr>
      </p:pic>
      <p:sp>
        <p:nvSpPr>
          <p:cNvPr id="10" name="cards-22/card/figure-pair/figure-0:caption"/>
          <p:cNvSpPr/>
          <p:nvPr/>
        </p:nvSpPr>
        <p:spPr>
          <a:xfrm>
            <a:off x="952500" y="4123349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  <p:pic>
        <p:nvPicPr>
          <p:cNvPr id="11" name="cards-22/card/figure-pair/figure-1:image" descr="结构示例 B，非研究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2457069"/>
            <a:ext cx="5057775" cy="1580555"/>
          </a:xfrm>
          <a:prstGeom prst="rect">
            <a:avLst/>
          </a:prstGeom>
        </p:spPr>
      </p:pic>
      <p:sp>
        <p:nvSpPr>
          <p:cNvPr id="12" name="cards-22/card/figure-pair/figure-1:caption"/>
          <p:cNvSpPr/>
          <p:nvPr/>
        </p:nvSpPr>
        <p:spPr>
          <a:xfrm>
            <a:off x="6181725" y="4123349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3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12</a:t>
            </a:r>
            <a:endParaRPr lang="zh-CN" sz="1350" dirty="0"/>
          </a:p>
        </p:txBody>
      </p:sp>
      <p:sp>
        <p:nvSpPr>
          <p:cNvPr id="3" name="cards-23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  逐图对应卡</a:t>
            </a:r>
            <a:endParaRPr lang="zh-CN" sz="2400" dirty="0"/>
          </a:p>
        </p:txBody>
      </p:sp>
      <p:sp>
        <p:nvSpPr>
          <p:cNvPr id="4" name="cards-23/card/figure-stack/surface"/>
          <p:cNvSpPr/>
          <p:nvPr/>
        </p:nvSpPr>
        <p:spPr>
          <a:xfrm>
            <a:off x="762000" y="1409700"/>
            <a:ext cx="10668000" cy="4876800"/>
          </a:xfrm>
          <a:prstGeom prst="roundRect">
            <a:avLst>
              <a:gd name="adj" fmla="val 14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3/card/figure-stack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分层查看证据</a:t>
            </a:r>
            <a:endParaRPr lang="zh-CN" sz="2100" dirty="0"/>
          </a:p>
        </p:txBody>
      </p:sp>
      <p:sp>
        <p:nvSpPr>
          <p:cNvPr id="6" name="cards-23/card/figure-stack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每条说明只对应相邻原图。</a:t>
            </a:r>
            <a:endParaRPr lang="zh-CN" sz="1800" dirty="0"/>
          </a:p>
        </p:txBody>
      </p:sp>
      <p:sp>
        <p:nvSpPr>
          <p:cNvPr id="7" name="cards-23/card/figure-stack/item-0/label"/>
          <p:cNvSpPr/>
          <p:nvPr/>
        </p:nvSpPr>
        <p:spPr>
          <a:xfrm>
            <a:off x="8002524" y="2457069"/>
            <a:ext cx="323697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整体结构</a:t>
            </a:r>
            <a:endParaRPr lang="zh-CN" sz="1800" dirty="0"/>
          </a:p>
        </p:txBody>
      </p:sp>
      <p:sp>
        <p:nvSpPr>
          <p:cNvPr id="8" name="cards-23/card/figure-stack/item-0/detail"/>
          <p:cNvSpPr/>
          <p:nvPr/>
        </p:nvSpPr>
        <p:spPr>
          <a:xfrm>
            <a:off x="8002524" y="2783586"/>
            <a:ext cx="323697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先识别研究对象。</a:t>
            </a:r>
            <a:endParaRPr lang="zh-CN" sz="1800" dirty="0"/>
          </a:p>
        </p:txBody>
      </p:sp>
      <p:sp>
        <p:nvSpPr>
          <p:cNvPr id="9" name="cards-23/card/figure-stack/item-1/label"/>
          <p:cNvSpPr/>
          <p:nvPr/>
        </p:nvSpPr>
        <p:spPr>
          <a:xfrm>
            <a:off x="8002524" y="4295584"/>
            <a:ext cx="323697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局部关系</a:t>
            </a:r>
            <a:endParaRPr lang="zh-CN" sz="1800" dirty="0"/>
          </a:p>
        </p:txBody>
      </p:sp>
      <p:sp>
        <p:nvSpPr>
          <p:cNvPr id="10" name="cards-23/card/figure-stack/item-1/detail"/>
          <p:cNvSpPr/>
          <p:nvPr/>
        </p:nvSpPr>
        <p:spPr>
          <a:xfrm>
            <a:off x="8002524" y="4622101"/>
            <a:ext cx="323697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再说明局部任务。</a:t>
            </a:r>
            <a:endParaRPr lang="zh-CN" sz="1800" dirty="0"/>
          </a:p>
        </p:txBody>
      </p:sp>
      <p:pic>
        <p:nvPicPr>
          <p:cNvPr id="11" name="cards-23/card/figure-stack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2759" y="2457069"/>
            <a:ext cx="4258056" cy="1330642"/>
          </a:xfrm>
          <a:prstGeom prst="rect">
            <a:avLst/>
          </a:prstGeom>
        </p:spPr>
      </p:pic>
      <p:sp>
        <p:nvSpPr>
          <p:cNvPr id="12" name="cards-23/card/figure-stack/figure-0:caption"/>
          <p:cNvSpPr/>
          <p:nvPr/>
        </p:nvSpPr>
        <p:spPr>
          <a:xfrm>
            <a:off x="952500" y="3873436"/>
            <a:ext cx="6878574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  <p:pic>
        <p:nvPicPr>
          <p:cNvPr id="13" name="cards-23/card/figure-stack/figure-1:image" descr="结构示例 C，非研究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759" y="4295584"/>
            <a:ext cx="4258056" cy="1330642"/>
          </a:xfrm>
          <a:prstGeom prst="rect">
            <a:avLst/>
          </a:prstGeom>
        </p:spPr>
      </p:pic>
      <p:sp>
        <p:nvSpPr>
          <p:cNvPr id="14" name="cards-23/card/figure-stack/figure-1:caption"/>
          <p:cNvSpPr/>
          <p:nvPr/>
        </p:nvSpPr>
        <p:spPr>
          <a:xfrm>
            <a:off x="952500" y="5711952"/>
            <a:ext cx="6878574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C，非研究图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4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12</a:t>
            </a:r>
            <a:endParaRPr lang="zh-CN" sz="1350" dirty="0"/>
          </a:p>
        </p:txBody>
      </p:sp>
      <p:sp>
        <p:nvSpPr>
          <p:cNvPr id="3" name="cards-24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  三阶段图序卡</a:t>
            </a:r>
            <a:endParaRPr lang="zh-CN" sz="2400" dirty="0"/>
          </a:p>
        </p:txBody>
      </p:sp>
      <p:sp>
        <p:nvSpPr>
          <p:cNvPr id="4" name="cards-24/card/figure-sequence/surface"/>
          <p:cNvSpPr/>
          <p:nvPr/>
        </p:nvSpPr>
        <p:spPr>
          <a:xfrm>
            <a:off x="762000" y="1409700"/>
            <a:ext cx="10668000" cy="3784663"/>
          </a:xfrm>
          <a:prstGeom prst="roundRect">
            <a:avLst>
              <a:gd name="adj" fmla="val 243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4/card/figure-sequence/note-rule"/>
          <p:cNvSpPr/>
          <p:nvPr/>
        </p:nvSpPr>
        <p:spPr>
          <a:xfrm>
            <a:off x="952500" y="4629721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4/card/figure-sequence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图像序列</a:t>
            </a:r>
            <a:endParaRPr lang="zh-CN" sz="2100" dirty="0"/>
          </a:p>
        </p:txBody>
      </p:sp>
      <p:sp>
        <p:nvSpPr>
          <p:cNvPr id="7" name="cards-24/card/figure-sequence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先后次序来自原文或实际采样。</a:t>
            </a:r>
            <a:endParaRPr lang="zh-CN" sz="1800" dirty="0"/>
          </a:p>
        </p:txBody>
      </p:sp>
      <p:sp>
        <p:nvSpPr>
          <p:cNvPr id="8" name="cards-24/card/figure-sequence/item-0/label"/>
          <p:cNvSpPr/>
          <p:nvPr/>
        </p:nvSpPr>
        <p:spPr>
          <a:xfrm>
            <a:off x="952500" y="4169854"/>
            <a:ext cx="33147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zh-CN" sz="1800" dirty="0"/>
          </a:p>
        </p:txBody>
      </p:sp>
      <p:sp>
        <p:nvSpPr>
          <p:cNvPr id="9" name="cards-24/card/figure-sequence/item-1/label"/>
          <p:cNvSpPr/>
          <p:nvPr/>
        </p:nvSpPr>
        <p:spPr>
          <a:xfrm>
            <a:off x="4438650" y="4169854"/>
            <a:ext cx="33147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</a:t>
            </a:r>
            <a:endParaRPr lang="zh-CN" sz="1800" dirty="0"/>
          </a:p>
        </p:txBody>
      </p:sp>
      <p:sp>
        <p:nvSpPr>
          <p:cNvPr id="10" name="cards-24/card/figure-sequence/item-2/label"/>
          <p:cNvSpPr/>
          <p:nvPr/>
        </p:nvSpPr>
        <p:spPr>
          <a:xfrm>
            <a:off x="7924800" y="4169854"/>
            <a:ext cx="33147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</p:txBody>
      </p:sp>
      <p:sp>
        <p:nvSpPr>
          <p:cNvPr id="11" name="cards-24/card/figure-sequence/note"/>
          <p:cNvSpPr/>
          <p:nvPr/>
        </p:nvSpPr>
        <p:spPr>
          <a:xfrm>
            <a:off x="952500" y="4724972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顺序不自动等于因果。</a:t>
            </a:r>
            <a:endParaRPr lang="zh-CN" sz="1800" dirty="0"/>
          </a:p>
        </p:txBody>
      </p:sp>
      <p:pic>
        <p:nvPicPr>
          <p:cNvPr id="12" name="cards-24/card/figure-sequence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560653"/>
            <a:ext cx="3314700" cy="1035844"/>
          </a:xfrm>
          <a:prstGeom prst="rect">
            <a:avLst/>
          </a:prstGeom>
        </p:spPr>
      </p:pic>
      <p:sp>
        <p:nvSpPr>
          <p:cNvPr id="13" name="cards-24/card/figure-sequence/figure-0:caption"/>
          <p:cNvSpPr/>
          <p:nvPr/>
        </p:nvSpPr>
        <p:spPr>
          <a:xfrm>
            <a:off x="952500" y="3785806"/>
            <a:ext cx="33147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  <p:pic>
        <p:nvPicPr>
          <p:cNvPr id="14" name="cards-24/card/figure-sequence/figure-1:image" descr="结构示例 C，非研究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2560653"/>
            <a:ext cx="3314700" cy="1035844"/>
          </a:xfrm>
          <a:prstGeom prst="rect">
            <a:avLst/>
          </a:prstGeom>
        </p:spPr>
      </p:pic>
      <p:sp>
        <p:nvSpPr>
          <p:cNvPr id="15" name="cards-24/card/figure-sequence/figure-1:caption"/>
          <p:cNvSpPr/>
          <p:nvPr/>
        </p:nvSpPr>
        <p:spPr>
          <a:xfrm>
            <a:off x="4438650" y="3785806"/>
            <a:ext cx="33147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C，非研究图</a:t>
            </a:r>
            <a:endParaRPr lang="zh-CN" sz="1350" dirty="0"/>
          </a:p>
        </p:txBody>
      </p:sp>
      <p:pic>
        <p:nvPicPr>
          <p:cNvPr id="16" name="cards-24/card/figure-sequence/figure-2:image" descr="结构示例 B 局部，非研究图">    </p:cNvPr>
          <p:cNvPicPr>
            <a:picLocks noChangeAspect="1"/>
          </p:cNvPicPr>
          <p:nvPr/>
        </p:nvPicPr>
        <p:blipFill>
          <a:blip r:embed="rId3"/>
          <a:srcRect l="30000" r="45000" t="35000" b="35000"/>
          <a:stretch/>
        </p:blipFill>
        <p:spPr>
          <a:xfrm>
            <a:off x="7924800" y="2457069"/>
            <a:ext cx="3314700" cy="1243013"/>
          </a:xfrm>
          <a:prstGeom prst="rect">
            <a:avLst/>
          </a:prstGeom>
        </p:spPr>
      </p:pic>
      <p:sp>
        <p:nvSpPr>
          <p:cNvPr id="17" name="cards-24/card/figure-sequence/figure-2:caption"/>
          <p:cNvSpPr/>
          <p:nvPr/>
        </p:nvSpPr>
        <p:spPr>
          <a:xfrm>
            <a:off x="7924800" y="3785806"/>
            <a:ext cx="33147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 局部，非研究图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5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12</a:t>
            </a:r>
            <a:endParaRPr lang="zh-CN" sz="1350" dirty="0"/>
          </a:p>
        </p:txBody>
      </p:sp>
      <p:sp>
        <p:nvSpPr>
          <p:cNvPr id="3" name="cards-25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  四窗证据卡</a:t>
            </a:r>
            <a:endParaRPr lang="zh-CN" sz="2400" dirty="0"/>
          </a:p>
        </p:txBody>
      </p:sp>
      <p:sp>
        <p:nvSpPr>
          <p:cNvPr id="4" name="cards-25/card/figure-matrix/surface"/>
          <p:cNvSpPr/>
          <p:nvPr/>
        </p:nvSpPr>
        <p:spPr>
          <a:xfrm>
            <a:off x="762000" y="1409700"/>
            <a:ext cx="10668000" cy="4876800"/>
          </a:xfrm>
          <a:prstGeom prst="roundRect">
            <a:avLst>
              <a:gd name="adj" fmla="val 14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5/card/figure-matrix/note-rule"/>
          <p:cNvSpPr/>
          <p:nvPr/>
        </p:nvSpPr>
        <p:spPr>
          <a:xfrm>
            <a:off x="952500" y="5721858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5/card/figure-matrix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多条件证据窗</a:t>
            </a:r>
            <a:endParaRPr lang="zh-CN" sz="2100" dirty="0"/>
          </a:p>
        </p:txBody>
      </p:sp>
      <p:sp>
        <p:nvSpPr>
          <p:cNvPr id="7" name="cards-25/card/figure-matrix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行列条件须与每个面板对应。</a:t>
            </a:r>
            <a:endParaRPr lang="zh-CN" sz="1800" dirty="0"/>
          </a:p>
        </p:txBody>
      </p:sp>
      <p:sp>
        <p:nvSpPr>
          <p:cNvPr id="8" name="cards-25/card/figure-matrix/note"/>
          <p:cNvSpPr/>
          <p:nvPr/>
        </p:nvSpPr>
        <p:spPr>
          <a:xfrm>
            <a:off x="952500" y="5817108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完整保留各图的来源与尺度。</a:t>
            </a:r>
            <a:endParaRPr lang="zh-CN" sz="1800" dirty="0"/>
          </a:p>
        </p:txBody>
      </p:sp>
      <p:pic>
        <p:nvPicPr>
          <p:cNvPr id="9" name="cards-25/card/figure-matrix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673" y="2457069"/>
            <a:ext cx="3659428" cy="1143571"/>
          </a:xfrm>
          <a:prstGeom prst="rect">
            <a:avLst/>
          </a:prstGeom>
        </p:spPr>
      </p:pic>
      <p:sp>
        <p:nvSpPr>
          <p:cNvPr id="10" name="cards-25/card/figure-matrix/figure-0:caption"/>
          <p:cNvSpPr/>
          <p:nvPr/>
        </p:nvSpPr>
        <p:spPr>
          <a:xfrm>
            <a:off x="952500" y="3686365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  <p:pic>
        <p:nvPicPr>
          <p:cNvPr id="11" name="cards-25/card/figure-matrix/figure-1:image" descr="结构示例 B，非研究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98" y="2457069"/>
            <a:ext cx="3659428" cy="1143571"/>
          </a:xfrm>
          <a:prstGeom prst="rect">
            <a:avLst/>
          </a:prstGeom>
        </p:spPr>
      </p:pic>
      <p:sp>
        <p:nvSpPr>
          <p:cNvPr id="12" name="cards-25/card/figure-matrix/figure-1:caption"/>
          <p:cNvSpPr/>
          <p:nvPr/>
        </p:nvSpPr>
        <p:spPr>
          <a:xfrm>
            <a:off x="6181725" y="3686365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B，非研究图</a:t>
            </a:r>
            <a:endParaRPr lang="zh-CN" sz="1350" dirty="0"/>
          </a:p>
        </p:txBody>
      </p:sp>
      <p:pic>
        <p:nvPicPr>
          <p:cNvPr id="13" name="cards-25/card/figure-matrix/figure-2:image" descr="结构示例 C，非研究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673" y="4108513"/>
            <a:ext cx="3659428" cy="1143571"/>
          </a:xfrm>
          <a:prstGeom prst="rect">
            <a:avLst/>
          </a:prstGeom>
        </p:spPr>
      </p:pic>
      <p:sp>
        <p:nvSpPr>
          <p:cNvPr id="14" name="cards-25/card/figure-matrix/figure-2:caption"/>
          <p:cNvSpPr/>
          <p:nvPr/>
        </p:nvSpPr>
        <p:spPr>
          <a:xfrm>
            <a:off x="952500" y="5337810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C，非研究图</a:t>
            </a:r>
            <a:endParaRPr lang="zh-CN" sz="1350" dirty="0"/>
          </a:p>
        </p:txBody>
      </p:sp>
      <p:pic>
        <p:nvPicPr>
          <p:cNvPr id="15" name="cards-25/card/figure-matrix/figure-3:image" descr="结构示例 B 局部，非研究图">    </p:cNvPr>
          <p:cNvPicPr>
            <a:picLocks noChangeAspect="1"/>
          </p:cNvPicPr>
          <p:nvPr/>
        </p:nvPicPr>
        <p:blipFill>
          <a:blip r:embed="rId4"/>
          <a:srcRect l="30000" r="45000" t="35000" b="35000"/>
          <a:stretch/>
        </p:blipFill>
        <p:spPr>
          <a:xfrm>
            <a:off x="7185851" y="4108513"/>
            <a:ext cx="3049524" cy="1143571"/>
          </a:xfrm>
          <a:prstGeom prst="rect">
            <a:avLst/>
          </a:prstGeom>
        </p:spPr>
      </p:pic>
      <p:sp>
        <p:nvSpPr>
          <p:cNvPr id="16" name="cards-25/card/figure-matrix/figure-3:caption"/>
          <p:cNvSpPr/>
          <p:nvPr/>
        </p:nvSpPr>
        <p:spPr>
          <a:xfrm>
            <a:off x="6181725" y="5337810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 局部，非研究图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6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12</a:t>
            </a:r>
            <a:endParaRPr lang="zh-CN" sz="1350" dirty="0"/>
          </a:p>
        </p:txBody>
      </p:sp>
      <p:sp>
        <p:nvSpPr>
          <p:cNvPr id="3" name="cards-26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  总图局部对照卡</a:t>
            </a:r>
            <a:endParaRPr lang="zh-CN" sz="2400" dirty="0"/>
          </a:p>
        </p:txBody>
      </p:sp>
      <p:sp>
        <p:nvSpPr>
          <p:cNvPr id="4" name="cards-26/card/figure-zoom/surface"/>
          <p:cNvSpPr/>
          <p:nvPr/>
        </p:nvSpPr>
        <p:spPr>
          <a:xfrm>
            <a:off x="762000" y="1409700"/>
            <a:ext cx="10668000" cy="4189190"/>
          </a:xfrm>
          <a:prstGeom prst="roundRect">
            <a:avLst>
              <a:gd name="adj" fmla="val 199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6/card/figure-zoom/note-rule"/>
          <p:cNvSpPr/>
          <p:nvPr/>
        </p:nvSpPr>
        <p:spPr>
          <a:xfrm>
            <a:off x="952500" y="5034248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6/card/figure-zoom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总图与局部</a:t>
            </a:r>
            <a:endParaRPr lang="zh-CN" sz="2100" dirty="0"/>
          </a:p>
        </p:txBody>
      </p:sp>
      <p:sp>
        <p:nvSpPr>
          <p:cNvPr id="7" name="cards-26/card/figure-zoom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局部资产须有明确裁切位置与图号。</a:t>
            </a:r>
            <a:endParaRPr lang="zh-CN" sz="1800" dirty="0"/>
          </a:p>
        </p:txBody>
      </p:sp>
      <p:sp>
        <p:nvSpPr>
          <p:cNvPr id="8" name="cards-26/card/figure-zoom/note"/>
          <p:cNvSpPr/>
          <p:nvPr/>
        </p:nvSpPr>
        <p:spPr>
          <a:xfrm>
            <a:off x="952500" y="5129498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配方不自动裁出或生成局部。</a:t>
            </a:r>
            <a:endParaRPr lang="zh-CN" sz="1800" dirty="0"/>
          </a:p>
        </p:txBody>
      </p:sp>
      <p:pic>
        <p:nvPicPr>
          <p:cNvPr id="9" name="cards-26/card/figure-zoom/figure-0:image" descr="结构示例 B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457069"/>
            <a:ext cx="6743700" cy="2107406"/>
          </a:xfrm>
          <a:prstGeom prst="rect">
            <a:avLst/>
          </a:prstGeom>
        </p:spPr>
      </p:pic>
      <p:sp>
        <p:nvSpPr>
          <p:cNvPr id="10" name="cards-26/card/figure-zoom/figure-0:caption"/>
          <p:cNvSpPr/>
          <p:nvPr/>
        </p:nvSpPr>
        <p:spPr>
          <a:xfrm>
            <a:off x="952500" y="4650200"/>
            <a:ext cx="67437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B，非研究图</a:t>
            </a:r>
            <a:endParaRPr lang="zh-CN" sz="1350" dirty="0"/>
          </a:p>
        </p:txBody>
      </p:sp>
      <p:pic>
        <p:nvPicPr>
          <p:cNvPr id="11" name="cards-26/card/figure-zoom/figure-1:image" descr="结构示例 B 局部，非研究图">    </p:cNvPr>
          <p:cNvPicPr>
            <a:picLocks noChangeAspect="1"/>
          </p:cNvPicPr>
          <p:nvPr/>
        </p:nvPicPr>
        <p:blipFill>
          <a:blip r:embed="rId2"/>
          <a:srcRect l="30000" r="45000" t="35000" b="35000"/>
          <a:stretch/>
        </p:blipFill>
        <p:spPr>
          <a:xfrm>
            <a:off x="7867650" y="2878550"/>
            <a:ext cx="3371850" cy="1264444"/>
          </a:xfrm>
          <a:prstGeom prst="rect">
            <a:avLst/>
          </a:prstGeom>
        </p:spPr>
      </p:pic>
      <p:sp>
        <p:nvSpPr>
          <p:cNvPr id="12" name="cards-26/card/figure-zoom/figure-1:caption"/>
          <p:cNvSpPr/>
          <p:nvPr/>
        </p:nvSpPr>
        <p:spPr>
          <a:xfrm>
            <a:off x="7867650" y="4650200"/>
            <a:ext cx="337185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 局部，非研究图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7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12</a:t>
            </a:r>
            <a:endParaRPr lang="zh-CN" sz="1350" dirty="0"/>
          </a:p>
        </p:txBody>
      </p:sp>
      <p:sp>
        <p:nvSpPr>
          <p:cNvPr id="3" name="cards-27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  总览双局部卡</a:t>
            </a:r>
            <a:endParaRPr lang="zh-CN" sz="2400" dirty="0"/>
          </a:p>
        </p:txBody>
      </p:sp>
      <p:sp>
        <p:nvSpPr>
          <p:cNvPr id="4" name="cards-27/card/figure-overview-details/surface"/>
          <p:cNvSpPr/>
          <p:nvPr/>
        </p:nvSpPr>
        <p:spPr>
          <a:xfrm>
            <a:off x="762000" y="1409700"/>
            <a:ext cx="10668000" cy="4876799"/>
          </a:xfrm>
          <a:prstGeom prst="roundRect">
            <a:avLst>
              <a:gd name="adj" fmla="val 14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7/card/figure-overview-details/note-rule"/>
          <p:cNvSpPr/>
          <p:nvPr/>
        </p:nvSpPr>
        <p:spPr>
          <a:xfrm>
            <a:off x="952500" y="5721857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7/card/figure-overview-details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总览与两处细节</a:t>
            </a:r>
            <a:endParaRPr lang="zh-CN" sz="2100" dirty="0"/>
          </a:p>
        </p:txBody>
      </p:sp>
      <p:sp>
        <p:nvSpPr>
          <p:cNvPr id="7" name="cards-27/card/figure-overview-details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两处局部分别回答不同问题。</a:t>
            </a:r>
            <a:endParaRPr lang="zh-CN" sz="1800" dirty="0"/>
          </a:p>
        </p:txBody>
      </p:sp>
      <p:sp>
        <p:nvSpPr>
          <p:cNvPr id="8" name="cards-27/card/figure-overview-details/note"/>
          <p:cNvSpPr/>
          <p:nvPr/>
        </p:nvSpPr>
        <p:spPr>
          <a:xfrm>
            <a:off x="952500" y="5817107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总览与局部都使用已核对资产。</a:t>
            </a:r>
            <a:endParaRPr lang="zh-CN" sz="1800" dirty="0"/>
          </a:p>
        </p:txBody>
      </p:sp>
      <p:pic>
        <p:nvPicPr>
          <p:cNvPr id="9" name="cards-27/card/figure-overview-details/figure-0:image" descr="结构示例 B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6702" y="2457069"/>
            <a:ext cx="4738596" cy="1480811"/>
          </a:xfrm>
          <a:prstGeom prst="rect">
            <a:avLst/>
          </a:prstGeom>
        </p:spPr>
      </p:pic>
      <p:sp>
        <p:nvSpPr>
          <p:cNvPr id="10" name="cards-27/card/figure-overview-details/figure-0:caption"/>
          <p:cNvSpPr/>
          <p:nvPr/>
        </p:nvSpPr>
        <p:spPr>
          <a:xfrm>
            <a:off x="952500" y="4023605"/>
            <a:ext cx="102870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B，非研究图</a:t>
            </a:r>
            <a:endParaRPr lang="zh-CN" sz="1350" dirty="0"/>
          </a:p>
        </p:txBody>
      </p:sp>
      <p:pic>
        <p:nvPicPr>
          <p:cNvPr id="11" name="cards-27/card/figure-overview-details/figure-1:image" descr="结构示例 A，非研究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258" y="4445753"/>
            <a:ext cx="2580259" cy="806331"/>
          </a:xfrm>
          <a:prstGeom prst="rect">
            <a:avLst/>
          </a:prstGeom>
        </p:spPr>
      </p:pic>
      <p:sp>
        <p:nvSpPr>
          <p:cNvPr id="12" name="cards-27/card/figure-overview-details/figure-1:caption"/>
          <p:cNvSpPr/>
          <p:nvPr/>
        </p:nvSpPr>
        <p:spPr>
          <a:xfrm>
            <a:off x="952500" y="5337809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  <p:pic>
        <p:nvPicPr>
          <p:cNvPr id="13" name="cards-27/card/figure-overview-details/figure-2:image" descr="结构示例 B 局部，非研究图">    </p:cNvPr>
          <p:cNvPicPr>
            <a:picLocks noChangeAspect="1"/>
          </p:cNvPicPr>
          <p:nvPr/>
        </p:nvPicPr>
        <p:blipFill>
          <a:blip r:embed="rId3"/>
          <a:srcRect l="30000" r="45000" t="35000" b="35000"/>
          <a:stretch/>
        </p:blipFill>
        <p:spPr>
          <a:xfrm>
            <a:off x="7635505" y="4445753"/>
            <a:ext cx="2150216" cy="806331"/>
          </a:xfrm>
          <a:prstGeom prst="rect">
            <a:avLst/>
          </a:prstGeom>
        </p:spPr>
      </p:pic>
      <p:sp>
        <p:nvSpPr>
          <p:cNvPr id="14" name="cards-27/card/figure-overview-details/figure-2:caption"/>
          <p:cNvSpPr/>
          <p:nvPr/>
        </p:nvSpPr>
        <p:spPr>
          <a:xfrm>
            <a:off x="6181725" y="5337809"/>
            <a:ext cx="5057775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B 局部，非研究图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8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12</a:t>
            </a:r>
            <a:endParaRPr lang="zh-CN" sz="1350" dirty="0"/>
          </a:p>
        </p:txBody>
      </p:sp>
      <p:sp>
        <p:nvSpPr>
          <p:cNvPr id="3" name="cards-28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  中图双侧注卡</a:t>
            </a:r>
            <a:endParaRPr lang="zh-CN" sz="2400" dirty="0"/>
          </a:p>
        </p:txBody>
      </p:sp>
      <p:sp>
        <p:nvSpPr>
          <p:cNvPr id="4" name="cards-28/card/figure-margin-notes/surface"/>
          <p:cNvSpPr/>
          <p:nvPr/>
        </p:nvSpPr>
        <p:spPr>
          <a:xfrm>
            <a:off x="762000" y="1409700"/>
            <a:ext cx="10668000" cy="3510010"/>
          </a:xfrm>
          <a:prstGeom prst="roundRect">
            <a:avLst>
              <a:gd name="adj" fmla="val 283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8/card/figure-margin-notes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条件、证据与解释</a:t>
            </a:r>
            <a:endParaRPr lang="zh-CN" sz="2100" dirty="0"/>
          </a:p>
        </p:txBody>
      </p:sp>
      <p:sp>
        <p:nvSpPr>
          <p:cNvPr id="6" name="cards-28/card/figure-margin-notes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主图保留完整数据区。</a:t>
            </a:r>
            <a:endParaRPr lang="zh-CN" sz="1800" dirty="0"/>
          </a:p>
        </p:txBody>
      </p:sp>
      <p:sp>
        <p:nvSpPr>
          <p:cNvPr id="7" name="cards-28/card/figure-margin-notes/item-0/label"/>
          <p:cNvSpPr/>
          <p:nvPr/>
        </p:nvSpPr>
        <p:spPr>
          <a:xfrm>
            <a:off x="952500" y="2457069"/>
            <a:ext cx="208826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</a:t>
            </a:r>
            <a:endParaRPr lang="zh-CN" sz="1800" dirty="0"/>
          </a:p>
        </p:txBody>
      </p:sp>
      <p:sp>
        <p:nvSpPr>
          <p:cNvPr id="8" name="cards-28/card/figure-margin-notes/item-0/detail"/>
          <p:cNvSpPr/>
          <p:nvPr/>
        </p:nvSpPr>
        <p:spPr>
          <a:xfrm>
            <a:off x="952500" y="2783586"/>
            <a:ext cx="208826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指出比较前提。</a:t>
            </a:r>
            <a:endParaRPr lang="zh-CN" sz="1800" dirty="0"/>
          </a:p>
        </p:txBody>
      </p:sp>
      <p:sp>
        <p:nvSpPr>
          <p:cNvPr id="9" name="cards-28/card/figure-margin-notes/item-1/label"/>
          <p:cNvSpPr/>
          <p:nvPr/>
        </p:nvSpPr>
        <p:spPr>
          <a:xfrm>
            <a:off x="9151239" y="2457069"/>
            <a:ext cx="208826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</a:t>
            </a:r>
            <a:endParaRPr lang="zh-CN" sz="1800" dirty="0"/>
          </a:p>
        </p:txBody>
      </p:sp>
      <p:sp>
        <p:nvSpPr>
          <p:cNvPr id="10" name="cards-28/card/figure-margin-notes/item-1/detail"/>
          <p:cNvSpPr/>
          <p:nvPr/>
        </p:nvSpPr>
        <p:spPr>
          <a:xfrm>
            <a:off x="9151239" y="2783586"/>
            <a:ext cx="208826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只说明已支持关系。</a:t>
            </a:r>
            <a:endParaRPr lang="zh-CN" sz="1800" dirty="0"/>
          </a:p>
        </p:txBody>
      </p:sp>
      <p:pic>
        <p:nvPicPr>
          <p:cNvPr id="11" name="cards-28/card/figure-margin-notes/figure-0:image" descr="结构示例 C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211" y="2457069"/>
            <a:ext cx="5767578" cy="1802368"/>
          </a:xfrm>
          <a:prstGeom prst="rect">
            <a:avLst/>
          </a:prstGeom>
        </p:spPr>
      </p:pic>
      <p:sp>
        <p:nvSpPr>
          <p:cNvPr id="12" name="cards-28/card/figure-margin-notes/figure-0:caption"/>
          <p:cNvSpPr/>
          <p:nvPr/>
        </p:nvSpPr>
        <p:spPr>
          <a:xfrm>
            <a:off x="3212211" y="4345162"/>
            <a:ext cx="5767578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C，非研究图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29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12</a:t>
            </a:r>
            <a:endParaRPr lang="zh-CN" sz="1350" dirty="0"/>
          </a:p>
        </p:txBody>
      </p:sp>
      <p:sp>
        <p:nvSpPr>
          <p:cNvPr id="3" name="cards-29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  图证读数卡</a:t>
            </a:r>
            <a:endParaRPr lang="zh-CN" sz="2400" dirty="0"/>
          </a:p>
        </p:txBody>
      </p:sp>
      <p:sp>
        <p:nvSpPr>
          <p:cNvPr id="4" name="cards-29/card/figure-metrics/surface"/>
          <p:cNvSpPr/>
          <p:nvPr/>
        </p:nvSpPr>
        <p:spPr>
          <a:xfrm>
            <a:off x="762000" y="1409700"/>
            <a:ext cx="10668000" cy="4876799"/>
          </a:xfrm>
          <a:prstGeom prst="roundRect">
            <a:avLst>
              <a:gd name="adj" fmla="val 14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29/card/figure-metrics/readouts-rule"/>
          <p:cNvSpPr/>
          <p:nvPr/>
        </p:nvSpPr>
        <p:spPr>
          <a:xfrm>
            <a:off x="952500" y="4878323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6" name="cards-29/card/figure-metrics/note-rule"/>
          <p:cNvSpPr/>
          <p:nvPr/>
        </p:nvSpPr>
        <p:spPr>
          <a:xfrm>
            <a:off x="952500" y="5721857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7" name="cards-29/card/figure-metrics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图像与核对读数</a:t>
            </a:r>
            <a:endParaRPr lang="zh-CN" sz="2100" dirty="0"/>
          </a:p>
        </p:txBody>
      </p:sp>
      <p:sp>
        <p:nvSpPr>
          <p:cNvPr id="8" name="cards-29/card/figure-metrics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读数来自相邻图表及同一验证口径。</a:t>
            </a:r>
            <a:endParaRPr lang="zh-CN" sz="1800" dirty="0"/>
          </a:p>
        </p:txBody>
      </p:sp>
      <p:sp>
        <p:nvSpPr>
          <p:cNvPr id="9" name="cards-29/card/figure-metrics/item-0/label"/>
          <p:cNvSpPr/>
          <p:nvPr/>
        </p:nvSpPr>
        <p:spPr>
          <a:xfrm>
            <a:off x="952500" y="4983098"/>
            <a:ext cx="50577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参考读数</a:t>
            </a:r>
            <a:endParaRPr lang="zh-CN" sz="1800" dirty="0"/>
          </a:p>
        </p:txBody>
      </p:sp>
      <p:sp>
        <p:nvSpPr>
          <p:cNvPr id="10" name="cards-29/card/figure-metrics/item-0/detail"/>
          <p:cNvSpPr/>
          <p:nvPr/>
        </p:nvSpPr>
        <p:spPr>
          <a:xfrm>
            <a:off x="952500" y="5309615"/>
            <a:ext cx="50577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填写来源单位与口径。</a:t>
            </a:r>
            <a:endParaRPr lang="zh-CN" sz="1800" dirty="0"/>
          </a:p>
        </p:txBody>
      </p:sp>
      <p:sp>
        <p:nvSpPr>
          <p:cNvPr id="11" name="cards-29/card/figure-metrics/item-1/label"/>
          <p:cNvSpPr/>
          <p:nvPr/>
        </p:nvSpPr>
        <p:spPr>
          <a:xfrm>
            <a:off x="6181725" y="4983098"/>
            <a:ext cx="50577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比较读数</a:t>
            </a:r>
            <a:endParaRPr lang="zh-CN" sz="1800" dirty="0"/>
          </a:p>
        </p:txBody>
      </p:sp>
      <p:sp>
        <p:nvSpPr>
          <p:cNvPr id="12" name="cards-29/card/figure-metrics/item-1/detail"/>
          <p:cNvSpPr/>
          <p:nvPr/>
        </p:nvSpPr>
        <p:spPr>
          <a:xfrm>
            <a:off x="6181725" y="5309615"/>
            <a:ext cx="50577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填写对应的完整条件。</a:t>
            </a:r>
            <a:endParaRPr lang="zh-CN" sz="1800" dirty="0"/>
          </a:p>
        </p:txBody>
      </p:sp>
      <p:sp>
        <p:nvSpPr>
          <p:cNvPr id="13" name="cards-29/card/figure-metrics/note"/>
          <p:cNvSpPr/>
          <p:nvPr/>
        </p:nvSpPr>
        <p:spPr>
          <a:xfrm>
            <a:off x="952500" y="5817107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示例无研究数值，不自动计算差值。</a:t>
            </a:r>
            <a:endParaRPr lang="zh-CN" sz="1800" dirty="0"/>
          </a:p>
        </p:txBody>
      </p:sp>
      <p:pic>
        <p:nvPicPr>
          <p:cNvPr id="14" name="cards-29/card/figure-metrics/figure-0:image" descr="结构示例 A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670" y="2457069"/>
            <a:ext cx="6366661" cy="1989581"/>
          </a:xfrm>
          <a:prstGeom prst="rect">
            <a:avLst/>
          </a:prstGeom>
        </p:spPr>
      </p:pic>
      <p:sp>
        <p:nvSpPr>
          <p:cNvPr id="15" name="cards-29/card/figure-metrics/figure-0:caption"/>
          <p:cNvSpPr/>
          <p:nvPr/>
        </p:nvSpPr>
        <p:spPr>
          <a:xfrm>
            <a:off x="952500" y="4532375"/>
            <a:ext cx="102870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A，非研究图</a:t>
            </a:r>
            <a:endParaRPr lang="zh-CN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s-30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12</a:t>
            </a:r>
            <a:endParaRPr lang="zh-CN" sz="1350" dirty="0"/>
          </a:p>
        </p:txBody>
      </p:sp>
      <p:sp>
        <p:nvSpPr>
          <p:cNvPr id="3" name="cards-30/title"/>
          <p:cNvSpPr/>
          <p:nvPr/>
        </p:nvSpPr>
        <p:spPr>
          <a:xfrm>
            <a:off x="533400" y="323850"/>
            <a:ext cx="111252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  条件环绕图卡</a:t>
            </a:r>
            <a:endParaRPr lang="zh-CN" sz="2400" dirty="0"/>
          </a:p>
        </p:txBody>
      </p:sp>
      <p:sp>
        <p:nvSpPr>
          <p:cNvPr id="4" name="cards-30/card/figure-conditions/surface"/>
          <p:cNvSpPr/>
          <p:nvPr/>
        </p:nvSpPr>
        <p:spPr>
          <a:xfrm>
            <a:off x="762000" y="1409700"/>
            <a:ext cx="10668000" cy="4876800"/>
          </a:xfrm>
          <a:prstGeom prst="roundRect">
            <a:avLst>
              <a:gd name="adj" fmla="val 146"/>
            </a:avLst>
          </a:prstGeom>
          <a:solidFill>
            <a:srgbClr val="FFFFFF"/>
          </a:solidFill>
          <a:ln w="11430">
            <a:solidFill>
              <a:srgbClr val="B8C7D0"/>
            </a:solidFill>
            <a:prstDash val="solid"/>
          </a:ln>
        </p:spPr>
      </p:sp>
      <p:sp>
        <p:nvSpPr>
          <p:cNvPr id="5" name="cards-30/card/figure-conditions/conditions"/>
          <p:cNvSpPr/>
          <p:nvPr/>
        </p:nvSpPr>
        <p:spPr>
          <a:xfrm>
            <a:off x="952500" y="2457069"/>
            <a:ext cx="10287000" cy="862584"/>
          </a:xfrm>
          <a:prstGeom prst="rect">
            <a:avLst/>
          </a:prstGeom>
          <a:solidFill>
            <a:srgbClr val="F2F6F8"/>
          </a:solidFill>
          <a:ln>
            <a:noFill/>
          </a:ln>
        </p:spPr>
      </p:sp>
      <p:sp>
        <p:nvSpPr>
          <p:cNvPr id="6" name="cards-30/card/figure-conditions/note-rule"/>
          <p:cNvSpPr/>
          <p:nvPr/>
        </p:nvSpPr>
        <p:spPr>
          <a:xfrm>
            <a:off x="952500" y="5721858"/>
            <a:ext cx="10287000" cy="0"/>
          </a:xfrm>
          <a:prstGeom prst="line">
            <a:avLst/>
          </a:prstGeom>
          <a:noFill/>
          <a:ln w="10954">
            <a:solidFill>
              <a:srgbClr val="B8C7D0"/>
            </a:solidFill>
            <a:prstDash val="solid"/>
          </a:ln>
        </p:spPr>
      </p:sp>
      <p:sp>
        <p:nvSpPr>
          <p:cNvPr id="7" name="cards-30/card/figure-conditions/title"/>
          <p:cNvSpPr/>
          <p:nvPr/>
        </p:nvSpPr>
        <p:spPr>
          <a:xfrm>
            <a:off x="952500" y="1600200"/>
            <a:ext cx="102870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条件限定的图像证据</a:t>
            </a:r>
            <a:endParaRPr lang="zh-CN" sz="2100" dirty="0"/>
          </a:p>
        </p:txBody>
      </p:sp>
      <p:sp>
        <p:nvSpPr>
          <p:cNvPr id="8" name="cards-30/card/figure-conditions/body"/>
          <p:cNvSpPr/>
          <p:nvPr/>
        </p:nvSpPr>
        <p:spPr>
          <a:xfrm>
            <a:off x="952500" y="2040255"/>
            <a:ext cx="102870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先明确本图所处的研究条件。</a:t>
            </a:r>
            <a:endParaRPr lang="zh-CN" sz="1800" dirty="0"/>
          </a:p>
        </p:txBody>
      </p:sp>
      <p:sp>
        <p:nvSpPr>
          <p:cNvPr id="9" name="cards-30/card/figure-conditions/item-0/label"/>
          <p:cNvSpPr/>
          <p:nvPr/>
        </p:nvSpPr>
        <p:spPr>
          <a:xfrm>
            <a:off x="1066800" y="2552319"/>
            <a:ext cx="49434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zh-CN" sz="1800" dirty="0"/>
          </a:p>
        </p:txBody>
      </p:sp>
      <p:sp>
        <p:nvSpPr>
          <p:cNvPr id="10" name="cards-30/card/figure-conditions/item-0/detail"/>
          <p:cNvSpPr/>
          <p:nvPr/>
        </p:nvSpPr>
        <p:spPr>
          <a:xfrm>
            <a:off x="1066800" y="2878836"/>
            <a:ext cx="49434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记录对象范围。</a:t>
            </a:r>
            <a:endParaRPr lang="zh-CN" sz="1800" dirty="0"/>
          </a:p>
        </p:txBody>
      </p:sp>
      <p:sp>
        <p:nvSpPr>
          <p:cNvPr id="11" name="cards-30/card/figure-conditions/item-1/label"/>
          <p:cNvSpPr/>
          <p:nvPr/>
        </p:nvSpPr>
        <p:spPr>
          <a:xfrm>
            <a:off x="6181725" y="2552319"/>
            <a:ext cx="49434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b="1" dirty="0">
                <a:solidFill>
                  <a:srgbClr val="244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</a:t>
            </a:r>
            <a:endParaRPr lang="zh-CN" sz="1800" dirty="0"/>
          </a:p>
        </p:txBody>
      </p:sp>
      <p:sp>
        <p:nvSpPr>
          <p:cNvPr id="12" name="cards-30/card/figure-conditions/item-1/detail"/>
          <p:cNvSpPr/>
          <p:nvPr/>
        </p:nvSpPr>
        <p:spPr>
          <a:xfrm>
            <a:off x="6181725" y="2878836"/>
            <a:ext cx="494347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记录观察窗口。</a:t>
            </a:r>
            <a:endParaRPr lang="zh-CN" sz="1800" dirty="0"/>
          </a:p>
        </p:txBody>
      </p:sp>
      <p:sp>
        <p:nvSpPr>
          <p:cNvPr id="13" name="cards-30/card/figure-conditions/note"/>
          <p:cNvSpPr/>
          <p:nvPr/>
        </p:nvSpPr>
        <p:spPr>
          <a:xfrm>
            <a:off x="952500" y="5817108"/>
            <a:ext cx="1028700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边界：仅解释图中已经验证的条件。</a:t>
            </a:r>
            <a:endParaRPr lang="zh-CN" sz="1800" dirty="0"/>
          </a:p>
        </p:txBody>
      </p:sp>
      <p:pic>
        <p:nvPicPr>
          <p:cNvPr id="14" name="cards-30/card/figure-conditions/figure-0:image" descr="结构示例 C，非研究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6509" y="3414903"/>
            <a:ext cx="5878981" cy="1837182"/>
          </a:xfrm>
          <a:prstGeom prst="rect">
            <a:avLst/>
          </a:prstGeom>
        </p:spPr>
      </p:pic>
      <p:sp>
        <p:nvSpPr>
          <p:cNvPr id="15" name="cards-30/card/figure-conditions/figure-0:caption"/>
          <p:cNvSpPr/>
          <p:nvPr/>
        </p:nvSpPr>
        <p:spPr>
          <a:xfrm>
            <a:off x="952500" y="5337810"/>
            <a:ext cx="10287000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结构示例 C，非研究图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12种图片嵌入式卡片 · 原创结构参考</dc:title>
  <dc:subject>学术研究汇报</dc:subject>
  <dc:creator>DSH Academic PPT</dc:creator>
  <cp:lastModifiedBy>DSH Academic PPT</cp:lastModifiedBy>
  <cp:revision>1</cp:revision>
  <dcterms:created xsi:type="dcterms:W3CDTF">2026-10-27T12:53:01Z</dcterms:created>
  <dcterms:modified xsi:type="dcterms:W3CDTF">2026-10-27T12:53:01Z</dcterms:modified>
</cp:coreProperties>
</file>