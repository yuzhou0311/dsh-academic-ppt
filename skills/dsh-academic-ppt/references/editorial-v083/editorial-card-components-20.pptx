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0.8.3 · ACADEMIC CARD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一页四张局部卡片 · 并非整页版式模板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487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57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83955"/>
          </a:solidFill>
          <a:ln w="12700">
            <a:solidFill>
              <a:srgbClr val="1839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537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C01</a:t>
            </a:r>
            <a:endParaRPr lang="en-US" sz="858" dirty="0"/>
          </a:p>
        </p:txBody>
      </p:sp>
      <p:sp>
        <p:nvSpPr>
          <p:cNvPr id="7" name="Text 5"/>
          <p:cNvSpPr/>
          <p:nvPr/>
        </p:nvSpPr>
        <p:spPr>
          <a:xfrm>
            <a:off x="94902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双图证据</a:t>
            </a:r>
            <a:endParaRPr lang="en-US" sz="792" dirty="0"/>
          </a:p>
        </p:txBody>
      </p:sp>
      <p:sp>
        <p:nvSpPr>
          <p:cNvPr id="8" name="Text 6"/>
          <p:cNvSpPr/>
          <p:nvPr/>
        </p:nvSpPr>
        <p:spPr>
          <a:xfrm>
            <a:off x="52069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同化前后对照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690" y="1368948"/>
            <a:ext cx="5158252" cy="0"/>
          </a:xfrm>
          <a:prstGeom prst="line">
            <a:avLst/>
          </a:prstGeom>
          <a:noFill/>
          <a:ln w="8255">
            <a:solidFill>
              <a:srgbClr val="C9D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690" y="1496538"/>
            <a:ext cx="2451537" cy="112096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0690" y="1496538"/>
            <a:ext cx="2451537" cy="1120963"/>
          </a:xfrm>
          <a:prstGeom prst="roundRect">
            <a:avLst>
              <a:gd name="adj" fmla="val 1631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5371" y="2426117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405" y="1496538"/>
            <a:ext cx="2451537" cy="11209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27405" y="1496538"/>
            <a:ext cx="2451537" cy="1120963"/>
          </a:xfrm>
          <a:prstGeom prst="roundRect">
            <a:avLst>
              <a:gd name="adj" fmla="val 1631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82086" y="2426117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16" name="Shape 12"/>
          <p:cNvSpPr/>
          <p:nvPr/>
        </p:nvSpPr>
        <p:spPr>
          <a:xfrm>
            <a:off x="520690" y="2653955"/>
            <a:ext cx="765536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3598" y="2690409"/>
            <a:ext cx="6197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 A</a:t>
            </a:r>
            <a:endParaRPr lang="en-US" sz="858" dirty="0"/>
          </a:p>
        </p:txBody>
      </p:sp>
      <p:sp>
        <p:nvSpPr>
          <p:cNvPr id="18" name="Shape 14"/>
          <p:cNvSpPr/>
          <p:nvPr/>
        </p:nvSpPr>
        <p:spPr>
          <a:xfrm>
            <a:off x="3227405" y="2653955"/>
            <a:ext cx="765536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00313" y="2690409"/>
            <a:ext cx="6197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 B</a:t>
            </a:r>
            <a:endParaRPr lang="en-US" sz="858" dirty="0"/>
          </a:p>
        </p:txBody>
      </p:sp>
      <p:sp>
        <p:nvSpPr>
          <p:cNvPr id="20" name="Text 16"/>
          <p:cNvSpPr/>
          <p:nvPr/>
        </p:nvSpPr>
        <p:spPr>
          <a:xfrm>
            <a:off x="1377361" y="2672182"/>
            <a:ext cx="1458163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同一评价窗口</a:t>
            </a:r>
            <a:endParaRPr lang="en-US" sz="858" dirty="0"/>
          </a:p>
        </p:txBody>
      </p:sp>
      <p:sp>
        <p:nvSpPr>
          <p:cNvPr id="21" name="Text 17"/>
          <p:cNvSpPr/>
          <p:nvPr/>
        </p:nvSpPr>
        <p:spPr>
          <a:xfrm>
            <a:off x="4074963" y="2672182"/>
            <a:ext cx="1531071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相同观测支持</a:t>
            </a:r>
            <a:endParaRPr lang="en-US" sz="858" dirty="0"/>
          </a:p>
        </p:txBody>
      </p:sp>
      <p:sp>
        <p:nvSpPr>
          <p:cNvPr id="22" name="Shape 18"/>
          <p:cNvSpPr/>
          <p:nvPr/>
        </p:nvSpPr>
        <p:spPr>
          <a:xfrm>
            <a:off x="511576" y="2972928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1576" y="2972928"/>
            <a:ext cx="36454" cy="218724"/>
          </a:xfrm>
          <a:prstGeom prst="rect">
            <a:avLst>
              <a:gd name="adj" fmla="val 50167"/>
            </a:avLst>
          </a:prstGeom>
          <a:solidFill>
            <a:srgbClr val="BC8260"/>
          </a:solidFill>
          <a:ln w="12700">
            <a:solidFill>
              <a:srgbClr val="BC8260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1825" y="3000268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按相同样本、变量和尺度对照</a:t>
            </a:r>
            <a:endParaRPr lang="en-US" sz="858" dirty="0"/>
          </a:p>
        </p:txBody>
      </p:sp>
      <p:sp>
        <p:nvSpPr>
          <p:cNvPr id="25" name="Text 21"/>
          <p:cNvSpPr/>
          <p:nvPr/>
        </p:nvSpPr>
        <p:spPr>
          <a:xfrm>
            <a:off x="36576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C01 · 双图证据 · figure-pair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27275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0945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2F554B"/>
          </a:solidFill>
          <a:ln w="12700">
            <a:solidFill>
              <a:srgbClr val="2F554B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7325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C02</a:t>
            </a:r>
            <a:endParaRPr lang="en-US" sz="858" dirty="0"/>
          </a:p>
        </p:txBody>
      </p:sp>
      <p:sp>
        <p:nvSpPr>
          <p:cNvPr id="29" name="Text 25"/>
          <p:cNvSpPr/>
          <p:nvPr/>
        </p:nvSpPr>
        <p:spPr>
          <a:xfrm>
            <a:off x="684690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总体与局部</a:t>
            </a:r>
            <a:endParaRPr lang="en-US" sz="792" dirty="0"/>
          </a:p>
        </p:txBody>
      </p:sp>
      <p:sp>
        <p:nvSpPr>
          <p:cNvPr id="30" name="Text 26"/>
          <p:cNvSpPr/>
          <p:nvPr/>
        </p:nvSpPr>
        <p:spPr>
          <a:xfrm>
            <a:off x="641857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总览与关键局部</a:t>
            </a:r>
            <a:endParaRPr lang="en-US" sz="1650" dirty="0"/>
          </a:p>
        </p:txBody>
      </p:sp>
      <p:sp>
        <p:nvSpPr>
          <p:cNvPr id="31" name="Shape 27"/>
          <p:cNvSpPr/>
          <p:nvPr/>
        </p:nvSpPr>
        <p:spPr>
          <a:xfrm>
            <a:off x="6418570" y="1368948"/>
            <a:ext cx="5158252" cy="0"/>
          </a:xfrm>
          <a:prstGeom prst="line">
            <a:avLst/>
          </a:prstGeom>
          <a:noFill/>
          <a:ln w="8255">
            <a:solidFill>
              <a:srgbClr val="BCCFC7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70" y="1523878"/>
            <a:ext cx="3198846" cy="1348801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418570" y="1523878"/>
            <a:ext cx="3198846" cy="1348801"/>
          </a:xfrm>
          <a:prstGeom prst="roundRect">
            <a:avLst>
              <a:gd name="adj" fmla="val 1356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73251" y="2681295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664" y="1523878"/>
            <a:ext cx="1840931" cy="619719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717664" y="1523878"/>
            <a:ext cx="1840931" cy="619719"/>
          </a:xfrm>
          <a:prstGeom prst="roundRect">
            <a:avLst>
              <a:gd name="adj" fmla="val 2951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772345" y="1952214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664" y="2234733"/>
            <a:ext cx="1840931" cy="637946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9717664" y="2234733"/>
            <a:ext cx="1840931" cy="637946"/>
          </a:xfrm>
          <a:prstGeom prst="roundRect">
            <a:avLst>
              <a:gd name="adj" fmla="val 2867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772345" y="2681295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41" name="Shape 34"/>
          <p:cNvSpPr/>
          <p:nvPr/>
        </p:nvSpPr>
        <p:spPr>
          <a:xfrm>
            <a:off x="9334896" y="1897532"/>
            <a:ext cx="355427" cy="-91135"/>
          </a:xfrm>
          <a:prstGeom prst="line">
            <a:avLst/>
          </a:prstGeom>
          <a:noFill/>
          <a:ln w="16510">
            <a:solidFill>
              <a:srgbClr val="2F554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334896" y="2444344"/>
            <a:ext cx="355427" cy="82022"/>
          </a:xfrm>
          <a:prstGeom prst="line">
            <a:avLst/>
          </a:prstGeom>
          <a:noFill/>
          <a:ln w="16510">
            <a:solidFill>
              <a:srgbClr val="2F554B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418570" y="2909133"/>
            <a:ext cx="683514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491478" y="2945587"/>
            <a:ext cx="537698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整体图</a:t>
            </a:r>
            <a:endParaRPr lang="en-US" sz="858" dirty="0"/>
          </a:p>
        </p:txBody>
      </p:sp>
      <p:sp>
        <p:nvSpPr>
          <p:cNvPr id="45" name="Text 38"/>
          <p:cNvSpPr/>
          <p:nvPr/>
        </p:nvSpPr>
        <p:spPr>
          <a:xfrm>
            <a:off x="7284354" y="2927360"/>
            <a:ext cx="3098597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上：局部 1  /  下：局部 2</a:t>
            </a:r>
            <a:endParaRPr lang="en-US" sz="858" dirty="0"/>
          </a:p>
        </p:txBody>
      </p:sp>
      <p:sp>
        <p:nvSpPr>
          <p:cNvPr id="46" name="Text 39"/>
          <p:cNvSpPr/>
          <p:nvPr/>
        </p:nvSpPr>
        <p:spPr>
          <a:xfrm>
            <a:off x="626364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C02 · 总体与局部 · figure-zoom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7487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1157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783B4B"/>
          </a:solidFill>
          <a:ln w="12700">
            <a:solidFill>
              <a:srgbClr val="783B4B">
                <a:alpha val="0"/>
              </a:srgbClr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7537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C03</a:t>
            </a:r>
            <a:endParaRPr lang="en-US" sz="858" dirty="0"/>
          </a:p>
        </p:txBody>
      </p:sp>
      <p:sp>
        <p:nvSpPr>
          <p:cNvPr id="50" name="Text 43"/>
          <p:cNvSpPr/>
          <p:nvPr/>
        </p:nvSpPr>
        <p:spPr>
          <a:xfrm>
            <a:off x="94902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图证读数</a:t>
            </a:r>
            <a:endParaRPr lang="en-US" sz="792" dirty="0"/>
          </a:p>
        </p:txBody>
      </p:sp>
      <p:sp>
        <p:nvSpPr>
          <p:cNvPr id="51" name="Text 44"/>
          <p:cNvSpPr/>
          <p:nvPr/>
        </p:nvSpPr>
        <p:spPr>
          <a:xfrm>
            <a:off x="52069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精度与稳定性</a:t>
            </a:r>
            <a:endParaRPr lang="en-US" sz="1650" dirty="0"/>
          </a:p>
        </p:txBody>
      </p:sp>
      <p:sp>
        <p:nvSpPr>
          <p:cNvPr id="52" name="Shape 45"/>
          <p:cNvSpPr/>
          <p:nvPr/>
        </p:nvSpPr>
        <p:spPr>
          <a:xfrm>
            <a:off x="520690" y="4432188"/>
            <a:ext cx="5158252" cy="0"/>
          </a:xfrm>
          <a:prstGeom prst="line">
            <a:avLst/>
          </a:prstGeom>
          <a:noFill/>
          <a:ln w="8255">
            <a:solidFill>
              <a:srgbClr val="E2CBD0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90" y="4559778"/>
            <a:ext cx="5167366" cy="1057168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20690" y="4559778"/>
            <a:ext cx="5167366" cy="1057168"/>
          </a:xfrm>
          <a:prstGeom prst="roundRect">
            <a:avLst>
              <a:gd name="adj" fmla="val 1730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75371" y="5425562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56" name="Text 48"/>
          <p:cNvSpPr/>
          <p:nvPr/>
        </p:nvSpPr>
        <p:spPr>
          <a:xfrm>
            <a:off x="566257" y="5726308"/>
            <a:ext cx="1221212" cy="264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4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</a:t>
            </a:r>
            <a:endParaRPr lang="en-US" sz="1584" dirty="0"/>
          </a:p>
        </p:txBody>
      </p:sp>
      <p:sp>
        <p:nvSpPr>
          <p:cNvPr id="57" name="Text 49"/>
          <p:cNvSpPr/>
          <p:nvPr/>
        </p:nvSpPr>
        <p:spPr>
          <a:xfrm>
            <a:off x="3181838" y="5726308"/>
            <a:ext cx="756422" cy="255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4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</a:t>
            </a:r>
            <a:endParaRPr lang="en-US" sz="1584" dirty="0"/>
          </a:p>
        </p:txBody>
      </p:sp>
      <p:sp>
        <p:nvSpPr>
          <p:cNvPr id="58" name="Shape 50"/>
          <p:cNvSpPr/>
          <p:nvPr/>
        </p:nvSpPr>
        <p:spPr>
          <a:xfrm>
            <a:off x="2981340" y="5708081"/>
            <a:ext cx="0" cy="328087"/>
          </a:xfrm>
          <a:prstGeom prst="line">
            <a:avLst/>
          </a:prstGeom>
          <a:noFill/>
          <a:ln w="8255">
            <a:solidFill>
              <a:srgbClr val="E2CBD0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1814810" y="5799216"/>
            <a:ext cx="1057168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误差幅度</a:t>
            </a:r>
            <a:endParaRPr lang="en-US" sz="858" dirty="0"/>
          </a:p>
        </p:txBody>
      </p:sp>
      <p:sp>
        <p:nvSpPr>
          <p:cNvPr id="60" name="Text 52"/>
          <p:cNvSpPr/>
          <p:nvPr/>
        </p:nvSpPr>
        <p:spPr>
          <a:xfrm>
            <a:off x="4029395" y="5799216"/>
            <a:ext cx="1093622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关系强度</a:t>
            </a:r>
            <a:endParaRPr lang="en-US" sz="858" dirty="0"/>
          </a:p>
        </p:txBody>
      </p:sp>
      <p:sp>
        <p:nvSpPr>
          <p:cNvPr id="61" name="Shape 53"/>
          <p:cNvSpPr/>
          <p:nvPr/>
        </p:nvSpPr>
        <p:spPr>
          <a:xfrm>
            <a:off x="511576" y="6081735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511576" y="6081735"/>
            <a:ext cx="36454" cy="218724"/>
          </a:xfrm>
          <a:prstGeom prst="rect">
            <a:avLst>
              <a:gd name="adj" fmla="val 50167"/>
            </a:avLst>
          </a:prstGeom>
          <a:solidFill>
            <a:srgbClr val="A86667"/>
          </a:solidFill>
          <a:ln w="12700">
            <a:solidFill>
              <a:srgbClr val="A86667">
                <a:alpha val="0"/>
              </a:srgbClr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11825" y="6109076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比较指标须来自同一验证集</a:t>
            </a:r>
            <a:endParaRPr lang="en-US" sz="858" dirty="0"/>
          </a:p>
        </p:txBody>
      </p:sp>
      <p:sp>
        <p:nvSpPr>
          <p:cNvPr id="64" name="Text 56"/>
          <p:cNvSpPr/>
          <p:nvPr/>
        </p:nvSpPr>
        <p:spPr>
          <a:xfrm>
            <a:off x="36576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C03 · 图证读数 · figure-metrics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627275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640945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83955"/>
          </a:solidFill>
          <a:ln w="12700">
            <a:solidFill>
              <a:srgbClr val="183955">
                <a:alpha val="0"/>
              </a:srgbClr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647325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C04</a:t>
            </a:r>
            <a:endParaRPr lang="en-US" sz="858" dirty="0"/>
          </a:p>
        </p:txBody>
      </p:sp>
      <p:sp>
        <p:nvSpPr>
          <p:cNvPr id="68" name="Text 60"/>
          <p:cNvSpPr/>
          <p:nvPr/>
        </p:nvSpPr>
        <p:spPr>
          <a:xfrm>
            <a:off x="684690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二维矩阵</a:t>
            </a:r>
            <a:endParaRPr lang="en-US" sz="792" dirty="0"/>
          </a:p>
        </p:txBody>
      </p:sp>
      <p:sp>
        <p:nvSpPr>
          <p:cNvPr id="69" name="Text 61"/>
          <p:cNvSpPr/>
          <p:nvPr/>
        </p:nvSpPr>
        <p:spPr>
          <a:xfrm>
            <a:off x="641857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尺度 × 条件</a:t>
            </a:r>
            <a:endParaRPr lang="en-US" sz="1650" dirty="0"/>
          </a:p>
        </p:txBody>
      </p:sp>
      <p:sp>
        <p:nvSpPr>
          <p:cNvPr id="70" name="Shape 62"/>
          <p:cNvSpPr/>
          <p:nvPr/>
        </p:nvSpPr>
        <p:spPr>
          <a:xfrm>
            <a:off x="6418570" y="4432188"/>
            <a:ext cx="5158252" cy="0"/>
          </a:xfrm>
          <a:prstGeom prst="line">
            <a:avLst/>
          </a:prstGeom>
          <a:noFill/>
          <a:ln w="8255">
            <a:solidFill>
              <a:srgbClr val="C9D3DF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6418570" y="4541550"/>
            <a:ext cx="938693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尺度 / 条件</a:t>
            </a:r>
            <a:endParaRPr lang="en-US" sz="792" dirty="0"/>
          </a:p>
        </p:txBody>
      </p:sp>
      <p:sp>
        <p:nvSpPr>
          <p:cNvPr id="72" name="Shape 64"/>
          <p:cNvSpPr/>
          <p:nvPr/>
        </p:nvSpPr>
        <p:spPr>
          <a:xfrm>
            <a:off x="7566873" y="4514210"/>
            <a:ext cx="1731569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7639782" y="4550664"/>
            <a:ext cx="1585752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858" dirty="0"/>
          </a:p>
        </p:txBody>
      </p:sp>
      <p:sp>
        <p:nvSpPr>
          <p:cNvPr id="74" name="Shape 66"/>
          <p:cNvSpPr/>
          <p:nvPr/>
        </p:nvSpPr>
        <p:spPr>
          <a:xfrm>
            <a:off x="9571848" y="4514210"/>
            <a:ext cx="1731569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9644756" y="4550664"/>
            <a:ext cx="1585752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858" dirty="0"/>
          </a:p>
        </p:txBody>
      </p:sp>
      <p:sp>
        <p:nvSpPr>
          <p:cNvPr id="76" name="Shape 68"/>
          <p:cNvSpPr/>
          <p:nvPr/>
        </p:nvSpPr>
        <p:spPr>
          <a:xfrm>
            <a:off x="6409456" y="4869637"/>
            <a:ext cx="683514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77" name="Text 69"/>
          <p:cNvSpPr/>
          <p:nvPr/>
        </p:nvSpPr>
        <p:spPr>
          <a:xfrm>
            <a:off x="6482364" y="4906091"/>
            <a:ext cx="537698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地块</a:t>
            </a:r>
            <a:endParaRPr lang="en-US" sz="858" dirty="0"/>
          </a:p>
        </p:txBody>
      </p:sp>
      <p:sp>
        <p:nvSpPr>
          <p:cNvPr id="78" name="Shape 70"/>
          <p:cNvSpPr/>
          <p:nvPr/>
        </p:nvSpPr>
        <p:spPr>
          <a:xfrm>
            <a:off x="6409456" y="5443789"/>
            <a:ext cx="683514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6482364" y="5480243"/>
            <a:ext cx="537698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</a:t>
            </a:r>
            <a:endParaRPr lang="en-US" sz="858" dirty="0"/>
          </a:p>
        </p:txBody>
      </p:sp>
      <p:pic>
        <p:nvPicPr>
          <p:cNvPr id="8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992" y="4787616"/>
            <a:ext cx="2050542" cy="583265"/>
          </a:xfrm>
          <a:prstGeom prst="rect">
            <a:avLst/>
          </a:prstGeom>
        </p:spPr>
      </p:pic>
      <p:sp>
        <p:nvSpPr>
          <p:cNvPr id="81" name="Shape 72"/>
          <p:cNvSpPr/>
          <p:nvPr/>
        </p:nvSpPr>
        <p:spPr>
          <a:xfrm>
            <a:off x="7174992" y="4787616"/>
            <a:ext cx="2050542" cy="583265"/>
          </a:xfrm>
          <a:prstGeom prst="roundRect">
            <a:avLst>
              <a:gd name="adj" fmla="val 3135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7229673" y="5179497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6669" y="4787616"/>
            <a:ext cx="2232812" cy="583265"/>
          </a:xfrm>
          <a:prstGeom prst="rect">
            <a:avLst/>
          </a:prstGeom>
        </p:spPr>
      </p:pic>
      <p:sp>
        <p:nvSpPr>
          <p:cNvPr id="84" name="Shape 74"/>
          <p:cNvSpPr/>
          <p:nvPr/>
        </p:nvSpPr>
        <p:spPr>
          <a:xfrm>
            <a:off x="9316669" y="4787616"/>
            <a:ext cx="2232812" cy="583265"/>
          </a:xfrm>
          <a:prstGeom prst="roundRect">
            <a:avLst>
              <a:gd name="adj" fmla="val 3135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9371350" y="5179497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8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4992" y="5443789"/>
            <a:ext cx="2050542" cy="519471"/>
          </a:xfrm>
          <a:prstGeom prst="rect">
            <a:avLst/>
          </a:prstGeom>
        </p:spPr>
      </p:pic>
      <p:sp>
        <p:nvSpPr>
          <p:cNvPr id="87" name="Shape 76"/>
          <p:cNvSpPr/>
          <p:nvPr/>
        </p:nvSpPr>
        <p:spPr>
          <a:xfrm>
            <a:off x="7174992" y="5443789"/>
            <a:ext cx="2050542" cy="519471"/>
          </a:xfrm>
          <a:prstGeom prst="roundRect">
            <a:avLst>
              <a:gd name="adj" fmla="val 3521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88" name="Text 77"/>
          <p:cNvSpPr/>
          <p:nvPr/>
        </p:nvSpPr>
        <p:spPr>
          <a:xfrm>
            <a:off x="7229673" y="577187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8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6669" y="5443789"/>
            <a:ext cx="2232812" cy="519471"/>
          </a:xfrm>
          <a:prstGeom prst="rect">
            <a:avLst/>
          </a:prstGeom>
        </p:spPr>
      </p:pic>
      <p:sp>
        <p:nvSpPr>
          <p:cNvPr id="90" name="Shape 78"/>
          <p:cNvSpPr/>
          <p:nvPr/>
        </p:nvSpPr>
        <p:spPr>
          <a:xfrm>
            <a:off x="9316669" y="5443789"/>
            <a:ext cx="2232812" cy="519471"/>
          </a:xfrm>
          <a:prstGeom prst="roundRect">
            <a:avLst>
              <a:gd name="adj" fmla="val 3521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91" name="Text 79"/>
          <p:cNvSpPr/>
          <p:nvPr/>
        </p:nvSpPr>
        <p:spPr>
          <a:xfrm>
            <a:off x="9371350" y="577187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92" name="Shape 80"/>
          <p:cNvSpPr/>
          <p:nvPr/>
        </p:nvSpPr>
        <p:spPr>
          <a:xfrm>
            <a:off x="6409456" y="6063508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6409456" y="6063508"/>
            <a:ext cx="36454" cy="218724"/>
          </a:xfrm>
          <a:prstGeom prst="rect">
            <a:avLst>
              <a:gd name="adj" fmla="val 50167"/>
            </a:avLst>
          </a:prstGeom>
          <a:solidFill>
            <a:srgbClr val="BC8260"/>
          </a:solidFill>
          <a:ln w="12700">
            <a:solidFill>
              <a:srgbClr val="BC8260">
                <a:alpha val="0"/>
              </a:srgbClr>
            </a:solidFill>
            <a:prstDash val="solid"/>
          </a:ln>
        </p:spPr>
      </p:sp>
      <p:sp>
        <p:nvSpPr>
          <p:cNvPr id="94" name="Text 82"/>
          <p:cNvSpPr/>
          <p:nvPr/>
        </p:nvSpPr>
        <p:spPr>
          <a:xfrm>
            <a:off x="6509705" y="6090849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相同空间支持与指标，再解释差异</a:t>
            </a:r>
            <a:endParaRPr lang="en-US" sz="858" dirty="0"/>
          </a:p>
        </p:txBody>
      </p:sp>
      <p:sp>
        <p:nvSpPr>
          <p:cNvPr id="95" name="Text 83"/>
          <p:cNvSpPr/>
          <p:nvPr/>
        </p:nvSpPr>
        <p:spPr>
          <a:xfrm>
            <a:off x="626364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C04 · 二维矩阵 · figure-matrix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0.8.3 · ACADEMIC CARD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一页四张局部卡片 · 并非整页版式模板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487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57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46C75"/>
          </a:solidFill>
          <a:ln w="12700">
            <a:solidFill>
              <a:srgbClr val="146C7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537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C05</a:t>
            </a:r>
            <a:endParaRPr lang="en-US" sz="858" dirty="0"/>
          </a:p>
        </p:txBody>
      </p:sp>
      <p:sp>
        <p:nvSpPr>
          <p:cNvPr id="7" name="Text 5"/>
          <p:cNvSpPr/>
          <p:nvPr/>
        </p:nvSpPr>
        <p:spPr>
          <a:xfrm>
            <a:off x="94902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观察更新检验</a:t>
            </a:r>
            <a:endParaRPr lang="en-US" sz="792" dirty="0"/>
          </a:p>
        </p:txBody>
      </p:sp>
      <p:sp>
        <p:nvSpPr>
          <p:cNvPr id="8" name="Text 6"/>
          <p:cNvSpPr/>
          <p:nvPr/>
        </p:nvSpPr>
        <p:spPr>
          <a:xfrm>
            <a:off x="52069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 · 更新 · 验证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690" y="1368948"/>
            <a:ext cx="5158252" cy="0"/>
          </a:xfrm>
          <a:prstGeom prst="line">
            <a:avLst/>
          </a:prstGeom>
          <a:noFill/>
          <a:ln w="8255">
            <a:solidFill>
              <a:srgbClr val="BFD5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690" y="1478310"/>
            <a:ext cx="1367028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598" y="1514765"/>
            <a:ext cx="1221212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858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690" y="1742603"/>
            <a:ext cx="1603980" cy="10298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20690" y="1742603"/>
            <a:ext cx="1603980" cy="1029828"/>
          </a:xfrm>
          <a:prstGeom prst="roundRect">
            <a:avLst>
              <a:gd name="adj" fmla="val 1776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5371" y="258104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15" name="Text 12"/>
          <p:cNvSpPr/>
          <p:nvPr/>
        </p:nvSpPr>
        <p:spPr>
          <a:xfrm>
            <a:off x="2133783" y="2170938"/>
            <a:ext cx="18227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C28A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254" dirty="0"/>
          </a:p>
        </p:txBody>
      </p:sp>
      <p:sp>
        <p:nvSpPr>
          <p:cNvPr id="16" name="Shape 13"/>
          <p:cNvSpPr/>
          <p:nvPr/>
        </p:nvSpPr>
        <p:spPr>
          <a:xfrm>
            <a:off x="2261372" y="1478310"/>
            <a:ext cx="1367028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34280" y="1514765"/>
            <a:ext cx="1221212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</a:t>
            </a:r>
            <a:endParaRPr lang="en-US" sz="858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72" y="1742603"/>
            <a:ext cx="1603980" cy="102982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261372" y="1742603"/>
            <a:ext cx="1603980" cy="1029828"/>
          </a:xfrm>
          <a:prstGeom prst="roundRect">
            <a:avLst>
              <a:gd name="adj" fmla="val 1776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16053" y="258104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21" name="Text 17"/>
          <p:cNvSpPr/>
          <p:nvPr/>
        </p:nvSpPr>
        <p:spPr>
          <a:xfrm>
            <a:off x="3874465" y="2170938"/>
            <a:ext cx="18227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C28A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254" dirty="0"/>
          </a:p>
        </p:txBody>
      </p:sp>
      <p:sp>
        <p:nvSpPr>
          <p:cNvPr id="22" name="Shape 18"/>
          <p:cNvSpPr/>
          <p:nvPr/>
        </p:nvSpPr>
        <p:spPr>
          <a:xfrm>
            <a:off x="4002054" y="1478310"/>
            <a:ext cx="1367028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74963" y="1514765"/>
            <a:ext cx="1221212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858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054" y="1742603"/>
            <a:ext cx="1603980" cy="102982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002054" y="1742603"/>
            <a:ext cx="1603980" cy="1029828"/>
          </a:xfrm>
          <a:prstGeom prst="roundRect">
            <a:avLst>
              <a:gd name="adj" fmla="val 1776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056736" y="258104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27" name="Shape 22"/>
          <p:cNvSpPr/>
          <p:nvPr/>
        </p:nvSpPr>
        <p:spPr>
          <a:xfrm>
            <a:off x="511576" y="2972928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11576" y="2972928"/>
            <a:ext cx="36454" cy="218724"/>
          </a:xfrm>
          <a:prstGeom prst="rect">
            <a:avLst>
              <a:gd name="adj" fmla="val 50167"/>
            </a:avLst>
          </a:prstGeom>
          <a:solidFill>
            <a:srgbClr val="C28A50"/>
          </a:solidFill>
          <a:ln w="12700">
            <a:solidFill>
              <a:srgbClr val="C28A50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1825" y="3000268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真实步骤与真实图像一一对应</a:t>
            </a:r>
            <a:endParaRPr lang="en-US" sz="858" dirty="0"/>
          </a:p>
        </p:txBody>
      </p:sp>
      <p:sp>
        <p:nvSpPr>
          <p:cNvPr id="30" name="Text 25"/>
          <p:cNvSpPr/>
          <p:nvPr/>
        </p:nvSpPr>
        <p:spPr>
          <a:xfrm>
            <a:off x="36576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C05 · 观察更新检验 · figure-sequence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27275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0945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2F554B"/>
          </a:solidFill>
          <a:ln w="12700">
            <a:solidFill>
              <a:srgbClr val="2F554B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7325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C06</a:t>
            </a:r>
            <a:endParaRPr lang="en-US" sz="858" dirty="0"/>
          </a:p>
        </p:txBody>
      </p:sp>
      <p:sp>
        <p:nvSpPr>
          <p:cNvPr id="34" name="Text 29"/>
          <p:cNvSpPr/>
          <p:nvPr/>
        </p:nvSpPr>
        <p:spPr>
          <a:xfrm>
            <a:off x="684690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证据边界</a:t>
            </a:r>
            <a:endParaRPr lang="en-US" sz="792" dirty="0"/>
          </a:p>
        </p:txBody>
      </p:sp>
      <p:sp>
        <p:nvSpPr>
          <p:cNvPr id="35" name="Text 30"/>
          <p:cNvSpPr/>
          <p:nvPr/>
        </p:nvSpPr>
        <p:spPr>
          <a:xfrm>
            <a:off x="641857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适用范围与缺口</a:t>
            </a:r>
            <a:endParaRPr lang="en-US" sz="1650" dirty="0"/>
          </a:p>
        </p:txBody>
      </p:sp>
      <p:sp>
        <p:nvSpPr>
          <p:cNvPr id="36" name="Shape 31"/>
          <p:cNvSpPr/>
          <p:nvPr/>
        </p:nvSpPr>
        <p:spPr>
          <a:xfrm>
            <a:off x="6418570" y="1368948"/>
            <a:ext cx="5158252" cy="0"/>
          </a:xfrm>
          <a:prstGeom prst="line">
            <a:avLst/>
          </a:prstGeom>
          <a:noFill/>
          <a:ln w="8255">
            <a:solidFill>
              <a:srgbClr val="BCCFC7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18570" y="1469197"/>
            <a:ext cx="1549298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91478" y="1505651"/>
            <a:ext cx="1403482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对象：已观测地块</a:t>
            </a:r>
            <a:endParaRPr lang="en-US" sz="858" dirty="0"/>
          </a:p>
        </p:txBody>
      </p:sp>
      <p:sp>
        <p:nvSpPr>
          <p:cNvPr id="39" name="Shape 34"/>
          <p:cNvSpPr/>
          <p:nvPr/>
        </p:nvSpPr>
        <p:spPr>
          <a:xfrm>
            <a:off x="8086344" y="1469197"/>
            <a:ext cx="1594866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59252" y="1505651"/>
            <a:ext cx="1449050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条件：固定时间窗</a:t>
            </a:r>
            <a:endParaRPr lang="en-US" sz="858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70" y="1769943"/>
            <a:ext cx="5149139" cy="1002487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418570" y="1769943"/>
            <a:ext cx="5149139" cy="1002487"/>
          </a:xfrm>
          <a:prstGeom prst="roundRect">
            <a:avLst>
              <a:gd name="adj" fmla="val 1824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73251" y="258104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44" name="Text 38"/>
          <p:cNvSpPr/>
          <p:nvPr/>
        </p:nvSpPr>
        <p:spPr>
          <a:xfrm>
            <a:off x="6445910" y="2827111"/>
            <a:ext cx="72908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已支持</a:t>
            </a:r>
            <a:endParaRPr lang="en-US" sz="924" dirty="0"/>
          </a:p>
        </p:txBody>
      </p:sp>
      <p:sp>
        <p:nvSpPr>
          <p:cNvPr id="45" name="Text 39"/>
          <p:cNvSpPr/>
          <p:nvPr/>
        </p:nvSpPr>
        <p:spPr>
          <a:xfrm>
            <a:off x="7147651" y="2836225"/>
            <a:ext cx="1540185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当前条件下的关系</a:t>
            </a:r>
            <a:endParaRPr lang="en-US" sz="858" dirty="0"/>
          </a:p>
        </p:txBody>
      </p:sp>
      <p:sp>
        <p:nvSpPr>
          <p:cNvPr id="46" name="Text 40"/>
          <p:cNvSpPr/>
          <p:nvPr/>
        </p:nvSpPr>
        <p:spPr>
          <a:xfrm>
            <a:off x="8988582" y="2827111"/>
            <a:ext cx="72908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9B70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待验证</a:t>
            </a:r>
            <a:endParaRPr lang="en-US" sz="924" dirty="0"/>
          </a:p>
        </p:txBody>
      </p:sp>
      <p:sp>
        <p:nvSpPr>
          <p:cNvPr id="47" name="Text 41"/>
          <p:cNvSpPr/>
          <p:nvPr/>
        </p:nvSpPr>
        <p:spPr>
          <a:xfrm>
            <a:off x="9708551" y="2836225"/>
            <a:ext cx="1686001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跨区与跨年迁移</a:t>
            </a:r>
            <a:endParaRPr lang="en-US" sz="858" dirty="0"/>
          </a:p>
        </p:txBody>
      </p:sp>
      <p:sp>
        <p:nvSpPr>
          <p:cNvPr id="48" name="Text 42"/>
          <p:cNvSpPr/>
          <p:nvPr/>
        </p:nvSpPr>
        <p:spPr>
          <a:xfrm>
            <a:off x="626364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C06 · 证据边界 · figure-conditions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37487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51157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83955"/>
          </a:solidFill>
          <a:ln w="12700">
            <a:solidFill>
              <a:srgbClr val="183955">
                <a:alpha val="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57537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C07</a:t>
            </a:r>
            <a:endParaRPr lang="en-US" sz="858" dirty="0"/>
          </a:p>
        </p:txBody>
      </p:sp>
      <p:sp>
        <p:nvSpPr>
          <p:cNvPr id="52" name="Text 46"/>
          <p:cNvSpPr/>
          <p:nvPr/>
        </p:nvSpPr>
        <p:spPr>
          <a:xfrm>
            <a:off x="94902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问题点标注</a:t>
            </a:r>
            <a:endParaRPr lang="en-US" sz="792" dirty="0"/>
          </a:p>
        </p:txBody>
      </p:sp>
      <p:sp>
        <p:nvSpPr>
          <p:cNvPr id="53" name="Text 47"/>
          <p:cNvSpPr/>
          <p:nvPr/>
        </p:nvSpPr>
        <p:spPr>
          <a:xfrm>
            <a:off x="52069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聚焦关键现象</a:t>
            </a:r>
            <a:endParaRPr lang="en-US" sz="1650" dirty="0"/>
          </a:p>
        </p:txBody>
      </p:sp>
      <p:sp>
        <p:nvSpPr>
          <p:cNvPr id="54" name="Shape 48"/>
          <p:cNvSpPr/>
          <p:nvPr/>
        </p:nvSpPr>
        <p:spPr>
          <a:xfrm>
            <a:off x="520690" y="4432188"/>
            <a:ext cx="5158252" cy="0"/>
          </a:xfrm>
          <a:prstGeom prst="line">
            <a:avLst/>
          </a:prstGeom>
          <a:noFill/>
          <a:ln w="8255">
            <a:solidFill>
              <a:srgbClr val="C9D3DF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90" y="4578005"/>
            <a:ext cx="3581613" cy="1367028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520690" y="4578005"/>
            <a:ext cx="3581613" cy="1367028"/>
          </a:xfrm>
          <a:prstGeom prst="roundRect">
            <a:avLst>
              <a:gd name="adj" fmla="val 1338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75371" y="5753649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58" name="Text 51"/>
          <p:cNvSpPr/>
          <p:nvPr/>
        </p:nvSpPr>
        <p:spPr>
          <a:xfrm>
            <a:off x="4229892" y="4714707"/>
            <a:ext cx="1367028" cy="191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关键位置</a:t>
            </a:r>
            <a:endParaRPr lang="en-US" sz="1056" dirty="0"/>
          </a:p>
        </p:txBody>
      </p:sp>
      <p:sp>
        <p:nvSpPr>
          <p:cNvPr id="59" name="Text 52"/>
          <p:cNvSpPr/>
          <p:nvPr/>
        </p:nvSpPr>
        <p:spPr>
          <a:xfrm>
            <a:off x="4239006" y="4960772"/>
            <a:ext cx="141259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指出图中的区域</a:t>
            </a:r>
            <a:endParaRPr lang="en-US" sz="858" dirty="0"/>
          </a:p>
        </p:txBody>
      </p:sp>
      <p:sp>
        <p:nvSpPr>
          <p:cNvPr id="60" name="Shape 53"/>
          <p:cNvSpPr/>
          <p:nvPr/>
        </p:nvSpPr>
        <p:spPr>
          <a:xfrm>
            <a:off x="3382335" y="5133929"/>
            <a:ext cx="811103" cy="-136703"/>
          </a:xfrm>
          <a:prstGeom prst="line">
            <a:avLst/>
          </a:prstGeom>
          <a:noFill/>
          <a:ln w="12383">
            <a:solidFill>
              <a:srgbClr val="BC8260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4229892" y="5379994"/>
            <a:ext cx="1294120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条件</a:t>
            </a:r>
            <a:endParaRPr lang="en-US" sz="1056" dirty="0"/>
          </a:p>
        </p:txBody>
      </p:sp>
      <p:sp>
        <p:nvSpPr>
          <p:cNvPr id="62" name="Text 55"/>
          <p:cNvSpPr/>
          <p:nvPr/>
        </p:nvSpPr>
        <p:spPr>
          <a:xfrm>
            <a:off x="4229892" y="5616946"/>
            <a:ext cx="1430823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保留采集尺度</a:t>
            </a:r>
            <a:endParaRPr lang="en-US" sz="858" dirty="0"/>
          </a:p>
        </p:txBody>
      </p:sp>
      <p:sp>
        <p:nvSpPr>
          <p:cNvPr id="63" name="Shape 56"/>
          <p:cNvSpPr/>
          <p:nvPr/>
        </p:nvSpPr>
        <p:spPr>
          <a:xfrm>
            <a:off x="511576" y="6090849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511576" y="6090849"/>
            <a:ext cx="36454" cy="218724"/>
          </a:xfrm>
          <a:prstGeom prst="rect">
            <a:avLst>
              <a:gd name="adj" fmla="val 50167"/>
            </a:avLst>
          </a:prstGeom>
          <a:solidFill>
            <a:srgbClr val="BC8260"/>
          </a:solidFill>
          <a:ln w="12700">
            <a:solidFill>
              <a:srgbClr val="BC8260">
                <a:alpha val="0"/>
              </a:srgbClr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611825" y="6118189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短注释直接对应可见证据</a:t>
            </a:r>
            <a:endParaRPr lang="en-US" sz="858" dirty="0"/>
          </a:p>
        </p:txBody>
      </p:sp>
      <p:sp>
        <p:nvSpPr>
          <p:cNvPr id="66" name="Text 59"/>
          <p:cNvSpPr/>
          <p:nvPr/>
        </p:nvSpPr>
        <p:spPr>
          <a:xfrm>
            <a:off x="36576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C07 · 问题点标注 · figure-observation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627275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40945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783B4B"/>
          </a:solidFill>
          <a:ln w="12700">
            <a:solidFill>
              <a:srgbClr val="783B4B">
                <a:alpha val="0"/>
              </a:srgbClr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647325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C08</a:t>
            </a:r>
            <a:endParaRPr lang="en-US" sz="858" dirty="0"/>
          </a:p>
        </p:txBody>
      </p:sp>
      <p:sp>
        <p:nvSpPr>
          <p:cNvPr id="70" name="Text 63"/>
          <p:cNvSpPr/>
          <p:nvPr/>
        </p:nvSpPr>
        <p:spPr>
          <a:xfrm>
            <a:off x="684690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双参数比较</a:t>
            </a:r>
            <a:endParaRPr lang="en-US" sz="792" dirty="0"/>
          </a:p>
        </p:txBody>
      </p:sp>
      <p:sp>
        <p:nvSpPr>
          <p:cNvPr id="71" name="Text 64"/>
          <p:cNvSpPr/>
          <p:nvPr/>
        </p:nvSpPr>
        <p:spPr>
          <a:xfrm>
            <a:off x="641857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两组状态响应</a:t>
            </a:r>
            <a:endParaRPr lang="en-US" sz="1650" dirty="0"/>
          </a:p>
        </p:txBody>
      </p:sp>
      <p:sp>
        <p:nvSpPr>
          <p:cNvPr id="72" name="Shape 65"/>
          <p:cNvSpPr/>
          <p:nvPr/>
        </p:nvSpPr>
        <p:spPr>
          <a:xfrm>
            <a:off x="6418570" y="4432188"/>
            <a:ext cx="5158252" cy="0"/>
          </a:xfrm>
          <a:prstGeom prst="line">
            <a:avLst/>
          </a:prstGeom>
          <a:noFill/>
          <a:ln w="8255">
            <a:solidFill>
              <a:srgbClr val="E2CBD0"/>
            </a:solidFill>
            <a:prstDash val="solid"/>
          </a:ln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70" y="4650913"/>
            <a:ext cx="2497104" cy="1111849"/>
          </a:xfrm>
          <a:prstGeom prst="rect">
            <a:avLst/>
          </a:prstGeom>
        </p:spPr>
      </p:pic>
      <p:sp>
        <p:nvSpPr>
          <p:cNvPr id="74" name="Shape 66"/>
          <p:cNvSpPr/>
          <p:nvPr/>
        </p:nvSpPr>
        <p:spPr>
          <a:xfrm>
            <a:off x="6418570" y="4650913"/>
            <a:ext cx="2497104" cy="1111849"/>
          </a:xfrm>
          <a:prstGeom prst="roundRect">
            <a:avLst>
              <a:gd name="adj" fmla="val 1645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6473251" y="5571378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718" y="4650913"/>
            <a:ext cx="2497104" cy="1111849"/>
          </a:xfrm>
          <a:prstGeom prst="rect">
            <a:avLst/>
          </a:prstGeom>
        </p:spPr>
      </p:pic>
      <p:sp>
        <p:nvSpPr>
          <p:cNvPr id="77" name="Shape 68"/>
          <p:cNvSpPr/>
          <p:nvPr/>
        </p:nvSpPr>
        <p:spPr>
          <a:xfrm>
            <a:off x="9079718" y="4650913"/>
            <a:ext cx="2497104" cy="1111849"/>
          </a:xfrm>
          <a:prstGeom prst="roundRect">
            <a:avLst>
              <a:gd name="adj" fmla="val 1645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9134399" y="5571378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79" name="Shape 70"/>
          <p:cNvSpPr/>
          <p:nvPr/>
        </p:nvSpPr>
        <p:spPr>
          <a:xfrm>
            <a:off x="6418570" y="5826557"/>
            <a:ext cx="929579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80" name="Text 71"/>
          <p:cNvSpPr/>
          <p:nvPr/>
        </p:nvSpPr>
        <p:spPr>
          <a:xfrm>
            <a:off x="6491478" y="5863011"/>
            <a:ext cx="783763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 A</a:t>
            </a:r>
            <a:endParaRPr lang="en-US" sz="858" dirty="0"/>
          </a:p>
        </p:txBody>
      </p:sp>
      <p:sp>
        <p:nvSpPr>
          <p:cNvPr id="81" name="Shape 72"/>
          <p:cNvSpPr/>
          <p:nvPr/>
        </p:nvSpPr>
        <p:spPr>
          <a:xfrm>
            <a:off x="9079718" y="5826557"/>
            <a:ext cx="929579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9152626" y="5863011"/>
            <a:ext cx="783763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 B</a:t>
            </a:r>
            <a:endParaRPr lang="en-US" sz="858" dirty="0"/>
          </a:p>
        </p:txBody>
      </p:sp>
      <p:sp>
        <p:nvSpPr>
          <p:cNvPr id="83" name="Text 74"/>
          <p:cNvSpPr/>
          <p:nvPr/>
        </p:nvSpPr>
        <p:spPr>
          <a:xfrm>
            <a:off x="7439284" y="5853897"/>
            <a:ext cx="1357914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共同基线</a:t>
            </a:r>
            <a:endParaRPr lang="en-US" sz="858" dirty="0"/>
          </a:p>
        </p:txBody>
      </p:sp>
      <p:sp>
        <p:nvSpPr>
          <p:cNvPr id="84" name="Text 75"/>
          <p:cNvSpPr/>
          <p:nvPr/>
        </p:nvSpPr>
        <p:spPr>
          <a:xfrm>
            <a:off x="10082205" y="5853897"/>
            <a:ext cx="1321460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独立测量</a:t>
            </a:r>
            <a:endParaRPr lang="en-US" sz="858" dirty="0"/>
          </a:p>
        </p:txBody>
      </p:sp>
      <p:sp>
        <p:nvSpPr>
          <p:cNvPr id="85" name="Shape 76"/>
          <p:cNvSpPr/>
          <p:nvPr/>
        </p:nvSpPr>
        <p:spPr>
          <a:xfrm>
            <a:off x="6409456" y="6090849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86" name="Shape 77"/>
          <p:cNvSpPr/>
          <p:nvPr/>
        </p:nvSpPr>
        <p:spPr>
          <a:xfrm>
            <a:off x="6409456" y="6090849"/>
            <a:ext cx="36454" cy="218724"/>
          </a:xfrm>
          <a:prstGeom prst="rect">
            <a:avLst>
              <a:gd name="adj" fmla="val 50167"/>
            </a:avLst>
          </a:prstGeom>
          <a:solidFill>
            <a:srgbClr val="A86667"/>
          </a:solidFill>
          <a:ln w="12700">
            <a:solidFill>
              <a:srgbClr val="A86667">
                <a:alpha val="0"/>
              </a:srgbClr>
            </a:solidFill>
            <a:prstDash val="solid"/>
          </a:ln>
        </p:spPr>
      </p:sp>
      <p:sp>
        <p:nvSpPr>
          <p:cNvPr id="87" name="Text 78"/>
          <p:cNvSpPr/>
          <p:nvPr/>
        </p:nvSpPr>
        <p:spPr>
          <a:xfrm>
            <a:off x="6509705" y="6118189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不把不同物理量直接排名</a:t>
            </a:r>
            <a:endParaRPr lang="en-US" sz="858" dirty="0"/>
          </a:p>
        </p:txBody>
      </p:sp>
      <p:sp>
        <p:nvSpPr>
          <p:cNvPr id="88" name="Text 79"/>
          <p:cNvSpPr/>
          <p:nvPr/>
        </p:nvSpPr>
        <p:spPr>
          <a:xfrm>
            <a:off x="626364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C08 · 双参数比较 · figure-pair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0.8.3 · ACADEMIC CARD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一页四张局部卡片 · 并非整页版式模板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487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57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46C75"/>
          </a:solidFill>
          <a:ln w="12700">
            <a:solidFill>
              <a:srgbClr val="146C7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537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C09</a:t>
            </a:r>
            <a:endParaRPr lang="en-US" sz="858" dirty="0"/>
          </a:p>
        </p:txBody>
      </p:sp>
      <p:sp>
        <p:nvSpPr>
          <p:cNvPr id="7" name="Text 5"/>
          <p:cNvSpPr/>
          <p:nvPr/>
        </p:nvSpPr>
        <p:spPr>
          <a:xfrm>
            <a:off x="94902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方法与变量</a:t>
            </a:r>
            <a:endParaRPr lang="en-US" sz="792" dirty="0"/>
          </a:p>
        </p:txBody>
      </p:sp>
      <p:sp>
        <p:nvSpPr>
          <p:cNvPr id="8" name="Text 6"/>
          <p:cNvSpPr/>
          <p:nvPr/>
        </p:nvSpPr>
        <p:spPr>
          <a:xfrm>
            <a:off x="52069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状态更新逻辑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690" y="1368948"/>
            <a:ext cx="5158252" cy="0"/>
          </a:xfrm>
          <a:prstGeom prst="line">
            <a:avLst/>
          </a:prstGeom>
          <a:noFill/>
          <a:ln w="8255">
            <a:solidFill>
              <a:srgbClr val="BFD5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690" y="1532992"/>
            <a:ext cx="2861645" cy="1348801"/>
          </a:xfrm>
          <a:prstGeom prst="roundRect">
            <a:avLst>
              <a:gd name="adj" fmla="val 1356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393" y="2043349"/>
            <a:ext cx="2506218" cy="33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4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UPDATE</a:t>
            </a:r>
            <a:endParaRPr lang="en-US" sz="1584" dirty="0"/>
          </a:p>
        </p:txBody>
      </p:sp>
      <p:sp>
        <p:nvSpPr>
          <p:cNvPr id="12" name="Shape 10"/>
          <p:cNvSpPr/>
          <p:nvPr/>
        </p:nvSpPr>
        <p:spPr>
          <a:xfrm>
            <a:off x="3528151" y="1532992"/>
            <a:ext cx="1977634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1060" y="1569446"/>
            <a:ext cx="1831818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模型预测</a:t>
            </a:r>
            <a:endParaRPr lang="en-US" sz="858" dirty="0"/>
          </a:p>
        </p:txBody>
      </p:sp>
      <p:sp>
        <p:nvSpPr>
          <p:cNvPr id="14" name="Shape 12"/>
          <p:cNvSpPr/>
          <p:nvPr/>
        </p:nvSpPr>
        <p:spPr>
          <a:xfrm>
            <a:off x="3528151" y="1933986"/>
            <a:ext cx="1977634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1060" y="1970441"/>
            <a:ext cx="1831818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观测输入</a:t>
            </a:r>
            <a:endParaRPr lang="en-US" sz="858" dirty="0"/>
          </a:p>
        </p:txBody>
      </p:sp>
      <p:sp>
        <p:nvSpPr>
          <p:cNvPr id="16" name="Shape 14"/>
          <p:cNvSpPr/>
          <p:nvPr/>
        </p:nvSpPr>
        <p:spPr>
          <a:xfrm>
            <a:off x="3528151" y="2334981"/>
            <a:ext cx="1977634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1060" y="2371435"/>
            <a:ext cx="1831818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误差权重</a:t>
            </a:r>
            <a:endParaRPr lang="en-US" sz="858" dirty="0"/>
          </a:p>
        </p:txBody>
      </p:sp>
      <p:sp>
        <p:nvSpPr>
          <p:cNvPr id="18" name="Shape 16"/>
          <p:cNvSpPr/>
          <p:nvPr/>
        </p:nvSpPr>
        <p:spPr>
          <a:xfrm>
            <a:off x="511576" y="2991155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576" y="2991155"/>
            <a:ext cx="36454" cy="218724"/>
          </a:xfrm>
          <a:prstGeom prst="rect">
            <a:avLst>
              <a:gd name="adj" fmla="val 50167"/>
            </a:avLst>
          </a:prstGeom>
          <a:solidFill>
            <a:srgbClr val="C28A50"/>
          </a:solidFill>
          <a:ln w="12700">
            <a:solidFill>
              <a:srgbClr val="C28A5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825" y="3018495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公式、变量定义及假设须来自文献</a:t>
            </a:r>
            <a:endParaRPr lang="en-US" sz="858" dirty="0"/>
          </a:p>
        </p:txBody>
      </p:sp>
      <p:sp>
        <p:nvSpPr>
          <p:cNvPr id="21" name="Text 19"/>
          <p:cNvSpPr/>
          <p:nvPr/>
        </p:nvSpPr>
        <p:spPr>
          <a:xfrm>
            <a:off x="36576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C09 · 方法与变量 · method-equation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275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D6DB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45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4D555C"/>
          </a:solidFill>
          <a:ln w="12700">
            <a:solidFill>
              <a:srgbClr val="4D555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25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C10</a:t>
            </a:r>
            <a:endParaRPr lang="en-US" sz="858" dirty="0"/>
          </a:p>
        </p:txBody>
      </p:sp>
      <p:sp>
        <p:nvSpPr>
          <p:cNvPr id="25" name="Text 23"/>
          <p:cNvSpPr/>
          <p:nvPr/>
        </p:nvSpPr>
        <p:spPr>
          <a:xfrm>
            <a:off x="684690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结论证据链</a:t>
            </a:r>
            <a:endParaRPr lang="en-US" sz="792" dirty="0"/>
          </a:p>
        </p:txBody>
      </p:sp>
      <p:sp>
        <p:nvSpPr>
          <p:cNvPr id="26" name="Text 24"/>
          <p:cNvSpPr/>
          <p:nvPr/>
        </p:nvSpPr>
        <p:spPr>
          <a:xfrm>
            <a:off x="641857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原图如何支持结论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6418570" y="1368948"/>
            <a:ext cx="5158252" cy="0"/>
          </a:xfrm>
          <a:prstGeom prst="line">
            <a:avLst/>
          </a:prstGeom>
          <a:noFill/>
          <a:ln w="8255">
            <a:solidFill>
              <a:srgbClr val="D6DB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8570" y="1523878"/>
            <a:ext cx="63795" cy="1357914"/>
          </a:xfrm>
          <a:prstGeom prst="rect">
            <a:avLst>
              <a:gd name="adj" fmla="val 28667"/>
            </a:avLst>
          </a:prstGeom>
          <a:solidFill>
            <a:srgbClr val="4D555C"/>
          </a:solidFill>
          <a:ln w="12700">
            <a:solidFill>
              <a:srgbClr val="4D555C">
                <a:alpha val="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273" y="1523878"/>
            <a:ext cx="3253527" cy="1357914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555273" y="1523878"/>
            <a:ext cx="3253527" cy="1357914"/>
          </a:xfrm>
          <a:prstGeom prst="roundRect">
            <a:avLst>
              <a:gd name="adj" fmla="val 1347"/>
            </a:avLst>
          </a:prstGeom>
          <a:solidFill>
            <a:srgbClr val="FFFFFF">
              <a:alpha val="0"/>
            </a:srgbClr>
          </a:solidFill>
          <a:ln w="8890">
            <a:solidFill>
              <a:srgbClr val="D6DB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9954" y="2690409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32" name="Text 29"/>
          <p:cNvSpPr/>
          <p:nvPr/>
        </p:nvSpPr>
        <p:spPr>
          <a:xfrm>
            <a:off x="9954616" y="1633240"/>
            <a:ext cx="1494617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2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读图焦点</a:t>
            </a:r>
            <a:endParaRPr lang="en-US" sz="1122" dirty="0"/>
          </a:p>
        </p:txBody>
      </p:sp>
      <p:sp>
        <p:nvSpPr>
          <p:cNvPr id="33" name="Text 30"/>
          <p:cNvSpPr/>
          <p:nvPr/>
        </p:nvSpPr>
        <p:spPr>
          <a:xfrm>
            <a:off x="9954616" y="1888419"/>
            <a:ext cx="1403482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先观察共同特征</a:t>
            </a:r>
            <a:endParaRPr lang="en-US" sz="858" dirty="0"/>
          </a:p>
        </p:txBody>
      </p:sp>
      <p:sp>
        <p:nvSpPr>
          <p:cNvPr id="34" name="Shape 31"/>
          <p:cNvSpPr/>
          <p:nvPr/>
        </p:nvSpPr>
        <p:spPr>
          <a:xfrm>
            <a:off x="9936389" y="2107143"/>
            <a:ext cx="1594866" cy="0"/>
          </a:xfrm>
          <a:prstGeom prst="line">
            <a:avLst/>
          </a:prstGeom>
          <a:noFill/>
          <a:ln w="8255">
            <a:solidFill>
              <a:srgbClr val="D6DBD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954616" y="2225619"/>
            <a:ext cx="1521958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再说明适用范围</a:t>
            </a:r>
            <a:endParaRPr lang="en-US" sz="858" dirty="0"/>
          </a:p>
        </p:txBody>
      </p:sp>
      <p:sp>
        <p:nvSpPr>
          <p:cNvPr id="36" name="Shape 33"/>
          <p:cNvSpPr/>
          <p:nvPr/>
        </p:nvSpPr>
        <p:spPr>
          <a:xfrm>
            <a:off x="6409456" y="3018495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3F4F2"/>
          </a:solidFill>
          <a:ln w="12700">
            <a:solidFill>
              <a:srgbClr val="F3F4F2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9456" y="3018495"/>
            <a:ext cx="36454" cy="218724"/>
          </a:xfrm>
          <a:prstGeom prst="rect">
            <a:avLst>
              <a:gd name="adj" fmla="val 50167"/>
            </a:avLst>
          </a:prstGeom>
          <a:solidFill>
            <a:srgbClr val="557884"/>
          </a:solidFill>
          <a:ln w="12700">
            <a:solidFill>
              <a:srgbClr val="557884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09705" y="3045836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来源：作者、年份、图号（占位）</a:t>
            </a:r>
            <a:endParaRPr lang="en-US" sz="858" dirty="0"/>
          </a:p>
        </p:txBody>
      </p:sp>
      <p:sp>
        <p:nvSpPr>
          <p:cNvPr id="39" name="Text 36"/>
          <p:cNvSpPr/>
          <p:nvPr/>
        </p:nvSpPr>
        <p:spPr>
          <a:xfrm>
            <a:off x="626364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C10 · 结论证据链 · figure-caption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7487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1157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2F554B"/>
          </a:solidFill>
          <a:ln w="12700">
            <a:solidFill>
              <a:srgbClr val="2F554B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537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C11</a:t>
            </a:r>
            <a:endParaRPr lang="en-US" sz="858" dirty="0"/>
          </a:p>
        </p:txBody>
      </p:sp>
      <p:sp>
        <p:nvSpPr>
          <p:cNvPr id="43" name="Text 40"/>
          <p:cNvSpPr/>
          <p:nvPr/>
        </p:nvSpPr>
        <p:spPr>
          <a:xfrm>
            <a:off x="94902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多图放大</a:t>
            </a:r>
            <a:endParaRPr lang="en-US" sz="792" dirty="0"/>
          </a:p>
        </p:txBody>
      </p:sp>
      <p:sp>
        <p:nvSpPr>
          <p:cNvPr id="44" name="Text 41"/>
          <p:cNvSpPr/>
          <p:nvPr/>
        </p:nvSpPr>
        <p:spPr>
          <a:xfrm>
            <a:off x="52069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区域差异的两个窗口</a:t>
            </a:r>
            <a:endParaRPr lang="en-US" sz="1650" dirty="0"/>
          </a:p>
        </p:txBody>
      </p:sp>
      <p:sp>
        <p:nvSpPr>
          <p:cNvPr id="45" name="Shape 42"/>
          <p:cNvSpPr/>
          <p:nvPr/>
        </p:nvSpPr>
        <p:spPr>
          <a:xfrm>
            <a:off x="520690" y="4432188"/>
            <a:ext cx="5158252" cy="0"/>
          </a:xfrm>
          <a:prstGeom prst="line">
            <a:avLst/>
          </a:prstGeom>
          <a:noFill/>
          <a:ln w="8255">
            <a:solidFill>
              <a:srgbClr val="BCCFC7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90" y="4578005"/>
            <a:ext cx="3162391" cy="132146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520690" y="4578005"/>
            <a:ext cx="3162391" cy="1321460"/>
          </a:xfrm>
          <a:prstGeom prst="roundRect">
            <a:avLst>
              <a:gd name="adj" fmla="val 1384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75371" y="5708081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216" y="4578005"/>
            <a:ext cx="1886499" cy="601492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3774216" y="4578005"/>
            <a:ext cx="1886499" cy="601492"/>
          </a:xfrm>
          <a:prstGeom prst="roundRect">
            <a:avLst>
              <a:gd name="adj" fmla="val 3040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828898" y="4988113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216" y="5288859"/>
            <a:ext cx="1886499" cy="601492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3774216" y="5288859"/>
            <a:ext cx="1886499" cy="601492"/>
          </a:xfrm>
          <a:prstGeom prst="roundRect">
            <a:avLst>
              <a:gd name="adj" fmla="val 3040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828898" y="5698968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55" name="Shape 49"/>
          <p:cNvSpPr/>
          <p:nvPr/>
        </p:nvSpPr>
        <p:spPr>
          <a:xfrm>
            <a:off x="3309427" y="5015454"/>
            <a:ext cx="455676" cy="-154930"/>
          </a:xfrm>
          <a:prstGeom prst="line">
            <a:avLst/>
          </a:prstGeom>
          <a:noFill/>
          <a:ln w="12383">
            <a:solidFill>
              <a:srgbClr val="2F554B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3309427" y="5516697"/>
            <a:ext cx="455676" cy="45568"/>
          </a:xfrm>
          <a:prstGeom prst="line">
            <a:avLst/>
          </a:prstGeom>
          <a:noFill/>
          <a:ln w="12383">
            <a:solidFill>
              <a:srgbClr val="2F554B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11576" y="6063508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11576" y="6063508"/>
            <a:ext cx="36454" cy="218724"/>
          </a:xfrm>
          <a:prstGeom prst="rect">
            <a:avLst>
              <a:gd name="adj" fmla="val 50167"/>
            </a:avLst>
          </a:prstGeom>
          <a:solidFill>
            <a:srgbClr val="9B7056"/>
          </a:solidFill>
          <a:ln w="12700">
            <a:solidFill>
              <a:srgbClr val="9B7056">
                <a:alpha val="0"/>
              </a:srgbClr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11825" y="6090849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总览—局部 A—局部 B</a:t>
            </a:r>
            <a:endParaRPr lang="en-US" sz="858" dirty="0"/>
          </a:p>
        </p:txBody>
      </p:sp>
      <p:sp>
        <p:nvSpPr>
          <p:cNvPr id="60" name="Text 54"/>
          <p:cNvSpPr/>
          <p:nvPr/>
        </p:nvSpPr>
        <p:spPr>
          <a:xfrm>
            <a:off x="36576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C11 · 多图放大 · figure-overview-details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627275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640945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783B4B"/>
          </a:solidFill>
          <a:ln w="12700">
            <a:solidFill>
              <a:srgbClr val="783B4B">
                <a:alpha val="0"/>
              </a:srgbClr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47325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C12</a:t>
            </a:r>
            <a:endParaRPr lang="en-US" sz="858" dirty="0"/>
          </a:p>
        </p:txBody>
      </p:sp>
      <p:sp>
        <p:nvSpPr>
          <p:cNvPr id="64" name="Text 58"/>
          <p:cNvSpPr/>
          <p:nvPr/>
        </p:nvSpPr>
        <p:spPr>
          <a:xfrm>
            <a:off x="684690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光谱证据</a:t>
            </a:r>
            <a:endParaRPr lang="en-US" sz="792" dirty="0"/>
          </a:p>
        </p:txBody>
      </p:sp>
      <p:sp>
        <p:nvSpPr>
          <p:cNvPr id="65" name="Text 59"/>
          <p:cNvSpPr/>
          <p:nvPr/>
        </p:nvSpPr>
        <p:spPr>
          <a:xfrm>
            <a:off x="641857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波段与响应</a:t>
            </a:r>
            <a:endParaRPr lang="en-US" sz="1650" dirty="0"/>
          </a:p>
        </p:txBody>
      </p:sp>
      <p:sp>
        <p:nvSpPr>
          <p:cNvPr id="66" name="Shape 60"/>
          <p:cNvSpPr/>
          <p:nvPr/>
        </p:nvSpPr>
        <p:spPr>
          <a:xfrm>
            <a:off x="6418570" y="4432188"/>
            <a:ext cx="5158252" cy="0"/>
          </a:xfrm>
          <a:prstGeom prst="line">
            <a:avLst/>
          </a:prstGeom>
          <a:noFill/>
          <a:ln w="8255">
            <a:solidFill>
              <a:srgbClr val="E2CBD0"/>
            </a:solidFill>
            <a:prstDash val="solid"/>
          </a:ln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570" y="4568891"/>
            <a:ext cx="5176479" cy="1130076"/>
          </a:xfrm>
          <a:prstGeom prst="rect">
            <a:avLst/>
          </a:prstGeom>
        </p:spPr>
      </p:pic>
      <p:sp>
        <p:nvSpPr>
          <p:cNvPr id="68" name="Shape 61"/>
          <p:cNvSpPr/>
          <p:nvPr/>
        </p:nvSpPr>
        <p:spPr>
          <a:xfrm>
            <a:off x="6418570" y="4568891"/>
            <a:ext cx="5176479" cy="1130076"/>
          </a:xfrm>
          <a:prstGeom prst="roundRect">
            <a:avLst>
              <a:gd name="adj" fmla="val 1618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6473251" y="5507584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70" name="Shape 63"/>
          <p:cNvSpPr/>
          <p:nvPr/>
        </p:nvSpPr>
        <p:spPr>
          <a:xfrm>
            <a:off x="6418570" y="5771876"/>
            <a:ext cx="1385255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6491478" y="5808330"/>
            <a:ext cx="123943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响应窗口</a:t>
            </a:r>
            <a:endParaRPr lang="en-US" sz="858" dirty="0"/>
          </a:p>
        </p:txBody>
      </p:sp>
      <p:sp>
        <p:nvSpPr>
          <p:cNvPr id="72" name="Shape 65"/>
          <p:cNvSpPr/>
          <p:nvPr/>
        </p:nvSpPr>
        <p:spPr>
          <a:xfrm>
            <a:off x="8113685" y="5771876"/>
            <a:ext cx="1385255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8186593" y="5808330"/>
            <a:ext cx="123943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噪声范围</a:t>
            </a:r>
            <a:endParaRPr lang="en-US" sz="858" dirty="0"/>
          </a:p>
        </p:txBody>
      </p:sp>
      <p:sp>
        <p:nvSpPr>
          <p:cNvPr id="74" name="Shape 67"/>
          <p:cNvSpPr/>
          <p:nvPr/>
        </p:nvSpPr>
        <p:spPr>
          <a:xfrm>
            <a:off x="9808799" y="5771876"/>
            <a:ext cx="1385255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9881707" y="5808330"/>
            <a:ext cx="123943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比较条件</a:t>
            </a:r>
            <a:endParaRPr lang="en-US" sz="858" dirty="0"/>
          </a:p>
        </p:txBody>
      </p:sp>
      <p:sp>
        <p:nvSpPr>
          <p:cNvPr id="76" name="Shape 69"/>
          <p:cNvSpPr/>
          <p:nvPr/>
        </p:nvSpPr>
        <p:spPr>
          <a:xfrm>
            <a:off x="6409456" y="6099962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6409456" y="6099962"/>
            <a:ext cx="36454" cy="218724"/>
          </a:xfrm>
          <a:prstGeom prst="rect">
            <a:avLst>
              <a:gd name="adj" fmla="val 50167"/>
            </a:avLst>
          </a:prstGeom>
          <a:solidFill>
            <a:srgbClr val="A86667"/>
          </a:solidFill>
          <a:ln w="12700">
            <a:solidFill>
              <a:srgbClr val="A86667">
                <a:alpha val="0"/>
              </a:srgbClr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6509705" y="6127303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峰位、轴名与波长范围不能被裁切</a:t>
            </a:r>
            <a:endParaRPr lang="en-US" sz="858" dirty="0"/>
          </a:p>
        </p:txBody>
      </p:sp>
      <p:sp>
        <p:nvSpPr>
          <p:cNvPr id="79" name="Text 72"/>
          <p:cNvSpPr/>
          <p:nvPr/>
        </p:nvSpPr>
        <p:spPr>
          <a:xfrm>
            <a:off x="626364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C12 · 光谱证据 · figure-metrics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0.8.3 · ACADEMIC CARD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一页四张局部卡片 · 并非整页版式模板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487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57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46C75"/>
          </a:solidFill>
          <a:ln w="12700">
            <a:solidFill>
              <a:srgbClr val="146C7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537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C13</a:t>
            </a:r>
            <a:endParaRPr lang="en-US" sz="858" dirty="0"/>
          </a:p>
        </p:txBody>
      </p:sp>
      <p:sp>
        <p:nvSpPr>
          <p:cNvPr id="7" name="Text 5"/>
          <p:cNvSpPr/>
          <p:nvPr/>
        </p:nvSpPr>
        <p:spPr>
          <a:xfrm>
            <a:off x="94902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作物生长阶段</a:t>
            </a:r>
            <a:endParaRPr lang="en-US" sz="792" dirty="0"/>
          </a:p>
        </p:txBody>
      </p:sp>
      <p:sp>
        <p:nvSpPr>
          <p:cNvPr id="8" name="Text 6"/>
          <p:cNvSpPr/>
          <p:nvPr/>
        </p:nvSpPr>
        <p:spPr>
          <a:xfrm>
            <a:off x="52069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时序进展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690" y="1368948"/>
            <a:ext cx="5158252" cy="0"/>
          </a:xfrm>
          <a:prstGeom prst="line">
            <a:avLst/>
          </a:prstGeom>
          <a:noFill/>
          <a:ln w="8255">
            <a:solidFill>
              <a:srgbClr val="BFD5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03" y="1532992"/>
            <a:ext cx="1585752" cy="109362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9803" y="1532992"/>
            <a:ext cx="1585752" cy="1093622"/>
          </a:xfrm>
          <a:prstGeom prst="roundRect">
            <a:avLst>
              <a:gd name="adj" fmla="val 1672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4484" y="2435230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13" name="Text 10"/>
          <p:cNvSpPr/>
          <p:nvPr/>
        </p:nvSpPr>
        <p:spPr>
          <a:xfrm>
            <a:off x="529803" y="2681295"/>
            <a:ext cx="1585752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生长期</a:t>
            </a:r>
            <a:endParaRPr lang="en-US" sz="99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59" y="1532992"/>
            <a:ext cx="1585752" cy="109362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252259" y="1532992"/>
            <a:ext cx="1585752" cy="1093622"/>
          </a:xfrm>
          <a:prstGeom prst="roundRect">
            <a:avLst>
              <a:gd name="adj" fmla="val 1672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306940" y="2435230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17" name="Text 13"/>
          <p:cNvSpPr/>
          <p:nvPr/>
        </p:nvSpPr>
        <p:spPr>
          <a:xfrm>
            <a:off x="2252259" y="2681295"/>
            <a:ext cx="1585752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成熟期</a:t>
            </a:r>
            <a:endParaRPr lang="en-US" sz="99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714" y="1532992"/>
            <a:ext cx="1585752" cy="109362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974714" y="1532992"/>
            <a:ext cx="1585752" cy="1093622"/>
          </a:xfrm>
          <a:prstGeom prst="roundRect">
            <a:avLst>
              <a:gd name="adj" fmla="val 1672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029395" y="2435230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21" name="Text 16"/>
          <p:cNvSpPr/>
          <p:nvPr/>
        </p:nvSpPr>
        <p:spPr>
          <a:xfrm>
            <a:off x="3974714" y="2681295"/>
            <a:ext cx="1585752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验证期</a:t>
            </a:r>
            <a:endParaRPr lang="en-US" sz="990" dirty="0"/>
          </a:p>
        </p:txBody>
      </p:sp>
      <p:sp>
        <p:nvSpPr>
          <p:cNvPr id="22" name="Shape 17"/>
          <p:cNvSpPr/>
          <p:nvPr/>
        </p:nvSpPr>
        <p:spPr>
          <a:xfrm>
            <a:off x="511576" y="3009382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1576" y="3009382"/>
            <a:ext cx="36454" cy="218724"/>
          </a:xfrm>
          <a:prstGeom prst="rect">
            <a:avLst>
              <a:gd name="adj" fmla="val 50167"/>
            </a:avLst>
          </a:prstGeom>
          <a:solidFill>
            <a:srgbClr val="C28A50"/>
          </a:solidFill>
          <a:ln w="12700">
            <a:solidFill>
              <a:srgbClr val="C28A50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1825" y="3036722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阶段先后关系来自实际试验记录</a:t>
            </a:r>
            <a:endParaRPr lang="en-US" sz="858" dirty="0"/>
          </a:p>
        </p:txBody>
      </p:sp>
      <p:sp>
        <p:nvSpPr>
          <p:cNvPr id="25" name="Text 20"/>
          <p:cNvSpPr/>
          <p:nvPr/>
        </p:nvSpPr>
        <p:spPr>
          <a:xfrm>
            <a:off x="36576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C13 · 作物生长阶段 · figure-sequence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7275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945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83955"/>
          </a:solidFill>
          <a:ln w="12700">
            <a:solidFill>
              <a:srgbClr val="183955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7325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C14</a:t>
            </a:r>
            <a:endParaRPr lang="en-US" sz="858" dirty="0"/>
          </a:p>
        </p:txBody>
      </p:sp>
      <p:sp>
        <p:nvSpPr>
          <p:cNvPr id="29" name="Text 24"/>
          <p:cNvSpPr/>
          <p:nvPr/>
        </p:nvSpPr>
        <p:spPr>
          <a:xfrm>
            <a:off x="684690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多源观测</a:t>
            </a:r>
            <a:endParaRPr lang="en-US" sz="792" dirty="0"/>
          </a:p>
        </p:txBody>
      </p:sp>
      <p:sp>
        <p:nvSpPr>
          <p:cNvPr id="30" name="Text 25"/>
          <p:cNvSpPr/>
          <p:nvPr/>
        </p:nvSpPr>
        <p:spPr>
          <a:xfrm>
            <a:off x="641857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光学 · 雷达 · 模型</a:t>
            </a:r>
            <a:endParaRPr lang="en-US" sz="1650" dirty="0"/>
          </a:p>
        </p:txBody>
      </p:sp>
      <p:sp>
        <p:nvSpPr>
          <p:cNvPr id="31" name="Shape 26"/>
          <p:cNvSpPr/>
          <p:nvPr/>
        </p:nvSpPr>
        <p:spPr>
          <a:xfrm>
            <a:off x="6418570" y="1368948"/>
            <a:ext cx="5158252" cy="0"/>
          </a:xfrm>
          <a:prstGeom prst="line">
            <a:avLst/>
          </a:prstGeom>
          <a:noFill/>
          <a:ln w="8255">
            <a:solidFill>
              <a:srgbClr val="C9D3D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70" y="1514765"/>
            <a:ext cx="2405969" cy="1048055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418570" y="1514765"/>
            <a:ext cx="2405969" cy="1048055"/>
          </a:xfrm>
          <a:prstGeom prst="roundRect">
            <a:avLst>
              <a:gd name="adj" fmla="val 1745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73251" y="2371435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242" y="1514765"/>
            <a:ext cx="2615580" cy="104805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8961242" y="1514765"/>
            <a:ext cx="2615580" cy="1048055"/>
          </a:xfrm>
          <a:prstGeom prst="roundRect">
            <a:avLst>
              <a:gd name="adj" fmla="val 1745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015923" y="2371435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70" y="2663068"/>
            <a:ext cx="1503731" cy="328087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6418570" y="2663068"/>
            <a:ext cx="1503731" cy="328087"/>
          </a:xfrm>
          <a:prstGeom prst="roundRect">
            <a:avLst>
              <a:gd name="adj" fmla="val 5574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473251" y="2799771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41" name="Text 33"/>
          <p:cNvSpPr/>
          <p:nvPr/>
        </p:nvSpPr>
        <p:spPr>
          <a:xfrm>
            <a:off x="8113685" y="2708636"/>
            <a:ext cx="104805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多源观测</a:t>
            </a:r>
            <a:endParaRPr lang="en-US" sz="1056" dirty="0"/>
          </a:p>
        </p:txBody>
      </p:sp>
      <p:sp>
        <p:nvSpPr>
          <p:cNvPr id="42" name="Text 34"/>
          <p:cNvSpPr/>
          <p:nvPr/>
        </p:nvSpPr>
        <p:spPr>
          <a:xfrm>
            <a:off x="9252875" y="2717749"/>
            <a:ext cx="224192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同一时间与空间基准</a:t>
            </a:r>
            <a:endParaRPr lang="en-US" sz="858" dirty="0"/>
          </a:p>
        </p:txBody>
      </p:sp>
      <p:sp>
        <p:nvSpPr>
          <p:cNvPr id="43" name="Text 35"/>
          <p:cNvSpPr/>
          <p:nvPr/>
        </p:nvSpPr>
        <p:spPr>
          <a:xfrm>
            <a:off x="626364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C14 · 多源观测 · figure-sequence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37487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1157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2F554B"/>
          </a:solidFill>
          <a:ln w="12700">
            <a:solidFill>
              <a:srgbClr val="2F554B">
                <a:alpha val="0"/>
              </a:srgbClr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7537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C15</a:t>
            </a:r>
            <a:endParaRPr lang="en-US" sz="858" dirty="0"/>
          </a:p>
        </p:txBody>
      </p:sp>
      <p:sp>
        <p:nvSpPr>
          <p:cNvPr id="47" name="Text 39"/>
          <p:cNvSpPr/>
          <p:nvPr/>
        </p:nvSpPr>
        <p:spPr>
          <a:xfrm>
            <a:off x="94902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图注与条件</a:t>
            </a:r>
            <a:endParaRPr lang="en-US" sz="792" dirty="0"/>
          </a:p>
        </p:txBody>
      </p:sp>
      <p:sp>
        <p:nvSpPr>
          <p:cNvPr id="48" name="Text 40"/>
          <p:cNvSpPr/>
          <p:nvPr/>
        </p:nvSpPr>
        <p:spPr>
          <a:xfrm>
            <a:off x="52069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结果成立的条件</a:t>
            </a:r>
            <a:endParaRPr lang="en-US" sz="1650" dirty="0"/>
          </a:p>
        </p:txBody>
      </p:sp>
      <p:sp>
        <p:nvSpPr>
          <p:cNvPr id="49" name="Shape 41"/>
          <p:cNvSpPr/>
          <p:nvPr/>
        </p:nvSpPr>
        <p:spPr>
          <a:xfrm>
            <a:off x="520690" y="4432188"/>
            <a:ext cx="5158252" cy="0"/>
          </a:xfrm>
          <a:prstGeom prst="line">
            <a:avLst/>
          </a:prstGeom>
          <a:noFill/>
          <a:ln w="8255">
            <a:solidFill>
              <a:srgbClr val="BCCFC7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29803" y="4532437"/>
            <a:ext cx="1148304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02712" y="4568891"/>
            <a:ext cx="1002487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采样条件</a:t>
            </a:r>
            <a:endParaRPr lang="en-US" sz="858" dirty="0"/>
          </a:p>
        </p:txBody>
      </p:sp>
      <p:sp>
        <p:nvSpPr>
          <p:cNvPr id="52" name="Shape 44"/>
          <p:cNvSpPr/>
          <p:nvPr/>
        </p:nvSpPr>
        <p:spPr>
          <a:xfrm>
            <a:off x="1769242" y="4532437"/>
            <a:ext cx="1148304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1842150" y="4568891"/>
            <a:ext cx="1002487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验证对象</a:t>
            </a:r>
            <a:endParaRPr lang="en-US" sz="858" dirty="0"/>
          </a:p>
        </p:txBody>
      </p:sp>
      <p:sp>
        <p:nvSpPr>
          <p:cNvPr id="54" name="Shape 46"/>
          <p:cNvSpPr/>
          <p:nvPr/>
        </p:nvSpPr>
        <p:spPr>
          <a:xfrm>
            <a:off x="3008681" y="4532437"/>
            <a:ext cx="1148304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3081589" y="4568891"/>
            <a:ext cx="1002487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指标口径</a:t>
            </a:r>
            <a:endParaRPr lang="en-US" sz="858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690" y="4896978"/>
            <a:ext cx="5140025" cy="1029828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520690" y="4896978"/>
            <a:ext cx="5140025" cy="1029828"/>
          </a:xfrm>
          <a:prstGeom prst="roundRect">
            <a:avLst>
              <a:gd name="adj" fmla="val 1776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575371" y="5735422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59" name="Shape 50"/>
          <p:cNvSpPr/>
          <p:nvPr/>
        </p:nvSpPr>
        <p:spPr>
          <a:xfrm>
            <a:off x="511576" y="6081735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511576" y="6081735"/>
            <a:ext cx="36454" cy="218724"/>
          </a:xfrm>
          <a:prstGeom prst="rect">
            <a:avLst>
              <a:gd name="adj" fmla="val 50167"/>
            </a:avLst>
          </a:prstGeom>
          <a:solidFill>
            <a:srgbClr val="9B7056"/>
          </a:solidFill>
          <a:ln w="12700">
            <a:solidFill>
              <a:srgbClr val="9B7056">
                <a:alpha val="0"/>
              </a:srgbClr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11825" y="6109076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图注服务判断，不用长段正文替代图像</a:t>
            </a:r>
            <a:endParaRPr lang="en-US" sz="858" dirty="0"/>
          </a:p>
        </p:txBody>
      </p:sp>
      <p:sp>
        <p:nvSpPr>
          <p:cNvPr id="62" name="Text 53"/>
          <p:cNvSpPr/>
          <p:nvPr/>
        </p:nvSpPr>
        <p:spPr>
          <a:xfrm>
            <a:off x="36576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C15 · 图注与条件 · figure-conditions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627275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640945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783B4B"/>
          </a:solidFill>
          <a:ln w="12700">
            <a:solidFill>
              <a:srgbClr val="783B4B">
                <a:alpha val="0"/>
              </a:srgbClr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647325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C16</a:t>
            </a:r>
            <a:endParaRPr lang="en-US" sz="858" dirty="0"/>
          </a:p>
        </p:txBody>
      </p:sp>
      <p:sp>
        <p:nvSpPr>
          <p:cNvPr id="66" name="Text 57"/>
          <p:cNvSpPr/>
          <p:nvPr/>
        </p:nvSpPr>
        <p:spPr>
          <a:xfrm>
            <a:off x="684690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交互比较</a:t>
            </a:r>
            <a:endParaRPr lang="en-US" sz="792" dirty="0"/>
          </a:p>
        </p:txBody>
      </p:sp>
      <p:sp>
        <p:nvSpPr>
          <p:cNvPr id="67" name="Text 58"/>
          <p:cNvSpPr/>
          <p:nvPr/>
        </p:nvSpPr>
        <p:spPr>
          <a:xfrm>
            <a:off x="641857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多层级验证</a:t>
            </a:r>
            <a:endParaRPr lang="en-US" sz="1650" dirty="0"/>
          </a:p>
        </p:txBody>
      </p:sp>
      <p:sp>
        <p:nvSpPr>
          <p:cNvPr id="68" name="Shape 59"/>
          <p:cNvSpPr/>
          <p:nvPr/>
        </p:nvSpPr>
        <p:spPr>
          <a:xfrm>
            <a:off x="6418570" y="4432188"/>
            <a:ext cx="5158252" cy="0"/>
          </a:xfrm>
          <a:prstGeom prst="line">
            <a:avLst/>
          </a:prstGeom>
          <a:noFill/>
          <a:ln w="8255">
            <a:solidFill>
              <a:srgbClr val="E2CBD0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7557760" y="4523323"/>
            <a:ext cx="1558412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70" name="Text 61"/>
          <p:cNvSpPr/>
          <p:nvPr/>
        </p:nvSpPr>
        <p:spPr>
          <a:xfrm>
            <a:off x="7630668" y="4559778"/>
            <a:ext cx="1412596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 A</a:t>
            </a:r>
            <a:endParaRPr lang="en-US" sz="858" dirty="0"/>
          </a:p>
        </p:txBody>
      </p:sp>
      <p:sp>
        <p:nvSpPr>
          <p:cNvPr id="71" name="Shape 62"/>
          <p:cNvSpPr/>
          <p:nvPr/>
        </p:nvSpPr>
        <p:spPr>
          <a:xfrm>
            <a:off x="9316669" y="4523323"/>
            <a:ext cx="1558412" cy="218724"/>
          </a:xfrm>
          <a:prstGeom prst="roundRect">
            <a:avLst>
              <a:gd name="adj" fmla="val 8361"/>
            </a:avLst>
          </a:prstGeom>
          <a:solidFill>
            <a:srgbClr val="F9F2F4"/>
          </a:solidFill>
          <a:ln w="12700">
            <a:solidFill>
              <a:srgbClr val="F9F2F4">
                <a:alpha val="0"/>
              </a:srgbClr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9389577" y="4559778"/>
            <a:ext cx="1412596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 B</a:t>
            </a:r>
            <a:endParaRPr lang="en-US" sz="858" dirty="0"/>
          </a:p>
        </p:txBody>
      </p:sp>
      <p:sp>
        <p:nvSpPr>
          <p:cNvPr id="73" name="Text 64"/>
          <p:cNvSpPr/>
          <p:nvPr/>
        </p:nvSpPr>
        <p:spPr>
          <a:xfrm>
            <a:off x="6600840" y="4960772"/>
            <a:ext cx="182270" cy="20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320" dirty="0"/>
          </a:p>
        </p:txBody>
      </p:sp>
      <p:sp>
        <p:nvSpPr>
          <p:cNvPr id="74" name="Text 65"/>
          <p:cNvSpPr/>
          <p:nvPr/>
        </p:nvSpPr>
        <p:spPr>
          <a:xfrm>
            <a:off x="6600840" y="5653400"/>
            <a:ext cx="309860" cy="20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783B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II</a:t>
            </a:r>
            <a:endParaRPr lang="en-US" sz="1320" dirty="0"/>
          </a:p>
        </p:txBody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084" y="4769388"/>
            <a:ext cx="2041428" cy="601492"/>
          </a:xfrm>
          <a:prstGeom prst="rect">
            <a:avLst/>
          </a:prstGeom>
        </p:spPr>
      </p:pic>
      <p:sp>
        <p:nvSpPr>
          <p:cNvPr id="76" name="Shape 66"/>
          <p:cNvSpPr/>
          <p:nvPr/>
        </p:nvSpPr>
        <p:spPr>
          <a:xfrm>
            <a:off x="7102084" y="4769388"/>
            <a:ext cx="2041428" cy="601492"/>
          </a:xfrm>
          <a:prstGeom prst="roundRect">
            <a:avLst>
              <a:gd name="adj" fmla="val 3040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7156765" y="5179497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1988" y="4769388"/>
            <a:ext cx="2305721" cy="601492"/>
          </a:xfrm>
          <a:prstGeom prst="rect">
            <a:avLst/>
          </a:prstGeom>
        </p:spPr>
      </p:pic>
      <p:sp>
        <p:nvSpPr>
          <p:cNvPr id="79" name="Shape 68"/>
          <p:cNvSpPr/>
          <p:nvPr/>
        </p:nvSpPr>
        <p:spPr>
          <a:xfrm>
            <a:off x="9261988" y="4769388"/>
            <a:ext cx="2305721" cy="601492"/>
          </a:xfrm>
          <a:prstGeom prst="roundRect">
            <a:avLst>
              <a:gd name="adj" fmla="val 3040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80" name="Text 69"/>
          <p:cNvSpPr/>
          <p:nvPr/>
        </p:nvSpPr>
        <p:spPr>
          <a:xfrm>
            <a:off x="9316669" y="5179497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8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084" y="5462016"/>
            <a:ext cx="2041428" cy="546811"/>
          </a:xfrm>
          <a:prstGeom prst="rect">
            <a:avLst/>
          </a:prstGeom>
        </p:spPr>
      </p:pic>
      <p:sp>
        <p:nvSpPr>
          <p:cNvPr id="82" name="Shape 70"/>
          <p:cNvSpPr/>
          <p:nvPr/>
        </p:nvSpPr>
        <p:spPr>
          <a:xfrm>
            <a:off x="7102084" y="5462016"/>
            <a:ext cx="2041428" cy="546811"/>
          </a:xfrm>
          <a:prstGeom prst="roundRect">
            <a:avLst>
              <a:gd name="adj" fmla="val 3344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83" name="Text 71"/>
          <p:cNvSpPr/>
          <p:nvPr/>
        </p:nvSpPr>
        <p:spPr>
          <a:xfrm>
            <a:off x="7156765" y="5817443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pic>
        <p:nvPicPr>
          <p:cNvPr id="8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988" y="5462016"/>
            <a:ext cx="2305721" cy="546811"/>
          </a:xfrm>
          <a:prstGeom prst="rect">
            <a:avLst/>
          </a:prstGeom>
        </p:spPr>
      </p:pic>
      <p:sp>
        <p:nvSpPr>
          <p:cNvPr id="85" name="Shape 72"/>
          <p:cNvSpPr/>
          <p:nvPr/>
        </p:nvSpPr>
        <p:spPr>
          <a:xfrm>
            <a:off x="9261988" y="5462016"/>
            <a:ext cx="2305721" cy="546811"/>
          </a:xfrm>
          <a:prstGeom prst="roundRect">
            <a:avLst>
              <a:gd name="adj" fmla="val 3344"/>
            </a:avLst>
          </a:prstGeom>
          <a:solidFill>
            <a:srgbClr val="FFFFFF">
              <a:alpha val="0"/>
            </a:srgbClr>
          </a:solidFill>
          <a:ln w="8890">
            <a:solidFill>
              <a:srgbClr val="E2CBD0"/>
            </a:solidFill>
            <a:prstDash val="solid"/>
          </a:ln>
        </p:spPr>
      </p:sp>
      <p:sp>
        <p:nvSpPr>
          <p:cNvPr id="86" name="Text 73"/>
          <p:cNvSpPr/>
          <p:nvPr/>
        </p:nvSpPr>
        <p:spPr>
          <a:xfrm>
            <a:off x="9316669" y="5817443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87" name="Text 74"/>
          <p:cNvSpPr/>
          <p:nvPr/>
        </p:nvSpPr>
        <p:spPr>
          <a:xfrm>
            <a:off x="626364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C16 · 交互比较 · figure-matrix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0.8.3 · ACADEMIC CARD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一页四张局部卡片 · 并非整页版式模板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487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57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2F554B"/>
          </a:solidFill>
          <a:ln w="12700">
            <a:solidFill>
              <a:srgbClr val="2F55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537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C17</a:t>
            </a:r>
            <a:endParaRPr lang="en-US" sz="858" dirty="0"/>
          </a:p>
        </p:txBody>
      </p:sp>
      <p:sp>
        <p:nvSpPr>
          <p:cNvPr id="7" name="Text 5"/>
          <p:cNvSpPr/>
          <p:nvPr/>
        </p:nvSpPr>
        <p:spPr>
          <a:xfrm>
            <a:off x="94902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空间热度</a:t>
            </a:r>
            <a:endParaRPr lang="en-US" sz="792" dirty="0"/>
          </a:p>
        </p:txBody>
      </p:sp>
      <p:sp>
        <p:nvSpPr>
          <p:cNvPr id="8" name="Text 6"/>
          <p:cNvSpPr/>
          <p:nvPr/>
        </p:nvSpPr>
        <p:spPr>
          <a:xfrm>
            <a:off x="52069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空间分布与图例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690" y="1368948"/>
            <a:ext cx="5158252" cy="0"/>
          </a:xfrm>
          <a:prstGeom prst="line">
            <a:avLst/>
          </a:prstGeom>
          <a:noFill/>
          <a:ln w="8255">
            <a:solidFill>
              <a:srgbClr val="BCCFC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03" y="1523878"/>
            <a:ext cx="4009949" cy="140348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9803" y="1523878"/>
            <a:ext cx="4009949" cy="1403482"/>
          </a:xfrm>
          <a:prstGeom prst="roundRect">
            <a:avLst>
              <a:gd name="adj" fmla="val 1303"/>
            </a:avLst>
          </a:prstGeom>
          <a:solidFill>
            <a:srgbClr val="FFFFFF">
              <a:alpha val="0"/>
            </a:srgbClr>
          </a:solidFill>
          <a:ln w="8890">
            <a:solidFill>
              <a:srgbClr val="BCCF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4484" y="2735976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13" name="Shape 10"/>
          <p:cNvSpPr/>
          <p:nvPr/>
        </p:nvSpPr>
        <p:spPr>
          <a:xfrm>
            <a:off x="4649114" y="1523878"/>
            <a:ext cx="1020714" cy="1403482"/>
          </a:xfrm>
          <a:prstGeom prst="roundRect">
            <a:avLst>
              <a:gd name="adj" fmla="val 1792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023" y="1605900"/>
            <a:ext cx="884011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4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图例</a:t>
            </a:r>
            <a:endParaRPr lang="en-US" sz="924" dirty="0"/>
          </a:p>
        </p:txBody>
      </p:sp>
      <p:sp>
        <p:nvSpPr>
          <p:cNvPr id="15" name="Shape 12"/>
          <p:cNvSpPr/>
          <p:nvPr/>
        </p:nvSpPr>
        <p:spPr>
          <a:xfrm>
            <a:off x="4767590" y="1888419"/>
            <a:ext cx="173157" cy="118476"/>
          </a:xfrm>
          <a:prstGeom prst="rect">
            <a:avLst>
              <a:gd name="adj" fmla="val 15436"/>
            </a:avLst>
          </a:prstGeom>
          <a:solidFill>
            <a:srgbClr val="34739A"/>
          </a:solidFill>
          <a:ln w="12700">
            <a:solidFill>
              <a:srgbClr val="34739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2769" y="1861078"/>
            <a:ext cx="63794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dirty="0">
                <a:solidFill>
                  <a:srgbClr val="2030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 1</a:t>
            </a:r>
            <a:endParaRPr lang="en-US" sz="726" dirty="0"/>
          </a:p>
        </p:txBody>
      </p:sp>
      <p:sp>
        <p:nvSpPr>
          <p:cNvPr id="17" name="Shape 14"/>
          <p:cNvSpPr/>
          <p:nvPr/>
        </p:nvSpPr>
        <p:spPr>
          <a:xfrm>
            <a:off x="4767590" y="2079803"/>
            <a:ext cx="173157" cy="118476"/>
          </a:xfrm>
          <a:prstGeom prst="rect">
            <a:avLst>
              <a:gd name="adj" fmla="val 15436"/>
            </a:avLst>
          </a:prstGeom>
          <a:solidFill>
            <a:srgbClr val="64A4AF"/>
          </a:solidFill>
          <a:ln w="12700">
            <a:solidFill>
              <a:srgbClr val="64A4A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2769" y="2052462"/>
            <a:ext cx="63794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dirty="0">
                <a:solidFill>
                  <a:srgbClr val="2030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 2</a:t>
            </a:r>
            <a:endParaRPr lang="en-US" sz="726" dirty="0"/>
          </a:p>
        </p:txBody>
      </p:sp>
      <p:sp>
        <p:nvSpPr>
          <p:cNvPr id="19" name="Shape 16"/>
          <p:cNvSpPr/>
          <p:nvPr/>
        </p:nvSpPr>
        <p:spPr>
          <a:xfrm>
            <a:off x="4767590" y="2271187"/>
            <a:ext cx="173157" cy="118476"/>
          </a:xfrm>
          <a:prstGeom prst="rect">
            <a:avLst>
              <a:gd name="adj" fmla="val 15436"/>
            </a:avLst>
          </a:prstGeom>
          <a:solidFill>
            <a:srgbClr val="AFCABD"/>
          </a:solidFill>
          <a:ln w="12700">
            <a:solidFill>
              <a:srgbClr val="AFCAB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2769" y="2243846"/>
            <a:ext cx="63794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dirty="0">
                <a:solidFill>
                  <a:srgbClr val="2030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 3</a:t>
            </a:r>
            <a:endParaRPr lang="en-US" sz="726" dirty="0"/>
          </a:p>
        </p:txBody>
      </p:sp>
      <p:sp>
        <p:nvSpPr>
          <p:cNvPr id="21" name="Shape 18"/>
          <p:cNvSpPr/>
          <p:nvPr/>
        </p:nvSpPr>
        <p:spPr>
          <a:xfrm>
            <a:off x="4767590" y="2462571"/>
            <a:ext cx="173157" cy="118476"/>
          </a:xfrm>
          <a:prstGeom prst="rect">
            <a:avLst>
              <a:gd name="adj" fmla="val 15436"/>
            </a:avLst>
          </a:prstGeom>
          <a:solidFill>
            <a:srgbClr val="E8D399"/>
          </a:solidFill>
          <a:ln w="12700">
            <a:solidFill>
              <a:srgbClr val="E8D39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2769" y="2435230"/>
            <a:ext cx="63794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dirty="0">
                <a:solidFill>
                  <a:srgbClr val="2030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 4</a:t>
            </a:r>
            <a:endParaRPr lang="en-US" sz="726" dirty="0"/>
          </a:p>
        </p:txBody>
      </p:sp>
      <p:sp>
        <p:nvSpPr>
          <p:cNvPr id="23" name="Shape 20"/>
          <p:cNvSpPr/>
          <p:nvPr/>
        </p:nvSpPr>
        <p:spPr>
          <a:xfrm>
            <a:off x="4767590" y="2653955"/>
            <a:ext cx="173157" cy="118476"/>
          </a:xfrm>
          <a:prstGeom prst="rect">
            <a:avLst>
              <a:gd name="adj" fmla="val 15436"/>
            </a:avLst>
          </a:prstGeom>
          <a:solidFill>
            <a:srgbClr val="B8856C"/>
          </a:solidFill>
          <a:ln w="12700">
            <a:solidFill>
              <a:srgbClr val="B8856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2769" y="2626614"/>
            <a:ext cx="637946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dirty="0">
                <a:solidFill>
                  <a:srgbClr val="2030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 5</a:t>
            </a:r>
            <a:endParaRPr lang="en-US" sz="726" dirty="0"/>
          </a:p>
        </p:txBody>
      </p:sp>
      <p:sp>
        <p:nvSpPr>
          <p:cNvPr id="25" name="Shape 22"/>
          <p:cNvSpPr/>
          <p:nvPr/>
        </p:nvSpPr>
        <p:spPr>
          <a:xfrm>
            <a:off x="511576" y="3018495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EEF3EF"/>
          </a:solidFill>
          <a:ln w="12700">
            <a:solidFill>
              <a:srgbClr val="EEF3E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1576" y="3018495"/>
            <a:ext cx="36454" cy="218724"/>
          </a:xfrm>
          <a:prstGeom prst="rect">
            <a:avLst>
              <a:gd name="adj" fmla="val 50167"/>
            </a:avLst>
          </a:prstGeom>
          <a:solidFill>
            <a:srgbClr val="9B7056"/>
          </a:solidFill>
          <a:ln w="12700">
            <a:solidFill>
              <a:srgbClr val="9B7056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1825" y="3045836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2F55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色标、尺度、方向与单位均独立可编辑</a:t>
            </a:r>
            <a:endParaRPr lang="en-US" sz="858" dirty="0"/>
          </a:p>
        </p:txBody>
      </p:sp>
      <p:sp>
        <p:nvSpPr>
          <p:cNvPr id="28" name="Text 25"/>
          <p:cNvSpPr/>
          <p:nvPr/>
        </p:nvSpPr>
        <p:spPr>
          <a:xfrm>
            <a:off x="36576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C17 · 空间热度 · figure-caption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272754" y="58518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9456" y="72188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83955"/>
          </a:solidFill>
          <a:ln w="12700">
            <a:solidFill>
              <a:srgbClr val="183955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3251" y="74922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C18</a:t>
            </a:r>
            <a:endParaRPr lang="en-US" sz="858" dirty="0"/>
          </a:p>
        </p:txBody>
      </p:sp>
      <p:sp>
        <p:nvSpPr>
          <p:cNvPr id="32" name="Text 29"/>
          <p:cNvSpPr/>
          <p:nvPr/>
        </p:nvSpPr>
        <p:spPr>
          <a:xfrm>
            <a:off x="6846905" y="74011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模拟对照</a:t>
            </a:r>
            <a:endParaRPr lang="en-US" sz="792" dirty="0"/>
          </a:p>
        </p:txBody>
      </p:sp>
      <p:sp>
        <p:nvSpPr>
          <p:cNvPr id="33" name="Text 30"/>
          <p:cNvSpPr/>
          <p:nvPr/>
        </p:nvSpPr>
        <p:spPr>
          <a:xfrm>
            <a:off x="6418570" y="100440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模型与观测的核对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6418570" y="1368948"/>
            <a:ext cx="5158252" cy="0"/>
          </a:xfrm>
          <a:prstGeom prst="line">
            <a:avLst/>
          </a:prstGeom>
          <a:noFill/>
          <a:ln w="8255">
            <a:solidFill>
              <a:srgbClr val="C9D3DF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570" y="1523878"/>
            <a:ext cx="3180618" cy="132146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418570" y="1523878"/>
            <a:ext cx="3180618" cy="1321460"/>
          </a:xfrm>
          <a:prstGeom prst="roundRect">
            <a:avLst>
              <a:gd name="adj" fmla="val 1384"/>
            </a:avLst>
          </a:prstGeom>
          <a:solidFill>
            <a:srgbClr val="FFFFFF">
              <a:alpha val="0"/>
            </a:srgbClr>
          </a:solidFill>
          <a:ln w="8890">
            <a:solidFill>
              <a:srgbClr val="C9D3D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73251" y="2653955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38" name="Shape 34"/>
          <p:cNvSpPr/>
          <p:nvPr/>
        </p:nvSpPr>
        <p:spPr>
          <a:xfrm>
            <a:off x="9717664" y="1514765"/>
            <a:ext cx="1840931" cy="1321460"/>
          </a:xfrm>
          <a:prstGeom prst="roundRect">
            <a:avLst>
              <a:gd name="adj" fmla="val 1384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836140" y="1633240"/>
            <a:ext cx="1549298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2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评价口径</a:t>
            </a:r>
            <a:endParaRPr lang="en-US" sz="1122" dirty="0"/>
          </a:p>
        </p:txBody>
      </p:sp>
      <p:sp>
        <p:nvSpPr>
          <p:cNvPr id="40" name="Text 36"/>
          <p:cNvSpPr/>
          <p:nvPr/>
        </p:nvSpPr>
        <p:spPr>
          <a:xfrm>
            <a:off x="9836140" y="1970441"/>
            <a:ext cx="1476390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独立样本</a:t>
            </a:r>
            <a:endParaRPr lang="en-US" sz="858" dirty="0"/>
          </a:p>
        </p:txBody>
      </p:sp>
      <p:sp>
        <p:nvSpPr>
          <p:cNvPr id="41" name="Text 37"/>
          <p:cNvSpPr/>
          <p:nvPr/>
        </p:nvSpPr>
        <p:spPr>
          <a:xfrm>
            <a:off x="9836140" y="2198279"/>
            <a:ext cx="1585752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同一训练测试划分</a:t>
            </a:r>
            <a:endParaRPr lang="en-US" sz="858" dirty="0"/>
          </a:p>
        </p:txBody>
      </p:sp>
      <p:sp>
        <p:nvSpPr>
          <p:cNvPr id="42" name="Text 38"/>
          <p:cNvSpPr/>
          <p:nvPr/>
        </p:nvSpPr>
        <p:spPr>
          <a:xfrm>
            <a:off x="9836140" y="2480798"/>
            <a:ext cx="1603980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1:1 参照</a:t>
            </a:r>
            <a:endParaRPr lang="en-US" sz="858" dirty="0"/>
          </a:p>
        </p:txBody>
      </p:sp>
      <p:sp>
        <p:nvSpPr>
          <p:cNvPr id="43" name="Shape 39"/>
          <p:cNvSpPr/>
          <p:nvPr/>
        </p:nvSpPr>
        <p:spPr>
          <a:xfrm>
            <a:off x="6409456" y="3018495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409456" y="3018495"/>
            <a:ext cx="36454" cy="218724"/>
          </a:xfrm>
          <a:prstGeom prst="rect">
            <a:avLst>
              <a:gd name="adj" fmla="val 50167"/>
            </a:avLst>
          </a:prstGeom>
          <a:solidFill>
            <a:srgbClr val="BC8260"/>
          </a:solidFill>
          <a:ln w="12700">
            <a:solidFill>
              <a:srgbClr val="BC8260">
                <a:alpha val="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509705" y="3045836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1839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数值读数从论文登记，非图像猜测</a:t>
            </a:r>
            <a:endParaRPr lang="en-US" sz="858" dirty="0"/>
          </a:p>
        </p:txBody>
      </p:sp>
      <p:sp>
        <p:nvSpPr>
          <p:cNvPr id="46" name="Text 42"/>
          <p:cNvSpPr/>
          <p:nvPr/>
        </p:nvSpPr>
        <p:spPr>
          <a:xfrm>
            <a:off x="6263640" y="340138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C18 · 模拟对照 · figure-metrics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7487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D6DBDE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1157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4D555C"/>
          </a:solidFill>
          <a:ln w="12700">
            <a:solidFill>
              <a:srgbClr val="4D555C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7537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C19</a:t>
            </a:r>
            <a:endParaRPr lang="en-US" sz="858" dirty="0"/>
          </a:p>
        </p:txBody>
      </p:sp>
      <p:sp>
        <p:nvSpPr>
          <p:cNvPr id="50" name="Text 46"/>
          <p:cNvSpPr/>
          <p:nvPr/>
        </p:nvSpPr>
        <p:spPr>
          <a:xfrm>
            <a:off x="94902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剖面机制</a:t>
            </a:r>
            <a:endParaRPr lang="en-US" sz="792" dirty="0"/>
          </a:p>
        </p:txBody>
      </p:sp>
      <p:sp>
        <p:nvSpPr>
          <p:cNvPr id="51" name="Text 47"/>
          <p:cNvSpPr/>
          <p:nvPr/>
        </p:nvSpPr>
        <p:spPr>
          <a:xfrm>
            <a:off x="52069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土层条件与响应</a:t>
            </a:r>
            <a:endParaRPr lang="en-US" sz="1650" dirty="0"/>
          </a:p>
        </p:txBody>
      </p:sp>
      <p:sp>
        <p:nvSpPr>
          <p:cNvPr id="52" name="Shape 48"/>
          <p:cNvSpPr/>
          <p:nvPr/>
        </p:nvSpPr>
        <p:spPr>
          <a:xfrm>
            <a:off x="520690" y="4432188"/>
            <a:ext cx="5158252" cy="0"/>
          </a:xfrm>
          <a:prstGeom prst="line">
            <a:avLst/>
          </a:prstGeom>
          <a:noFill/>
          <a:ln w="8255">
            <a:solidFill>
              <a:srgbClr val="D6DBDE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90" y="4587118"/>
            <a:ext cx="3125937" cy="136702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520690" y="4587118"/>
            <a:ext cx="3125937" cy="1367028"/>
          </a:xfrm>
          <a:prstGeom prst="roundRect">
            <a:avLst>
              <a:gd name="adj" fmla="val 1338"/>
            </a:avLst>
          </a:prstGeom>
          <a:solidFill>
            <a:srgbClr val="FFFFFF">
              <a:alpha val="0"/>
            </a:srgbClr>
          </a:solidFill>
          <a:ln w="8890">
            <a:solidFill>
              <a:srgbClr val="D6DBDE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575371" y="5762762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56" name="Text 51"/>
          <p:cNvSpPr/>
          <p:nvPr/>
        </p:nvSpPr>
        <p:spPr>
          <a:xfrm>
            <a:off x="3783330" y="4687367"/>
            <a:ext cx="1713342" cy="20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2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剖面水分</a:t>
            </a:r>
            <a:endParaRPr lang="en-US" sz="1122" dirty="0"/>
          </a:p>
        </p:txBody>
      </p:sp>
      <p:sp>
        <p:nvSpPr>
          <p:cNvPr id="57" name="Text 52"/>
          <p:cNvSpPr/>
          <p:nvPr/>
        </p:nvSpPr>
        <p:spPr>
          <a:xfrm>
            <a:off x="3783330" y="4969886"/>
            <a:ext cx="1786250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同化变量深度</a:t>
            </a:r>
            <a:endParaRPr lang="en-US" sz="858" dirty="0"/>
          </a:p>
        </p:txBody>
      </p:sp>
      <p:sp>
        <p:nvSpPr>
          <p:cNvPr id="58" name="Shape 53"/>
          <p:cNvSpPr/>
          <p:nvPr/>
        </p:nvSpPr>
        <p:spPr>
          <a:xfrm>
            <a:off x="3774216" y="5206837"/>
            <a:ext cx="1740682" cy="0"/>
          </a:xfrm>
          <a:prstGeom prst="line">
            <a:avLst/>
          </a:prstGeom>
          <a:noFill/>
          <a:ln w="8255">
            <a:solidFill>
              <a:srgbClr val="D6DBDE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3783330" y="5325313"/>
            <a:ext cx="1713342" cy="20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2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边界条件</a:t>
            </a:r>
            <a:endParaRPr lang="en-US" sz="1122" dirty="0"/>
          </a:p>
        </p:txBody>
      </p:sp>
      <p:sp>
        <p:nvSpPr>
          <p:cNvPr id="60" name="Text 55"/>
          <p:cNvSpPr/>
          <p:nvPr/>
        </p:nvSpPr>
        <p:spPr>
          <a:xfrm>
            <a:off x="3783330" y="5607832"/>
            <a:ext cx="1667774" cy="16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表层与深层区分</a:t>
            </a:r>
            <a:endParaRPr lang="en-US" sz="858" dirty="0"/>
          </a:p>
        </p:txBody>
      </p:sp>
      <p:sp>
        <p:nvSpPr>
          <p:cNvPr id="61" name="Shape 56"/>
          <p:cNvSpPr/>
          <p:nvPr/>
        </p:nvSpPr>
        <p:spPr>
          <a:xfrm>
            <a:off x="511576" y="6090849"/>
            <a:ext cx="5176479" cy="218724"/>
          </a:xfrm>
          <a:prstGeom prst="roundRect">
            <a:avLst>
              <a:gd name="adj" fmla="val 8361"/>
            </a:avLst>
          </a:prstGeom>
          <a:solidFill>
            <a:srgbClr val="F3F4F2"/>
          </a:solidFill>
          <a:ln w="12700">
            <a:solidFill>
              <a:srgbClr val="F3F4F2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511576" y="6090849"/>
            <a:ext cx="36454" cy="218724"/>
          </a:xfrm>
          <a:prstGeom prst="rect">
            <a:avLst>
              <a:gd name="adj" fmla="val 50167"/>
            </a:avLst>
          </a:prstGeom>
          <a:solidFill>
            <a:srgbClr val="557884"/>
          </a:solidFill>
          <a:ln w="12700">
            <a:solidFill>
              <a:srgbClr val="557884">
                <a:alpha val="0"/>
              </a:srgbClr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611825" y="6118189"/>
            <a:ext cx="500332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4D5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记录深度、时刻、土层与采样支持</a:t>
            </a:r>
            <a:endParaRPr lang="en-US" sz="858" dirty="0"/>
          </a:p>
        </p:txBody>
      </p:sp>
      <p:sp>
        <p:nvSpPr>
          <p:cNvPr id="64" name="Text 59"/>
          <p:cNvSpPr/>
          <p:nvPr/>
        </p:nvSpPr>
        <p:spPr>
          <a:xfrm>
            <a:off x="36576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C19 · 剖面机制 · figure-observation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6272754" y="3648426"/>
            <a:ext cx="5449885" cy="2770510"/>
          </a:xfrm>
          <a:prstGeom prst="roundRect">
            <a:avLst>
              <a:gd name="adj" fmla="val 660"/>
            </a:avLst>
          </a:prstGeom>
          <a:solidFill>
            <a:srgbClr val="FFFFFF"/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409456" y="3785128"/>
            <a:ext cx="355427" cy="200497"/>
          </a:xfrm>
          <a:prstGeom prst="roundRect">
            <a:avLst>
              <a:gd name="adj" fmla="val 9121"/>
            </a:avLst>
          </a:prstGeom>
          <a:solidFill>
            <a:srgbClr val="146C75"/>
          </a:solidFill>
          <a:ln w="12700">
            <a:solidFill>
              <a:srgbClr val="146C75">
                <a:alpha val="0"/>
              </a:srgbClr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6473251" y="3812469"/>
            <a:ext cx="282519" cy="14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C20</a:t>
            </a:r>
            <a:endParaRPr lang="en-US" sz="858" dirty="0"/>
          </a:p>
        </p:txBody>
      </p:sp>
      <p:sp>
        <p:nvSpPr>
          <p:cNvPr id="68" name="Text 63"/>
          <p:cNvSpPr/>
          <p:nvPr/>
        </p:nvSpPr>
        <p:spPr>
          <a:xfrm>
            <a:off x="6846905" y="3803355"/>
            <a:ext cx="1202985" cy="18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472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进展与不足</a:t>
            </a:r>
            <a:endParaRPr lang="en-US" sz="792" dirty="0"/>
          </a:p>
        </p:txBody>
      </p:sp>
      <p:sp>
        <p:nvSpPr>
          <p:cNvPr id="69" name="Text 64"/>
          <p:cNvSpPr/>
          <p:nvPr/>
        </p:nvSpPr>
        <p:spPr>
          <a:xfrm>
            <a:off x="6418570" y="4067647"/>
            <a:ext cx="5130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已支持 · 待验证</a:t>
            </a:r>
            <a:endParaRPr lang="en-US" sz="1650" dirty="0"/>
          </a:p>
        </p:txBody>
      </p:sp>
      <p:sp>
        <p:nvSpPr>
          <p:cNvPr id="70" name="Shape 65"/>
          <p:cNvSpPr/>
          <p:nvPr/>
        </p:nvSpPr>
        <p:spPr>
          <a:xfrm>
            <a:off x="6418570" y="4432188"/>
            <a:ext cx="5158252" cy="0"/>
          </a:xfrm>
          <a:prstGeom prst="line">
            <a:avLst/>
          </a:prstGeom>
          <a:noFill/>
          <a:ln w="8255">
            <a:solidFill>
              <a:srgbClr val="BFD5D8"/>
            </a:solidFill>
            <a:prstDash val="solid"/>
          </a:ln>
        </p:spPr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70" y="4578005"/>
            <a:ext cx="5149139" cy="1111849"/>
          </a:xfrm>
          <a:prstGeom prst="rect">
            <a:avLst/>
          </a:prstGeom>
        </p:spPr>
      </p:pic>
      <p:sp>
        <p:nvSpPr>
          <p:cNvPr id="72" name="Shape 66"/>
          <p:cNvSpPr/>
          <p:nvPr/>
        </p:nvSpPr>
        <p:spPr>
          <a:xfrm>
            <a:off x="6418570" y="4578005"/>
            <a:ext cx="5149139" cy="1111849"/>
          </a:xfrm>
          <a:prstGeom prst="roundRect">
            <a:avLst>
              <a:gd name="adj" fmla="val 1645"/>
            </a:avLst>
          </a:prstGeom>
          <a:solidFill>
            <a:srgbClr val="FFFFFF">
              <a:alpha val="0"/>
            </a:srgbClr>
          </a:solidFill>
          <a:ln w="8890">
            <a:solidFill>
              <a:srgbClr val="BFD5D8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6473251" y="5498470"/>
            <a:ext cx="592379" cy="13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6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示意图位</a:t>
            </a:r>
            <a:endParaRPr lang="en-US" sz="726" dirty="0"/>
          </a:p>
        </p:txBody>
      </p:sp>
      <p:sp>
        <p:nvSpPr>
          <p:cNvPr id="74" name="Shape 68"/>
          <p:cNvSpPr/>
          <p:nvPr/>
        </p:nvSpPr>
        <p:spPr>
          <a:xfrm>
            <a:off x="6418570" y="5799216"/>
            <a:ext cx="2451537" cy="364541"/>
          </a:xfrm>
          <a:prstGeom prst="roundRect">
            <a:avLst>
              <a:gd name="adj" fmla="val 5017"/>
            </a:avLst>
          </a:prstGeom>
          <a:solidFill>
            <a:srgbClr val="EEF6F6"/>
          </a:solidFill>
          <a:ln w="12700">
            <a:solidFill>
              <a:srgbClr val="EEF6F6">
                <a:alpha val="0"/>
              </a:srgbClr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8961242" y="5799216"/>
            <a:ext cx="2597353" cy="364541"/>
          </a:xfrm>
          <a:prstGeom prst="roundRect">
            <a:avLst>
              <a:gd name="adj" fmla="val 5017"/>
            </a:avLst>
          </a:prstGeom>
          <a:solidFill>
            <a:srgbClr val="DDEEEF"/>
          </a:solidFill>
          <a:ln w="12700">
            <a:solidFill>
              <a:srgbClr val="DDEEEF">
                <a:alpha val="0"/>
              </a:srgbClr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6500592" y="5908578"/>
            <a:ext cx="2269266" cy="20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已支持 · 当前地块</a:t>
            </a:r>
            <a:endParaRPr lang="en-US" sz="990" dirty="0"/>
          </a:p>
        </p:txBody>
      </p:sp>
      <p:sp>
        <p:nvSpPr>
          <p:cNvPr id="77" name="Text 71"/>
          <p:cNvSpPr/>
          <p:nvPr/>
        </p:nvSpPr>
        <p:spPr>
          <a:xfrm>
            <a:off x="9052377" y="5908578"/>
            <a:ext cx="2433310" cy="200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146C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待验证 · 新环境</a:t>
            </a:r>
            <a:endParaRPr lang="en-US" sz="990" dirty="0"/>
          </a:p>
        </p:txBody>
      </p:sp>
      <p:sp>
        <p:nvSpPr>
          <p:cNvPr id="78" name="Text 72"/>
          <p:cNvSpPr/>
          <p:nvPr/>
        </p:nvSpPr>
        <p:spPr>
          <a:xfrm>
            <a:off x="6263640" y="6464625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5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C20 · 进展与不足 · boundary-scope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components, NOT full slide layouts</dc:title>
  <dc:subject>v0.8.3 scientific modular editorial card design references; synthetic images, editable furniture</dc:subject>
  <dc:creator>DSH Academic PPT</dc:creator>
  <cp:lastModifiedBy>DSH Academic PPT</cp:lastModifiedBy>
  <cp:revision>1</cp:revision>
  <dcterms:created xsi:type="dcterms:W3CDTF">2026-10-26T13:43:37Z</dcterms:created>
  <dcterms:modified xsi:type="dcterms:W3CDTF">2026-10-26T13:43:37Z</dcterms:modified>
</cp:coreProperties>
</file>