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原创组件视觉教学页。页面文字描述设计用途，不包含研究数据、论文结论或用户模板资产。
两个完整边界采用相同语义层级。右侧真正 noFill；标题用独立白色对象打断上边线，无阴影。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原创组件视觉教学页。页面文字描述设计用途，不包含研究数据、论文结论或用户模板资产。
两个白色纸面有相同大小与轻阴影，左侧额外细线，右侧无可见边线。浅灰背景只用于清楚演示纸面差异。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原创组件视觉教学页。页面文字描述设计用途，不包含研究数据、论文结论或用户模板资产。
浮签使用独立深蓝底与白字，覆盖上边线；侧签明确命名共享条件，内部按行对齐。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原创组件视觉教学页。页面文字描述设计用途，不包含研究数据、论文结论或用户模板资产。
外层透明虚线，内部白底实线和深蓝标题带；独立开放注释说明不同职责可以使用不同边界。图中箭头仅展示版式结构，不代表任何研究结果。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-boundaries/page-number"/>
          <p:cNvSpPr/>
          <p:nvPr/>
        </p:nvSpPr>
        <p:spPr>
          <a:xfrm>
            <a:off x="10744200" y="6534150"/>
            <a:ext cx="9906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728"/>
              </a:lnSpc>
              <a:buNone/>
            </a:pPr>
            <a:r>
              <a:rPr lang="zh-CN" altLang="en-US" sz="1350" dirty="0">
                <a:solidFill>
                  <a:srgbClr val="606A77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01 / 04</a:t>
            </a:r>
            <a:endParaRPr lang="zh-CN" sz="1350" dirty="0"/>
          </a:p>
        </p:txBody>
      </p:sp>
      <p:sp>
        <p:nvSpPr>
          <p:cNvPr id="3" name="frame-boundaries/title"/>
          <p:cNvSpPr/>
          <p:nvPr/>
        </p:nvSpPr>
        <p:spPr>
          <a:xfrm>
            <a:off x="457200" y="419100"/>
            <a:ext cx="11277600" cy="552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78"/>
              </a:lnSpc>
              <a:buNone/>
            </a:pPr>
            <a:r>
              <a:rPr lang="zh-CN" altLang="en-US" sz="2850" b="1" dirty="0">
                <a:solidFill>
                  <a:srgbClr val="17243A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01  范围边界：实线与无填充虚线</a:t>
            </a:r>
            <a:endParaRPr lang="zh-CN" sz="2850" dirty="0"/>
          </a:p>
        </p:txBody>
      </p:sp>
      <p:sp>
        <p:nvSpPr>
          <p:cNvPr id="4" name="frame-boundaries/drawing/frame-boundaries-content/solid-label"/>
          <p:cNvSpPr/>
          <p:nvPr/>
        </p:nvSpPr>
        <p:spPr>
          <a:xfrm>
            <a:off x="457200" y="1295400"/>
            <a:ext cx="529590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10"/>
              </a:lnSpc>
              <a:buNone/>
            </a:pPr>
            <a:r>
              <a:rPr lang="zh-CN" altLang="en-US" sz="2175" b="1" dirty="0">
                <a:solidFill>
                  <a:srgbClr val="003E87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同一实验的完整证据组</a:t>
            </a:r>
            <a:endParaRPr lang="zh-CN" sz="2175" dirty="0"/>
          </a:p>
        </p:txBody>
      </p:sp>
      <p:sp>
        <p:nvSpPr>
          <p:cNvPr id="5" name="frame-boundaries/drawing/frame-boundaries-content/dash-label"/>
          <p:cNvSpPr/>
          <p:nvPr/>
        </p:nvSpPr>
        <p:spPr>
          <a:xfrm>
            <a:off x="6438900" y="1295400"/>
            <a:ext cx="529590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10"/>
              </a:lnSpc>
              <a:buNone/>
            </a:pPr>
            <a:r>
              <a:rPr lang="zh-CN" altLang="en-US" sz="2175" b="1" dirty="0">
                <a:solidFill>
                  <a:srgbClr val="003E87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多子图的共同评价范围</a:t>
            </a:r>
            <a:endParaRPr lang="zh-CN" sz="2175" dirty="0"/>
          </a:p>
        </p:txBody>
      </p:sp>
      <p:sp>
        <p:nvSpPr>
          <p:cNvPr id="6" name="frame-boundaries/drawing/frame-boundaries-content/solid-frame"/>
          <p:cNvSpPr/>
          <p:nvPr/>
        </p:nvSpPr>
        <p:spPr>
          <a:xfrm>
            <a:off x="476250" y="2066925"/>
            <a:ext cx="5238750" cy="2676525"/>
          </a:xfrm>
          <a:prstGeom prst="roundRect">
            <a:avLst>
              <a:gd name="adj" fmla="val 1779"/>
            </a:avLst>
          </a:prstGeom>
          <a:noFill/>
          <a:ln w="13335">
            <a:solidFill>
              <a:srgbClr val="023160"/>
            </a:solidFill>
            <a:prstDash val="solid"/>
          </a:ln>
        </p:spPr>
      </p:sp>
      <p:sp>
        <p:nvSpPr>
          <p:cNvPr id="7" name="frame-boundaries/drawing/frame-boundaries-content/solid-title-paper"/>
          <p:cNvSpPr/>
          <p:nvPr/>
        </p:nvSpPr>
        <p:spPr>
          <a:xfrm>
            <a:off x="685800" y="1895475"/>
            <a:ext cx="1409700" cy="3619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8" name="frame-boundaries/drawing/frame-boundaries-content/solid-title-text"/>
          <p:cNvSpPr/>
          <p:nvPr/>
        </p:nvSpPr>
        <p:spPr>
          <a:xfrm>
            <a:off x="781050" y="1924050"/>
            <a:ext cx="121920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zh-CN" altLang="en-US" sz="2025" b="1" dirty="0">
                <a:solidFill>
                  <a:srgbClr val="023160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实验条件</a:t>
            </a:r>
            <a:endParaRPr lang="zh-CN" sz="2025" dirty="0"/>
          </a:p>
        </p:txBody>
      </p:sp>
      <p:sp>
        <p:nvSpPr>
          <p:cNvPr id="9" name="frame-boundaries/drawing/frame-boundaries-content/solid-body"/>
          <p:cNvSpPr/>
          <p:nvPr/>
        </p:nvSpPr>
        <p:spPr>
          <a:xfrm>
            <a:off x="685800" y="2476500"/>
            <a:ext cx="4819650" cy="1057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17243A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边界标出共同归属。</a:t>
            </a:r>
            <a:endParaRPr lang="zh-CN" sz="2100" dirty="0"/>
          </a:p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17243A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内部文字、图例与来源各自对齐，</a:t>
            </a:r>
            <a:endParaRPr lang="zh-CN" sz="2100" dirty="0"/>
          </a:p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17243A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不把每一句话都单独套框。</a:t>
            </a:r>
            <a:endParaRPr lang="zh-CN" sz="2100" dirty="0"/>
          </a:p>
        </p:txBody>
      </p:sp>
      <p:sp>
        <p:nvSpPr>
          <p:cNvPr id="10" name="frame-boundaries/drawing/frame-boundaries-content/solid-sep/segment-1"/>
          <p:cNvSpPr/>
          <p:nvPr/>
        </p:nvSpPr>
        <p:spPr>
          <a:xfrm>
            <a:off x="685800" y="3838575"/>
            <a:ext cx="4819650" cy="0"/>
          </a:xfrm>
          <a:prstGeom prst="line">
            <a:avLst/>
          </a:prstGeom>
          <a:noFill/>
          <a:ln w="11430">
            <a:solidFill>
              <a:srgbClr val="AAB8C9"/>
            </a:solidFill>
            <a:prstDash val="solid"/>
          </a:ln>
        </p:spPr>
      </p:sp>
      <p:sp>
        <p:nvSpPr>
          <p:cNvPr id="11" name="frame-boundaries/drawing/frame-boundaries-content/solid-tail"/>
          <p:cNvSpPr/>
          <p:nvPr/>
        </p:nvSpPr>
        <p:spPr>
          <a:xfrm>
            <a:off x="685800" y="4019550"/>
            <a:ext cx="4762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zh-CN" altLang="en-US" sz="2025" b="1" dirty="0">
                <a:solidFill>
                  <a:srgbClr val="003E87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完整原图与解释保持相邻</a:t>
            </a:r>
            <a:endParaRPr lang="zh-CN" sz="2025" dirty="0"/>
          </a:p>
        </p:txBody>
      </p:sp>
      <p:sp>
        <p:nvSpPr>
          <p:cNvPr id="12" name="frame-boundaries/drawing/frame-boundaries-content/dash-frame"/>
          <p:cNvSpPr/>
          <p:nvPr/>
        </p:nvSpPr>
        <p:spPr>
          <a:xfrm>
            <a:off x="6457950" y="2066925"/>
            <a:ext cx="5238750" cy="2676525"/>
          </a:xfrm>
          <a:prstGeom prst="roundRect">
            <a:avLst>
              <a:gd name="adj" fmla="val 1779"/>
            </a:avLst>
          </a:prstGeom>
          <a:noFill/>
          <a:ln w="17145">
            <a:solidFill>
              <a:srgbClr val="023160"/>
            </a:solidFill>
            <a:prstDash val="dash"/>
          </a:ln>
        </p:spPr>
      </p:sp>
      <p:sp>
        <p:nvSpPr>
          <p:cNvPr id="13" name="frame-boundaries/drawing/frame-boundaries-content/dash-title-paper"/>
          <p:cNvSpPr/>
          <p:nvPr/>
        </p:nvSpPr>
        <p:spPr>
          <a:xfrm>
            <a:off x="6648450" y="1895475"/>
            <a:ext cx="1943100" cy="3619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4" name="frame-boundaries/drawing/frame-boundaries-content/dash-title-text"/>
          <p:cNvSpPr/>
          <p:nvPr/>
        </p:nvSpPr>
        <p:spPr>
          <a:xfrm>
            <a:off x="6743700" y="1924050"/>
            <a:ext cx="175260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zh-CN" altLang="en-US" sz="2025" b="1" dirty="0">
                <a:solidFill>
                  <a:srgbClr val="023160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共同评价范围</a:t>
            </a:r>
            <a:endParaRPr lang="zh-CN" sz="2025" dirty="0"/>
          </a:p>
        </p:txBody>
      </p:sp>
      <p:sp>
        <p:nvSpPr>
          <p:cNvPr id="15" name="frame-boundaries/drawing/frame-boundaries-content/a-label"/>
          <p:cNvSpPr/>
          <p:nvPr/>
        </p:nvSpPr>
        <p:spPr>
          <a:xfrm>
            <a:off x="6667500" y="2495550"/>
            <a:ext cx="200025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b="1" dirty="0">
                <a:solidFill>
                  <a:srgbClr val="003E87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条件 A</a:t>
            </a:r>
            <a:endParaRPr lang="zh-CN" sz="2100" dirty="0"/>
          </a:p>
        </p:txBody>
      </p:sp>
      <p:sp>
        <p:nvSpPr>
          <p:cNvPr id="16" name="frame-boundaries/drawing/frame-boundaries-content/b-label"/>
          <p:cNvSpPr/>
          <p:nvPr/>
        </p:nvSpPr>
        <p:spPr>
          <a:xfrm>
            <a:off x="9353550" y="2495550"/>
            <a:ext cx="200025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b="1" dirty="0">
                <a:solidFill>
                  <a:srgbClr val="003E87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条件 B</a:t>
            </a:r>
            <a:endParaRPr lang="zh-CN" sz="2100" dirty="0"/>
          </a:p>
        </p:txBody>
      </p:sp>
      <p:sp>
        <p:nvSpPr>
          <p:cNvPr id="17" name="frame-boundaries/drawing/frame-boundaries-content/a-body"/>
          <p:cNvSpPr/>
          <p:nvPr/>
        </p:nvSpPr>
        <p:spPr>
          <a:xfrm>
            <a:off x="6667500" y="3048000"/>
            <a:ext cx="20955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zh-CN" altLang="en-US" sz="1950" dirty="0">
                <a:solidFill>
                  <a:srgbClr val="17243A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同一观测窗口</a:t>
            </a:r>
            <a:endParaRPr lang="zh-CN" sz="1950" dirty="0"/>
          </a:p>
          <a:p>
            <a:pPr algn="l" indent="0" marL="0">
              <a:lnSpc>
                <a:spcPts val="2340"/>
              </a:lnSpc>
              <a:buNone/>
            </a:pPr>
            <a:r>
              <a:rPr lang="zh-CN" altLang="en-US" sz="1950" dirty="0">
                <a:solidFill>
                  <a:srgbClr val="17243A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完整的变量定义</a:t>
            </a:r>
            <a:endParaRPr lang="zh-CN" sz="1950" dirty="0"/>
          </a:p>
        </p:txBody>
      </p:sp>
      <p:sp>
        <p:nvSpPr>
          <p:cNvPr id="18" name="frame-boundaries/drawing/frame-boundaries-content/b-body"/>
          <p:cNvSpPr/>
          <p:nvPr/>
        </p:nvSpPr>
        <p:spPr>
          <a:xfrm>
            <a:off x="9353550" y="3048000"/>
            <a:ext cx="20955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zh-CN" altLang="en-US" sz="1950" dirty="0">
                <a:solidFill>
                  <a:srgbClr val="17243A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同一评价口径</a:t>
            </a:r>
            <a:endParaRPr lang="zh-CN" sz="1950" dirty="0"/>
          </a:p>
          <a:p>
            <a:pPr algn="l" indent="0" marL="0">
              <a:lnSpc>
                <a:spcPts val="2340"/>
              </a:lnSpc>
              <a:buNone/>
            </a:pPr>
            <a:r>
              <a:rPr lang="zh-CN" altLang="en-US" sz="1950" dirty="0">
                <a:solidFill>
                  <a:srgbClr val="17243A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对应的比较对象</a:t>
            </a:r>
            <a:endParaRPr lang="zh-CN" sz="1950" dirty="0"/>
          </a:p>
        </p:txBody>
      </p:sp>
      <p:sp>
        <p:nvSpPr>
          <p:cNvPr id="19" name="frame-boundaries/drawing/frame-boundaries-content/pair-divider/segment-1"/>
          <p:cNvSpPr/>
          <p:nvPr/>
        </p:nvSpPr>
        <p:spPr>
          <a:xfrm>
            <a:off x="9115425" y="2524125"/>
            <a:ext cx="0" cy="1419225"/>
          </a:xfrm>
          <a:prstGeom prst="line">
            <a:avLst/>
          </a:prstGeom>
          <a:noFill/>
          <a:ln w="11430">
            <a:solidFill>
              <a:srgbClr val="AAB8C9"/>
            </a:solidFill>
            <a:prstDash val="solid"/>
          </a:ln>
        </p:spPr>
      </p:sp>
      <p:sp>
        <p:nvSpPr>
          <p:cNvPr id="20" name="frame-boundaries/drawing/frame-boundaries-content/dash-tail"/>
          <p:cNvSpPr/>
          <p:nvPr/>
        </p:nvSpPr>
        <p:spPr>
          <a:xfrm>
            <a:off x="6667500" y="4152900"/>
            <a:ext cx="476250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zh-CN" altLang="en-US" sz="1875" dirty="0">
                <a:solidFill>
                  <a:srgbClr val="606A77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虚线本身不代表结果尚未验证</a:t>
            </a:r>
            <a:endParaRPr lang="zh-CN" sz="1875" dirty="0"/>
          </a:p>
        </p:txBody>
      </p:sp>
      <p:sp>
        <p:nvSpPr>
          <p:cNvPr id="21" name="frame-boundaries/drawing/frame-boundaries-content/solid-note"/>
          <p:cNvSpPr/>
          <p:nvPr/>
        </p:nvSpPr>
        <p:spPr>
          <a:xfrm>
            <a:off x="457200" y="5067300"/>
            <a:ext cx="5295900" cy="838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606A77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透明实线框：线重清楚，正文距边界留足空隙。</a:t>
            </a:r>
            <a:endParaRPr lang="zh-CN" sz="1800" dirty="0"/>
          </a:p>
        </p:txBody>
      </p:sp>
      <p:sp>
        <p:nvSpPr>
          <p:cNvPr id="22" name="frame-boundaries/drawing/frame-boundaries-content/dash-note"/>
          <p:cNvSpPr/>
          <p:nvPr/>
        </p:nvSpPr>
        <p:spPr>
          <a:xfrm>
            <a:off x="6438900" y="5067300"/>
            <a:ext cx="5295900" cy="838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606A77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透明虚线框：聚合范围。需要表达方案或假设时，另</a:t>
            </a:r>
            <a:endParaRPr lang="zh-CN" sz="1800" dirty="0"/>
          </a:p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606A77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写清身份。</a:t>
            </a:r>
            <a:endParaRPr lang="zh-CN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-depth/page-number"/>
          <p:cNvSpPr/>
          <p:nvPr/>
        </p:nvSpPr>
        <p:spPr>
          <a:xfrm>
            <a:off x="10744200" y="6534150"/>
            <a:ext cx="9906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728"/>
              </a:lnSpc>
              <a:buNone/>
            </a:pPr>
            <a:r>
              <a:rPr lang="zh-CN" altLang="en-US" sz="1350" dirty="0">
                <a:solidFill>
                  <a:srgbClr val="606A77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02 / 04</a:t>
            </a:r>
            <a:endParaRPr lang="zh-CN" sz="1350" dirty="0"/>
          </a:p>
        </p:txBody>
      </p:sp>
      <p:sp>
        <p:nvSpPr>
          <p:cNvPr id="3" name="frame-depth/title"/>
          <p:cNvSpPr/>
          <p:nvPr/>
        </p:nvSpPr>
        <p:spPr>
          <a:xfrm>
            <a:off x="457200" y="419100"/>
            <a:ext cx="11277600" cy="552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78"/>
              </a:lnSpc>
              <a:buNone/>
            </a:pPr>
            <a:r>
              <a:rPr lang="zh-CN" altLang="en-US" sz="2850" b="1" dirty="0">
                <a:solidFill>
                  <a:srgbClr val="17243A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02  纸面层次：细实线与无边线阴影</a:t>
            </a:r>
            <a:endParaRPr lang="zh-CN" sz="2850" dirty="0"/>
          </a:p>
        </p:txBody>
      </p:sp>
      <p:sp>
        <p:nvSpPr>
          <p:cNvPr id="4" name="frame-depth/drawing/frame-depth-content/outline-label"/>
          <p:cNvSpPr/>
          <p:nvPr/>
        </p:nvSpPr>
        <p:spPr>
          <a:xfrm>
            <a:off x="457200" y="1295400"/>
            <a:ext cx="529590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10"/>
              </a:lnSpc>
              <a:buNone/>
            </a:pPr>
            <a:r>
              <a:rPr lang="zh-CN" altLang="en-US" sz="2175" b="1" dirty="0">
                <a:solidFill>
                  <a:srgbClr val="003E87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白底、细实线、轻阴影</a:t>
            </a:r>
            <a:endParaRPr lang="zh-CN" sz="2175" dirty="0"/>
          </a:p>
        </p:txBody>
      </p:sp>
      <p:sp>
        <p:nvSpPr>
          <p:cNvPr id="5" name="frame-depth/drawing/frame-depth-content/paper-label"/>
          <p:cNvSpPr/>
          <p:nvPr/>
        </p:nvSpPr>
        <p:spPr>
          <a:xfrm>
            <a:off x="6438900" y="1295400"/>
            <a:ext cx="529590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10"/>
              </a:lnSpc>
              <a:buNone/>
            </a:pPr>
            <a:r>
              <a:rPr lang="zh-CN" altLang="en-US" sz="2175" b="1" dirty="0">
                <a:solidFill>
                  <a:srgbClr val="003E87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白底、无可见边线、轻阴影</a:t>
            </a:r>
            <a:endParaRPr lang="zh-CN" sz="2175" dirty="0"/>
          </a:p>
        </p:txBody>
      </p:sp>
      <p:sp>
        <p:nvSpPr>
          <p:cNvPr id="6" name="frame-depth/drawing/frame-depth-content/backdrop-left"/>
          <p:cNvSpPr/>
          <p:nvPr/>
        </p:nvSpPr>
        <p:spPr>
          <a:xfrm>
            <a:off x="457200" y="1943100"/>
            <a:ext cx="5295900" cy="2895600"/>
          </a:xfrm>
          <a:prstGeom prst="rect">
            <a:avLst/>
          </a:prstGeom>
          <a:solidFill>
            <a:srgbClr val="F3F5F8"/>
          </a:solidFill>
          <a:ln>
            <a:noFill/>
          </a:ln>
        </p:spPr>
      </p:sp>
      <p:sp>
        <p:nvSpPr>
          <p:cNvPr id="7" name="frame-depth/drawing/frame-depth-content/backdrop-right"/>
          <p:cNvSpPr/>
          <p:nvPr/>
        </p:nvSpPr>
        <p:spPr>
          <a:xfrm>
            <a:off x="6438900" y="1943100"/>
            <a:ext cx="5295900" cy="2895600"/>
          </a:xfrm>
          <a:prstGeom prst="rect">
            <a:avLst/>
          </a:prstGeom>
          <a:solidFill>
            <a:srgbClr val="F3F5F8"/>
          </a:solidFill>
          <a:ln>
            <a:noFill/>
          </a:ln>
        </p:spPr>
      </p:sp>
      <p:sp>
        <p:nvSpPr>
          <p:cNvPr id="8" name="frame-depth/drawing/frame-depth-content/outline-paper"/>
          <p:cNvSpPr/>
          <p:nvPr/>
        </p:nvSpPr>
        <p:spPr>
          <a:xfrm>
            <a:off x="609600" y="2095500"/>
            <a:ext cx="4991100" cy="2514600"/>
          </a:xfrm>
          <a:prstGeom prst="roundRect">
            <a:avLst>
              <a:gd name="adj" fmla="val 1515"/>
            </a:avLst>
          </a:prstGeom>
          <a:solidFill>
            <a:srgbClr val="FFFFFF"/>
          </a:solidFill>
          <a:ln w="13335">
            <a:solidFill>
              <a:srgbClr val="AAB8C9"/>
            </a:solidFill>
            <a:prstDash val="solid"/>
          </a:ln>
          <a:effectLst>
            <a:outerShdw sx="100000" sy="100000" kx="0" ky="0" algn="bl" rotWithShape="0" blurRad="38100" dist="19050" dir="5400000">
              <a:srgbClr val="17243A">
                <a:alpha val="14000"/>
              </a:srgbClr>
            </a:outerShdw>
          </a:effectLst>
        </p:spPr>
      </p:sp>
      <p:sp>
        <p:nvSpPr>
          <p:cNvPr id="9" name="frame-depth/drawing/frame-depth-content/shadow-paper"/>
          <p:cNvSpPr/>
          <p:nvPr/>
        </p:nvSpPr>
        <p:spPr>
          <a:xfrm>
            <a:off x="6591300" y="2095500"/>
            <a:ext cx="4991100" cy="2514600"/>
          </a:xfrm>
          <a:prstGeom prst="roundRect">
            <a:avLst>
              <a:gd name="adj" fmla="val 379"/>
            </a:avLst>
          </a:prstGeom>
          <a:solidFill>
            <a:srgbClr val="FFFFFF"/>
          </a:solidFill>
          <a:ln>
            <a:noFill/>
          </a:ln>
          <a:effectLst>
            <a:outerShdw sx="100000" sy="100000" kx="0" ky="0" algn="bl" rotWithShape="0" blurRad="38100" dist="19050" dir="5400000">
              <a:srgbClr val="17243A">
                <a:alpha val="14000"/>
              </a:srgbClr>
            </a:outerShdw>
          </a:effectLst>
        </p:spPr>
      </p:sp>
      <p:sp>
        <p:nvSpPr>
          <p:cNvPr id="10" name="frame-depth/drawing/frame-depth-content/outline-heading"/>
          <p:cNvSpPr/>
          <p:nvPr/>
        </p:nvSpPr>
        <p:spPr>
          <a:xfrm>
            <a:off x="838200" y="2324100"/>
            <a:ext cx="447675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90"/>
              </a:lnSpc>
              <a:buNone/>
            </a:pPr>
            <a:r>
              <a:rPr lang="zh-CN" altLang="en-US" sz="2325" b="1" dirty="0">
                <a:solidFill>
                  <a:srgbClr val="003E87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证据面板</a:t>
            </a:r>
            <a:endParaRPr lang="zh-CN" sz="2325" dirty="0"/>
          </a:p>
        </p:txBody>
      </p:sp>
      <p:sp>
        <p:nvSpPr>
          <p:cNvPr id="11" name="frame-depth/drawing/frame-depth-content/outline-body"/>
          <p:cNvSpPr/>
          <p:nvPr/>
        </p:nvSpPr>
        <p:spPr>
          <a:xfrm>
            <a:off x="838200" y="2943225"/>
            <a:ext cx="4476750" cy="1028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zh-CN" altLang="en-US" sz="2025" dirty="0">
                <a:solidFill>
                  <a:srgbClr val="17243A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原图、图例与解释属于同一证据组。</a:t>
            </a:r>
            <a:endParaRPr lang="zh-CN" sz="2025" dirty="0"/>
          </a:p>
          <a:p>
            <a:pPr algn="l" indent="0" marL="0">
              <a:lnSpc>
                <a:spcPts val="2430"/>
              </a:lnSpc>
              <a:buNone/>
            </a:pPr>
            <a:r>
              <a:rPr lang="zh-CN" altLang="en-US" sz="2025" dirty="0">
                <a:solidFill>
                  <a:srgbClr val="17243A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白色纸面承托内容，细线限定范围，</a:t>
            </a:r>
            <a:endParaRPr lang="zh-CN" sz="2025" dirty="0"/>
          </a:p>
          <a:p>
            <a:pPr algn="l" indent="0" marL="0">
              <a:lnSpc>
                <a:spcPts val="2430"/>
              </a:lnSpc>
              <a:buNone/>
            </a:pPr>
            <a:r>
              <a:rPr lang="zh-CN" altLang="en-US" sz="2025" dirty="0">
                <a:solidFill>
                  <a:srgbClr val="17243A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轻阴影使它与背景略有分离。</a:t>
            </a:r>
            <a:endParaRPr lang="zh-CN" sz="2025" dirty="0"/>
          </a:p>
        </p:txBody>
      </p:sp>
      <p:sp>
        <p:nvSpPr>
          <p:cNvPr id="12" name="frame-depth/drawing/frame-depth-content/outline-tail"/>
          <p:cNvSpPr/>
          <p:nvPr/>
        </p:nvSpPr>
        <p:spPr>
          <a:xfrm>
            <a:off x="838200" y="4086225"/>
            <a:ext cx="447675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606A77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阴影不表示证据更可靠</a:t>
            </a:r>
            <a:endParaRPr lang="zh-CN" sz="1800" dirty="0"/>
          </a:p>
        </p:txBody>
      </p:sp>
      <p:sp>
        <p:nvSpPr>
          <p:cNvPr id="13" name="frame-depth/drawing/frame-depth-content/shadow-heading"/>
          <p:cNvSpPr/>
          <p:nvPr/>
        </p:nvSpPr>
        <p:spPr>
          <a:xfrm>
            <a:off x="6819900" y="2324100"/>
            <a:ext cx="447675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90"/>
              </a:lnSpc>
              <a:buNone/>
            </a:pPr>
            <a:r>
              <a:rPr lang="zh-CN" altLang="en-US" sz="2325" b="1" dirty="0">
                <a:solidFill>
                  <a:srgbClr val="003E87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图旁说明</a:t>
            </a:r>
            <a:endParaRPr lang="zh-CN" sz="2325" dirty="0"/>
          </a:p>
        </p:txBody>
      </p:sp>
      <p:sp>
        <p:nvSpPr>
          <p:cNvPr id="14" name="frame-depth/drawing/frame-depth-content/shadow-body"/>
          <p:cNvSpPr/>
          <p:nvPr/>
        </p:nvSpPr>
        <p:spPr>
          <a:xfrm>
            <a:off x="6819900" y="2943225"/>
            <a:ext cx="4476750" cy="1028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zh-CN" altLang="en-US" sz="2025" dirty="0">
                <a:solidFill>
                  <a:srgbClr val="17243A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说明放在所解释的图旁。</a:t>
            </a:r>
            <a:endParaRPr lang="zh-CN" sz="2025" dirty="0"/>
          </a:p>
          <a:p>
            <a:pPr algn="l" indent="0" marL="0">
              <a:lnSpc>
                <a:spcPts val="2430"/>
              </a:lnSpc>
              <a:buNone/>
            </a:pPr>
            <a:r>
              <a:rPr lang="zh-CN" altLang="en-US" sz="2025" dirty="0">
                <a:solidFill>
                  <a:srgbClr val="17243A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省去可见边线，保留纸面层次。</a:t>
            </a:r>
            <a:endParaRPr lang="zh-CN" sz="2025" dirty="0"/>
          </a:p>
          <a:p>
            <a:pPr algn="l" indent="0" marL="0">
              <a:lnSpc>
                <a:spcPts val="2430"/>
              </a:lnSpc>
              <a:buNone/>
            </a:pPr>
            <a:r>
              <a:rPr lang="zh-CN" altLang="en-US" sz="2025" dirty="0">
                <a:solidFill>
                  <a:srgbClr val="17243A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关键条件仍用可读的正文表达。</a:t>
            </a:r>
            <a:endParaRPr lang="zh-CN" sz="2025" dirty="0"/>
          </a:p>
        </p:txBody>
      </p:sp>
      <p:sp>
        <p:nvSpPr>
          <p:cNvPr id="15" name="frame-depth/drawing/frame-depth-content/shadow-tail"/>
          <p:cNvSpPr/>
          <p:nvPr/>
        </p:nvSpPr>
        <p:spPr>
          <a:xfrm>
            <a:off x="6819900" y="4086225"/>
            <a:ext cx="447675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606A77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不要给每一层都加阴影</a:t>
            </a:r>
            <a:endParaRPr lang="zh-CN" sz="1800" dirty="0"/>
          </a:p>
        </p:txBody>
      </p:sp>
      <p:sp>
        <p:nvSpPr>
          <p:cNvPr id="16" name="frame-depth/drawing/frame-depth-content/outline-note"/>
          <p:cNvSpPr/>
          <p:nvPr/>
        </p:nvSpPr>
        <p:spPr>
          <a:xfrm>
            <a:off x="457200" y="5133975"/>
            <a:ext cx="5295900" cy="838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606A77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灰蓝 1.2px 边线，阴影 opacity 0.14、blur 4</a:t>
            </a:r>
            <a:endParaRPr lang="zh-CN" sz="1800" dirty="0"/>
          </a:p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606A77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px、offset 2px。</a:t>
            </a:r>
            <a:endParaRPr lang="zh-CN" sz="1800" dirty="0"/>
          </a:p>
        </p:txBody>
      </p:sp>
      <p:sp>
        <p:nvSpPr>
          <p:cNvPr id="17" name="frame-depth/drawing/frame-depth-content/shadow-note"/>
          <p:cNvSpPr/>
          <p:nvPr/>
        </p:nvSpPr>
        <p:spPr>
          <a:xfrm>
            <a:off x="6438900" y="5133975"/>
            <a:ext cx="5295900" cy="838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606A77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同一阴影参数；stroke:none。组间留白防止阴影</a:t>
            </a:r>
            <a:endParaRPr lang="zh-CN" sz="1800" dirty="0"/>
          </a:p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606A77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连成脏边。</a:t>
            </a:r>
            <a:endParaRPr lang="zh-CN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-titles/page-number"/>
          <p:cNvSpPr/>
          <p:nvPr/>
        </p:nvSpPr>
        <p:spPr>
          <a:xfrm>
            <a:off x="10744200" y="6534150"/>
            <a:ext cx="9906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728"/>
              </a:lnSpc>
              <a:buNone/>
            </a:pPr>
            <a:r>
              <a:rPr lang="zh-CN" altLang="en-US" sz="1350" dirty="0">
                <a:solidFill>
                  <a:srgbClr val="606A77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03 / 04</a:t>
            </a:r>
            <a:endParaRPr lang="zh-CN" sz="1350" dirty="0"/>
          </a:p>
        </p:txBody>
      </p:sp>
      <p:sp>
        <p:nvSpPr>
          <p:cNvPr id="3" name="frame-titles/title"/>
          <p:cNvSpPr/>
          <p:nvPr/>
        </p:nvSpPr>
        <p:spPr>
          <a:xfrm>
            <a:off x="457200" y="419100"/>
            <a:ext cx="11277600" cy="552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78"/>
              </a:lnSpc>
              <a:buNone/>
            </a:pPr>
            <a:r>
              <a:rPr lang="zh-CN" altLang="en-US" sz="2850" b="1" dirty="0">
                <a:solidFill>
                  <a:srgbClr val="17243A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03  阅读入口：覆边题签与侧签</a:t>
            </a:r>
            <a:endParaRPr lang="zh-CN" sz="2850" dirty="0"/>
          </a:p>
        </p:txBody>
      </p:sp>
      <p:sp>
        <p:nvSpPr>
          <p:cNvPr id="4" name="frame-titles/drawing/frame-titles-content/floating-label"/>
          <p:cNvSpPr/>
          <p:nvPr/>
        </p:nvSpPr>
        <p:spPr>
          <a:xfrm>
            <a:off x="457200" y="1295400"/>
            <a:ext cx="529590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10"/>
              </a:lnSpc>
              <a:buNone/>
            </a:pPr>
            <a:r>
              <a:rPr lang="zh-CN" altLang="en-US" sz="2175" b="1" dirty="0">
                <a:solidFill>
                  <a:srgbClr val="003E87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短题签跨过上边框</a:t>
            </a:r>
            <a:endParaRPr lang="zh-CN" sz="2175" dirty="0"/>
          </a:p>
        </p:txBody>
      </p:sp>
      <p:sp>
        <p:nvSpPr>
          <p:cNvPr id="5" name="frame-titles/drawing/frame-titles-content/rail-label"/>
          <p:cNvSpPr/>
          <p:nvPr/>
        </p:nvSpPr>
        <p:spPr>
          <a:xfrm>
            <a:off x="6438900" y="1295400"/>
            <a:ext cx="529590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10"/>
              </a:lnSpc>
              <a:buNone/>
            </a:pPr>
            <a:r>
              <a:rPr lang="zh-CN" altLang="en-US" sz="2175" b="1" dirty="0">
                <a:solidFill>
                  <a:srgbClr val="003E87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条件名与内容逐行对应</a:t>
            </a:r>
            <a:endParaRPr lang="zh-CN" sz="2175" dirty="0"/>
          </a:p>
        </p:txBody>
      </p:sp>
      <p:sp>
        <p:nvSpPr>
          <p:cNvPr id="6" name="frame-titles/drawing/frame-titles-content/floating-frame"/>
          <p:cNvSpPr/>
          <p:nvPr/>
        </p:nvSpPr>
        <p:spPr>
          <a:xfrm>
            <a:off x="476250" y="2228850"/>
            <a:ext cx="5238750" cy="2543175"/>
          </a:xfrm>
          <a:prstGeom prst="roundRect">
            <a:avLst>
              <a:gd name="adj" fmla="val 1498"/>
            </a:avLst>
          </a:prstGeom>
          <a:solidFill>
            <a:srgbClr val="FFFFFF"/>
          </a:solidFill>
          <a:ln w="13335">
            <a:solidFill>
              <a:srgbClr val="AAB8C9"/>
            </a:solidFill>
            <a:prstDash val="solid"/>
          </a:ln>
          <a:effectLst>
            <a:outerShdw sx="100000" sy="100000" kx="0" ky="0" algn="bl" rotWithShape="0" blurRad="38100" dist="19050" dir="5400000">
              <a:srgbClr val="17243A">
                <a:alpha val="14000"/>
              </a:srgbClr>
            </a:outerShdw>
          </a:effectLst>
        </p:spPr>
      </p:sp>
      <p:sp>
        <p:nvSpPr>
          <p:cNvPr id="7" name="frame-titles/drawing/frame-titles-content/floating-tab-paper"/>
          <p:cNvSpPr/>
          <p:nvPr/>
        </p:nvSpPr>
        <p:spPr>
          <a:xfrm>
            <a:off x="685800" y="2009775"/>
            <a:ext cx="1676400" cy="400050"/>
          </a:xfrm>
          <a:prstGeom prst="rect">
            <a:avLst/>
          </a:prstGeom>
          <a:solidFill>
            <a:srgbClr val="003E87"/>
          </a:solidFill>
          <a:ln>
            <a:noFill/>
          </a:ln>
        </p:spPr>
      </p:sp>
      <p:sp>
        <p:nvSpPr>
          <p:cNvPr id="8" name="frame-titles/drawing/frame-titles-content/floating-tab-text"/>
          <p:cNvSpPr/>
          <p:nvPr/>
        </p:nvSpPr>
        <p:spPr>
          <a:xfrm>
            <a:off x="819150" y="2038350"/>
            <a:ext cx="14097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b="1" dirty="0">
                <a:solidFill>
                  <a:srgbClr val="FFFFFF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研究问题</a:t>
            </a:r>
            <a:endParaRPr lang="zh-CN" sz="2100" dirty="0"/>
          </a:p>
        </p:txBody>
      </p:sp>
      <p:sp>
        <p:nvSpPr>
          <p:cNvPr id="9" name="frame-titles/drawing/frame-titles-content/floating-body"/>
          <p:cNvSpPr/>
          <p:nvPr/>
        </p:nvSpPr>
        <p:spPr>
          <a:xfrm>
            <a:off x="704850" y="2781300"/>
            <a:ext cx="4762500" cy="1057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10"/>
              </a:lnSpc>
              <a:buNone/>
            </a:pPr>
            <a:r>
              <a:rPr lang="zh-CN" altLang="en-US" sz="2175" dirty="0">
                <a:solidFill>
                  <a:srgbClr val="17243A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题签命名当前证据组，</a:t>
            </a:r>
            <a:endParaRPr lang="zh-CN" sz="2175" dirty="0"/>
          </a:p>
          <a:p>
            <a:pPr algn="l" indent="0" marL="0">
              <a:lnSpc>
                <a:spcPts val="2610"/>
              </a:lnSpc>
              <a:buNone/>
            </a:pPr>
            <a:r>
              <a:rPr lang="zh-CN" altLang="en-US" sz="2175" dirty="0">
                <a:solidFill>
                  <a:srgbClr val="17243A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正文从题签下方另起，</a:t>
            </a:r>
            <a:endParaRPr lang="zh-CN" sz="2175" dirty="0"/>
          </a:p>
          <a:p>
            <a:pPr algn="l" indent="0" marL="0">
              <a:lnSpc>
                <a:spcPts val="2610"/>
              </a:lnSpc>
              <a:buNone/>
            </a:pPr>
            <a:r>
              <a:rPr lang="zh-CN" altLang="en-US" sz="2175" dirty="0">
                <a:solidFill>
                  <a:srgbClr val="17243A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避免边线穿过文字。</a:t>
            </a:r>
            <a:endParaRPr lang="zh-CN" sz="2175" dirty="0"/>
          </a:p>
        </p:txBody>
      </p:sp>
      <p:sp>
        <p:nvSpPr>
          <p:cNvPr id="10" name="frame-titles/drawing/frame-titles-content/floating-sep/segment-1"/>
          <p:cNvSpPr/>
          <p:nvPr/>
        </p:nvSpPr>
        <p:spPr>
          <a:xfrm>
            <a:off x="704850" y="4076700"/>
            <a:ext cx="4781550" cy="0"/>
          </a:xfrm>
          <a:prstGeom prst="line">
            <a:avLst/>
          </a:prstGeom>
          <a:noFill/>
          <a:ln w="11430">
            <a:solidFill>
              <a:srgbClr val="AAB8C9"/>
            </a:solidFill>
            <a:prstDash val="solid"/>
          </a:ln>
        </p:spPr>
      </p:sp>
      <p:sp>
        <p:nvSpPr>
          <p:cNvPr id="11" name="frame-titles/drawing/frame-titles-content/floating-bottom"/>
          <p:cNvSpPr/>
          <p:nvPr/>
        </p:nvSpPr>
        <p:spPr>
          <a:xfrm>
            <a:off x="704850" y="4257675"/>
            <a:ext cx="47625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zh-CN" altLang="en-US" sz="1950" dirty="0">
                <a:solidFill>
                  <a:srgbClr val="606A77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较长题名改用开放标题</a:t>
            </a:r>
            <a:endParaRPr lang="zh-CN" sz="1950" dirty="0"/>
          </a:p>
        </p:txBody>
      </p:sp>
      <p:sp>
        <p:nvSpPr>
          <p:cNvPr id="12" name="frame-titles/drawing/frame-titles-content/rail-frame"/>
          <p:cNvSpPr/>
          <p:nvPr/>
        </p:nvSpPr>
        <p:spPr>
          <a:xfrm>
            <a:off x="6457950" y="2228850"/>
            <a:ext cx="5238750" cy="2543175"/>
          </a:xfrm>
          <a:prstGeom prst="rect">
            <a:avLst/>
          </a:prstGeom>
          <a:solidFill>
            <a:srgbClr val="FFFFFF"/>
          </a:solidFill>
          <a:ln w="13335">
            <a:solidFill>
              <a:srgbClr val="AAB8C9"/>
            </a:solidFill>
            <a:prstDash val="solid"/>
          </a:ln>
        </p:spPr>
      </p:sp>
      <p:sp>
        <p:nvSpPr>
          <p:cNvPr id="13" name="frame-titles/drawing/frame-titles-content/rail-paper"/>
          <p:cNvSpPr/>
          <p:nvPr/>
        </p:nvSpPr>
        <p:spPr>
          <a:xfrm>
            <a:off x="6457950" y="2228850"/>
            <a:ext cx="1066800" cy="2543175"/>
          </a:xfrm>
          <a:prstGeom prst="rect">
            <a:avLst/>
          </a:prstGeom>
          <a:solidFill>
            <a:srgbClr val="003E87"/>
          </a:solidFill>
          <a:ln>
            <a:noFill/>
          </a:ln>
        </p:spPr>
      </p:sp>
      <p:sp>
        <p:nvSpPr>
          <p:cNvPr id="14" name="frame-titles/drawing/frame-titles-content/rail-heading"/>
          <p:cNvSpPr/>
          <p:nvPr/>
        </p:nvSpPr>
        <p:spPr>
          <a:xfrm>
            <a:off x="6619875" y="2924175"/>
            <a:ext cx="742950" cy="895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zh-CN" altLang="en-US" sz="2250" b="1" dirty="0">
                <a:solidFill>
                  <a:srgbClr val="FFFFFF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比较</a:t>
            </a:r>
            <a:endParaRPr lang="zh-CN" sz="2250" dirty="0"/>
          </a:p>
          <a:p>
            <a:pPr algn="ctr" indent="0" marL="0">
              <a:lnSpc>
                <a:spcPts val="2700"/>
              </a:lnSpc>
              <a:buNone/>
            </a:pPr>
            <a:r>
              <a:rPr lang="zh-CN" altLang="en-US" sz="2250" b="1" dirty="0">
                <a:solidFill>
                  <a:srgbClr val="FFFFFF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条件</a:t>
            </a:r>
            <a:endParaRPr lang="zh-CN" sz="2250" dirty="0"/>
          </a:p>
        </p:txBody>
      </p:sp>
      <p:sp>
        <p:nvSpPr>
          <p:cNvPr id="15" name="frame-titles/drawing/frame-titles-content/condition-1"/>
          <p:cNvSpPr/>
          <p:nvPr/>
        </p:nvSpPr>
        <p:spPr>
          <a:xfrm>
            <a:off x="7753350" y="2476500"/>
            <a:ext cx="85725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zh-CN" altLang="en-US" sz="2025" b="1" dirty="0">
                <a:solidFill>
                  <a:srgbClr val="003E87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对象</a:t>
            </a:r>
            <a:endParaRPr lang="zh-CN" sz="2025" dirty="0"/>
          </a:p>
        </p:txBody>
      </p:sp>
      <p:sp>
        <p:nvSpPr>
          <p:cNvPr id="16" name="frame-titles/drawing/frame-titles-content/condition-1-value"/>
          <p:cNvSpPr/>
          <p:nvPr/>
        </p:nvSpPr>
        <p:spPr>
          <a:xfrm>
            <a:off x="8877300" y="2476500"/>
            <a:ext cx="257175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zh-CN" altLang="en-US" sz="2025" dirty="0">
                <a:solidFill>
                  <a:srgbClr val="17243A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同一研究范围</a:t>
            </a:r>
            <a:endParaRPr lang="zh-CN" sz="2025" dirty="0"/>
          </a:p>
        </p:txBody>
      </p:sp>
      <p:sp>
        <p:nvSpPr>
          <p:cNvPr id="17" name="frame-titles/drawing/frame-titles-content/rail-sep-1/segment-1"/>
          <p:cNvSpPr/>
          <p:nvPr/>
        </p:nvSpPr>
        <p:spPr>
          <a:xfrm>
            <a:off x="7753350" y="2971800"/>
            <a:ext cx="3695700" cy="0"/>
          </a:xfrm>
          <a:prstGeom prst="line">
            <a:avLst/>
          </a:prstGeom>
          <a:noFill/>
          <a:ln w="11430">
            <a:solidFill>
              <a:srgbClr val="AAB8C9"/>
            </a:solidFill>
            <a:prstDash val="solid"/>
          </a:ln>
        </p:spPr>
      </p:sp>
      <p:sp>
        <p:nvSpPr>
          <p:cNvPr id="18" name="frame-titles/drawing/frame-titles-content/condition-2"/>
          <p:cNvSpPr/>
          <p:nvPr/>
        </p:nvSpPr>
        <p:spPr>
          <a:xfrm>
            <a:off x="7753350" y="3190875"/>
            <a:ext cx="85725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zh-CN" altLang="en-US" sz="2025" b="1" dirty="0">
                <a:solidFill>
                  <a:srgbClr val="003E87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窗口</a:t>
            </a:r>
            <a:endParaRPr lang="zh-CN" sz="2025" dirty="0"/>
          </a:p>
        </p:txBody>
      </p:sp>
      <p:sp>
        <p:nvSpPr>
          <p:cNvPr id="19" name="frame-titles/drawing/frame-titles-content/condition-2-value"/>
          <p:cNvSpPr/>
          <p:nvPr/>
        </p:nvSpPr>
        <p:spPr>
          <a:xfrm>
            <a:off x="8877300" y="3190875"/>
            <a:ext cx="257175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zh-CN" altLang="en-US" sz="2025" dirty="0">
                <a:solidFill>
                  <a:srgbClr val="17243A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同一观察时段</a:t>
            </a:r>
            <a:endParaRPr lang="zh-CN" sz="2025" dirty="0"/>
          </a:p>
        </p:txBody>
      </p:sp>
      <p:sp>
        <p:nvSpPr>
          <p:cNvPr id="20" name="frame-titles/drawing/frame-titles-content/rail-sep-2/segment-1"/>
          <p:cNvSpPr/>
          <p:nvPr/>
        </p:nvSpPr>
        <p:spPr>
          <a:xfrm>
            <a:off x="7753350" y="3686175"/>
            <a:ext cx="3695700" cy="0"/>
          </a:xfrm>
          <a:prstGeom prst="line">
            <a:avLst/>
          </a:prstGeom>
          <a:noFill/>
          <a:ln w="11430">
            <a:solidFill>
              <a:srgbClr val="AAB8C9"/>
            </a:solidFill>
            <a:prstDash val="solid"/>
          </a:ln>
        </p:spPr>
      </p:sp>
      <p:sp>
        <p:nvSpPr>
          <p:cNvPr id="21" name="frame-titles/drawing/frame-titles-content/condition-3"/>
          <p:cNvSpPr/>
          <p:nvPr/>
        </p:nvSpPr>
        <p:spPr>
          <a:xfrm>
            <a:off x="7753350" y="3905250"/>
            <a:ext cx="85725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zh-CN" altLang="en-US" sz="2025" b="1" dirty="0">
                <a:solidFill>
                  <a:srgbClr val="003E87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口径</a:t>
            </a:r>
            <a:endParaRPr lang="zh-CN" sz="2025" dirty="0"/>
          </a:p>
        </p:txBody>
      </p:sp>
      <p:sp>
        <p:nvSpPr>
          <p:cNvPr id="22" name="frame-titles/drawing/frame-titles-content/condition-3-value"/>
          <p:cNvSpPr/>
          <p:nvPr/>
        </p:nvSpPr>
        <p:spPr>
          <a:xfrm>
            <a:off x="8877300" y="3905250"/>
            <a:ext cx="257175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zh-CN" altLang="en-US" sz="2025" dirty="0">
                <a:solidFill>
                  <a:srgbClr val="17243A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明确单位与分母</a:t>
            </a:r>
            <a:endParaRPr lang="zh-CN" sz="2025" dirty="0"/>
          </a:p>
        </p:txBody>
      </p:sp>
      <p:sp>
        <p:nvSpPr>
          <p:cNvPr id="23" name="frame-titles/drawing/frame-titles-content/floating-note"/>
          <p:cNvSpPr/>
          <p:nvPr/>
        </p:nvSpPr>
        <p:spPr>
          <a:xfrm>
            <a:off x="457200" y="5133975"/>
            <a:ext cx="5295900" cy="838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606A77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题签下面的边线被覆盖；文字、题签与外框都是可编</a:t>
            </a:r>
            <a:endParaRPr lang="zh-CN" sz="1800" dirty="0"/>
          </a:p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606A77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辑对象。</a:t>
            </a:r>
            <a:endParaRPr lang="zh-CN" sz="1800" dirty="0"/>
          </a:p>
        </p:txBody>
      </p:sp>
      <p:sp>
        <p:nvSpPr>
          <p:cNvPr id="24" name="frame-titles/drawing/frame-titles-content/rail-note"/>
          <p:cNvSpPr/>
          <p:nvPr/>
        </p:nvSpPr>
        <p:spPr>
          <a:xfrm>
            <a:off x="6438900" y="5133975"/>
            <a:ext cx="5295900" cy="838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606A77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侧签只放短组名。行高由内容决定，不把长中文逐字</a:t>
            </a:r>
            <a:endParaRPr lang="zh-CN" sz="1800" dirty="0"/>
          </a:p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606A77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竖排。</a:t>
            </a:r>
            <a:endParaRPr lang="zh-CN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-nesting/page-number"/>
          <p:cNvSpPr/>
          <p:nvPr/>
        </p:nvSpPr>
        <p:spPr>
          <a:xfrm>
            <a:off x="10744200" y="6534150"/>
            <a:ext cx="9906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728"/>
              </a:lnSpc>
              <a:buNone/>
            </a:pPr>
            <a:r>
              <a:rPr lang="zh-CN" altLang="en-US" sz="1350" dirty="0">
                <a:solidFill>
                  <a:srgbClr val="606A77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04 / 04</a:t>
            </a:r>
            <a:endParaRPr lang="zh-CN" sz="1350" dirty="0"/>
          </a:p>
        </p:txBody>
      </p:sp>
      <p:sp>
        <p:nvSpPr>
          <p:cNvPr id="3" name="frame-nesting/title"/>
          <p:cNvSpPr/>
          <p:nvPr/>
        </p:nvSpPr>
        <p:spPr>
          <a:xfrm>
            <a:off x="457200" y="419100"/>
            <a:ext cx="11277600" cy="552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78"/>
              </a:lnSpc>
              <a:buNone/>
            </a:pPr>
            <a:r>
              <a:rPr lang="zh-CN" altLang="en-US" sz="2850" b="1" dirty="0">
                <a:solidFill>
                  <a:srgbClr val="17243A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04  外层范围、内部模块与开放注释</a:t>
            </a:r>
            <a:endParaRPr lang="zh-CN" sz="2850" dirty="0"/>
          </a:p>
        </p:txBody>
      </p:sp>
      <p:sp>
        <p:nvSpPr>
          <p:cNvPr id="4" name="frame-nesting/drawing/frame-nesting-content/nesting-label"/>
          <p:cNvSpPr/>
          <p:nvPr/>
        </p:nvSpPr>
        <p:spPr>
          <a:xfrm>
            <a:off x="457200" y="1295400"/>
            <a:ext cx="693420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10"/>
              </a:lnSpc>
              <a:buNone/>
            </a:pPr>
            <a:r>
              <a:rPr lang="zh-CN" altLang="en-US" sz="2175" b="1" dirty="0">
                <a:solidFill>
                  <a:srgbClr val="003E87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共同范围中的方法模块</a:t>
            </a:r>
            <a:endParaRPr lang="zh-CN" sz="2175" dirty="0"/>
          </a:p>
        </p:txBody>
      </p:sp>
      <p:sp>
        <p:nvSpPr>
          <p:cNvPr id="5" name="frame-nesting/drawing/frame-nesting-content/open-label"/>
          <p:cNvSpPr/>
          <p:nvPr/>
        </p:nvSpPr>
        <p:spPr>
          <a:xfrm>
            <a:off x="8001000" y="1295400"/>
            <a:ext cx="373380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10"/>
              </a:lnSpc>
              <a:buNone/>
            </a:pPr>
            <a:r>
              <a:rPr lang="zh-CN" altLang="en-US" sz="2175" b="1" dirty="0">
                <a:solidFill>
                  <a:srgbClr val="003E87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证据旁的开放解释</a:t>
            </a:r>
            <a:endParaRPr lang="zh-CN" sz="2175" dirty="0"/>
          </a:p>
        </p:txBody>
      </p:sp>
      <p:sp>
        <p:nvSpPr>
          <p:cNvPr id="6" name="frame-nesting/drawing/frame-nesting-content/outer-scope"/>
          <p:cNvSpPr/>
          <p:nvPr/>
        </p:nvSpPr>
        <p:spPr>
          <a:xfrm>
            <a:off x="476250" y="2085975"/>
            <a:ext cx="6991350" cy="2790825"/>
          </a:xfrm>
          <a:prstGeom prst="roundRect">
            <a:avLst>
              <a:gd name="adj" fmla="val 1706"/>
            </a:avLst>
          </a:prstGeom>
          <a:noFill/>
          <a:ln w="17145">
            <a:solidFill>
              <a:srgbClr val="023160"/>
            </a:solidFill>
            <a:prstDash val="dash"/>
          </a:ln>
        </p:spPr>
      </p:sp>
      <p:sp>
        <p:nvSpPr>
          <p:cNvPr id="7" name="frame-nesting/drawing/frame-nesting-content/outer-title-paper"/>
          <p:cNvSpPr/>
          <p:nvPr/>
        </p:nvSpPr>
        <p:spPr>
          <a:xfrm>
            <a:off x="666750" y="1914525"/>
            <a:ext cx="2905125" cy="3619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8" name="frame-nesting/drawing/frame-nesting-content/outer-title-text"/>
          <p:cNvSpPr/>
          <p:nvPr/>
        </p:nvSpPr>
        <p:spPr>
          <a:xfrm>
            <a:off x="762000" y="1943100"/>
            <a:ext cx="2714625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zh-CN" altLang="en-US" sz="2025" b="1" dirty="0">
                <a:solidFill>
                  <a:srgbClr val="023160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验证方案 · 结构示意</a:t>
            </a:r>
            <a:endParaRPr lang="zh-CN" sz="2025" dirty="0"/>
          </a:p>
        </p:txBody>
      </p:sp>
      <p:sp>
        <p:nvSpPr>
          <p:cNvPr id="9" name="frame-nesting/drawing/frame-nesting-content/input"/>
          <p:cNvSpPr/>
          <p:nvPr/>
        </p:nvSpPr>
        <p:spPr>
          <a:xfrm>
            <a:off x="723900" y="2657475"/>
            <a:ext cx="2476500" cy="1400175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3335">
            <a:solidFill>
              <a:srgbClr val="AAB8C9"/>
            </a:solidFill>
            <a:prstDash val="solid"/>
          </a:ln>
        </p:spPr>
      </p:sp>
      <p:sp>
        <p:nvSpPr>
          <p:cNvPr id="10" name="frame-nesting/drawing/frame-nesting-content/input-title-paper"/>
          <p:cNvSpPr/>
          <p:nvPr/>
        </p:nvSpPr>
        <p:spPr>
          <a:xfrm>
            <a:off x="723900" y="2657475"/>
            <a:ext cx="2476500" cy="400050"/>
          </a:xfrm>
          <a:prstGeom prst="rect">
            <a:avLst/>
          </a:prstGeom>
          <a:solidFill>
            <a:srgbClr val="003E87"/>
          </a:solidFill>
          <a:ln>
            <a:noFill/>
          </a:ln>
        </p:spPr>
      </p:sp>
      <p:sp>
        <p:nvSpPr>
          <p:cNvPr id="11" name="frame-nesting/drawing/frame-nesting-content/input-title-text"/>
          <p:cNvSpPr/>
          <p:nvPr/>
        </p:nvSpPr>
        <p:spPr>
          <a:xfrm>
            <a:off x="857250" y="2686050"/>
            <a:ext cx="22098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b="1" dirty="0">
                <a:solidFill>
                  <a:srgbClr val="FFFFFF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输入与定义</a:t>
            </a:r>
            <a:endParaRPr lang="zh-CN" sz="2100" dirty="0"/>
          </a:p>
        </p:txBody>
      </p:sp>
      <p:sp>
        <p:nvSpPr>
          <p:cNvPr id="12" name="frame-nesting/drawing/frame-nesting-content/input-body"/>
          <p:cNvSpPr/>
          <p:nvPr/>
        </p:nvSpPr>
        <p:spPr>
          <a:xfrm>
            <a:off x="914400" y="3267075"/>
            <a:ext cx="20955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zh-CN" altLang="en-US" sz="1950" dirty="0">
                <a:solidFill>
                  <a:srgbClr val="17243A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研究对象</a:t>
            </a:r>
            <a:endParaRPr lang="zh-CN" sz="1950" dirty="0"/>
          </a:p>
          <a:p>
            <a:pPr algn="l" indent="0" marL="0">
              <a:lnSpc>
                <a:spcPts val="2340"/>
              </a:lnSpc>
              <a:buNone/>
            </a:pPr>
            <a:r>
              <a:rPr lang="zh-CN" altLang="en-US" sz="1950" dirty="0">
                <a:solidFill>
                  <a:srgbClr val="17243A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观测窗口与变量</a:t>
            </a:r>
            <a:endParaRPr lang="zh-CN" sz="1950" dirty="0"/>
          </a:p>
        </p:txBody>
      </p:sp>
      <p:sp>
        <p:nvSpPr>
          <p:cNvPr id="13" name="frame-nesting/drawing/frame-nesting-content/output"/>
          <p:cNvSpPr/>
          <p:nvPr/>
        </p:nvSpPr>
        <p:spPr>
          <a:xfrm>
            <a:off x="4686300" y="2657475"/>
            <a:ext cx="2476500" cy="1400175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3335">
            <a:solidFill>
              <a:srgbClr val="AAB8C9"/>
            </a:solidFill>
            <a:prstDash val="solid"/>
          </a:ln>
        </p:spPr>
      </p:sp>
      <p:sp>
        <p:nvSpPr>
          <p:cNvPr id="14" name="frame-nesting/drawing/frame-nesting-content/output-title-paper"/>
          <p:cNvSpPr/>
          <p:nvPr/>
        </p:nvSpPr>
        <p:spPr>
          <a:xfrm>
            <a:off x="4686300" y="2657475"/>
            <a:ext cx="2476500" cy="400050"/>
          </a:xfrm>
          <a:prstGeom prst="rect">
            <a:avLst/>
          </a:prstGeom>
          <a:solidFill>
            <a:srgbClr val="003E87"/>
          </a:solidFill>
          <a:ln>
            <a:noFill/>
          </a:ln>
        </p:spPr>
      </p:sp>
      <p:sp>
        <p:nvSpPr>
          <p:cNvPr id="15" name="frame-nesting/drawing/frame-nesting-content/output-title-text"/>
          <p:cNvSpPr/>
          <p:nvPr/>
        </p:nvSpPr>
        <p:spPr>
          <a:xfrm>
            <a:off x="4819650" y="2686050"/>
            <a:ext cx="22098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b="1" dirty="0">
                <a:solidFill>
                  <a:srgbClr val="FFFFFF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独立评价</a:t>
            </a:r>
            <a:endParaRPr lang="zh-CN" sz="2100" dirty="0"/>
          </a:p>
        </p:txBody>
      </p:sp>
      <p:sp>
        <p:nvSpPr>
          <p:cNvPr id="16" name="frame-nesting/drawing/frame-nesting-content/output-body"/>
          <p:cNvSpPr/>
          <p:nvPr/>
        </p:nvSpPr>
        <p:spPr>
          <a:xfrm>
            <a:off x="4876800" y="3267075"/>
            <a:ext cx="20955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zh-CN" altLang="en-US" sz="1950" dirty="0">
                <a:solidFill>
                  <a:srgbClr val="17243A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评价指标</a:t>
            </a:r>
            <a:endParaRPr lang="zh-CN" sz="1950" dirty="0"/>
          </a:p>
          <a:p>
            <a:pPr algn="l" indent="0" marL="0">
              <a:lnSpc>
                <a:spcPts val="2340"/>
              </a:lnSpc>
              <a:buNone/>
            </a:pPr>
            <a:r>
              <a:rPr lang="zh-CN" altLang="en-US" sz="1950" dirty="0">
                <a:solidFill>
                  <a:srgbClr val="17243A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单位与比较口径</a:t>
            </a:r>
            <a:endParaRPr lang="zh-CN" sz="1950" dirty="0"/>
          </a:p>
        </p:txBody>
      </p:sp>
      <p:sp>
        <p:nvSpPr>
          <p:cNvPr id="17" name="frame-nesting/drawing/frame-nesting-content/method-link/segment-1"/>
          <p:cNvSpPr/>
          <p:nvPr/>
        </p:nvSpPr>
        <p:spPr>
          <a:xfrm>
            <a:off x="3390900" y="3362325"/>
            <a:ext cx="1095375" cy="0"/>
          </a:xfrm>
          <a:prstGeom prst="line">
            <a:avLst/>
          </a:prstGeom>
          <a:noFill/>
          <a:ln w="19050">
            <a:solidFill>
              <a:srgbClr val="003E87"/>
            </a:solidFill>
            <a:prstDash val="solid"/>
            <a:tailEnd type="triangle"/>
          </a:ln>
        </p:spPr>
      </p:sp>
      <p:sp>
        <p:nvSpPr>
          <p:cNvPr id="18" name="frame-nesting/drawing/frame-nesting-content/outer-condition"/>
          <p:cNvSpPr/>
          <p:nvPr/>
        </p:nvSpPr>
        <p:spPr>
          <a:xfrm>
            <a:off x="723900" y="4343400"/>
            <a:ext cx="6438900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zh-CN" altLang="en-US" sz="1950" dirty="0">
                <a:solidFill>
                  <a:srgbClr val="606A77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外层定义范围，内部说明任务与连接</a:t>
            </a:r>
            <a:endParaRPr lang="zh-CN" sz="1950" dirty="0"/>
          </a:p>
        </p:txBody>
      </p:sp>
      <p:sp>
        <p:nvSpPr>
          <p:cNvPr id="19" name="frame-nesting/drawing/frame-nesting-content/open-top/segment-1"/>
          <p:cNvSpPr/>
          <p:nvPr/>
        </p:nvSpPr>
        <p:spPr>
          <a:xfrm>
            <a:off x="8020050" y="2114550"/>
            <a:ext cx="3676650" cy="0"/>
          </a:xfrm>
          <a:prstGeom prst="line">
            <a:avLst/>
          </a:prstGeom>
          <a:noFill/>
          <a:ln w="17145">
            <a:solidFill>
              <a:srgbClr val="003E87"/>
            </a:solidFill>
            <a:prstDash val="solid"/>
          </a:ln>
        </p:spPr>
      </p:sp>
      <p:sp>
        <p:nvSpPr>
          <p:cNvPr id="20" name="frame-nesting/drawing/frame-nesting-content/open-title"/>
          <p:cNvSpPr/>
          <p:nvPr/>
        </p:nvSpPr>
        <p:spPr>
          <a:xfrm>
            <a:off x="8020050" y="2362200"/>
            <a:ext cx="367665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10"/>
              </a:lnSpc>
              <a:buNone/>
            </a:pPr>
            <a:r>
              <a:rPr lang="zh-CN" altLang="en-US" sz="2175" b="1" dirty="0">
                <a:solidFill>
                  <a:srgbClr val="003E87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读图时先看什么</a:t>
            </a:r>
            <a:endParaRPr lang="zh-CN" sz="2175" dirty="0"/>
          </a:p>
        </p:txBody>
      </p:sp>
      <p:sp>
        <p:nvSpPr>
          <p:cNvPr id="21" name="frame-nesting/drawing/frame-nesting-content/open-body"/>
          <p:cNvSpPr/>
          <p:nvPr/>
        </p:nvSpPr>
        <p:spPr>
          <a:xfrm>
            <a:off x="8020050" y="3057525"/>
            <a:ext cx="3676650" cy="1057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zh-CN" altLang="en-US" sz="2025" dirty="0">
                <a:solidFill>
                  <a:srgbClr val="17243A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让解释靠近对应的图。</a:t>
            </a:r>
            <a:endParaRPr lang="zh-CN" sz="2025" dirty="0"/>
          </a:p>
          <a:p>
            <a:pPr algn="l" indent="0" marL="0">
              <a:lnSpc>
                <a:spcPts val="2430"/>
              </a:lnSpc>
              <a:buNone/>
            </a:pPr>
            <a:r>
              <a:rPr lang="zh-CN" altLang="en-US" sz="2025" dirty="0">
                <a:solidFill>
                  <a:srgbClr val="17243A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用基线、间距和字重组织，</a:t>
            </a:r>
            <a:endParaRPr lang="zh-CN" sz="2025" dirty="0"/>
          </a:p>
          <a:p>
            <a:pPr algn="l" indent="0" marL="0">
              <a:lnSpc>
                <a:spcPts val="2430"/>
              </a:lnSpc>
              <a:buNone/>
            </a:pPr>
            <a:r>
              <a:rPr lang="zh-CN" altLang="en-US" sz="2025" dirty="0">
                <a:solidFill>
                  <a:srgbClr val="17243A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无需每段都补完整边框。</a:t>
            </a:r>
            <a:endParaRPr lang="zh-CN" sz="2025" dirty="0"/>
          </a:p>
        </p:txBody>
      </p:sp>
      <p:sp>
        <p:nvSpPr>
          <p:cNvPr id="22" name="frame-nesting/drawing/frame-nesting-content/open-bottom/segment-1"/>
          <p:cNvSpPr/>
          <p:nvPr/>
        </p:nvSpPr>
        <p:spPr>
          <a:xfrm>
            <a:off x="8020050" y="4552950"/>
            <a:ext cx="3676650" cy="0"/>
          </a:xfrm>
          <a:prstGeom prst="line">
            <a:avLst/>
          </a:prstGeom>
          <a:noFill/>
          <a:ln w="17145">
            <a:solidFill>
              <a:srgbClr val="003E87"/>
            </a:solidFill>
            <a:prstDash val="solid"/>
          </a:ln>
        </p:spPr>
      </p:sp>
      <p:sp>
        <p:nvSpPr>
          <p:cNvPr id="23" name="frame-nesting/drawing/frame-nesting-content/nesting-note"/>
          <p:cNvSpPr/>
          <p:nvPr/>
        </p:nvSpPr>
        <p:spPr>
          <a:xfrm>
            <a:off x="457200" y="5219700"/>
            <a:ext cx="7010400" cy="838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606A77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只有新增真实包含关系才多加一层。外层不加阴影，内部同级模块采</a:t>
            </a:r>
            <a:endParaRPr lang="zh-CN" sz="1800" dirty="0"/>
          </a:p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606A77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用同一语言。</a:t>
            </a:r>
            <a:endParaRPr lang="zh-CN" sz="1800" dirty="0"/>
          </a:p>
        </p:txBody>
      </p:sp>
      <p:sp>
        <p:nvSpPr>
          <p:cNvPr id="24" name="frame-nesting/drawing/frame-nesting-content/open-note"/>
          <p:cNvSpPr/>
          <p:nvPr/>
        </p:nvSpPr>
        <p:spPr>
          <a:xfrm>
            <a:off x="8001000" y="5219700"/>
            <a:ext cx="3733800" cy="838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606A77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开放结构仍有清楚入口和归属，不等</a:t>
            </a:r>
            <a:endParaRPr lang="zh-CN" sz="1800" dirty="0"/>
          </a:p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606A77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于随意散落文字。</a:t>
            </a:r>
            <a:endParaRPr lang="zh-CN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roid Sans Fallbac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Droid Sans Fallback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学术框线、纸面与题签 · 原创视觉细读</dc:title>
  <dc:subject>学术研究汇报</dc:subject>
  <dc:creator>DSH Academic PPT</dc:creator>
  <cp:lastModifiedBy>DSH Academic PPT</cp:lastModifiedBy>
  <cp:revision>1</cp:revision>
  <dcterms:created xsi:type="dcterms:W3CDTF">2026-10-27T06:35:39Z</dcterms:created>
  <dcterms:modified xsi:type="dcterms:W3CDTF">2026-10-27T06:35:39Z</dcterms:modified>
</cp:coreProperties>
</file>