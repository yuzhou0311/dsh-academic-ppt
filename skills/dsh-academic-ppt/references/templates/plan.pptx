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plan-hypothesis-test。上方说明证据和缺口，下面以干预、对照和终点形成实验设计。
全部文本为填写指引，图表值是合成演示值，不是任何研究结果。使用前替换论文、数据、原图与来源。
内容职责：已有证据；尚存缺口；研究假设；实验对照；评价与反证。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plan-fair-comparison。一套数据分配到两种流程，再用同一评价程序核查。
全部文本为填写指引，图表值是合成演示值，不是任何研究结果。使用前替换论文、数据、原图与来源。
内容职责：共同预算与信息；主要终点与反证。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plan-data-evaluation。数据到评价的主线占上部，下方明确样本量依据与留出条件。
全部文本为填写指引，图表值是合成演示值，不是任何研究结果。使用前替换论文、数据、原图与来源。
内容职责：样本量与采集计划；留出与分析计划。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plan-work-packages。纵向三个研究阶段各自包含目标、方法与可检查的产物。
全部文本为填写指引，图表值是合成演示值，不是任何研究结果。使用前替换论文、数据、原图与来源。
内容职责：阶段一：材料与基线；阶段二：机制与验证；阶段三：边界与复现；阶段依赖；停止与调整条件。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plan-conclusions。结论分别连接对应证据，侧栏集中说明尚未解决的问题。
全部文本为填写指引，图表值是合成演示值，不是任何研究结果。使用前替换论文、数据、原图与来源。
内容职责：结论一及证据；结论二及证据；结论三及证据；尚未验证；优先研究问题。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plan-reference-notes。完整书目集中排列，右栏记录版本、补充材料与图像来源。
全部文本为填写指引，图表值是合成演示值，不是任何研究结果。使用前替换论文、数据、原图与来源。
内容职责：版本与补充材料；图像与数据来源。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
T2 · Full title of a related methods or validation study · 期刊与卷页（替换） · 2026 · 待替换 · 书目占位，非真实文献
T3 · Full title of the source for the supplementary evidence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3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43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 / 06</a:t>
            </a:r>
            <a:endParaRPr lang="zh-CN" sz="1050" dirty="0"/>
          </a:p>
        </p:txBody>
      </p:sp>
      <p:sp>
        <p:nvSpPr>
          <p:cNvPr id="4" name="T43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43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从证据缺口到可检验假设</a:t>
            </a:r>
            <a:endParaRPr lang="zh-CN" sz="2550" dirty="0"/>
          </a:p>
        </p:txBody>
      </p:sp>
      <p:sp>
        <p:nvSpPr>
          <p:cNvPr id="6" name="T43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43/card/region-1/frame"/>
          <p:cNvSpPr/>
          <p:nvPr/>
        </p:nvSpPr>
        <p:spPr>
          <a:xfrm>
            <a:off x="457200" y="1390650"/>
            <a:ext cx="5486400" cy="16764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43/card/region-1/heading-fill"/>
          <p:cNvSpPr/>
          <p:nvPr/>
        </p:nvSpPr>
        <p:spPr>
          <a:xfrm>
            <a:off x="466725" y="1400175"/>
            <a:ext cx="54673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43/card/region-1/heading-rule"/>
          <p:cNvSpPr/>
          <p:nvPr/>
        </p:nvSpPr>
        <p:spPr>
          <a:xfrm>
            <a:off x="457200" y="1771650"/>
            <a:ext cx="54864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43/card/region-1/title"/>
          <p:cNvSpPr/>
          <p:nvPr/>
        </p:nvSpPr>
        <p:spPr>
          <a:xfrm>
            <a:off x="581025" y="1447800"/>
            <a:ext cx="52387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已有证据</a:t>
            </a:r>
            <a:endParaRPr lang="zh-CN" sz="1800" dirty="0"/>
          </a:p>
        </p:txBody>
      </p:sp>
      <p:sp>
        <p:nvSpPr>
          <p:cNvPr id="11" name="T43/card/region-1/body"/>
          <p:cNvSpPr/>
          <p:nvPr/>
        </p:nvSpPr>
        <p:spPr>
          <a:xfrm>
            <a:off x="590550" y="1885950"/>
            <a:ext cx="5219700" cy="1085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填写可追溯的已有发现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指出效应与验证范围</a:t>
            </a:r>
            <a:endParaRPr lang="zh-CN" sz="1725" dirty="0"/>
          </a:p>
        </p:txBody>
      </p:sp>
      <p:sp>
        <p:nvSpPr>
          <p:cNvPr id="12" name="T43/card/region-2/frame"/>
          <p:cNvSpPr/>
          <p:nvPr/>
        </p:nvSpPr>
        <p:spPr>
          <a:xfrm>
            <a:off x="6248400" y="1504950"/>
            <a:ext cx="5486400" cy="15621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3" name="T43/card/region-2/tab"/>
          <p:cNvSpPr/>
          <p:nvPr/>
        </p:nvSpPr>
        <p:spPr>
          <a:xfrm>
            <a:off x="6362700" y="1390650"/>
            <a:ext cx="11811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43/card/region-2/title"/>
          <p:cNvSpPr/>
          <p:nvPr/>
        </p:nvSpPr>
        <p:spPr>
          <a:xfrm>
            <a:off x="6467475" y="14192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尚存缺口</a:t>
            </a:r>
            <a:endParaRPr lang="zh-CN" sz="1800" dirty="0"/>
          </a:p>
        </p:txBody>
      </p:sp>
      <p:sp>
        <p:nvSpPr>
          <p:cNvPr id="15" name="T43/card/region-2/body"/>
          <p:cNvSpPr/>
          <p:nvPr/>
        </p:nvSpPr>
        <p:spPr>
          <a:xfrm>
            <a:off x="6381750" y="1853565"/>
            <a:ext cx="5219700" cy="1118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将缺少的证据写成具体问题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区分未知机制与未测环境</a:t>
            </a:r>
            <a:endParaRPr lang="zh-CN" sz="1725" dirty="0"/>
          </a:p>
        </p:txBody>
      </p:sp>
      <p:sp>
        <p:nvSpPr>
          <p:cNvPr id="16" name="T43/card/region-3/frame"/>
          <p:cNvSpPr/>
          <p:nvPr/>
        </p:nvSpPr>
        <p:spPr>
          <a:xfrm>
            <a:off x="457200" y="3552825"/>
            <a:ext cx="3467100" cy="2466975"/>
          </a:xfrm>
          <a:prstGeom prst="rect">
            <a:avLst/>
          </a:prstGeom>
          <a:solidFill>
            <a:srgbClr val="FFFFFF"/>
          </a:solidFill>
          <a:ln w="14288">
            <a:solidFill>
              <a:srgbClr val="355D88"/>
            </a:solidFill>
            <a:prstDash val="solid"/>
          </a:ln>
        </p:spPr>
      </p:sp>
      <p:sp>
        <p:nvSpPr>
          <p:cNvPr id="17" name="T43/card/region-3/title-cutout"/>
          <p:cNvSpPr/>
          <p:nvPr/>
        </p:nvSpPr>
        <p:spPr>
          <a:xfrm>
            <a:off x="590550" y="3400425"/>
            <a:ext cx="108585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43/card/region-3/base-rule"/>
          <p:cNvSpPr/>
          <p:nvPr/>
        </p:nvSpPr>
        <p:spPr>
          <a:xfrm>
            <a:off x="647700" y="5867400"/>
            <a:ext cx="333375" cy="0"/>
          </a:xfrm>
          <a:prstGeom prst="line">
            <a:avLst/>
          </a:prstGeom>
          <a:noFill/>
          <a:ln w="28575">
            <a:solidFill>
              <a:srgbClr val="355D88"/>
            </a:solidFill>
            <a:prstDash val="solid"/>
          </a:ln>
        </p:spPr>
      </p:sp>
      <p:sp>
        <p:nvSpPr>
          <p:cNvPr id="19" name="T43/card/region-3/title"/>
          <p:cNvSpPr/>
          <p:nvPr/>
        </p:nvSpPr>
        <p:spPr>
          <a:xfrm>
            <a:off x="647700" y="3409950"/>
            <a:ext cx="308610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355D8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研究假设</a:t>
            </a:r>
            <a:endParaRPr lang="zh-CN" sz="1800" dirty="0"/>
          </a:p>
        </p:txBody>
      </p:sp>
      <p:sp>
        <p:nvSpPr>
          <p:cNvPr id="20" name="T43/card/region-3/body"/>
          <p:cNvSpPr/>
          <p:nvPr/>
        </p:nvSpPr>
        <p:spPr>
          <a:xfrm>
            <a:off x="647700" y="3943350"/>
            <a:ext cx="3086100" cy="1885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78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改变一个明确的机制或接口</a:t>
            </a:r>
            <a:endParaRPr lang="zh-CN" sz="1650" dirty="0"/>
          </a:p>
          <a:p>
            <a:pPr algn="l" indent="0" marL="0">
              <a:lnSpc>
                <a:spcPts val="2178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预期哪个指标发生什么变化</a:t>
            </a:r>
            <a:endParaRPr lang="zh-CN" sz="1650" dirty="0"/>
          </a:p>
          <a:p>
            <a:pPr algn="l" indent="0" marL="0">
              <a:lnSpc>
                <a:spcPts val="2178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哪种观察会使假说不获支持</a:t>
            </a:r>
            <a:endParaRPr lang="zh-CN" sz="1650" dirty="0"/>
          </a:p>
        </p:txBody>
      </p:sp>
      <p:sp>
        <p:nvSpPr>
          <p:cNvPr id="21" name="T43/card/region-4/title"/>
          <p:cNvSpPr/>
          <p:nvPr/>
        </p:nvSpPr>
        <p:spPr>
          <a:xfrm>
            <a:off x="4210050" y="3409950"/>
            <a:ext cx="34671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实验对照</a:t>
            </a:r>
            <a:endParaRPr lang="zh-CN" sz="1875" dirty="0"/>
          </a:p>
        </p:txBody>
      </p:sp>
      <p:sp>
        <p:nvSpPr>
          <p:cNvPr id="22" name="T43/card/region-4/body"/>
          <p:cNvSpPr/>
          <p:nvPr/>
        </p:nvSpPr>
        <p:spPr>
          <a:xfrm>
            <a:off x="4210050" y="3857625"/>
            <a:ext cx="3467100" cy="2124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冻结其余信息与工具预算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设置基线、干预和必要消融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保证同一评价和留出条件</a:t>
            </a:r>
            <a:endParaRPr lang="zh-CN" sz="1800" dirty="0"/>
          </a:p>
        </p:txBody>
      </p:sp>
      <p:sp>
        <p:nvSpPr>
          <p:cNvPr id="23" name="T43/card/region-5/heading-rule"/>
          <p:cNvSpPr/>
          <p:nvPr/>
        </p:nvSpPr>
        <p:spPr>
          <a:xfrm>
            <a:off x="7962900" y="3752850"/>
            <a:ext cx="37719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4" name="T43/card/region-5/heading-mark"/>
          <p:cNvSpPr/>
          <p:nvPr/>
        </p:nvSpPr>
        <p:spPr>
          <a:xfrm>
            <a:off x="7962900" y="3752850"/>
            <a:ext cx="342900" cy="0"/>
          </a:xfrm>
          <a:prstGeom prst="line">
            <a:avLst/>
          </a:prstGeom>
          <a:noFill/>
          <a:ln w="17145">
            <a:solidFill>
              <a:srgbClr val="903543"/>
            </a:solidFill>
            <a:prstDash val="solid"/>
          </a:ln>
        </p:spPr>
      </p:sp>
      <p:sp>
        <p:nvSpPr>
          <p:cNvPr id="25" name="T43/card/region-5/title"/>
          <p:cNvSpPr/>
          <p:nvPr/>
        </p:nvSpPr>
        <p:spPr>
          <a:xfrm>
            <a:off x="7962900" y="3409950"/>
            <a:ext cx="37719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9035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评价与反证</a:t>
            </a:r>
            <a:endParaRPr lang="zh-CN" sz="1875" dirty="0"/>
          </a:p>
        </p:txBody>
      </p:sp>
      <p:sp>
        <p:nvSpPr>
          <p:cNvPr id="26" name="T43/card/region-5/body"/>
          <p:cNvSpPr/>
          <p:nvPr/>
        </p:nvSpPr>
        <p:spPr>
          <a:xfrm>
            <a:off x="7962900" y="3886200"/>
            <a:ext cx="3771900" cy="2095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预先定义主要终点与不确定性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同时报告失败、成本和风险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无效或负效应也应完整保留</a:t>
            </a:r>
            <a:endParaRPr lang="zh-CN" sz="1800" dirty="0"/>
          </a:p>
        </p:txBody>
      </p:sp>
      <p:sp>
        <p:nvSpPr>
          <p:cNvPr id="27" name="T43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4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44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 / 06</a:t>
            </a:r>
            <a:endParaRPr lang="zh-CN" sz="1050" dirty="0"/>
          </a:p>
        </p:txBody>
      </p:sp>
      <p:sp>
        <p:nvSpPr>
          <p:cNvPr id="4" name="T44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44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公平比较的实验结构</a:t>
            </a:r>
            <a:endParaRPr lang="zh-CN" sz="2550" dirty="0"/>
          </a:p>
        </p:txBody>
      </p:sp>
      <p:sp>
        <p:nvSpPr>
          <p:cNvPr id="6" name="T44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44/edge:0:segment:0"/>
          <p:cNvSpPr/>
          <p:nvPr/>
        </p:nvSpPr>
        <p:spPr>
          <a:xfrm>
            <a:off x="4362450" y="2305050"/>
            <a:ext cx="0" cy="41910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8" name="T44/edge:0:segment:1"/>
          <p:cNvSpPr/>
          <p:nvPr/>
        </p:nvSpPr>
        <p:spPr>
          <a:xfrm flipH="1">
            <a:off x="1876425" y="2724150"/>
            <a:ext cx="24860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9" name="T44/edge:0:segment:2"/>
          <p:cNvSpPr/>
          <p:nvPr/>
        </p:nvSpPr>
        <p:spPr>
          <a:xfrm>
            <a:off x="1876425" y="2724150"/>
            <a:ext cx="0" cy="41910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0" name="T44/edge:1:segment:0"/>
          <p:cNvSpPr/>
          <p:nvPr/>
        </p:nvSpPr>
        <p:spPr>
          <a:xfrm>
            <a:off x="4362450" y="2305050"/>
            <a:ext cx="0" cy="41910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1" name="T44/edge:1:segment:1"/>
          <p:cNvSpPr/>
          <p:nvPr/>
        </p:nvSpPr>
        <p:spPr>
          <a:xfrm>
            <a:off x="4362450" y="2724150"/>
            <a:ext cx="21812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2" name="T44/edge:1:segment:2"/>
          <p:cNvSpPr/>
          <p:nvPr/>
        </p:nvSpPr>
        <p:spPr>
          <a:xfrm>
            <a:off x="6543675" y="2724150"/>
            <a:ext cx="0" cy="41910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3" name="T44/edge:2:segment:0"/>
          <p:cNvSpPr/>
          <p:nvPr/>
        </p:nvSpPr>
        <p:spPr>
          <a:xfrm>
            <a:off x="3086100" y="3752850"/>
            <a:ext cx="476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4" name="T44/edge:2:segment:1"/>
          <p:cNvSpPr/>
          <p:nvPr/>
        </p:nvSpPr>
        <p:spPr>
          <a:xfrm>
            <a:off x="3133725" y="3752850"/>
            <a:ext cx="0" cy="1762125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5" name="T44/edge:2:segment:2"/>
          <p:cNvSpPr/>
          <p:nvPr/>
        </p:nvSpPr>
        <p:spPr>
          <a:xfrm>
            <a:off x="3133725" y="5514975"/>
            <a:ext cx="476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6" name="T44/edge:3:segment:0"/>
          <p:cNvSpPr/>
          <p:nvPr/>
        </p:nvSpPr>
        <p:spPr>
          <a:xfrm>
            <a:off x="6543675" y="4362450"/>
            <a:ext cx="0" cy="34290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7" name="T44/edge:3:segment:1"/>
          <p:cNvSpPr/>
          <p:nvPr/>
        </p:nvSpPr>
        <p:spPr>
          <a:xfrm flipH="1">
            <a:off x="4362450" y="4705350"/>
            <a:ext cx="21812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8" name="T44/edge:3:segment:2"/>
          <p:cNvSpPr/>
          <p:nvPr/>
        </p:nvSpPr>
        <p:spPr>
          <a:xfrm>
            <a:off x="4362450" y="4705350"/>
            <a:ext cx="0" cy="34290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9" name="T44/node:step-1:frame"/>
          <p:cNvSpPr/>
          <p:nvPr/>
        </p:nvSpPr>
        <p:spPr>
          <a:xfrm>
            <a:off x="3181350" y="1409700"/>
            <a:ext cx="2362200" cy="8953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0" name="T44/node:step-1:heading-rule"/>
          <p:cNvSpPr/>
          <p:nvPr/>
        </p:nvSpPr>
        <p:spPr>
          <a:xfrm>
            <a:off x="3181350" y="1409700"/>
            <a:ext cx="23622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1" name="T44/node:step-1:label"/>
          <p:cNvSpPr/>
          <p:nvPr/>
        </p:nvSpPr>
        <p:spPr>
          <a:xfrm>
            <a:off x="3295650" y="1724025"/>
            <a:ext cx="2133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同一数据与任务集</a:t>
            </a:r>
            <a:endParaRPr lang="zh-CN" sz="1800" dirty="0"/>
          </a:p>
        </p:txBody>
      </p:sp>
      <p:sp>
        <p:nvSpPr>
          <p:cNvPr id="22" name="T44/node:step-2:frame"/>
          <p:cNvSpPr/>
          <p:nvPr/>
        </p:nvSpPr>
        <p:spPr>
          <a:xfrm>
            <a:off x="666750" y="3143250"/>
            <a:ext cx="241935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3" name="T44/node:step-2:heading-rule"/>
          <p:cNvSpPr/>
          <p:nvPr/>
        </p:nvSpPr>
        <p:spPr>
          <a:xfrm>
            <a:off x="666750" y="3143250"/>
            <a:ext cx="24193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4" name="T44/node:step-2:label"/>
          <p:cNvSpPr/>
          <p:nvPr/>
        </p:nvSpPr>
        <p:spPr>
          <a:xfrm>
            <a:off x="781050" y="3238500"/>
            <a:ext cx="21907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基线流程</a:t>
            </a:r>
            <a:endParaRPr lang="zh-CN" sz="1800" dirty="0"/>
          </a:p>
        </p:txBody>
      </p:sp>
      <p:sp>
        <p:nvSpPr>
          <p:cNvPr id="25" name="T44/node:step-2:detail"/>
          <p:cNvSpPr/>
          <p:nvPr/>
        </p:nvSpPr>
        <p:spPr>
          <a:xfrm>
            <a:off x="781050" y="3552825"/>
            <a:ext cx="2190750" cy="723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6" name="T44/node:step-3:frame"/>
          <p:cNvSpPr/>
          <p:nvPr/>
        </p:nvSpPr>
        <p:spPr>
          <a:xfrm>
            <a:off x="5334000" y="3143250"/>
            <a:ext cx="241935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7" name="T44/node:step-3:heading-rule"/>
          <p:cNvSpPr/>
          <p:nvPr/>
        </p:nvSpPr>
        <p:spPr>
          <a:xfrm>
            <a:off x="5334000" y="3143250"/>
            <a:ext cx="24193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8" name="T44/node:step-3:label"/>
          <p:cNvSpPr/>
          <p:nvPr/>
        </p:nvSpPr>
        <p:spPr>
          <a:xfrm>
            <a:off x="5448300" y="3238500"/>
            <a:ext cx="21907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干预流程</a:t>
            </a:r>
            <a:endParaRPr lang="zh-CN" sz="1800" dirty="0"/>
          </a:p>
        </p:txBody>
      </p:sp>
      <p:sp>
        <p:nvSpPr>
          <p:cNvPr id="29" name="T44/node:step-3:detail"/>
          <p:cNvSpPr/>
          <p:nvPr/>
        </p:nvSpPr>
        <p:spPr>
          <a:xfrm>
            <a:off x="5448300" y="3552825"/>
            <a:ext cx="2190750" cy="723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30" name="T44/node:step-4:frame"/>
          <p:cNvSpPr/>
          <p:nvPr/>
        </p:nvSpPr>
        <p:spPr>
          <a:xfrm>
            <a:off x="3181350" y="5048250"/>
            <a:ext cx="2362200" cy="9334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31" name="T44/node:step-4:heading-rule"/>
          <p:cNvSpPr/>
          <p:nvPr/>
        </p:nvSpPr>
        <p:spPr>
          <a:xfrm>
            <a:off x="3181350" y="5048250"/>
            <a:ext cx="23622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32" name="T44/node:step-4:label"/>
          <p:cNvSpPr/>
          <p:nvPr/>
        </p:nvSpPr>
        <p:spPr>
          <a:xfrm>
            <a:off x="3295650" y="5381625"/>
            <a:ext cx="2133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统一评价</a:t>
            </a:r>
            <a:endParaRPr lang="zh-CN" sz="1800" dirty="0"/>
          </a:p>
        </p:txBody>
      </p:sp>
      <p:sp>
        <p:nvSpPr>
          <p:cNvPr id="33" name="T44/card/region-1/frame"/>
          <p:cNvSpPr/>
          <p:nvPr/>
        </p:nvSpPr>
        <p:spPr>
          <a:xfrm>
            <a:off x="8610600" y="1390650"/>
            <a:ext cx="3124200" cy="20955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34" name="T44/card/region-1/heading-fill"/>
          <p:cNvSpPr/>
          <p:nvPr/>
        </p:nvSpPr>
        <p:spPr>
          <a:xfrm>
            <a:off x="8620125" y="1400175"/>
            <a:ext cx="31051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44/card/region-1/heading-rule"/>
          <p:cNvSpPr/>
          <p:nvPr/>
        </p:nvSpPr>
        <p:spPr>
          <a:xfrm>
            <a:off x="8610600" y="1771650"/>
            <a:ext cx="31242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6" name="T44/card/region-1/title"/>
          <p:cNvSpPr/>
          <p:nvPr/>
        </p:nvSpPr>
        <p:spPr>
          <a:xfrm>
            <a:off x="8734425" y="1447800"/>
            <a:ext cx="28765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共同预算与信息</a:t>
            </a:r>
            <a:endParaRPr lang="zh-CN" sz="1800" dirty="0"/>
          </a:p>
        </p:txBody>
      </p:sp>
      <p:sp>
        <p:nvSpPr>
          <p:cNvPr id="37" name="T44/card/region-1/body"/>
          <p:cNvSpPr/>
          <p:nvPr/>
        </p:nvSpPr>
        <p:spPr>
          <a:xfrm>
            <a:off x="8743950" y="1885950"/>
            <a:ext cx="2857500" cy="150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双方使用同一任务、观测和工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具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固定调用次数、人工介入和预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算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明确干预只改变哪个环节</a:t>
            </a:r>
            <a:endParaRPr lang="zh-CN" sz="1725" dirty="0"/>
          </a:p>
        </p:txBody>
      </p:sp>
      <p:sp>
        <p:nvSpPr>
          <p:cNvPr id="38" name="T44/card/region-2/frame"/>
          <p:cNvSpPr/>
          <p:nvPr/>
        </p:nvSpPr>
        <p:spPr>
          <a:xfrm>
            <a:off x="8610600" y="3829050"/>
            <a:ext cx="3124200" cy="21717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39" name="T44/card/region-2/tab"/>
          <p:cNvSpPr/>
          <p:nvPr/>
        </p:nvSpPr>
        <p:spPr>
          <a:xfrm>
            <a:off x="8724900" y="3714750"/>
            <a:ext cx="18669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44/card/region-2/title"/>
          <p:cNvSpPr/>
          <p:nvPr/>
        </p:nvSpPr>
        <p:spPr>
          <a:xfrm>
            <a:off x="8829675" y="3743325"/>
            <a:ext cx="16573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主要终点与反证</a:t>
            </a:r>
            <a:endParaRPr lang="zh-CN" sz="1800" dirty="0"/>
          </a:p>
        </p:txBody>
      </p:sp>
      <p:sp>
        <p:nvSpPr>
          <p:cNvPr id="41" name="T44/card/region-2/body"/>
          <p:cNvSpPr/>
          <p:nvPr/>
        </p:nvSpPr>
        <p:spPr>
          <a:xfrm>
            <a:off x="8743950" y="4177665"/>
            <a:ext cx="2857500" cy="17278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定义可测的主要终点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统一盲评与统计单位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预先规定不支持假说的结果</a:t>
            </a:r>
            <a:endParaRPr lang="zh-CN" sz="1725" dirty="0"/>
          </a:p>
        </p:txBody>
      </p:sp>
      <p:sp>
        <p:nvSpPr>
          <p:cNvPr id="42" name="T44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5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45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 / 06</a:t>
            </a:r>
            <a:endParaRPr lang="zh-CN" sz="1050" dirty="0"/>
          </a:p>
        </p:txBody>
      </p:sp>
      <p:sp>
        <p:nvSpPr>
          <p:cNvPr id="4" name="T45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45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数据采集与评价计划</a:t>
            </a:r>
            <a:endParaRPr lang="zh-CN" sz="2550" dirty="0"/>
          </a:p>
        </p:txBody>
      </p:sp>
      <p:sp>
        <p:nvSpPr>
          <p:cNvPr id="6" name="T45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45/edge:0"/>
          <p:cNvSpPr/>
          <p:nvPr/>
        </p:nvSpPr>
        <p:spPr>
          <a:xfrm>
            <a:off x="2743200" y="2181225"/>
            <a:ext cx="7048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8" name="T45/edge:1"/>
          <p:cNvSpPr/>
          <p:nvPr/>
        </p:nvSpPr>
        <p:spPr>
          <a:xfrm>
            <a:off x="5734050" y="2181225"/>
            <a:ext cx="7048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9" name="T45/edge:2"/>
          <p:cNvSpPr/>
          <p:nvPr/>
        </p:nvSpPr>
        <p:spPr>
          <a:xfrm>
            <a:off x="8724900" y="2181225"/>
            <a:ext cx="7048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0" name="T45/node:step-1:frame"/>
          <p:cNvSpPr/>
          <p:nvPr/>
        </p:nvSpPr>
        <p:spPr>
          <a:xfrm>
            <a:off x="457200" y="1562100"/>
            <a:ext cx="2286000" cy="12382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1" name="T45/node:step-1:heading-rule"/>
          <p:cNvSpPr/>
          <p:nvPr/>
        </p:nvSpPr>
        <p:spPr>
          <a:xfrm>
            <a:off x="457200" y="1562100"/>
            <a:ext cx="22860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2" name="T45/node:step-1:label"/>
          <p:cNvSpPr/>
          <p:nvPr/>
        </p:nvSpPr>
        <p:spPr>
          <a:xfrm>
            <a:off x="571500" y="1657350"/>
            <a:ext cx="20574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目标总体</a:t>
            </a:r>
            <a:endParaRPr lang="zh-CN" sz="1800" dirty="0"/>
          </a:p>
        </p:txBody>
      </p:sp>
      <p:sp>
        <p:nvSpPr>
          <p:cNvPr id="13" name="T45/node:step-1:detail"/>
          <p:cNvSpPr/>
          <p:nvPr/>
        </p:nvSpPr>
        <p:spPr>
          <a:xfrm>
            <a:off x="571500" y="1971675"/>
            <a:ext cx="2057400" cy="742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4" name="T45/node:step-2:frame"/>
          <p:cNvSpPr/>
          <p:nvPr/>
        </p:nvSpPr>
        <p:spPr>
          <a:xfrm>
            <a:off x="3448050" y="1562100"/>
            <a:ext cx="2286000" cy="12382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5" name="T45/node:step-2:heading-rule"/>
          <p:cNvSpPr/>
          <p:nvPr/>
        </p:nvSpPr>
        <p:spPr>
          <a:xfrm>
            <a:off x="3448050" y="1562100"/>
            <a:ext cx="22860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6" name="T45/node:step-2:label"/>
          <p:cNvSpPr/>
          <p:nvPr/>
        </p:nvSpPr>
        <p:spPr>
          <a:xfrm>
            <a:off x="3562350" y="1657350"/>
            <a:ext cx="20574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采集与质量控制</a:t>
            </a:r>
            <a:endParaRPr lang="zh-CN" sz="1800" dirty="0"/>
          </a:p>
        </p:txBody>
      </p:sp>
      <p:sp>
        <p:nvSpPr>
          <p:cNvPr id="17" name="T45/node:step-2:detail"/>
          <p:cNvSpPr/>
          <p:nvPr/>
        </p:nvSpPr>
        <p:spPr>
          <a:xfrm>
            <a:off x="3562350" y="1971675"/>
            <a:ext cx="2057400" cy="742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8" name="T45/node:step-3:frame"/>
          <p:cNvSpPr/>
          <p:nvPr/>
        </p:nvSpPr>
        <p:spPr>
          <a:xfrm>
            <a:off x="6438900" y="1562100"/>
            <a:ext cx="2286000" cy="12382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9" name="T45/node:step-3:heading-rule"/>
          <p:cNvSpPr/>
          <p:nvPr/>
        </p:nvSpPr>
        <p:spPr>
          <a:xfrm>
            <a:off x="6438900" y="1562100"/>
            <a:ext cx="22860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0" name="T45/node:step-3:label"/>
          <p:cNvSpPr/>
          <p:nvPr/>
        </p:nvSpPr>
        <p:spPr>
          <a:xfrm>
            <a:off x="6553200" y="1657350"/>
            <a:ext cx="20574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预注册分析</a:t>
            </a:r>
            <a:endParaRPr lang="zh-CN" sz="1800" dirty="0"/>
          </a:p>
        </p:txBody>
      </p:sp>
      <p:sp>
        <p:nvSpPr>
          <p:cNvPr id="21" name="T45/node:step-3:detail"/>
          <p:cNvSpPr/>
          <p:nvPr/>
        </p:nvSpPr>
        <p:spPr>
          <a:xfrm>
            <a:off x="6553200" y="1971675"/>
            <a:ext cx="2057400" cy="742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2" name="T45/node:step-4:frame"/>
          <p:cNvSpPr/>
          <p:nvPr/>
        </p:nvSpPr>
        <p:spPr>
          <a:xfrm>
            <a:off x="9429750" y="1562100"/>
            <a:ext cx="2305050" cy="12382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3" name="T45/node:step-4:heading-rule"/>
          <p:cNvSpPr/>
          <p:nvPr/>
        </p:nvSpPr>
        <p:spPr>
          <a:xfrm>
            <a:off x="9429750" y="1562100"/>
            <a:ext cx="23050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4" name="T45/node:step-4:label"/>
          <p:cNvSpPr/>
          <p:nvPr/>
        </p:nvSpPr>
        <p:spPr>
          <a:xfrm>
            <a:off x="9544050" y="1657350"/>
            <a:ext cx="20764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独立验证</a:t>
            </a:r>
            <a:endParaRPr lang="zh-CN" sz="1800" dirty="0"/>
          </a:p>
        </p:txBody>
      </p:sp>
      <p:sp>
        <p:nvSpPr>
          <p:cNvPr id="25" name="T45/node:step-4:detail"/>
          <p:cNvSpPr/>
          <p:nvPr/>
        </p:nvSpPr>
        <p:spPr>
          <a:xfrm>
            <a:off x="9544050" y="1971675"/>
            <a:ext cx="2076450" cy="742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6" name="T45/card/region-1/frame"/>
          <p:cNvSpPr/>
          <p:nvPr/>
        </p:nvSpPr>
        <p:spPr>
          <a:xfrm>
            <a:off x="457200" y="3829050"/>
            <a:ext cx="5467350" cy="21907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7" name="T45/card/region-1/heading-fill"/>
          <p:cNvSpPr/>
          <p:nvPr/>
        </p:nvSpPr>
        <p:spPr>
          <a:xfrm>
            <a:off x="466725" y="3838575"/>
            <a:ext cx="54483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45/card/region-1/heading-rule"/>
          <p:cNvSpPr/>
          <p:nvPr/>
        </p:nvSpPr>
        <p:spPr>
          <a:xfrm>
            <a:off x="457200" y="4210050"/>
            <a:ext cx="54673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9" name="T45/card/region-1/title"/>
          <p:cNvSpPr/>
          <p:nvPr/>
        </p:nvSpPr>
        <p:spPr>
          <a:xfrm>
            <a:off x="581025" y="3886200"/>
            <a:ext cx="52197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样本量与采集计划</a:t>
            </a:r>
            <a:endParaRPr lang="zh-CN" sz="1800" dirty="0"/>
          </a:p>
        </p:txBody>
      </p:sp>
      <p:sp>
        <p:nvSpPr>
          <p:cNvPr id="30" name="T45/card/region-1/body"/>
          <p:cNvSpPr/>
          <p:nvPr/>
        </p:nvSpPr>
        <p:spPr>
          <a:xfrm>
            <a:off x="590550" y="4324350"/>
            <a:ext cx="520065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按独立实验单位规划采集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依据预期效应与变异说明样本量</a:t>
            </a:r>
            <a:endParaRPr lang="zh-CN" sz="1725" dirty="0"/>
          </a:p>
        </p:txBody>
      </p:sp>
      <p:sp>
        <p:nvSpPr>
          <p:cNvPr id="31" name="T45/card/region-2/heading-rule"/>
          <p:cNvSpPr/>
          <p:nvPr/>
        </p:nvSpPr>
        <p:spPr>
          <a:xfrm>
            <a:off x="6248400" y="4191000"/>
            <a:ext cx="54864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2" name="T45/card/region-2/heading-mark"/>
          <p:cNvSpPr/>
          <p:nvPr/>
        </p:nvSpPr>
        <p:spPr>
          <a:xfrm>
            <a:off x="6248400" y="41910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33" name="T45/card/region-2/title"/>
          <p:cNvSpPr/>
          <p:nvPr/>
        </p:nvSpPr>
        <p:spPr>
          <a:xfrm>
            <a:off x="6248400" y="3848100"/>
            <a:ext cx="54864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留出与分析计划</a:t>
            </a:r>
            <a:endParaRPr lang="zh-CN" sz="1875" dirty="0"/>
          </a:p>
        </p:txBody>
      </p:sp>
      <p:sp>
        <p:nvSpPr>
          <p:cNvPr id="34" name="T45/card/region-2/body"/>
          <p:cNvSpPr/>
          <p:nvPr/>
        </p:nvSpPr>
        <p:spPr>
          <a:xfrm>
            <a:off x="6248400" y="4324350"/>
            <a:ext cx="5486400" cy="1657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在采集前明确主要终点和分析程序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锁定独立留出条件与缺失值处理</a:t>
            </a:r>
            <a:endParaRPr lang="zh-CN" sz="1800" dirty="0"/>
          </a:p>
        </p:txBody>
      </p:sp>
      <p:sp>
        <p:nvSpPr>
          <p:cNvPr id="35" name="T45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6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46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 / 06</a:t>
            </a:r>
            <a:endParaRPr lang="zh-CN" sz="1050" dirty="0"/>
          </a:p>
        </p:txBody>
      </p:sp>
      <p:sp>
        <p:nvSpPr>
          <p:cNvPr id="4" name="T46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46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研究任务与阶段交付</a:t>
            </a:r>
            <a:endParaRPr lang="zh-CN" sz="2550" dirty="0"/>
          </a:p>
        </p:txBody>
      </p:sp>
      <p:sp>
        <p:nvSpPr>
          <p:cNvPr id="6" name="T46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46/card/region-1/base-rule"/>
          <p:cNvSpPr/>
          <p:nvPr/>
        </p:nvSpPr>
        <p:spPr>
          <a:xfrm>
            <a:off x="457200" y="2762250"/>
            <a:ext cx="79248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8" name="T46/card/region-1/side-mark"/>
          <p:cNvSpPr/>
          <p:nvPr/>
        </p:nvSpPr>
        <p:spPr>
          <a:xfrm>
            <a:off x="457200" y="142875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46/card/region-1/title"/>
          <p:cNvSpPr/>
          <p:nvPr/>
        </p:nvSpPr>
        <p:spPr>
          <a:xfrm>
            <a:off x="609600" y="1428750"/>
            <a:ext cx="77724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阶段一：材料与基线</a:t>
            </a:r>
            <a:endParaRPr lang="zh-CN" sz="1800" dirty="0"/>
          </a:p>
        </p:txBody>
      </p:sp>
      <p:sp>
        <p:nvSpPr>
          <p:cNvPr id="10" name="T46/card/region-1/body"/>
          <p:cNvSpPr/>
          <p:nvPr/>
        </p:nvSpPr>
        <p:spPr>
          <a:xfrm>
            <a:off x="609600" y="1847850"/>
            <a:ext cx="7772400" cy="819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确认数据版本、许可与基线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产物：可复现的基线与证据记录</a:t>
            </a:r>
            <a:endParaRPr lang="zh-CN" sz="1725" dirty="0"/>
          </a:p>
        </p:txBody>
      </p:sp>
      <p:sp>
        <p:nvSpPr>
          <p:cNvPr id="11" name="T46/card/region-2/base-rule"/>
          <p:cNvSpPr/>
          <p:nvPr/>
        </p:nvSpPr>
        <p:spPr>
          <a:xfrm>
            <a:off x="457200" y="4400550"/>
            <a:ext cx="79248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2" name="T46/card/region-2/side-mark"/>
          <p:cNvSpPr/>
          <p:nvPr/>
        </p:nvSpPr>
        <p:spPr>
          <a:xfrm>
            <a:off x="457200" y="306705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46/card/region-2/title"/>
          <p:cNvSpPr/>
          <p:nvPr/>
        </p:nvSpPr>
        <p:spPr>
          <a:xfrm>
            <a:off x="609600" y="3067050"/>
            <a:ext cx="77724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阶段二：机制与验证</a:t>
            </a:r>
            <a:endParaRPr lang="zh-CN" sz="1800" dirty="0"/>
          </a:p>
        </p:txBody>
      </p:sp>
      <p:sp>
        <p:nvSpPr>
          <p:cNvPr id="14" name="T46/card/region-2/body"/>
          <p:cNvSpPr/>
          <p:nvPr/>
        </p:nvSpPr>
        <p:spPr>
          <a:xfrm>
            <a:off x="609600" y="3486150"/>
            <a:ext cx="7772400" cy="819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实施预定义干预与消融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产物：按统一口径报告的比较结果</a:t>
            </a:r>
            <a:endParaRPr lang="zh-CN" sz="1725" dirty="0"/>
          </a:p>
        </p:txBody>
      </p:sp>
      <p:sp>
        <p:nvSpPr>
          <p:cNvPr id="15" name="T46/card/region-3/base-rule"/>
          <p:cNvSpPr/>
          <p:nvPr/>
        </p:nvSpPr>
        <p:spPr>
          <a:xfrm>
            <a:off x="457200" y="6038850"/>
            <a:ext cx="79248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6" name="T46/card/region-3/side-mark"/>
          <p:cNvSpPr/>
          <p:nvPr/>
        </p:nvSpPr>
        <p:spPr>
          <a:xfrm>
            <a:off x="457200" y="4705350"/>
            <a:ext cx="47625" cy="295275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46/card/region-3/title"/>
          <p:cNvSpPr/>
          <p:nvPr/>
        </p:nvSpPr>
        <p:spPr>
          <a:xfrm>
            <a:off x="609600" y="4705350"/>
            <a:ext cx="77724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9035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阶段三：边界与复现</a:t>
            </a:r>
            <a:endParaRPr lang="zh-CN" sz="1800" dirty="0"/>
          </a:p>
        </p:txBody>
      </p:sp>
      <p:sp>
        <p:nvSpPr>
          <p:cNvPr id="18" name="T46/card/region-3/body"/>
          <p:cNvSpPr/>
          <p:nvPr/>
        </p:nvSpPr>
        <p:spPr>
          <a:xfrm>
            <a:off x="609600" y="5124450"/>
            <a:ext cx="7772400" cy="819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补充留出、失败与稳健性分析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产物：复现材料与解释边界</a:t>
            </a:r>
            <a:endParaRPr lang="zh-CN" sz="1725" dirty="0"/>
          </a:p>
        </p:txBody>
      </p:sp>
      <p:sp>
        <p:nvSpPr>
          <p:cNvPr id="19" name="T46/card/region-4/title"/>
          <p:cNvSpPr/>
          <p:nvPr/>
        </p:nvSpPr>
        <p:spPr>
          <a:xfrm>
            <a:off x="8705850" y="1428750"/>
            <a:ext cx="30289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阶段依赖</a:t>
            </a:r>
            <a:endParaRPr lang="zh-CN" sz="1875" dirty="0"/>
          </a:p>
        </p:txBody>
      </p:sp>
      <p:sp>
        <p:nvSpPr>
          <p:cNvPr id="20" name="T46/card/region-4/body"/>
          <p:cNvSpPr/>
          <p:nvPr/>
        </p:nvSpPr>
        <p:spPr>
          <a:xfrm>
            <a:off x="8705850" y="1876425"/>
            <a:ext cx="3028950" cy="15906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说明各阶段所需输入与完成条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件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避免仅按日期排列任务</a:t>
            </a:r>
            <a:endParaRPr lang="zh-CN" sz="1800" dirty="0"/>
          </a:p>
        </p:txBody>
      </p:sp>
      <p:sp>
        <p:nvSpPr>
          <p:cNvPr id="21" name="T46/card/region-5/frame"/>
          <p:cNvSpPr/>
          <p:nvPr/>
        </p:nvSpPr>
        <p:spPr>
          <a:xfrm>
            <a:off x="8705850" y="3867150"/>
            <a:ext cx="3028950" cy="21717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2" name="T46/card/region-5/tab"/>
          <p:cNvSpPr/>
          <p:nvPr/>
        </p:nvSpPr>
        <p:spPr>
          <a:xfrm>
            <a:off x="8820150" y="3752850"/>
            <a:ext cx="18669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46/card/region-5/title"/>
          <p:cNvSpPr/>
          <p:nvPr/>
        </p:nvSpPr>
        <p:spPr>
          <a:xfrm>
            <a:off x="8924925" y="3781425"/>
            <a:ext cx="16573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停止与调整条件</a:t>
            </a:r>
            <a:endParaRPr lang="zh-CN" sz="1800" dirty="0"/>
          </a:p>
        </p:txBody>
      </p:sp>
      <p:sp>
        <p:nvSpPr>
          <p:cNvPr id="24" name="T46/card/region-5/body"/>
          <p:cNvSpPr/>
          <p:nvPr/>
        </p:nvSpPr>
        <p:spPr>
          <a:xfrm>
            <a:off x="8839200" y="4215765"/>
            <a:ext cx="2762250" cy="17278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材料不足、效果无效或成本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超出时如何调整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把停止条件与研究问题对应</a:t>
            </a:r>
            <a:endParaRPr lang="zh-CN" sz="1725" dirty="0"/>
          </a:p>
        </p:txBody>
      </p:sp>
      <p:sp>
        <p:nvSpPr>
          <p:cNvPr id="25" name="T46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7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47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 / 06</a:t>
            </a:r>
            <a:endParaRPr lang="zh-CN" sz="1050" dirty="0"/>
          </a:p>
        </p:txBody>
      </p:sp>
      <p:sp>
        <p:nvSpPr>
          <p:cNvPr id="4" name="T47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47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结论证据与后续问题</a:t>
            </a:r>
            <a:endParaRPr lang="zh-CN" sz="2550" dirty="0"/>
          </a:p>
        </p:txBody>
      </p:sp>
      <p:sp>
        <p:nvSpPr>
          <p:cNvPr id="6" name="T47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47/card/region-1/base-rule"/>
          <p:cNvSpPr/>
          <p:nvPr/>
        </p:nvSpPr>
        <p:spPr>
          <a:xfrm>
            <a:off x="457200" y="2724150"/>
            <a:ext cx="74485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8" name="T47/card/region-1/side-mark"/>
          <p:cNvSpPr/>
          <p:nvPr/>
        </p:nvSpPr>
        <p:spPr>
          <a:xfrm>
            <a:off x="457200" y="144780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47/card/region-1/title"/>
          <p:cNvSpPr/>
          <p:nvPr/>
        </p:nvSpPr>
        <p:spPr>
          <a:xfrm>
            <a:off x="609600" y="1447800"/>
            <a:ext cx="72961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结论一及证据</a:t>
            </a:r>
            <a:endParaRPr lang="zh-CN" sz="1800" dirty="0"/>
          </a:p>
        </p:txBody>
      </p:sp>
      <p:sp>
        <p:nvSpPr>
          <p:cNvPr id="10" name="T47/card/region-1/body"/>
          <p:cNvSpPr/>
          <p:nvPr/>
        </p:nvSpPr>
        <p:spPr>
          <a:xfrm>
            <a:off x="609600" y="1866900"/>
            <a:ext cx="729615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用一句结论连接一项核心证据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保留样本、比较与实验身份</a:t>
            </a:r>
            <a:endParaRPr lang="zh-CN" sz="1725" dirty="0"/>
          </a:p>
        </p:txBody>
      </p:sp>
      <p:sp>
        <p:nvSpPr>
          <p:cNvPr id="11" name="T47/card/region-2/heading-rule"/>
          <p:cNvSpPr/>
          <p:nvPr/>
        </p:nvSpPr>
        <p:spPr>
          <a:xfrm>
            <a:off x="457200" y="3352800"/>
            <a:ext cx="74485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2" name="T47/card/region-2/heading-mark"/>
          <p:cNvSpPr/>
          <p:nvPr/>
        </p:nvSpPr>
        <p:spPr>
          <a:xfrm>
            <a:off x="457200" y="33528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13" name="T47/card/region-2/title"/>
          <p:cNvSpPr/>
          <p:nvPr/>
        </p:nvSpPr>
        <p:spPr>
          <a:xfrm>
            <a:off x="457200" y="3009900"/>
            <a:ext cx="74485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结论二及证据</a:t>
            </a:r>
            <a:endParaRPr lang="zh-CN" sz="1875" dirty="0"/>
          </a:p>
        </p:txBody>
      </p:sp>
      <p:sp>
        <p:nvSpPr>
          <p:cNvPr id="14" name="T47/card/region-2/body"/>
          <p:cNvSpPr/>
          <p:nvPr/>
        </p:nvSpPr>
        <p:spPr>
          <a:xfrm>
            <a:off x="457200" y="3486150"/>
            <a:ext cx="744855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解释与前一结论的关系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避免重复陈述相同发现</a:t>
            </a:r>
            <a:endParaRPr lang="zh-CN" sz="1800" dirty="0"/>
          </a:p>
        </p:txBody>
      </p:sp>
      <p:sp>
        <p:nvSpPr>
          <p:cNvPr id="15" name="T47/card/region-3/title"/>
          <p:cNvSpPr/>
          <p:nvPr/>
        </p:nvSpPr>
        <p:spPr>
          <a:xfrm>
            <a:off x="457200" y="4572000"/>
            <a:ext cx="74485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结论三及证据</a:t>
            </a:r>
            <a:endParaRPr lang="zh-CN" sz="1875" dirty="0"/>
          </a:p>
        </p:txBody>
      </p:sp>
      <p:sp>
        <p:nvSpPr>
          <p:cNvPr id="16" name="T47/card/region-3/body"/>
          <p:cNvSpPr/>
          <p:nvPr/>
        </p:nvSpPr>
        <p:spPr>
          <a:xfrm>
            <a:off x="457200" y="5019675"/>
            <a:ext cx="7448550" cy="962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总结机制或适用范围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将推断与原文报告区分</a:t>
            </a:r>
            <a:endParaRPr lang="zh-CN" sz="1800" dirty="0"/>
          </a:p>
        </p:txBody>
      </p:sp>
      <p:sp>
        <p:nvSpPr>
          <p:cNvPr id="17" name="T47/card/region-4/frame"/>
          <p:cNvSpPr/>
          <p:nvPr/>
        </p:nvSpPr>
        <p:spPr>
          <a:xfrm>
            <a:off x="8286750" y="1543050"/>
            <a:ext cx="3448050" cy="20002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8" name="T47/card/region-4/tab"/>
          <p:cNvSpPr/>
          <p:nvPr/>
        </p:nvSpPr>
        <p:spPr>
          <a:xfrm>
            <a:off x="8401050" y="1428750"/>
            <a:ext cx="11811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47/card/region-4/title"/>
          <p:cNvSpPr/>
          <p:nvPr/>
        </p:nvSpPr>
        <p:spPr>
          <a:xfrm>
            <a:off x="8505825" y="14573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尚未验证</a:t>
            </a:r>
            <a:endParaRPr lang="zh-CN" sz="1800" dirty="0"/>
          </a:p>
        </p:txBody>
      </p:sp>
      <p:sp>
        <p:nvSpPr>
          <p:cNvPr id="20" name="T47/card/region-4/body"/>
          <p:cNvSpPr/>
          <p:nvPr/>
        </p:nvSpPr>
        <p:spPr>
          <a:xfrm>
            <a:off x="8420100" y="1891665"/>
            <a:ext cx="3181350" cy="15563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列出论文没有测试的条件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说明这些未知如何影响应用</a:t>
            </a:r>
            <a:endParaRPr lang="zh-CN" sz="1725" dirty="0"/>
          </a:p>
        </p:txBody>
      </p:sp>
      <p:sp>
        <p:nvSpPr>
          <p:cNvPr id="21" name="T47/card/region-5/frame"/>
          <p:cNvSpPr/>
          <p:nvPr/>
        </p:nvSpPr>
        <p:spPr>
          <a:xfrm>
            <a:off x="8286750" y="3952875"/>
            <a:ext cx="3448050" cy="2066925"/>
          </a:xfrm>
          <a:prstGeom prst="rect">
            <a:avLst/>
          </a:prstGeom>
          <a:solidFill>
            <a:srgbClr val="FFFFFF"/>
          </a:solidFill>
          <a:ln w="14288">
            <a:solidFill>
              <a:srgbClr val="355D88"/>
            </a:solidFill>
            <a:prstDash val="solid"/>
          </a:ln>
        </p:spPr>
      </p:sp>
      <p:sp>
        <p:nvSpPr>
          <p:cNvPr id="22" name="T47/card/region-5/title-cutout"/>
          <p:cNvSpPr/>
          <p:nvPr/>
        </p:nvSpPr>
        <p:spPr>
          <a:xfrm>
            <a:off x="8420100" y="3800475"/>
            <a:ext cx="152400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47/card/region-5/base-rule"/>
          <p:cNvSpPr/>
          <p:nvPr/>
        </p:nvSpPr>
        <p:spPr>
          <a:xfrm>
            <a:off x="8477250" y="5867400"/>
            <a:ext cx="333375" cy="0"/>
          </a:xfrm>
          <a:prstGeom prst="line">
            <a:avLst/>
          </a:prstGeom>
          <a:noFill/>
          <a:ln w="28575">
            <a:solidFill>
              <a:srgbClr val="355D88"/>
            </a:solidFill>
            <a:prstDash val="solid"/>
          </a:ln>
        </p:spPr>
      </p:sp>
      <p:sp>
        <p:nvSpPr>
          <p:cNvPr id="24" name="T47/card/region-5/title"/>
          <p:cNvSpPr/>
          <p:nvPr/>
        </p:nvSpPr>
        <p:spPr>
          <a:xfrm>
            <a:off x="8477250" y="3810000"/>
            <a:ext cx="306705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355D8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优先研究问题</a:t>
            </a:r>
            <a:endParaRPr lang="zh-CN" sz="1800" dirty="0"/>
          </a:p>
        </p:txBody>
      </p:sp>
      <p:sp>
        <p:nvSpPr>
          <p:cNvPr id="25" name="T47/card/region-5/body"/>
          <p:cNvSpPr/>
          <p:nvPr/>
        </p:nvSpPr>
        <p:spPr>
          <a:xfrm>
            <a:off x="8477250" y="4343400"/>
            <a:ext cx="3067050" cy="148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78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提出能被实验区分的下一步问题</a:t>
            </a:r>
            <a:endParaRPr lang="zh-CN" sz="1650" dirty="0"/>
          </a:p>
          <a:p>
            <a:pPr algn="l" indent="0" marL="0">
              <a:lnSpc>
                <a:spcPts val="2178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保留公平对照和评价尺度</a:t>
            </a:r>
            <a:endParaRPr lang="zh-CN" sz="1650" dirty="0"/>
          </a:p>
        </p:txBody>
      </p:sp>
      <p:sp>
        <p:nvSpPr>
          <p:cNvPr id="26" name="T47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8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48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 / 06</a:t>
            </a:r>
            <a:endParaRPr lang="zh-CN" sz="1050" dirty="0"/>
          </a:p>
        </p:txBody>
      </p:sp>
      <p:sp>
        <p:nvSpPr>
          <p:cNvPr id="4" name="T48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48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参考文献与补充说明</a:t>
            </a:r>
            <a:endParaRPr lang="zh-CN" sz="2550" dirty="0"/>
          </a:p>
        </p:txBody>
      </p:sp>
      <p:sp>
        <p:nvSpPr>
          <p:cNvPr id="6" name="T48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48/ref:T1:id"/>
          <p:cNvSpPr/>
          <p:nvPr/>
        </p:nvSpPr>
        <p:spPr>
          <a:xfrm>
            <a:off x="457200" y="1352550"/>
            <a:ext cx="5524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2"/>
              </a:lnSpc>
              <a:buNone/>
            </a:pPr>
            <a:r>
              <a:rPr lang="zh-CN" altLang="en-US" sz="165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</a:t>
            </a:r>
            <a:endParaRPr lang="zh-CN" sz="1650" dirty="0"/>
          </a:p>
        </p:txBody>
      </p:sp>
      <p:sp>
        <p:nvSpPr>
          <p:cNvPr id="8" name="T48/ref:T1:title"/>
          <p:cNvSpPr/>
          <p:nvPr/>
        </p:nvSpPr>
        <p:spPr>
          <a:xfrm>
            <a:off x="1123950" y="1333500"/>
            <a:ext cx="70104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Full article title: connecting decision models, experimental</a:t>
            </a:r>
            <a:endParaRPr lang="zh-CN" sz="1800" dirty="0"/>
          </a:p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 evidence and independent validation in crop cultivation</a:t>
            </a:r>
            <a:endParaRPr lang="zh-CN" sz="1800" dirty="0"/>
          </a:p>
        </p:txBody>
      </p:sp>
      <p:sp>
        <p:nvSpPr>
          <p:cNvPr id="9" name="T48/ref:T1:meta"/>
          <p:cNvSpPr/>
          <p:nvPr/>
        </p:nvSpPr>
        <p:spPr>
          <a:xfrm>
            <a:off x="1123950" y="1948815"/>
            <a:ext cx="7010400" cy="2124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作者姓名（替换） · 期刊与卷页（替换） · 2026 · DOI: 待替换 · 书目占位，非真实文献</a:t>
            </a:r>
            <a:endParaRPr lang="zh-CN" sz="1350" dirty="0"/>
          </a:p>
        </p:txBody>
      </p:sp>
      <p:sp>
        <p:nvSpPr>
          <p:cNvPr id="10" name="T48/ref:T1:line"/>
          <p:cNvSpPr/>
          <p:nvPr/>
        </p:nvSpPr>
        <p:spPr>
          <a:xfrm>
            <a:off x="1123950" y="2265998"/>
            <a:ext cx="7010400" cy="0"/>
          </a:xfrm>
          <a:prstGeom prst="line">
            <a:avLst/>
          </a:prstGeom>
          <a:noFill/>
          <a:ln w="13335">
            <a:solidFill>
              <a:srgbClr val="BEC8D4"/>
            </a:solidFill>
            <a:prstDash val="solid"/>
          </a:ln>
        </p:spPr>
      </p:sp>
      <p:sp>
        <p:nvSpPr>
          <p:cNvPr id="11" name="T48/ref:T2:id"/>
          <p:cNvSpPr/>
          <p:nvPr/>
        </p:nvSpPr>
        <p:spPr>
          <a:xfrm>
            <a:off x="457200" y="2408873"/>
            <a:ext cx="5524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2"/>
              </a:lnSpc>
              <a:buNone/>
            </a:pPr>
            <a:r>
              <a:rPr lang="zh-CN" altLang="en-US" sz="165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T2</a:t>
            </a:r>
            <a:endParaRPr lang="zh-CN" sz="1650" dirty="0"/>
          </a:p>
        </p:txBody>
      </p:sp>
      <p:sp>
        <p:nvSpPr>
          <p:cNvPr id="12" name="T48/ref:T2:title"/>
          <p:cNvSpPr/>
          <p:nvPr/>
        </p:nvSpPr>
        <p:spPr>
          <a:xfrm>
            <a:off x="1123950" y="2389823"/>
            <a:ext cx="7010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Full title of a related methods or validation study</a:t>
            </a:r>
            <a:endParaRPr lang="zh-CN" sz="1800" dirty="0"/>
          </a:p>
        </p:txBody>
      </p:sp>
      <p:sp>
        <p:nvSpPr>
          <p:cNvPr id="13" name="T48/ref:T2:meta"/>
          <p:cNvSpPr/>
          <p:nvPr/>
        </p:nvSpPr>
        <p:spPr>
          <a:xfrm>
            <a:off x="1123950" y="2730818"/>
            <a:ext cx="7010400" cy="2124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作者姓名（替换） · 期刊与卷页（替换） · 2026 · DOI: 待替换 · 书目占位，非真实文献</a:t>
            </a:r>
            <a:endParaRPr lang="zh-CN" sz="1350" dirty="0"/>
          </a:p>
        </p:txBody>
      </p:sp>
      <p:sp>
        <p:nvSpPr>
          <p:cNvPr id="14" name="T48/ref:T2:line"/>
          <p:cNvSpPr/>
          <p:nvPr/>
        </p:nvSpPr>
        <p:spPr>
          <a:xfrm>
            <a:off x="1123950" y="3048000"/>
            <a:ext cx="7010400" cy="0"/>
          </a:xfrm>
          <a:prstGeom prst="line">
            <a:avLst/>
          </a:prstGeom>
          <a:noFill/>
          <a:ln w="13335">
            <a:solidFill>
              <a:srgbClr val="BEC8D4"/>
            </a:solidFill>
            <a:prstDash val="solid"/>
          </a:ln>
        </p:spPr>
      </p:sp>
      <p:sp>
        <p:nvSpPr>
          <p:cNvPr id="15" name="T48/ref:T3:id"/>
          <p:cNvSpPr/>
          <p:nvPr/>
        </p:nvSpPr>
        <p:spPr>
          <a:xfrm>
            <a:off x="457200" y="3190875"/>
            <a:ext cx="5524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2"/>
              </a:lnSpc>
              <a:buNone/>
            </a:pPr>
            <a:r>
              <a:rPr lang="zh-CN" altLang="en-US" sz="165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T3</a:t>
            </a:r>
            <a:endParaRPr lang="zh-CN" sz="1650" dirty="0"/>
          </a:p>
        </p:txBody>
      </p:sp>
      <p:sp>
        <p:nvSpPr>
          <p:cNvPr id="16" name="T48/ref:T3:title"/>
          <p:cNvSpPr/>
          <p:nvPr/>
        </p:nvSpPr>
        <p:spPr>
          <a:xfrm>
            <a:off x="1123950" y="3171825"/>
            <a:ext cx="7010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Full title of the source for the supplementary evidence</a:t>
            </a:r>
            <a:endParaRPr lang="zh-CN" sz="1800" dirty="0"/>
          </a:p>
        </p:txBody>
      </p:sp>
      <p:sp>
        <p:nvSpPr>
          <p:cNvPr id="17" name="T48/ref:T3:meta"/>
          <p:cNvSpPr/>
          <p:nvPr/>
        </p:nvSpPr>
        <p:spPr>
          <a:xfrm>
            <a:off x="1123950" y="3512820"/>
            <a:ext cx="7010400" cy="2124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作者姓名（替换） · 期刊与卷页（替换） · 2026 · DOI: 待替换 · 书目占位，非真实文献</a:t>
            </a:r>
            <a:endParaRPr lang="zh-CN" sz="1350" dirty="0"/>
          </a:p>
        </p:txBody>
      </p:sp>
      <p:sp>
        <p:nvSpPr>
          <p:cNvPr id="18" name="T48/card/region-1/base-rule"/>
          <p:cNvSpPr/>
          <p:nvPr/>
        </p:nvSpPr>
        <p:spPr>
          <a:xfrm>
            <a:off x="8477250" y="3505200"/>
            <a:ext cx="32575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9" name="T48/card/region-1/side-mark"/>
          <p:cNvSpPr/>
          <p:nvPr/>
        </p:nvSpPr>
        <p:spPr>
          <a:xfrm>
            <a:off x="8477250" y="142875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48/card/region-1/title"/>
          <p:cNvSpPr/>
          <p:nvPr/>
        </p:nvSpPr>
        <p:spPr>
          <a:xfrm>
            <a:off x="8629650" y="1428750"/>
            <a:ext cx="31051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版本与补充材料</a:t>
            </a:r>
            <a:endParaRPr lang="zh-CN" sz="1800" dirty="0"/>
          </a:p>
        </p:txBody>
      </p:sp>
      <p:sp>
        <p:nvSpPr>
          <p:cNvPr id="21" name="T48/card/region-1/body"/>
          <p:cNvSpPr/>
          <p:nvPr/>
        </p:nvSpPr>
        <p:spPr>
          <a:xfrm>
            <a:off x="8629650" y="1847850"/>
            <a:ext cx="3105150" cy="156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记录正式稿、作者稿或预印本版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补充材料、代码和数据分别定位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不要把链接存在当作已读全文</a:t>
            </a:r>
            <a:endParaRPr lang="zh-CN" sz="1725" dirty="0"/>
          </a:p>
        </p:txBody>
      </p:sp>
      <p:sp>
        <p:nvSpPr>
          <p:cNvPr id="22" name="T48/card/region-2/heading-rule"/>
          <p:cNvSpPr/>
          <p:nvPr/>
        </p:nvSpPr>
        <p:spPr>
          <a:xfrm>
            <a:off x="8477250" y="4114800"/>
            <a:ext cx="32575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3" name="T48/card/region-2/heading-mark"/>
          <p:cNvSpPr/>
          <p:nvPr/>
        </p:nvSpPr>
        <p:spPr>
          <a:xfrm>
            <a:off x="8477250" y="41148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24" name="T48/card/region-2/title"/>
          <p:cNvSpPr/>
          <p:nvPr/>
        </p:nvSpPr>
        <p:spPr>
          <a:xfrm>
            <a:off x="8477250" y="3771900"/>
            <a:ext cx="32575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图像与数据来源</a:t>
            </a:r>
            <a:endParaRPr lang="zh-CN" sz="1875" dirty="0"/>
          </a:p>
        </p:txBody>
      </p:sp>
      <p:sp>
        <p:nvSpPr>
          <p:cNvPr id="25" name="T48/card/region-2/body"/>
          <p:cNvSpPr/>
          <p:nvPr/>
        </p:nvSpPr>
        <p:spPr>
          <a:xfrm>
            <a:off x="8477250" y="4248150"/>
            <a:ext cx="3257550" cy="1733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保留图号、面板、作者与许可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裁切说明不能省略关键上下文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替换本页所有占位书目后再汇报</a:t>
            </a:r>
            <a:endParaRPr lang="zh-CN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研究计划与附录学术模板</dc:title>
  <dc:subject>原创学术版式、结构化填充指引与合成科学图</dc:subject>
  <dc:creator>DSH Academic PPT</dc:creator>
  <cp:lastModifiedBy>DSH Academic PPT</cp:lastModifiedBy>
  <cp:revision>1</cp:revision>
  <dcterms:created xsi:type="dcterms:W3CDTF">2026-10-20T04:29:15Z</dcterms:created>
  <dcterms:modified xsi:type="dcterms:W3CDTF">2026-10-20T04:29:15Z</dcterms:modified>
</cp:coreProperties>
</file>