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experiment-cohort-design。队列划分和采集过程在左，独立样本与观测次数在右明确区分。
全部文本为填写指引，图表值是合成演示值，不是任何研究结果。使用前替换论文、数据、原图与来源。
内容职责：独立样本单位；重复测量结构；纳入排除与缺失值。
建议讲述时间只是排练起点，按实际内容调整。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experiment-factorial。因子表与随机化条件并列，主效应和交互作用的解释作为宽带紧接表底。
全部文本为填写指引，图表值是合成演示值，不是任何研究结果。使用前替换论文、数据、原图与来源。
内容职责：随机化与重复；效应解释。
建议讲述时间只是排练起点，按实际内容调整。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experiment-train-test-split。原始样本按独立单位划分到训练、验证与独立测试三个分支，下方说明划分职责与泄漏检查。
全部文本为填写指引，图表值是合成演示值，不是任何研究结果。使用前替换论文、数据、原图与来源。
内容职责：划分单位与留出条件；信息泄漏检查。
建议讲述时间只是排练起点，按实际内容调整。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experiment-baseline-controls。共同条件用表格对齐，右栏交代预算；紧接表底的宽解释区区分新增信息与结构贡献。
全部文本为填写指引，图表值是合成演示值，不是任何研究结果。使用前替换论文、数据、原图与来源。
内容职责：共同预算；额外信息。
建议讲述时间只是排练起点，按实际内容调整。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experiment-measurement-chain。测量链用分层流程，误差来源与校准集中置于右侧。
全部文本为填写指引，图表值是合成演示值，不是任何研究结果。使用前替换论文、数据、原图与来源。
内容职责：校准与误差；分析单位。
建议讲述时间只是排练起点，按实际内容调整。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experiment-parameter-protocol。参数表配训练、测试和复现备注，避免参数被藏在讲稿中。
全部文本为填写指引，图表值是合成演示值，不是任何研究结果。使用前替换论文、数据、原图与来源。
内容职责：训练条件；测试条件；复现材料。
建议讲述时间只是排练起点，按实际内容调整。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3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3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/ 06</a:t>
            </a:r>
            <a:endParaRPr lang="zh-CN" sz="1050" dirty="0"/>
          </a:p>
        </p:txBody>
      </p:sp>
      <p:sp>
        <p:nvSpPr>
          <p:cNvPr id="4" name="T13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样本单位与重复测量</a:t>
            </a:r>
            <a:endParaRPr lang="zh-CN" sz="3000" dirty="0"/>
          </a:p>
        </p:txBody>
      </p:sp>
      <p:sp>
        <p:nvSpPr>
          <p:cNvPr id="5" name="T13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13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sp>
        <p:nvSpPr>
          <p:cNvPr id="7" name="T13/edge:0"/>
          <p:cNvSpPr/>
          <p:nvPr/>
        </p:nvSpPr>
        <p:spPr>
          <a:xfrm>
            <a:off x="2533650" y="2017824"/>
            <a:ext cx="5905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8" name="T13/edge:1"/>
          <p:cNvSpPr/>
          <p:nvPr/>
        </p:nvSpPr>
        <p:spPr>
          <a:xfrm>
            <a:off x="5200650" y="2017824"/>
            <a:ext cx="5905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9" name="T13/edge:2"/>
          <p:cNvSpPr/>
          <p:nvPr/>
        </p:nvSpPr>
        <p:spPr>
          <a:xfrm>
            <a:off x="4162425" y="2571750"/>
            <a:ext cx="0" cy="652844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0" name="T13/node:step-1:frame"/>
          <p:cNvSpPr/>
          <p:nvPr/>
        </p:nvSpPr>
        <p:spPr>
          <a:xfrm>
            <a:off x="457200" y="1463897"/>
            <a:ext cx="2076450" cy="1107853"/>
          </a:xfrm>
          <a:prstGeom prst="rect">
            <a:avLst/>
          </a:prstGeom>
          <a:solidFill>
            <a:srgbClr val="F0F3F6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1" name="T13/node:step-1:heading-rule"/>
          <p:cNvSpPr/>
          <p:nvPr/>
        </p:nvSpPr>
        <p:spPr>
          <a:xfrm>
            <a:off x="457200" y="1463897"/>
            <a:ext cx="2076450" cy="0"/>
          </a:xfrm>
          <a:prstGeom prst="line">
            <a:avLst/>
          </a:prstGeom>
          <a:noFill/>
          <a:ln w="19050">
            <a:solidFill>
              <a:srgbClr val="536A7A"/>
            </a:solidFill>
            <a:prstDash val="solid"/>
          </a:ln>
        </p:spPr>
      </p:sp>
      <p:sp>
        <p:nvSpPr>
          <p:cNvPr id="12" name="T13/node:step-1:label"/>
          <p:cNvSpPr/>
          <p:nvPr/>
        </p:nvSpPr>
        <p:spPr>
          <a:xfrm>
            <a:off x="571500" y="1559147"/>
            <a:ext cx="18478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目标总体</a:t>
            </a:r>
            <a:endParaRPr lang="zh-CN" sz="1800" dirty="0"/>
          </a:p>
        </p:txBody>
      </p:sp>
      <p:sp>
        <p:nvSpPr>
          <p:cNvPr id="13" name="T13/node:step-1:detail"/>
          <p:cNvSpPr/>
          <p:nvPr/>
        </p:nvSpPr>
        <p:spPr>
          <a:xfrm>
            <a:off x="571500" y="1873472"/>
            <a:ext cx="1847850" cy="612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来源与纳入规则</a:t>
            </a:r>
            <a:endParaRPr lang="zh-CN" sz="1650" dirty="0"/>
          </a:p>
        </p:txBody>
      </p:sp>
      <p:sp>
        <p:nvSpPr>
          <p:cNvPr id="14" name="T13/node:step-2:frame"/>
          <p:cNvSpPr/>
          <p:nvPr/>
        </p:nvSpPr>
        <p:spPr>
          <a:xfrm>
            <a:off x="3124200" y="1463897"/>
            <a:ext cx="2076450" cy="1107853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5" name="T13/node:step-2:heading-rule"/>
          <p:cNvSpPr/>
          <p:nvPr/>
        </p:nvSpPr>
        <p:spPr>
          <a:xfrm>
            <a:off x="3124200" y="1463897"/>
            <a:ext cx="207645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16" name="T13/node:step-2:label"/>
          <p:cNvSpPr/>
          <p:nvPr/>
        </p:nvSpPr>
        <p:spPr>
          <a:xfrm>
            <a:off x="3238500" y="1559147"/>
            <a:ext cx="18478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独立实验单位</a:t>
            </a:r>
            <a:endParaRPr lang="zh-CN" sz="1800" dirty="0"/>
          </a:p>
        </p:txBody>
      </p:sp>
      <p:sp>
        <p:nvSpPr>
          <p:cNvPr id="17" name="T13/node:step-2:detail"/>
          <p:cNvSpPr/>
          <p:nvPr/>
        </p:nvSpPr>
        <p:spPr>
          <a:xfrm>
            <a:off x="3238500" y="1873472"/>
            <a:ext cx="1847850" cy="612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独立接受处理</a:t>
            </a:r>
            <a:endParaRPr lang="zh-CN" sz="1650" dirty="0"/>
          </a:p>
        </p:txBody>
      </p:sp>
      <p:sp>
        <p:nvSpPr>
          <p:cNvPr id="18" name="T13/node:step-3:frame"/>
          <p:cNvSpPr/>
          <p:nvPr/>
        </p:nvSpPr>
        <p:spPr>
          <a:xfrm>
            <a:off x="5791200" y="1463897"/>
            <a:ext cx="2076450" cy="1107853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9" name="T13/node:step-3:heading-rule"/>
          <p:cNvSpPr/>
          <p:nvPr/>
        </p:nvSpPr>
        <p:spPr>
          <a:xfrm>
            <a:off x="5791200" y="1463897"/>
            <a:ext cx="207645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20" name="T13/node:step-3:label"/>
          <p:cNvSpPr/>
          <p:nvPr/>
        </p:nvSpPr>
        <p:spPr>
          <a:xfrm>
            <a:off x="5905500" y="1559147"/>
            <a:ext cx="18478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分组与处理</a:t>
            </a:r>
            <a:endParaRPr lang="zh-CN" sz="1800" dirty="0"/>
          </a:p>
        </p:txBody>
      </p:sp>
      <p:sp>
        <p:nvSpPr>
          <p:cNvPr id="21" name="T13/node:step-3:detail"/>
          <p:cNvSpPr/>
          <p:nvPr/>
        </p:nvSpPr>
        <p:spPr>
          <a:xfrm>
            <a:off x="5905500" y="1873472"/>
            <a:ext cx="1847850" cy="612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随机化与区组</a:t>
            </a:r>
            <a:endParaRPr lang="zh-CN" sz="1650" dirty="0"/>
          </a:p>
        </p:txBody>
      </p:sp>
      <p:sp>
        <p:nvSpPr>
          <p:cNvPr id="22" name="T13/node:step-4:frame"/>
          <p:cNvSpPr/>
          <p:nvPr/>
        </p:nvSpPr>
        <p:spPr>
          <a:xfrm>
            <a:off x="3124200" y="3224594"/>
            <a:ext cx="2076450" cy="929831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3" name="T13/node:step-4:heading-rule"/>
          <p:cNvSpPr/>
          <p:nvPr/>
        </p:nvSpPr>
        <p:spPr>
          <a:xfrm>
            <a:off x="3124200" y="3224594"/>
            <a:ext cx="207645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24" name="T13/node:step-4:label"/>
          <p:cNvSpPr/>
          <p:nvPr/>
        </p:nvSpPr>
        <p:spPr>
          <a:xfrm>
            <a:off x="3238500" y="3556159"/>
            <a:ext cx="18478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重复测量</a:t>
            </a:r>
            <a:endParaRPr lang="zh-CN" sz="1800" dirty="0"/>
          </a:p>
        </p:txBody>
      </p:sp>
      <p:sp>
        <p:nvSpPr>
          <p:cNvPr id="25" name="T13/card/region-1/frame"/>
          <p:cNvSpPr/>
          <p:nvPr/>
        </p:nvSpPr>
        <p:spPr>
          <a:xfrm>
            <a:off x="8229600" y="1187006"/>
            <a:ext cx="3505200" cy="2136553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6" name="T13/card/region-1/heading-fill"/>
          <p:cNvSpPr/>
          <p:nvPr/>
        </p:nvSpPr>
        <p:spPr>
          <a:xfrm>
            <a:off x="8239125" y="1196531"/>
            <a:ext cx="3486150" cy="371475"/>
          </a:xfrm>
          <a:prstGeom prst="rect">
            <a:avLst/>
          </a:prstGeom>
          <a:solidFill>
            <a:srgbClr val="F0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13/card/region-1/heading-rule"/>
          <p:cNvSpPr/>
          <p:nvPr/>
        </p:nvSpPr>
        <p:spPr>
          <a:xfrm>
            <a:off x="8229600" y="1568006"/>
            <a:ext cx="35052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8" name="T13/card/region-1/title"/>
          <p:cNvSpPr/>
          <p:nvPr/>
        </p:nvSpPr>
        <p:spPr>
          <a:xfrm>
            <a:off x="8353425" y="1234631"/>
            <a:ext cx="32575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独立样本单位</a:t>
            </a:r>
            <a:endParaRPr lang="zh-CN" sz="1950" dirty="0"/>
          </a:p>
        </p:txBody>
      </p:sp>
      <p:sp>
        <p:nvSpPr>
          <p:cNvPr id="29" name="T13/card/region-1/body"/>
          <p:cNvSpPr/>
          <p:nvPr/>
        </p:nvSpPr>
        <p:spPr>
          <a:xfrm>
            <a:off x="8362950" y="1672781"/>
            <a:ext cx="3238500" cy="15555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填写真正接受独立处理的个体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随机种子、图像和轨迹分别计数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用实验设计判断统计独立性</a:t>
            </a:r>
            <a:endParaRPr lang="zh-CN" sz="1800" dirty="0"/>
          </a:p>
        </p:txBody>
      </p:sp>
      <p:sp>
        <p:nvSpPr>
          <p:cNvPr id="30" name="T13/card/region-2/frame"/>
          <p:cNvSpPr/>
          <p:nvPr/>
        </p:nvSpPr>
        <p:spPr>
          <a:xfrm>
            <a:off x="8229600" y="3742563"/>
            <a:ext cx="3505200" cy="2291144"/>
          </a:xfrm>
          <a:prstGeom prst="rect">
            <a:avLst/>
          </a:prstGeom>
          <a:solidFill>
            <a:srgbClr val="FFFFFF"/>
          </a:solidFill>
          <a:ln w="14288">
            <a:solidFill>
              <a:srgbClr val="235E96"/>
            </a:solidFill>
            <a:prstDash val="solid"/>
          </a:ln>
        </p:spPr>
      </p:sp>
      <p:sp>
        <p:nvSpPr>
          <p:cNvPr id="31" name="T13/card/region-2/title-cutout"/>
          <p:cNvSpPr/>
          <p:nvPr/>
        </p:nvSpPr>
        <p:spPr>
          <a:xfrm>
            <a:off x="8362950" y="3590163"/>
            <a:ext cx="152400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13/card/region-2/base-rule"/>
          <p:cNvSpPr/>
          <p:nvPr/>
        </p:nvSpPr>
        <p:spPr>
          <a:xfrm>
            <a:off x="8420100" y="5881307"/>
            <a:ext cx="333375" cy="0"/>
          </a:xfrm>
          <a:prstGeom prst="line">
            <a:avLst/>
          </a:prstGeom>
          <a:noFill/>
          <a:ln w="28575">
            <a:solidFill>
              <a:srgbClr val="235E96"/>
            </a:solidFill>
            <a:prstDash val="solid"/>
          </a:ln>
        </p:spPr>
      </p:sp>
      <p:sp>
        <p:nvSpPr>
          <p:cNvPr id="33" name="T13/card/region-2/title"/>
          <p:cNvSpPr/>
          <p:nvPr/>
        </p:nvSpPr>
        <p:spPr>
          <a:xfrm>
            <a:off x="8420100" y="3599688"/>
            <a:ext cx="312420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重复测量结构</a:t>
            </a:r>
            <a:endParaRPr lang="zh-CN" sz="1950" dirty="0"/>
          </a:p>
        </p:txBody>
      </p:sp>
      <p:sp>
        <p:nvSpPr>
          <p:cNvPr id="34" name="T13/card/region-2/body"/>
          <p:cNvSpPr/>
          <p:nvPr/>
        </p:nvSpPr>
        <p:spPr>
          <a:xfrm>
            <a:off x="8420100" y="4133088"/>
            <a:ext cx="3124200" cy="1710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填写每个个体的时间点与采样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频率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说明分层或相关观测的处理方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法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缺失测量不应扩大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独立样本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</a:t>
            </a:r>
            <a:endParaRPr lang="zh-CN" sz="1800" dirty="0"/>
          </a:p>
        </p:txBody>
      </p:sp>
      <p:sp>
        <p:nvSpPr>
          <p:cNvPr id="35" name="T13/card/region-3/heading-rule"/>
          <p:cNvSpPr/>
          <p:nvPr/>
        </p:nvSpPr>
        <p:spPr>
          <a:xfrm>
            <a:off x="457200" y="4931759"/>
            <a:ext cx="74104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6" name="T13/card/region-3/heading-mark"/>
          <p:cNvSpPr/>
          <p:nvPr/>
        </p:nvSpPr>
        <p:spPr>
          <a:xfrm>
            <a:off x="457200" y="4931759"/>
            <a:ext cx="342900" cy="0"/>
          </a:xfrm>
          <a:prstGeom prst="line">
            <a:avLst/>
          </a:prstGeom>
          <a:noFill/>
          <a:ln w="17145">
            <a:solidFill>
              <a:srgbClr val="A24736"/>
            </a:solidFill>
            <a:prstDash val="solid"/>
          </a:ln>
        </p:spPr>
      </p:sp>
      <p:sp>
        <p:nvSpPr>
          <p:cNvPr id="37" name="T13/card/region-3/title"/>
          <p:cNvSpPr/>
          <p:nvPr/>
        </p:nvSpPr>
        <p:spPr>
          <a:xfrm>
            <a:off x="457200" y="4588859"/>
            <a:ext cx="74104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A2473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纳入、排除与缺失</a:t>
            </a:r>
            <a:endParaRPr lang="zh-CN" sz="1950" dirty="0"/>
          </a:p>
        </p:txBody>
      </p:sp>
      <p:sp>
        <p:nvSpPr>
          <p:cNvPr id="38" name="T13/card/region-3/body"/>
          <p:cNvSpPr/>
          <p:nvPr/>
        </p:nvSpPr>
        <p:spPr>
          <a:xfrm>
            <a:off x="457200" y="5065109"/>
            <a:ext cx="7410450" cy="9304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预先写明纳入、排除和质量控制规则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报告各阶段样本量与缺失原因</a:t>
            </a:r>
            <a:endParaRPr lang="zh-CN" sz="1800" dirty="0"/>
          </a:p>
        </p:txBody>
      </p:sp>
      <p:sp>
        <p:nvSpPr>
          <p:cNvPr id="39" name="T13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4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4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/ 06</a:t>
            </a:r>
            <a:endParaRPr lang="zh-CN" sz="1050" dirty="0"/>
          </a:p>
        </p:txBody>
      </p:sp>
      <p:sp>
        <p:nvSpPr>
          <p:cNvPr id="4" name="T14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实验因子与处理组合</a:t>
            </a:r>
            <a:endParaRPr lang="zh-CN" sz="3000" dirty="0"/>
          </a:p>
        </p:txBody>
      </p:sp>
      <p:sp>
        <p:nvSpPr>
          <p:cNvPr id="5" name="T14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14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graphicFrame>
        <p:nvGraphicFramePr>
          <p:cNvPr id="3" name="T14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5875"/>
          <a:ext cx="7581900" cy="2270379"/>
        </p:xfrm>
        <a:graphic>
          <a:graphicData uri="http://schemas.openxmlformats.org/drawingml/2006/table">
            <a:tbl>
              <a:tblPr/>
              <a:tblGrid>
                <a:gridCol w="1895475"/>
                <a:gridCol w="1895475"/>
                <a:gridCol w="1895475"/>
                <a:gridCol w="1895475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因子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水平 1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水平 2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设计说明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处理强度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低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高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填写实际水平与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单位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环境条件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E1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E2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说明独立重复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时间阶段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早期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后期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是否为重复测量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随机化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按区组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组内分配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记录分配单位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14/table-caption"/>
          <p:cNvSpPr/>
          <p:nvPr/>
        </p:nvSpPr>
        <p:spPr>
          <a:xfrm>
            <a:off x="457200" y="3622929"/>
            <a:ext cx="75819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结构占位 / 合成数据，必须替换后才能用于学术结论</a:t>
            </a:r>
            <a:endParaRPr lang="zh-CN" sz="1350" dirty="0"/>
          </a:p>
        </p:txBody>
      </p:sp>
      <p:sp>
        <p:nvSpPr>
          <p:cNvPr id="9" name="T14/card/region-1/frame"/>
          <p:cNvSpPr/>
          <p:nvPr/>
        </p:nvSpPr>
        <p:spPr>
          <a:xfrm>
            <a:off x="8362950" y="1206722"/>
            <a:ext cx="3371850" cy="2195894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0" name="T14/card/region-1/heading-fill"/>
          <p:cNvSpPr/>
          <p:nvPr/>
        </p:nvSpPr>
        <p:spPr>
          <a:xfrm>
            <a:off x="8372475" y="1216247"/>
            <a:ext cx="3352800" cy="371475"/>
          </a:xfrm>
          <a:prstGeom prst="rect">
            <a:avLst/>
          </a:prstGeom>
          <a:solidFill>
            <a:srgbClr val="EAF2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14/card/region-1/heading-rule"/>
          <p:cNvSpPr/>
          <p:nvPr/>
        </p:nvSpPr>
        <p:spPr>
          <a:xfrm>
            <a:off x="8362950" y="1587722"/>
            <a:ext cx="33718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2" name="T14/card/region-1/title"/>
          <p:cNvSpPr/>
          <p:nvPr/>
        </p:nvSpPr>
        <p:spPr>
          <a:xfrm>
            <a:off x="8486775" y="1254347"/>
            <a:ext cx="31242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随机化与重复</a:t>
            </a:r>
            <a:endParaRPr lang="zh-CN" sz="1950" dirty="0"/>
          </a:p>
        </p:txBody>
      </p:sp>
      <p:sp>
        <p:nvSpPr>
          <p:cNvPr id="13" name="T14/card/region-1/body"/>
          <p:cNvSpPr/>
          <p:nvPr/>
        </p:nvSpPr>
        <p:spPr>
          <a:xfrm>
            <a:off x="8496300" y="1692497"/>
            <a:ext cx="3105150" cy="16148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说明处理分配与区组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写清每组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独立重复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将技术重复与生物重复区分</a:t>
            </a:r>
            <a:endParaRPr lang="zh-CN" sz="1800" dirty="0"/>
          </a:p>
        </p:txBody>
      </p:sp>
      <p:sp>
        <p:nvSpPr>
          <p:cNvPr id="14" name="T14/card/region-2/frame"/>
          <p:cNvSpPr/>
          <p:nvPr/>
        </p:nvSpPr>
        <p:spPr>
          <a:xfrm>
            <a:off x="457200" y="4042029"/>
            <a:ext cx="11277600" cy="1681544"/>
          </a:xfrm>
          <a:prstGeom prst="rect">
            <a:avLst/>
          </a:prstGeom>
          <a:solidFill>
            <a:srgbClr val="FFFFFF"/>
          </a:solidFill>
          <a:ln w="9525">
            <a:solidFill>
              <a:srgbClr val="BEC8D4"/>
            </a:solidFill>
            <a:prstDash val="solid"/>
          </a:ln>
          <a:effectLst>
            <a:outerShdw sx="100000" sy="100000" kx="0" ky="0" algn="bl" rotWithShape="0" blurRad="28575" dist="19050" dir="5400000">
              <a:srgbClr val="20334A">
                <a:alpha val="10000"/>
              </a:srgbClr>
            </a:outerShdw>
          </a:effectLst>
        </p:spPr>
      </p:sp>
      <p:sp>
        <p:nvSpPr>
          <p:cNvPr id="15" name="T14/card/region-2/top-accent"/>
          <p:cNvSpPr/>
          <p:nvPr/>
        </p:nvSpPr>
        <p:spPr>
          <a:xfrm>
            <a:off x="647700" y="4156329"/>
            <a:ext cx="400050" cy="0"/>
          </a:xfrm>
          <a:prstGeom prst="line">
            <a:avLst/>
          </a:prstGeom>
          <a:noFill/>
          <a:ln w="28575">
            <a:solidFill>
              <a:srgbClr val="146C63"/>
            </a:solidFill>
            <a:prstDash val="solid"/>
          </a:ln>
        </p:spPr>
      </p:sp>
      <p:sp>
        <p:nvSpPr>
          <p:cNvPr id="16" name="T14/card/region-2/title"/>
          <p:cNvSpPr/>
          <p:nvPr/>
        </p:nvSpPr>
        <p:spPr>
          <a:xfrm>
            <a:off x="647700" y="4242054"/>
            <a:ext cx="1089660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效应解释</a:t>
            </a:r>
            <a:endParaRPr lang="zh-CN" sz="1950" dirty="0"/>
          </a:p>
        </p:txBody>
      </p:sp>
      <p:sp>
        <p:nvSpPr>
          <p:cNvPr id="17" name="T14/card/region-2/body"/>
          <p:cNvSpPr/>
          <p:nvPr/>
        </p:nvSpPr>
        <p:spPr>
          <a:xfrm>
            <a:off x="647700" y="4708779"/>
            <a:ext cx="10896600" cy="824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分别解释主效应与交互作用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比较应固定其他因素的条件</a:t>
            </a:r>
            <a:endParaRPr lang="zh-CN" sz="1800" dirty="0"/>
          </a:p>
        </p:txBody>
      </p:sp>
      <p:sp>
        <p:nvSpPr>
          <p:cNvPr id="18" name="T14/takeaway"/>
          <p:cNvSpPr/>
          <p:nvPr/>
        </p:nvSpPr>
        <p:spPr>
          <a:xfrm>
            <a:off x="457200" y="5837872"/>
            <a:ext cx="11277600" cy="276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统计口径、样本单位和适用条件需与原文一致</a:t>
            </a:r>
            <a:endParaRPr lang="zh-CN" sz="1800" dirty="0"/>
          </a:p>
        </p:txBody>
      </p:sp>
      <p:sp>
        <p:nvSpPr>
          <p:cNvPr id="19" name="T14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5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5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/ 06</a:t>
            </a:r>
            <a:endParaRPr lang="zh-CN" sz="1050" dirty="0"/>
          </a:p>
        </p:txBody>
      </p:sp>
      <p:sp>
        <p:nvSpPr>
          <p:cNvPr id="4" name="T15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训练验证与独立测试</a:t>
            </a:r>
            <a:endParaRPr lang="zh-CN" sz="3000" dirty="0"/>
          </a:p>
        </p:txBody>
      </p:sp>
      <p:sp>
        <p:nvSpPr>
          <p:cNvPr id="5" name="T15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15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sp>
        <p:nvSpPr>
          <p:cNvPr id="7" name="T15/panel:0:frame"/>
          <p:cNvSpPr/>
          <p:nvPr/>
        </p:nvSpPr>
        <p:spPr>
          <a:xfrm>
            <a:off x="457200" y="1127570"/>
            <a:ext cx="11277600" cy="2551938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15/panel:0:heading-fill"/>
          <p:cNvSpPr/>
          <p:nvPr/>
        </p:nvSpPr>
        <p:spPr>
          <a:xfrm>
            <a:off x="466725" y="1137095"/>
            <a:ext cx="11258550" cy="381000"/>
          </a:xfrm>
          <a:prstGeom prst="rect">
            <a:avLst/>
          </a:prstGeom>
          <a:solidFill>
            <a:srgbClr val="EAF2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15/panel:0:heading-rule"/>
          <p:cNvSpPr/>
          <p:nvPr/>
        </p:nvSpPr>
        <p:spPr>
          <a:xfrm>
            <a:off x="457200" y="1518095"/>
            <a:ext cx="112776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15/panel:0:title"/>
          <p:cNvSpPr/>
          <p:nvPr/>
        </p:nvSpPr>
        <p:spPr>
          <a:xfrm>
            <a:off x="581025" y="1175195"/>
            <a:ext cx="110299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各集合承担不同职责</a:t>
            </a:r>
            <a:endParaRPr lang="zh-CN" sz="1950" dirty="0"/>
          </a:p>
        </p:txBody>
      </p:sp>
      <p:sp>
        <p:nvSpPr>
          <p:cNvPr id="11" name="T15/edge:0:segment:0"/>
          <p:cNvSpPr/>
          <p:nvPr/>
        </p:nvSpPr>
        <p:spPr>
          <a:xfrm>
            <a:off x="6096000" y="2354104"/>
            <a:ext cx="0" cy="227505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2" name="T15/edge:0:segment:1"/>
          <p:cNvSpPr/>
          <p:nvPr/>
        </p:nvSpPr>
        <p:spPr>
          <a:xfrm flipH="1">
            <a:off x="2171700" y="2581608"/>
            <a:ext cx="39243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3" name="T15/edge:0:segment:2"/>
          <p:cNvSpPr/>
          <p:nvPr/>
        </p:nvSpPr>
        <p:spPr>
          <a:xfrm>
            <a:off x="2171700" y="2581608"/>
            <a:ext cx="0" cy="227505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4" name="T15/edge:1"/>
          <p:cNvSpPr/>
          <p:nvPr/>
        </p:nvSpPr>
        <p:spPr>
          <a:xfrm>
            <a:off x="6096000" y="2354104"/>
            <a:ext cx="0" cy="455009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5" name="T15/edge:2:segment:0"/>
          <p:cNvSpPr/>
          <p:nvPr/>
        </p:nvSpPr>
        <p:spPr>
          <a:xfrm>
            <a:off x="6096000" y="2354104"/>
            <a:ext cx="0" cy="227505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6" name="T15/edge:2:segment:1"/>
          <p:cNvSpPr/>
          <p:nvPr/>
        </p:nvSpPr>
        <p:spPr>
          <a:xfrm>
            <a:off x="6096000" y="2581608"/>
            <a:ext cx="39243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7" name="T15/edge:2:segment:2"/>
          <p:cNvSpPr/>
          <p:nvPr/>
        </p:nvSpPr>
        <p:spPr>
          <a:xfrm>
            <a:off x="10020300" y="2581608"/>
            <a:ext cx="0" cy="227505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8" name="T15/node:step-1:frame"/>
          <p:cNvSpPr/>
          <p:nvPr/>
        </p:nvSpPr>
        <p:spPr>
          <a:xfrm>
            <a:off x="3333750" y="1641920"/>
            <a:ext cx="5524500" cy="712184"/>
          </a:xfrm>
          <a:prstGeom prst="rect">
            <a:avLst/>
          </a:prstGeom>
          <a:solidFill>
            <a:srgbClr val="F0F3F6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9" name="T15/node:step-1:heading-rule"/>
          <p:cNvSpPr/>
          <p:nvPr/>
        </p:nvSpPr>
        <p:spPr>
          <a:xfrm>
            <a:off x="3333750" y="1641920"/>
            <a:ext cx="5524500" cy="0"/>
          </a:xfrm>
          <a:prstGeom prst="line">
            <a:avLst/>
          </a:prstGeom>
          <a:noFill/>
          <a:ln w="19050">
            <a:solidFill>
              <a:srgbClr val="536A7A"/>
            </a:solidFill>
            <a:prstDash val="solid"/>
          </a:ln>
        </p:spPr>
      </p:sp>
      <p:sp>
        <p:nvSpPr>
          <p:cNvPr id="20" name="T15/node:step-1:label"/>
          <p:cNvSpPr/>
          <p:nvPr/>
        </p:nvSpPr>
        <p:spPr>
          <a:xfrm>
            <a:off x="3448050" y="1864662"/>
            <a:ext cx="52959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原始样本：按独立单位划分</a:t>
            </a:r>
            <a:endParaRPr lang="zh-CN" sz="1800" dirty="0"/>
          </a:p>
        </p:txBody>
      </p:sp>
      <p:sp>
        <p:nvSpPr>
          <p:cNvPr id="21" name="T15/node:step-2:frame"/>
          <p:cNvSpPr/>
          <p:nvPr/>
        </p:nvSpPr>
        <p:spPr>
          <a:xfrm>
            <a:off x="609600" y="2809113"/>
            <a:ext cx="3124200" cy="692372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2" name="T15/node:step-2:heading-rule"/>
          <p:cNvSpPr/>
          <p:nvPr/>
        </p:nvSpPr>
        <p:spPr>
          <a:xfrm>
            <a:off x="609600" y="2809113"/>
            <a:ext cx="312420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23" name="T15/node:step-2:label"/>
          <p:cNvSpPr/>
          <p:nvPr/>
        </p:nvSpPr>
        <p:spPr>
          <a:xfrm>
            <a:off x="723900" y="3021949"/>
            <a:ext cx="2895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训练集</a:t>
            </a:r>
            <a:endParaRPr lang="zh-CN" sz="1800" dirty="0"/>
          </a:p>
        </p:txBody>
      </p:sp>
      <p:sp>
        <p:nvSpPr>
          <p:cNvPr id="24" name="T15/node:step-3:frame"/>
          <p:cNvSpPr/>
          <p:nvPr/>
        </p:nvSpPr>
        <p:spPr>
          <a:xfrm>
            <a:off x="4533900" y="2809113"/>
            <a:ext cx="3124200" cy="692372"/>
          </a:xfrm>
          <a:prstGeom prst="rect">
            <a:avLst/>
          </a:prstGeom>
          <a:solidFill>
            <a:srgbClr val="E9F4F0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5" name="T15/node:step-3:heading-rule"/>
          <p:cNvSpPr/>
          <p:nvPr/>
        </p:nvSpPr>
        <p:spPr>
          <a:xfrm>
            <a:off x="4533900" y="2809113"/>
            <a:ext cx="3124200" cy="0"/>
          </a:xfrm>
          <a:prstGeom prst="line">
            <a:avLst/>
          </a:prstGeom>
          <a:noFill/>
          <a:ln w="19050">
            <a:solidFill>
              <a:srgbClr val="146C63"/>
            </a:solidFill>
            <a:prstDash val="solid"/>
          </a:ln>
        </p:spPr>
      </p:sp>
      <p:sp>
        <p:nvSpPr>
          <p:cNvPr id="26" name="T15/node:step-3:label"/>
          <p:cNvSpPr/>
          <p:nvPr/>
        </p:nvSpPr>
        <p:spPr>
          <a:xfrm>
            <a:off x="4648200" y="3021949"/>
            <a:ext cx="2895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验证集</a:t>
            </a:r>
            <a:endParaRPr lang="zh-CN" sz="1800" dirty="0"/>
          </a:p>
        </p:txBody>
      </p:sp>
      <p:sp>
        <p:nvSpPr>
          <p:cNvPr id="27" name="T15/node:step-4:frame"/>
          <p:cNvSpPr/>
          <p:nvPr/>
        </p:nvSpPr>
        <p:spPr>
          <a:xfrm>
            <a:off x="8458200" y="2809113"/>
            <a:ext cx="3124200" cy="692372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8" name="T15/node:step-4:heading-rule"/>
          <p:cNvSpPr/>
          <p:nvPr/>
        </p:nvSpPr>
        <p:spPr>
          <a:xfrm>
            <a:off x="8458200" y="2809113"/>
            <a:ext cx="312420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29" name="T15/node:step-4:label"/>
          <p:cNvSpPr/>
          <p:nvPr/>
        </p:nvSpPr>
        <p:spPr>
          <a:xfrm>
            <a:off x="8572500" y="3021949"/>
            <a:ext cx="2895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独立测试集</a:t>
            </a:r>
            <a:endParaRPr lang="zh-CN" sz="1800" dirty="0"/>
          </a:p>
        </p:txBody>
      </p:sp>
      <p:sp>
        <p:nvSpPr>
          <p:cNvPr id="30" name="T15/card/region-1/base-rule"/>
          <p:cNvSpPr/>
          <p:nvPr/>
        </p:nvSpPr>
        <p:spPr>
          <a:xfrm>
            <a:off x="457200" y="6033707"/>
            <a:ext cx="54864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31" name="T15/card/region-1/side-mark"/>
          <p:cNvSpPr/>
          <p:nvPr/>
        </p:nvSpPr>
        <p:spPr>
          <a:xfrm>
            <a:off x="457200" y="3936016"/>
            <a:ext cx="47625" cy="295275"/>
          </a:xfrm>
          <a:prstGeom prst="rect">
            <a:avLst/>
          </a:prstGeom>
          <a:solidFill>
            <a:srgbClr val="536A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15/card/region-1/title"/>
          <p:cNvSpPr/>
          <p:nvPr/>
        </p:nvSpPr>
        <p:spPr>
          <a:xfrm>
            <a:off x="609600" y="3936016"/>
            <a:ext cx="533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划分单位与留出条件</a:t>
            </a:r>
            <a:endParaRPr lang="zh-CN" sz="1950" dirty="0"/>
          </a:p>
        </p:txBody>
      </p:sp>
      <p:sp>
        <p:nvSpPr>
          <p:cNvPr id="33" name="T15/card/region-1/body"/>
          <p:cNvSpPr/>
          <p:nvPr/>
        </p:nvSpPr>
        <p:spPr>
          <a:xfrm>
            <a:off x="609600" y="4355116"/>
            <a:ext cx="5334000" cy="1583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按个体、站点或年份划分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明确训练、验证与独立测试的职责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测试集不能参与特征或阈值选择</a:t>
            </a:r>
            <a:endParaRPr lang="zh-CN" sz="1800" dirty="0"/>
          </a:p>
        </p:txBody>
      </p:sp>
      <p:sp>
        <p:nvSpPr>
          <p:cNvPr id="34" name="T15/card/region-2/frame"/>
          <p:cNvSpPr/>
          <p:nvPr/>
        </p:nvSpPr>
        <p:spPr>
          <a:xfrm>
            <a:off x="6248400" y="4031266"/>
            <a:ext cx="5486400" cy="2002441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5" name="T15/card/region-2/tab"/>
          <p:cNvSpPr/>
          <p:nvPr/>
        </p:nvSpPr>
        <p:spPr>
          <a:xfrm>
            <a:off x="6362700" y="3916966"/>
            <a:ext cx="1752600" cy="342900"/>
          </a:xfrm>
          <a:prstGeom prst="rect">
            <a:avLst/>
          </a:prstGeom>
          <a:solidFill>
            <a:srgbClr val="235E9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15/card/region-2/title"/>
          <p:cNvSpPr/>
          <p:nvPr/>
        </p:nvSpPr>
        <p:spPr>
          <a:xfrm>
            <a:off x="6467475" y="3945541"/>
            <a:ext cx="15430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信息泄漏检查</a:t>
            </a:r>
            <a:endParaRPr lang="zh-CN" sz="1950" dirty="0"/>
          </a:p>
        </p:txBody>
      </p:sp>
      <p:sp>
        <p:nvSpPr>
          <p:cNvPr id="37" name="T15/card/region-2/body"/>
          <p:cNvSpPr/>
          <p:nvPr/>
        </p:nvSpPr>
        <p:spPr>
          <a:xfrm>
            <a:off x="6381750" y="4402741"/>
            <a:ext cx="5219700" cy="153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同一对象的重复观测不得跨集合泄漏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标准化、缺失填补应只拟合训练集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报告时序数据可见的信息范围</a:t>
            </a:r>
            <a:endParaRPr lang="zh-CN" sz="1800" dirty="0"/>
          </a:p>
        </p:txBody>
      </p:sp>
      <p:sp>
        <p:nvSpPr>
          <p:cNvPr id="38" name="T15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6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6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/ 06</a:t>
            </a:r>
            <a:endParaRPr lang="zh-CN" sz="1050" dirty="0"/>
          </a:p>
        </p:txBody>
      </p:sp>
      <p:sp>
        <p:nvSpPr>
          <p:cNvPr id="4" name="T16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基线与公平对照</a:t>
            </a:r>
            <a:endParaRPr lang="zh-CN" sz="3000" dirty="0"/>
          </a:p>
        </p:txBody>
      </p:sp>
      <p:sp>
        <p:nvSpPr>
          <p:cNvPr id="5" name="T16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16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graphicFrame>
        <p:nvGraphicFramePr>
          <p:cNvPr id="5" name="T16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46346"/>
          <a:ext cx="7848600" cy="2403729"/>
        </p:xfrm>
        <a:graphic>
          <a:graphicData uri="http://schemas.openxmlformats.org/drawingml/2006/table">
            <a:tbl>
              <a:tblPr/>
              <a:tblGrid>
                <a:gridCol w="2616200"/>
                <a:gridCol w="2616200"/>
                <a:gridCol w="2616200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条件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基线流程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干预流程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观测数据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相同数据版本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相同数据版本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工具与参数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预先冻结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只修改指定模块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计算预算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统一上限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统一上限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人工干预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记录每次介入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记录每次介入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评价方法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同一盲评程序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同一盲评程序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16/table-caption"/>
          <p:cNvSpPr/>
          <p:nvPr/>
        </p:nvSpPr>
        <p:spPr>
          <a:xfrm>
            <a:off x="457200" y="3716750"/>
            <a:ext cx="7848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结构占位 / 合成数据，必须替换后才能用于学术结论</a:t>
            </a:r>
            <a:endParaRPr lang="zh-CN" sz="1350" dirty="0"/>
          </a:p>
        </p:txBody>
      </p:sp>
      <p:sp>
        <p:nvSpPr>
          <p:cNvPr id="9" name="T16/card/region-1/base-rule"/>
          <p:cNvSpPr/>
          <p:nvPr/>
        </p:nvSpPr>
        <p:spPr>
          <a:xfrm>
            <a:off x="8629650" y="3363087"/>
            <a:ext cx="31051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0" name="T16/card/region-1/side-mark"/>
          <p:cNvSpPr/>
          <p:nvPr/>
        </p:nvSpPr>
        <p:spPr>
          <a:xfrm>
            <a:off x="8629650" y="1265396"/>
            <a:ext cx="47625" cy="295275"/>
          </a:xfrm>
          <a:prstGeom prst="rect">
            <a:avLst/>
          </a:prstGeom>
          <a:solidFill>
            <a:srgbClr val="536A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16/card/region-1/title"/>
          <p:cNvSpPr/>
          <p:nvPr/>
        </p:nvSpPr>
        <p:spPr>
          <a:xfrm>
            <a:off x="8782050" y="1265396"/>
            <a:ext cx="29527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共同预算</a:t>
            </a:r>
            <a:endParaRPr lang="zh-CN" sz="1950" dirty="0"/>
          </a:p>
        </p:txBody>
      </p:sp>
      <p:sp>
        <p:nvSpPr>
          <p:cNvPr id="12" name="T16/card/region-1/body"/>
          <p:cNvSpPr/>
          <p:nvPr/>
        </p:nvSpPr>
        <p:spPr>
          <a:xfrm>
            <a:off x="8782050" y="1684496"/>
            <a:ext cx="2952750" cy="1583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观测、工具与训练预算保持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一致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固定调参和人工干预次数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报告运行时间与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失败成本</a:t>
            </a:r>
            <a:endParaRPr lang="zh-CN" sz="1800" dirty="0"/>
          </a:p>
        </p:txBody>
      </p:sp>
      <p:sp>
        <p:nvSpPr>
          <p:cNvPr id="13" name="T16/card/region-2/frame"/>
          <p:cNvSpPr/>
          <p:nvPr/>
        </p:nvSpPr>
        <p:spPr>
          <a:xfrm>
            <a:off x="457200" y="4231100"/>
            <a:ext cx="11277600" cy="1507903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4" name="T16/card/region-2/tab"/>
          <p:cNvSpPr/>
          <p:nvPr/>
        </p:nvSpPr>
        <p:spPr>
          <a:xfrm>
            <a:off x="571500" y="4116800"/>
            <a:ext cx="1257300" cy="342900"/>
          </a:xfrm>
          <a:prstGeom prst="rect">
            <a:avLst/>
          </a:prstGeom>
          <a:solidFill>
            <a:srgbClr val="235E9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16/card/region-2/title"/>
          <p:cNvSpPr/>
          <p:nvPr/>
        </p:nvSpPr>
        <p:spPr>
          <a:xfrm>
            <a:off x="676275" y="4145375"/>
            <a:ext cx="10477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额外信息</a:t>
            </a:r>
            <a:endParaRPr lang="zh-CN" sz="1950" dirty="0"/>
          </a:p>
        </p:txBody>
      </p:sp>
      <p:sp>
        <p:nvSpPr>
          <p:cNvPr id="16" name="T16/card/region-2/body"/>
          <p:cNvSpPr/>
          <p:nvPr/>
        </p:nvSpPr>
        <p:spPr>
          <a:xfrm>
            <a:off x="590550" y="4602575"/>
            <a:ext cx="11010900" cy="1041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列出每种方法获得的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新增信息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通过单独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区分信息优势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不能只据结果提升归因于结构</a:t>
            </a:r>
            <a:endParaRPr lang="zh-CN" sz="1800" dirty="0"/>
          </a:p>
        </p:txBody>
      </p:sp>
      <p:sp>
        <p:nvSpPr>
          <p:cNvPr id="17" name="T16/takeaway"/>
          <p:cNvSpPr/>
          <p:nvPr/>
        </p:nvSpPr>
        <p:spPr>
          <a:xfrm>
            <a:off x="457200" y="5853303"/>
            <a:ext cx="11277600" cy="276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统计口径、样本单位和适用条件需与原文一致</a:t>
            </a:r>
            <a:endParaRPr lang="zh-CN" sz="1800" dirty="0"/>
          </a:p>
        </p:txBody>
      </p:sp>
      <p:sp>
        <p:nvSpPr>
          <p:cNvPr id="18" name="T16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7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7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/ 06</a:t>
            </a:r>
            <a:endParaRPr lang="zh-CN" sz="1050" dirty="0"/>
          </a:p>
        </p:txBody>
      </p:sp>
      <p:sp>
        <p:nvSpPr>
          <p:cNvPr id="4" name="T17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测量到统计分析的链路</a:t>
            </a:r>
            <a:endParaRPr lang="zh-CN" sz="3000" dirty="0"/>
          </a:p>
        </p:txBody>
      </p:sp>
      <p:sp>
        <p:nvSpPr>
          <p:cNvPr id="5" name="T17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17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sp>
        <p:nvSpPr>
          <p:cNvPr id="7" name="T17/panel:0:frame"/>
          <p:cNvSpPr/>
          <p:nvPr/>
        </p:nvSpPr>
        <p:spPr>
          <a:xfrm>
            <a:off x="457200" y="1127570"/>
            <a:ext cx="7886700" cy="4787456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17/panel:0:side-mark"/>
          <p:cNvSpPr/>
          <p:nvPr/>
        </p:nvSpPr>
        <p:spPr>
          <a:xfrm>
            <a:off x="466725" y="1203770"/>
            <a:ext cx="47625" cy="276225"/>
          </a:xfrm>
          <a:prstGeom prst="rect">
            <a:avLst/>
          </a:prstGeom>
          <a:solidFill>
            <a:srgbClr val="235E9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17/panel:0:title"/>
          <p:cNvSpPr/>
          <p:nvPr/>
        </p:nvSpPr>
        <p:spPr>
          <a:xfrm>
            <a:off x="609600" y="1175195"/>
            <a:ext cx="75819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从观测到估计</a:t>
            </a:r>
            <a:endParaRPr lang="zh-CN" sz="1950" dirty="0"/>
          </a:p>
        </p:txBody>
      </p:sp>
      <p:sp>
        <p:nvSpPr>
          <p:cNvPr id="10" name="T17/edge:0"/>
          <p:cNvSpPr/>
          <p:nvPr/>
        </p:nvSpPr>
        <p:spPr>
          <a:xfrm>
            <a:off x="2876550" y="2215706"/>
            <a:ext cx="4953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1" name="T17/edge:1"/>
          <p:cNvSpPr/>
          <p:nvPr/>
        </p:nvSpPr>
        <p:spPr>
          <a:xfrm>
            <a:off x="5638800" y="2215706"/>
            <a:ext cx="4953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2" name="T17/edge:2"/>
          <p:cNvSpPr/>
          <p:nvPr/>
        </p:nvSpPr>
        <p:spPr>
          <a:xfrm>
            <a:off x="7162800" y="2730056"/>
            <a:ext cx="0" cy="170126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3" name="T17/edge:3"/>
          <p:cNvSpPr/>
          <p:nvPr/>
        </p:nvSpPr>
        <p:spPr>
          <a:xfrm flipH="1">
            <a:off x="5638800" y="4945666"/>
            <a:ext cx="4953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4" name="T17/edge:4"/>
          <p:cNvSpPr/>
          <p:nvPr/>
        </p:nvSpPr>
        <p:spPr>
          <a:xfrm flipH="1">
            <a:off x="2876550" y="4945666"/>
            <a:ext cx="4953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5" name="T17/node:step-1:frame"/>
          <p:cNvSpPr/>
          <p:nvPr/>
        </p:nvSpPr>
        <p:spPr>
          <a:xfrm>
            <a:off x="609600" y="1701356"/>
            <a:ext cx="2266950" cy="1028700"/>
          </a:xfrm>
          <a:prstGeom prst="rect">
            <a:avLst/>
          </a:prstGeom>
          <a:solidFill>
            <a:srgbClr val="F0F3F6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6" name="T17/node:step-1:heading-rule"/>
          <p:cNvSpPr/>
          <p:nvPr/>
        </p:nvSpPr>
        <p:spPr>
          <a:xfrm>
            <a:off x="609600" y="1701356"/>
            <a:ext cx="2266950" cy="0"/>
          </a:xfrm>
          <a:prstGeom prst="line">
            <a:avLst/>
          </a:prstGeom>
          <a:noFill/>
          <a:ln w="19050">
            <a:solidFill>
              <a:srgbClr val="536A7A"/>
            </a:solidFill>
            <a:prstDash val="solid"/>
          </a:ln>
        </p:spPr>
      </p:sp>
      <p:sp>
        <p:nvSpPr>
          <p:cNvPr id="17" name="T17/node:step-1:label"/>
          <p:cNvSpPr/>
          <p:nvPr/>
        </p:nvSpPr>
        <p:spPr>
          <a:xfrm>
            <a:off x="723900" y="1796606"/>
            <a:ext cx="20383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实验对象</a:t>
            </a:r>
            <a:endParaRPr lang="zh-CN" sz="1800" dirty="0"/>
          </a:p>
        </p:txBody>
      </p:sp>
      <p:sp>
        <p:nvSpPr>
          <p:cNvPr id="18" name="T17/node:step-1:detail"/>
          <p:cNvSpPr/>
          <p:nvPr/>
        </p:nvSpPr>
        <p:spPr>
          <a:xfrm>
            <a:off x="723900" y="2110931"/>
            <a:ext cx="203835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处理与生物重复</a:t>
            </a:r>
            <a:endParaRPr lang="zh-CN" sz="1650" dirty="0"/>
          </a:p>
        </p:txBody>
      </p:sp>
      <p:sp>
        <p:nvSpPr>
          <p:cNvPr id="19" name="T17/node:step-2:frame"/>
          <p:cNvSpPr/>
          <p:nvPr/>
        </p:nvSpPr>
        <p:spPr>
          <a:xfrm>
            <a:off x="3371850" y="1701356"/>
            <a:ext cx="2266950" cy="1028700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0" name="T17/node:step-2:heading-rule"/>
          <p:cNvSpPr/>
          <p:nvPr/>
        </p:nvSpPr>
        <p:spPr>
          <a:xfrm>
            <a:off x="3371850" y="1701356"/>
            <a:ext cx="226695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21" name="T17/node:step-2:label"/>
          <p:cNvSpPr/>
          <p:nvPr/>
        </p:nvSpPr>
        <p:spPr>
          <a:xfrm>
            <a:off x="3486150" y="1796606"/>
            <a:ext cx="20383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传感与成像</a:t>
            </a:r>
            <a:endParaRPr lang="zh-CN" sz="1800" dirty="0"/>
          </a:p>
        </p:txBody>
      </p:sp>
      <p:sp>
        <p:nvSpPr>
          <p:cNvPr id="22" name="T17/node:step-2:detail"/>
          <p:cNvSpPr/>
          <p:nvPr/>
        </p:nvSpPr>
        <p:spPr>
          <a:xfrm>
            <a:off x="3486150" y="2110931"/>
            <a:ext cx="203835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设备与采样条件</a:t>
            </a:r>
            <a:endParaRPr lang="zh-CN" sz="1650" dirty="0"/>
          </a:p>
        </p:txBody>
      </p:sp>
      <p:sp>
        <p:nvSpPr>
          <p:cNvPr id="23" name="T17/node:step-3:frame"/>
          <p:cNvSpPr/>
          <p:nvPr/>
        </p:nvSpPr>
        <p:spPr>
          <a:xfrm>
            <a:off x="6134100" y="1701356"/>
            <a:ext cx="2057400" cy="1028700"/>
          </a:xfrm>
          <a:prstGeom prst="rect">
            <a:avLst/>
          </a:prstGeom>
          <a:solidFill>
            <a:srgbClr val="F0F3F6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4" name="T17/node:step-3:heading-rule"/>
          <p:cNvSpPr/>
          <p:nvPr/>
        </p:nvSpPr>
        <p:spPr>
          <a:xfrm>
            <a:off x="6134100" y="1701356"/>
            <a:ext cx="2057400" cy="0"/>
          </a:xfrm>
          <a:prstGeom prst="line">
            <a:avLst/>
          </a:prstGeom>
          <a:noFill/>
          <a:ln w="19050">
            <a:solidFill>
              <a:srgbClr val="536A7A"/>
            </a:solidFill>
            <a:prstDash val="solid"/>
          </a:ln>
        </p:spPr>
      </p:sp>
      <p:sp>
        <p:nvSpPr>
          <p:cNvPr id="25" name="T17/node:step-3:label"/>
          <p:cNvSpPr/>
          <p:nvPr/>
        </p:nvSpPr>
        <p:spPr>
          <a:xfrm>
            <a:off x="6248400" y="1796606"/>
            <a:ext cx="18288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原始观测</a:t>
            </a:r>
            <a:endParaRPr lang="zh-CN" sz="1800" dirty="0"/>
          </a:p>
        </p:txBody>
      </p:sp>
      <p:sp>
        <p:nvSpPr>
          <p:cNvPr id="26" name="T17/node:step-3:detail"/>
          <p:cNvSpPr/>
          <p:nvPr/>
        </p:nvSpPr>
        <p:spPr>
          <a:xfrm>
            <a:off x="6248400" y="2110931"/>
            <a:ext cx="18288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数据版本与缺失</a:t>
            </a:r>
            <a:endParaRPr lang="zh-CN" sz="1650" dirty="0"/>
          </a:p>
        </p:txBody>
      </p:sp>
      <p:sp>
        <p:nvSpPr>
          <p:cNvPr id="27" name="T17/node:step-4:frame"/>
          <p:cNvSpPr/>
          <p:nvPr/>
        </p:nvSpPr>
        <p:spPr>
          <a:xfrm>
            <a:off x="6134100" y="4431316"/>
            <a:ext cx="2057400" cy="1028700"/>
          </a:xfrm>
          <a:prstGeom prst="rect">
            <a:avLst/>
          </a:prstGeom>
          <a:solidFill>
            <a:srgbClr val="FAEEE8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8" name="T17/node:step-4:heading-rule"/>
          <p:cNvSpPr/>
          <p:nvPr/>
        </p:nvSpPr>
        <p:spPr>
          <a:xfrm>
            <a:off x="6134100" y="4431316"/>
            <a:ext cx="2057400" cy="0"/>
          </a:xfrm>
          <a:prstGeom prst="line">
            <a:avLst/>
          </a:prstGeom>
          <a:noFill/>
          <a:ln w="19050">
            <a:solidFill>
              <a:srgbClr val="A24736"/>
            </a:solidFill>
            <a:prstDash val="solid"/>
          </a:ln>
        </p:spPr>
      </p:sp>
      <p:sp>
        <p:nvSpPr>
          <p:cNvPr id="29" name="T17/node:step-4:label"/>
          <p:cNvSpPr/>
          <p:nvPr/>
        </p:nvSpPr>
        <p:spPr>
          <a:xfrm>
            <a:off x="6248400" y="4526566"/>
            <a:ext cx="18288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A2473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质量控制</a:t>
            </a:r>
            <a:endParaRPr lang="zh-CN" sz="1800" dirty="0"/>
          </a:p>
        </p:txBody>
      </p:sp>
      <p:sp>
        <p:nvSpPr>
          <p:cNvPr id="30" name="T17/node:step-4:detail"/>
          <p:cNvSpPr/>
          <p:nvPr/>
        </p:nvSpPr>
        <p:spPr>
          <a:xfrm>
            <a:off x="6248400" y="4840891"/>
            <a:ext cx="18288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异常与复核规则</a:t>
            </a:r>
            <a:endParaRPr lang="zh-CN" sz="1650" dirty="0"/>
          </a:p>
        </p:txBody>
      </p:sp>
      <p:sp>
        <p:nvSpPr>
          <p:cNvPr id="31" name="T17/node:step-5:frame"/>
          <p:cNvSpPr/>
          <p:nvPr/>
        </p:nvSpPr>
        <p:spPr>
          <a:xfrm>
            <a:off x="3371850" y="4431316"/>
            <a:ext cx="2266950" cy="1028700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2" name="T17/node:step-5:heading-rule"/>
          <p:cNvSpPr/>
          <p:nvPr/>
        </p:nvSpPr>
        <p:spPr>
          <a:xfrm>
            <a:off x="3371850" y="4431316"/>
            <a:ext cx="226695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33" name="T17/node:step-5:label"/>
          <p:cNvSpPr/>
          <p:nvPr/>
        </p:nvSpPr>
        <p:spPr>
          <a:xfrm>
            <a:off x="3486150" y="4526566"/>
            <a:ext cx="20383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特征构建</a:t>
            </a:r>
            <a:endParaRPr lang="zh-CN" sz="1800" dirty="0"/>
          </a:p>
        </p:txBody>
      </p:sp>
      <p:sp>
        <p:nvSpPr>
          <p:cNvPr id="34" name="T17/node:step-5:detail"/>
          <p:cNvSpPr/>
          <p:nvPr/>
        </p:nvSpPr>
        <p:spPr>
          <a:xfrm>
            <a:off x="3486150" y="4840891"/>
            <a:ext cx="203835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表型与单位</a:t>
            </a:r>
            <a:endParaRPr lang="zh-CN" sz="1650" dirty="0"/>
          </a:p>
        </p:txBody>
      </p:sp>
      <p:sp>
        <p:nvSpPr>
          <p:cNvPr id="35" name="T17/node:step-6:frame"/>
          <p:cNvSpPr/>
          <p:nvPr/>
        </p:nvSpPr>
        <p:spPr>
          <a:xfrm>
            <a:off x="609600" y="4431316"/>
            <a:ext cx="2266950" cy="1028700"/>
          </a:xfrm>
          <a:prstGeom prst="rect">
            <a:avLst/>
          </a:prstGeom>
          <a:solidFill>
            <a:srgbClr val="E9F4F0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6" name="T17/node:step-6:heading-rule"/>
          <p:cNvSpPr/>
          <p:nvPr/>
        </p:nvSpPr>
        <p:spPr>
          <a:xfrm>
            <a:off x="609600" y="4431316"/>
            <a:ext cx="2266950" cy="0"/>
          </a:xfrm>
          <a:prstGeom prst="line">
            <a:avLst/>
          </a:prstGeom>
          <a:noFill/>
          <a:ln w="19050">
            <a:solidFill>
              <a:srgbClr val="146C63"/>
            </a:solidFill>
            <a:prstDash val="solid"/>
          </a:ln>
        </p:spPr>
      </p:sp>
      <p:sp>
        <p:nvSpPr>
          <p:cNvPr id="37" name="T17/node:step-6:label"/>
          <p:cNvSpPr/>
          <p:nvPr/>
        </p:nvSpPr>
        <p:spPr>
          <a:xfrm>
            <a:off x="723900" y="4526566"/>
            <a:ext cx="20383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统计估计</a:t>
            </a:r>
            <a:endParaRPr lang="zh-CN" sz="1800" dirty="0"/>
          </a:p>
        </p:txBody>
      </p:sp>
      <p:sp>
        <p:nvSpPr>
          <p:cNvPr id="38" name="T17/node:step-6:detail"/>
          <p:cNvSpPr/>
          <p:nvPr/>
        </p:nvSpPr>
        <p:spPr>
          <a:xfrm>
            <a:off x="723900" y="4840891"/>
            <a:ext cx="203835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效应与区间</a:t>
            </a:r>
            <a:endParaRPr lang="zh-CN" sz="1650" dirty="0"/>
          </a:p>
        </p:txBody>
      </p:sp>
      <p:sp>
        <p:nvSpPr>
          <p:cNvPr id="39" name="T17/card/region-1/frame"/>
          <p:cNvSpPr/>
          <p:nvPr/>
        </p:nvSpPr>
        <p:spPr>
          <a:xfrm>
            <a:off x="8629650" y="1226534"/>
            <a:ext cx="3105150" cy="2195894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40" name="T17/card/region-1/heading-fill"/>
          <p:cNvSpPr/>
          <p:nvPr/>
        </p:nvSpPr>
        <p:spPr>
          <a:xfrm>
            <a:off x="8639175" y="1236059"/>
            <a:ext cx="3086100" cy="371475"/>
          </a:xfrm>
          <a:prstGeom prst="rect">
            <a:avLst/>
          </a:prstGeom>
          <a:solidFill>
            <a:srgbClr val="EAF2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17/card/region-1/heading-rule"/>
          <p:cNvSpPr/>
          <p:nvPr/>
        </p:nvSpPr>
        <p:spPr>
          <a:xfrm>
            <a:off x="8629650" y="1607534"/>
            <a:ext cx="31051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42" name="T17/card/region-1/title"/>
          <p:cNvSpPr/>
          <p:nvPr/>
        </p:nvSpPr>
        <p:spPr>
          <a:xfrm>
            <a:off x="8753475" y="1274159"/>
            <a:ext cx="28575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校准与误差</a:t>
            </a:r>
            <a:endParaRPr lang="zh-CN" sz="1950" dirty="0"/>
          </a:p>
        </p:txBody>
      </p:sp>
      <p:sp>
        <p:nvSpPr>
          <p:cNvPr id="43" name="T17/card/region-1/body"/>
          <p:cNvSpPr/>
          <p:nvPr/>
        </p:nvSpPr>
        <p:spPr>
          <a:xfrm>
            <a:off x="8763000" y="1712309"/>
            <a:ext cx="2838450" cy="16148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报告仪器校准与测量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不确定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性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记录异常检测和人工复核规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则</a:t>
            </a:r>
            <a:endParaRPr lang="zh-CN" sz="1800" dirty="0"/>
          </a:p>
        </p:txBody>
      </p:sp>
      <p:sp>
        <p:nvSpPr>
          <p:cNvPr id="44" name="T17/card/region-2/heading-rule"/>
          <p:cNvSpPr/>
          <p:nvPr/>
        </p:nvSpPr>
        <p:spPr>
          <a:xfrm>
            <a:off x="8629650" y="4021741"/>
            <a:ext cx="31051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45" name="T17/card/region-2/heading-mark"/>
          <p:cNvSpPr/>
          <p:nvPr/>
        </p:nvSpPr>
        <p:spPr>
          <a:xfrm>
            <a:off x="8629650" y="4021741"/>
            <a:ext cx="342900" cy="0"/>
          </a:xfrm>
          <a:prstGeom prst="line">
            <a:avLst/>
          </a:prstGeom>
          <a:noFill/>
          <a:ln w="17145">
            <a:solidFill>
              <a:srgbClr val="536A7A"/>
            </a:solidFill>
            <a:prstDash val="solid"/>
          </a:ln>
        </p:spPr>
      </p:sp>
      <p:sp>
        <p:nvSpPr>
          <p:cNvPr id="46" name="T17/card/region-2/title"/>
          <p:cNvSpPr/>
          <p:nvPr/>
        </p:nvSpPr>
        <p:spPr>
          <a:xfrm>
            <a:off x="8629650" y="3678841"/>
            <a:ext cx="31051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分析单位</a:t>
            </a:r>
            <a:endParaRPr lang="zh-CN" sz="1950" dirty="0"/>
          </a:p>
        </p:txBody>
      </p:sp>
      <p:sp>
        <p:nvSpPr>
          <p:cNvPr id="47" name="T17/card/region-2/body"/>
          <p:cNvSpPr/>
          <p:nvPr/>
        </p:nvSpPr>
        <p:spPr>
          <a:xfrm>
            <a:off x="8629650" y="4155091"/>
            <a:ext cx="3105150" cy="1820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区分记录行、图像、样本与场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次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模型估计应符合实际分层结构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解释聚合前后的信息损失</a:t>
            </a:r>
            <a:endParaRPr lang="zh-CN" sz="1800" dirty="0"/>
          </a:p>
        </p:txBody>
      </p:sp>
      <p:sp>
        <p:nvSpPr>
          <p:cNvPr id="48" name="T17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8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8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/ 06</a:t>
            </a:r>
            <a:endParaRPr lang="zh-CN" sz="1050" dirty="0"/>
          </a:p>
        </p:txBody>
      </p:sp>
      <p:sp>
        <p:nvSpPr>
          <p:cNvPr id="4" name="T18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参数与复现实验协议</a:t>
            </a:r>
            <a:endParaRPr lang="zh-CN" sz="3000" dirty="0"/>
          </a:p>
        </p:txBody>
      </p:sp>
      <p:sp>
        <p:nvSpPr>
          <p:cNvPr id="5" name="T18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18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graphicFrame>
        <p:nvGraphicFramePr>
          <p:cNvPr id="7" name="T18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6534"/>
          <a:ext cx="7086600" cy="2403729"/>
        </p:xfrm>
        <a:graphic>
          <a:graphicData uri="http://schemas.openxmlformats.org/drawingml/2006/table">
            <a:tbl>
              <a:tblPr/>
              <a:tblGrid>
                <a:gridCol w="2362200"/>
                <a:gridCol w="2362200"/>
                <a:gridCol w="2362200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参数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设置（待替换）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依据或来源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时间步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填写数值与单位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实验采样频率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训练轮次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填写停止条件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验证集选择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重复数量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填写独立重复数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样本量依据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学习率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填写候选与最终值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仅训练/验证选取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测试范围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列出年份与环境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独立留出记录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18/table-caption"/>
          <p:cNvSpPr/>
          <p:nvPr/>
        </p:nvSpPr>
        <p:spPr>
          <a:xfrm>
            <a:off x="457200" y="3696938"/>
            <a:ext cx="7086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结构占位 / 合成数据，必须替换后才能用于学术结论</a:t>
            </a:r>
            <a:endParaRPr lang="zh-CN" sz="1350" dirty="0"/>
          </a:p>
        </p:txBody>
      </p:sp>
      <p:sp>
        <p:nvSpPr>
          <p:cNvPr id="9" name="T18/card/region-1/base-rule"/>
          <p:cNvSpPr/>
          <p:nvPr/>
        </p:nvSpPr>
        <p:spPr>
          <a:xfrm>
            <a:off x="7886700" y="3343275"/>
            <a:ext cx="38481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0" name="T18/card/region-1/side-mark"/>
          <p:cNvSpPr/>
          <p:nvPr/>
        </p:nvSpPr>
        <p:spPr>
          <a:xfrm>
            <a:off x="7886700" y="1225772"/>
            <a:ext cx="47625" cy="295275"/>
          </a:xfrm>
          <a:prstGeom prst="rect">
            <a:avLst/>
          </a:prstGeom>
          <a:solidFill>
            <a:srgbClr val="536A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18/card/region-1/title"/>
          <p:cNvSpPr/>
          <p:nvPr/>
        </p:nvSpPr>
        <p:spPr>
          <a:xfrm>
            <a:off x="8039100" y="1225772"/>
            <a:ext cx="36957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训练条件</a:t>
            </a:r>
            <a:endParaRPr lang="zh-CN" sz="1950" dirty="0"/>
          </a:p>
        </p:txBody>
      </p:sp>
      <p:sp>
        <p:nvSpPr>
          <p:cNvPr id="12" name="T18/card/region-1/body"/>
          <p:cNvSpPr/>
          <p:nvPr/>
        </p:nvSpPr>
        <p:spPr>
          <a:xfrm>
            <a:off x="8039100" y="1644872"/>
            <a:ext cx="3695700" cy="1603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固定数据版本、目标与停止规则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记录种子和选择超参数的依据</a:t>
            </a:r>
            <a:endParaRPr lang="zh-CN" sz="1800" dirty="0"/>
          </a:p>
        </p:txBody>
      </p:sp>
      <p:sp>
        <p:nvSpPr>
          <p:cNvPr id="13" name="T18/card/region-2/heading-rule"/>
          <p:cNvSpPr/>
          <p:nvPr/>
        </p:nvSpPr>
        <p:spPr>
          <a:xfrm>
            <a:off x="7886700" y="3962400"/>
            <a:ext cx="38481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4" name="T18/card/region-2/heading-mark"/>
          <p:cNvSpPr/>
          <p:nvPr/>
        </p:nvSpPr>
        <p:spPr>
          <a:xfrm>
            <a:off x="7886700" y="3962400"/>
            <a:ext cx="342900" cy="0"/>
          </a:xfrm>
          <a:prstGeom prst="line">
            <a:avLst/>
          </a:prstGeom>
          <a:noFill/>
          <a:ln w="17145">
            <a:solidFill>
              <a:srgbClr val="536A7A"/>
            </a:solidFill>
            <a:prstDash val="solid"/>
          </a:ln>
        </p:spPr>
      </p:sp>
      <p:sp>
        <p:nvSpPr>
          <p:cNvPr id="15" name="T18/card/region-2/title"/>
          <p:cNvSpPr/>
          <p:nvPr/>
        </p:nvSpPr>
        <p:spPr>
          <a:xfrm>
            <a:off x="7886700" y="3619500"/>
            <a:ext cx="38481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测试条件</a:t>
            </a:r>
            <a:endParaRPr lang="zh-CN" sz="1950" dirty="0"/>
          </a:p>
        </p:txBody>
      </p:sp>
      <p:sp>
        <p:nvSpPr>
          <p:cNvPr id="16" name="T18/card/region-2/body"/>
          <p:cNvSpPr/>
          <p:nvPr/>
        </p:nvSpPr>
        <p:spPr>
          <a:xfrm>
            <a:off x="7886700" y="4095750"/>
            <a:ext cx="3848100" cy="1860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冻结模型后使用独立数据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保留场景、尺度与失败记录</a:t>
            </a:r>
            <a:endParaRPr lang="zh-CN" sz="1800" dirty="0"/>
          </a:p>
        </p:txBody>
      </p:sp>
      <p:sp>
        <p:nvSpPr>
          <p:cNvPr id="17" name="T18/card/region-3/frame"/>
          <p:cNvSpPr/>
          <p:nvPr/>
        </p:nvSpPr>
        <p:spPr>
          <a:xfrm>
            <a:off x="457200" y="4258913"/>
            <a:ext cx="7086600" cy="1301972"/>
          </a:xfrm>
          <a:prstGeom prst="rect">
            <a:avLst/>
          </a:prstGeom>
          <a:solidFill>
            <a:srgbClr val="FFFFFF"/>
          </a:solidFill>
          <a:ln w="14288">
            <a:solidFill>
              <a:srgbClr val="536A7A"/>
            </a:solidFill>
            <a:prstDash val="solid"/>
          </a:ln>
        </p:spPr>
      </p:sp>
      <p:sp>
        <p:nvSpPr>
          <p:cNvPr id="18" name="T18/card/region-3/title-cutout"/>
          <p:cNvSpPr/>
          <p:nvPr/>
        </p:nvSpPr>
        <p:spPr>
          <a:xfrm>
            <a:off x="590550" y="4106513"/>
            <a:ext cx="1085850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18/card/region-3/base-rule"/>
          <p:cNvSpPr/>
          <p:nvPr/>
        </p:nvSpPr>
        <p:spPr>
          <a:xfrm>
            <a:off x="647700" y="5408485"/>
            <a:ext cx="333375" cy="0"/>
          </a:xfrm>
          <a:prstGeom prst="line">
            <a:avLst/>
          </a:prstGeom>
          <a:noFill/>
          <a:ln w="28575">
            <a:solidFill>
              <a:srgbClr val="536A7A"/>
            </a:solidFill>
            <a:prstDash val="solid"/>
          </a:ln>
        </p:spPr>
      </p:sp>
      <p:sp>
        <p:nvSpPr>
          <p:cNvPr id="20" name="T18/card/region-3/title"/>
          <p:cNvSpPr/>
          <p:nvPr/>
        </p:nvSpPr>
        <p:spPr>
          <a:xfrm>
            <a:off x="647700" y="4116038"/>
            <a:ext cx="670560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复现材料</a:t>
            </a:r>
            <a:endParaRPr lang="zh-CN" sz="1950" dirty="0"/>
          </a:p>
        </p:txBody>
      </p:sp>
      <p:sp>
        <p:nvSpPr>
          <p:cNvPr id="21" name="T18/card/region-3/body"/>
          <p:cNvSpPr/>
          <p:nvPr/>
        </p:nvSpPr>
        <p:spPr>
          <a:xfrm>
            <a:off x="647700" y="4649438"/>
            <a:ext cx="6705600" cy="720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代码、数据、参数和运行环境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明确哪些材料公开，哪些受限</a:t>
            </a:r>
            <a:endParaRPr lang="zh-CN" sz="1800" dirty="0"/>
          </a:p>
        </p:txBody>
      </p:sp>
      <p:sp>
        <p:nvSpPr>
          <p:cNvPr id="22" name="T18/takeaway"/>
          <p:cNvSpPr/>
          <p:nvPr/>
        </p:nvSpPr>
        <p:spPr>
          <a:xfrm>
            <a:off x="457200" y="5675186"/>
            <a:ext cx="7086600" cy="276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统计口径、样本单位和适用条件需与原文一致</a:t>
            </a:r>
            <a:endParaRPr lang="zh-CN" sz="1800" dirty="0"/>
          </a:p>
        </p:txBody>
      </p:sp>
      <p:sp>
        <p:nvSpPr>
          <p:cNvPr id="23" name="T18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实验设计学术模板</dc:title>
  <dc:subject>原创学术版式、结构化填充指引与合成科学图</dc:subject>
  <dc:creator>DSH Academic PPT</dc:creator>
  <cp:lastModifiedBy>DSH Academic PPT</cp:lastModifiedBy>
  <cp:revision>1</cp:revision>
  <dcterms:created xsi:type="dcterms:W3CDTF">2026-10-20T05:39:56Z</dcterms:created>
  <dcterms:modified xsi:type="dcterms:W3CDTF">2026-10-20T05:39:56Z</dcterms:modified>
</cp:coreProperties>
</file>