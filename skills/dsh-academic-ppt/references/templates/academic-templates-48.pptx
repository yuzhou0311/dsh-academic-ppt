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5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合成效应</c:v>
                </c:pt>
              </c:strCache>
            </c:strRef>
          </c:tx>
          <c:spPr>
            <a:solidFill>
              <a:srgbClr val="173C70"/>
            </a:solidFill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3C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55D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354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参考方法</c:v>
                  </c:pt>
                  <c:pt idx="1">
                    <c:v>设置一</c:v>
                  </c:pt>
                  <c:pt idx="2">
                    <c:v>设置二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31</c:v>
                </c:pt>
                <c:pt idx="2">
                  <c:v>37</c:v>
                </c:pt>
              </c:numCache>
            </c:numRef>
          </c:val>
        </c:ser>
        <c:dLbls>
          <c:numFmt formatCode="0.############" sourceLinked="0"/>
          <c:txPr>
            <a:bodyPr/>
            <a:lstStyle/>
            <a:p>
              <a:pPr>
                <a:defRPr b="0" i="0" strike="noStrike" sz="1650" u="none">
                  <a:solidFill>
                    <a:srgbClr val="1C2430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75" b="0" i="0" u="none" strike="noStrike">
                <a:solidFill>
                  <a:srgbClr val="1C243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BEC8D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25" b="0" i="0" u="none" strike="noStrike">
                    <a:solidFill>
                      <a:srgbClr val="515B68"/>
                    </a:solidFill>
                    <a:latin typeface="Noto Sans CJK SC"/>
                  </a:defRPr>
                </a:pPr>
                <a:r>
                  <a:rPr sz="1425" b="0" i="0" u="none" strike="noStrike">
                    <a:solidFill>
                      <a:srgbClr val="515B68"/>
                    </a:solidFill>
                    <a:latin typeface="Noto Sans CJK SC"/>
                  </a:rPr>
                  <a:t>合成值 / a.u.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15B6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终点一（合成）</c:v>
                </c:pt>
              </c:strCache>
            </c:strRef>
          </c:tx>
          <c:spPr>
            <a:solidFill>
              <a:srgbClr val="173C70"/>
            </a:solidFill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3C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55D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354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对照</c:v>
                  </c:pt>
                  <c:pt idx="1">
                    <c:v>低处理</c:v>
                  </c:pt>
                  <c:pt idx="2">
                    <c:v>高处理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29</c:v>
                </c:pt>
                <c:pt idx="2">
                  <c:v>35</c:v>
                </c:pt>
              </c:numCache>
            </c:numRef>
          </c:val>
        </c:ser>
        <c:dLbls>
          <c:numFmt formatCode="0.############" sourceLinked="0"/>
          <c:txPr>
            <a:bodyPr/>
            <a:lstStyle/>
            <a:p>
              <a:pPr>
                <a:defRPr b="0" i="0" strike="noStrike" sz="1650" u="none">
                  <a:solidFill>
                    <a:srgbClr val="1C2430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75" b="0" i="0" u="none" strike="noStrike">
                <a:solidFill>
                  <a:srgbClr val="1C243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BEC8D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25" b="0" i="0" u="none" strike="noStrike">
                    <a:solidFill>
                      <a:srgbClr val="515B68"/>
                    </a:solidFill>
                    <a:latin typeface="Noto Sans CJK SC"/>
                  </a:defRPr>
                </a:pPr>
                <a:r>
                  <a:rPr sz="1425" b="0" i="0" u="none" strike="noStrike">
                    <a:solidFill>
                      <a:srgbClr val="515B68"/>
                    </a:solidFill>
                    <a:latin typeface="Noto Sans CJK SC"/>
                  </a:rPr>
                  <a:t>合成终点一 / a.u.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15B6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条件 A（合成）</c:v>
                </c:pt>
              </c:strCache>
            </c:strRef>
          </c:tx>
          <c:spPr>
            <a:solidFill>
              <a:srgbClr val="173C70"/>
            </a:solidFill>
            <a:ln w="25400" cap="flat">
              <a:solidFill>
                <a:srgbClr val="173C70"/>
              </a:solidFill>
              <a:prstDash val="solid"/>
              <a:round/>
            </a:ln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73C70"/>
              </a:solidFill>
              <a:ln w="9525" cap="flat">
                <a:solidFill>
                  <a:srgbClr val="173C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78</c:v>
                </c:pt>
                <c:pt idx="2">
                  <c:v>70</c:v>
                </c:pt>
                <c:pt idx="3">
                  <c:v>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条件 B（合成）</c:v>
                </c:pt>
              </c:strCache>
            </c:strRef>
          </c:tx>
          <c:spPr>
            <a:solidFill>
              <a:srgbClr val="355D88"/>
            </a:solidFill>
            <a:ln w="25400" cap="flat">
              <a:solidFill>
                <a:srgbClr val="355D88"/>
              </a:solidFill>
              <a:prstDash val="solid"/>
              <a:round/>
            </a:ln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355D88"/>
              </a:solidFill>
              <a:ln w="9525" cap="flat">
                <a:solidFill>
                  <a:srgbClr val="355D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81</c:v>
                </c:pt>
                <c:pt idx="2">
                  <c:v>76</c:v>
                </c:pt>
                <c:pt idx="3">
                  <c:v>72</c:v>
                </c:pt>
              </c:numCache>
            </c:numRef>
          </c:val>
          <c:smooth val="0"/>
        </c:ser>
        <c:dLbls>
          <c:numFmt formatCode="0.############" sourceLinked="0"/>
          <c:txPr>
            <a:bodyPr/>
            <a:lstStyle/>
            <a:p>
              <a:pPr>
                <a:defRPr b="0" i="0" strike="noStrike" sz="1650" u="none">
                  <a:solidFill>
                    <a:srgbClr val="1C2430"/>
                  </a:solidFill>
                  <a:latin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75" b="0" i="0" u="none" strike="noStrike">
                <a:solidFill>
                  <a:srgbClr val="1C243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BEC8D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25" b="0" i="0" u="none" strike="noStrike">
                    <a:solidFill>
                      <a:srgbClr val="515B68"/>
                    </a:solidFill>
                    <a:latin typeface="Noto Sans CJK SC"/>
                  </a:defRPr>
                </a:pPr>
                <a:r>
                  <a:rPr sz="1425" b="0" i="0" u="none" strike="noStrike">
                    <a:solidFill>
                      <a:srgbClr val="515B68"/>
                    </a:solidFill>
                    <a:latin typeface="Noto Sans CJK SC"/>
                  </a:rPr>
                  <a:t>合成指标 / a.u.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15B6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25">
              <a:latin typeface="Noto Sans CJK SC"/>
              <a:cs typeface="Noto Sans CJK SC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合成指标</c:v>
                </c:pt>
              </c:strCache>
            </c:strRef>
          </c:tx>
          <c:spPr>
            <a:solidFill>
              <a:srgbClr val="173C70"/>
            </a:solidFill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3C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55D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354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参考方法</c:v>
                  </c:pt>
                  <c:pt idx="1">
                    <c:v>设置一</c:v>
                  </c:pt>
                  <c:pt idx="2">
                    <c:v>设置二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31</c:v>
                </c:pt>
                <c:pt idx="2">
                  <c:v>37</c:v>
                </c:pt>
              </c:numCache>
            </c:numRef>
          </c:val>
        </c:ser>
        <c:dLbls>
          <c:numFmt formatCode="0.############" sourceLinked="0"/>
          <c:txPr>
            <a:bodyPr/>
            <a:lstStyle/>
            <a:p>
              <a:pPr>
                <a:defRPr b="0" i="0" strike="noStrike" sz="1650" u="none">
                  <a:solidFill>
                    <a:srgbClr val="1C2430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75" b="0" i="0" u="none" strike="noStrike">
                <a:solidFill>
                  <a:srgbClr val="1C243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majorGridlines>
          <c:spPr>
            <a:ln w="12700" cap="flat">
              <a:solidFill>
                <a:srgbClr val="BEC8D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25" b="0" i="0" u="none" strike="noStrike">
                    <a:solidFill>
                      <a:srgbClr val="515B68"/>
                    </a:solidFill>
                    <a:latin typeface="Noto Sans CJK SC"/>
                  </a:defRPr>
                </a:pPr>
                <a:r>
                  <a:rPr sz="1425" b="0" i="0" u="none" strike="noStrike">
                    <a:solidFill>
                      <a:srgbClr val="515B68"/>
                    </a:solidFill>
                    <a:latin typeface="Noto Sans CJK SC"/>
                  </a:rPr>
                  <a:t>合成值 / a.u.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15B6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条件 A（合成）</c:v>
                </c:pt>
              </c:strCache>
            </c:strRef>
          </c:tx>
          <c:spPr>
            <a:solidFill>
              <a:srgbClr val="173C70"/>
            </a:solidFill>
            <a:ln w="25400" cap="flat">
              <a:solidFill>
                <a:srgbClr val="173C70"/>
              </a:solidFill>
              <a:prstDash val="solid"/>
              <a:round/>
            </a:ln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73C70"/>
              </a:solidFill>
              <a:ln w="9525" cap="flat">
                <a:solidFill>
                  <a:srgbClr val="173C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78</c:v>
                </c:pt>
                <c:pt idx="2">
                  <c:v>70</c:v>
                </c:pt>
                <c:pt idx="3">
                  <c:v>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条件 B（合成）</c:v>
                </c:pt>
              </c:strCache>
            </c:strRef>
          </c:tx>
          <c:spPr>
            <a:solidFill>
              <a:srgbClr val="355D88"/>
            </a:solidFill>
            <a:ln w="25400" cap="flat">
              <a:solidFill>
                <a:srgbClr val="355D88"/>
              </a:solidFill>
              <a:prstDash val="solid"/>
              <a:round/>
            </a:ln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355D88"/>
              </a:solidFill>
              <a:ln w="9525" cap="flat">
                <a:solidFill>
                  <a:srgbClr val="355D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81</c:v>
                </c:pt>
                <c:pt idx="2">
                  <c:v>76</c:v>
                </c:pt>
                <c:pt idx="3">
                  <c:v>72</c:v>
                </c:pt>
              </c:numCache>
            </c:numRef>
          </c:val>
          <c:smooth val="0"/>
        </c:ser>
        <c:dLbls>
          <c:numFmt formatCode="0.############" sourceLinked="0"/>
          <c:txPr>
            <a:bodyPr/>
            <a:lstStyle/>
            <a:p>
              <a:pPr>
                <a:defRPr b="0" i="0" strike="noStrike" sz="1650" u="none">
                  <a:solidFill>
                    <a:srgbClr val="1C2430"/>
                  </a:solidFill>
                  <a:latin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75" b="0" i="0" u="none" strike="noStrike">
                <a:solidFill>
                  <a:srgbClr val="1C243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BEC8D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25" b="0" i="0" u="none" strike="noStrike">
                    <a:solidFill>
                      <a:srgbClr val="515B68"/>
                    </a:solidFill>
                    <a:latin typeface="Noto Sans CJK SC"/>
                  </a:defRPr>
                </a:pPr>
                <a:r>
                  <a:rPr sz="1425" b="0" i="0" u="none" strike="noStrike">
                    <a:solidFill>
                      <a:srgbClr val="515B68"/>
                    </a:solidFill>
                    <a:latin typeface="Noto Sans CJK SC"/>
                  </a:rPr>
                  <a:t>合成指标 / a.u.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15B6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25">
              <a:latin typeface="Noto Sans CJK SC"/>
              <a:cs typeface="Noto Sans CJK SC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paper-overview。完整书目置顶，左侧主图，右侧依次解释问题、方法与结果边界。
全部文本为填写指引，图表值是合成演示值，不是任何研究结果。使用前替换论文、数据、原图与来源。
内容职责：研究问题；方法改变了什么；结果及适用范围。
建议讲述时间只是排练起点，按实际内容调整。
原图来源：T1
示例图
响应曲线；合成演示值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paper-gap-hypothesis。区分已有认识、尚存缺口、研究假说及可观测预测。
全部文本为填写指引，图表值是合成演示值，不是任何研究结果。使用前替换论文、数据、原图与来源。
内容职责：已有认识；尚存缺口；可检验假说；预期观测与反证。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paper-evidence-map。左窄右宽两组证据，右组原图与解释链同框，底部保留共同边界。
全部文本为填写指引，图表值是合成演示值，不是任何研究结果。使用前替换论文、数据、原图与来源。
内容职责：论点一的依据；论点二的依据。
建议讲述时间只是排练起点，按实际内容调整。
原图来源：T1
示例图
响应曲线；合成演示值
https://github.com/YuZhou0311/dsh-academic-ppt
原创排版教学示例 v0.3.0
MIT; all plotted values are synthetic
完整原图，无裁切
原图来源：T1
示例图
效应与区间；合成演示值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paper-study-scope。完整题名后将样本、任务与验证范围连续排布。
全部文本为填写指引，图表值是合成演示值，不是任何研究结果。使用前替换论文、数据、原图与来源。
内容职责：研究对象；分析任务；实验身份；实际验证内容；外推范围。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paper-contribution-comparison。完整书目下以通栏表映射比较维度，两项说明紧贴实际表底，解释新增贡献与公平性。
全部文本为填写指引，图表值是合成演示值，不是任何研究结果。使用前替换论文、数据、原图与来源。
内容职责：关键改变；比较条件。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paper-journal-club。一幅关键图配研究问题与争议，底部展开方法和验证讨论。
全部文本为填写指引，图表值是合成演示值，不是任何研究结果。使用前替换论文、数据、原图与来源。
内容职责：本次讨论问题；方法审查；实验审查。
建议讲述时间只是排练起点，按实际内容调整。
原图来源：T1
示例图
响应曲线；合成演示值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method-agent-loop。六节点闭环说明规划、执行与核验，右侧保留接口和失败处理。
全部文本为填写指引，图表值是合成演示值，不是任何研究结果。使用前替换论文、数据、原图与来源。
内容职责：系统接口；核验与失败处理。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method-rl-interface。环境与策略构成闭环，右侧将状态、动作、奖励、约束分别定义。
全部文本为填写指引，图表值是合成演示值，不是任何研究结果。使用前替换论文、数据、原图与来源。
内容职责：状态 s_t；动作 a_t；奖励 r_t；安全约束。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method-tool-routing。纵向任务入口分流到三类工具，再汇总到核验节点。
全部文本为填写指引，图表值是合成演示值，不是任何研究结果。使用前替换论文、数据、原图与来源。
内容职责：路由依据；工具覆盖范围。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method-model-coupling。耦合链横向展开，下面交代接口、校准和模型失配。
全部文本为填写指引，图表值是合成演示值，不是任何研究结果。使用前替换论文、数据、原图与来源。
内容职责：输入与单位；校准与验证；模型失配。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method-algorithm-steps。左列给出紧凑有序步骤，右侧给出核心算子与必要假设。
全部文本为填写指引，图表值是合成演示值，不是任何研究结果。使用前替换论文、数据、原图与来源。
内容职责：关键运算；更新规则；假设与计算条件。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method-objective-constraints。将目标函数、约束和变量定义并置，底部给出求解和评价分工。
全部文本为填写指引，图表值是合成演示值，不是任何研究结果。使用前替换论文、数据、原图与来源。
内容职责：优化目标；约束集合；求解与评价；符号与单位；可识别性假设。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experiment-cohort-design。队列划分和采集过程在左，独立样本与观测次数在右明确区分。
全部文本为填写指引，图表值是合成演示值，不是任何研究结果。使用前替换论文、数据、原图与来源。
内容职责：独立样本单位；重复测量结构；纳入排除与缺失值。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experiment-factorial。因子表与随机化条件并列，主效应和交互作用的解释作为宽带紧接表底。
全部文本为填写指引，图表值是合成演示值，不是任何研究结果。使用前替换论文、数据、原图与来源。
内容职责：随机化与重复；效应解释。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experiment-train-test-split。原始样本按独立单位划分到训练、验证与独立测试三个分支，下方说明划分职责与泄漏检查。
全部文本为填写指引，图表值是合成演示值，不是任何研究结果。使用前替换论文、数据、原图与来源。
内容职责：划分单位与留出条件；信息泄漏检查。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experiment-baseline-controls。共同条件用表格对齐，右栏交代预算；紧接表底的宽解释区区分新增信息与结构贡献。
全部文本为填写指引，图表值是合成演示值，不是任何研究结果。使用前替换论文、数据、原图与来源。
内容职责：共同预算；额外信息。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experiment-measurement-chain。测量链用分层流程，误差来源与校准集中置于右侧。
全部文本为填写指引，图表值是合成演示值，不是任何研究结果。使用前替换论文、数据、原图与来源。
内容职责：校准与误差；分析单位。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experiment-parameter-protocol。参数表配训练、测试和复现备注，避免参数被藏在讲稿中。
全部文本为填写指引，图表值是合成演示值，不是任何研究结果。使用前替换论文、数据、原图与来源。
内容职责：训练条件；测试条件；复现材料。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results-main-effect。主图占主要面积，右侧同时给出效应、样本与结论边界。
全部文本为填写指引，图表值是合成演示值，不是任何研究结果。使用前替换论文、数据、原图与来源。
内容职责：主要效应；统计口径；解释边界。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results-two-outcomes。左原生图表与右原图分别报告终点，解释各自的指标、分母与条件。
全部文本为填写指引，图表值是合成演示值，不是任何研究结果。使用前替换论文、数据、原图与来源。
内容职责：终点一的解释；终点二的解释。
建议讲述时间只是排练起点，按实际内容调整。
原图来源：T1
示例图
独立观测分布；合成演示值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results-ablation。左侧表格下方紧接可支持的效应结论，右侧说明组件机制与替代解释；短表按实际行高收紧。
全部文本为填写指引，图表值是合成演示值，不是任何研究结果。使用前替换论文、数据、原图与来源。
内容职责：组件作用；替代解释；不确定性与重复。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results-robustness。趋势图展示环境差异，右侧记录训练覆盖与最差情形。
全部文本为填写指引，图表值是合成演示值，不是任何研究结果。使用前替换论文、数据、原图与来源。
内容职责：测试环境；最差情形；平均值以外的结论。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results-tradeoff。定量图配三个不同角色的解释区，明确权衡的比较单位。
全部文本为填写指引，图表值是合成演示值，不是任何研究结果。使用前替换论文、数据、原图与来源。
内容职责：收益指标；风险指标；资源代价。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results-error-analysis。先交代共同评价条件，再以通栏表对齐任务分母，下方分别说明任务构造与失败解释。
全部文本为填写指引，图表值是合成演示值，不是任何研究结果。使用前替换论文、数据、原图与来源。
内容职责：评价者与尺度；失败集中在哪一步；分母与统计单位。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figure-wide-annotated。完整宽幅原图置于上方，下面按图中元素组织读图说明。
全部文本为填写指引，图表值是合成演示值，不是任何研究结果。使用前替换论文、数据、原图与来源。
内容职责：图例与处理；主要趋势；必要限定。
建议讲述时间只是排练起点，按实际内容调整。
原图来源：T1
示例图
宽幅面板示例；合成演示值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figure-two-panels。两面板共享高度，每幅图的解释直接放在对应面板下面。
全部文本为填写指引，图表值是合成演示值，不是任何研究结果。使用前替换论文、数据、原图与来源。
内容职责：面板 A；面板 B。
建议讲述时间只是排练起点，按实际内容调整。
原图来源：T1
示例图
响应曲线；合成演示值
https://github.com/YuZhou0311/dsh-academic-ppt
原创排版教学示例 v0.3.0
MIT; all plotted values are synthetic
完整原图，无裁切
原图来源：T1
示例图
效应与区间；合成演示值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figure-three-panels。三图解释不同证据环节，结论限定沿底部展开。
全部文本为填写指引，图表值是合成演示值，不是任何研究结果。使用前替换论文、数据、原图与来源。
内容职责：证据 A；证据 B；证据 C。
建议讲述时间只是排练起点，按实际内容调整。
原图来源：T1
示例图
响应曲线；合成演示值
https://github.com/YuZhou0311/dsh-academic-ppt
原创排版教学示例 v0.3.0
MIT; all plotted values are synthetic
完整原图，无裁切
原图来源：T1
示例图
效应与区间；合成演示值
https://github.com/YuZhou0311/dsh-academic-ppt
原创排版教学示例 v0.3.0
MIT; all plotted values are synthetic
完整原图，无裁切
原图来源：T1
示例图
跨环境矩阵；合成演示值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figure-detail-window。主面板占左侧主要面积，右上展开补充面板、右下解释两者关系；两图都承担可读的证据任务。
全部文本为填写指引，图表值是合成演示值，不是任何研究结果。使用前替换论文、数据、原图与来源。
内容职责：主面板的读图结论；补充证据与限定。
建议讲述时间只是排练起点，按实际内容调整。
原图来源：T1
示例图
合成图面板 A 的局部视窗
https://github.com/YuZhou0311/dsh-academic-ppt
原创排版教学示例 v0.3.0
MIT; all plotted values are synthetic
视窗 x=.015,y=.025,w=.495,h=.49；包含面板标题、坐标、图例及单位，原始图像完整保留
原图来源：T1
示例图
效应与区间；合成演示值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figure-portrait-reading。从竖长多面板原图选择当前论点所需的独立面板，占主要区域；保留轴与图例，其他面板按论证另页展开。
全部文本为填写指引，图表值是合成演示值，不是任何研究结果。使用前替换论文、数据、原图与来源。
内容职责：所选面板的范围；关键证据；局限与外推。
建议讲述时间只是排练起点，按实际内容调整。
原图来源：T1
示例图
竖长合成图中的面板 A
https://github.com/YuZhou0311/dsh-academic-ppt
原创排版教学示例 v0.3.0
MIT; all plotted values are synthetic
视窗 x=.035,y=.008,w=.95,h=.315；保留顶部面板的完整标题、两条件图例、坐标及单位。未把总图缩略图当作证据。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figure-legend-first。原图在右，左列明确变量、颜色和判读规则。
全部文本为填写指引，图表值是合成演示值，不是任何研究结果。使用前替换论文、数据、原图与来源。
内容职责：坐标与变量；颜色与处理；判读规则。
建议讲述时间只是排练起点，按实际内容调整。
原图来源：T1
示例图
响应曲线；合成演示值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synthesis-mechanism-map。以共有接口连接不同方法，下面说明差异来自哪里。
全部文本为填写指引，图表值是合成演示值，不是任何研究结果。使用前替换论文、数据、原图与来源。
内容职责：共同机制；关键差异。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synthesis-evidence-ladder。四类证据按验证层级展开，侧栏解释可支持的结论。
全部文本为填写指引，图表值是合成演示值，不是任何研究结果。使用前替换论文、数据、原图与来源。
内容职责：离线与模拟；受控实验；独立环境验证；真实部署；共同评价对象；外推边界。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synthesis-method-comparison。表格只比较输入、接口与验证范围，右侧解释不可比的数字。
全部文本为填写指引，图表值是合成演示值，不是任何研究结果。使用前替换论文、数据、原图与来源。
内容职责：比较维度；不可比条件。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synthesis-timeline。时间节点上方对应技术变化，下方集中说明评价方式的变化。
全部文本为填写指引，图表值是合成演示值，不是任何研究结果。使用前替换论文、数据、原图与来源。
内容职责：方法演化；评价演化；仍然缺少的验证。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synthesis-agreement-conflict。并列证据图后将一致结论、冲突来源与可能解释明确区分。
全部文本为填写指引，图表值是合成演示值，不是任何研究结果。使用前替换论文、数据、原图与来源。
内容职责：一致发现；冲突来源；可区分的解释。
建议讲述时间只是排练起点，按实际内容调整。
原图来源：T1
示例图
响应曲线；合成演示值
https://github.com/YuZhou0311/dsh-academic-ppt
原创排版教学示例 v0.3.0
MIT; all plotted values are synthetic
完整原图，无裁切
原图来源：T1
示例图
效应与区间；合成演示值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synthesis-open-questions。左列归纳已知证据，右侧提出对应问题，底部说明检验优先级。
全部文本为填写指引，图表值是合成演示值，不是任何研究结果。使用前替换论文、数据、原图与来源。
内容职责：已知证据一；对应研究问题一；已知证据二；对应研究问题二；下一步检验条件。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limitations-failure-case。失败原图保留在左，右侧按输入、错误步骤和后果解释。
全部文本为填写指引，图表值是合成演示值，不是任何研究结果。使用前替换论文、数据、原图与来源。
内容职责：失败条件；错误发生在哪一步；对结论的影响。
建议讲述时间只是排练起点，按实际内容调整。
原图来源：T1
示例图
响应曲线；合成演示值
https://github.com/YuZhou0311/dsh-academic-ppt
原创排版教学示例 v0.3.0
MIT; all plotted values are synthetic
完整原图，无裁切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limitations-domain-shift。跨条件曲线配输入变化、机制失配和验证范围。
全部文本为填写指引，图表值是合成演示值，不是任何研究结果。使用前替换论文、数据、原图与来源。
内容职责：输入条件变化；机制失配；可支持的迁移结论。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limitations-measurement-bias。因果链展示测量误差如何传入结论，下方给出排查与敏感性分析。
全部文本为填写指引，图表值是合成演示值，不是任何研究结果。使用前替换论文、数据、原图与来源。
内容职责：偏倚来源；排查与敏感性分析。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limitations-validity-audit。通栏表对齐威胁、证据与验证；其下两块说明限定范围，结论紧跟实际内容高度。
全部文本为填写指引，图表值是合成演示值，不是任何研究结果。使用前替换论文、数据、原图与来源。
内容职责：内部效度；外部效度。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limitations-risk-mitigation。触发到复核的过程与风险分类、介入代价并列。
全部文本为填写指引，图表值是合成演示值，不是任何研究结果。使用前替换论文、数据、原图与来源。
内容职责：风险触发条件；人工与计算代价；剩余风险。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limitations-reproducibility。左侧记录材料依赖链，右侧列出可复现范围与缺失项。
全部文本为填写指引，图表值是合成演示值，不是任何研究结果。使用前替换论文、数据、原图与来源。
内容职责：已公开材料；缺失与重建条件。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plan-hypothesis-test。上方说明证据和缺口，下面以干预、对照和终点形成实验设计。
全部文本为填写指引，图表值是合成演示值，不是任何研究结果。使用前替换论文、数据、原图与来源。
内容职责：已有证据；尚存缺口；研究假设；实验对照；评价与反证。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plan-fair-comparison。一套数据分配到两种流程，再用同一评价程序核查。
全部文本为填写指引，图表值是合成演示值，不是任何研究结果。使用前替换论文、数据、原图与来源。
内容职责：共同预算与信息；主要终点与反证。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plan-data-evaluation。数据到评价的主线占上部，下方明确样本量依据与留出条件。
全部文本为填写指引，图表值是合成演示值，不是任何研究结果。使用前替换论文、数据、原图与来源。
内容职责：样本量与采集计划；留出与分析计划。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plan-work-packages。纵向三个研究阶段各自包含目标、方法与可检查的产物。
全部文本为填写指引，图表值是合成演示值，不是任何研究结果。使用前替换论文、数据、原图与来源。
内容职责：阶段一：材料与基线；阶段二：机制与验证；阶段三：边界与复现；阶段依赖；停止与调整条件。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plan-conclusions。结论分别连接对应证据，侧栏集中说明尚未解决的问题。
全部文本为填写指引，图表值是合成演示值，不是任何研究结果。使用前替换论文、数据、原图与来源。
内容职责：结论一及证据；结论二及证据；结论三及证据；尚未验证；优先研究问题。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plan-reference-notes。完整书目集中排列，右栏记录版本、补充材料与图像来源。
全部文本为填写指引，图表值是合成演示值，不是任何研究结果。使用前替换论文、数据、原图与来源。
内容职责：版本与补充材料；图像与数据来源。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
T2 · Full title of a related methods or validation study · 期刊与卷页（替换） · 2026 · 书目占位；图表均为合成示例 · 书目占位，非真实文献
T3 · Full title of the source for the supplementary evidence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1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1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48</a:t>
            </a:r>
            <a:endParaRPr lang="zh-CN" sz="1050" dirty="0"/>
          </a:p>
        </p:txBody>
      </p:sp>
      <p:sp>
        <p:nvSpPr>
          <p:cNvPr id="4" name="T01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单篇论文全景</a:t>
            </a:r>
            <a:endParaRPr lang="zh-CN" sz="3000" dirty="0"/>
          </a:p>
        </p:txBody>
      </p:sp>
      <p:sp>
        <p:nvSpPr>
          <p:cNvPr id="5" name="T01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1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1/panel:0:frame"/>
          <p:cNvSpPr/>
          <p:nvPr/>
        </p:nvSpPr>
        <p:spPr>
          <a:xfrm>
            <a:off x="457200" y="2373916"/>
            <a:ext cx="6496050" cy="365979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01/panel:0:heading-fill"/>
          <p:cNvSpPr/>
          <p:nvPr/>
        </p:nvSpPr>
        <p:spPr>
          <a:xfrm>
            <a:off x="466725" y="2383441"/>
            <a:ext cx="6477000" cy="381000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01/panel:0:heading-rule"/>
          <p:cNvSpPr/>
          <p:nvPr/>
        </p:nvSpPr>
        <p:spPr>
          <a:xfrm>
            <a:off x="457200" y="2764441"/>
            <a:ext cx="64960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01/panel:0:title"/>
          <p:cNvSpPr/>
          <p:nvPr/>
        </p:nvSpPr>
        <p:spPr>
          <a:xfrm>
            <a:off x="581025" y="2421541"/>
            <a:ext cx="624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关键证据图</a:t>
            </a:r>
            <a:endParaRPr lang="zh-CN" sz="1950" dirty="0"/>
          </a:p>
        </p:txBody>
      </p:sp>
      <p:sp>
        <p:nvSpPr>
          <p:cNvPr id="11" name="T01/paper-title"/>
          <p:cNvSpPr/>
          <p:nvPr/>
        </p:nvSpPr>
        <p:spPr>
          <a:xfrm>
            <a:off x="457200" y="1028700"/>
            <a:ext cx="11277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article title: connecting decision models, experimental evidence and independent </a:t>
            </a:r>
            <a:endParaRPr lang="zh-CN" sz="1875" dirty="0"/>
          </a:p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in crop cultivation</a:t>
            </a:r>
            <a:endParaRPr lang="zh-CN" sz="1875" dirty="0"/>
          </a:p>
        </p:txBody>
      </p:sp>
      <p:sp>
        <p:nvSpPr>
          <p:cNvPr id="12" name="T01/paper-bibliography"/>
          <p:cNvSpPr/>
          <p:nvPr/>
        </p:nvSpPr>
        <p:spPr>
          <a:xfrm>
            <a:off x="457200" y="1657350"/>
            <a:ext cx="11277600" cy="55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6"/>
              </a:lnSpc>
              <a:buNone/>
            </a:pPr>
            <a:r>
              <a:rPr lang="zh-CN" altLang="en-US" sz="127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</a:t>
            </a:r>
            <a:endParaRPr lang="zh-CN" sz="1275" dirty="0"/>
          </a:p>
        </p:txBody>
      </p:sp>
      <p:sp>
        <p:nvSpPr>
          <p:cNvPr id="13" name="T01/figure:0:paper"/>
          <p:cNvSpPr/>
          <p:nvPr/>
        </p:nvSpPr>
        <p:spPr>
          <a:xfrm>
            <a:off x="1920094" y="2867787"/>
            <a:ext cx="3570263" cy="2645759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4" name="T01/figure:0:image" descr="A/B 为条件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8669" y="2896362"/>
            <a:ext cx="3513113" cy="2588609"/>
          </a:xfrm>
          <a:prstGeom prst="rect">
            <a:avLst/>
          </a:prstGeom>
        </p:spPr>
      </p:pic>
      <p:sp>
        <p:nvSpPr>
          <p:cNvPr id="15" name="T01/figure:0:caption"/>
          <p:cNvSpPr/>
          <p:nvPr/>
        </p:nvSpPr>
        <p:spPr>
          <a:xfrm>
            <a:off x="590550" y="5618321"/>
            <a:ext cx="62293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为条件；合成数据</a:t>
            </a:r>
            <a:endParaRPr lang="zh-CN" sz="1350" dirty="0"/>
          </a:p>
        </p:txBody>
      </p:sp>
      <p:sp>
        <p:nvSpPr>
          <p:cNvPr id="16" name="T01/card/region-1/base-rule"/>
          <p:cNvSpPr/>
          <p:nvPr/>
        </p:nvSpPr>
        <p:spPr>
          <a:xfrm>
            <a:off x="7200900" y="3541109"/>
            <a:ext cx="45339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7" name="T01/card/region-1/side-mark"/>
          <p:cNvSpPr/>
          <p:nvPr/>
        </p:nvSpPr>
        <p:spPr>
          <a:xfrm>
            <a:off x="7200900" y="2392966"/>
            <a:ext cx="47625" cy="295275"/>
          </a:xfrm>
          <a:prstGeom prst="rect">
            <a:avLst/>
          </a:prstGeom>
          <a:solidFill>
            <a:srgbClr val="6C52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01/card/region-1/title"/>
          <p:cNvSpPr/>
          <p:nvPr/>
        </p:nvSpPr>
        <p:spPr>
          <a:xfrm>
            <a:off x="7353300" y="2392966"/>
            <a:ext cx="438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</a:t>
            </a:r>
            <a:endParaRPr lang="zh-CN" sz="1950" dirty="0"/>
          </a:p>
        </p:txBody>
      </p:sp>
      <p:sp>
        <p:nvSpPr>
          <p:cNvPr id="19" name="T01/card/region-1/body"/>
          <p:cNvSpPr/>
          <p:nvPr/>
        </p:nvSpPr>
        <p:spPr>
          <a:xfrm>
            <a:off x="7353300" y="2812066"/>
            <a:ext cx="4381500" cy="63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明确研究对象与问题边界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给出当前方法尚未解释的关系</a:t>
            </a:r>
            <a:endParaRPr lang="zh-CN" sz="1800" dirty="0"/>
          </a:p>
        </p:txBody>
      </p:sp>
      <p:sp>
        <p:nvSpPr>
          <p:cNvPr id="20" name="T01/card/region-2/title"/>
          <p:cNvSpPr/>
          <p:nvPr/>
        </p:nvSpPr>
        <p:spPr>
          <a:xfrm>
            <a:off x="7200900" y="3678841"/>
            <a:ext cx="45339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方法改变了什么</a:t>
            </a:r>
            <a:endParaRPr lang="zh-CN" sz="1950" dirty="0"/>
          </a:p>
        </p:txBody>
      </p:sp>
      <p:sp>
        <p:nvSpPr>
          <p:cNvPr id="21" name="T01/card/region-2/body"/>
          <p:cNvSpPr/>
          <p:nvPr/>
        </p:nvSpPr>
        <p:spPr>
          <a:xfrm>
            <a:off x="7200900" y="4059841"/>
            <a:ext cx="4533900" cy="66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、处理与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指出新增方法实际介入的环节</a:t>
            </a:r>
            <a:endParaRPr lang="zh-CN" sz="1800" dirty="0"/>
          </a:p>
        </p:txBody>
      </p:sp>
      <p:sp>
        <p:nvSpPr>
          <p:cNvPr id="22" name="T01/card/region-3/heading-rule"/>
          <p:cNvSpPr/>
          <p:nvPr/>
        </p:nvSpPr>
        <p:spPr>
          <a:xfrm>
            <a:off x="7200900" y="5248275"/>
            <a:ext cx="45339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3" name="T01/card/region-3/heading-mark"/>
          <p:cNvSpPr/>
          <p:nvPr/>
        </p:nvSpPr>
        <p:spPr>
          <a:xfrm>
            <a:off x="7200900" y="5248275"/>
            <a:ext cx="342900" cy="0"/>
          </a:xfrm>
          <a:prstGeom prst="line">
            <a:avLst/>
          </a:prstGeom>
          <a:noFill/>
          <a:ln w="17145">
            <a:solidFill>
              <a:srgbClr val="146C63"/>
            </a:solidFill>
            <a:prstDash val="solid"/>
          </a:ln>
        </p:spPr>
      </p:sp>
      <p:sp>
        <p:nvSpPr>
          <p:cNvPr id="24" name="T01/card/region-3/title"/>
          <p:cNvSpPr/>
          <p:nvPr/>
        </p:nvSpPr>
        <p:spPr>
          <a:xfrm>
            <a:off x="7200900" y="4905375"/>
            <a:ext cx="45339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结果及适用范围</a:t>
            </a:r>
            <a:endParaRPr lang="zh-CN" sz="1950" dirty="0"/>
          </a:p>
        </p:txBody>
      </p:sp>
      <p:sp>
        <p:nvSpPr>
          <p:cNvPr id="25" name="T01/card/region-3/body"/>
          <p:cNvSpPr/>
          <p:nvPr/>
        </p:nvSpPr>
        <p:spPr>
          <a:xfrm>
            <a:off x="7200900" y="5381625"/>
            <a:ext cx="4533900" cy="613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报告效果、分母与比较对象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保留作者实际测试的场景</a:t>
            </a:r>
            <a:endParaRPr lang="zh-CN" sz="1800" dirty="0"/>
          </a:p>
        </p:txBody>
      </p:sp>
      <p:sp>
        <p:nvSpPr>
          <p:cNvPr id="26" name="T01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2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48</a:t>
            </a:r>
            <a:endParaRPr lang="zh-CN" sz="1050" dirty="0"/>
          </a:p>
        </p:txBody>
      </p:sp>
      <p:sp>
        <p:nvSpPr>
          <p:cNvPr id="4" name="T02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缺口与假说</a:t>
            </a:r>
            <a:endParaRPr lang="zh-CN" sz="3000" dirty="0"/>
          </a:p>
        </p:txBody>
      </p:sp>
      <p:sp>
        <p:nvSpPr>
          <p:cNvPr id="5" name="T02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2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2/paper-title"/>
          <p:cNvSpPr/>
          <p:nvPr/>
        </p:nvSpPr>
        <p:spPr>
          <a:xfrm>
            <a:off x="457200" y="1028700"/>
            <a:ext cx="11277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article title: connecting decision models, experimental evidence and independent </a:t>
            </a:r>
            <a:endParaRPr lang="zh-CN" sz="1875" dirty="0"/>
          </a:p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in crop cultivation</a:t>
            </a:r>
            <a:endParaRPr lang="zh-CN" sz="1875" dirty="0"/>
          </a:p>
        </p:txBody>
      </p:sp>
      <p:sp>
        <p:nvSpPr>
          <p:cNvPr id="8" name="T02/paper-bibliography"/>
          <p:cNvSpPr/>
          <p:nvPr/>
        </p:nvSpPr>
        <p:spPr>
          <a:xfrm>
            <a:off x="457200" y="1657350"/>
            <a:ext cx="11277600" cy="55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6"/>
              </a:lnSpc>
              <a:buNone/>
            </a:pPr>
            <a:r>
              <a:rPr lang="zh-CN" altLang="en-US" sz="127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</a:t>
            </a:r>
            <a:endParaRPr lang="zh-CN" sz="1275" dirty="0"/>
          </a:p>
        </p:txBody>
      </p:sp>
      <p:sp>
        <p:nvSpPr>
          <p:cNvPr id="9" name="T02/card/region-1/base-rule"/>
          <p:cNvSpPr/>
          <p:nvPr/>
        </p:nvSpPr>
        <p:spPr>
          <a:xfrm>
            <a:off x="457200" y="3996119"/>
            <a:ext cx="54102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0" name="T02/card/region-1/side-mark"/>
          <p:cNvSpPr/>
          <p:nvPr/>
        </p:nvSpPr>
        <p:spPr>
          <a:xfrm>
            <a:off x="457200" y="2452307"/>
            <a:ext cx="47625" cy="295275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02/card/region-1/title"/>
          <p:cNvSpPr/>
          <p:nvPr/>
        </p:nvSpPr>
        <p:spPr>
          <a:xfrm>
            <a:off x="609600" y="2452307"/>
            <a:ext cx="5257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已有认识</a:t>
            </a:r>
            <a:endParaRPr lang="zh-CN" sz="1950" dirty="0"/>
          </a:p>
        </p:txBody>
      </p:sp>
      <p:sp>
        <p:nvSpPr>
          <p:cNvPr id="12" name="T02/card/region-1/body"/>
          <p:cNvSpPr/>
          <p:nvPr/>
        </p:nvSpPr>
        <p:spPr>
          <a:xfrm>
            <a:off x="609600" y="2871407"/>
            <a:ext cx="5257800" cy="1029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列出已有研究共同支持的结论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说明该结论依赖的数据条件</a:t>
            </a:r>
            <a:endParaRPr lang="zh-CN" sz="1800" dirty="0"/>
          </a:p>
        </p:txBody>
      </p:sp>
      <p:sp>
        <p:nvSpPr>
          <p:cNvPr id="13" name="T02/card/region-2/frame"/>
          <p:cNvSpPr/>
          <p:nvPr/>
        </p:nvSpPr>
        <p:spPr>
          <a:xfrm>
            <a:off x="6153150" y="2547557"/>
            <a:ext cx="5581650" cy="1448562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4" name="T02/card/region-2/tab"/>
          <p:cNvSpPr/>
          <p:nvPr/>
        </p:nvSpPr>
        <p:spPr>
          <a:xfrm>
            <a:off x="6267450" y="2433257"/>
            <a:ext cx="1257300" cy="34290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02/card/region-2/title"/>
          <p:cNvSpPr/>
          <p:nvPr/>
        </p:nvSpPr>
        <p:spPr>
          <a:xfrm>
            <a:off x="6372225" y="2461832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尚存缺口</a:t>
            </a:r>
            <a:endParaRPr lang="zh-CN" sz="1950" dirty="0"/>
          </a:p>
        </p:txBody>
      </p:sp>
      <p:sp>
        <p:nvSpPr>
          <p:cNvPr id="16" name="T02/card/region-2/body"/>
          <p:cNvSpPr/>
          <p:nvPr/>
        </p:nvSpPr>
        <p:spPr>
          <a:xfrm>
            <a:off x="6286500" y="2919032"/>
            <a:ext cx="5314950" cy="981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指出尚未验证的机制或条件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将缺口定位到具体决策接口</a:t>
            </a:r>
            <a:endParaRPr lang="zh-CN" sz="1800" dirty="0"/>
          </a:p>
        </p:txBody>
      </p:sp>
      <p:sp>
        <p:nvSpPr>
          <p:cNvPr id="17" name="T02/card/region-3/frame"/>
          <p:cNvSpPr/>
          <p:nvPr/>
        </p:nvSpPr>
        <p:spPr>
          <a:xfrm>
            <a:off x="457200" y="4253294"/>
            <a:ext cx="7315200" cy="1780413"/>
          </a:xfrm>
          <a:prstGeom prst="rect">
            <a:avLst/>
          </a:prstGeom>
          <a:solidFill>
            <a:srgbClr val="F2EDF7"/>
          </a:solidFill>
          <a:ln w="12383">
            <a:solidFill>
              <a:srgbClr val="6C528E"/>
            </a:solidFill>
            <a:prstDash val="dash"/>
          </a:ln>
        </p:spPr>
      </p:sp>
      <p:sp>
        <p:nvSpPr>
          <p:cNvPr id="18" name="T02/card/region-3/corner-white"/>
          <p:cNvSpPr/>
          <p:nvPr/>
        </p:nvSpPr>
        <p:spPr>
          <a:xfrm>
            <a:off x="7505700" y="4253294"/>
            <a:ext cx="2667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02/card/region-3/fold-diagonal"/>
          <p:cNvSpPr/>
          <p:nvPr/>
        </p:nvSpPr>
        <p:spPr>
          <a:xfrm>
            <a:off x="7505700" y="4253294"/>
            <a:ext cx="266700" cy="266700"/>
          </a:xfrm>
          <a:prstGeom prst="line">
            <a:avLst/>
          </a:prstGeom>
          <a:noFill/>
          <a:ln w="13335">
            <a:solidFill>
              <a:srgbClr val="6C528E"/>
            </a:solidFill>
            <a:prstDash val="solid"/>
          </a:ln>
        </p:spPr>
      </p:sp>
      <p:sp>
        <p:nvSpPr>
          <p:cNvPr id="20" name="T02/card/region-3/fold-left"/>
          <p:cNvSpPr/>
          <p:nvPr/>
        </p:nvSpPr>
        <p:spPr>
          <a:xfrm>
            <a:off x="7505700" y="4253294"/>
            <a:ext cx="0" cy="266700"/>
          </a:xfrm>
          <a:prstGeom prst="line">
            <a:avLst/>
          </a:prstGeom>
          <a:noFill/>
          <a:ln w="13335">
            <a:solidFill>
              <a:srgbClr val="6C528E"/>
            </a:solidFill>
            <a:prstDash val="solid"/>
          </a:ln>
        </p:spPr>
      </p:sp>
      <p:sp>
        <p:nvSpPr>
          <p:cNvPr id="21" name="T02/card/region-3/fold-bottom"/>
          <p:cNvSpPr/>
          <p:nvPr/>
        </p:nvSpPr>
        <p:spPr>
          <a:xfrm>
            <a:off x="7505700" y="4519994"/>
            <a:ext cx="266700" cy="0"/>
          </a:xfrm>
          <a:prstGeom prst="line">
            <a:avLst/>
          </a:prstGeom>
          <a:noFill/>
          <a:ln w="13335">
            <a:solidFill>
              <a:srgbClr val="6C528E"/>
            </a:solidFill>
            <a:prstDash val="solid"/>
          </a:ln>
        </p:spPr>
      </p:sp>
      <p:sp>
        <p:nvSpPr>
          <p:cNvPr id="22" name="T02/card/region-3/title"/>
          <p:cNvSpPr/>
          <p:nvPr/>
        </p:nvSpPr>
        <p:spPr>
          <a:xfrm>
            <a:off x="647700" y="4415219"/>
            <a:ext cx="67437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可检验假说</a:t>
            </a:r>
            <a:endParaRPr lang="zh-CN" sz="1950" dirty="0"/>
          </a:p>
        </p:txBody>
      </p:sp>
      <p:sp>
        <p:nvSpPr>
          <p:cNvPr id="23" name="T02/card/region-3/body"/>
          <p:cNvSpPr/>
          <p:nvPr/>
        </p:nvSpPr>
        <p:spPr>
          <a:xfrm>
            <a:off x="647700" y="4872419"/>
            <a:ext cx="6934200" cy="970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明确干预变量与预期结果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给出能够区分替代解释的观测</a:t>
            </a:r>
            <a:endParaRPr lang="zh-CN" sz="1800" dirty="0"/>
          </a:p>
        </p:txBody>
      </p:sp>
      <p:sp>
        <p:nvSpPr>
          <p:cNvPr id="24" name="T02/card/region-4/heading-rule"/>
          <p:cNvSpPr/>
          <p:nvPr/>
        </p:nvSpPr>
        <p:spPr>
          <a:xfrm>
            <a:off x="8077200" y="4615244"/>
            <a:ext cx="365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5" name="T02/card/region-4/heading-mark"/>
          <p:cNvSpPr/>
          <p:nvPr/>
        </p:nvSpPr>
        <p:spPr>
          <a:xfrm>
            <a:off x="8077200" y="4615244"/>
            <a:ext cx="342900" cy="0"/>
          </a:xfrm>
          <a:prstGeom prst="line">
            <a:avLst/>
          </a:prstGeom>
          <a:noFill/>
          <a:ln w="17145">
            <a:solidFill>
              <a:srgbClr val="A24736"/>
            </a:solidFill>
            <a:prstDash val="solid"/>
          </a:ln>
        </p:spPr>
      </p:sp>
      <p:sp>
        <p:nvSpPr>
          <p:cNvPr id="26" name="T02/card/region-4/title"/>
          <p:cNvSpPr/>
          <p:nvPr/>
        </p:nvSpPr>
        <p:spPr>
          <a:xfrm>
            <a:off x="8077200" y="4272344"/>
            <a:ext cx="3657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预期观测与反证</a:t>
            </a:r>
            <a:endParaRPr lang="zh-CN" sz="1950" dirty="0"/>
          </a:p>
        </p:txBody>
      </p:sp>
      <p:sp>
        <p:nvSpPr>
          <p:cNvPr id="27" name="T02/card/region-4/body"/>
          <p:cNvSpPr/>
          <p:nvPr/>
        </p:nvSpPr>
        <p:spPr>
          <a:xfrm>
            <a:off x="8077200" y="4748594"/>
            <a:ext cx="3657600" cy="124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预先规定支持或否定的条件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同时说明无效或负效应如何解释</a:t>
            </a:r>
            <a:endParaRPr lang="zh-CN" sz="1800" dirty="0"/>
          </a:p>
        </p:txBody>
      </p:sp>
      <p:sp>
        <p:nvSpPr>
          <p:cNvPr id="28" name="T0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3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48</a:t>
            </a:r>
            <a:endParaRPr lang="zh-CN" sz="1050" dirty="0"/>
          </a:p>
        </p:txBody>
      </p:sp>
      <p:sp>
        <p:nvSpPr>
          <p:cNvPr id="4" name="T03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核心论点与证据对应</a:t>
            </a:r>
            <a:endParaRPr lang="zh-CN" sz="3000" dirty="0"/>
          </a:p>
        </p:txBody>
      </p:sp>
      <p:sp>
        <p:nvSpPr>
          <p:cNvPr id="5" name="T03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3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3/panel:0:frame"/>
          <p:cNvSpPr/>
          <p:nvPr/>
        </p:nvSpPr>
        <p:spPr>
          <a:xfrm>
            <a:off x="457200" y="1107853"/>
            <a:ext cx="4267200" cy="466867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03/panel:0:heading-fill"/>
          <p:cNvSpPr/>
          <p:nvPr/>
        </p:nvSpPr>
        <p:spPr>
          <a:xfrm>
            <a:off x="466725" y="1117378"/>
            <a:ext cx="4248150" cy="381000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03/panel:0:heading-rule"/>
          <p:cNvSpPr/>
          <p:nvPr/>
        </p:nvSpPr>
        <p:spPr>
          <a:xfrm>
            <a:off x="457200" y="1498378"/>
            <a:ext cx="42672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03/panel:0:title"/>
          <p:cNvSpPr/>
          <p:nvPr/>
        </p:nvSpPr>
        <p:spPr>
          <a:xfrm>
            <a:off x="581025" y="1155478"/>
            <a:ext cx="40195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证据一：测量对象</a:t>
            </a:r>
            <a:endParaRPr lang="zh-CN" sz="1950" dirty="0"/>
          </a:p>
        </p:txBody>
      </p:sp>
      <p:sp>
        <p:nvSpPr>
          <p:cNvPr id="11" name="T03/panel:1:frame"/>
          <p:cNvSpPr/>
          <p:nvPr/>
        </p:nvSpPr>
        <p:spPr>
          <a:xfrm>
            <a:off x="5010150" y="1107853"/>
            <a:ext cx="6724650" cy="466867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2" name="T03/panel:1:heading-fill"/>
          <p:cNvSpPr/>
          <p:nvPr/>
        </p:nvSpPr>
        <p:spPr>
          <a:xfrm>
            <a:off x="5019675" y="1117378"/>
            <a:ext cx="6705600" cy="381000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03/panel:1:heading-rule"/>
          <p:cNvSpPr/>
          <p:nvPr/>
        </p:nvSpPr>
        <p:spPr>
          <a:xfrm>
            <a:off x="5010150" y="1498378"/>
            <a:ext cx="67246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4" name="T03/panel:1:title"/>
          <p:cNvSpPr/>
          <p:nvPr/>
        </p:nvSpPr>
        <p:spPr>
          <a:xfrm>
            <a:off x="5133975" y="1155478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证据二：效应与解释</a:t>
            </a:r>
            <a:endParaRPr lang="zh-CN" sz="1950" dirty="0"/>
          </a:p>
        </p:txBody>
      </p:sp>
      <p:sp>
        <p:nvSpPr>
          <p:cNvPr id="15" name="T03/takeaway"/>
          <p:cNvSpPr/>
          <p:nvPr/>
        </p:nvSpPr>
        <p:spPr>
          <a:xfrm>
            <a:off x="457200" y="5855684"/>
            <a:ext cx="11277600" cy="31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统计口径、样本单位和适用条件需与原文一致</a:t>
            </a:r>
            <a:endParaRPr lang="zh-CN" sz="1800" dirty="0"/>
          </a:p>
        </p:txBody>
      </p:sp>
      <p:sp>
        <p:nvSpPr>
          <p:cNvPr id="16" name="T03/figure:0:paper"/>
          <p:cNvSpPr/>
          <p:nvPr/>
        </p:nvSpPr>
        <p:spPr>
          <a:xfrm>
            <a:off x="845936" y="1641253"/>
            <a:ext cx="3489729" cy="2586419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7" name="T03/figure:0:image" descr="A/B 为条件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511" y="1669828"/>
            <a:ext cx="3432579" cy="2529269"/>
          </a:xfrm>
          <a:prstGeom prst="rect">
            <a:avLst/>
          </a:prstGeom>
        </p:spPr>
      </p:pic>
      <p:sp>
        <p:nvSpPr>
          <p:cNvPr id="18" name="T03/figure:0:caption"/>
          <p:cNvSpPr/>
          <p:nvPr/>
        </p:nvSpPr>
        <p:spPr>
          <a:xfrm>
            <a:off x="590550" y="4332446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为条件；合成数据</a:t>
            </a:r>
            <a:endParaRPr lang="zh-CN" sz="1350" dirty="0"/>
          </a:p>
        </p:txBody>
      </p:sp>
      <p:sp>
        <p:nvSpPr>
          <p:cNvPr id="19" name="T03/figure:1:paper"/>
          <p:cNvSpPr/>
          <p:nvPr/>
        </p:nvSpPr>
        <p:spPr>
          <a:xfrm>
            <a:off x="5351261" y="1641253"/>
            <a:ext cx="3489729" cy="2586419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20" name="T03/figure:1:image" descr="Ref. 为参考，V1–V3 为变体；合成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836" y="1669828"/>
            <a:ext cx="3432579" cy="2529269"/>
          </a:xfrm>
          <a:prstGeom prst="rect">
            <a:avLst/>
          </a:prstGeom>
        </p:spPr>
      </p:pic>
      <p:sp>
        <p:nvSpPr>
          <p:cNvPr id="21" name="T03/figure:1:caption"/>
          <p:cNvSpPr/>
          <p:nvPr/>
        </p:nvSpPr>
        <p:spPr>
          <a:xfrm>
            <a:off x="5143500" y="4332446"/>
            <a:ext cx="3905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Ref. 为参考，V1–V3 为变体；合成数据</a:t>
            </a:r>
            <a:endParaRPr lang="zh-CN" sz="1350" dirty="0"/>
          </a:p>
        </p:txBody>
      </p:sp>
      <p:sp>
        <p:nvSpPr>
          <p:cNvPr id="22" name="T03/edge:0"/>
          <p:cNvSpPr/>
          <p:nvPr/>
        </p:nvSpPr>
        <p:spPr>
          <a:xfrm>
            <a:off x="10448925" y="2314575"/>
            <a:ext cx="0" cy="25717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23" name="T03/edge:1"/>
          <p:cNvSpPr/>
          <p:nvPr/>
        </p:nvSpPr>
        <p:spPr>
          <a:xfrm>
            <a:off x="10448925" y="3184970"/>
            <a:ext cx="0" cy="25717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24" name="T03/node:step-1:frame"/>
          <p:cNvSpPr/>
          <p:nvPr/>
        </p:nvSpPr>
        <p:spPr>
          <a:xfrm>
            <a:off x="9372600" y="1701356"/>
            <a:ext cx="2152650" cy="613219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5" name="T03/node:step-1:heading-rule"/>
          <p:cNvSpPr/>
          <p:nvPr/>
        </p:nvSpPr>
        <p:spPr>
          <a:xfrm>
            <a:off x="9372600" y="1701356"/>
            <a:ext cx="215265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26" name="T03/node:step-1:label"/>
          <p:cNvSpPr/>
          <p:nvPr/>
        </p:nvSpPr>
        <p:spPr>
          <a:xfrm>
            <a:off x="9486900" y="1874615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输入与测量</a:t>
            </a:r>
            <a:endParaRPr lang="zh-CN" sz="1800" dirty="0"/>
          </a:p>
        </p:txBody>
      </p:sp>
      <p:sp>
        <p:nvSpPr>
          <p:cNvPr id="27" name="T03/node:step-2:frame"/>
          <p:cNvSpPr/>
          <p:nvPr/>
        </p:nvSpPr>
        <p:spPr>
          <a:xfrm>
            <a:off x="9372600" y="2571750"/>
            <a:ext cx="2152650" cy="613219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8" name="T03/node:step-2:heading-rule"/>
          <p:cNvSpPr/>
          <p:nvPr/>
        </p:nvSpPr>
        <p:spPr>
          <a:xfrm>
            <a:off x="9372600" y="2571750"/>
            <a:ext cx="215265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29" name="T03/node:step-2:label"/>
          <p:cNvSpPr/>
          <p:nvPr/>
        </p:nvSpPr>
        <p:spPr>
          <a:xfrm>
            <a:off x="9486900" y="2745010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验证与比较</a:t>
            </a:r>
            <a:endParaRPr lang="zh-CN" sz="1800" dirty="0"/>
          </a:p>
        </p:txBody>
      </p:sp>
      <p:sp>
        <p:nvSpPr>
          <p:cNvPr id="30" name="T03/node:step-3:frame"/>
          <p:cNvSpPr/>
          <p:nvPr/>
        </p:nvSpPr>
        <p:spPr>
          <a:xfrm>
            <a:off x="9372600" y="3442145"/>
            <a:ext cx="2152650" cy="613219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1" name="T03/node:step-3:heading-rule"/>
          <p:cNvSpPr/>
          <p:nvPr/>
        </p:nvSpPr>
        <p:spPr>
          <a:xfrm>
            <a:off x="9372600" y="3442145"/>
            <a:ext cx="21526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32" name="T03/node:step-3:label"/>
          <p:cNvSpPr/>
          <p:nvPr/>
        </p:nvSpPr>
        <p:spPr>
          <a:xfrm>
            <a:off x="9486900" y="3615404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解释与限定</a:t>
            </a:r>
            <a:endParaRPr lang="zh-CN" sz="1800" dirty="0"/>
          </a:p>
        </p:txBody>
      </p:sp>
      <p:sp>
        <p:nvSpPr>
          <p:cNvPr id="33" name="T03/card/region-1/title"/>
          <p:cNvSpPr/>
          <p:nvPr/>
        </p:nvSpPr>
        <p:spPr>
          <a:xfrm>
            <a:off x="590550" y="4747070"/>
            <a:ext cx="40005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论点一的依据</a:t>
            </a:r>
            <a:endParaRPr lang="zh-CN" sz="1950" dirty="0"/>
          </a:p>
        </p:txBody>
      </p:sp>
      <p:sp>
        <p:nvSpPr>
          <p:cNvPr id="34" name="T03/card/region-1/body"/>
          <p:cNvSpPr/>
          <p:nvPr/>
        </p:nvSpPr>
        <p:spPr>
          <a:xfrm>
            <a:off x="590550" y="5128070"/>
            <a:ext cx="4000500" cy="51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对应面板 A 的变量与趋势</a:t>
            </a:r>
            <a:endParaRPr lang="zh-CN" sz="1800" dirty="0"/>
          </a:p>
        </p:txBody>
      </p:sp>
      <p:sp>
        <p:nvSpPr>
          <p:cNvPr id="35" name="T03/card/region-2/title"/>
          <p:cNvSpPr/>
          <p:nvPr/>
        </p:nvSpPr>
        <p:spPr>
          <a:xfrm>
            <a:off x="5143500" y="4747070"/>
            <a:ext cx="64579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论点二的依据</a:t>
            </a:r>
            <a:endParaRPr lang="zh-CN" sz="1950" dirty="0"/>
          </a:p>
        </p:txBody>
      </p:sp>
      <p:sp>
        <p:nvSpPr>
          <p:cNvPr id="36" name="T03/card/region-2/body"/>
          <p:cNvSpPr/>
          <p:nvPr/>
        </p:nvSpPr>
        <p:spPr>
          <a:xfrm>
            <a:off x="5143500" y="5128070"/>
            <a:ext cx="6457950" cy="51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对应面板 B 的效应与区间</a:t>
            </a:r>
            <a:endParaRPr lang="zh-CN" sz="1800" dirty="0"/>
          </a:p>
        </p:txBody>
      </p:sp>
      <p:sp>
        <p:nvSpPr>
          <p:cNvPr id="37" name="T0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4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48</a:t>
            </a:r>
            <a:endParaRPr lang="zh-CN" sz="1050" dirty="0"/>
          </a:p>
        </p:txBody>
      </p:sp>
      <p:sp>
        <p:nvSpPr>
          <p:cNvPr id="4" name="T04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研究对象与验证范围</a:t>
            </a:r>
            <a:endParaRPr lang="zh-CN" sz="3000" dirty="0"/>
          </a:p>
        </p:txBody>
      </p:sp>
      <p:sp>
        <p:nvSpPr>
          <p:cNvPr id="5" name="T04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4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4/paper-title"/>
          <p:cNvSpPr/>
          <p:nvPr/>
        </p:nvSpPr>
        <p:spPr>
          <a:xfrm>
            <a:off x="457200" y="1028700"/>
            <a:ext cx="11277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article title: connecting decision models, experimental evidence and independent </a:t>
            </a:r>
            <a:endParaRPr lang="zh-CN" sz="1875" dirty="0"/>
          </a:p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in crop cultivation</a:t>
            </a:r>
            <a:endParaRPr lang="zh-CN" sz="1875" dirty="0"/>
          </a:p>
        </p:txBody>
      </p:sp>
      <p:sp>
        <p:nvSpPr>
          <p:cNvPr id="8" name="T04/paper-bibliography"/>
          <p:cNvSpPr/>
          <p:nvPr/>
        </p:nvSpPr>
        <p:spPr>
          <a:xfrm>
            <a:off x="457200" y="1657350"/>
            <a:ext cx="11277600" cy="55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6"/>
              </a:lnSpc>
              <a:buNone/>
            </a:pPr>
            <a:r>
              <a:rPr lang="zh-CN" altLang="en-US" sz="127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</a:t>
            </a:r>
            <a:endParaRPr lang="zh-CN" sz="1275" dirty="0"/>
          </a:p>
        </p:txBody>
      </p:sp>
      <p:sp>
        <p:nvSpPr>
          <p:cNvPr id="9" name="T04/card/region-1/frame"/>
          <p:cNvSpPr/>
          <p:nvPr/>
        </p:nvSpPr>
        <p:spPr>
          <a:xfrm>
            <a:off x="457200" y="2472881"/>
            <a:ext cx="3448050" cy="1622203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0" name="T04/card/region-1/heading-fill"/>
          <p:cNvSpPr/>
          <p:nvPr/>
        </p:nvSpPr>
        <p:spPr>
          <a:xfrm>
            <a:off x="466725" y="2482406"/>
            <a:ext cx="342900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04/card/region-1/heading-rule"/>
          <p:cNvSpPr/>
          <p:nvPr/>
        </p:nvSpPr>
        <p:spPr>
          <a:xfrm>
            <a:off x="457200" y="2853881"/>
            <a:ext cx="34480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04/card/region-1/title"/>
          <p:cNvSpPr/>
          <p:nvPr/>
        </p:nvSpPr>
        <p:spPr>
          <a:xfrm>
            <a:off x="581025" y="2520506"/>
            <a:ext cx="32004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研究对象</a:t>
            </a:r>
            <a:endParaRPr lang="zh-CN" sz="1950" dirty="0"/>
          </a:p>
        </p:txBody>
      </p:sp>
      <p:sp>
        <p:nvSpPr>
          <p:cNvPr id="13" name="T04/card/region-1/body"/>
          <p:cNvSpPr/>
          <p:nvPr/>
        </p:nvSpPr>
        <p:spPr>
          <a:xfrm>
            <a:off x="590550" y="2958656"/>
            <a:ext cx="3181350" cy="1041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填写物种、样本来源和实验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区分个体数与重复观测次数</a:t>
            </a:r>
            <a:endParaRPr lang="zh-CN" sz="1800" dirty="0"/>
          </a:p>
        </p:txBody>
      </p:sp>
      <p:sp>
        <p:nvSpPr>
          <p:cNvPr id="14" name="T04/card/region-2/frame"/>
          <p:cNvSpPr/>
          <p:nvPr/>
        </p:nvSpPr>
        <p:spPr>
          <a:xfrm>
            <a:off x="4191000" y="2472881"/>
            <a:ext cx="3448050" cy="1622203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5" name="T04/card/region-2/heading-fill"/>
          <p:cNvSpPr/>
          <p:nvPr/>
        </p:nvSpPr>
        <p:spPr>
          <a:xfrm>
            <a:off x="4200525" y="2482406"/>
            <a:ext cx="342900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04/card/region-2/heading-rule"/>
          <p:cNvSpPr/>
          <p:nvPr/>
        </p:nvSpPr>
        <p:spPr>
          <a:xfrm>
            <a:off x="4191000" y="2853881"/>
            <a:ext cx="34480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7" name="T04/card/region-2/title"/>
          <p:cNvSpPr/>
          <p:nvPr/>
        </p:nvSpPr>
        <p:spPr>
          <a:xfrm>
            <a:off x="4314825" y="2520506"/>
            <a:ext cx="32004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分析任务</a:t>
            </a:r>
            <a:endParaRPr lang="zh-CN" sz="1950" dirty="0"/>
          </a:p>
        </p:txBody>
      </p:sp>
      <p:sp>
        <p:nvSpPr>
          <p:cNvPr id="18" name="T04/card/region-2/body"/>
          <p:cNvSpPr/>
          <p:nvPr/>
        </p:nvSpPr>
        <p:spPr>
          <a:xfrm>
            <a:off x="4324350" y="2958656"/>
            <a:ext cx="3181350" cy="1041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列出任务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和预期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说明是否承担实际管理决策</a:t>
            </a:r>
            <a:endParaRPr lang="zh-CN" sz="1800" dirty="0"/>
          </a:p>
        </p:txBody>
      </p:sp>
      <p:sp>
        <p:nvSpPr>
          <p:cNvPr id="19" name="T04/card/region-3/frame"/>
          <p:cNvSpPr/>
          <p:nvPr/>
        </p:nvSpPr>
        <p:spPr>
          <a:xfrm>
            <a:off x="7924800" y="2472881"/>
            <a:ext cx="3810000" cy="1622203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0" name="T04/card/region-3/heading-fill"/>
          <p:cNvSpPr/>
          <p:nvPr/>
        </p:nvSpPr>
        <p:spPr>
          <a:xfrm>
            <a:off x="7934325" y="2482406"/>
            <a:ext cx="37909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04/card/region-3/heading-rule"/>
          <p:cNvSpPr/>
          <p:nvPr/>
        </p:nvSpPr>
        <p:spPr>
          <a:xfrm>
            <a:off x="7924800" y="2853881"/>
            <a:ext cx="38100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2" name="T04/card/region-3/title"/>
          <p:cNvSpPr/>
          <p:nvPr/>
        </p:nvSpPr>
        <p:spPr>
          <a:xfrm>
            <a:off x="8048625" y="2520506"/>
            <a:ext cx="3562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实验身份</a:t>
            </a:r>
            <a:endParaRPr lang="zh-CN" sz="1950" dirty="0"/>
          </a:p>
        </p:txBody>
      </p:sp>
      <p:sp>
        <p:nvSpPr>
          <p:cNvPr id="23" name="T04/card/region-3/body"/>
          <p:cNvSpPr/>
          <p:nvPr/>
        </p:nvSpPr>
        <p:spPr>
          <a:xfrm>
            <a:off x="8058150" y="2958656"/>
            <a:ext cx="3543300" cy="1041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标明仿真、实验室或真实田间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报告环境范围与观测周期</a:t>
            </a:r>
            <a:endParaRPr lang="zh-CN" sz="1800" dirty="0"/>
          </a:p>
        </p:txBody>
      </p:sp>
      <p:sp>
        <p:nvSpPr>
          <p:cNvPr id="24" name="T04/card/region-4/heading-rule"/>
          <p:cNvSpPr/>
          <p:nvPr/>
        </p:nvSpPr>
        <p:spPr>
          <a:xfrm>
            <a:off x="457200" y="4694396"/>
            <a:ext cx="71247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5" name="T04/card/region-4/heading-mark"/>
          <p:cNvSpPr/>
          <p:nvPr/>
        </p:nvSpPr>
        <p:spPr>
          <a:xfrm>
            <a:off x="457200" y="4694396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26" name="T04/card/region-4/title"/>
          <p:cNvSpPr/>
          <p:nvPr/>
        </p:nvSpPr>
        <p:spPr>
          <a:xfrm>
            <a:off x="457200" y="4351496"/>
            <a:ext cx="71247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实际验证内容</a:t>
            </a:r>
            <a:endParaRPr lang="zh-CN" sz="1950" dirty="0"/>
          </a:p>
        </p:txBody>
      </p:sp>
      <p:sp>
        <p:nvSpPr>
          <p:cNvPr id="27" name="T04/card/region-4/body"/>
          <p:cNvSpPr/>
          <p:nvPr/>
        </p:nvSpPr>
        <p:spPr>
          <a:xfrm>
            <a:off x="457200" y="4827746"/>
            <a:ext cx="7124700" cy="1167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把作者已测量的能力逐项列出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将系统可执行与结果正确分开</a:t>
            </a:r>
            <a:endParaRPr lang="zh-CN" sz="1800" dirty="0"/>
          </a:p>
        </p:txBody>
      </p:sp>
      <p:sp>
        <p:nvSpPr>
          <p:cNvPr id="28" name="T04/card/region-5/frame"/>
          <p:cNvSpPr/>
          <p:nvPr/>
        </p:nvSpPr>
        <p:spPr>
          <a:xfrm>
            <a:off x="7867650" y="4446746"/>
            <a:ext cx="3867150" cy="158705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9" name="T04/card/region-5/tab"/>
          <p:cNvSpPr/>
          <p:nvPr/>
        </p:nvSpPr>
        <p:spPr>
          <a:xfrm>
            <a:off x="7981950" y="4332446"/>
            <a:ext cx="1257300" cy="342900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04/card/region-5/title"/>
          <p:cNvSpPr/>
          <p:nvPr/>
        </p:nvSpPr>
        <p:spPr>
          <a:xfrm>
            <a:off x="8086725" y="4361021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外推范围</a:t>
            </a:r>
            <a:endParaRPr lang="zh-CN" sz="1950" dirty="0"/>
          </a:p>
        </p:txBody>
      </p:sp>
      <p:sp>
        <p:nvSpPr>
          <p:cNvPr id="31" name="T04/card/region-5/body"/>
          <p:cNvSpPr/>
          <p:nvPr/>
        </p:nvSpPr>
        <p:spPr>
          <a:xfrm>
            <a:off x="8001000" y="4818221"/>
            <a:ext cx="3600450" cy="1120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指出未包含的场景与人群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避免把短期结果扩展为长期收益</a:t>
            </a:r>
            <a:endParaRPr lang="zh-CN" sz="1800" dirty="0"/>
          </a:p>
        </p:txBody>
      </p:sp>
      <p:sp>
        <p:nvSpPr>
          <p:cNvPr id="32" name="T0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5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5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48</a:t>
            </a:r>
            <a:endParaRPr lang="zh-CN" sz="1050" dirty="0"/>
          </a:p>
        </p:txBody>
      </p:sp>
      <p:sp>
        <p:nvSpPr>
          <p:cNvPr id="4" name="T05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贡献与基线的差异</a:t>
            </a:r>
            <a:endParaRPr lang="zh-CN" sz="3000" dirty="0"/>
          </a:p>
        </p:txBody>
      </p:sp>
      <p:sp>
        <p:nvSpPr>
          <p:cNvPr id="5" name="T05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5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5/paper-title"/>
          <p:cNvSpPr/>
          <p:nvPr/>
        </p:nvSpPr>
        <p:spPr>
          <a:xfrm>
            <a:off x="457200" y="1028700"/>
            <a:ext cx="11277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article title: connecting decision models, experimental evidence and independent </a:t>
            </a:r>
            <a:endParaRPr lang="zh-CN" sz="1875" dirty="0"/>
          </a:p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in crop cultivation</a:t>
            </a:r>
            <a:endParaRPr lang="zh-CN" sz="1875" dirty="0"/>
          </a:p>
        </p:txBody>
      </p:sp>
      <p:sp>
        <p:nvSpPr>
          <p:cNvPr id="8" name="T05/paper-bibliography"/>
          <p:cNvSpPr/>
          <p:nvPr/>
        </p:nvSpPr>
        <p:spPr>
          <a:xfrm>
            <a:off x="457200" y="1657350"/>
            <a:ext cx="11277600" cy="55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6"/>
              </a:lnSpc>
              <a:buNone/>
            </a:pPr>
            <a:r>
              <a:rPr lang="zh-CN" altLang="en-US" sz="127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</a:t>
            </a:r>
            <a:endParaRPr lang="zh-CN" sz="1275" dirty="0"/>
          </a:p>
        </p:txBody>
      </p:sp>
      <p:graphicFrame>
        <p:nvGraphicFramePr>
          <p:cNvPr id="6" name="T05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94763"/>
          <a:ext cx="11277600" cy="2003108"/>
        </p:xfrm>
        <a:graphic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比较维度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既有方法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本研究方法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输入信息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原有观测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新增信息（填写）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决策接口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原有算子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改变环节（填写）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验证范围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已发表条件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新增场景（填写）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资源预算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统一记录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统一记录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05/table-caption"/>
          <p:cNvSpPr/>
          <p:nvPr/>
        </p:nvSpPr>
        <p:spPr>
          <a:xfrm>
            <a:off x="457200" y="4364546"/>
            <a:ext cx="1127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11" name="T05/card/region-1/base-rule"/>
          <p:cNvSpPr/>
          <p:nvPr/>
        </p:nvSpPr>
        <p:spPr>
          <a:xfrm>
            <a:off x="457200" y="5991892"/>
            <a:ext cx="54673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2" name="T05/card/region-1/side-mark"/>
          <p:cNvSpPr/>
          <p:nvPr/>
        </p:nvSpPr>
        <p:spPr>
          <a:xfrm>
            <a:off x="457200" y="4764596"/>
            <a:ext cx="47625" cy="29527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05/card/region-1/title"/>
          <p:cNvSpPr/>
          <p:nvPr/>
        </p:nvSpPr>
        <p:spPr>
          <a:xfrm>
            <a:off x="609600" y="4764596"/>
            <a:ext cx="5314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关键改变</a:t>
            </a:r>
            <a:endParaRPr lang="zh-CN" sz="1950" dirty="0"/>
          </a:p>
        </p:txBody>
      </p:sp>
      <p:sp>
        <p:nvSpPr>
          <p:cNvPr id="14" name="T05/card/region-1/body"/>
          <p:cNvSpPr/>
          <p:nvPr/>
        </p:nvSpPr>
        <p:spPr>
          <a:xfrm>
            <a:off x="609600" y="5183696"/>
            <a:ext cx="5314950" cy="71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新增信息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与算法结构变化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保持对应基线的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条件一致</a:t>
            </a:r>
            <a:endParaRPr lang="zh-CN" sz="1800" dirty="0"/>
          </a:p>
        </p:txBody>
      </p:sp>
      <p:sp>
        <p:nvSpPr>
          <p:cNvPr id="15" name="T05/card/region-2/heading-rule"/>
          <p:cNvSpPr/>
          <p:nvPr/>
        </p:nvSpPr>
        <p:spPr>
          <a:xfrm>
            <a:off x="6248400" y="5107496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6" name="T05/card/region-2/heading-mark"/>
          <p:cNvSpPr/>
          <p:nvPr/>
        </p:nvSpPr>
        <p:spPr>
          <a:xfrm>
            <a:off x="6248400" y="5107496"/>
            <a:ext cx="342900" cy="0"/>
          </a:xfrm>
          <a:prstGeom prst="line">
            <a:avLst/>
          </a:prstGeom>
          <a:noFill/>
          <a:ln w="17145">
            <a:solidFill>
              <a:srgbClr val="536A7A"/>
            </a:solidFill>
            <a:prstDash val="solid"/>
          </a:ln>
        </p:spPr>
      </p:sp>
      <p:sp>
        <p:nvSpPr>
          <p:cNvPr id="17" name="T05/card/region-2/title"/>
          <p:cNvSpPr/>
          <p:nvPr/>
        </p:nvSpPr>
        <p:spPr>
          <a:xfrm>
            <a:off x="6248400" y="4764596"/>
            <a:ext cx="54864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比较条件</a:t>
            </a:r>
            <a:endParaRPr lang="zh-CN" sz="1950" dirty="0"/>
          </a:p>
        </p:txBody>
      </p:sp>
      <p:sp>
        <p:nvSpPr>
          <p:cNvPr id="18" name="T05/card/region-2/body"/>
          <p:cNvSpPr/>
          <p:nvPr/>
        </p:nvSpPr>
        <p:spPr>
          <a:xfrm>
            <a:off x="6248400" y="5240846"/>
            <a:ext cx="5486400" cy="71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对齐样本、时间窗和评价方法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说明额外调参或计算预算</a:t>
            </a:r>
            <a:endParaRPr lang="zh-CN" sz="1800" dirty="0"/>
          </a:p>
        </p:txBody>
      </p:sp>
      <p:sp>
        <p:nvSpPr>
          <p:cNvPr id="19" name="T0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6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6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48</a:t>
            </a:r>
            <a:endParaRPr lang="zh-CN" sz="1050" dirty="0"/>
          </a:p>
        </p:txBody>
      </p:sp>
      <p:sp>
        <p:nvSpPr>
          <p:cNvPr id="4" name="T06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精读讨论提纲</a:t>
            </a:r>
            <a:endParaRPr lang="zh-CN" sz="3000" dirty="0"/>
          </a:p>
        </p:txBody>
      </p:sp>
      <p:sp>
        <p:nvSpPr>
          <p:cNvPr id="5" name="T06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6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6/panel:0:frame"/>
          <p:cNvSpPr/>
          <p:nvPr/>
        </p:nvSpPr>
        <p:spPr>
          <a:xfrm>
            <a:off x="7715250" y="2527745"/>
            <a:ext cx="4019550" cy="3505962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06/panel:0:tab"/>
          <p:cNvSpPr/>
          <p:nvPr/>
        </p:nvSpPr>
        <p:spPr>
          <a:xfrm>
            <a:off x="7829550" y="2413445"/>
            <a:ext cx="135255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06/panel:0:title"/>
          <p:cNvSpPr/>
          <p:nvPr/>
        </p:nvSpPr>
        <p:spPr>
          <a:xfrm>
            <a:off x="7934325" y="2442020"/>
            <a:ext cx="1143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讨论依据</a:t>
            </a:r>
            <a:endParaRPr lang="zh-CN" sz="1950" dirty="0"/>
          </a:p>
        </p:txBody>
      </p:sp>
      <p:sp>
        <p:nvSpPr>
          <p:cNvPr id="10" name="T06/paper-title"/>
          <p:cNvSpPr/>
          <p:nvPr/>
        </p:nvSpPr>
        <p:spPr>
          <a:xfrm>
            <a:off x="457200" y="1028700"/>
            <a:ext cx="11277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article title: connecting decision models, experimental evidence and independent </a:t>
            </a:r>
            <a:endParaRPr lang="zh-CN" sz="1875" dirty="0"/>
          </a:p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in crop cultivation</a:t>
            </a:r>
            <a:endParaRPr lang="zh-CN" sz="1875" dirty="0"/>
          </a:p>
        </p:txBody>
      </p:sp>
      <p:sp>
        <p:nvSpPr>
          <p:cNvPr id="11" name="T06/paper-bibliography"/>
          <p:cNvSpPr/>
          <p:nvPr/>
        </p:nvSpPr>
        <p:spPr>
          <a:xfrm>
            <a:off x="457200" y="1657350"/>
            <a:ext cx="11277600" cy="55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6"/>
              </a:lnSpc>
              <a:buNone/>
            </a:pPr>
            <a:r>
              <a:rPr lang="zh-CN" altLang="en-US" sz="127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</a:t>
            </a:r>
            <a:endParaRPr lang="zh-CN" sz="1275" dirty="0"/>
          </a:p>
        </p:txBody>
      </p:sp>
      <p:sp>
        <p:nvSpPr>
          <p:cNvPr id="12" name="T06/figure:0:paper"/>
          <p:cNvSpPr/>
          <p:nvPr/>
        </p:nvSpPr>
        <p:spPr>
          <a:xfrm>
            <a:off x="7953338" y="2887504"/>
            <a:ext cx="3543375" cy="2625947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3" name="T06/figure:0:image" descr="A/B 为条件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13" y="2916079"/>
            <a:ext cx="3486225" cy="2568797"/>
          </a:xfrm>
          <a:prstGeom prst="rect">
            <a:avLst/>
          </a:prstGeom>
        </p:spPr>
      </p:pic>
      <p:sp>
        <p:nvSpPr>
          <p:cNvPr id="14" name="T06/figure:0:caption"/>
          <p:cNvSpPr/>
          <p:nvPr/>
        </p:nvSpPr>
        <p:spPr>
          <a:xfrm>
            <a:off x="7848600" y="5618226"/>
            <a:ext cx="37528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为条件；合成数据</a:t>
            </a:r>
            <a:endParaRPr lang="zh-CN" sz="1350" dirty="0"/>
          </a:p>
        </p:txBody>
      </p:sp>
      <p:sp>
        <p:nvSpPr>
          <p:cNvPr id="15" name="T06/card/region-1/title"/>
          <p:cNvSpPr/>
          <p:nvPr/>
        </p:nvSpPr>
        <p:spPr>
          <a:xfrm>
            <a:off x="457200" y="2432495"/>
            <a:ext cx="69913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本次讨论问题</a:t>
            </a:r>
            <a:endParaRPr lang="zh-CN" sz="1950" dirty="0"/>
          </a:p>
        </p:txBody>
      </p:sp>
      <p:sp>
        <p:nvSpPr>
          <p:cNvPr id="16" name="T06/card/region-1/body"/>
          <p:cNvSpPr/>
          <p:nvPr/>
        </p:nvSpPr>
        <p:spPr>
          <a:xfrm>
            <a:off x="457200" y="2813495"/>
            <a:ext cx="6991350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用一个具体科学问题组织精读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方法、实验和局限围绕该问题展开</a:t>
            </a:r>
            <a:endParaRPr lang="zh-CN" sz="1800" dirty="0"/>
          </a:p>
        </p:txBody>
      </p:sp>
      <p:sp>
        <p:nvSpPr>
          <p:cNvPr id="17" name="T06/card/region-2/frame"/>
          <p:cNvSpPr/>
          <p:nvPr/>
        </p:nvSpPr>
        <p:spPr>
          <a:xfrm>
            <a:off x="457200" y="3782187"/>
            <a:ext cx="3371850" cy="2251520"/>
          </a:xfrm>
          <a:prstGeom prst="rect">
            <a:avLst/>
          </a:prstGeom>
          <a:solidFill>
            <a:srgbClr val="FFFFFF"/>
          </a:solidFill>
          <a:ln w="14288">
            <a:solidFill>
              <a:srgbClr val="235E96"/>
            </a:solidFill>
            <a:prstDash val="solid"/>
          </a:ln>
        </p:spPr>
      </p:sp>
      <p:sp>
        <p:nvSpPr>
          <p:cNvPr id="18" name="T06/card/region-2/title-cutout"/>
          <p:cNvSpPr/>
          <p:nvPr/>
        </p:nvSpPr>
        <p:spPr>
          <a:xfrm>
            <a:off x="590550" y="3629787"/>
            <a:ext cx="1085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06/card/region-2/base-rule"/>
          <p:cNvSpPr/>
          <p:nvPr/>
        </p:nvSpPr>
        <p:spPr>
          <a:xfrm>
            <a:off x="647700" y="5881307"/>
            <a:ext cx="333375" cy="0"/>
          </a:xfrm>
          <a:prstGeom prst="line">
            <a:avLst/>
          </a:prstGeom>
          <a:noFill/>
          <a:ln w="28575">
            <a:solidFill>
              <a:srgbClr val="235E96"/>
            </a:solidFill>
            <a:prstDash val="solid"/>
          </a:ln>
        </p:spPr>
      </p:sp>
      <p:sp>
        <p:nvSpPr>
          <p:cNvPr id="20" name="T06/card/region-2/title"/>
          <p:cNvSpPr/>
          <p:nvPr/>
        </p:nvSpPr>
        <p:spPr>
          <a:xfrm>
            <a:off x="647700" y="3639312"/>
            <a:ext cx="29908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方法审查</a:t>
            </a:r>
            <a:endParaRPr lang="zh-CN" sz="1950" dirty="0"/>
          </a:p>
        </p:txBody>
      </p:sp>
      <p:sp>
        <p:nvSpPr>
          <p:cNvPr id="21" name="T06/card/region-2/body"/>
          <p:cNvSpPr/>
          <p:nvPr/>
        </p:nvSpPr>
        <p:spPr>
          <a:xfrm>
            <a:off x="647700" y="4172712"/>
            <a:ext cx="2990850" cy="167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假设和关键算子是否明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机制图与实际实现是否一致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额外模块提供了什么新信息</a:t>
            </a:r>
            <a:endParaRPr lang="zh-CN" sz="1800" dirty="0"/>
          </a:p>
        </p:txBody>
      </p:sp>
      <p:sp>
        <p:nvSpPr>
          <p:cNvPr id="22" name="T06/card/region-3/frame"/>
          <p:cNvSpPr/>
          <p:nvPr/>
        </p:nvSpPr>
        <p:spPr>
          <a:xfrm>
            <a:off x="4057650" y="3734562"/>
            <a:ext cx="3390900" cy="2299145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3" name="T06/card/region-3/tab"/>
          <p:cNvSpPr/>
          <p:nvPr/>
        </p:nvSpPr>
        <p:spPr>
          <a:xfrm>
            <a:off x="4171950" y="3620262"/>
            <a:ext cx="125730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06/card/region-3/title"/>
          <p:cNvSpPr/>
          <p:nvPr/>
        </p:nvSpPr>
        <p:spPr>
          <a:xfrm>
            <a:off x="4276725" y="3648837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实验审查</a:t>
            </a:r>
            <a:endParaRPr lang="zh-CN" sz="1950" dirty="0"/>
          </a:p>
        </p:txBody>
      </p:sp>
      <p:sp>
        <p:nvSpPr>
          <p:cNvPr id="25" name="T06/card/region-3/body"/>
          <p:cNvSpPr/>
          <p:nvPr/>
        </p:nvSpPr>
        <p:spPr>
          <a:xfrm>
            <a:off x="4191000" y="4106037"/>
            <a:ext cx="3124200" cy="183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基线、划分与重复是否合适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误差、失败与外推是否充分报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告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结果支持到哪个层级的结论</a:t>
            </a:r>
            <a:endParaRPr lang="zh-CN" sz="1800" dirty="0"/>
          </a:p>
        </p:txBody>
      </p:sp>
      <p:sp>
        <p:nvSpPr>
          <p:cNvPr id="26" name="T0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7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7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48</a:t>
            </a:r>
            <a:endParaRPr lang="zh-CN" sz="1050" dirty="0"/>
          </a:p>
        </p:txBody>
      </p:sp>
      <p:sp>
        <p:nvSpPr>
          <p:cNvPr id="4" name="T07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智能体执行与反馈</a:t>
            </a:r>
            <a:endParaRPr lang="zh-CN" sz="3000" dirty="0"/>
          </a:p>
        </p:txBody>
      </p:sp>
      <p:sp>
        <p:nvSpPr>
          <p:cNvPr id="5" name="T07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7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7/panel:0:frame"/>
          <p:cNvSpPr/>
          <p:nvPr/>
        </p:nvSpPr>
        <p:spPr>
          <a:xfrm>
            <a:off x="457200" y="1147381"/>
            <a:ext cx="7829550" cy="4352163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07/panel:0:heading-fill"/>
          <p:cNvSpPr/>
          <p:nvPr/>
        </p:nvSpPr>
        <p:spPr>
          <a:xfrm>
            <a:off x="466725" y="1156907"/>
            <a:ext cx="7810500" cy="381000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07/panel:0:heading-rule"/>
          <p:cNvSpPr/>
          <p:nvPr/>
        </p:nvSpPr>
        <p:spPr>
          <a:xfrm>
            <a:off x="457200" y="1537906"/>
            <a:ext cx="78295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07/panel:0:title"/>
          <p:cNvSpPr/>
          <p:nvPr/>
        </p:nvSpPr>
        <p:spPr>
          <a:xfrm>
            <a:off x="581025" y="1195007"/>
            <a:ext cx="7581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任务驱动的执行闭环</a:t>
            </a:r>
            <a:endParaRPr lang="zh-CN" sz="1950" dirty="0"/>
          </a:p>
        </p:txBody>
      </p:sp>
      <p:sp>
        <p:nvSpPr>
          <p:cNvPr id="11" name="T07/takeaway"/>
          <p:cNvSpPr/>
          <p:nvPr/>
        </p:nvSpPr>
        <p:spPr>
          <a:xfrm>
            <a:off x="457200" y="5657850"/>
            <a:ext cx="7829550" cy="356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解释必须由本页证据支持，并保留样本、对照与适用条件。</a:t>
            </a:r>
            <a:endParaRPr lang="zh-CN" sz="1800" dirty="0"/>
          </a:p>
        </p:txBody>
      </p:sp>
      <p:sp>
        <p:nvSpPr>
          <p:cNvPr id="12" name="T07/edge:0"/>
          <p:cNvSpPr/>
          <p:nvPr/>
        </p:nvSpPr>
        <p:spPr>
          <a:xfrm>
            <a:off x="2762250" y="2265093"/>
            <a:ext cx="4762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3" name="T07/edge:1"/>
          <p:cNvSpPr/>
          <p:nvPr/>
        </p:nvSpPr>
        <p:spPr>
          <a:xfrm>
            <a:off x="5391150" y="2265093"/>
            <a:ext cx="4762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4" name="T07/edge:2"/>
          <p:cNvSpPr/>
          <p:nvPr/>
        </p:nvSpPr>
        <p:spPr>
          <a:xfrm>
            <a:off x="6943725" y="2809113"/>
            <a:ext cx="0" cy="1246346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5" name="T07/edge:3"/>
          <p:cNvSpPr/>
          <p:nvPr/>
        </p:nvSpPr>
        <p:spPr>
          <a:xfrm flipH="1">
            <a:off x="5391150" y="4599480"/>
            <a:ext cx="4762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6" name="T07/edge:4"/>
          <p:cNvSpPr/>
          <p:nvPr/>
        </p:nvSpPr>
        <p:spPr>
          <a:xfrm flipH="1">
            <a:off x="2762250" y="4599480"/>
            <a:ext cx="4762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7" name="T07/edge:5:segment:0"/>
          <p:cNvSpPr/>
          <p:nvPr/>
        </p:nvSpPr>
        <p:spPr>
          <a:xfrm flipH="1">
            <a:off x="466725" y="4599480"/>
            <a:ext cx="14287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8" name="T07/edge:5:segment:1"/>
          <p:cNvSpPr/>
          <p:nvPr/>
        </p:nvSpPr>
        <p:spPr>
          <a:xfrm flipV="1">
            <a:off x="466725" y="2265093"/>
            <a:ext cx="0" cy="233438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9" name="T07/edge:5:segment:2"/>
          <p:cNvSpPr/>
          <p:nvPr/>
        </p:nvSpPr>
        <p:spPr>
          <a:xfrm>
            <a:off x="466725" y="2265093"/>
            <a:ext cx="14287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20" name="T07/node:step-1:frame"/>
          <p:cNvSpPr/>
          <p:nvPr/>
        </p:nvSpPr>
        <p:spPr>
          <a:xfrm>
            <a:off x="609600" y="1721072"/>
            <a:ext cx="2152650" cy="1088041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1" name="T07/node:step-1:heading-rule"/>
          <p:cNvSpPr/>
          <p:nvPr/>
        </p:nvSpPr>
        <p:spPr>
          <a:xfrm>
            <a:off x="609600" y="1721072"/>
            <a:ext cx="215265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22" name="T07/node:step-1:label"/>
          <p:cNvSpPr/>
          <p:nvPr/>
        </p:nvSpPr>
        <p:spPr>
          <a:xfrm>
            <a:off x="723900" y="1816322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任务与观测</a:t>
            </a:r>
            <a:endParaRPr lang="zh-CN" sz="1800" dirty="0"/>
          </a:p>
        </p:txBody>
      </p:sp>
      <p:sp>
        <p:nvSpPr>
          <p:cNvPr id="23" name="T07/node:step-1:detail"/>
          <p:cNvSpPr/>
          <p:nvPr/>
        </p:nvSpPr>
        <p:spPr>
          <a:xfrm>
            <a:off x="723900" y="2130647"/>
            <a:ext cx="1924050" cy="59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目标与可用数据</a:t>
            </a:r>
            <a:endParaRPr lang="zh-CN" sz="1650" dirty="0"/>
          </a:p>
        </p:txBody>
      </p:sp>
      <p:sp>
        <p:nvSpPr>
          <p:cNvPr id="24" name="T07/node:step-2:frame"/>
          <p:cNvSpPr/>
          <p:nvPr/>
        </p:nvSpPr>
        <p:spPr>
          <a:xfrm>
            <a:off x="3238500" y="1721072"/>
            <a:ext cx="2152650" cy="1088041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5" name="T07/node:step-2:heading-rule"/>
          <p:cNvSpPr/>
          <p:nvPr/>
        </p:nvSpPr>
        <p:spPr>
          <a:xfrm>
            <a:off x="3238500" y="1721072"/>
            <a:ext cx="21526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6" name="T07/node:step-2:label"/>
          <p:cNvSpPr/>
          <p:nvPr/>
        </p:nvSpPr>
        <p:spPr>
          <a:xfrm>
            <a:off x="3352800" y="1816322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计划与工具</a:t>
            </a:r>
            <a:endParaRPr lang="zh-CN" sz="1800" dirty="0"/>
          </a:p>
        </p:txBody>
      </p:sp>
      <p:sp>
        <p:nvSpPr>
          <p:cNvPr id="27" name="T07/node:step-2:detail"/>
          <p:cNvSpPr/>
          <p:nvPr/>
        </p:nvSpPr>
        <p:spPr>
          <a:xfrm>
            <a:off x="3352800" y="2130647"/>
            <a:ext cx="1924050" cy="59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工具与调用顺序</a:t>
            </a:r>
            <a:endParaRPr lang="zh-CN" sz="1650" dirty="0"/>
          </a:p>
        </p:txBody>
      </p:sp>
      <p:sp>
        <p:nvSpPr>
          <p:cNvPr id="28" name="T07/node:step-3:frame"/>
          <p:cNvSpPr/>
          <p:nvPr/>
        </p:nvSpPr>
        <p:spPr>
          <a:xfrm>
            <a:off x="5867400" y="1721072"/>
            <a:ext cx="2152650" cy="1088041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9" name="T07/node:step-3:heading-rule"/>
          <p:cNvSpPr/>
          <p:nvPr/>
        </p:nvSpPr>
        <p:spPr>
          <a:xfrm>
            <a:off x="5867400" y="1721072"/>
            <a:ext cx="21526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30" name="T07/node:step-3:label"/>
          <p:cNvSpPr/>
          <p:nvPr/>
        </p:nvSpPr>
        <p:spPr>
          <a:xfrm>
            <a:off x="5981700" y="1816322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执行与记录</a:t>
            </a:r>
            <a:endParaRPr lang="zh-CN" sz="1800" dirty="0"/>
          </a:p>
        </p:txBody>
      </p:sp>
      <p:sp>
        <p:nvSpPr>
          <p:cNvPr id="31" name="T07/node:step-3:detail"/>
          <p:cNvSpPr/>
          <p:nvPr/>
        </p:nvSpPr>
        <p:spPr>
          <a:xfrm>
            <a:off x="5981700" y="2130647"/>
            <a:ext cx="1924050" cy="59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输入、参数和日志</a:t>
            </a:r>
            <a:endParaRPr lang="zh-CN" sz="1650" dirty="0"/>
          </a:p>
        </p:txBody>
      </p:sp>
      <p:sp>
        <p:nvSpPr>
          <p:cNvPr id="32" name="T07/node:step-4:frame"/>
          <p:cNvSpPr/>
          <p:nvPr/>
        </p:nvSpPr>
        <p:spPr>
          <a:xfrm>
            <a:off x="5867400" y="4055459"/>
            <a:ext cx="2152650" cy="1088041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3" name="T07/node:step-4:heading-rule"/>
          <p:cNvSpPr/>
          <p:nvPr/>
        </p:nvSpPr>
        <p:spPr>
          <a:xfrm>
            <a:off x="5867400" y="4055459"/>
            <a:ext cx="215265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34" name="T07/node:step-4:label"/>
          <p:cNvSpPr/>
          <p:nvPr/>
        </p:nvSpPr>
        <p:spPr>
          <a:xfrm>
            <a:off x="5981700" y="4150709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结果检验</a:t>
            </a:r>
            <a:endParaRPr lang="zh-CN" sz="1800" dirty="0"/>
          </a:p>
        </p:txBody>
      </p:sp>
      <p:sp>
        <p:nvSpPr>
          <p:cNvPr id="35" name="T07/node:step-4:detail"/>
          <p:cNvSpPr/>
          <p:nvPr/>
        </p:nvSpPr>
        <p:spPr>
          <a:xfrm>
            <a:off x="5981700" y="4465034"/>
            <a:ext cx="1924050" cy="59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结果与来源一致</a:t>
            </a:r>
            <a:endParaRPr lang="zh-CN" sz="1650" dirty="0"/>
          </a:p>
        </p:txBody>
      </p:sp>
      <p:sp>
        <p:nvSpPr>
          <p:cNvPr id="36" name="T07/node:step-5:frame"/>
          <p:cNvSpPr/>
          <p:nvPr/>
        </p:nvSpPr>
        <p:spPr>
          <a:xfrm>
            <a:off x="3238500" y="4055459"/>
            <a:ext cx="2152650" cy="1088041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7" name="T07/node:step-5:heading-rule"/>
          <p:cNvSpPr/>
          <p:nvPr/>
        </p:nvSpPr>
        <p:spPr>
          <a:xfrm>
            <a:off x="3238500" y="4055459"/>
            <a:ext cx="21526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38" name="T07/node:step-5:label"/>
          <p:cNvSpPr/>
          <p:nvPr/>
        </p:nvSpPr>
        <p:spPr>
          <a:xfrm>
            <a:off x="3352800" y="4150709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状态更新</a:t>
            </a:r>
            <a:endParaRPr lang="zh-CN" sz="1800" dirty="0"/>
          </a:p>
        </p:txBody>
      </p:sp>
      <p:sp>
        <p:nvSpPr>
          <p:cNvPr id="39" name="T07/node:step-5:detail"/>
          <p:cNvSpPr/>
          <p:nvPr/>
        </p:nvSpPr>
        <p:spPr>
          <a:xfrm>
            <a:off x="3352800" y="4465034"/>
            <a:ext cx="1924050" cy="59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中间状态与证据</a:t>
            </a:r>
            <a:endParaRPr lang="zh-CN" sz="1650" dirty="0"/>
          </a:p>
        </p:txBody>
      </p:sp>
      <p:sp>
        <p:nvSpPr>
          <p:cNvPr id="40" name="T07/node:step-6:frame"/>
          <p:cNvSpPr/>
          <p:nvPr/>
        </p:nvSpPr>
        <p:spPr>
          <a:xfrm>
            <a:off x="609600" y="4055459"/>
            <a:ext cx="2152650" cy="1088041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41" name="T07/node:step-6:heading-rule"/>
          <p:cNvSpPr/>
          <p:nvPr/>
        </p:nvSpPr>
        <p:spPr>
          <a:xfrm>
            <a:off x="609600" y="4055459"/>
            <a:ext cx="21526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42" name="T07/node:step-6:label"/>
          <p:cNvSpPr/>
          <p:nvPr/>
        </p:nvSpPr>
        <p:spPr>
          <a:xfrm>
            <a:off x="723900" y="4150709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后续任务</a:t>
            </a:r>
            <a:endParaRPr lang="zh-CN" sz="1800" dirty="0"/>
          </a:p>
        </p:txBody>
      </p:sp>
      <p:sp>
        <p:nvSpPr>
          <p:cNvPr id="43" name="T07/node:step-6:detail"/>
          <p:cNvSpPr/>
          <p:nvPr/>
        </p:nvSpPr>
        <p:spPr>
          <a:xfrm>
            <a:off x="723900" y="4465034"/>
            <a:ext cx="1924050" cy="59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继续或退出</a:t>
            </a:r>
            <a:endParaRPr lang="zh-CN" sz="1650" dirty="0"/>
          </a:p>
        </p:txBody>
      </p:sp>
      <p:sp>
        <p:nvSpPr>
          <p:cNvPr id="44" name="T07/card/region-1/base-rule"/>
          <p:cNvSpPr/>
          <p:nvPr/>
        </p:nvSpPr>
        <p:spPr>
          <a:xfrm>
            <a:off x="8629650" y="3402616"/>
            <a:ext cx="31051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45" name="T07/card/region-1/side-mark"/>
          <p:cNvSpPr/>
          <p:nvPr/>
        </p:nvSpPr>
        <p:spPr>
          <a:xfrm>
            <a:off x="8629650" y="1225772"/>
            <a:ext cx="47625" cy="29527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07/card/region-1/title"/>
          <p:cNvSpPr/>
          <p:nvPr/>
        </p:nvSpPr>
        <p:spPr>
          <a:xfrm>
            <a:off x="8782050" y="1225772"/>
            <a:ext cx="29527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系统接口</a:t>
            </a:r>
            <a:endParaRPr lang="zh-CN" sz="1950" dirty="0"/>
          </a:p>
        </p:txBody>
      </p:sp>
      <p:sp>
        <p:nvSpPr>
          <p:cNvPr id="47" name="T07/card/region-1/body"/>
          <p:cNvSpPr/>
          <p:nvPr/>
        </p:nvSpPr>
        <p:spPr>
          <a:xfrm>
            <a:off x="8782050" y="1644872"/>
            <a:ext cx="2952750" cy="1662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标出各步骤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和记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录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区分模型决策与确定性工具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用箭头说明状态由谁更新</a:t>
            </a:r>
            <a:endParaRPr lang="zh-CN" sz="1800" dirty="0"/>
          </a:p>
        </p:txBody>
      </p:sp>
      <p:sp>
        <p:nvSpPr>
          <p:cNvPr id="48" name="T07/card/region-2/frame"/>
          <p:cNvSpPr/>
          <p:nvPr/>
        </p:nvSpPr>
        <p:spPr>
          <a:xfrm>
            <a:off x="8629650" y="3754279"/>
            <a:ext cx="3105150" cy="2220087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49" name="T07/card/region-2/tab"/>
          <p:cNvSpPr/>
          <p:nvPr/>
        </p:nvSpPr>
        <p:spPr>
          <a:xfrm>
            <a:off x="8743950" y="3639979"/>
            <a:ext cx="200025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07/card/region-2/title"/>
          <p:cNvSpPr/>
          <p:nvPr/>
        </p:nvSpPr>
        <p:spPr>
          <a:xfrm>
            <a:off x="8848725" y="3668554"/>
            <a:ext cx="17907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核验与失败处理</a:t>
            </a:r>
            <a:endParaRPr lang="zh-CN" sz="1950" dirty="0"/>
          </a:p>
        </p:txBody>
      </p:sp>
      <p:sp>
        <p:nvSpPr>
          <p:cNvPr id="51" name="T07/card/region-2/body"/>
          <p:cNvSpPr/>
          <p:nvPr/>
        </p:nvSpPr>
        <p:spPr>
          <a:xfrm>
            <a:off x="8763000" y="4125754"/>
            <a:ext cx="2838450" cy="1753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列出错误触发与返回机制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保存工具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、引用和重试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核验模块的成本也需要评价</a:t>
            </a:r>
            <a:endParaRPr lang="zh-CN" sz="1800" dirty="0"/>
          </a:p>
        </p:txBody>
      </p:sp>
      <p:sp>
        <p:nvSpPr>
          <p:cNvPr id="52" name="T07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8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8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48</a:t>
            </a:r>
            <a:endParaRPr lang="zh-CN" sz="1050" dirty="0"/>
          </a:p>
        </p:txBody>
      </p:sp>
      <p:sp>
        <p:nvSpPr>
          <p:cNvPr id="4" name="T08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强化学习的状态动作奖励</a:t>
            </a:r>
            <a:endParaRPr lang="zh-CN" sz="3000" dirty="0"/>
          </a:p>
        </p:txBody>
      </p:sp>
      <p:sp>
        <p:nvSpPr>
          <p:cNvPr id="5" name="T08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8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8/edge:0"/>
          <p:cNvSpPr/>
          <p:nvPr/>
        </p:nvSpPr>
        <p:spPr>
          <a:xfrm>
            <a:off x="3333750" y="2215610"/>
            <a:ext cx="9906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8" name="T08/edge:1"/>
          <p:cNvSpPr/>
          <p:nvPr/>
        </p:nvSpPr>
        <p:spPr>
          <a:xfrm>
            <a:off x="5676900" y="2848642"/>
            <a:ext cx="0" cy="1107853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9" name="T08/edge:2"/>
          <p:cNvSpPr/>
          <p:nvPr/>
        </p:nvSpPr>
        <p:spPr>
          <a:xfrm flipH="1">
            <a:off x="3333750" y="4589526"/>
            <a:ext cx="9906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08/edge:3:segment:0"/>
          <p:cNvSpPr/>
          <p:nvPr/>
        </p:nvSpPr>
        <p:spPr>
          <a:xfrm flipH="1">
            <a:off x="466725" y="4589526"/>
            <a:ext cx="1619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1" name="T08/edge:3:segment:1"/>
          <p:cNvSpPr/>
          <p:nvPr/>
        </p:nvSpPr>
        <p:spPr>
          <a:xfrm flipV="1">
            <a:off x="466725" y="2215610"/>
            <a:ext cx="0" cy="2373916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2" name="T08/edge:3:segment:2"/>
          <p:cNvSpPr/>
          <p:nvPr/>
        </p:nvSpPr>
        <p:spPr>
          <a:xfrm>
            <a:off x="466725" y="2215610"/>
            <a:ext cx="1619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3" name="T08/node:step-1:frame"/>
          <p:cNvSpPr/>
          <p:nvPr/>
        </p:nvSpPr>
        <p:spPr>
          <a:xfrm>
            <a:off x="628650" y="1582579"/>
            <a:ext cx="2705100" cy="1266063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4" name="T08/node:step-1:heading-rule"/>
          <p:cNvSpPr/>
          <p:nvPr/>
        </p:nvSpPr>
        <p:spPr>
          <a:xfrm>
            <a:off x="628650" y="1582579"/>
            <a:ext cx="270510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15" name="T08/node:step-1:label"/>
          <p:cNvSpPr/>
          <p:nvPr/>
        </p:nvSpPr>
        <p:spPr>
          <a:xfrm>
            <a:off x="742950" y="1677829"/>
            <a:ext cx="2476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观测与状态估计</a:t>
            </a:r>
            <a:endParaRPr lang="zh-CN" sz="1800" dirty="0"/>
          </a:p>
        </p:txBody>
      </p:sp>
      <p:sp>
        <p:nvSpPr>
          <p:cNvPr id="16" name="T08/node:step-1:detail"/>
          <p:cNvSpPr/>
          <p:nvPr/>
        </p:nvSpPr>
        <p:spPr>
          <a:xfrm>
            <a:off x="742950" y="1992154"/>
            <a:ext cx="247650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传感、气象与历史</a:t>
            </a:r>
            <a:endParaRPr lang="zh-CN" sz="1650" dirty="0"/>
          </a:p>
        </p:txBody>
      </p:sp>
      <p:sp>
        <p:nvSpPr>
          <p:cNvPr id="17" name="T08/node:step-2:frame"/>
          <p:cNvSpPr/>
          <p:nvPr/>
        </p:nvSpPr>
        <p:spPr>
          <a:xfrm>
            <a:off x="4324350" y="1582579"/>
            <a:ext cx="270510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8" name="T08/node:step-2:heading-rule"/>
          <p:cNvSpPr/>
          <p:nvPr/>
        </p:nvSpPr>
        <p:spPr>
          <a:xfrm>
            <a:off x="4324350" y="1582579"/>
            <a:ext cx="27051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9" name="T08/node:step-2:label"/>
          <p:cNvSpPr/>
          <p:nvPr/>
        </p:nvSpPr>
        <p:spPr>
          <a:xfrm>
            <a:off x="4438650" y="1677829"/>
            <a:ext cx="2476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策略决策</a:t>
            </a:r>
            <a:endParaRPr lang="zh-CN" sz="1800" dirty="0"/>
          </a:p>
        </p:txBody>
      </p:sp>
      <p:sp>
        <p:nvSpPr>
          <p:cNvPr id="20" name="T08/node:step-2:detail"/>
          <p:cNvSpPr/>
          <p:nvPr/>
        </p:nvSpPr>
        <p:spPr>
          <a:xfrm>
            <a:off x="4438650" y="1992154"/>
            <a:ext cx="247650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状态映射到动作</a:t>
            </a:r>
            <a:endParaRPr lang="zh-CN" sz="1650" dirty="0"/>
          </a:p>
        </p:txBody>
      </p:sp>
      <p:sp>
        <p:nvSpPr>
          <p:cNvPr id="21" name="T08/node:step-3:frame"/>
          <p:cNvSpPr/>
          <p:nvPr/>
        </p:nvSpPr>
        <p:spPr>
          <a:xfrm>
            <a:off x="4324350" y="3956495"/>
            <a:ext cx="270510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2" name="T08/node:step-3:heading-rule"/>
          <p:cNvSpPr/>
          <p:nvPr/>
        </p:nvSpPr>
        <p:spPr>
          <a:xfrm>
            <a:off x="4324350" y="3956495"/>
            <a:ext cx="27051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3" name="T08/node:step-3:label"/>
          <p:cNvSpPr/>
          <p:nvPr/>
        </p:nvSpPr>
        <p:spPr>
          <a:xfrm>
            <a:off x="4438650" y="4051744"/>
            <a:ext cx="2476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环境与执行器</a:t>
            </a:r>
            <a:endParaRPr lang="zh-CN" sz="1800" dirty="0"/>
          </a:p>
        </p:txBody>
      </p:sp>
      <p:sp>
        <p:nvSpPr>
          <p:cNvPr id="24" name="T08/node:step-3:detail"/>
          <p:cNvSpPr/>
          <p:nvPr/>
        </p:nvSpPr>
        <p:spPr>
          <a:xfrm>
            <a:off x="4438650" y="4366070"/>
            <a:ext cx="247650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执行实际管理</a:t>
            </a:r>
            <a:endParaRPr lang="zh-CN" sz="1650" dirty="0"/>
          </a:p>
        </p:txBody>
      </p:sp>
      <p:sp>
        <p:nvSpPr>
          <p:cNvPr id="25" name="T08/node:step-4:frame"/>
          <p:cNvSpPr/>
          <p:nvPr/>
        </p:nvSpPr>
        <p:spPr>
          <a:xfrm>
            <a:off x="628650" y="3956495"/>
            <a:ext cx="2705100" cy="1266063"/>
          </a:xfrm>
          <a:prstGeom prst="rect">
            <a:avLst/>
          </a:prstGeom>
          <a:solidFill>
            <a:srgbClr val="FAEEE8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6" name="T08/node:step-4:heading-rule"/>
          <p:cNvSpPr/>
          <p:nvPr/>
        </p:nvSpPr>
        <p:spPr>
          <a:xfrm>
            <a:off x="628650" y="3956495"/>
            <a:ext cx="2705100" cy="0"/>
          </a:xfrm>
          <a:prstGeom prst="line">
            <a:avLst/>
          </a:prstGeom>
          <a:noFill/>
          <a:ln w="19050">
            <a:solidFill>
              <a:srgbClr val="A24736"/>
            </a:solidFill>
            <a:prstDash val="solid"/>
          </a:ln>
        </p:spPr>
      </p:sp>
      <p:sp>
        <p:nvSpPr>
          <p:cNvPr id="27" name="T08/node:step-4:label"/>
          <p:cNvSpPr/>
          <p:nvPr/>
        </p:nvSpPr>
        <p:spPr>
          <a:xfrm>
            <a:off x="742950" y="4051744"/>
            <a:ext cx="2476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反馈与终止条件</a:t>
            </a:r>
            <a:endParaRPr lang="zh-CN" sz="1800" dirty="0"/>
          </a:p>
        </p:txBody>
      </p:sp>
      <p:sp>
        <p:nvSpPr>
          <p:cNvPr id="28" name="T08/node:step-4:detail"/>
          <p:cNvSpPr/>
          <p:nvPr/>
        </p:nvSpPr>
        <p:spPr>
          <a:xfrm>
            <a:off x="742950" y="4366070"/>
            <a:ext cx="247650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奖励与约束检查</a:t>
            </a:r>
            <a:endParaRPr lang="zh-CN" sz="1650" dirty="0"/>
          </a:p>
        </p:txBody>
      </p:sp>
      <p:sp>
        <p:nvSpPr>
          <p:cNvPr id="29" name="T08/card/region-1/title"/>
          <p:cNvSpPr/>
          <p:nvPr/>
        </p:nvSpPr>
        <p:spPr>
          <a:xfrm>
            <a:off x="7924800" y="1186244"/>
            <a:ext cx="38100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 s_t</a:t>
            </a:r>
            <a:endParaRPr lang="zh-CN" sz="1950" dirty="0"/>
          </a:p>
        </p:txBody>
      </p:sp>
      <p:sp>
        <p:nvSpPr>
          <p:cNvPr id="30" name="T08/card/region-1/body"/>
          <p:cNvSpPr/>
          <p:nvPr/>
        </p:nvSpPr>
        <p:spPr>
          <a:xfrm>
            <a:off x="7924800" y="1567244"/>
            <a:ext cx="3810000" cy="66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观测变量、历史和缺失值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、采样频率与可得时间</a:t>
            </a:r>
            <a:endParaRPr lang="zh-CN" sz="1800" dirty="0"/>
          </a:p>
        </p:txBody>
      </p:sp>
      <p:sp>
        <p:nvSpPr>
          <p:cNvPr id="31" name="T08/card/region-2/title"/>
          <p:cNvSpPr/>
          <p:nvPr/>
        </p:nvSpPr>
        <p:spPr>
          <a:xfrm>
            <a:off x="7924800" y="2452307"/>
            <a:ext cx="38100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 a_t</a:t>
            </a:r>
            <a:endParaRPr lang="zh-CN" sz="1950" dirty="0"/>
          </a:p>
        </p:txBody>
      </p:sp>
      <p:sp>
        <p:nvSpPr>
          <p:cNvPr id="32" name="T08/card/region-2/body"/>
          <p:cNvSpPr/>
          <p:nvPr/>
        </p:nvSpPr>
        <p:spPr>
          <a:xfrm>
            <a:off x="7924800" y="2833307"/>
            <a:ext cx="3810000" cy="66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管理对象、离散或连续范围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说明执行频率和现实约束</a:t>
            </a:r>
            <a:endParaRPr lang="zh-CN" sz="1800" dirty="0"/>
          </a:p>
        </p:txBody>
      </p:sp>
      <p:sp>
        <p:nvSpPr>
          <p:cNvPr id="33" name="T08/card/region-3/title"/>
          <p:cNvSpPr/>
          <p:nvPr/>
        </p:nvSpPr>
        <p:spPr>
          <a:xfrm>
            <a:off x="7924800" y="3718370"/>
            <a:ext cx="38100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奖励 r_t</a:t>
            </a:r>
            <a:endParaRPr lang="zh-CN" sz="1950" dirty="0"/>
          </a:p>
        </p:txBody>
      </p:sp>
      <p:sp>
        <p:nvSpPr>
          <p:cNvPr id="34" name="T08/card/region-3/body"/>
          <p:cNvSpPr/>
          <p:nvPr/>
        </p:nvSpPr>
        <p:spPr>
          <a:xfrm>
            <a:off x="7924800" y="4099370"/>
            <a:ext cx="3810000" cy="66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写出奖励组成与归一化方法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区分即时奖励和最终目标</a:t>
            </a:r>
            <a:endParaRPr lang="zh-CN" sz="1800" dirty="0"/>
          </a:p>
        </p:txBody>
      </p:sp>
      <p:sp>
        <p:nvSpPr>
          <p:cNvPr id="35" name="T08/card/region-4/title"/>
          <p:cNvSpPr/>
          <p:nvPr/>
        </p:nvSpPr>
        <p:spPr>
          <a:xfrm>
            <a:off x="7924800" y="4984528"/>
            <a:ext cx="38100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安全约束</a:t>
            </a:r>
            <a:endParaRPr lang="zh-CN" sz="1950" dirty="0"/>
          </a:p>
        </p:txBody>
      </p:sp>
      <p:sp>
        <p:nvSpPr>
          <p:cNvPr id="36" name="T08/card/region-4/body"/>
          <p:cNvSpPr/>
          <p:nvPr/>
        </p:nvSpPr>
        <p:spPr>
          <a:xfrm>
            <a:off x="7924800" y="5365528"/>
            <a:ext cx="3810000" cy="66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硬边界、软惩罚与终止条件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单独报告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约束违反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情况</a:t>
            </a:r>
            <a:endParaRPr lang="zh-CN" sz="1800" dirty="0"/>
          </a:p>
        </p:txBody>
      </p:sp>
      <p:sp>
        <p:nvSpPr>
          <p:cNvPr id="37" name="T08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9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9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48</a:t>
            </a:r>
            <a:endParaRPr lang="zh-CN" sz="1050" dirty="0"/>
          </a:p>
        </p:txBody>
      </p:sp>
      <p:sp>
        <p:nvSpPr>
          <p:cNvPr id="4" name="T09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工具路由与能力边界</a:t>
            </a:r>
            <a:endParaRPr lang="zh-CN" sz="3000" dirty="0"/>
          </a:p>
        </p:txBody>
      </p:sp>
      <p:sp>
        <p:nvSpPr>
          <p:cNvPr id="5" name="T09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09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09/panel:0:frame"/>
          <p:cNvSpPr/>
          <p:nvPr/>
        </p:nvSpPr>
        <p:spPr>
          <a:xfrm>
            <a:off x="457200" y="1241870"/>
            <a:ext cx="7905750" cy="4791837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09/panel:0:tab"/>
          <p:cNvSpPr/>
          <p:nvPr/>
        </p:nvSpPr>
        <p:spPr>
          <a:xfrm>
            <a:off x="571500" y="1127570"/>
            <a:ext cx="234315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09/panel:0:title"/>
          <p:cNvSpPr/>
          <p:nvPr/>
        </p:nvSpPr>
        <p:spPr>
          <a:xfrm>
            <a:off x="676275" y="1156145"/>
            <a:ext cx="2133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任务、工具与输出</a:t>
            </a:r>
            <a:endParaRPr lang="zh-CN" sz="1950" dirty="0"/>
          </a:p>
        </p:txBody>
      </p:sp>
      <p:sp>
        <p:nvSpPr>
          <p:cNvPr id="10" name="T09/edge:0:segment:0"/>
          <p:cNvSpPr/>
          <p:nvPr/>
        </p:nvSpPr>
        <p:spPr>
          <a:xfrm>
            <a:off x="4324350" y="2413445"/>
            <a:ext cx="0" cy="375904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1" name="T09/edge:0:segment:1"/>
          <p:cNvSpPr/>
          <p:nvPr/>
        </p:nvSpPr>
        <p:spPr>
          <a:xfrm flipH="1">
            <a:off x="1704975" y="2789349"/>
            <a:ext cx="261937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2" name="T09/edge:0:segment:2"/>
          <p:cNvSpPr/>
          <p:nvPr/>
        </p:nvSpPr>
        <p:spPr>
          <a:xfrm>
            <a:off x="1704975" y="2789349"/>
            <a:ext cx="0" cy="375904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3" name="T09/edge:1:segment:0"/>
          <p:cNvSpPr/>
          <p:nvPr/>
        </p:nvSpPr>
        <p:spPr>
          <a:xfrm>
            <a:off x="4324350" y="2413445"/>
            <a:ext cx="0" cy="375904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4" name="T09/edge:1:segment:1"/>
          <p:cNvSpPr/>
          <p:nvPr/>
        </p:nvSpPr>
        <p:spPr>
          <a:xfrm>
            <a:off x="4324350" y="2789349"/>
            <a:ext cx="1619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5" name="T09/edge:1:segment:2"/>
          <p:cNvSpPr/>
          <p:nvPr/>
        </p:nvSpPr>
        <p:spPr>
          <a:xfrm>
            <a:off x="4486275" y="2789349"/>
            <a:ext cx="0" cy="375904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6" name="T09/edge:2:segment:0"/>
          <p:cNvSpPr/>
          <p:nvPr/>
        </p:nvSpPr>
        <p:spPr>
          <a:xfrm>
            <a:off x="5600700" y="2027682"/>
            <a:ext cx="2762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7" name="T09/edge:2:segment:1"/>
          <p:cNvSpPr/>
          <p:nvPr/>
        </p:nvSpPr>
        <p:spPr>
          <a:xfrm>
            <a:off x="5876925" y="2027682"/>
            <a:ext cx="0" cy="1681591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8" name="T09/edge:2:segment:2"/>
          <p:cNvSpPr/>
          <p:nvPr/>
        </p:nvSpPr>
        <p:spPr>
          <a:xfrm>
            <a:off x="5876925" y="3709273"/>
            <a:ext cx="2762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9" name="T09/edge:3:segment:0"/>
          <p:cNvSpPr/>
          <p:nvPr/>
        </p:nvSpPr>
        <p:spPr>
          <a:xfrm>
            <a:off x="2800350" y="3709273"/>
            <a:ext cx="1238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20" name="T09/edge:3:segment:1"/>
          <p:cNvSpPr/>
          <p:nvPr/>
        </p:nvSpPr>
        <p:spPr>
          <a:xfrm>
            <a:off x="2924175" y="3709273"/>
            <a:ext cx="0" cy="1829848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21" name="T09/edge:3:segment:2"/>
          <p:cNvSpPr/>
          <p:nvPr/>
        </p:nvSpPr>
        <p:spPr>
          <a:xfrm>
            <a:off x="2924175" y="5539121"/>
            <a:ext cx="1238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22" name="T09/edge:4:segment:0"/>
          <p:cNvSpPr/>
          <p:nvPr/>
        </p:nvSpPr>
        <p:spPr>
          <a:xfrm>
            <a:off x="4486275" y="4253294"/>
            <a:ext cx="0" cy="464868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23" name="T09/edge:4:segment:1"/>
          <p:cNvSpPr/>
          <p:nvPr/>
        </p:nvSpPr>
        <p:spPr>
          <a:xfrm flipH="1">
            <a:off x="4324350" y="4718161"/>
            <a:ext cx="1619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24" name="T09/edge:4:segment:2"/>
          <p:cNvSpPr/>
          <p:nvPr/>
        </p:nvSpPr>
        <p:spPr>
          <a:xfrm>
            <a:off x="4324350" y="4718161"/>
            <a:ext cx="0" cy="464868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25" name="T09/edge:5:segment:0"/>
          <p:cNvSpPr/>
          <p:nvPr/>
        </p:nvSpPr>
        <p:spPr>
          <a:xfrm>
            <a:off x="7181850" y="4253294"/>
            <a:ext cx="0" cy="464868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26" name="T09/edge:5:segment:1"/>
          <p:cNvSpPr/>
          <p:nvPr/>
        </p:nvSpPr>
        <p:spPr>
          <a:xfrm flipH="1">
            <a:off x="4324350" y="4718161"/>
            <a:ext cx="28575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27" name="T09/edge:5:segment:2"/>
          <p:cNvSpPr/>
          <p:nvPr/>
        </p:nvSpPr>
        <p:spPr>
          <a:xfrm>
            <a:off x="4324350" y="4718161"/>
            <a:ext cx="0" cy="464868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28" name="T09/node:step-1:frame"/>
          <p:cNvSpPr/>
          <p:nvPr/>
        </p:nvSpPr>
        <p:spPr>
          <a:xfrm>
            <a:off x="3048000" y="1641920"/>
            <a:ext cx="2552700" cy="771525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9" name="T09/node:step-1:heading-rule"/>
          <p:cNvSpPr/>
          <p:nvPr/>
        </p:nvSpPr>
        <p:spPr>
          <a:xfrm>
            <a:off x="3048000" y="1641920"/>
            <a:ext cx="25527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30" name="T09/node:step-1:label"/>
          <p:cNvSpPr/>
          <p:nvPr/>
        </p:nvSpPr>
        <p:spPr>
          <a:xfrm>
            <a:off x="3162300" y="1894332"/>
            <a:ext cx="2324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任务解析</a:t>
            </a:r>
            <a:endParaRPr lang="zh-CN" sz="1800" dirty="0"/>
          </a:p>
        </p:txBody>
      </p:sp>
      <p:sp>
        <p:nvSpPr>
          <p:cNvPr id="31" name="T09/node:step-2:frame"/>
          <p:cNvSpPr/>
          <p:nvPr/>
        </p:nvSpPr>
        <p:spPr>
          <a:xfrm>
            <a:off x="609600" y="3165253"/>
            <a:ext cx="2190750" cy="1088041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2" name="T09/node:step-2:heading-rule"/>
          <p:cNvSpPr/>
          <p:nvPr/>
        </p:nvSpPr>
        <p:spPr>
          <a:xfrm>
            <a:off x="609600" y="3165253"/>
            <a:ext cx="21907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33" name="T09/node:step-2:label"/>
          <p:cNvSpPr/>
          <p:nvPr/>
        </p:nvSpPr>
        <p:spPr>
          <a:xfrm>
            <a:off x="723900" y="3575923"/>
            <a:ext cx="19621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感知模型</a:t>
            </a:r>
            <a:endParaRPr lang="zh-CN" sz="1800" dirty="0"/>
          </a:p>
        </p:txBody>
      </p:sp>
      <p:sp>
        <p:nvSpPr>
          <p:cNvPr id="34" name="T09/node:step-3:frame"/>
          <p:cNvSpPr/>
          <p:nvPr/>
        </p:nvSpPr>
        <p:spPr>
          <a:xfrm>
            <a:off x="3390900" y="3165253"/>
            <a:ext cx="2190750" cy="1088041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5" name="T09/node:step-3:heading-rule"/>
          <p:cNvSpPr/>
          <p:nvPr/>
        </p:nvSpPr>
        <p:spPr>
          <a:xfrm>
            <a:off x="3390900" y="3165253"/>
            <a:ext cx="219075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36" name="T09/node:step-3:label"/>
          <p:cNvSpPr/>
          <p:nvPr/>
        </p:nvSpPr>
        <p:spPr>
          <a:xfrm>
            <a:off x="3505200" y="3575923"/>
            <a:ext cx="19621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数据与统计工具</a:t>
            </a:r>
            <a:endParaRPr lang="zh-CN" sz="1800" dirty="0"/>
          </a:p>
        </p:txBody>
      </p:sp>
      <p:sp>
        <p:nvSpPr>
          <p:cNvPr id="37" name="T09/node:step-4:frame"/>
          <p:cNvSpPr/>
          <p:nvPr/>
        </p:nvSpPr>
        <p:spPr>
          <a:xfrm>
            <a:off x="6153150" y="3165253"/>
            <a:ext cx="2057400" cy="1088041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8" name="T09/node:step-4:heading-rule"/>
          <p:cNvSpPr/>
          <p:nvPr/>
        </p:nvSpPr>
        <p:spPr>
          <a:xfrm>
            <a:off x="6153150" y="3165253"/>
            <a:ext cx="20574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39" name="T09/node:step-4:label"/>
          <p:cNvSpPr/>
          <p:nvPr/>
        </p:nvSpPr>
        <p:spPr>
          <a:xfrm>
            <a:off x="6267450" y="3575923"/>
            <a:ext cx="1828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知识检索</a:t>
            </a:r>
            <a:endParaRPr lang="zh-CN" sz="1800" dirty="0"/>
          </a:p>
        </p:txBody>
      </p:sp>
      <p:sp>
        <p:nvSpPr>
          <p:cNvPr id="40" name="T09/node:step-5:frame"/>
          <p:cNvSpPr/>
          <p:nvPr/>
        </p:nvSpPr>
        <p:spPr>
          <a:xfrm>
            <a:off x="3048000" y="5183029"/>
            <a:ext cx="2552700" cy="712184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41" name="T09/node:step-5:heading-rule"/>
          <p:cNvSpPr/>
          <p:nvPr/>
        </p:nvSpPr>
        <p:spPr>
          <a:xfrm>
            <a:off x="3048000" y="5183029"/>
            <a:ext cx="255270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42" name="T09/node:step-5:label"/>
          <p:cNvSpPr/>
          <p:nvPr/>
        </p:nvSpPr>
        <p:spPr>
          <a:xfrm>
            <a:off x="3162300" y="5405771"/>
            <a:ext cx="2324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输出核验</a:t>
            </a:r>
            <a:endParaRPr lang="zh-CN" sz="1800" dirty="0"/>
          </a:p>
        </p:txBody>
      </p:sp>
      <p:sp>
        <p:nvSpPr>
          <p:cNvPr id="43" name="T09/card/region-1/frame"/>
          <p:cNvSpPr/>
          <p:nvPr/>
        </p:nvSpPr>
        <p:spPr>
          <a:xfrm>
            <a:off x="8648700" y="1187006"/>
            <a:ext cx="3086100" cy="2136553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44" name="T09/card/region-1/heading-fill"/>
          <p:cNvSpPr/>
          <p:nvPr/>
        </p:nvSpPr>
        <p:spPr>
          <a:xfrm>
            <a:off x="8658225" y="1196531"/>
            <a:ext cx="30670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09/card/region-1/heading-rule"/>
          <p:cNvSpPr/>
          <p:nvPr/>
        </p:nvSpPr>
        <p:spPr>
          <a:xfrm>
            <a:off x="8648700" y="1568006"/>
            <a:ext cx="30861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46" name="T09/card/region-1/title"/>
          <p:cNvSpPr/>
          <p:nvPr/>
        </p:nvSpPr>
        <p:spPr>
          <a:xfrm>
            <a:off x="8772525" y="1234631"/>
            <a:ext cx="28384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路由依据</a:t>
            </a:r>
            <a:endParaRPr lang="zh-CN" sz="1950" dirty="0"/>
          </a:p>
        </p:txBody>
      </p:sp>
      <p:sp>
        <p:nvSpPr>
          <p:cNvPr id="47" name="T09/card/region-1/body"/>
          <p:cNvSpPr/>
          <p:nvPr/>
        </p:nvSpPr>
        <p:spPr>
          <a:xfrm>
            <a:off x="8782050" y="1672781"/>
            <a:ext cx="2819400" cy="1555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任务类型如何匹配工具能力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工具选择是否使用相同的信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息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缺少工具时应明确退出或求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助</a:t>
            </a:r>
            <a:endParaRPr lang="zh-CN" sz="1800" dirty="0"/>
          </a:p>
        </p:txBody>
      </p:sp>
      <p:sp>
        <p:nvSpPr>
          <p:cNvPr id="48" name="T09/card/region-2/frame"/>
          <p:cNvSpPr/>
          <p:nvPr/>
        </p:nvSpPr>
        <p:spPr>
          <a:xfrm>
            <a:off x="8648700" y="3734562"/>
            <a:ext cx="3086100" cy="225961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49" name="T09/card/region-2/tab"/>
          <p:cNvSpPr/>
          <p:nvPr/>
        </p:nvSpPr>
        <p:spPr>
          <a:xfrm>
            <a:off x="8763000" y="3620262"/>
            <a:ext cx="1752600" cy="342900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09/card/region-2/title"/>
          <p:cNvSpPr/>
          <p:nvPr/>
        </p:nvSpPr>
        <p:spPr>
          <a:xfrm>
            <a:off x="8867775" y="3648837"/>
            <a:ext cx="15430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工具覆盖范围</a:t>
            </a:r>
            <a:endParaRPr lang="zh-CN" sz="1950" dirty="0"/>
          </a:p>
        </p:txBody>
      </p:sp>
      <p:sp>
        <p:nvSpPr>
          <p:cNvPr id="51" name="T09/card/region-2/body"/>
          <p:cNvSpPr/>
          <p:nvPr/>
        </p:nvSpPr>
        <p:spPr>
          <a:xfrm>
            <a:off x="8782050" y="4106037"/>
            <a:ext cx="2819400" cy="179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列出工具能处理的对象和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标注分布外样本与失败类别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解释工具更新后需重做哪些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zh-CN" sz="1800" dirty="0"/>
          </a:p>
        </p:txBody>
      </p:sp>
      <p:sp>
        <p:nvSpPr>
          <p:cNvPr id="52" name="T09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0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0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48</a:t>
            </a:r>
            <a:endParaRPr lang="zh-CN" sz="1050" dirty="0"/>
          </a:p>
        </p:txBody>
      </p:sp>
      <p:sp>
        <p:nvSpPr>
          <p:cNvPr id="4" name="T10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机理模型与优化器耦合</a:t>
            </a:r>
            <a:endParaRPr lang="zh-CN" sz="3000" dirty="0"/>
          </a:p>
        </p:txBody>
      </p:sp>
      <p:sp>
        <p:nvSpPr>
          <p:cNvPr id="5" name="T10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10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10/panel:0:frame"/>
          <p:cNvSpPr/>
          <p:nvPr/>
        </p:nvSpPr>
        <p:spPr>
          <a:xfrm>
            <a:off x="457200" y="1167194"/>
            <a:ext cx="11277600" cy="1879378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10/panel:0:heading-fill"/>
          <p:cNvSpPr/>
          <p:nvPr/>
        </p:nvSpPr>
        <p:spPr>
          <a:xfrm>
            <a:off x="466725" y="1176719"/>
            <a:ext cx="11258550" cy="381000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10/panel:0:heading-rule"/>
          <p:cNvSpPr/>
          <p:nvPr/>
        </p:nvSpPr>
        <p:spPr>
          <a:xfrm>
            <a:off x="457200" y="1557719"/>
            <a:ext cx="1127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10/panel:0:title"/>
          <p:cNvSpPr/>
          <p:nvPr/>
        </p:nvSpPr>
        <p:spPr>
          <a:xfrm>
            <a:off x="581025" y="1214819"/>
            <a:ext cx="11029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耦合计算链</a:t>
            </a:r>
            <a:endParaRPr lang="zh-CN" sz="1950" dirty="0"/>
          </a:p>
        </p:txBody>
      </p:sp>
      <p:sp>
        <p:nvSpPr>
          <p:cNvPr id="11" name="T10/edge:0"/>
          <p:cNvSpPr/>
          <p:nvPr/>
        </p:nvSpPr>
        <p:spPr>
          <a:xfrm>
            <a:off x="2762250" y="2275046"/>
            <a:ext cx="7239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2" name="T10/edge:1"/>
          <p:cNvSpPr/>
          <p:nvPr/>
        </p:nvSpPr>
        <p:spPr>
          <a:xfrm>
            <a:off x="5638800" y="2275046"/>
            <a:ext cx="7429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3" name="T10/edge:2"/>
          <p:cNvSpPr/>
          <p:nvPr/>
        </p:nvSpPr>
        <p:spPr>
          <a:xfrm>
            <a:off x="8534400" y="2275046"/>
            <a:ext cx="7429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4" name="T10/node:step-1:frame"/>
          <p:cNvSpPr/>
          <p:nvPr/>
        </p:nvSpPr>
        <p:spPr>
          <a:xfrm>
            <a:off x="609600" y="1701356"/>
            <a:ext cx="2152650" cy="1147381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5" name="T10/node:step-1:heading-rule"/>
          <p:cNvSpPr/>
          <p:nvPr/>
        </p:nvSpPr>
        <p:spPr>
          <a:xfrm>
            <a:off x="609600" y="1701356"/>
            <a:ext cx="215265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16" name="T10/node:step-1:label"/>
          <p:cNvSpPr/>
          <p:nvPr/>
        </p:nvSpPr>
        <p:spPr>
          <a:xfrm>
            <a:off x="723900" y="1796606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环境与管理输入</a:t>
            </a:r>
            <a:endParaRPr lang="zh-CN" sz="1800" dirty="0"/>
          </a:p>
        </p:txBody>
      </p:sp>
      <p:sp>
        <p:nvSpPr>
          <p:cNvPr id="17" name="T10/node:step-1:detail"/>
          <p:cNvSpPr/>
          <p:nvPr/>
        </p:nvSpPr>
        <p:spPr>
          <a:xfrm>
            <a:off x="723900" y="2110931"/>
            <a:ext cx="1924050" cy="65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同一时间步和物理量</a:t>
            </a:r>
            <a:endParaRPr lang="zh-CN" sz="1650" dirty="0"/>
          </a:p>
        </p:txBody>
      </p:sp>
      <p:sp>
        <p:nvSpPr>
          <p:cNvPr id="18" name="T10/node:step-2:frame"/>
          <p:cNvSpPr/>
          <p:nvPr/>
        </p:nvSpPr>
        <p:spPr>
          <a:xfrm>
            <a:off x="3486150" y="1701356"/>
            <a:ext cx="2152650" cy="1147381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10/node:step-2:heading-rule"/>
          <p:cNvSpPr/>
          <p:nvPr/>
        </p:nvSpPr>
        <p:spPr>
          <a:xfrm>
            <a:off x="3486150" y="1701356"/>
            <a:ext cx="21526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0" name="T10/node:step-2:label"/>
          <p:cNvSpPr/>
          <p:nvPr/>
        </p:nvSpPr>
        <p:spPr>
          <a:xfrm>
            <a:off x="3600450" y="1796606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机理模型</a:t>
            </a:r>
            <a:endParaRPr lang="zh-CN" sz="1800" dirty="0"/>
          </a:p>
        </p:txBody>
      </p:sp>
      <p:sp>
        <p:nvSpPr>
          <p:cNvPr id="21" name="T10/node:step-2:detail"/>
          <p:cNvSpPr/>
          <p:nvPr/>
        </p:nvSpPr>
        <p:spPr>
          <a:xfrm>
            <a:off x="3600450" y="2110931"/>
            <a:ext cx="1924050" cy="65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参数与状态演化</a:t>
            </a:r>
            <a:endParaRPr lang="zh-CN" sz="1650" dirty="0"/>
          </a:p>
        </p:txBody>
      </p:sp>
      <p:sp>
        <p:nvSpPr>
          <p:cNvPr id="22" name="T10/node:step-3:frame"/>
          <p:cNvSpPr/>
          <p:nvPr/>
        </p:nvSpPr>
        <p:spPr>
          <a:xfrm>
            <a:off x="6381750" y="1701356"/>
            <a:ext cx="2152650" cy="1147381"/>
          </a:xfrm>
          <a:prstGeom prst="rect">
            <a:avLst/>
          </a:prstGeom>
          <a:solidFill>
            <a:srgbClr val="FAEEE8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3" name="T10/node:step-3:heading-rule"/>
          <p:cNvSpPr/>
          <p:nvPr/>
        </p:nvSpPr>
        <p:spPr>
          <a:xfrm>
            <a:off x="6381750" y="1701356"/>
            <a:ext cx="2152650" cy="0"/>
          </a:xfrm>
          <a:prstGeom prst="line">
            <a:avLst/>
          </a:prstGeom>
          <a:noFill/>
          <a:ln w="19050">
            <a:solidFill>
              <a:srgbClr val="A24736"/>
            </a:solidFill>
            <a:prstDash val="solid"/>
          </a:ln>
        </p:spPr>
      </p:sp>
      <p:sp>
        <p:nvSpPr>
          <p:cNvPr id="24" name="T10/node:step-3:label"/>
          <p:cNvSpPr/>
          <p:nvPr/>
        </p:nvSpPr>
        <p:spPr>
          <a:xfrm>
            <a:off x="6496050" y="1796606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目标与约束计算</a:t>
            </a:r>
            <a:endParaRPr lang="zh-CN" sz="1800" dirty="0"/>
          </a:p>
        </p:txBody>
      </p:sp>
      <p:sp>
        <p:nvSpPr>
          <p:cNvPr id="25" name="T10/node:step-3:detail"/>
          <p:cNvSpPr/>
          <p:nvPr/>
        </p:nvSpPr>
        <p:spPr>
          <a:xfrm>
            <a:off x="6496050" y="2110931"/>
            <a:ext cx="1924050" cy="65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效应、损失和边界</a:t>
            </a:r>
            <a:endParaRPr lang="zh-CN" sz="1650" dirty="0"/>
          </a:p>
        </p:txBody>
      </p:sp>
      <p:sp>
        <p:nvSpPr>
          <p:cNvPr id="26" name="T10/node:step-4:frame"/>
          <p:cNvSpPr/>
          <p:nvPr/>
        </p:nvSpPr>
        <p:spPr>
          <a:xfrm>
            <a:off x="9277350" y="1701356"/>
            <a:ext cx="2305050" cy="1147381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7" name="T10/node:step-4:heading-rule"/>
          <p:cNvSpPr/>
          <p:nvPr/>
        </p:nvSpPr>
        <p:spPr>
          <a:xfrm>
            <a:off x="9277350" y="1701356"/>
            <a:ext cx="23050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8" name="T10/node:step-4:label"/>
          <p:cNvSpPr/>
          <p:nvPr/>
        </p:nvSpPr>
        <p:spPr>
          <a:xfrm>
            <a:off x="9391650" y="1796606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优化或策略更新</a:t>
            </a:r>
            <a:endParaRPr lang="zh-CN" sz="1800" dirty="0"/>
          </a:p>
        </p:txBody>
      </p:sp>
      <p:sp>
        <p:nvSpPr>
          <p:cNvPr id="29" name="T10/node:step-4:detail"/>
          <p:cNvSpPr/>
          <p:nvPr/>
        </p:nvSpPr>
        <p:spPr>
          <a:xfrm>
            <a:off x="9391650" y="2110931"/>
            <a:ext cx="2076450" cy="65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反馈到下一轮</a:t>
            </a:r>
            <a:endParaRPr lang="zh-CN" sz="1650" dirty="0"/>
          </a:p>
        </p:txBody>
      </p:sp>
      <p:sp>
        <p:nvSpPr>
          <p:cNvPr id="30" name="T10/card/region-1/frame"/>
          <p:cNvSpPr/>
          <p:nvPr/>
        </p:nvSpPr>
        <p:spPr>
          <a:xfrm>
            <a:off x="457200" y="3461956"/>
            <a:ext cx="3486150" cy="2492597"/>
          </a:xfrm>
          <a:prstGeom prst="rect">
            <a:avLst/>
          </a:prstGeom>
          <a:solidFill>
            <a:srgbClr val="FFFFFF"/>
          </a:solidFill>
          <a:ln w="9525">
            <a:solidFill>
              <a:srgbClr val="BEC8D4"/>
            </a:solidFill>
            <a:prstDash val="solid"/>
          </a:ln>
        </p:spPr>
      </p:sp>
      <p:sp>
        <p:nvSpPr>
          <p:cNvPr id="31" name="T10/card/region-1/label"/>
          <p:cNvSpPr/>
          <p:nvPr/>
        </p:nvSpPr>
        <p:spPr>
          <a:xfrm>
            <a:off x="457200" y="3461956"/>
            <a:ext cx="1010983" cy="2492597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10/card/region-1/split"/>
          <p:cNvSpPr/>
          <p:nvPr/>
        </p:nvSpPr>
        <p:spPr>
          <a:xfrm>
            <a:off x="1468183" y="3633406"/>
            <a:ext cx="0" cy="2149697"/>
          </a:xfrm>
          <a:prstGeom prst="line">
            <a:avLst/>
          </a:prstGeom>
          <a:noFill/>
          <a:ln w="13335">
            <a:solidFill>
              <a:srgbClr val="536A7A"/>
            </a:solidFill>
            <a:prstDash val="solid"/>
          </a:ln>
        </p:spPr>
      </p:sp>
      <p:sp>
        <p:nvSpPr>
          <p:cNvPr id="33" name="T10/card/region-1/title"/>
          <p:cNvSpPr/>
          <p:nvPr/>
        </p:nvSpPr>
        <p:spPr>
          <a:xfrm>
            <a:off x="600075" y="3652457"/>
            <a:ext cx="725233" cy="2092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zh-CN" sz="1950" dirty="0"/>
          </a:p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endParaRPr lang="zh-CN" sz="1950" dirty="0"/>
          </a:p>
        </p:txBody>
      </p:sp>
      <p:sp>
        <p:nvSpPr>
          <p:cNvPr id="34" name="T10/card/region-1/body"/>
          <p:cNvSpPr/>
          <p:nvPr/>
        </p:nvSpPr>
        <p:spPr>
          <a:xfrm>
            <a:off x="1639633" y="3642932"/>
            <a:ext cx="2141792" cy="2121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列出观测与管理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核对物理量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间步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保留缺失或预测数据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的来源</a:t>
            </a:r>
            <a:endParaRPr lang="zh-CN" sz="1800" dirty="0"/>
          </a:p>
        </p:txBody>
      </p:sp>
      <p:sp>
        <p:nvSpPr>
          <p:cNvPr id="35" name="T10/card/region-2/frame"/>
          <p:cNvSpPr/>
          <p:nvPr/>
        </p:nvSpPr>
        <p:spPr>
          <a:xfrm>
            <a:off x="4210050" y="3461956"/>
            <a:ext cx="3505200" cy="2492597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6" name="T10/card/region-2/heading-fill"/>
          <p:cNvSpPr/>
          <p:nvPr/>
        </p:nvSpPr>
        <p:spPr>
          <a:xfrm>
            <a:off x="4219575" y="3471482"/>
            <a:ext cx="34861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10/card/region-2/heading-rule"/>
          <p:cNvSpPr/>
          <p:nvPr/>
        </p:nvSpPr>
        <p:spPr>
          <a:xfrm>
            <a:off x="4210050" y="3842956"/>
            <a:ext cx="35052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8" name="T10/card/region-2/title"/>
          <p:cNvSpPr/>
          <p:nvPr/>
        </p:nvSpPr>
        <p:spPr>
          <a:xfrm>
            <a:off x="4333875" y="3509582"/>
            <a:ext cx="32575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校准与验证</a:t>
            </a:r>
            <a:endParaRPr lang="zh-CN" sz="1950" dirty="0"/>
          </a:p>
        </p:txBody>
      </p:sp>
      <p:sp>
        <p:nvSpPr>
          <p:cNvPr id="39" name="T10/card/region-2/body"/>
          <p:cNvSpPr/>
          <p:nvPr/>
        </p:nvSpPr>
        <p:spPr>
          <a:xfrm>
            <a:off x="4343400" y="3947732"/>
            <a:ext cx="3238500" cy="191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区分参数校准与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独立验证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报告校准范围与留出环境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与观测比较误差而非只看拟合</a:t>
            </a:r>
            <a:endParaRPr lang="zh-CN" sz="1800" dirty="0"/>
          </a:p>
        </p:txBody>
      </p:sp>
      <p:sp>
        <p:nvSpPr>
          <p:cNvPr id="40" name="T10/card/region-3/frame"/>
          <p:cNvSpPr/>
          <p:nvPr/>
        </p:nvSpPr>
        <p:spPr>
          <a:xfrm>
            <a:off x="7981950" y="3576256"/>
            <a:ext cx="3752850" cy="2378297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41" name="T10/card/region-3/tab"/>
          <p:cNvSpPr/>
          <p:nvPr/>
        </p:nvSpPr>
        <p:spPr>
          <a:xfrm>
            <a:off x="8096250" y="3461956"/>
            <a:ext cx="125730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10/card/region-3/title"/>
          <p:cNvSpPr/>
          <p:nvPr/>
        </p:nvSpPr>
        <p:spPr>
          <a:xfrm>
            <a:off x="8201025" y="3490531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模型失配</a:t>
            </a:r>
            <a:endParaRPr lang="zh-CN" sz="1950" dirty="0"/>
          </a:p>
        </p:txBody>
      </p:sp>
      <p:sp>
        <p:nvSpPr>
          <p:cNvPr id="43" name="T10/card/region-3/body"/>
          <p:cNvSpPr/>
          <p:nvPr/>
        </p:nvSpPr>
        <p:spPr>
          <a:xfrm>
            <a:off x="8115300" y="3947732"/>
            <a:ext cx="3486150" cy="191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列出结构误差与参数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不确定性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说明误差如何影响优化或策略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补充越界状态的处理规则</a:t>
            </a:r>
            <a:endParaRPr lang="zh-CN" sz="1800" dirty="0"/>
          </a:p>
        </p:txBody>
      </p:sp>
      <p:sp>
        <p:nvSpPr>
          <p:cNvPr id="44" name="T10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1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1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48</a:t>
            </a:r>
            <a:endParaRPr lang="zh-CN" sz="1050" dirty="0"/>
          </a:p>
        </p:txBody>
      </p:sp>
      <p:sp>
        <p:nvSpPr>
          <p:cNvPr id="4" name="T11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算法步骤与关键假设</a:t>
            </a:r>
            <a:endParaRPr lang="zh-CN" sz="3000" dirty="0"/>
          </a:p>
        </p:txBody>
      </p:sp>
      <p:sp>
        <p:nvSpPr>
          <p:cNvPr id="5" name="T11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11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11/edge:0"/>
          <p:cNvSpPr/>
          <p:nvPr/>
        </p:nvSpPr>
        <p:spPr>
          <a:xfrm>
            <a:off x="2228850" y="1899094"/>
            <a:ext cx="0" cy="27698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8" name="T11/edge:1"/>
          <p:cNvSpPr/>
          <p:nvPr/>
        </p:nvSpPr>
        <p:spPr>
          <a:xfrm>
            <a:off x="2228850" y="2927795"/>
            <a:ext cx="0" cy="27698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9" name="T11/edge:2"/>
          <p:cNvSpPr/>
          <p:nvPr/>
        </p:nvSpPr>
        <p:spPr>
          <a:xfrm>
            <a:off x="2228850" y="3956495"/>
            <a:ext cx="0" cy="27698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11/edge:3"/>
          <p:cNvSpPr/>
          <p:nvPr/>
        </p:nvSpPr>
        <p:spPr>
          <a:xfrm>
            <a:off x="2228850" y="4985195"/>
            <a:ext cx="0" cy="27698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1" name="T11/node:step-1:frame"/>
          <p:cNvSpPr/>
          <p:nvPr/>
        </p:nvSpPr>
        <p:spPr>
          <a:xfrm>
            <a:off x="590550" y="1147381"/>
            <a:ext cx="3276600" cy="751713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2" name="T11/node:step-1:heading-rule"/>
          <p:cNvSpPr/>
          <p:nvPr/>
        </p:nvSpPr>
        <p:spPr>
          <a:xfrm>
            <a:off x="590550" y="1147381"/>
            <a:ext cx="327660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13" name="T11/node:step-1:label"/>
          <p:cNvSpPr/>
          <p:nvPr/>
        </p:nvSpPr>
        <p:spPr>
          <a:xfrm>
            <a:off x="704850" y="1389888"/>
            <a:ext cx="3048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输入与初始化</a:t>
            </a:r>
            <a:endParaRPr lang="zh-CN" sz="1800" dirty="0"/>
          </a:p>
        </p:txBody>
      </p:sp>
      <p:sp>
        <p:nvSpPr>
          <p:cNvPr id="14" name="T11/node:step-2:frame"/>
          <p:cNvSpPr/>
          <p:nvPr/>
        </p:nvSpPr>
        <p:spPr>
          <a:xfrm>
            <a:off x="590550" y="2176082"/>
            <a:ext cx="3276600" cy="75171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5" name="T11/node:step-2:heading-rule"/>
          <p:cNvSpPr/>
          <p:nvPr/>
        </p:nvSpPr>
        <p:spPr>
          <a:xfrm>
            <a:off x="590550" y="2176082"/>
            <a:ext cx="32766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6" name="T11/node:step-2:label"/>
          <p:cNvSpPr/>
          <p:nvPr/>
        </p:nvSpPr>
        <p:spPr>
          <a:xfrm>
            <a:off x="704850" y="2418588"/>
            <a:ext cx="3048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构造候选</a:t>
            </a:r>
            <a:endParaRPr lang="zh-CN" sz="1800" dirty="0"/>
          </a:p>
        </p:txBody>
      </p:sp>
      <p:sp>
        <p:nvSpPr>
          <p:cNvPr id="17" name="T11/node:step-3:frame"/>
          <p:cNvSpPr/>
          <p:nvPr/>
        </p:nvSpPr>
        <p:spPr>
          <a:xfrm>
            <a:off x="590550" y="3204781"/>
            <a:ext cx="3276600" cy="75171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8" name="T11/node:step-3:heading-rule"/>
          <p:cNvSpPr/>
          <p:nvPr/>
        </p:nvSpPr>
        <p:spPr>
          <a:xfrm>
            <a:off x="590550" y="3204781"/>
            <a:ext cx="32766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9" name="T11/node:step-3:label"/>
          <p:cNvSpPr/>
          <p:nvPr/>
        </p:nvSpPr>
        <p:spPr>
          <a:xfrm>
            <a:off x="704850" y="3447288"/>
            <a:ext cx="3048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计算目标</a:t>
            </a:r>
            <a:endParaRPr lang="zh-CN" sz="1800" dirty="0"/>
          </a:p>
        </p:txBody>
      </p:sp>
      <p:sp>
        <p:nvSpPr>
          <p:cNvPr id="20" name="T11/node:step-4:frame"/>
          <p:cNvSpPr/>
          <p:nvPr/>
        </p:nvSpPr>
        <p:spPr>
          <a:xfrm>
            <a:off x="590550" y="4233482"/>
            <a:ext cx="3276600" cy="75171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1" name="T11/node:step-4:heading-rule"/>
          <p:cNvSpPr/>
          <p:nvPr/>
        </p:nvSpPr>
        <p:spPr>
          <a:xfrm>
            <a:off x="590550" y="4233482"/>
            <a:ext cx="32766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2" name="T11/node:step-4:label"/>
          <p:cNvSpPr/>
          <p:nvPr/>
        </p:nvSpPr>
        <p:spPr>
          <a:xfrm>
            <a:off x="704850" y="4475988"/>
            <a:ext cx="3048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更新参数</a:t>
            </a:r>
            <a:endParaRPr lang="zh-CN" sz="1800" dirty="0"/>
          </a:p>
        </p:txBody>
      </p:sp>
      <p:sp>
        <p:nvSpPr>
          <p:cNvPr id="23" name="T11/node:step-5:frame"/>
          <p:cNvSpPr/>
          <p:nvPr/>
        </p:nvSpPr>
        <p:spPr>
          <a:xfrm>
            <a:off x="590550" y="5262182"/>
            <a:ext cx="3276600" cy="751713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4" name="T11/node:step-5:heading-rule"/>
          <p:cNvSpPr/>
          <p:nvPr/>
        </p:nvSpPr>
        <p:spPr>
          <a:xfrm>
            <a:off x="590550" y="5262182"/>
            <a:ext cx="327660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25" name="T11/node:step-5:label"/>
          <p:cNvSpPr/>
          <p:nvPr/>
        </p:nvSpPr>
        <p:spPr>
          <a:xfrm>
            <a:off x="704850" y="5504688"/>
            <a:ext cx="3048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停止与输出</a:t>
            </a:r>
            <a:endParaRPr lang="zh-CN" sz="1800" dirty="0"/>
          </a:p>
        </p:txBody>
      </p:sp>
      <p:sp>
        <p:nvSpPr>
          <p:cNvPr id="26" name="T11/card/region-1/frame"/>
          <p:cNvSpPr/>
          <p:nvPr/>
        </p:nvSpPr>
        <p:spPr>
          <a:xfrm>
            <a:off x="4305300" y="1167194"/>
            <a:ext cx="7429500" cy="150352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7" name="T11/card/region-1/heading-fill"/>
          <p:cNvSpPr/>
          <p:nvPr/>
        </p:nvSpPr>
        <p:spPr>
          <a:xfrm>
            <a:off x="4314825" y="1176719"/>
            <a:ext cx="74104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11/card/region-1/heading-rule"/>
          <p:cNvSpPr/>
          <p:nvPr/>
        </p:nvSpPr>
        <p:spPr>
          <a:xfrm>
            <a:off x="4305300" y="1548194"/>
            <a:ext cx="74295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9" name="T11/card/region-1/title"/>
          <p:cNvSpPr/>
          <p:nvPr/>
        </p:nvSpPr>
        <p:spPr>
          <a:xfrm>
            <a:off x="4429125" y="1214819"/>
            <a:ext cx="71818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关键运算</a:t>
            </a:r>
            <a:endParaRPr lang="zh-CN" sz="1950" dirty="0"/>
          </a:p>
        </p:txBody>
      </p:sp>
      <p:sp>
        <p:nvSpPr>
          <p:cNvPr id="30" name="T11/card/region-1/body"/>
          <p:cNvSpPr/>
          <p:nvPr/>
        </p:nvSpPr>
        <p:spPr>
          <a:xfrm>
            <a:off x="4438650" y="1652969"/>
            <a:ext cx="7162800" cy="922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写清关键更新或目标计算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维度、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与复杂度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避免只写算法名而省略机制</a:t>
            </a:r>
            <a:endParaRPr lang="zh-CN" sz="1800" dirty="0"/>
          </a:p>
        </p:txBody>
      </p:sp>
      <p:sp>
        <p:nvSpPr>
          <p:cNvPr id="31" name="T11/card/region-2/heading-rule"/>
          <p:cNvSpPr/>
          <p:nvPr/>
        </p:nvSpPr>
        <p:spPr>
          <a:xfrm>
            <a:off x="4305300" y="3230404"/>
            <a:ext cx="74295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2" name="T11/card/region-2/heading-mark"/>
          <p:cNvSpPr/>
          <p:nvPr/>
        </p:nvSpPr>
        <p:spPr>
          <a:xfrm>
            <a:off x="4305300" y="3230404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33" name="T11/card/region-2/title"/>
          <p:cNvSpPr/>
          <p:nvPr/>
        </p:nvSpPr>
        <p:spPr>
          <a:xfrm>
            <a:off x="4305300" y="2887504"/>
            <a:ext cx="74295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更新规则</a:t>
            </a:r>
            <a:endParaRPr lang="zh-CN" sz="1950" dirty="0"/>
          </a:p>
        </p:txBody>
      </p:sp>
      <p:sp>
        <p:nvSpPr>
          <p:cNvPr id="34" name="T11/card/region-2/body"/>
          <p:cNvSpPr/>
          <p:nvPr/>
        </p:nvSpPr>
        <p:spPr>
          <a:xfrm>
            <a:off x="4305300" y="3363754"/>
            <a:ext cx="7429500" cy="930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说明批次、频率与停止条件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区分训练更新和测试时的行为</a:t>
            </a:r>
            <a:endParaRPr lang="zh-CN" sz="1800" dirty="0"/>
          </a:p>
        </p:txBody>
      </p:sp>
      <p:sp>
        <p:nvSpPr>
          <p:cNvPr id="35" name="T11/card/region-3/frame"/>
          <p:cNvSpPr/>
          <p:nvPr/>
        </p:nvSpPr>
        <p:spPr>
          <a:xfrm>
            <a:off x="4305300" y="4664297"/>
            <a:ext cx="7429500" cy="1349597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6" name="T11/card/region-3/tab"/>
          <p:cNvSpPr/>
          <p:nvPr/>
        </p:nvSpPr>
        <p:spPr>
          <a:xfrm>
            <a:off x="4419600" y="4549997"/>
            <a:ext cx="1257300" cy="342900"/>
          </a:xfrm>
          <a:prstGeom prst="rect">
            <a:avLst/>
          </a:prstGeom>
          <a:solidFill>
            <a:srgbClr val="6C52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11/card/region-3/title"/>
          <p:cNvSpPr/>
          <p:nvPr/>
        </p:nvSpPr>
        <p:spPr>
          <a:xfrm>
            <a:off x="4524375" y="4578572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计算假设</a:t>
            </a:r>
            <a:endParaRPr lang="zh-CN" sz="1950" dirty="0"/>
          </a:p>
        </p:txBody>
      </p:sp>
      <p:sp>
        <p:nvSpPr>
          <p:cNvPr id="38" name="T11/card/region-3/body"/>
          <p:cNvSpPr/>
          <p:nvPr/>
        </p:nvSpPr>
        <p:spPr>
          <a:xfrm>
            <a:off x="4438650" y="5035772"/>
            <a:ext cx="7162800" cy="882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列出独立性、可观测性与稳定性假设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报告超参数、随机种子和预算</a:t>
            </a:r>
            <a:endParaRPr lang="zh-CN" sz="1800" dirty="0"/>
          </a:p>
        </p:txBody>
      </p:sp>
      <p:sp>
        <p:nvSpPr>
          <p:cNvPr id="39" name="T11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2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/ 48</a:t>
            </a:r>
            <a:endParaRPr lang="zh-CN" sz="1050" dirty="0"/>
          </a:p>
        </p:txBody>
      </p:sp>
      <p:sp>
        <p:nvSpPr>
          <p:cNvPr id="4" name="T12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目标函数与约束分解</a:t>
            </a:r>
            <a:endParaRPr lang="zh-CN" sz="3000" dirty="0"/>
          </a:p>
        </p:txBody>
      </p:sp>
      <p:sp>
        <p:nvSpPr>
          <p:cNvPr id="5" name="T12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12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12/card/region-1/frame"/>
          <p:cNvSpPr/>
          <p:nvPr/>
        </p:nvSpPr>
        <p:spPr>
          <a:xfrm>
            <a:off x="457200" y="1167194"/>
            <a:ext cx="7296150" cy="1523238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12/card/region-1/heading-fill"/>
          <p:cNvSpPr/>
          <p:nvPr/>
        </p:nvSpPr>
        <p:spPr>
          <a:xfrm>
            <a:off x="466725" y="1176719"/>
            <a:ext cx="727710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12/card/region-1/heading-rule"/>
          <p:cNvSpPr/>
          <p:nvPr/>
        </p:nvSpPr>
        <p:spPr>
          <a:xfrm>
            <a:off x="457200" y="1548194"/>
            <a:ext cx="72961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12/card/region-1/title"/>
          <p:cNvSpPr/>
          <p:nvPr/>
        </p:nvSpPr>
        <p:spPr>
          <a:xfrm>
            <a:off x="581025" y="1214819"/>
            <a:ext cx="70485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优化目标</a:t>
            </a:r>
            <a:endParaRPr lang="zh-CN" sz="1950" dirty="0"/>
          </a:p>
        </p:txBody>
      </p:sp>
      <p:sp>
        <p:nvSpPr>
          <p:cNvPr id="11" name="T12/card/region-1/body"/>
          <p:cNvSpPr/>
          <p:nvPr/>
        </p:nvSpPr>
        <p:spPr>
          <a:xfrm>
            <a:off x="590550" y="1652969"/>
            <a:ext cx="7029450" cy="942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示例：min L = Ldata + λ Lregularizer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替换为原论文公式并解释每一项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确认优化目标与评价指标的关系</a:t>
            </a:r>
            <a:endParaRPr lang="zh-CN" sz="1800" dirty="0"/>
          </a:p>
        </p:txBody>
      </p:sp>
      <p:sp>
        <p:nvSpPr>
          <p:cNvPr id="12" name="T12/card/region-2/heading-rule"/>
          <p:cNvSpPr/>
          <p:nvPr/>
        </p:nvSpPr>
        <p:spPr>
          <a:xfrm>
            <a:off x="457200" y="3270028"/>
            <a:ext cx="72961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3" name="T12/card/region-2/heading-mark"/>
          <p:cNvSpPr/>
          <p:nvPr/>
        </p:nvSpPr>
        <p:spPr>
          <a:xfrm>
            <a:off x="457200" y="3270028"/>
            <a:ext cx="342900" cy="0"/>
          </a:xfrm>
          <a:prstGeom prst="line">
            <a:avLst/>
          </a:prstGeom>
          <a:noFill/>
          <a:ln w="17145">
            <a:solidFill>
              <a:srgbClr val="A24736"/>
            </a:solidFill>
            <a:prstDash val="solid"/>
          </a:ln>
        </p:spPr>
      </p:sp>
      <p:sp>
        <p:nvSpPr>
          <p:cNvPr id="14" name="T12/card/region-2/title"/>
          <p:cNvSpPr/>
          <p:nvPr/>
        </p:nvSpPr>
        <p:spPr>
          <a:xfrm>
            <a:off x="457200" y="2927128"/>
            <a:ext cx="72961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约束集合</a:t>
            </a:r>
            <a:endParaRPr lang="zh-CN" sz="1950" dirty="0"/>
          </a:p>
        </p:txBody>
      </p:sp>
      <p:sp>
        <p:nvSpPr>
          <p:cNvPr id="15" name="T12/card/region-2/body"/>
          <p:cNvSpPr/>
          <p:nvPr/>
        </p:nvSpPr>
        <p:spPr>
          <a:xfrm>
            <a:off x="457200" y="3403378"/>
            <a:ext cx="7296150" cy="81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示例：g(x) ≤ 0，a_t ∈ A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说明约束作用对象与违反代价</a:t>
            </a:r>
            <a:endParaRPr lang="zh-CN" sz="1800" dirty="0"/>
          </a:p>
        </p:txBody>
      </p:sp>
      <p:sp>
        <p:nvSpPr>
          <p:cNvPr id="16" name="T12/card/region-3/base-rule"/>
          <p:cNvSpPr/>
          <p:nvPr/>
        </p:nvSpPr>
        <p:spPr>
          <a:xfrm>
            <a:off x="457200" y="6053423"/>
            <a:ext cx="72961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7" name="T12/card/region-3/side-mark"/>
          <p:cNvSpPr/>
          <p:nvPr/>
        </p:nvSpPr>
        <p:spPr>
          <a:xfrm>
            <a:off x="457200" y="4489895"/>
            <a:ext cx="47625" cy="29527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12/card/region-3/title"/>
          <p:cNvSpPr/>
          <p:nvPr/>
        </p:nvSpPr>
        <p:spPr>
          <a:xfrm>
            <a:off x="609600" y="4489895"/>
            <a:ext cx="71437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求解与评价</a:t>
            </a:r>
            <a:endParaRPr lang="zh-CN" sz="1950" dirty="0"/>
          </a:p>
        </p:txBody>
      </p:sp>
      <p:sp>
        <p:nvSpPr>
          <p:cNvPr id="19" name="T12/card/region-3/body"/>
          <p:cNvSpPr/>
          <p:nvPr/>
        </p:nvSpPr>
        <p:spPr>
          <a:xfrm>
            <a:off x="609600" y="4908995"/>
            <a:ext cx="7143750" cy="104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求解器负责怎样的搜索或更新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独立测试怎样估计结果与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不确定性</a:t>
            </a:r>
            <a:endParaRPr lang="zh-CN" sz="1800" dirty="0"/>
          </a:p>
        </p:txBody>
      </p:sp>
      <p:sp>
        <p:nvSpPr>
          <p:cNvPr id="20" name="T12/card/region-4/frame"/>
          <p:cNvSpPr/>
          <p:nvPr/>
        </p:nvSpPr>
        <p:spPr>
          <a:xfrm>
            <a:off x="8096250" y="1167194"/>
            <a:ext cx="3638550" cy="2334387"/>
          </a:xfrm>
          <a:prstGeom prst="rect">
            <a:avLst/>
          </a:prstGeom>
          <a:solidFill>
            <a:srgbClr val="FFFFFF"/>
          </a:solidFill>
          <a:ln w="9525">
            <a:solidFill>
              <a:srgbClr val="BEC8D4"/>
            </a:solidFill>
            <a:prstDash val="solid"/>
          </a:ln>
        </p:spPr>
      </p:sp>
      <p:sp>
        <p:nvSpPr>
          <p:cNvPr id="21" name="T12/card/region-4/ledger-accent"/>
          <p:cNvSpPr/>
          <p:nvPr/>
        </p:nvSpPr>
        <p:spPr>
          <a:xfrm>
            <a:off x="8096250" y="1167194"/>
            <a:ext cx="57150" cy="2334387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12/card/region-4/ledger-rule"/>
          <p:cNvSpPr/>
          <p:nvPr/>
        </p:nvSpPr>
        <p:spPr>
          <a:xfrm>
            <a:off x="8286750" y="1710119"/>
            <a:ext cx="3257550" cy="0"/>
          </a:xfrm>
          <a:prstGeom prst="line">
            <a:avLst/>
          </a:prstGeom>
          <a:noFill/>
          <a:ln w="13335">
            <a:solidFill>
              <a:srgbClr val="BEC8D4"/>
            </a:solidFill>
            <a:prstDash val="solid"/>
          </a:ln>
        </p:spPr>
      </p:sp>
      <p:sp>
        <p:nvSpPr>
          <p:cNvPr id="23" name="T12/card/region-4/title"/>
          <p:cNvSpPr/>
          <p:nvPr/>
        </p:nvSpPr>
        <p:spPr>
          <a:xfrm>
            <a:off x="8286750" y="1329119"/>
            <a:ext cx="32575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符号与单位</a:t>
            </a:r>
            <a:endParaRPr lang="zh-CN" sz="1950" dirty="0"/>
          </a:p>
        </p:txBody>
      </p:sp>
      <p:sp>
        <p:nvSpPr>
          <p:cNvPr id="24" name="T12/card/region-4/body"/>
          <p:cNvSpPr/>
          <p:nvPr/>
        </p:nvSpPr>
        <p:spPr>
          <a:xfrm>
            <a:off x="8286750" y="1852994"/>
            <a:ext cx="3257550" cy="1458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统一状态、动作、参数与损失符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号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所有数值项保留量纲与归一化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避免同一符号代表不同物理量</a:t>
            </a:r>
            <a:endParaRPr lang="zh-CN" sz="1800" dirty="0"/>
          </a:p>
        </p:txBody>
      </p:sp>
      <p:sp>
        <p:nvSpPr>
          <p:cNvPr id="25" name="T12/card/region-5/frame"/>
          <p:cNvSpPr/>
          <p:nvPr/>
        </p:nvSpPr>
        <p:spPr>
          <a:xfrm>
            <a:off x="8096250" y="3853244"/>
            <a:ext cx="3638550" cy="2200275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6" name="T12/card/region-5/tab"/>
          <p:cNvSpPr/>
          <p:nvPr/>
        </p:nvSpPr>
        <p:spPr>
          <a:xfrm>
            <a:off x="8210550" y="3738944"/>
            <a:ext cx="1752600" cy="342900"/>
          </a:xfrm>
          <a:prstGeom prst="rect">
            <a:avLst/>
          </a:prstGeom>
          <a:solidFill>
            <a:srgbClr val="6C52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12/card/region-5/title"/>
          <p:cNvSpPr/>
          <p:nvPr/>
        </p:nvSpPr>
        <p:spPr>
          <a:xfrm>
            <a:off x="8315325" y="3767519"/>
            <a:ext cx="15430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可识别性假设</a:t>
            </a:r>
            <a:endParaRPr lang="zh-CN" sz="1950" dirty="0"/>
          </a:p>
        </p:txBody>
      </p:sp>
      <p:sp>
        <p:nvSpPr>
          <p:cNvPr id="28" name="T12/card/region-5/body"/>
          <p:cNvSpPr/>
          <p:nvPr/>
        </p:nvSpPr>
        <p:spPr>
          <a:xfrm>
            <a:off x="8229600" y="4224719"/>
            <a:ext cx="3371850" cy="1733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解释哪些参数能由观测识别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列出需要固定或外部提供的条件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用消融或敏感性分析检查解释</a:t>
            </a:r>
            <a:endParaRPr lang="zh-CN" sz="1800" dirty="0"/>
          </a:p>
        </p:txBody>
      </p:sp>
      <p:sp>
        <p:nvSpPr>
          <p:cNvPr id="29" name="T1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3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/ 48</a:t>
            </a:r>
            <a:endParaRPr lang="zh-CN" sz="1050" dirty="0"/>
          </a:p>
        </p:txBody>
      </p:sp>
      <p:sp>
        <p:nvSpPr>
          <p:cNvPr id="4" name="T13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样本单位与重复测量</a:t>
            </a:r>
            <a:endParaRPr lang="zh-CN" sz="3000" dirty="0"/>
          </a:p>
        </p:txBody>
      </p:sp>
      <p:sp>
        <p:nvSpPr>
          <p:cNvPr id="5" name="T13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13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13/edge:0"/>
          <p:cNvSpPr/>
          <p:nvPr/>
        </p:nvSpPr>
        <p:spPr>
          <a:xfrm>
            <a:off x="2533650" y="2017824"/>
            <a:ext cx="5905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8" name="T13/edge:1"/>
          <p:cNvSpPr/>
          <p:nvPr/>
        </p:nvSpPr>
        <p:spPr>
          <a:xfrm>
            <a:off x="5200650" y="2017824"/>
            <a:ext cx="5905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9" name="T13/edge:2"/>
          <p:cNvSpPr/>
          <p:nvPr/>
        </p:nvSpPr>
        <p:spPr>
          <a:xfrm>
            <a:off x="4162425" y="2571750"/>
            <a:ext cx="0" cy="652844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13/node:step-1:frame"/>
          <p:cNvSpPr/>
          <p:nvPr/>
        </p:nvSpPr>
        <p:spPr>
          <a:xfrm>
            <a:off x="457200" y="1463897"/>
            <a:ext cx="2076450" cy="1107853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1" name="T13/node:step-1:heading-rule"/>
          <p:cNvSpPr/>
          <p:nvPr/>
        </p:nvSpPr>
        <p:spPr>
          <a:xfrm>
            <a:off x="457200" y="1463897"/>
            <a:ext cx="207645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12" name="T13/node:step-1:label"/>
          <p:cNvSpPr/>
          <p:nvPr/>
        </p:nvSpPr>
        <p:spPr>
          <a:xfrm>
            <a:off x="571500" y="1559147"/>
            <a:ext cx="18478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目标总体</a:t>
            </a:r>
            <a:endParaRPr lang="zh-CN" sz="1800" dirty="0"/>
          </a:p>
        </p:txBody>
      </p:sp>
      <p:sp>
        <p:nvSpPr>
          <p:cNvPr id="13" name="T13/node:step-1:detail"/>
          <p:cNvSpPr/>
          <p:nvPr/>
        </p:nvSpPr>
        <p:spPr>
          <a:xfrm>
            <a:off x="571500" y="1873472"/>
            <a:ext cx="1847850" cy="612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来源与纳入规则</a:t>
            </a:r>
            <a:endParaRPr lang="zh-CN" sz="1650" dirty="0"/>
          </a:p>
        </p:txBody>
      </p:sp>
      <p:sp>
        <p:nvSpPr>
          <p:cNvPr id="14" name="T13/node:step-2:frame"/>
          <p:cNvSpPr/>
          <p:nvPr/>
        </p:nvSpPr>
        <p:spPr>
          <a:xfrm>
            <a:off x="3124200" y="1463897"/>
            <a:ext cx="2076450" cy="110785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5" name="T13/node:step-2:heading-rule"/>
          <p:cNvSpPr/>
          <p:nvPr/>
        </p:nvSpPr>
        <p:spPr>
          <a:xfrm>
            <a:off x="3124200" y="1463897"/>
            <a:ext cx="20764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6" name="T13/node:step-2:label"/>
          <p:cNvSpPr/>
          <p:nvPr/>
        </p:nvSpPr>
        <p:spPr>
          <a:xfrm>
            <a:off x="3238500" y="1559147"/>
            <a:ext cx="18478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独立实验单位</a:t>
            </a:r>
            <a:endParaRPr lang="zh-CN" sz="1800" dirty="0"/>
          </a:p>
        </p:txBody>
      </p:sp>
      <p:sp>
        <p:nvSpPr>
          <p:cNvPr id="17" name="T13/node:step-2:detail"/>
          <p:cNvSpPr/>
          <p:nvPr/>
        </p:nvSpPr>
        <p:spPr>
          <a:xfrm>
            <a:off x="3238500" y="1873472"/>
            <a:ext cx="1847850" cy="612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独立接受处理</a:t>
            </a:r>
            <a:endParaRPr lang="zh-CN" sz="1650" dirty="0"/>
          </a:p>
        </p:txBody>
      </p:sp>
      <p:sp>
        <p:nvSpPr>
          <p:cNvPr id="18" name="T13/node:step-3:frame"/>
          <p:cNvSpPr/>
          <p:nvPr/>
        </p:nvSpPr>
        <p:spPr>
          <a:xfrm>
            <a:off x="5791200" y="1463897"/>
            <a:ext cx="2076450" cy="110785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13/node:step-3:heading-rule"/>
          <p:cNvSpPr/>
          <p:nvPr/>
        </p:nvSpPr>
        <p:spPr>
          <a:xfrm>
            <a:off x="5791200" y="1463897"/>
            <a:ext cx="20764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0" name="T13/node:step-3:label"/>
          <p:cNvSpPr/>
          <p:nvPr/>
        </p:nvSpPr>
        <p:spPr>
          <a:xfrm>
            <a:off x="5905500" y="1559147"/>
            <a:ext cx="18478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分组与处理</a:t>
            </a:r>
            <a:endParaRPr lang="zh-CN" sz="1800" dirty="0"/>
          </a:p>
        </p:txBody>
      </p:sp>
      <p:sp>
        <p:nvSpPr>
          <p:cNvPr id="21" name="T13/node:step-3:detail"/>
          <p:cNvSpPr/>
          <p:nvPr/>
        </p:nvSpPr>
        <p:spPr>
          <a:xfrm>
            <a:off x="5905500" y="1873472"/>
            <a:ext cx="1847850" cy="612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随机化与区组</a:t>
            </a:r>
            <a:endParaRPr lang="zh-CN" sz="1650" dirty="0"/>
          </a:p>
        </p:txBody>
      </p:sp>
      <p:sp>
        <p:nvSpPr>
          <p:cNvPr id="22" name="T13/node:step-4:frame"/>
          <p:cNvSpPr/>
          <p:nvPr/>
        </p:nvSpPr>
        <p:spPr>
          <a:xfrm>
            <a:off x="3124200" y="3224594"/>
            <a:ext cx="2076450" cy="929831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3" name="T13/node:step-4:heading-rule"/>
          <p:cNvSpPr/>
          <p:nvPr/>
        </p:nvSpPr>
        <p:spPr>
          <a:xfrm>
            <a:off x="3124200" y="3224594"/>
            <a:ext cx="20764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4" name="T13/node:step-4:label"/>
          <p:cNvSpPr/>
          <p:nvPr/>
        </p:nvSpPr>
        <p:spPr>
          <a:xfrm>
            <a:off x="3238500" y="3556159"/>
            <a:ext cx="18478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重复测量</a:t>
            </a:r>
            <a:endParaRPr lang="zh-CN" sz="1800" dirty="0"/>
          </a:p>
        </p:txBody>
      </p:sp>
      <p:sp>
        <p:nvSpPr>
          <p:cNvPr id="25" name="T13/card/region-1/frame"/>
          <p:cNvSpPr/>
          <p:nvPr/>
        </p:nvSpPr>
        <p:spPr>
          <a:xfrm>
            <a:off x="8229600" y="1187006"/>
            <a:ext cx="3505200" cy="2136553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6" name="T13/card/region-1/heading-fill"/>
          <p:cNvSpPr/>
          <p:nvPr/>
        </p:nvSpPr>
        <p:spPr>
          <a:xfrm>
            <a:off x="8239125" y="1196531"/>
            <a:ext cx="348615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13/card/region-1/heading-rule"/>
          <p:cNvSpPr/>
          <p:nvPr/>
        </p:nvSpPr>
        <p:spPr>
          <a:xfrm>
            <a:off x="8229600" y="1568006"/>
            <a:ext cx="35052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8" name="T13/card/region-1/title"/>
          <p:cNvSpPr/>
          <p:nvPr/>
        </p:nvSpPr>
        <p:spPr>
          <a:xfrm>
            <a:off x="8353425" y="1234631"/>
            <a:ext cx="32575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独立样本单位</a:t>
            </a:r>
            <a:endParaRPr lang="zh-CN" sz="1950" dirty="0"/>
          </a:p>
        </p:txBody>
      </p:sp>
      <p:sp>
        <p:nvSpPr>
          <p:cNvPr id="29" name="T13/card/region-1/body"/>
          <p:cNvSpPr/>
          <p:nvPr/>
        </p:nvSpPr>
        <p:spPr>
          <a:xfrm>
            <a:off x="8362950" y="1672781"/>
            <a:ext cx="3238500" cy="1555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填写真正接受独立处理的个体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随机种子、图像和轨迹分别计数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用实验设计判断统计独立性</a:t>
            </a:r>
            <a:endParaRPr lang="zh-CN" sz="1800" dirty="0"/>
          </a:p>
        </p:txBody>
      </p:sp>
      <p:sp>
        <p:nvSpPr>
          <p:cNvPr id="30" name="T13/card/region-2/frame"/>
          <p:cNvSpPr/>
          <p:nvPr/>
        </p:nvSpPr>
        <p:spPr>
          <a:xfrm>
            <a:off x="8229600" y="3742563"/>
            <a:ext cx="3505200" cy="2291144"/>
          </a:xfrm>
          <a:prstGeom prst="rect">
            <a:avLst/>
          </a:prstGeom>
          <a:solidFill>
            <a:srgbClr val="FFFFFF"/>
          </a:solidFill>
          <a:ln w="14288">
            <a:solidFill>
              <a:srgbClr val="235E96"/>
            </a:solidFill>
            <a:prstDash val="solid"/>
          </a:ln>
        </p:spPr>
      </p:sp>
      <p:sp>
        <p:nvSpPr>
          <p:cNvPr id="31" name="T13/card/region-2/title-cutout"/>
          <p:cNvSpPr/>
          <p:nvPr/>
        </p:nvSpPr>
        <p:spPr>
          <a:xfrm>
            <a:off x="8362950" y="3590163"/>
            <a:ext cx="15240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13/card/region-2/base-rule"/>
          <p:cNvSpPr/>
          <p:nvPr/>
        </p:nvSpPr>
        <p:spPr>
          <a:xfrm>
            <a:off x="8420100" y="5881307"/>
            <a:ext cx="333375" cy="0"/>
          </a:xfrm>
          <a:prstGeom prst="line">
            <a:avLst/>
          </a:prstGeom>
          <a:noFill/>
          <a:ln w="28575">
            <a:solidFill>
              <a:srgbClr val="235E96"/>
            </a:solidFill>
            <a:prstDash val="solid"/>
          </a:ln>
        </p:spPr>
      </p:sp>
      <p:sp>
        <p:nvSpPr>
          <p:cNvPr id="33" name="T13/card/region-2/title"/>
          <p:cNvSpPr/>
          <p:nvPr/>
        </p:nvSpPr>
        <p:spPr>
          <a:xfrm>
            <a:off x="8420100" y="3599688"/>
            <a:ext cx="31242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重复测量结构</a:t>
            </a:r>
            <a:endParaRPr lang="zh-CN" sz="1950" dirty="0"/>
          </a:p>
        </p:txBody>
      </p:sp>
      <p:sp>
        <p:nvSpPr>
          <p:cNvPr id="34" name="T13/card/region-2/body"/>
          <p:cNvSpPr/>
          <p:nvPr/>
        </p:nvSpPr>
        <p:spPr>
          <a:xfrm>
            <a:off x="8420100" y="4133088"/>
            <a:ext cx="3124200" cy="1710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填写每个个体的时间点与采样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频率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说明分层或相关观测的处理方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缺失测量不应扩大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独立样本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</a:t>
            </a:r>
            <a:endParaRPr lang="zh-CN" sz="1800" dirty="0"/>
          </a:p>
        </p:txBody>
      </p:sp>
      <p:sp>
        <p:nvSpPr>
          <p:cNvPr id="35" name="T13/card/region-3/heading-rule"/>
          <p:cNvSpPr/>
          <p:nvPr/>
        </p:nvSpPr>
        <p:spPr>
          <a:xfrm>
            <a:off x="457200" y="4931759"/>
            <a:ext cx="74104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6" name="T13/card/region-3/heading-mark"/>
          <p:cNvSpPr/>
          <p:nvPr/>
        </p:nvSpPr>
        <p:spPr>
          <a:xfrm>
            <a:off x="457200" y="4931759"/>
            <a:ext cx="342900" cy="0"/>
          </a:xfrm>
          <a:prstGeom prst="line">
            <a:avLst/>
          </a:prstGeom>
          <a:noFill/>
          <a:ln w="17145">
            <a:solidFill>
              <a:srgbClr val="A24736"/>
            </a:solidFill>
            <a:prstDash val="solid"/>
          </a:ln>
        </p:spPr>
      </p:sp>
      <p:sp>
        <p:nvSpPr>
          <p:cNvPr id="37" name="T13/card/region-3/title"/>
          <p:cNvSpPr/>
          <p:nvPr/>
        </p:nvSpPr>
        <p:spPr>
          <a:xfrm>
            <a:off x="457200" y="4588859"/>
            <a:ext cx="74104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纳入、排除与缺失</a:t>
            </a:r>
            <a:endParaRPr lang="zh-CN" sz="1950" dirty="0"/>
          </a:p>
        </p:txBody>
      </p:sp>
      <p:sp>
        <p:nvSpPr>
          <p:cNvPr id="38" name="T13/card/region-3/body"/>
          <p:cNvSpPr/>
          <p:nvPr/>
        </p:nvSpPr>
        <p:spPr>
          <a:xfrm>
            <a:off x="457200" y="5065109"/>
            <a:ext cx="7410450" cy="930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预先写明纳入、排除和质量控制规则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报告各阶段样本量与缺失原因</a:t>
            </a:r>
            <a:endParaRPr lang="zh-CN" sz="1800" dirty="0"/>
          </a:p>
        </p:txBody>
      </p:sp>
      <p:sp>
        <p:nvSpPr>
          <p:cNvPr id="39" name="T1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4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/ 48</a:t>
            </a:r>
            <a:endParaRPr lang="zh-CN" sz="1050" dirty="0"/>
          </a:p>
        </p:txBody>
      </p:sp>
      <p:sp>
        <p:nvSpPr>
          <p:cNvPr id="4" name="T14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实验因子与处理组合</a:t>
            </a:r>
            <a:endParaRPr lang="zh-CN" sz="3000" dirty="0"/>
          </a:p>
        </p:txBody>
      </p:sp>
      <p:sp>
        <p:nvSpPr>
          <p:cNvPr id="5" name="T14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14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graphicFrame>
        <p:nvGraphicFramePr>
          <p:cNvPr id="15" name="T14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5875"/>
          <a:ext cx="7581900" cy="2270379"/>
        </p:xfrm>
        <a:graphic>
          <a:graphicData uri="http://schemas.openxmlformats.org/drawingml/2006/table">
            <a:tbl>
              <a:tblPr/>
              <a:tblGrid>
                <a:gridCol w="1895475"/>
                <a:gridCol w="1895475"/>
                <a:gridCol w="1895475"/>
                <a:gridCol w="1895475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因子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水平 1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水平 2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设计说明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66789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处理强度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低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高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填写实际水平与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单位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环境条件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E1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E2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说明独立重复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时间阶段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早期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后期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是否为重复测量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随机化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按区组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组内分配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记录分配单位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14/table-caption"/>
          <p:cNvSpPr/>
          <p:nvPr/>
        </p:nvSpPr>
        <p:spPr>
          <a:xfrm>
            <a:off x="457200" y="3622929"/>
            <a:ext cx="75819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9" name="T14/card/region-1/frame"/>
          <p:cNvSpPr/>
          <p:nvPr/>
        </p:nvSpPr>
        <p:spPr>
          <a:xfrm>
            <a:off x="8362950" y="1206722"/>
            <a:ext cx="3371850" cy="2195894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0" name="T14/card/region-1/heading-fill"/>
          <p:cNvSpPr/>
          <p:nvPr/>
        </p:nvSpPr>
        <p:spPr>
          <a:xfrm>
            <a:off x="8372475" y="1216247"/>
            <a:ext cx="335280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14/card/region-1/heading-rule"/>
          <p:cNvSpPr/>
          <p:nvPr/>
        </p:nvSpPr>
        <p:spPr>
          <a:xfrm>
            <a:off x="8362950" y="1587722"/>
            <a:ext cx="33718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14/card/region-1/title"/>
          <p:cNvSpPr/>
          <p:nvPr/>
        </p:nvSpPr>
        <p:spPr>
          <a:xfrm>
            <a:off x="8486775" y="1254347"/>
            <a:ext cx="31242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随机化与重复</a:t>
            </a:r>
            <a:endParaRPr lang="zh-CN" sz="1950" dirty="0"/>
          </a:p>
        </p:txBody>
      </p:sp>
      <p:sp>
        <p:nvSpPr>
          <p:cNvPr id="13" name="T14/card/region-1/body"/>
          <p:cNvSpPr/>
          <p:nvPr/>
        </p:nvSpPr>
        <p:spPr>
          <a:xfrm>
            <a:off x="8496300" y="1692497"/>
            <a:ext cx="3105150" cy="1614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说明处理分配与区组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写清每组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独立重复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将技术重复与生物重复区分</a:t>
            </a:r>
            <a:endParaRPr lang="zh-CN" sz="1800" dirty="0"/>
          </a:p>
        </p:txBody>
      </p:sp>
      <p:sp>
        <p:nvSpPr>
          <p:cNvPr id="14" name="T14/card/region-2/frame"/>
          <p:cNvSpPr/>
          <p:nvPr/>
        </p:nvSpPr>
        <p:spPr>
          <a:xfrm>
            <a:off x="457200" y="4042029"/>
            <a:ext cx="11277600" cy="1681544"/>
          </a:xfrm>
          <a:prstGeom prst="rect">
            <a:avLst/>
          </a:prstGeom>
          <a:solidFill>
            <a:srgbClr val="FFFFFF"/>
          </a:solidFill>
          <a:ln w="9525">
            <a:solidFill>
              <a:srgbClr val="BEC8D4"/>
            </a:solidFill>
            <a:prstDash val="solid"/>
          </a:ln>
          <a:effectLst>
            <a:outerShdw sx="100000" sy="100000" kx="0" ky="0" algn="bl" rotWithShape="0" blurRad="28575" dist="19050" dir="5400000">
              <a:srgbClr val="20334A">
                <a:alpha val="10000"/>
              </a:srgbClr>
            </a:outerShdw>
          </a:effectLst>
        </p:spPr>
      </p:sp>
      <p:sp>
        <p:nvSpPr>
          <p:cNvPr id="15" name="T14/card/region-2/top-accent"/>
          <p:cNvSpPr/>
          <p:nvPr/>
        </p:nvSpPr>
        <p:spPr>
          <a:xfrm>
            <a:off x="647700" y="4156329"/>
            <a:ext cx="400050" cy="0"/>
          </a:xfrm>
          <a:prstGeom prst="line">
            <a:avLst/>
          </a:prstGeom>
          <a:noFill/>
          <a:ln w="28575">
            <a:solidFill>
              <a:srgbClr val="146C63"/>
            </a:solidFill>
            <a:prstDash val="solid"/>
          </a:ln>
        </p:spPr>
      </p:sp>
      <p:sp>
        <p:nvSpPr>
          <p:cNvPr id="16" name="T14/card/region-2/title"/>
          <p:cNvSpPr/>
          <p:nvPr/>
        </p:nvSpPr>
        <p:spPr>
          <a:xfrm>
            <a:off x="647700" y="4242054"/>
            <a:ext cx="10896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效应解释</a:t>
            </a:r>
            <a:endParaRPr lang="zh-CN" sz="1950" dirty="0"/>
          </a:p>
        </p:txBody>
      </p:sp>
      <p:sp>
        <p:nvSpPr>
          <p:cNvPr id="17" name="T14/card/region-2/body"/>
          <p:cNvSpPr/>
          <p:nvPr/>
        </p:nvSpPr>
        <p:spPr>
          <a:xfrm>
            <a:off x="647700" y="4708779"/>
            <a:ext cx="10896600" cy="824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分别解释主效应与交互作用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比较应固定其他因素的条件</a:t>
            </a:r>
            <a:endParaRPr lang="zh-CN" sz="1800" dirty="0"/>
          </a:p>
        </p:txBody>
      </p:sp>
      <p:sp>
        <p:nvSpPr>
          <p:cNvPr id="18" name="T14/takeaway"/>
          <p:cNvSpPr/>
          <p:nvPr/>
        </p:nvSpPr>
        <p:spPr>
          <a:xfrm>
            <a:off x="457200" y="5837872"/>
            <a:ext cx="11277600" cy="27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统计口径、样本单位和适用条件需与原文一致</a:t>
            </a:r>
            <a:endParaRPr lang="zh-CN" sz="1800" dirty="0"/>
          </a:p>
        </p:txBody>
      </p:sp>
      <p:sp>
        <p:nvSpPr>
          <p:cNvPr id="19" name="T1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5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5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/ 48</a:t>
            </a:r>
            <a:endParaRPr lang="zh-CN" sz="1050" dirty="0"/>
          </a:p>
        </p:txBody>
      </p:sp>
      <p:sp>
        <p:nvSpPr>
          <p:cNvPr id="4" name="T15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训练验证与独立测试</a:t>
            </a:r>
            <a:endParaRPr lang="zh-CN" sz="3000" dirty="0"/>
          </a:p>
        </p:txBody>
      </p:sp>
      <p:sp>
        <p:nvSpPr>
          <p:cNvPr id="5" name="T15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15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15/panel:0:frame"/>
          <p:cNvSpPr/>
          <p:nvPr/>
        </p:nvSpPr>
        <p:spPr>
          <a:xfrm>
            <a:off x="457200" y="1127570"/>
            <a:ext cx="11277600" cy="2551938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15/panel:0:heading-fill"/>
          <p:cNvSpPr/>
          <p:nvPr/>
        </p:nvSpPr>
        <p:spPr>
          <a:xfrm>
            <a:off x="466725" y="1137095"/>
            <a:ext cx="11258550" cy="381000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15/panel:0:heading-rule"/>
          <p:cNvSpPr/>
          <p:nvPr/>
        </p:nvSpPr>
        <p:spPr>
          <a:xfrm>
            <a:off x="457200" y="1518095"/>
            <a:ext cx="1127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15/panel:0:title"/>
          <p:cNvSpPr/>
          <p:nvPr/>
        </p:nvSpPr>
        <p:spPr>
          <a:xfrm>
            <a:off x="581025" y="1175195"/>
            <a:ext cx="11029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各集合承担不同职责</a:t>
            </a:r>
            <a:endParaRPr lang="zh-CN" sz="1950" dirty="0"/>
          </a:p>
        </p:txBody>
      </p:sp>
      <p:sp>
        <p:nvSpPr>
          <p:cNvPr id="11" name="T15/edge:0:segment:0"/>
          <p:cNvSpPr/>
          <p:nvPr/>
        </p:nvSpPr>
        <p:spPr>
          <a:xfrm>
            <a:off x="6096000" y="2354104"/>
            <a:ext cx="0" cy="22750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2" name="T15/edge:0:segment:1"/>
          <p:cNvSpPr/>
          <p:nvPr/>
        </p:nvSpPr>
        <p:spPr>
          <a:xfrm flipH="1">
            <a:off x="2171700" y="2581608"/>
            <a:ext cx="39243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3" name="T15/edge:0:segment:2"/>
          <p:cNvSpPr/>
          <p:nvPr/>
        </p:nvSpPr>
        <p:spPr>
          <a:xfrm>
            <a:off x="2171700" y="2581608"/>
            <a:ext cx="0" cy="22750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4" name="T15/edge:1"/>
          <p:cNvSpPr/>
          <p:nvPr/>
        </p:nvSpPr>
        <p:spPr>
          <a:xfrm>
            <a:off x="6096000" y="2354104"/>
            <a:ext cx="0" cy="455009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5" name="T15/edge:2:segment:0"/>
          <p:cNvSpPr/>
          <p:nvPr/>
        </p:nvSpPr>
        <p:spPr>
          <a:xfrm>
            <a:off x="6096000" y="2354104"/>
            <a:ext cx="0" cy="22750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6" name="T15/edge:2:segment:1"/>
          <p:cNvSpPr/>
          <p:nvPr/>
        </p:nvSpPr>
        <p:spPr>
          <a:xfrm>
            <a:off x="6096000" y="2581608"/>
            <a:ext cx="39243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7" name="T15/edge:2:segment:2"/>
          <p:cNvSpPr/>
          <p:nvPr/>
        </p:nvSpPr>
        <p:spPr>
          <a:xfrm>
            <a:off x="10020300" y="2581608"/>
            <a:ext cx="0" cy="22750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8" name="T15/node:step-1:frame"/>
          <p:cNvSpPr/>
          <p:nvPr/>
        </p:nvSpPr>
        <p:spPr>
          <a:xfrm>
            <a:off x="3333750" y="1641920"/>
            <a:ext cx="5524500" cy="712184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15/node:step-1:heading-rule"/>
          <p:cNvSpPr/>
          <p:nvPr/>
        </p:nvSpPr>
        <p:spPr>
          <a:xfrm>
            <a:off x="3333750" y="1641920"/>
            <a:ext cx="552450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20" name="T15/node:step-1:label"/>
          <p:cNvSpPr/>
          <p:nvPr/>
        </p:nvSpPr>
        <p:spPr>
          <a:xfrm>
            <a:off x="3448050" y="1864662"/>
            <a:ext cx="52959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原始样本：按独立单位划分</a:t>
            </a:r>
            <a:endParaRPr lang="zh-CN" sz="1800" dirty="0"/>
          </a:p>
        </p:txBody>
      </p:sp>
      <p:sp>
        <p:nvSpPr>
          <p:cNvPr id="21" name="T15/node:step-2:frame"/>
          <p:cNvSpPr/>
          <p:nvPr/>
        </p:nvSpPr>
        <p:spPr>
          <a:xfrm>
            <a:off x="609600" y="2809113"/>
            <a:ext cx="3124200" cy="692372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2" name="T15/node:step-2:heading-rule"/>
          <p:cNvSpPr/>
          <p:nvPr/>
        </p:nvSpPr>
        <p:spPr>
          <a:xfrm>
            <a:off x="609600" y="2809113"/>
            <a:ext cx="31242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3" name="T15/node:step-2:label"/>
          <p:cNvSpPr/>
          <p:nvPr/>
        </p:nvSpPr>
        <p:spPr>
          <a:xfrm>
            <a:off x="723900" y="3021949"/>
            <a:ext cx="2895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训练集</a:t>
            </a:r>
            <a:endParaRPr lang="zh-CN" sz="1800" dirty="0"/>
          </a:p>
        </p:txBody>
      </p:sp>
      <p:sp>
        <p:nvSpPr>
          <p:cNvPr id="24" name="T15/node:step-3:frame"/>
          <p:cNvSpPr/>
          <p:nvPr/>
        </p:nvSpPr>
        <p:spPr>
          <a:xfrm>
            <a:off x="4533900" y="2809113"/>
            <a:ext cx="3124200" cy="692372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5" name="T15/node:step-3:heading-rule"/>
          <p:cNvSpPr/>
          <p:nvPr/>
        </p:nvSpPr>
        <p:spPr>
          <a:xfrm>
            <a:off x="4533900" y="2809113"/>
            <a:ext cx="312420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26" name="T15/node:step-3:label"/>
          <p:cNvSpPr/>
          <p:nvPr/>
        </p:nvSpPr>
        <p:spPr>
          <a:xfrm>
            <a:off x="4648200" y="3021949"/>
            <a:ext cx="2895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验证集</a:t>
            </a:r>
            <a:endParaRPr lang="zh-CN" sz="1800" dirty="0"/>
          </a:p>
        </p:txBody>
      </p:sp>
      <p:sp>
        <p:nvSpPr>
          <p:cNvPr id="27" name="T15/node:step-4:frame"/>
          <p:cNvSpPr/>
          <p:nvPr/>
        </p:nvSpPr>
        <p:spPr>
          <a:xfrm>
            <a:off x="8458200" y="2809113"/>
            <a:ext cx="3124200" cy="692372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8" name="T15/node:step-4:heading-rule"/>
          <p:cNvSpPr/>
          <p:nvPr/>
        </p:nvSpPr>
        <p:spPr>
          <a:xfrm>
            <a:off x="8458200" y="2809113"/>
            <a:ext cx="31242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9" name="T15/node:step-4:label"/>
          <p:cNvSpPr/>
          <p:nvPr/>
        </p:nvSpPr>
        <p:spPr>
          <a:xfrm>
            <a:off x="8572500" y="3021949"/>
            <a:ext cx="2895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独立测试集</a:t>
            </a:r>
            <a:endParaRPr lang="zh-CN" sz="1800" dirty="0"/>
          </a:p>
        </p:txBody>
      </p:sp>
      <p:sp>
        <p:nvSpPr>
          <p:cNvPr id="30" name="T15/card/region-1/base-rule"/>
          <p:cNvSpPr/>
          <p:nvPr/>
        </p:nvSpPr>
        <p:spPr>
          <a:xfrm>
            <a:off x="457200" y="6033707"/>
            <a:ext cx="54864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31" name="T15/card/region-1/side-mark"/>
          <p:cNvSpPr/>
          <p:nvPr/>
        </p:nvSpPr>
        <p:spPr>
          <a:xfrm>
            <a:off x="457200" y="3936016"/>
            <a:ext cx="47625" cy="295275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15/card/region-1/title"/>
          <p:cNvSpPr/>
          <p:nvPr/>
        </p:nvSpPr>
        <p:spPr>
          <a:xfrm>
            <a:off x="609600" y="3936016"/>
            <a:ext cx="533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划分单位与留出条件</a:t>
            </a:r>
            <a:endParaRPr lang="zh-CN" sz="1950" dirty="0"/>
          </a:p>
        </p:txBody>
      </p:sp>
      <p:sp>
        <p:nvSpPr>
          <p:cNvPr id="33" name="T15/card/region-1/body"/>
          <p:cNvSpPr/>
          <p:nvPr/>
        </p:nvSpPr>
        <p:spPr>
          <a:xfrm>
            <a:off x="609600" y="4355116"/>
            <a:ext cx="5334000" cy="158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按个体、站点或年份划分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明确训练、验证与独立测试的职责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测试集不能参与特征或阈值选择</a:t>
            </a:r>
            <a:endParaRPr lang="zh-CN" sz="1800" dirty="0"/>
          </a:p>
        </p:txBody>
      </p:sp>
      <p:sp>
        <p:nvSpPr>
          <p:cNvPr id="34" name="T15/card/region-2/frame"/>
          <p:cNvSpPr/>
          <p:nvPr/>
        </p:nvSpPr>
        <p:spPr>
          <a:xfrm>
            <a:off x="6248400" y="4031266"/>
            <a:ext cx="5486400" cy="200244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5" name="T15/card/region-2/tab"/>
          <p:cNvSpPr/>
          <p:nvPr/>
        </p:nvSpPr>
        <p:spPr>
          <a:xfrm>
            <a:off x="6362700" y="3916966"/>
            <a:ext cx="175260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15/card/region-2/title"/>
          <p:cNvSpPr/>
          <p:nvPr/>
        </p:nvSpPr>
        <p:spPr>
          <a:xfrm>
            <a:off x="6467475" y="3945541"/>
            <a:ext cx="15430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信息泄漏检查</a:t>
            </a:r>
            <a:endParaRPr lang="zh-CN" sz="1950" dirty="0"/>
          </a:p>
        </p:txBody>
      </p:sp>
      <p:sp>
        <p:nvSpPr>
          <p:cNvPr id="37" name="T15/card/region-2/body"/>
          <p:cNvSpPr/>
          <p:nvPr/>
        </p:nvSpPr>
        <p:spPr>
          <a:xfrm>
            <a:off x="6381750" y="4402741"/>
            <a:ext cx="5219700" cy="153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同一对象的重复观测不得跨集合泄漏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标准化、缺失填补应只拟合训练集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报告时序数据可见的信息范围</a:t>
            </a:r>
            <a:endParaRPr lang="zh-CN" sz="1800" dirty="0"/>
          </a:p>
        </p:txBody>
      </p:sp>
      <p:sp>
        <p:nvSpPr>
          <p:cNvPr id="38" name="T1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6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6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/ 48</a:t>
            </a:r>
            <a:endParaRPr lang="zh-CN" sz="1050" dirty="0"/>
          </a:p>
        </p:txBody>
      </p:sp>
      <p:sp>
        <p:nvSpPr>
          <p:cNvPr id="4" name="T16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基线与公平对照</a:t>
            </a:r>
            <a:endParaRPr lang="zh-CN" sz="3000" dirty="0"/>
          </a:p>
        </p:txBody>
      </p:sp>
      <p:sp>
        <p:nvSpPr>
          <p:cNvPr id="5" name="T16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16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graphicFrame>
        <p:nvGraphicFramePr>
          <p:cNvPr id="17" name="T16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46346"/>
          <a:ext cx="7848600" cy="2403729"/>
        </p:xfrm>
        <a:graphic>
          <a:graphicData uri="http://schemas.openxmlformats.org/drawingml/2006/table">
            <a:tbl>
              <a:tblPr/>
              <a:tblGrid>
                <a:gridCol w="2616200"/>
                <a:gridCol w="2616200"/>
                <a:gridCol w="261620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条件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基线流程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干预流程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观测数据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相同数据版本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相同数据版本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工具与参数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预先冻结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只修改指定模块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计算预算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统一上限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统一上限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人工干预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记录每次介入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记录每次介入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评价方法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同一盲评程序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同一盲评程序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16/table-caption"/>
          <p:cNvSpPr/>
          <p:nvPr/>
        </p:nvSpPr>
        <p:spPr>
          <a:xfrm>
            <a:off x="457200" y="3716750"/>
            <a:ext cx="7848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9" name="T16/card/region-1/base-rule"/>
          <p:cNvSpPr/>
          <p:nvPr/>
        </p:nvSpPr>
        <p:spPr>
          <a:xfrm>
            <a:off x="8629650" y="3363087"/>
            <a:ext cx="31051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0" name="T16/card/region-1/side-mark"/>
          <p:cNvSpPr/>
          <p:nvPr/>
        </p:nvSpPr>
        <p:spPr>
          <a:xfrm>
            <a:off x="8629650" y="1265396"/>
            <a:ext cx="47625" cy="295275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16/card/region-1/title"/>
          <p:cNvSpPr/>
          <p:nvPr/>
        </p:nvSpPr>
        <p:spPr>
          <a:xfrm>
            <a:off x="8782050" y="1265396"/>
            <a:ext cx="29527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共同预算</a:t>
            </a:r>
            <a:endParaRPr lang="zh-CN" sz="1950" dirty="0"/>
          </a:p>
        </p:txBody>
      </p:sp>
      <p:sp>
        <p:nvSpPr>
          <p:cNvPr id="12" name="T16/card/region-1/body"/>
          <p:cNvSpPr/>
          <p:nvPr/>
        </p:nvSpPr>
        <p:spPr>
          <a:xfrm>
            <a:off x="8782050" y="1684496"/>
            <a:ext cx="2952750" cy="158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观测、工具与训练预算保持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固定调参和人工干预次数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报告运行时间与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失败成本</a:t>
            </a:r>
            <a:endParaRPr lang="zh-CN" sz="1800" dirty="0"/>
          </a:p>
        </p:txBody>
      </p:sp>
      <p:sp>
        <p:nvSpPr>
          <p:cNvPr id="13" name="T16/card/region-2/frame"/>
          <p:cNvSpPr/>
          <p:nvPr/>
        </p:nvSpPr>
        <p:spPr>
          <a:xfrm>
            <a:off x="457200" y="4231100"/>
            <a:ext cx="11277600" cy="1507903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4" name="T16/card/region-2/tab"/>
          <p:cNvSpPr/>
          <p:nvPr/>
        </p:nvSpPr>
        <p:spPr>
          <a:xfrm>
            <a:off x="571500" y="4116800"/>
            <a:ext cx="125730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16/card/region-2/title"/>
          <p:cNvSpPr/>
          <p:nvPr/>
        </p:nvSpPr>
        <p:spPr>
          <a:xfrm>
            <a:off x="676275" y="4145375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额外信息</a:t>
            </a:r>
            <a:endParaRPr lang="zh-CN" sz="1950" dirty="0"/>
          </a:p>
        </p:txBody>
      </p:sp>
      <p:sp>
        <p:nvSpPr>
          <p:cNvPr id="16" name="T16/card/region-2/body"/>
          <p:cNvSpPr/>
          <p:nvPr/>
        </p:nvSpPr>
        <p:spPr>
          <a:xfrm>
            <a:off x="590550" y="4602575"/>
            <a:ext cx="11010900" cy="1041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列出每种方法获得的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新增信息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通过单独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区分信息优势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不能只据结果提升归因于结构</a:t>
            </a:r>
            <a:endParaRPr lang="zh-CN" sz="1800" dirty="0"/>
          </a:p>
        </p:txBody>
      </p:sp>
      <p:sp>
        <p:nvSpPr>
          <p:cNvPr id="17" name="T16/takeaway"/>
          <p:cNvSpPr/>
          <p:nvPr/>
        </p:nvSpPr>
        <p:spPr>
          <a:xfrm>
            <a:off x="457200" y="5853303"/>
            <a:ext cx="11277600" cy="27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统计口径、样本单位和适用条件需与原文一致</a:t>
            </a:r>
            <a:endParaRPr lang="zh-CN" sz="1800" dirty="0"/>
          </a:p>
        </p:txBody>
      </p:sp>
      <p:sp>
        <p:nvSpPr>
          <p:cNvPr id="18" name="T1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7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7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 / 48</a:t>
            </a:r>
            <a:endParaRPr lang="zh-CN" sz="1050" dirty="0"/>
          </a:p>
        </p:txBody>
      </p:sp>
      <p:sp>
        <p:nvSpPr>
          <p:cNvPr id="4" name="T17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测量到统计分析的链路</a:t>
            </a:r>
            <a:endParaRPr lang="zh-CN" sz="3000" dirty="0"/>
          </a:p>
        </p:txBody>
      </p:sp>
      <p:sp>
        <p:nvSpPr>
          <p:cNvPr id="5" name="T17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17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17/panel:0:frame"/>
          <p:cNvSpPr/>
          <p:nvPr/>
        </p:nvSpPr>
        <p:spPr>
          <a:xfrm>
            <a:off x="457200" y="1127570"/>
            <a:ext cx="7886700" cy="478745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17/panel:0:side-mark"/>
          <p:cNvSpPr/>
          <p:nvPr/>
        </p:nvSpPr>
        <p:spPr>
          <a:xfrm>
            <a:off x="466725" y="1203770"/>
            <a:ext cx="47625" cy="27622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17/panel:0:title"/>
          <p:cNvSpPr/>
          <p:nvPr/>
        </p:nvSpPr>
        <p:spPr>
          <a:xfrm>
            <a:off x="609600" y="1175195"/>
            <a:ext cx="7581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从观测到估计</a:t>
            </a:r>
            <a:endParaRPr lang="zh-CN" sz="1950" dirty="0"/>
          </a:p>
        </p:txBody>
      </p:sp>
      <p:sp>
        <p:nvSpPr>
          <p:cNvPr id="10" name="T17/edge:0"/>
          <p:cNvSpPr/>
          <p:nvPr/>
        </p:nvSpPr>
        <p:spPr>
          <a:xfrm>
            <a:off x="2876550" y="2215706"/>
            <a:ext cx="4953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1" name="T17/edge:1"/>
          <p:cNvSpPr/>
          <p:nvPr/>
        </p:nvSpPr>
        <p:spPr>
          <a:xfrm>
            <a:off x="5638800" y="2215706"/>
            <a:ext cx="4953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2" name="T17/edge:2"/>
          <p:cNvSpPr/>
          <p:nvPr/>
        </p:nvSpPr>
        <p:spPr>
          <a:xfrm>
            <a:off x="7162800" y="2730056"/>
            <a:ext cx="0" cy="170126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3" name="T17/edge:3"/>
          <p:cNvSpPr/>
          <p:nvPr/>
        </p:nvSpPr>
        <p:spPr>
          <a:xfrm flipH="1">
            <a:off x="5638800" y="4945666"/>
            <a:ext cx="4953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4" name="T17/edge:4"/>
          <p:cNvSpPr/>
          <p:nvPr/>
        </p:nvSpPr>
        <p:spPr>
          <a:xfrm flipH="1">
            <a:off x="2876550" y="4945666"/>
            <a:ext cx="4953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5" name="T17/node:step-1:frame"/>
          <p:cNvSpPr/>
          <p:nvPr/>
        </p:nvSpPr>
        <p:spPr>
          <a:xfrm>
            <a:off x="609600" y="1701356"/>
            <a:ext cx="2266950" cy="1028700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6" name="T17/node:step-1:heading-rule"/>
          <p:cNvSpPr/>
          <p:nvPr/>
        </p:nvSpPr>
        <p:spPr>
          <a:xfrm>
            <a:off x="609600" y="1701356"/>
            <a:ext cx="226695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17" name="T17/node:step-1:label"/>
          <p:cNvSpPr/>
          <p:nvPr/>
        </p:nvSpPr>
        <p:spPr>
          <a:xfrm>
            <a:off x="723900" y="1796606"/>
            <a:ext cx="20383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实验对象</a:t>
            </a:r>
            <a:endParaRPr lang="zh-CN" sz="1800" dirty="0"/>
          </a:p>
        </p:txBody>
      </p:sp>
      <p:sp>
        <p:nvSpPr>
          <p:cNvPr id="18" name="T17/node:step-1:detail"/>
          <p:cNvSpPr/>
          <p:nvPr/>
        </p:nvSpPr>
        <p:spPr>
          <a:xfrm>
            <a:off x="723900" y="2110931"/>
            <a:ext cx="203835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处理与生物重复</a:t>
            </a:r>
            <a:endParaRPr lang="zh-CN" sz="1650" dirty="0"/>
          </a:p>
        </p:txBody>
      </p:sp>
      <p:sp>
        <p:nvSpPr>
          <p:cNvPr id="19" name="T17/node:step-2:frame"/>
          <p:cNvSpPr/>
          <p:nvPr/>
        </p:nvSpPr>
        <p:spPr>
          <a:xfrm>
            <a:off x="3371850" y="1701356"/>
            <a:ext cx="2266950" cy="1028700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0" name="T17/node:step-2:heading-rule"/>
          <p:cNvSpPr/>
          <p:nvPr/>
        </p:nvSpPr>
        <p:spPr>
          <a:xfrm>
            <a:off x="3371850" y="1701356"/>
            <a:ext cx="22669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1" name="T17/node:step-2:label"/>
          <p:cNvSpPr/>
          <p:nvPr/>
        </p:nvSpPr>
        <p:spPr>
          <a:xfrm>
            <a:off x="3486150" y="1796606"/>
            <a:ext cx="20383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传感与成像</a:t>
            </a:r>
            <a:endParaRPr lang="zh-CN" sz="1800" dirty="0"/>
          </a:p>
        </p:txBody>
      </p:sp>
      <p:sp>
        <p:nvSpPr>
          <p:cNvPr id="22" name="T17/node:step-2:detail"/>
          <p:cNvSpPr/>
          <p:nvPr/>
        </p:nvSpPr>
        <p:spPr>
          <a:xfrm>
            <a:off x="3486150" y="2110931"/>
            <a:ext cx="203835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设备与采样条件</a:t>
            </a:r>
            <a:endParaRPr lang="zh-CN" sz="1650" dirty="0"/>
          </a:p>
        </p:txBody>
      </p:sp>
      <p:sp>
        <p:nvSpPr>
          <p:cNvPr id="23" name="T17/node:step-3:frame"/>
          <p:cNvSpPr/>
          <p:nvPr/>
        </p:nvSpPr>
        <p:spPr>
          <a:xfrm>
            <a:off x="6134100" y="1701356"/>
            <a:ext cx="2057400" cy="1028700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4" name="T17/node:step-3:heading-rule"/>
          <p:cNvSpPr/>
          <p:nvPr/>
        </p:nvSpPr>
        <p:spPr>
          <a:xfrm>
            <a:off x="6134100" y="1701356"/>
            <a:ext cx="205740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25" name="T17/node:step-3:label"/>
          <p:cNvSpPr/>
          <p:nvPr/>
        </p:nvSpPr>
        <p:spPr>
          <a:xfrm>
            <a:off x="6248400" y="1796606"/>
            <a:ext cx="1828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原始观测</a:t>
            </a:r>
            <a:endParaRPr lang="zh-CN" sz="1800" dirty="0"/>
          </a:p>
        </p:txBody>
      </p:sp>
      <p:sp>
        <p:nvSpPr>
          <p:cNvPr id="26" name="T17/node:step-3:detail"/>
          <p:cNvSpPr/>
          <p:nvPr/>
        </p:nvSpPr>
        <p:spPr>
          <a:xfrm>
            <a:off x="6248400" y="2110931"/>
            <a:ext cx="18288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数据版本与缺失</a:t>
            </a:r>
            <a:endParaRPr lang="zh-CN" sz="1650" dirty="0"/>
          </a:p>
        </p:txBody>
      </p:sp>
      <p:sp>
        <p:nvSpPr>
          <p:cNvPr id="27" name="T17/node:step-4:frame"/>
          <p:cNvSpPr/>
          <p:nvPr/>
        </p:nvSpPr>
        <p:spPr>
          <a:xfrm>
            <a:off x="6134100" y="4431316"/>
            <a:ext cx="2057400" cy="1028700"/>
          </a:xfrm>
          <a:prstGeom prst="rect">
            <a:avLst/>
          </a:prstGeom>
          <a:solidFill>
            <a:srgbClr val="FAEEE8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8" name="T17/node:step-4:heading-rule"/>
          <p:cNvSpPr/>
          <p:nvPr/>
        </p:nvSpPr>
        <p:spPr>
          <a:xfrm>
            <a:off x="6134100" y="4431316"/>
            <a:ext cx="2057400" cy="0"/>
          </a:xfrm>
          <a:prstGeom prst="line">
            <a:avLst/>
          </a:prstGeom>
          <a:noFill/>
          <a:ln w="19050">
            <a:solidFill>
              <a:srgbClr val="A24736"/>
            </a:solidFill>
            <a:prstDash val="solid"/>
          </a:ln>
        </p:spPr>
      </p:sp>
      <p:sp>
        <p:nvSpPr>
          <p:cNvPr id="29" name="T17/node:step-4:label"/>
          <p:cNvSpPr/>
          <p:nvPr/>
        </p:nvSpPr>
        <p:spPr>
          <a:xfrm>
            <a:off x="6248400" y="4526566"/>
            <a:ext cx="1828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质量控制</a:t>
            </a:r>
            <a:endParaRPr lang="zh-CN" sz="1800" dirty="0"/>
          </a:p>
        </p:txBody>
      </p:sp>
      <p:sp>
        <p:nvSpPr>
          <p:cNvPr id="30" name="T17/node:step-4:detail"/>
          <p:cNvSpPr/>
          <p:nvPr/>
        </p:nvSpPr>
        <p:spPr>
          <a:xfrm>
            <a:off x="6248400" y="4840891"/>
            <a:ext cx="18288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异常与复核规则</a:t>
            </a:r>
            <a:endParaRPr lang="zh-CN" sz="1650" dirty="0"/>
          </a:p>
        </p:txBody>
      </p:sp>
      <p:sp>
        <p:nvSpPr>
          <p:cNvPr id="31" name="T17/node:step-5:frame"/>
          <p:cNvSpPr/>
          <p:nvPr/>
        </p:nvSpPr>
        <p:spPr>
          <a:xfrm>
            <a:off x="3371850" y="4431316"/>
            <a:ext cx="2266950" cy="1028700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2" name="T17/node:step-5:heading-rule"/>
          <p:cNvSpPr/>
          <p:nvPr/>
        </p:nvSpPr>
        <p:spPr>
          <a:xfrm>
            <a:off x="3371850" y="4431316"/>
            <a:ext cx="22669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33" name="T17/node:step-5:label"/>
          <p:cNvSpPr/>
          <p:nvPr/>
        </p:nvSpPr>
        <p:spPr>
          <a:xfrm>
            <a:off x="3486150" y="4526566"/>
            <a:ext cx="20383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特征构建</a:t>
            </a:r>
            <a:endParaRPr lang="zh-CN" sz="1800" dirty="0"/>
          </a:p>
        </p:txBody>
      </p:sp>
      <p:sp>
        <p:nvSpPr>
          <p:cNvPr id="34" name="T17/node:step-5:detail"/>
          <p:cNvSpPr/>
          <p:nvPr/>
        </p:nvSpPr>
        <p:spPr>
          <a:xfrm>
            <a:off x="3486150" y="4840891"/>
            <a:ext cx="203835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表型与单位</a:t>
            </a:r>
            <a:endParaRPr lang="zh-CN" sz="1650" dirty="0"/>
          </a:p>
        </p:txBody>
      </p:sp>
      <p:sp>
        <p:nvSpPr>
          <p:cNvPr id="35" name="T17/node:step-6:frame"/>
          <p:cNvSpPr/>
          <p:nvPr/>
        </p:nvSpPr>
        <p:spPr>
          <a:xfrm>
            <a:off x="609600" y="4431316"/>
            <a:ext cx="2266950" cy="1028700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6" name="T17/node:step-6:heading-rule"/>
          <p:cNvSpPr/>
          <p:nvPr/>
        </p:nvSpPr>
        <p:spPr>
          <a:xfrm>
            <a:off x="609600" y="4431316"/>
            <a:ext cx="226695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37" name="T17/node:step-6:label"/>
          <p:cNvSpPr/>
          <p:nvPr/>
        </p:nvSpPr>
        <p:spPr>
          <a:xfrm>
            <a:off x="723900" y="4526566"/>
            <a:ext cx="20383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统计估计</a:t>
            </a:r>
            <a:endParaRPr lang="zh-CN" sz="1800" dirty="0"/>
          </a:p>
        </p:txBody>
      </p:sp>
      <p:sp>
        <p:nvSpPr>
          <p:cNvPr id="38" name="T17/node:step-6:detail"/>
          <p:cNvSpPr/>
          <p:nvPr/>
        </p:nvSpPr>
        <p:spPr>
          <a:xfrm>
            <a:off x="723900" y="4840891"/>
            <a:ext cx="203835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效应与区间</a:t>
            </a:r>
            <a:endParaRPr lang="zh-CN" sz="1650" dirty="0"/>
          </a:p>
        </p:txBody>
      </p:sp>
      <p:sp>
        <p:nvSpPr>
          <p:cNvPr id="39" name="T17/card/region-1/frame"/>
          <p:cNvSpPr/>
          <p:nvPr/>
        </p:nvSpPr>
        <p:spPr>
          <a:xfrm>
            <a:off x="8629650" y="1226534"/>
            <a:ext cx="3105150" cy="2195894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40" name="T17/card/region-1/heading-fill"/>
          <p:cNvSpPr/>
          <p:nvPr/>
        </p:nvSpPr>
        <p:spPr>
          <a:xfrm>
            <a:off x="8639175" y="1236059"/>
            <a:ext cx="308610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17/card/region-1/heading-rule"/>
          <p:cNvSpPr/>
          <p:nvPr/>
        </p:nvSpPr>
        <p:spPr>
          <a:xfrm>
            <a:off x="8629650" y="1607534"/>
            <a:ext cx="31051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42" name="T17/card/region-1/title"/>
          <p:cNvSpPr/>
          <p:nvPr/>
        </p:nvSpPr>
        <p:spPr>
          <a:xfrm>
            <a:off x="8753475" y="1274159"/>
            <a:ext cx="28575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校准与误差</a:t>
            </a:r>
            <a:endParaRPr lang="zh-CN" sz="1950" dirty="0"/>
          </a:p>
        </p:txBody>
      </p:sp>
      <p:sp>
        <p:nvSpPr>
          <p:cNvPr id="43" name="T17/card/region-1/body"/>
          <p:cNvSpPr/>
          <p:nvPr/>
        </p:nvSpPr>
        <p:spPr>
          <a:xfrm>
            <a:off x="8763000" y="1712309"/>
            <a:ext cx="2838450" cy="1614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报告仪器校准与测量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记录异常检测和人工复核规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则</a:t>
            </a:r>
            <a:endParaRPr lang="zh-CN" sz="1800" dirty="0"/>
          </a:p>
        </p:txBody>
      </p:sp>
      <p:sp>
        <p:nvSpPr>
          <p:cNvPr id="44" name="T17/card/region-2/heading-rule"/>
          <p:cNvSpPr/>
          <p:nvPr/>
        </p:nvSpPr>
        <p:spPr>
          <a:xfrm>
            <a:off x="8629650" y="4021741"/>
            <a:ext cx="31051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45" name="T17/card/region-2/heading-mark"/>
          <p:cNvSpPr/>
          <p:nvPr/>
        </p:nvSpPr>
        <p:spPr>
          <a:xfrm>
            <a:off x="8629650" y="4021741"/>
            <a:ext cx="342900" cy="0"/>
          </a:xfrm>
          <a:prstGeom prst="line">
            <a:avLst/>
          </a:prstGeom>
          <a:noFill/>
          <a:ln w="17145">
            <a:solidFill>
              <a:srgbClr val="536A7A"/>
            </a:solidFill>
            <a:prstDash val="solid"/>
          </a:ln>
        </p:spPr>
      </p:sp>
      <p:sp>
        <p:nvSpPr>
          <p:cNvPr id="46" name="T17/card/region-2/title"/>
          <p:cNvSpPr/>
          <p:nvPr/>
        </p:nvSpPr>
        <p:spPr>
          <a:xfrm>
            <a:off x="8629650" y="3678841"/>
            <a:ext cx="31051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分析单位</a:t>
            </a:r>
            <a:endParaRPr lang="zh-CN" sz="1950" dirty="0"/>
          </a:p>
        </p:txBody>
      </p:sp>
      <p:sp>
        <p:nvSpPr>
          <p:cNvPr id="47" name="T17/card/region-2/body"/>
          <p:cNvSpPr/>
          <p:nvPr/>
        </p:nvSpPr>
        <p:spPr>
          <a:xfrm>
            <a:off x="8629650" y="4155091"/>
            <a:ext cx="3105150" cy="1820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区分记录行、图像、样本与场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模型估计应符合实际分层结构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解释聚合前后的信息损失</a:t>
            </a:r>
            <a:endParaRPr lang="zh-CN" sz="1800" dirty="0"/>
          </a:p>
        </p:txBody>
      </p:sp>
      <p:sp>
        <p:nvSpPr>
          <p:cNvPr id="48" name="T17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8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8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 / 48</a:t>
            </a:r>
            <a:endParaRPr lang="zh-CN" sz="1050" dirty="0"/>
          </a:p>
        </p:txBody>
      </p:sp>
      <p:sp>
        <p:nvSpPr>
          <p:cNvPr id="4" name="T18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参数与复现实验协议</a:t>
            </a:r>
            <a:endParaRPr lang="zh-CN" sz="3000" dirty="0"/>
          </a:p>
        </p:txBody>
      </p:sp>
      <p:sp>
        <p:nvSpPr>
          <p:cNvPr id="5" name="T18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18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graphicFrame>
        <p:nvGraphicFramePr>
          <p:cNvPr id="19" name="T18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26534"/>
          <a:ext cx="7086600" cy="2403729"/>
        </p:xfrm>
        <a:graphic>
          <a:graphicData uri="http://schemas.openxmlformats.org/drawingml/2006/table">
            <a:tbl>
              <a:tblPr/>
              <a:tblGrid>
                <a:gridCol w="2362200"/>
                <a:gridCol w="2362200"/>
                <a:gridCol w="236220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参数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设置（待替换）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依据或来源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时间步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填写数值与单位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实验采样频率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训练轮次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填写停止条件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验证集选择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重复数量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填写独立重复数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样本量依据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学习率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填写候选与最终值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仅训练/验证选取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测试范围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列出年份与环境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独立留出记录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18/table-caption"/>
          <p:cNvSpPr/>
          <p:nvPr/>
        </p:nvSpPr>
        <p:spPr>
          <a:xfrm>
            <a:off x="457200" y="3696938"/>
            <a:ext cx="7086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9" name="T18/card/region-1/base-rule"/>
          <p:cNvSpPr/>
          <p:nvPr/>
        </p:nvSpPr>
        <p:spPr>
          <a:xfrm>
            <a:off x="7886700" y="3343275"/>
            <a:ext cx="38481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0" name="T18/card/region-1/side-mark"/>
          <p:cNvSpPr/>
          <p:nvPr/>
        </p:nvSpPr>
        <p:spPr>
          <a:xfrm>
            <a:off x="7886700" y="1225772"/>
            <a:ext cx="47625" cy="295275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18/card/region-1/title"/>
          <p:cNvSpPr/>
          <p:nvPr/>
        </p:nvSpPr>
        <p:spPr>
          <a:xfrm>
            <a:off x="8039100" y="1225772"/>
            <a:ext cx="3695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训练条件</a:t>
            </a:r>
            <a:endParaRPr lang="zh-CN" sz="1950" dirty="0"/>
          </a:p>
        </p:txBody>
      </p:sp>
      <p:sp>
        <p:nvSpPr>
          <p:cNvPr id="12" name="T18/card/region-1/body"/>
          <p:cNvSpPr/>
          <p:nvPr/>
        </p:nvSpPr>
        <p:spPr>
          <a:xfrm>
            <a:off x="8039100" y="1644872"/>
            <a:ext cx="3695700" cy="1603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固定数据版本、目标与停止规则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记录种子和选择超参数的依据</a:t>
            </a:r>
            <a:endParaRPr lang="zh-CN" sz="1800" dirty="0"/>
          </a:p>
        </p:txBody>
      </p:sp>
      <p:sp>
        <p:nvSpPr>
          <p:cNvPr id="13" name="T18/card/region-2/heading-rule"/>
          <p:cNvSpPr/>
          <p:nvPr/>
        </p:nvSpPr>
        <p:spPr>
          <a:xfrm>
            <a:off x="7886700" y="3962400"/>
            <a:ext cx="38481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4" name="T18/card/region-2/heading-mark"/>
          <p:cNvSpPr/>
          <p:nvPr/>
        </p:nvSpPr>
        <p:spPr>
          <a:xfrm>
            <a:off x="7886700" y="3962400"/>
            <a:ext cx="342900" cy="0"/>
          </a:xfrm>
          <a:prstGeom prst="line">
            <a:avLst/>
          </a:prstGeom>
          <a:noFill/>
          <a:ln w="17145">
            <a:solidFill>
              <a:srgbClr val="536A7A"/>
            </a:solidFill>
            <a:prstDash val="solid"/>
          </a:ln>
        </p:spPr>
      </p:sp>
      <p:sp>
        <p:nvSpPr>
          <p:cNvPr id="15" name="T18/card/region-2/title"/>
          <p:cNvSpPr/>
          <p:nvPr/>
        </p:nvSpPr>
        <p:spPr>
          <a:xfrm>
            <a:off x="7886700" y="3619500"/>
            <a:ext cx="38481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测试条件</a:t>
            </a:r>
            <a:endParaRPr lang="zh-CN" sz="1950" dirty="0"/>
          </a:p>
        </p:txBody>
      </p:sp>
      <p:sp>
        <p:nvSpPr>
          <p:cNvPr id="16" name="T18/card/region-2/body"/>
          <p:cNvSpPr/>
          <p:nvPr/>
        </p:nvSpPr>
        <p:spPr>
          <a:xfrm>
            <a:off x="7886700" y="4095750"/>
            <a:ext cx="3848100" cy="186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冻结模型后使用独立数据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保留场景、尺度与失败记录</a:t>
            </a:r>
            <a:endParaRPr lang="zh-CN" sz="1800" dirty="0"/>
          </a:p>
        </p:txBody>
      </p:sp>
      <p:sp>
        <p:nvSpPr>
          <p:cNvPr id="17" name="T18/card/region-3/frame"/>
          <p:cNvSpPr/>
          <p:nvPr/>
        </p:nvSpPr>
        <p:spPr>
          <a:xfrm>
            <a:off x="457200" y="4258913"/>
            <a:ext cx="7086600" cy="1301972"/>
          </a:xfrm>
          <a:prstGeom prst="rect">
            <a:avLst/>
          </a:prstGeom>
          <a:solidFill>
            <a:srgbClr val="FFFFFF"/>
          </a:solidFill>
          <a:ln w="14288">
            <a:solidFill>
              <a:srgbClr val="536A7A"/>
            </a:solidFill>
            <a:prstDash val="solid"/>
          </a:ln>
        </p:spPr>
      </p:sp>
      <p:sp>
        <p:nvSpPr>
          <p:cNvPr id="18" name="T18/card/region-3/title-cutout"/>
          <p:cNvSpPr/>
          <p:nvPr/>
        </p:nvSpPr>
        <p:spPr>
          <a:xfrm>
            <a:off x="590550" y="4106513"/>
            <a:ext cx="1085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18/card/region-3/base-rule"/>
          <p:cNvSpPr/>
          <p:nvPr/>
        </p:nvSpPr>
        <p:spPr>
          <a:xfrm>
            <a:off x="647700" y="5408485"/>
            <a:ext cx="333375" cy="0"/>
          </a:xfrm>
          <a:prstGeom prst="line">
            <a:avLst/>
          </a:prstGeom>
          <a:noFill/>
          <a:ln w="28575">
            <a:solidFill>
              <a:srgbClr val="536A7A"/>
            </a:solidFill>
            <a:prstDash val="solid"/>
          </a:ln>
        </p:spPr>
      </p:sp>
      <p:sp>
        <p:nvSpPr>
          <p:cNvPr id="20" name="T18/card/region-3/title"/>
          <p:cNvSpPr/>
          <p:nvPr/>
        </p:nvSpPr>
        <p:spPr>
          <a:xfrm>
            <a:off x="647700" y="4116038"/>
            <a:ext cx="6705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复现材料</a:t>
            </a:r>
            <a:endParaRPr lang="zh-CN" sz="1950" dirty="0"/>
          </a:p>
        </p:txBody>
      </p:sp>
      <p:sp>
        <p:nvSpPr>
          <p:cNvPr id="21" name="T18/card/region-3/body"/>
          <p:cNvSpPr/>
          <p:nvPr/>
        </p:nvSpPr>
        <p:spPr>
          <a:xfrm>
            <a:off x="647700" y="4649438"/>
            <a:ext cx="6705600" cy="720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代码、数据、参数和运行环境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明确哪些材料公开，哪些受限</a:t>
            </a:r>
            <a:endParaRPr lang="zh-CN" sz="1800" dirty="0"/>
          </a:p>
        </p:txBody>
      </p:sp>
      <p:sp>
        <p:nvSpPr>
          <p:cNvPr id="22" name="T18/takeaway"/>
          <p:cNvSpPr/>
          <p:nvPr/>
        </p:nvSpPr>
        <p:spPr>
          <a:xfrm>
            <a:off x="457200" y="5675186"/>
            <a:ext cx="7086600" cy="27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统计口径、样本单位和适用条件需与原文一致</a:t>
            </a:r>
            <a:endParaRPr lang="zh-CN" sz="1800" dirty="0"/>
          </a:p>
        </p:txBody>
      </p:sp>
      <p:sp>
        <p:nvSpPr>
          <p:cNvPr id="23" name="T18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9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9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 / 48</a:t>
            </a:r>
            <a:endParaRPr lang="zh-CN" sz="1050" dirty="0"/>
          </a:p>
        </p:txBody>
      </p:sp>
      <p:sp>
        <p:nvSpPr>
          <p:cNvPr id="4" name="T19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主结果与统计口径</a:t>
            </a:r>
            <a:endParaRPr lang="zh-CN" sz="3000" dirty="0"/>
          </a:p>
        </p:txBody>
      </p:sp>
      <p:sp>
        <p:nvSpPr>
          <p:cNvPr id="5" name="T19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19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19/takeaway"/>
          <p:cNvSpPr/>
          <p:nvPr/>
        </p:nvSpPr>
        <p:spPr>
          <a:xfrm>
            <a:off x="457200" y="5855684"/>
            <a:ext cx="7696200" cy="27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统计口径、样本单位和适用条件需与原文一致</a:t>
            </a:r>
            <a:endParaRPr lang="zh-CN" sz="1800" dirty="0"/>
          </a:p>
        </p:txBody>
      </p:sp>
      <p:graphicFrame>
        <p:nvGraphicFramePr>
          <p:cNvPr id="8" name="T19/data-chart" descr=""/>
          <p:cNvGraphicFramePr/>
          <p:nvPr/>
        </p:nvGraphicFramePr>
        <p:xfrm>
          <a:off x="457200" y="1226534"/>
          <a:ext cx="7696200" cy="447084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19/card/region-1/frame"/>
          <p:cNvSpPr/>
          <p:nvPr/>
        </p:nvSpPr>
        <p:spPr>
          <a:xfrm>
            <a:off x="8458200" y="1206722"/>
            <a:ext cx="3276600" cy="144418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0" name="T19/card/region-1/heading-fill"/>
          <p:cNvSpPr/>
          <p:nvPr/>
        </p:nvSpPr>
        <p:spPr>
          <a:xfrm>
            <a:off x="8467725" y="1216247"/>
            <a:ext cx="325755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19/card/region-1/heading-rule"/>
          <p:cNvSpPr/>
          <p:nvPr/>
        </p:nvSpPr>
        <p:spPr>
          <a:xfrm>
            <a:off x="8458200" y="1587722"/>
            <a:ext cx="3276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19/card/region-1/title"/>
          <p:cNvSpPr/>
          <p:nvPr/>
        </p:nvSpPr>
        <p:spPr>
          <a:xfrm>
            <a:off x="8582025" y="1254347"/>
            <a:ext cx="30289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主要效应</a:t>
            </a:r>
            <a:endParaRPr lang="zh-CN" sz="1950" dirty="0"/>
          </a:p>
        </p:txBody>
      </p:sp>
      <p:sp>
        <p:nvSpPr>
          <p:cNvPr id="13" name="T19/card/region-1/body"/>
          <p:cNvSpPr/>
          <p:nvPr/>
        </p:nvSpPr>
        <p:spPr>
          <a:xfrm>
            <a:off x="8591550" y="1692497"/>
            <a:ext cx="3009900" cy="86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效应大小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比较基线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模板图中的数字仅为合成演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</a:t>
            </a:r>
            <a:endParaRPr lang="zh-CN" sz="1800" dirty="0"/>
          </a:p>
        </p:txBody>
      </p:sp>
      <p:sp>
        <p:nvSpPr>
          <p:cNvPr id="14" name="T19/card/region-2/heading-rule"/>
          <p:cNvSpPr/>
          <p:nvPr/>
        </p:nvSpPr>
        <p:spPr>
          <a:xfrm>
            <a:off x="8458200" y="3250216"/>
            <a:ext cx="3276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5" name="T19/card/region-2/heading-mark"/>
          <p:cNvSpPr/>
          <p:nvPr/>
        </p:nvSpPr>
        <p:spPr>
          <a:xfrm>
            <a:off x="8458200" y="3250216"/>
            <a:ext cx="342900" cy="0"/>
          </a:xfrm>
          <a:prstGeom prst="line">
            <a:avLst/>
          </a:prstGeom>
          <a:noFill/>
          <a:ln w="17145">
            <a:solidFill>
              <a:srgbClr val="536A7A"/>
            </a:solidFill>
            <a:prstDash val="solid"/>
          </a:ln>
        </p:spPr>
      </p:sp>
      <p:sp>
        <p:nvSpPr>
          <p:cNvPr id="16" name="T19/card/region-2/title"/>
          <p:cNvSpPr/>
          <p:nvPr/>
        </p:nvSpPr>
        <p:spPr>
          <a:xfrm>
            <a:off x="8458200" y="2907316"/>
            <a:ext cx="3276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</a:t>
            </a:r>
            <a:endParaRPr lang="zh-CN" sz="1950" dirty="0"/>
          </a:p>
        </p:txBody>
      </p:sp>
      <p:sp>
        <p:nvSpPr>
          <p:cNvPr id="17" name="T19/card/region-2/body"/>
          <p:cNvSpPr/>
          <p:nvPr/>
        </p:nvSpPr>
        <p:spPr>
          <a:xfrm>
            <a:off x="8458200" y="3383566"/>
            <a:ext cx="3276600" cy="89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给出样本、聚合方法与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不确定性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误差条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含义不能只写 error</a:t>
            </a:r>
            <a:endParaRPr lang="zh-CN" sz="1800" dirty="0"/>
          </a:p>
        </p:txBody>
      </p:sp>
      <p:sp>
        <p:nvSpPr>
          <p:cNvPr id="18" name="T19/card/region-3/base-rule"/>
          <p:cNvSpPr/>
          <p:nvPr/>
        </p:nvSpPr>
        <p:spPr>
          <a:xfrm>
            <a:off x="8458200" y="5994178"/>
            <a:ext cx="3276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9" name="T19/card/region-3/side-mark"/>
          <p:cNvSpPr/>
          <p:nvPr/>
        </p:nvSpPr>
        <p:spPr>
          <a:xfrm>
            <a:off x="8458200" y="4569047"/>
            <a:ext cx="47625" cy="295275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19/card/region-3/title"/>
          <p:cNvSpPr/>
          <p:nvPr/>
        </p:nvSpPr>
        <p:spPr>
          <a:xfrm>
            <a:off x="8610600" y="4569047"/>
            <a:ext cx="3124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解释边界</a:t>
            </a:r>
            <a:endParaRPr lang="zh-CN" sz="1950" dirty="0"/>
          </a:p>
        </p:txBody>
      </p:sp>
      <p:sp>
        <p:nvSpPr>
          <p:cNvPr id="21" name="T19/card/region-3/body"/>
          <p:cNvSpPr/>
          <p:nvPr/>
        </p:nvSpPr>
        <p:spPr>
          <a:xfrm>
            <a:off x="8610600" y="4988147"/>
            <a:ext cx="3124200" cy="91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统计差异与实际意义分别判断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说明未测试的条件与替代解释</a:t>
            </a:r>
            <a:endParaRPr lang="zh-CN" sz="1800" dirty="0"/>
          </a:p>
        </p:txBody>
      </p:sp>
      <p:sp>
        <p:nvSpPr>
          <p:cNvPr id="22" name="T19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0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0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/ 48</a:t>
            </a:r>
            <a:endParaRPr lang="zh-CN" sz="1050" dirty="0"/>
          </a:p>
        </p:txBody>
      </p:sp>
      <p:sp>
        <p:nvSpPr>
          <p:cNvPr id="4" name="T20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两个终点分别报告</a:t>
            </a:r>
            <a:endParaRPr lang="zh-CN" sz="3000" dirty="0"/>
          </a:p>
        </p:txBody>
      </p:sp>
      <p:sp>
        <p:nvSpPr>
          <p:cNvPr id="5" name="T20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0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20/panel:0:frame"/>
          <p:cNvSpPr/>
          <p:nvPr/>
        </p:nvSpPr>
        <p:spPr>
          <a:xfrm>
            <a:off x="457200" y="1107853"/>
            <a:ext cx="5467350" cy="365979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20/panel:0:heading-fill"/>
          <p:cNvSpPr/>
          <p:nvPr/>
        </p:nvSpPr>
        <p:spPr>
          <a:xfrm>
            <a:off x="466725" y="1117378"/>
            <a:ext cx="5448300" cy="381000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20/panel:0:heading-rule"/>
          <p:cNvSpPr/>
          <p:nvPr/>
        </p:nvSpPr>
        <p:spPr>
          <a:xfrm>
            <a:off x="457200" y="1498378"/>
            <a:ext cx="54673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20/panel:0:title"/>
          <p:cNvSpPr/>
          <p:nvPr/>
        </p:nvSpPr>
        <p:spPr>
          <a:xfrm>
            <a:off x="581025" y="1155478"/>
            <a:ext cx="5219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终点一：组间比较</a:t>
            </a:r>
            <a:endParaRPr lang="zh-CN" sz="1950" dirty="0"/>
          </a:p>
        </p:txBody>
      </p:sp>
      <p:sp>
        <p:nvSpPr>
          <p:cNvPr id="11" name="T20/panel:1:frame"/>
          <p:cNvSpPr/>
          <p:nvPr/>
        </p:nvSpPr>
        <p:spPr>
          <a:xfrm>
            <a:off x="6248400" y="1107853"/>
            <a:ext cx="5486400" cy="365979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2" name="T20/panel:1:heading-fill"/>
          <p:cNvSpPr/>
          <p:nvPr/>
        </p:nvSpPr>
        <p:spPr>
          <a:xfrm>
            <a:off x="6257925" y="1117378"/>
            <a:ext cx="5467350" cy="381000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20/panel:1:heading-rule"/>
          <p:cNvSpPr/>
          <p:nvPr/>
        </p:nvSpPr>
        <p:spPr>
          <a:xfrm>
            <a:off x="6248400" y="1498378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4" name="T20/panel:1:title"/>
          <p:cNvSpPr/>
          <p:nvPr/>
        </p:nvSpPr>
        <p:spPr>
          <a:xfrm>
            <a:off x="6372225" y="1155478"/>
            <a:ext cx="52387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终点二：个体分布</a:t>
            </a:r>
            <a:endParaRPr lang="zh-CN" sz="1950" dirty="0"/>
          </a:p>
        </p:txBody>
      </p:sp>
      <p:sp>
        <p:nvSpPr>
          <p:cNvPr id="15" name="T20/figure:0:paper"/>
          <p:cNvSpPr/>
          <p:nvPr/>
        </p:nvSpPr>
        <p:spPr>
          <a:xfrm>
            <a:off x="7246736" y="1641253"/>
            <a:ext cx="3489729" cy="2586419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6" name="T20/figure:0:image" descr="独立观测分布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5311" y="1669828"/>
            <a:ext cx="3432579" cy="2529269"/>
          </a:xfrm>
          <a:prstGeom prst="rect">
            <a:avLst/>
          </a:prstGeom>
        </p:spPr>
      </p:pic>
      <p:sp>
        <p:nvSpPr>
          <p:cNvPr id="17" name="T20/figure:0:caption"/>
          <p:cNvSpPr/>
          <p:nvPr/>
        </p:nvSpPr>
        <p:spPr>
          <a:xfrm>
            <a:off x="6381750" y="4332446"/>
            <a:ext cx="5219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独立观测分布；合成数据</a:t>
            </a:r>
            <a:endParaRPr lang="zh-CN" sz="1350" dirty="0"/>
          </a:p>
        </p:txBody>
      </p:sp>
      <p:graphicFrame>
        <p:nvGraphicFramePr>
          <p:cNvPr id="18" name="T20/data-chart" descr=""/>
          <p:cNvGraphicFramePr/>
          <p:nvPr/>
        </p:nvGraphicFramePr>
        <p:xfrm>
          <a:off x="590550" y="1622203"/>
          <a:ext cx="5200650" cy="296741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20/card/region-1/frame"/>
          <p:cNvSpPr/>
          <p:nvPr/>
        </p:nvSpPr>
        <p:spPr>
          <a:xfrm>
            <a:off x="457200" y="5005007"/>
            <a:ext cx="5467350" cy="106822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0" name="T20/card/region-1/heading-fill"/>
          <p:cNvSpPr/>
          <p:nvPr/>
        </p:nvSpPr>
        <p:spPr>
          <a:xfrm>
            <a:off x="466725" y="5014532"/>
            <a:ext cx="544830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20/card/region-1/heading-rule"/>
          <p:cNvSpPr/>
          <p:nvPr/>
        </p:nvSpPr>
        <p:spPr>
          <a:xfrm>
            <a:off x="457200" y="5386007"/>
            <a:ext cx="54673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2" name="T20/card/region-1/title"/>
          <p:cNvSpPr/>
          <p:nvPr/>
        </p:nvSpPr>
        <p:spPr>
          <a:xfrm>
            <a:off x="581025" y="5052632"/>
            <a:ext cx="5219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终点一的解释</a:t>
            </a:r>
            <a:endParaRPr lang="zh-CN" sz="1950" dirty="0"/>
          </a:p>
        </p:txBody>
      </p:sp>
      <p:sp>
        <p:nvSpPr>
          <p:cNvPr id="23" name="T20/card/region-1/body"/>
          <p:cNvSpPr/>
          <p:nvPr/>
        </p:nvSpPr>
        <p:spPr>
          <a:xfrm>
            <a:off x="590550" y="5490782"/>
            <a:ext cx="5200650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、分母与评价时间窗</a:t>
            </a:r>
            <a:endParaRPr lang="zh-CN" sz="1800" dirty="0"/>
          </a:p>
        </p:txBody>
      </p:sp>
      <p:sp>
        <p:nvSpPr>
          <p:cNvPr id="24" name="T20/card/region-2/frame"/>
          <p:cNvSpPr/>
          <p:nvPr/>
        </p:nvSpPr>
        <p:spPr>
          <a:xfrm>
            <a:off x="6248400" y="5005007"/>
            <a:ext cx="5486400" cy="106822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5" name="T20/card/region-2/heading-fill"/>
          <p:cNvSpPr/>
          <p:nvPr/>
        </p:nvSpPr>
        <p:spPr>
          <a:xfrm>
            <a:off x="6257925" y="5014532"/>
            <a:ext cx="546735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20/card/region-2/heading-rule"/>
          <p:cNvSpPr/>
          <p:nvPr/>
        </p:nvSpPr>
        <p:spPr>
          <a:xfrm>
            <a:off x="6248400" y="5386007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7" name="T20/card/region-2/title"/>
          <p:cNvSpPr/>
          <p:nvPr/>
        </p:nvSpPr>
        <p:spPr>
          <a:xfrm>
            <a:off x="6372225" y="5052632"/>
            <a:ext cx="52387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终点二的解释</a:t>
            </a:r>
            <a:endParaRPr lang="zh-CN" sz="1950" dirty="0"/>
          </a:p>
        </p:txBody>
      </p:sp>
      <p:sp>
        <p:nvSpPr>
          <p:cNvPr id="28" name="T20/card/region-2/body"/>
          <p:cNvSpPr/>
          <p:nvPr/>
        </p:nvSpPr>
        <p:spPr>
          <a:xfrm>
            <a:off x="6381750" y="5490782"/>
            <a:ext cx="5219700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明确与终点一的不同含义</a:t>
            </a:r>
            <a:endParaRPr lang="zh-CN" sz="1800" dirty="0"/>
          </a:p>
        </p:txBody>
      </p:sp>
      <p:sp>
        <p:nvSpPr>
          <p:cNvPr id="29" name="T20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1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1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 / 48</a:t>
            </a:r>
            <a:endParaRPr lang="zh-CN" sz="1050" dirty="0"/>
          </a:p>
        </p:txBody>
      </p:sp>
      <p:sp>
        <p:nvSpPr>
          <p:cNvPr id="4" name="T21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消融比较与组件贡献</a:t>
            </a:r>
            <a:endParaRPr lang="zh-CN" sz="3000" dirty="0"/>
          </a:p>
        </p:txBody>
      </p:sp>
      <p:sp>
        <p:nvSpPr>
          <p:cNvPr id="5" name="T21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1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graphicFrame>
        <p:nvGraphicFramePr>
          <p:cNvPr id="22" name="T21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7381"/>
          <a:ext cx="7200900" cy="2003108"/>
        </p:xfrm>
        <a:graphic>
          <a:graphicData uri="http://schemas.openxmlformats.org/drawingml/2006/table">
            <a:tbl>
              <a:tblPr/>
              <a:tblGrid>
                <a:gridCol w="1800225"/>
                <a:gridCol w="1800225"/>
                <a:gridCol w="1800225"/>
                <a:gridCol w="1800225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设置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合成效应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合成区间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解释任务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参考方法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0.00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−0.08…0.08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定义共同基线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移除模块 A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0.22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0.11…0.33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核查机制贡献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移除模块 B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0.31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0.17…0.45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核查信息变化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完整方法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0.43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0.27…0.59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报告资源代价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21/table-caption"/>
          <p:cNvSpPr/>
          <p:nvPr/>
        </p:nvSpPr>
        <p:spPr>
          <a:xfrm>
            <a:off x="457200" y="3217164"/>
            <a:ext cx="72009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9" name="T21/card/region-1/frame"/>
          <p:cNvSpPr/>
          <p:nvPr/>
        </p:nvSpPr>
        <p:spPr>
          <a:xfrm>
            <a:off x="7981950" y="1147381"/>
            <a:ext cx="3752850" cy="209692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0" name="T21/card/region-1/heading-fill"/>
          <p:cNvSpPr/>
          <p:nvPr/>
        </p:nvSpPr>
        <p:spPr>
          <a:xfrm>
            <a:off x="7991475" y="1156907"/>
            <a:ext cx="373380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21/card/region-1/heading-rule"/>
          <p:cNvSpPr/>
          <p:nvPr/>
        </p:nvSpPr>
        <p:spPr>
          <a:xfrm>
            <a:off x="7981950" y="1528381"/>
            <a:ext cx="37528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21/card/region-1/title"/>
          <p:cNvSpPr/>
          <p:nvPr/>
        </p:nvSpPr>
        <p:spPr>
          <a:xfrm>
            <a:off x="8105775" y="1195007"/>
            <a:ext cx="35052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组件作用</a:t>
            </a:r>
            <a:endParaRPr lang="zh-CN" sz="1950" dirty="0"/>
          </a:p>
        </p:txBody>
      </p:sp>
      <p:sp>
        <p:nvSpPr>
          <p:cNvPr id="13" name="T21/card/region-1/body"/>
          <p:cNvSpPr/>
          <p:nvPr/>
        </p:nvSpPr>
        <p:spPr>
          <a:xfrm>
            <a:off x="8115300" y="1633156"/>
            <a:ext cx="3486150" cy="151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把消融操作和机制假设对应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比较时其余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与预算保持一致</a:t>
            </a:r>
            <a:endParaRPr lang="zh-CN" sz="1800" dirty="0"/>
          </a:p>
        </p:txBody>
      </p:sp>
      <p:sp>
        <p:nvSpPr>
          <p:cNvPr id="14" name="T21/card/region-2/frame"/>
          <p:cNvSpPr/>
          <p:nvPr/>
        </p:nvSpPr>
        <p:spPr>
          <a:xfrm>
            <a:off x="7981950" y="3596069"/>
            <a:ext cx="3752850" cy="239810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5" name="T21/card/region-2/tab"/>
          <p:cNvSpPr/>
          <p:nvPr/>
        </p:nvSpPr>
        <p:spPr>
          <a:xfrm>
            <a:off x="8096250" y="3481769"/>
            <a:ext cx="125730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21/card/region-2/title"/>
          <p:cNvSpPr/>
          <p:nvPr/>
        </p:nvSpPr>
        <p:spPr>
          <a:xfrm>
            <a:off x="8201025" y="3510344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替代解释</a:t>
            </a:r>
            <a:endParaRPr lang="zh-CN" sz="1950" dirty="0"/>
          </a:p>
        </p:txBody>
      </p:sp>
      <p:sp>
        <p:nvSpPr>
          <p:cNvPr id="17" name="T21/card/region-2/body"/>
          <p:cNvSpPr/>
          <p:nvPr/>
        </p:nvSpPr>
        <p:spPr>
          <a:xfrm>
            <a:off x="8115300" y="3967544"/>
            <a:ext cx="3486150" cy="1931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消融同时改变了哪些条件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检查调参、容量与数据的影响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用进一步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区分机制贡献</a:t>
            </a:r>
            <a:endParaRPr lang="zh-CN" sz="1800" dirty="0"/>
          </a:p>
        </p:txBody>
      </p:sp>
      <p:sp>
        <p:nvSpPr>
          <p:cNvPr id="18" name="T21/card/region-3/frame"/>
          <p:cNvSpPr/>
          <p:nvPr/>
        </p:nvSpPr>
        <p:spPr>
          <a:xfrm>
            <a:off x="457200" y="3617214"/>
            <a:ext cx="7200900" cy="1879378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9" name="T21/card/region-3/heading-fill"/>
          <p:cNvSpPr/>
          <p:nvPr/>
        </p:nvSpPr>
        <p:spPr>
          <a:xfrm>
            <a:off x="466725" y="3626739"/>
            <a:ext cx="71818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21/card/region-3/heading-rule"/>
          <p:cNvSpPr/>
          <p:nvPr/>
        </p:nvSpPr>
        <p:spPr>
          <a:xfrm>
            <a:off x="457200" y="3998214"/>
            <a:ext cx="72009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1" name="T21/card/region-3/title"/>
          <p:cNvSpPr/>
          <p:nvPr/>
        </p:nvSpPr>
        <p:spPr>
          <a:xfrm>
            <a:off x="581025" y="3664839"/>
            <a:ext cx="69532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不确定性与重复</a:t>
            </a:r>
            <a:endParaRPr lang="zh-CN" sz="1950" dirty="0"/>
          </a:p>
        </p:txBody>
      </p:sp>
      <p:sp>
        <p:nvSpPr>
          <p:cNvPr id="22" name="T21/card/region-3/body"/>
          <p:cNvSpPr/>
          <p:nvPr/>
        </p:nvSpPr>
        <p:spPr>
          <a:xfrm>
            <a:off x="590550" y="4102989"/>
            <a:ext cx="6934200" cy="129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独立重复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、区间和显著性方法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避免仅凭单次最佳值解释组件贡献</a:t>
            </a:r>
            <a:endParaRPr lang="zh-CN" sz="1800" dirty="0"/>
          </a:p>
        </p:txBody>
      </p:sp>
      <p:sp>
        <p:nvSpPr>
          <p:cNvPr id="23" name="T21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2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 / 48</a:t>
            </a:r>
            <a:endParaRPr lang="zh-CN" sz="1050" dirty="0"/>
          </a:p>
        </p:txBody>
      </p:sp>
      <p:sp>
        <p:nvSpPr>
          <p:cNvPr id="4" name="T22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跨环境表现与异质性</a:t>
            </a:r>
            <a:endParaRPr lang="zh-CN" sz="3000" dirty="0"/>
          </a:p>
        </p:txBody>
      </p:sp>
      <p:sp>
        <p:nvSpPr>
          <p:cNvPr id="5" name="T22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2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graphicFrame>
        <p:nvGraphicFramePr>
          <p:cNvPr id="7" name="T22/data-chart" descr=""/>
          <p:cNvGraphicFramePr/>
          <p:nvPr/>
        </p:nvGraphicFramePr>
        <p:xfrm>
          <a:off x="457200" y="1206722"/>
          <a:ext cx="7905750" cy="34224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22/card/region-1/frame"/>
          <p:cNvSpPr/>
          <p:nvPr/>
        </p:nvSpPr>
        <p:spPr>
          <a:xfrm>
            <a:off x="8686800" y="1206722"/>
            <a:ext cx="3048000" cy="2176082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9" name="T22/card/region-1/heading-fill"/>
          <p:cNvSpPr/>
          <p:nvPr/>
        </p:nvSpPr>
        <p:spPr>
          <a:xfrm>
            <a:off x="8696325" y="1216247"/>
            <a:ext cx="30289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22/card/region-1/heading-rule"/>
          <p:cNvSpPr/>
          <p:nvPr/>
        </p:nvSpPr>
        <p:spPr>
          <a:xfrm>
            <a:off x="8686800" y="1587722"/>
            <a:ext cx="30480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1" name="T22/card/region-1/title"/>
          <p:cNvSpPr/>
          <p:nvPr/>
        </p:nvSpPr>
        <p:spPr>
          <a:xfrm>
            <a:off x="8810625" y="1254347"/>
            <a:ext cx="2800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测试环境</a:t>
            </a:r>
            <a:endParaRPr lang="zh-CN" sz="1950" dirty="0"/>
          </a:p>
        </p:txBody>
      </p:sp>
      <p:sp>
        <p:nvSpPr>
          <p:cNvPr id="12" name="T22/card/region-1/body"/>
          <p:cNvSpPr/>
          <p:nvPr/>
        </p:nvSpPr>
        <p:spPr>
          <a:xfrm>
            <a:off x="8820150" y="1692497"/>
            <a:ext cx="2781300" cy="1595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列出训练覆盖和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独立留出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分环境报告，不只给全局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</a:t>
            </a:r>
            <a:endParaRPr lang="zh-CN" sz="1800" dirty="0"/>
          </a:p>
        </p:txBody>
      </p:sp>
      <p:sp>
        <p:nvSpPr>
          <p:cNvPr id="13" name="T22/card/region-2/frame"/>
          <p:cNvSpPr/>
          <p:nvPr/>
        </p:nvSpPr>
        <p:spPr>
          <a:xfrm>
            <a:off x="8686800" y="3754279"/>
            <a:ext cx="3048000" cy="225961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4" name="T22/card/region-2/tab"/>
          <p:cNvSpPr/>
          <p:nvPr/>
        </p:nvSpPr>
        <p:spPr>
          <a:xfrm>
            <a:off x="8801100" y="3639979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22/card/region-2/title"/>
          <p:cNvSpPr/>
          <p:nvPr/>
        </p:nvSpPr>
        <p:spPr>
          <a:xfrm>
            <a:off x="8905875" y="3668554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最差情形</a:t>
            </a:r>
            <a:endParaRPr lang="zh-CN" sz="1950" dirty="0"/>
          </a:p>
        </p:txBody>
      </p:sp>
      <p:sp>
        <p:nvSpPr>
          <p:cNvPr id="16" name="T22/card/region-2/body"/>
          <p:cNvSpPr/>
          <p:nvPr/>
        </p:nvSpPr>
        <p:spPr>
          <a:xfrm>
            <a:off x="8820150" y="4125754"/>
            <a:ext cx="2781300" cy="179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展示失败环境与违反约束的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次数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讨论收益下降是否有系统性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同时报告离群值和缺失情况</a:t>
            </a:r>
            <a:endParaRPr lang="zh-CN" sz="1800" dirty="0"/>
          </a:p>
        </p:txBody>
      </p:sp>
      <p:sp>
        <p:nvSpPr>
          <p:cNvPr id="17" name="T22/card/region-3/title"/>
          <p:cNvSpPr/>
          <p:nvPr/>
        </p:nvSpPr>
        <p:spPr>
          <a:xfrm>
            <a:off x="457200" y="4964716"/>
            <a:ext cx="79057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平均值以外的结论</a:t>
            </a:r>
            <a:endParaRPr lang="zh-CN" sz="1950" dirty="0"/>
          </a:p>
        </p:txBody>
      </p:sp>
      <p:sp>
        <p:nvSpPr>
          <p:cNvPr id="18" name="T22/card/region-3/body"/>
          <p:cNvSpPr/>
          <p:nvPr/>
        </p:nvSpPr>
        <p:spPr>
          <a:xfrm>
            <a:off x="457200" y="5345716"/>
            <a:ext cx="7905750" cy="6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检查分位数、最差环境与个体差异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总体均值不能替代条件层面的判断</a:t>
            </a:r>
            <a:endParaRPr lang="zh-CN" sz="1800" dirty="0"/>
          </a:p>
        </p:txBody>
      </p:sp>
      <p:sp>
        <p:nvSpPr>
          <p:cNvPr id="19" name="T2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3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 / 48</a:t>
            </a:r>
            <a:endParaRPr lang="zh-CN" sz="1050" dirty="0"/>
          </a:p>
        </p:txBody>
      </p:sp>
      <p:sp>
        <p:nvSpPr>
          <p:cNvPr id="4" name="T23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收益风险与代价权衡</a:t>
            </a:r>
            <a:endParaRPr lang="zh-CN" sz="3000" dirty="0"/>
          </a:p>
        </p:txBody>
      </p:sp>
      <p:sp>
        <p:nvSpPr>
          <p:cNvPr id="5" name="T23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3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23/takeaway"/>
          <p:cNvSpPr/>
          <p:nvPr/>
        </p:nvSpPr>
        <p:spPr>
          <a:xfrm>
            <a:off x="457200" y="5835872"/>
            <a:ext cx="7162800" cy="27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统计口径、样本单位和适用条件需与原文一致</a:t>
            </a:r>
            <a:endParaRPr lang="zh-CN" sz="1800" dirty="0"/>
          </a:p>
        </p:txBody>
      </p:sp>
      <p:graphicFrame>
        <p:nvGraphicFramePr>
          <p:cNvPr id="8" name="T23/data-chart" descr=""/>
          <p:cNvGraphicFramePr/>
          <p:nvPr/>
        </p:nvGraphicFramePr>
        <p:xfrm>
          <a:off x="457200" y="1226534"/>
          <a:ext cx="7162800" cy="447084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23/card/region-1/frame"/>
          <p:cNvSpPr/>
          <p:nvPr/>
        </p:nvSpPr>
        <p:spPr>
          <a:xfrm>
            <a:off x="7943850" y="1206722"/>
            <a:ext cx="3790950" cy="142436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0" name="T23/card/region-1/heading-fill"/>
          <p:cNvSpPr/>
          <p:nvPr/>
        </p:nvSpPr>
        <p:spPr>
          <a:xfrm>
            <a:off x="7953375" y="1216247"/>
            <a:ext cx="377190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23/card/region-1/heading-rule"/>
          <p:cNvSpPr/>
          <p:nvPr/>
        </p:nvSpPr>
        <p:spPr>
          <a:xfrm>
            <a:off x="7943850" y="1587722"/>
            <a:ext cx="37909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23/card/region-1/title"/>
          <p:cNvSpPr/>
          <p:nvPr/>
        </p:nvSpPr>
        <p:spPr>
          <a:xfrm>
            <a:off x="8067675" y="1254347"/>
            <a:ext cx="35433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收益指标</a:t>
            </a:r>
            <a:endParaRPr lang="zh-CN" sz="1950" dirty="0"/>
          </a:p>
        </p:txBody>
      </p:sp>
      <p:sp>
        <p:nvSpPr>
          <p:cNvPr id="13" name="T23/card/region-1/body"/>
          <p:cNvSpPr/>
          <p:nvPr/>
        </p:nvSpPr>
        <p:spPr>
          <a:xfrm>
            <a:off x="8077200" y="1692497"/>
            <a:ext cx="3524250" cy="843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定义收益、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与基线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说明是否包含预测或模拟项</a:t>
            </a:r>
            <a:endParaRPr lang="zh-CN" sz="1800" dirty="0"/>
          </a:p>
        </p:txBody>
      </p:sp>
      <p:sp>
        <p:nvSpPr>
          <p:cNvPr id="14" name="T23/card/region-2/frame"/>
          <p:cNvSpPr/>
          <p:nvPr/>
        </p:nvSpPr>
        <p:spPr>
          <a:xfrm>
            <a:off x="7943850" y="3002566"/>
            <a:ext cx="3790950" cy="131006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5" name="T23/card/region-2/tab"/>
          <p:cNvSpPr/>
          <p:nvPr/>
        </p:nvSpPr>
        <p:spPr>
          <a:xfrm>
            <a:off x="8058150" y="2888266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23/card/region-2/title"/>
          <p:cNvSpPr/>
          <p:nvPr/>
        </p:nvSpPr>
        <p:spPr>
          <a:xfrm>
            <a:off x="8162925" y="2916841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风险指标</a:t>
            </a:r>
            <a:endParaRPr lang="zh-CN" sz="1950" dirty="0"/>
          </a:p>
        </p:txBody>
      </p:sp>
      <p:sp>
        <p:nvSpPr>
          <p:cNvPr id="17" name="T23/card/region-2/body"/>
          <p:cNvSpPr/>
          <p:nvPr/>
        </p:nvSpPr>
        <p:spPr>
          <a:xfrm>
            <a:off x="8077200" y="3374041"/>
            <a:ext cx="3524250" cy="843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报告违反约束的概率或幅度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分开平均风险与极端情形</a:t>
            </a:r>
            <a:endParaRPr lang="zh-CN" sz="1800" dirty="0"/>
          </a:p>
        </p:txBody>
      </p:sp>
      <p:sp>
        <p:nvSpPr>
          <p:cNvPr id="18" name="T23/card/region-3/heading-rule"/>
          <p:cNvSpPr/>
          <p:nvPr/>
        </p:nvSpPr>
        <p:spPr>
          <a:xfrm>
            <a:off x="7943850" y="4931759"/>
            <a:ext cx="37909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9" name="T23/card/region-3/heading-mark"/>
          <p:cNvSpPr/>
          <p:nvPr/>
        </p:nvSpPr>
        <p:spPr>
          <a:xfrm>
            <a:off x="7943850" y="4931759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20" name="T23/card/region-3/title"/>
          <p:cNvSpPr/>
          <p:nvPr/>
        </p:nvSpPr>
        <p:spPr>
          <a:xfrm>
            <a:off x="7943850" y="4588859"/>
            <a:ext cx="37909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资源代价</a:t>
            </a:r>
            <a:endParaRPr lang="zh-CN" sz="1950" dirty="0"/>
          </a:p>
        </p:txBody>
      </p:sp>
      <p:sp>
        <p:nvSpPr>
          <p:cNvPr id="21" name="T23/card/region-3/body"/>
          <p:cNvSpPr/>
          <p:nvPr/>
        </p:nvSpPr>
        <p:spPr>
          <a:xfrm>
            <a:off x="7943850" y="5065109"/>
            <a:ext cx="3790950" cy="89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计算、人工、数据与执行成本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权衡使用相同的时间与计量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endParaRPr lang="zh-CN" sz="1800" dirty="0"/>
          </a:p>
        </p:txBody>
      </p:sp>
      <p:sp>
        <p:nvSpPr>
          <p:cNvPr id="22" name="T2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4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/ 48</a:t>
            </a:r>
            <a:endParaRPr lang="zh-CN" sz="1050" dirty="0"/>
          </a:p>
        </p:txBody>
      </p:sp>
      <p:sp>
        <p:nvSpPr>
          <p:cNvPr id="4" name="T24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错误类型与任务分母</a:t>
            </a:r>
            <a:endParaRPr lang="zh-CN" sz="3000" dirty="0"/>
          </a:p>
        </p:txBody>
      </p:sp>
      <p:sp>
        <p:nvSpPr>
          <p:cNvPr id="5" name="T24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4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graphicFrame>
        <p:nvGraphicFramePr>
          <p:cNvPr id="25" name="T24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75046"/>
          <a:ext cx="11277600" cy="1602486"/>
        </p:xfrm>
        <a:graphic>
          <a:graphicData uri="http://schemas.openxmlformats.org/drawingml/2006/table">
            <a:tbl>
              <a:tblPr/>
              <a:tblGrid>
                <a:gridCol w="2819400"/>
                <a:gridCol w="2819400"/>
                <a:gridCol w="2819400"/>
                <a:gridCol w="281940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阶段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合成任务数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合成失败数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需核查的证据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数据获取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原始输入与缺失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工具执行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参数、日志与异常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结果解释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答案与数据来源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24/table-caption"/>
          <p:cNvSpPr/>
          <p:nvPr/>
        </p:nvSpPr>
        <p:spPr>
          <a:xfrm>
            <a:off x="457200" y="3944207"/>
            <a:ext cx="1127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9" name="T24/card/region-1/frame"/>
          <p:cNvSpPr/>
          <p:nvPr/>
        </p:nvSpPr>
        <p:spPr>
          <a:xfrm>
            <a:off x="457200" y="4363307"/>
            <a:ext cx="5467350" cy="176069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0" name="T24/card/region-1/heading-fill"/>
          <p:cNvSpPr/>
          <p:nvPr/>
        </p:nvSpPr>
        <p:spPr>
          <a:xfrm>
            <a:off x="466725" y="4372832"/>
            <a:ext cx="544830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24/card/region-1/heading-rule"/>
          <p:cNvSpPr/>
          <p:nvPr/>
        </p:nvSpPr>
        <p:spPr>
          <a:xfrm>
            <a:off x="457200" y="4744307"/>
            <a:ext cx="54673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24/card/region-1/title"/>
          <p:cNvSpPr/>
          <p:nvPr/>
        </p:nvSpPr>
        <p:spPr>
          <a:xfrm>
            <a:off x="581025" y="4410932"/>
            <a:ext cx="5219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评价者与尺度</a:t>
            </a:r>
            <a:endParaRPr lang="zh-CN" sz="1950" dirty="0"/>
          </a:p>
        </p:txBody>
      </p:sp>
      <p:sp>
        <p:nvSpPr>
          <p:cNvPr id="13" name="T24/card/region-1/body"/>
          <p:cNvSpPr/>
          <p:nvPr/>
        </p:nvSpPr>
        <p:spPr>
          <a:xfrm>
            <a:off x="590550" y="4849082"/>
            <a:ext cx="5200650" cy="117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人工、程序和模型评分分别记录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说明评分规则与是否盲评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任务完成和答案正确应分别评价</a:t>
            </a:r>
            <a:endParaRPr lang="zh-CN" sz="1800" dirty="0"/>
          </a:p>
        </p:txBody>
      </p:sp>
      <p:sp>
        <p:nvSpPr>
          <p:cNvPr id="14" name="T24/card/region-2/frame"/>
          <p:cNvSpPr/>
          <p:nvPr/>
        </p:nvSpPr>
        <p:spPr>
          <a:xfrm>
            <a:off x="6248400" y="4477607"/>
            <a:ext cx="5486400" cy="164639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5" name="T24/card/region-2/tab"/>
          <p:cNvSpPr/>
          <p:nvPr/>
        </p:nvSpPr>
        <p:spPr>
          <a:xfrm>
            <a:off x="6362700" y="4363307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24/card/region-2/title"/>
          <p:cNvSpPr/>
          <p:nvPr/>
        </p:nvSpPr>
        <p:spPr>
          <a:xfrm>
            <a:off x="6467475" y="4391882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失败环节</a:t>
            </a:r>
            <a:endParaRPr lang="zh-CN" sz="1950" dirty="0"/>
          </a:p>
        </p:txBody>
      </p:sp>
      <p:sp>
        <p:nvSpPr>
          <p:cNvPr id="17" name="T24/card/region-2/body"/>
          <p:cNvSpPr/>
          <p:nvPr/>
        </p:nvSpPr>
        <p:spPr>
          <a:xfrm>
            <a:off x="6381750" y="4849082"/>
            <a:ext cx="5219700" cy="117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将错误对应到数据、计划、工具或读图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记录可复现的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和失败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避免用总分掩盖集中失效的环节</a:t>
            </a:r>
            <a:endParaRPr lang="zh-CN" sz="1800" dirty="0"/>
          </a:p>
        </p:txBody>
      </p:sp>
      <p:sp>
        <p:nvSpPr>
          <p:cNvPr id="18" name="T24/card/region-3/title"/>
          <p:cNvSpPr/>
          <p:nvPr/>
        </p:nvSpPr>
        <p:spPr>
          <a:xfrm>
            <a:off x="457200" y="1146620"/>
            <a:ext cx="11277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分母与统计单位</a:t>
            </a:r>
            <a:endParaRPr lang="zh-CN" sz="1950" dirty="0"/>
          </a:p>
        </p:txBody>
      </p:sp>
      <p:sp>
        <p:nvSpPr>
          <p:cNvPr id="19" name="T24/card/region-3/body"/>
          <p:cNvSpPr/>
          <p:nvPr/>
        </p:nvSpPr>
        <p:spPr>
          <a:xfrm>
            <a:off x="457200" y="1527620"/>
            <a:ext cx="11277600" cy="51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报告任务数、重复数与实际评价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endParaRPr lang="zh-CN" sz="1800" dirty="0"/>
          </a:p>
        </p:txBody>
      </p:sp>
      <p:sp>
        <p:nvSpPr>
          <p:cNvPr id="20" name="T2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5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5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 / 48</a:t>
            </a:r>
            <a:endParaRPr lang="zh-CN" sz="1050" dirty="0"/>
          </a:p>
        </p:txBody>
      </p:sp>
      <p:sp>
        <p:nvSpPr>
          <p:cNvPr id="4" name="T25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宽幅原图与读图说明</a:t>
            </a:r>
            <a:endParaRPr lang="zh-CN" sz="3000" dirty="0"/>
          </a:p>
        </p:txBody>
      </p:sp>
      <p:sp>
        <p:nvSpPr>
          <p:cNvPr id="5" name="T25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5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25/panel:0:frame"/>
          <p:cNvSpPr/>
          <p:nvPr/>
        </p:nvSpPr>
        <p:spPr>
          <a:xfrm>
            <a:off x="457200" y="1202341"/>
            <a:ext cx="11277600" cy="344662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25/panel:0:tab"/>
          <p:cNvSpPr/>
          <p:nvPr/>
        </p:nvSpPr>
        <p:spPr>
          <a:xfrm>
            <a:off x="571500" y="1088041"/>
            <a:ext cx="2343150" cy="342900"/>
          </a:xfrm>
          <a:prstGeom prst="rect">
            <a:avLst/>
          </a:prstGeom>
          <a:solidFill>
            <a:srgbClr val="146C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25/panel:0:title"/>
          <p:cNvSpPr/>
          <p:nvPr/>
        </p:nvSpPr>
        <p:spPr>
          <a:xfrm>
            <a:off x="676275" y="1116616"/>
            <a:ext cx="2133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证据图与面板顺序</a:t>
            </a:r>
            <a:endParaRPr lang="zh-CN" sz="1950" dirty="0"/>
          </a:p>
        </p:txBody>
      </p:sp>
      <p:sp>
        <p:nvSpPr>
          <p:cNvPr id="10" name="T25/figure:0:paper"/>
          <p:cNvSpPr/>
          <p:nvPr/>
        </p:nvSpPr>
        <p:spPr>
          <a:xfrm>
            <a:off x="1048512" y="1562100"/>
            <a:ext cx="10094976" cy="2566607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1" name="T25/figure:0:image" descr="A/B 为条件；所有数值为合成示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087" y="1590675"/>
            <a:ext cx="10037826" cy="2509457"/>
          </a:xfrm>
          <a:prstGeom prst="rect">
            <a:avLst/>
          </a:prstGeom>
        </p:spPr>
      </p:pic>
      <p:sp>
        <p:nvSpPr>
          <p:cNvPr id="12" name="T25/figure:0:caption"/>
          <p:cNvSpPr/>
          <p:nvPr/>
        </p:nvSpPr>
        <p:spPr>
          <a:xfrm>
            <a:off x="590550" y="4233482"/>
            <a:ext cx="11010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为条件；所有数值为合成示例</a:t>
            </a:r>
            <a:endParaRPr lang="zh-CN" sz="1350" dirty="0"/>
          </a:p>
        </p:txBody>
      </p:sp>
      <p:sp>
        <p:nvSpPr>
          <p:cNvPr id="13" name="T25/card/region-1/base-rule"/>
          <p:cNvSpPr/>
          <p:nvPr/>
        </p:nvSpPr>
        <p:spPr>
          <a:xfrm>
            <a:off x="457200" y="6073331"/>
            <a:ext cx="34671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4" name="T25/card/region-1/side-mark"/>
          <p:cNvSpPr/>
          <p:nvPr/>
        </p:nvSpPr>
        <p:spPr>
          <a:xfrm>
            <a:off x="457200" y="4846034"/>
            <a:ext cx="47625" cy="29527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25/card/region-1/title"/>
          <p:cNvSpPr/>
          <p:nvPr/>
        </p:nvSpPr>
        <p:spPr>
          <a:xfrm>
            <a:off x="609600" y="4846034"/>
            <a:ext cx="3314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图例与处理</a:t>
            </a:r>
            <a:endParaRPr lang="zh-CN" sz="1950" dirty="0"/>
          </a:p>
        </p:txBody>
      </p:sp>
      <p:sp>
        <p:nvSpPr>
          <p:cNvPr id="16" name="T25/card/region-1/body"/>
          <p:cNvSpPr/>
          <p:nvPr/>
        </p:nvSpPr>
        <p:spPr>
          <a:xfrm>
            <a:off x="609600" y="5265134"/>
            <a:ext cx="3314700" cy="71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解释颜色、线型与实验条件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读图前先明确比较对象</a:t>
            </a:r>
            <a:endParaRPr lang="zh-CN" sz="1800" dirty="0"/>
          </a:p>
        </p:txBody>
      </p:sp>
      <p:sp>
        <p:nvSpPr>
          <p:cNvPr id="17" name="T25/card/region-2/heading-rule"/>
          <p:cNvSpPr/>
          <p:nvPr/>
        </p:nvSpPr>
        <p:spPr>
          <a:xfrm>
            <a:off x="4210050" y="5188934"/>
            <a:ext cx="34671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8" name="T25/card/region-2/heading-mark"/>
          <p:cNvSpPr/>
          <p:nvPr/>
        </p:nvSpPr>
        <p:spPr>
          <a:xfrm>
            <a:off x="4210050" y="5188934"/>
            <a:ext cx="342900" cy="0"/>
          </a:xfrm>
          <a:prstGeom prst="line">
            <a:avLst/>
          </a:prstGeom>
          <a:noFill/>
          <a:ln w="17145">
            <a:solidFill>
              <a:srgbClr val="146C63"/>
            </a:solidFill>
            <a:prstDash val="solid"/>
          </a:ln>
        </p:spPr>
      </p:sp>
      <p:sp>
        <p:nvSpPr>
          <p:cNvPr id="19" name="T25/card/region-2/title"/>
          <p:cNvSpPr/>
          <p:nvPr/>
        </p:nvSpPr>
        <p:spPr>
          <a:xfrm>
            <a:off x="4210050" y="4846034"/>
            <a:ext cx="34671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主要趋势</a:t>
            </a:r>
            <a:endParaRPr lang="zh-CN" sz="1950" dirty="0"/>
          </a:p>
        </p:txBody>
      </p:sp>
      <p:sp>
        <p:nvSpPr>
          <p:cNvPr id="20" name="T25/card/region-2/body"/>
          <p:cNvSpPr/>
          <p:nvPr/>
        </p:nvSpPr>
        <p:spPr>
          <a:xfrm>
            <a:off x="4210050" y="5322284"/>
            <a:ext cx="3467100" cy="71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指出具体面板和变化方向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图注与原始数据核对数值</a:t>
            </a:r>
            <a:endParaRPr lang="zh-CN" sz="1800" dirty="0"/>
          </a:p>
        </p:txBody>
      </p:sp>
      <p:sp>
        <p:nvSpPr>
          <p:cNvPr id="21" name="T25/card/region-3/frame"/>
          <p:cNvSpPr/>
          <p:nvPr/>
        </p:nvSpPr>
        <p:spPr>
          <a:xfrm>
            <a:off x="7962900" y="4941284"/>
            <a:ext cx="3771900" cy="113204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2" name="T25/card/region-3/tab"/>
          <p:cNvSpPr/>
          <p:nvPr/>
        </p:nvSpPr>
        <p:spPr>
          <a:xfrm>
            <a:off x="8077200" y="4826984"/>
            <a:ext cx="125730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25/card/region-3/title"/>
          <p:cNvSpPr/>
          <p:nvPr/>
        </p:nvSpPr>
        <p:spPr>
          <a:xfrm>
            <a:off x="8181975" y="4855559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必要限定</a:t>
            </a:r>
            <a:endParaRPr lang="zh-CN" sz="1950" dirty="0"/>
          </a:p>
        </p:txBody>
      </p:sp>
      <p:sp>
        <p:nvSpPr>
          <p:cNvPr id="24" name="T25/card/region-3/body"/>
          <p:cNvSpPr/>
          <p:nvPr/>
        </p:nvSpPr>
        <p:spPr>
          <a:xfrm>
            <a:off x="8096250" y="5312759"/>
            <a:ext cx="3505200" cy="665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保留样本、误差与实验范围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不从示意图推导真实研究结论</a:t>
            </a:r>
            <a:endParaRPr lang="zh-CN" sz="1800" dirty="0"/>
          </a:p>
        </p:txBody>
      </p:sp>
      <p:sp>
        <p:nvSpPr>
          <p:cNvPr id="25" name="T2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6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6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 / 48</a:t>
            </a:r>
            <a:endParaRPr lang="zh-CN" sz="1050" dirty="0"/>
          </a:p>
        </p:txBody>
      </p:sp>
      <p:sp>
        <p:nvSpPr>
          <p:cNvPr id="4" name="T26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双面板对照解读</a:t>
            </a:r>
            <a:endParaRPr lang="zh-CN" sz="3000" dirty="0"/>
          </a:p>
        </p:txBody>
      </p:sp>
      <p:sp>
        <p:nvSpPr>
          <p:cNvPr id="5" name="T26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6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26/panel:0:frame"/>
          <p:cNvSpPr/>
          <p:nvPr/>
        </p:nvSpPr>
        <p:spPr>
          <a:xfrm>
            <a:off x="457200" y="1127570"/>
            <a:ext cx="5467350" cy="4965478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26/panel:0:heading-fill"/>
          <p:cNvSpPr/>
          <p:nvPr/>
        </p:nvSpPr>
        <p:spPr>
          <a:xfrm>
            <a:off x="466725" y="1137095"/>
            <a:ext cx="5448300" cy="381000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26/panel:0:heading-rule"/>
          <p:cNvSpPr/>
          <p:nvPr/>
        </p:nvSpPr>
        <p:spPr>
          <a:xfrm>
            <a:off x="457200" y="1518095"/>
            <a:ext cx="54673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26/panel:0:title"/>
          <p:cNvSpPr/>
          <p:nvPr/>
        </p:nvSpPr>
        <p:spPr>
          <a:xfrm>
            <a:off x="581025" y="1175195"/>
            <a:ext cx="5219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面板及对应解读</a:t>
            </a:r>
            <a:endParaRPr lang="zh-CN" sz="1950" dirty="0"/>
          </a:p>
        </p:txBody>
      </p:sp>
      <p:sp>
        <p:nvSpPr>
          <p:cNvPr id="11" name="T26/panel:1:frame"/>
          <p:cNvSpPr/>
          <p:nvPr/>
        </p:nvSpPr>
        <p:spPr>
          <a:xfrm>
            <a:off x="6248400" y="1127570"/>
            <a:ext cx="5486400" cy="4965478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2" name="T26/panel:1:heading-fill"/>
          <p:cNvSpPr/>
          <p:nvPr/>
        </p:nvSpPr>
        <p:spPr>
          <a:xfrm>
            <a:off x="6257925" y="1137095"/>
            <a:ext cx="5467350" cy="381000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26/panel:1:heading-rule"/>
          <p:cNvSpPr/>
          <p:nvPr/>
        </p:nvSpPr>
        <p:spPr>
          <a:xfrm>
            <a:off x="6248400" y="1518095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4" name="T26/panel:1:title"/>
          <p:cNvSpPr/>
          <p:nvPr/>
        </p:nvSpPr>
        <p:spPr>
          <a:xfrm>
            <a:off x="6372225" y="1175195"/>
            <a:ext cx="52387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面板及对应解读</a:t>
            </a:r>
            <a:endParaRPr lang="zh-CN" sz="1950" dirty="0"/>
          </a:p>
        </p:txBody>
      </p:sp>
      <p:sp>
        <p:nvSpPr>
          <p:cNvPr id="15" name="T26/figure:0:paper"/>
          <p:cNvSpPr/>
          <p:nvPr/>
        </p:nvSpPr>
        <p:spPr>
          <a:xfrm>
            <a:off x="1217788" y="1641253"/>
            <a:ext cx="3946173" cy="2922746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6" name="T26/figure:0:image" descr="A/B 为条件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6363" y="1669828"/>
            <a:ext cx="3889023" cy="2865596"/>
          </a:xfrm>
          <a:prstGeom prst="rect">
            <a:avLst/>
          </a:prstGeom>
        </p:spPr>
      </p:pic>
      <p:sp>
        <p:nvSpPr>
          <p:cNvPr id="17" name="T26/figure:0:caption"/>
          <p:cNvSpPr/>
          <p:nvPr/>
        </p:nvSpPr>
        <p:spPr>
          <a:xfrm>
            <a:off x="590550" y="4668774"/>
            <a:ext cx="52006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为条件；合成数据</a:t>
            </a:r>
            <a:endParaRPr lang="zh-CN" sz="1350" dirty="0"/>
          </a:p>
        </p:txBody>
      </p:sp>
      <p:sp>
        <p:nvSpPr>
          <p:cNvPr id="18" name="T26/figure:1:paper"/>
          <p:cNvSpPr/>
          <p:nvPr/>
        </p:nvSpPr>
        <p:spPr>
          <a:xfrm>
            <a:off x="7018513" y="1641253"/>
            <a:ext cx="3946173" cy="2922746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9" name="T26/figure:1:image" descr="Ref. 为参考，V1–V3 为变体；合成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088" y="1669828"/>
            <a:ext cx="3889023" cy="2865596"/>
          </a:xfrm>
          <a:prstGeom prst="rect">
            <a:avLst/>
          </a:prstGeom>
        </p:spPr>
      </p:pic>
      <p:sp>
        <p:nvSpPr>
          <p:cNvPr id="20" name="T26/figure:1:caption"/>
          <p:cNvSpPr/>
          <p:nvPr/>
        </p:nvSpPr>
        <p:spPr>
          <a:xfrm>
            <a:off x="6381750" y="4668774"/>
            <a:ext cx="5219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Ref. 为参考，V1–V3 为变体；合成数据</a:t>
            </a:r>
            <a:endParaRPr lang="zh-CN" sz="1350" dirty="0"/>
          </a:p>
        </p:txBody>
      </p:sp>
      <p:sp>
        <p:nvSpPr>
          <p:cNvPr id="21" name="T26/card/region-1/title"/>
          <p:cNvSpPr/>
          <p:nvPr/>
        </p:nvSpPr>
        <p:spPr>
          <a:xfrm>
            <a:off x="590550" y="5103209"/>
            <a:ext cx="52006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面板 A</a:t>
            </a:r>
            <a:endParaRPr lang="zh-CN" sz="1950" dirty="0"/>
          </a:p>
        </p:txBody>
      </p:sp>
      <p:sp>
        <p:nvSpPr>
          <p:cNvPr id="22" name="T26/card/region-1/body"/>
          <p:cNvSpPr/>
          <p:nvPr/>
        </p:nvSpPr>
        <p:spPr>
          <a:xfrm>
            <a:off x="590550" y="5484209"/>
            <a:ext cx="5200650" cy="51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解释该面板的变量和处理</a:t>
            </a:r>
            <a:endParaRPr lang="zh-CN" sz="1800" dirty="0"/>
          </a:p>
        </p:txBody>
      </p:sp>
      <p:sp>
        <p:nvSpPr>
          <p:cNvPr id="23" name="T26/card/region-2/title"/>
          <p:cNvSpPr/>
          <p:nvPr/>
        </p:nvSpPr>
        <p:spPr>
          <a:xfrm>
            <a:off x="6381750" y="5103209"/>
            <a:ext cx="52197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面板 B</a:t>
            </a:r>
            <a:endParaRPr lang="zh-CN" sz="1950" dirty="0"/>
          </a:p>
        </p:txBody>
      </p:sp>
      <p:sp>
        <p:nvSpPr>
          <p:cNvPr id="24" name="T26/card/region-2/body"/>
          <p:cNvSpPr/>
          <p:nvPr/>
        </p:nvSpPr>
        <p:spPr>
          <a:xfrm>
            <a:off x="6381750" y="5484209"/>
            <a:ext cx="5219700" cy="51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说明它如何补充前一面板</a:t>
            </a:r>
            <a:endParaRPr lang="zh-CN" sz="1800" dirty="0"/>
          </a:p>
        </p:txBody>
      </p:sp>
      <p:sp>
        <p:nvSpPr>
          <p:cNvPr id="25" name="T2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7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7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 / 48</a:t>
            </a:r>
            <a:endParaRPr lang="zh-CN" sz="1050" dirty="0"/>
          </a:p>
        </p:txBody>
      </p:sp>
      <p:sp>
        <p:nvSpPr>
          <p:cNvPr id="4" name="T27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三项互补证据</a:t>
            </a:r>
            <a:endParaRPr lang="zh-CN" sz="3000" dirty="0"/>
          </a:p>
        </p:txBody>
      </p:sp>
      <p:sp>
        <p:nvSpPr>
          <p:cNvPr id="5" name="T27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7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27/panel:0:frame"/>
          <p:cNvSpPr/>
          <p:nvPr/>
        </p:nvSpPr>
        <p:spPr>
          <a:xfrm>
            <a:off x="457200" y="1147381"/>
            <a:ext cx="3638550" cy="4906137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27/panel:0:heading-fill"/>
          <p:cNvSpPr/>
          <p:nvPr/>
        </p:nvSpPr>
        <p:spPr>
          <a:xfrm>
            <a:off x="466725" y="1156907"/>
            <a:ext cx="3619500" cy="381000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27/panel:0:heading-rule"/>
          <p:cNvSpPr/>
          <p:nvPr/>
        </p:nvSpPr>
        <p:spPr>
          <a:xfrm>
            <a:off x="457200" y="1537906"/>
            <a:ext cx="36385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27/panel:0:title"/>
          <p:cNvSpPr/>
          <p:nvPr/>
        </p:nvSpPr>
        <p:spPr>
          <a:xfrm>
            <a:off x="581025" y="1195007"/>
            <a:ext cx="3390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对应证据</a:t>
            </a:r>
            <a:endParaRPr lang="zh-CN" sz="1950" dirty="0"/>
          </a:p>
        </p:txBody>
      </p:sp>
      <p:sp>
        <p:nvSpPr>
          <p:cNvPr id="11" name="T27/panel:1:frame"/>
          <p:cNvSpPr/>
          <p:nvPr/>
        </p:nvSpPr>
        <p:spPr>
          <a:xfrm>
            <a:off x="4276725" y="1147381"/>
            <a:ext cx="3638550" cy="4906137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2" name="T27/panel:1:heading-fill"/>
          <p:cNvSpPr/>
          <p:nvPr/>
        </p:nvSpPr>
        <p:spPr>
          <a:xfrm>
            <a:off x="4286250" y="1156907"/>
            <a:ext cx="3619500" cy="381000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27/panel:1:heading-rule"/>
          <p:cNvSpPr/>
          <p:nvPr/>
        </p:nvSpPr>
        <p:spPr>
          <a:xfrm>
            <a:off x="4276725" y="1537906"/>
            <a:ext cx="36385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4" name="T27/panel:1:title"/>
          <p:cNvSpPr/>
          <p:nvPr/>
        </p:nvSpPr>
        <p:spPr>
          <a:xfrm>
            <a:off x="4400550" y="1195007"/>
            <a:ext cx="3390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对应证据</a:t>
            </a:r>
            <a:endParaRPr lang="zh-CN" sz="1950" dirty="0"/>
          </a:p>
        </p:txBody>
      </p:sp>
      <p:sp>
        <p:nvSpPr>
          <p:cNvPr id="15" name="T27/panel:2:frame"/>
          <p:cNvSpPr/>
          <p:nvPr/>
        </p:nvSpPr>
        <p:spPr>
          <a:xfrm>
            <a:off x="8096250" y="1147381"/>
            <a:ext cx="3638550" cy="4906137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6" name="T27/panel:2:heading-fill"/>
          <p:cNvSpPr/>
          <p:nvPr/>
        </p:nvSpPr>
        <p:spPr>
          <a:xfrm>
            <a:off x="8105775" y="1156907"/>
            <a:ext cx="3619500" cy="381000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27/panel:2:heading-rule"/>
          <p:cNvSpPr/>
          <p:nvPr/>
        </p:nvSpPr>
        <p:spPr>
          <a:xfrm>
            <a:off x="8096250" y="1537906"/>
            <a:ext cx="36385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8" name="T27/panel:2:title"/>
          <p:cNvSpPr/>
          <p:nvPr/>
        </p:nvSpPr>
        <p:spPr>
          <a:xfrm>
            <a:off x="8220075" y="1195007"/>
            <a:ext cx="3390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对应证据</a:t>
            </a:r>
            <a:endParaRPr lang="zh-CN" sz="1950" dirty="0"/>
          </a:p>
        </p:txBody>
      </p:sp>
      <p:sp>
        <p:nvSpPr>
          <p:cNvPr id="19" name="T27/figure:0:paper"/>
          <p:cNvSpPr/>
          <p:nvPr/>
        </p:nvSpPr>
        <p:spPr>
          <a:xfrm>
            <a:off x="609600" y="1738247"/>
            <a:ext cx="3333750" cy="2471487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20" name="T27/figure:0:image" descr="A/B 为条件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75" y="1766822"/>
            <a:ext cx="3276600" cy="2414337"/>
          </a:xfrm>
          <a:prstGeom prst="rect">
            <a:avLst/>
          </a:prstGeom>
        </p:spPr>
      </p:pic>
      <p:sp>
        <p:nvSpPr>
          <p:cNvPr id="21" name="T27/figure:0:caption"/>
          <p:cNvSpPr/>
          <p:nvPr/>
        </p:nvSpPr>
        <p:spPr>
          <a:xfrm>
            <a:off x="590550" y="4371975"/>
            <a:ext cx="33718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为条件；合成数据</a:t>
            </a:r>
            <a:endParaRPr lang="zh-CN" sz="1350" dirty="0"/>
          </a:p>
        </p:txBody>
      </p:sp>
      <p:sp>
        <p:nvSpPr>
          <p:cNvPr id="22" name="T27/figure:1:paper"/>
          <p:cNvSpPr/>
          <p:nvPr/>
        </p:nvSpPr>
        <p:spPr>
          <a:xfrm>
            <a:off x="4429125" y="1738247"/>
            <a:ext cx="3333750" cy="2471487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23" name="T27/figure:1:image" descr="Ref. 为参考，V1–V3 为变体；合成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66822"/>
            <a:ext cx="3276600" cy="2414337"/>
          </a:xfrm>
          <a:prstGeom prst="rect">
            <a:avLst/>
          </a:prstGeom>
        </p:spPr>
      </p:pic>
      <p:sp>
        <p:nvSpPr>
          <p:cNvPr id="24" name="T27/figure:1:caption"/>
          <p:cNvSpPr/>
          <p:nvPr/>
        </p:nvSpPr>
        <p:spPr>
          <a:xfrm>
            <a:off x="4410075" y="4371975"/>
            <a:ext cx="33718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Ref. 为参考，V1–V3 为变体；合成数据</a:t>
            </a:r>
            <a:endParaRPr lang="zh-CN" sz="1350" dirty="0"/>
          </a:p>
        </p:txBody>
      </p:sp>
      <p:sp>
        <p:nvSpPr>
          <p:cNvPr id="25" name="T27/figure:2:paper"/>
          <p:cNvSpPr/>
          <p:nvPr/>
        </p:nvSpPr>
        <p:spPr>
          <a:xfrm>
            <a:off x="8248650" y="1738247"/>
            <a:ext cx="3333750" cy="2471487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26" name="T27/figure:2:image" descr="跨环境矩阵；合成数据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225" y="1766822"/>
            <a:ext cx="3276600" cy="2414337"/>
          </a:xfrm>
          <a:prstGeom prst="rect">
            <a:avLst/>
          </a:prstGeom>
        </p:spPr>
      </p:pic>
      <p:sp>
        <p:nvSpPr>
          <p:cNvPr id="27" name="T27/figure:2:caption"/>
          <p:cNvSpPr/>
          <p:nvPr/>
        </p:nvSpPr>
        <p:spPr>
          <a:xfrm>
            <a:off x="8229600" y="4371975"/>
            <a:ext cx="33718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跨环境矩阵；合成数据</a:t>
            </a:r>
            <a:endParaRPr lang="zh-CN" sz="1350" dirty="0"/>
          </a:p>
        </p:txBody>
      </p:sp>
      <p:sp>
        <p:nvSpPr>
          <p:cNvPr id="28" name="T27/card/region-1/title"/>
          <p:cNvSpPr/>
          <p:nvPr/>
        </p:nvSpPr>
        <p:spPr>
          <a:xfrm>
            <a:off x="590550" y="4766882"/>
            <a:ext cx="33718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 A</a:t>
            </a:r>
            <a:endParaRPr lang="zh-CN" sz="1950" dirty="0"/>
          </a:p>
        </p:txBody>
      </p:sp>
      <p:sp>
        <p:nvSpPr>
          <p:cNvPr id="29" name="T27/card/region-1/body"/>
          <p:cNvSpPr/>
          <p:nvPr/>
        </p:nvSpPr>
        <p:spPr>
          <a:xfrm>
            <a:off x="590550" y="5147882"/>
            <a:ext cx="3371850" cy="78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变量、样本和关键趋势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对应来源面板及读图规则</a:t>
            </a:r>
            <a:endParaRPr lang="zh-CN" sz="1800" dirty="0"/>
          </a:p>
        </p:txBody>
      </p:sp>
      <p:sp>
        <p:nvSpPr>
          <p:cNvPr id="30" name="T27/card/region-2/title"/>
          <p:cNvSpPr/>
          <p:nvPr/>
        </p:nvSpPr>
        <p:spPr>
          <a:xfrm>
            <a:off x="4410075" y="4766882"/>
            <a:ext cx="33718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 B</a:t>
            </a:r>
            <a:endParaRPr lang="zh-CN" sz="1950" dirty="0"/>
          </a:p>
        </p:txBody>
      </p:sp>
      <p:sp>
        <p:nvSpPr>
          <p:cNvPr id="31" name="T27/card/region-2/body"/>
          <p:cNvSpPr/>
          <p:nvPr/>
        </p:nvSpPr>
        <p:spPr>
          <a:xfrm>
            <a:off x="4410075" y="5147882"/>
            <a:ext cx="3371850" cy="78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使用不同观测检查同一解释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保留自身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与统计口径</a:t>
            </a:r>
            <a:endParaRPr lang="zh-CN" sz="1800" dirty="0"/>
          </a:p>
        </p:txBody>
      </p:sp>
      <p:sp>
        <p:nvSpPr>
          <p:cNvPr id="32" name="T27/card/region-3/title"/>
          <p:cNvSpPr/>
          <p:nvPr/>
        </p:nvSpPr>
        <p:spPr>
          <a:xfrm>
            <a:off x="8229600" y="4766882"/>
            <a:ext cx="33718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 C</a:t>
            </a:r>
            <a:endParaRPr lang="zh-CN" sz="1950" dirty="0"/>
          </a:p>
        </p:txBody>
      </p:sp>
      <p:sp>
        <p:nvSpPr>
          <p:cNvPr id="33" name="T27/card/region-3/body"/>
          <p:cNvSpPr/>
          <p:nvPr/>
        </p:nvSpPr>
        <p:spPr>
          <a:xfrm>
            <a:off x="8229600" y="5147882"/>
            <a:ext cx="3371850" cy="78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补充机制或边界证据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不要把相关性作为因果结论</a:t>
            </a:r>
            <a:endParaRPr lang="zh-CN" sz="1800" dirty="0"/>
          </a:p>
        </p:txBody>
      </p:sp>
      <p:sp>
        <p:nvSpPr>
          <p:cNvPr id="34" name="T27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8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8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 / 48</a:t>
            </a:r>
            <a:endParaRPr lang="zh-CN" sz="1050" dirty="0"/>
          </a:p>
        </p:txBody>
      </p:sp>
      <p:sp>
        <p:nvSpPr>
          <p:cNvPr id="4" name="T28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主证据与补充面板</a:t>
            </a:r>
            <a:endParaRPr lang="zh-CN" sz="3000" dirty="0"/>
          </a:p>
        </p:txBody>
      </p:sp>
      <p:sp>
        <p:nvSpPr>
          <p:cNvPr id="5" name="T28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8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28/figure:0:paper"/>
          <p:cNvSpPr/>
          <p:nvPr/>
        </p:nvSpPr>
        <p:spPr>
          <a:xfrm>
            <a:off x="1668062" y="1166432"/>
            <a:ext cx="4779177" cy="3516154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8" name="T28/figure:0:image" descr="面板 A；A/B 为条件；合成数据">    </p:cNvPr>
          <p:cNvPicPr>
            <a:picLocks noChangeAspect="1"/>
          </p:cNvPicPr>
          <p:nvPr/>
        </p:nvPicPr>
        <p:blipFill>
          <a:blip r:embed="rId1"/>
          <a:srcRect l="1500" r="49000" t="2500" b="48500"/>
          <a:stretch/>
        </p:blipFill>
        <p:spPr>
          <a:xfrm>
            <a:off x="1696637" y="1195007"/>
            <a:ext cx="4722027" cy="3459004"/>
          </a:xfrm>
          <a:prstGeom prst="rect">
            <a:avLst/>
          </a:prstGeom>
        </p:spPr>
      </p:pic>
      <p:sp>
        <p:nvSpPr>
          <p:cNvPr id="9" name="T28/figure:0:caption"/>
          <p:cNvSpPr/>
          <p:nvPr/>
        </p:nvSpPr>
        <p:spPr>
          <a:xfrm>
            <a:off x="457200" y="4787360"/>
            <a:ext cx="7200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面板 A；A/B 为条件；合成数据</a:t>
            </a:r>
            <a:endParaRPr lang="zh-CN" sz="1350" dirty="0"/>
          </a:p>
        </p:txBody>
      </p:sp>
      <p:sp>
        <p:nvSpPr>
          <p:cNvPr id="10" name="T28/figure:1:paper"/>
          <p:cNvSpPr/>
          <p:nvPr/>
        </p:nvSpPr>
        <p:spPr>
          <a:xfrm>
            <a:off x="8113511" y="1166432"/>
            <a:ext cx="3489729" cy="2586419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1" name="T28/figure:1:image" descr="Ref. 为参考，V1–V3 为变体；合成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086" y="1195007"/>
            <a:ext cx="3432579" cy="2529269"/>
          </a:xfrm>
          <a:prstGeom prst="rect">
            <a:avLst/>
          </a:prstGeom>
        </p:spPr>
      </p:pic>
      <p:sp>
        <p:nvSpPr>
          <p:cNvPr id="12" name="T28/figure:1:caption"/>
          <p:cNvSpPr/>
          <p:nvPr/>
        </p:nvSpPr>
        <p:spPr>
          <a:xfrm>
            <a:off x="7981950" y="3857625"/>
            <a:ext cx="37528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Ref. 为参考，V1–V3 为变体；合成数据</a:t>
            </a:r>
            <a:endParaRPr lang="zh-CN" sz="1350" dirty="0"/>
          </a:p>
        </p:txBody>
      </p:sp>
      <p:sp>
        <p:nvSpPr>
          <p:cNvPr id="13" name="T28/card/region-1/title"/>
          <p:cNvSpPr/>
          <p:nvPr/>
        </p:nvSpPr>
        <p:spPr>
          <a:xfrm>
            <a:off x="457200" y="5202079"/>
            <a:ext cx="72009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主面板结论</a:t>
            </a:r>
            <a:endParaRPr lang="zh-CN" sz="1950" dirty="0"/>
          </a:p>
        </p:txBody>
      </p:sp>
      <p:sp>
        <p:nvSpPr>
          <p:cNvPr id="14" name="T28/card/region-1/body"/>
          <p:cNvSpPr/>
          <p:nvPr/>
        </p:nvSpPr>
        <p:spPr>
          <a:xfrm>
            <a:off x="457200" y="5583079"/>
            <a:ext cx="7200900" cy="51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两个条件的差异随时间展开</a:t>
            </a:r>
            <a:endParaRPr lang="zh-CN" sz="1800" dirty="0"/>
          </a:p>
        </p:txBody>
      </p:sp>
      <p:sp>
        <p:nvSpPr>
          <p:cNvPr id="15" name="T28/card/region-2/frame"/>
          <p:cNvSpPr/>
          <p:nvPr/>
        </p:nvSpPr>
        <p:spPr>
          <a:xfrm>
            <a:off x="7981950" y="4494371"/>
            <a:ext cx="3752850" cy="1578959"/>
          </a:xfrm>
          <a:prstGeom prst="rect">
            <a:avLst/>
          </a:prstGeom>
          <a:solidFill>
            <a:srgbClr val="FFFFFF"/>
          </a:solidFill>
          <a:ln w="14288">
            <a:solidFill>
              <a:srgbClr val="146C63"/>
            </a:solidFill>
            <a:prstDash val="solid"/>
          </a:ln>
        </p:spPr>
      </p:sp>
      <p:sp>
        <p:nvSpPr>
          <p:cNvPr id="16" name="T28/card/region-2/title-cutout"/>
          <p:cNvSpPr/>
          <p:nvPr/>
        </p:nvSpPr>
        <p:spPr>
          <a:xfrm>
            <a:off x="8115300" y="4341971"/>
            <a:ext cx="1743075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28/card/region-2/base-rule"/>
          <p:cNvSpPr/>
          <p:nvPr/>
        </p:nvSpPr>
        <p:spPr>
          <a:xfrm>
            <a:off x="8172450" y="5920931"/>
            <a:ext cx="333375" cy="0"/>
          </a:xfrm>
          <a:prstGeom prst="line">
            <a:avLst/>
          </a:prstGeom>
          <a:noFill/>
          <a:ln w="28575">
            <a:solidFill>
              <a:srgbClr val="146C63"/>
            </a:solidFill>
            <a:prstDash val="solid"/>
          </a:ln>
        </p:spPr>
      </p:sp>
      <p:sp>
        <p:nvSpPr>
          <p:cNvPr id="18" name="T28/card/region-2/title"/>
          <p:cNvSpPr/>
          <p:nvPr/>
        </p:nvSpPr>
        <p:spPr>
          <a:xfrm>
            <a:off x="8172450" y="4351496"/>
            <a:ext cx="33718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补充证据与限定</a:t>
            </a:r>
            <a:endParaRPr lang="zh-CN" sz="1950" dirty="0"/>
          </a:p>
        </p:txBody>
      </p:sp>
      <p:sp>
        <p:nvSpPr>
          <p:cNvPr id="19" name="T28/card/region-2/body"/>
          <p:cNvSpPr/>
          <p:nvPr/>
        </p:nvSpPr>
        <p:spPr>
          <a:xfrm>
            <a:off x="8172450" y="4884896"/>
            <a:ext cx="3371850" cy="997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效应区间补充趋势图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两图都保留坐标与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合成示例不支持研究结论</a:t>
            </a:r>
            <a:endParaRPr lang="zh-CN" sz="1800" dirty="0"/>
          </a:p>
        </p:txBody>
      </p:sp>
      <p:sp>
        <p:nvSpPr>
          <p:cNvPr id="20" name="T28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9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9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 / 48</a:t>
            </a:r>
            <a:endParaRPr lang="zh-CN" sz="1050" dirty="0"/>
          </a:p>
        </p:txBody>
      </p:sp>
      <p:sp>
        <p:nvSpPr>
          <p:cNvPr id="4" name="T29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竖长原图的独立面板</a:t>
            </a:r>
            <a:endParaRPr lang="zh-CN" sz="3000" dirty="0"/>
          </a:p>
        </p:txBody>
      </p:sp>
      <p:sp>
        <p:nvSpPr>
          <p:cNvPr id="5" name="T29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29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29/panel:0:frame"/>
          <p:cNvSpPr/>
          <p:nvPr/>
        </p:nvSpPr>
        <p:spPr>
          <a:xfrm>
            <a:off x="457200" y="1222153"/>
            <a:ext cx="7334250" cy="4851178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29/panel:0:tab"/>
          <p:cNvSpPr/>
          <p:nvPr/>
        </p:nvSpPr>
        <p:spPr>
          <a:xfrm>
            <a:off x="571500" y="1107853"/>
            <a:ext cx="2590800" cy="342900"/>
          </a:xfrm>
          <a:prstGeom prst="rect">
            <a:avLst/>
          </a:prstGeom>
          <a:solidFill>
            <a:srgbClr val="146C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29/panel:0:title"/>
          <p:cNvSpPr/>
          <p:nvPr/>
        </p:nvSpPr>
        <p:spPr>
          <a:xfrm>
            <a:off x="676275" y="1136428"/>
            <a:ext cx="238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面板 A：独立证据</a:t>
            </a:r>
            <a:endParaRPr lang="zh-CN" sz="1950" dirty="0"/>
          </a:p>
        </p:txBody>
      </p:sp>
      <p:sp>
        <p:nvSpPr>
          <p:cNvPr id="10" name="T29/figure:0:paper"/>
          <p:cNvSpPr/>
          <p:nvPr/>
        </p:nvSpPr>
        <p:spPr>
          <a:xfrm>
            <a:off x="609600" y="1628148"/>
            <a:ext cx="7029450" cy="3898407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1" name="T29/figure:0:image" descr="竖图面板 A；其余面板另页；合成数据">    </p:cNvPr>
          <p:cNvPicPr>
            <a:picLocks noChangeAspect="1"/>
          </p:cNvPicPr>
          <p:nvPr/>
        </p:nvPicPr>
        <p:blipFill>
          <a:blip r:embed="rId1"/>
          <a:srcRect l="3500" r="1500" t="800" b="67700"/>
          <a:stretch/>
        </p:blipFill>
        <p:spPr>
          <a:xfrm>
            <a:off x="638175" y="1656723"/>
            <a:ext cx="6972300" cy="3841257"/>
          </a:xfrm>
          <a:prstGeom prst="rect">
            <a:avLst/>
          </a:prstGeom>
        </p:spPr>
      </p:pic>
      <p:sp>
        <p:nvSpPr>
          <p:cNvPr id="12" name="T29/figure:0:caption"/>
          <p:cNvSpPr/>
          <p:nvPr/>
        </p:nvSpPr>
        <p:spPr>
          <a:xfrm>
            <a:off x="590550" y="5657850"/>
            <a:ext cx="70675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竖图面板 A；其余面板另页；合成数据</a:t>
            </a:r>
            <a:endParaRPr lang="zh-CN" sz="1350" dirty="0"/>
          </a:p>
        </p:txBody>
      </p:sp>
      <p:sp>
        <p:nvSpPr>
          <p:cNvPr id="13" name="T29/card/region-1/base-rule"/>
          <p:cNvSpPr/>
          <p:nvPr/>
        </p:nvSpPr>
        <p:spPr>
          <a:xfrm>
            <a:off x="8134350" y="2571750"/>
            <a:ext cx="36004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4" name="T29/card/region-1/side-mark"/>
          <p:cNvSpPr/>
          <p:nvPr/>
        </p:nvSpPr>
        <p:spPr>
          <a:xfrm>
            <a:off x="8134350" y="1186244"/>
            <a:ext cx="47625" cy="295275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29/card/region-1/title"/>
          <p:cNvSpPr/>
          <p:nvPr/>
        </p:nvSpPr>
        <p:spPr>
          <a:xfrm>
            <a:off x="8286750" y="1186244"/>
            <a:ext cx="34480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面板范围</a:t>
            </a:r>
            <a:endParaRPr lang="zh-CN" sz="1950" dirty="0"/>
          </a:p>
        </p:txBody>
      </p:sp>
      <p:sp>
        <p:nvSpPr>
          <p:cNvPr id="16" name="T29/card/region-1/body"/>
          <p:cNvSpPr/>
          <p:nvPr/>
        </p:nvSpPr>
        <p:spPr>
          <a:xfrm>
            <a:off x="8286750" y="1605344"/>
            <a:ext cx="3448050" cy="871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本页只展开面板 A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保留条件、坐标和误差带</a:t>
            </a:r>
            <a:endParaRPr lang="zh-CN" sz="1800" dirty="0"/>
          </a:p>
        </p:txBody>
      </p:sp>
      <p:sp>
        <p:nvSpPr>
          <p:cNvPr id="17" name="T29/card/region-2/frame"/>
          <p:cNvSpPr/>
          <p:nvPr/>
        </p:nvSpPr>
        <p:spPr>
          <a:xfrm>
            <a:off x="8134350" y="2828925"/>
            <a:ext cx="3600450" cy="1404557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8" name="T29/card/region-2/heading-fill"/>
          <p:cNvSpPr/>
          <p:nvPr/>
        </p:nvSpPr>
        <p:spPr>
          <a:xfrm>
            <a:off x="8143875" y="2838450"/>
            <a:ext cx="358140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29/card/region-2/heading-rule"/>
          <p:cNvSpPr/>
          <p:nvPr/>
        </p:nvSpPr>
        <p:spPr>
          <a:xfrm>
            <a:off x="8134350" y="3209925"/>
            <a:ext cx="36004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0" name="T29/card/region-2/title"/>
          <p:cNvSpPr/>
          <p:nvPr/>
        </p:nvSpPr>
        <p:spPr>
          <a:xfrm>
            <a:off x="8258175" y="2876550"/>
            <a:ext cx="33528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关键证据</a:t>
            </a:r>
            <a:endParaRPr lang="zh-CN" sz="1950" dirty="0"/>
          </a:p>
        </p:txBody>
      </p:sp>
      <p:sp>
        <p:nvSpPr>
          <p:cNvPr id="21" name="T29/card/region-2/body"/>
          <p:cNvSpPr/>
          <p:nvPr/>
        </p:nvSpPr>
        <p:spPr>
          <a:xfrm>
            <a:off x="8267700" y="3314700"/>
            <a:ext cx="3333750" cy="823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指出哪个面板支持具体论点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把精确读数与正文或源数据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endParaRPr lang="zh-CN" sz="1800" dirty="0"/>
          </a:p>
        </p:txBody>
      </p:sp>
      <p:sp>
        <p:nvSpPr>
          <p:cNvPr id="22" name="T29/card/region-3/frame"/>
          <p:cNvSpPr/>
          <p:nvPr/>
        </p:nvSpPr>
        <p:spPr>
          <a:xfrm>
            <a:off x="8134350" y="4604957"/>
            <a:ext cx="3600450" cy="146827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3" name="T29/card/region-3/tab"/>
          <p:cNvSpPr/>
          <p:nvPr/>
        </p:nvSpPr>
        <p:spPr>
          <a:xfrm>
            <a:off x="8248650" y="4490657"/>
            <a:ext cx="150495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29/card/region-3/title"/>
          <p:cNvSpPr/>
          <p:nvPr/>
        </p:nvSpPr>
        <p:spPr>
          <a:xfrm>
            <a:off x="8353425" y="4519232"/>
            <a:ext cx="12954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局限与外推</a:t>
            </a:r>
            <a:endParaRPr lang="zh-CN" sz="1950" dirty="0"/>
          </a:p>
        </p:txBody>
      </p:sp>
      <p:sp>
        <p:nvSpPr>
          <p:cNvPr id="25" name="T29/card/region-3/body"/>
          <p:cNvSpPr/>
          <p:nvPr/>
        </p:nvSpPr>
        <p:spPr>
          <a:xfrm>
            <a:off x="8267700" y="4976432"/>
            <a:ext cx="3333750" cy="1001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保留图中未覆盖的条件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放大原图不改变其证据范围</a:t>
            </a:r>
            <a:endParaRPr lang="zh-CN" sz="1800" dirty="0"/>
          </a:p>
        </p:txBody>
      </p:sp>
      <p:sp>
        <p:nvSpPr>
          <p:cNvPr id="26" name="T29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0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0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/ 48</a:t>
            </a:r>
            <a:endParaRPr lang="zh-CN" sz="1050" dirty="0"/>
          </a:p>
        </p:txBody>
      </p:sp>
      <p:sp>
        <p:nvSpPr>
          <p:cNvPr id="4" name="T30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图例变量与结果判读</a:t>
            </a:r>
            <a:endParaRPr lang="zh-CN" sz="3000" dirty="0"/>
          </a:p>
        </p:txBody>
      </p:sp>
      <p:sp>
        <p:nvSpPr>
          <p:cNvPr id="5" name="T30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0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0/panel:0:frame"/>
          <p:cNvSpPr/>
          <p:nvPr/>
        </p:nvSpPr>
        <p:spPr>
          <a:xfrm>
            <a:off x="4629150" y="1167194"/>
            <a:ext cx="7105650" cy="4807172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30/panel:0:heading-fill"/>
          <p:cNvSpPr/>
          <p:nvPr/>
        </p:nvSpPr>
        <p:spPr>
          <a:xfrm>
            <a:off x="4638675" y="1176719"/>
            <a:ext cx="7086600" cy="381000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30/panel:0:heading-rule"/>
          <p:cNvSpPr/>
          <p:nvPr/>
        </p:nvSpPr>
        <p:spPr>
          <a:xfrm>
            <a:off x="4629150" y="1557719"/>
            <a:ext cx="71056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30/panel:0:title"/>
          <p:cNvSpPr/>
          <p:nvPr/>
        </p:nvSpPr>
        <p:spPr>
          <a:xfrm>
            <a:off x="4752975" y="1214819"/>
            <a:ext cx="685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图像与图例</a:t>
            </a:r>
            <a:endParaRPr lang="zh-CN" sz="1950" dirty="0"/>
          </a:p>
        </p:txBody>
      </p:sp>
      <p:sp>
        <p:nvSpPr>
          <p:cNvPr id="11" name="T30/figure:0:paper"/>
          <p:cNvSpPr/>
          <p:nvPr/>
        </p:nvSpPr>
        <p:spPr>
          <a:xfrm>
            <a:off x="5645087" y="1700593"/>
            <a:ext cx="5073777" cy="3753612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2" name="T30/figure:0:image" descr="A/B 为条件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3662" y="1729168"/>
            <a:ext cx="5016627" cy="3696462"/>
          </a:xfrm>
          <a:prstGeom prst="rect">
            <a:avLst/>
          </a:prstGeom>
        </p:spPr>
      </p:pic>
      <p:sp>
        <p:nvSpPr>
          <p:cNvPr id="13" name="T30/figure:0:caption"/>
          <p:cNvSpPr/>
          <p:nvPr/>
        </p:nvSpPr>
        <p:spPr>
          <a:xfrm>
            <a:off x="4762500" y="5558981"/>
            <a:ext cx="6838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为条件；合成数据</a:t>
            </a:r>
            <a:endParaRPr lang="zh-CN" sz="1350" dirty="0"/>
          </a:p>
        </p:txBody>
      </p:sp>
      <p:sp>
        <p:nvSpPr>
          <p:cNvPr id="14" name="T30/card/region-1/frame"/>
          <p:cNvSpPr/>
          <p:nvPr/>
        </p:nvSpPr>
        <p:spPr>
          <a:xfrm>
            <a:off x="457200" y="1206722"/>
            <a:ext cx="3829050" cy="1404557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5" name="T30/card/region-1/heading-fill"/>
          <p:cNvSpPr/>
          <p:nvPr/>
        </p:nvSpPr>
        <p:spPr>
          <a:xfrm>
            <a:off x="466725" y="1216247"/>
            <a:ext cx="381000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30/card/region-1/heading-rule"/>
          <p:cNvSpPr/>
          <p:nvPr/>
        </p:nvSpPr>
        <p:spPr>
          <a:xfrm>
            <a:off x="457200" y="1587722"/>
            <a:ext cx="38290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7" name="T30/card/region-1/title"/>
          <p:cNvSpPr/>
          <p:nvPr/>
        </p:nvSpPr>
        <p:spPr>
          <a:xfrm>
            <a:off x="581025" y="1254347"/>
            <a:ext cx="35814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坐标与变量</a:t>
            </a:r>
            <a:endParaRPr lang="zh-CN" sz="1950" dirty="0"/>
          </a:p>
        </p:txBody>
      </p:sp>
      <p:sp>
        <p:nvSpPr>
          <p:cNvPr id="18" name="T30/card/region-1/body"/>
          <p:cNvSpPr/>
          <p:nvPr/>
        </p:nvSpPr>
        <p:spPr>
          <a:xfrm>
            <a:off x="590550" y="1692497"/>
            <a:ext cx="3562350" cy="823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解释横纵轴、量纲与归一化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注明对数刻度或截断范围</a:t>
            </a:r>
            <a:endParaRPr lang="zh-CN" sz="1800" dirty="0"/>
          </a:p>
        </p:txBody>
      </p:sp>
      <p:sp>
        <p:nvSpPr>
          <p:cNvPr id="19" name="T30/card/region-2/heading-rule"/>
          <p:cNvSpPr/>
          <p:nvPr/>
        </p:nvSpPr>
        <p:spPr>
          <a:xfrm>
            <a:off x="457200" y="3250216"/>
            <a:ext cx="38290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0" name="T30/card/region-2/heading-mark"/>
          <p:cNvSpPr/>
          <p:nvPr/>
        </p:nvSpPr>
        <p:spPr>
          <a:xfrm>
            <a:off x="457200" y="3250216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21" name="T30/card/region-2/title"/>
          <p:cNvSpPr/>
          <p:nvPr/>
        </p:nvSpPr>
        <p:spPr>
          <a:xfrm>
            <a:off x="457200" y="2907316"/>
            <a:ext cx="38290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颜色与处理</a:t>
            </a:r>
            <a:endParaRPr lang="zh-CN" sz="1950" dirty="0"/>
          </a:p>
        </p:txBody>
      </p:sp>
      <p:sp>
        <p:nvSpPr>
          <p:cNvPr id="22" name="T30/card/region-2/body"/>
          <p:cNvSpPr/>
          <p:nvPr/>
        </p:nvSpPr>
        <p:spPr>
          <a:xfrm>
            <a:off x="457200" y="3383566"/>
            <a:ext cx="3829050" cy="89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颜色只编码条件或类别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线型和符号也应能区分</a:t>
            </a:r>
            <a:endParaRPr lang="zh-CN" sz="1800" dirty="0"/>
          </a:p>
        </p:txBody>
      </p:sp>
      <p:sp>
        <p:nvSpPr>
          <p:cNvPr id="23" name="T30/card/region-3/base-rule"/>
          <p:cNvSpPr/>
          <p:nvPr/>
        </p:nvSpPr>
        <p:spPr>
          <a:xfrm>
            <a:off x="457200" y="5994178"/>
            <a:ext cx="38290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24" name="T30/card/region-3/side-mark"/>
          <p:cNvSpPr/>
          <p:nvPr/>
        </p:nvSpPr>
        <p:spPr>
          <a:xfrm>
            <a:off x="457200" y="4588859"/>
            <a:ext cx="47625" cy="29527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30/card/region-3/title"/>
          <p:cNvSpPr/>
          <p:nvPr/>
        </p:nvSpPr>
        <p:spPr>
          <a:xfrm>
            <a:off x="609600" y="4588859"/>
            <a:ext cx="36766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判读规则</a:t>
            </a:r>
            <a:endParaRPr lang="zh-CN" sz="1950" dirty="0"/>
          </a:p>
        </p:txBody>
      </p:sp>
      <p:sp>
        <p:nvSpPr>
          <p:cNvPr id="26" name="T30/card/region-3/body"/>
          <p:cNvSpPr/>
          <p:nvPr/>
        </p:nvSpPr>
        <p:spPr>
          <a:xfrm>
            <a:off x="609600" y="5007959"/>
            <a:ext cx="3676650" cy="89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说明点、带和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误差条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代表什么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依据实验设计解释比较关系</a:t>
            </a:r>
            <a:endParaRPr lang="zh-CN" sz="1800" dirty="0"/>
          </a:p>
        </p:txBody>
      </p:sp>
      <p:sp>
        <p:nvSpPr>
          <p:cNvPr id="27" name="T30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1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1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 / 48</a:t>
            </a:r>
            <a:endParaRPr lang="zh-CN" sz="1050" dirty="0"/>
          </a:p>
        </p:txBody>
      </p:sp>
      <p:sp>
        <p:nvSpPr>
          <p:cNvPr id="4" name="T31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多篇方法的接口对应</a:t>
            </a:r>
            <a:endParaRPr lang="zh-CN" sz="3000" dirty="0"/>
          </a:p>
        </p:txBody>
      </p:sp>
      <p:sp>
        <p:nvSpPr>
          <p:cNvPr id="5" name="T31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1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1/panel:0:frame"/>
          <p:cNvSpPr/>
          <p:nvPr/>
        </p:nvSpPr>
        <p:spPr>
          <a:xfrm>
            <a:off x="457200" y="1187006"/>
            <a:ext cx="11277600" cy="2413445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31/panel:0:heading-fill"/>
          <p:cNvSpPr/>
          <p:nvPr/>
        </p:nvSpPr>
        <p:spPr>
          <a:xfrm>
            <a:off x="466725" y="1196531"/>
            <a:ext cx="11258550" cy="381000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31/panel:0:heading-rule"/>
          <p:cNvSpPr/>
          <p:nvPr/>
        </p:nvSpPr>
        <p:spPr>
          <a:xfrm>
            <a:off x="457200" y="1577531"/>
            <a:ext cx="1127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31/panel:0:title"/>
          <p:cNvSpPr/>
          <p:nvPr/>
        </p:nvSpPr>
        <p:spPr>
          <a:xfrm>
            <a:off x="581025" y="1234631"/>
            <a:ext cx="11029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在同一接口层级比较</a:t>
            </a:r>
            <a:endParaRPr lang="zh-CN" sz="1950" dirty="0"/>
          </a:p>
        </p:txBody>
      </p:sp>
      <p:sp>
        <p:nvSpPr>
          <p:cNvPr id="11" name="T31/edge:0"/>
          <p:cNvSpPr/>
          <p:nvPr/>
        </p:nvSpPr>
        <p:spPr>
          <a:xfrm>
            <a:off x="2762250" y="2561844"/>
            <a:ext cx="7239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2" name="T31/edge:1"/>
          <p:cNvSpPr/>
          <p:nvPr/>
        </p:nvSpPr>
        <p:spPr>
          <a:xfrm>
            <a:off x="5638800" y="2561844"/>
            <a:ext cx="7429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3" name="T31/edge:2"/>
          <p:cNvSpPr/>
          <p:nvPr/>
        </p:nvSpPr>
        <p:spPr>
          <a:xfrm>
            <a:off x="8534400" y="2561844"/>
            <a:ext cx="7429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4" name="T31/node:step-1:frame"/>
          <p:cNvSpPr/>
          <p:nvPr/>
        </p:nvSpPr>
        <p:spPr>
          <a:xfrm>
            <a:off x="609600" y="1859566"/>
            <a:ext cx="2152650" cy="1404557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5" name="T31/node:step-1:heading-rule"/>
          <p:cNvSpPr/>
          <p:nvPr/>
        </p:nvSpPr>
        <p:spPr>
          <a:xfrm>
            <a:off x="609600" y="1859566"/>
            <a:ext cx="215265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16" name="T31/node:step-1:label"/>
          <p:cNvSpPr/>
          <p:nvPr/>
        </p:nvSpPr>
        <p:spPr>
          <a:xfrm>
            <a:off x="723900" y="1954816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共同输入</a:t>
            </a:r>
            <a:endParaRPr lang="zh-CN" sz="1800" dirty="0"/>
          </a:p>
        </p:txBody>
      </p:sp>
      <p:sp>
        <p:nvSpPr>
          <p:cNvPr id="17" name="T31/node:step-1:detail"/>
          <p:cNvSpPr/>
          <p:nvPr/>
        </p:nvSpPr>
        <p:spPr>
          <a:xfrm>
            <a:off x="723900" y="2269141"/>
            <a:ext cx="1924050" cy="909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统一观测与单位</a:t>
            </a:r>
            <a:endParaRPr lang="zh-CN" sz="1650" dirty="0"/>
          </a:p>
        </p:txBody>
      </p:sp>
      <p:sp>
        <p:nvSpPr>
          <p:cNvPr id="18" name="T31/node:step-2:frame"/>
          <p:cNvSpPr/>
          <p:nvPr/>
        </p:nvSpPr>
        <p:spPr>
          <a:xfrm>
            <a:off x="3486150" y="1859566"/>
            <a:ext cx="2152650" cy="1404557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31/node:step-2:heading-rule"/>
          <p:cNvSpPr/>
          <p:nvPr/>
        </p:nvSpPr>
        <p:spPr>
          <a:xfrm>
            <a:off x="3486150" y="1859566"/>
            <a:ext cx="21526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0" name="T31/node:step-2:label"/>
          <p:cNvSpPr/>
          <p:nvPr/>
        </p:nvSpPr>
        <p:spPr>
          <a:xfrm>
            <a:off x="3600450" y="1954816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知识接入</a:t>
            </a:r>
            <a:endParaRPr lang="zh-CN" sz="1800" dirty="0"/>
          </a:p>
        </p:txBody>
      </p:sp>
      <p:sp>
        <p:nvSpPr>
          <p:cNvPr id="21" name="T31/node:step-2:detail"/>
          <p:cNvSpPr/>
          <p:nvPr/>
        </p:nvSpPr>
        <p:spPr>
          <a:xfrm>
            <a:off x="3600450" y="2269141"/>
            <a:ext cx="1924050" cy="909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新增信息的来源</a:t>
            </a:r>
            <a:endParaRPr lang="zh-CN" sz="1650" dirty="0"/>
          </a:p>
        </p:txBody>
      </p:sp>
      <p:sp>
        <p:nvSpPr>
          <p:cNvPr id="22" name="T31/node:step-3:frame"/>
          <p:cNvSpPr/>
          <p:nvPr/>
        </p:nvSpPr>
        <p:spPr>
          <a:xfrm>
            <a:off x="6381750" y="1859566"/>
            <a:ext cx="2152650" cy="1404557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3" name="T31/node:step-3:heading-rule"/>
          <p:cNvSpPr/>
          <p:nvPr/>
        </p:nvSpPr>
        <p:spPr>
          <a:xfrm>
            <a:off x="6381750" y="1859566"/>
            <a:ext cx="21526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4" name="T31/node:step-3:label"/>
          <p:cNvSpPr/>
          <p:nvPr/>
        </p:nvSpPr>
        <p:spPr>
          <a:xfrm>
            <a:off x="6496050" y="1954816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决策接口</a:t>
            </a:r>
            <a:endParaRPr lang="zh-CN" sz="1800" dirty="0"/>
          </a:p>
        </p:txBody>
      </p:sp>
      <p:sp>
        <p:nvSpPr>
          <p:cNvPr id="25" name="T31/node:step-3:detail"/>
          <p:cNvSpPr/>
          <p:nvPr/>
        </p:nvSpPr>
        <p:spPr>
          <a:xfrm>
            <a:off x="6496050" y="2269141"/>
            <a:ext cx="1924050" cy="909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谁选择管理动作</a:t>
            </a:r>
            <a:endParaRPr lang="zh-CN" sz="1650" dirty="0"/>
          </a:p>
        </p:txBody>
      </p:sp>
      <p:sp>
        <p:nvSpPr>
          <p:cNvPr id="26" name="T31/node:step-4:frame"/>
          <p:cNvSpPr/>
          <p:nvPr/>
        </p:nvSpPr>
        <p:spPr>
          <a:xfrm>
            <a:off x="9277350" y="1859566"/>
            <a:ext cx="2305050" cy="1404557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7" name="T31/node:step-4:heading-rule"/>
          <p:cNvSpPr/>
          <p:nvPr/>
        </p:nvSpPr>
        <p:spPr>
          <a:xfrm>
            <a:off x="9277350" y="1859566"/>
            <a:ext cx="23050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8" name="T31/node:step-4:label"/>
          <p:cNvSpPr/>
          <p:nvPr/>
        </p:nvSpPr>
        <p:spPr>
          <a:xfrm>
            <a:off x="9391650" y="1954816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执行与反馈</a:t>
            </a:r>
            <a:endParaRPr lang="zh-CN" sz="1800" dirty="0"/>
          </a:p>
        </p:txBody>
      </p:sp>
      <p:sp>
        <p:nvSpPr>
          <p:cNvPr id="29" name="T31/node:step-4:detail"/>
          <p:cNvSpPr/>
          <p:nvPr/>
        </p:nvSpPr>
        <p:spPr>
          <a:xfrm>
            <a:off x="9391650" y="2269141"/>
            <a:ext cx="2076450" cy="909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如何检验输出</a:t>
            </a:r>
            <a:endParaRPr lang="zh-CN" sz="1650" dirty="0"/>
          </a:p>
        </p:txBody>
      </p:sp>
      <p:sp>
        <p:nvSpPr>
          <p:cNvPr id="30" name="T31/card/region-1/frame"/>
          <p:cNvSpPr/>
          <p:nvPr/>
        </p:nvSpPr>
        <p:spPr>
          <a:xfrm>
            <a:off x="457200" y="4075271"/>
            <a:ext cx="5486400" cy="193871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1" name="T31/card/region-1/heading-fill"/>
          <p:cNvSpPr/>
          <p:nvPr/>
        </p:nvSpPr>
        <p:spPr>
          <a:xfrm>
            <a:off x="466725" y="4084796"/>
            <a:ext cx="54673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31/card/region-1/heading-rule"/>
          <p:cNvSpPr/>
          <p:nvPr/>
        </p:nvSpPr>
        <p:spPr>
          <a:xfrm>
            <a:off x="457200" y="4456271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3" name="T31/card/region-1/title"/>
          <p:cNvSpPr/>
          <p:nvPr/>
        </p:nvSpPr>
        <p:spPr>
          <a:xfrm>
            <a:off x="581025" y="4122896"/>
            <a:ext cx="52387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共同机制</a:t>
            </a:r>
            <a:endParaRPr lang="zh-CN" sz="1950" dirty="0"/>
          </a:p>
        </p:txBody>
      </p:sp>
      <p:sp>
        <p:nvSpPr>
          <p:cNvPr id="34" name="T31/card/region-1/body"/>
          <p:cNvSpPr/>
          <p:nvPr/>
        </p:nvSpPr>
        <p:spPr>
          <a:xfrm>
            <a:off x="590550" y="4561046"/>
            <a:ext cx="5219700" cy="1357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比较共同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、动作和反馈的接口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把机制相同与实现相同分开</a:t>
            </a:r>
            <a:endParaRPr lang="zh-CN" sz="1800" dirty="0"/>
          </a:p>
        </p:txBody>
      </p:sp>
      <p:sp>
        <p:nvSpPr>
          <p:cNvPr id="35" name="T31/card/region-2/frame"/>
          <p:cNvSpPr/>
          <p:nvPr/>
        </p:nvSpPr>
        <p:spPr>
          <a:xfrm>
            <a:off x="6248400" y="4189571"/>
            <a:ext cx="5486400" cy="182441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6" name="T31/card/region-2/tab"/>
          <p:cNvSpPr/>
          <p:nvPr/>
        </p:nvSpPr>
        <p:spPr>
          <a:xfrm>
            <a:off x="6362700" y="4075271"/>
            <a:ext cx="125730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31/card/region-2/title"/>
          <p:cNvSpPr/>
          <p:nvPr/>
        </p:nvSpPr>
        <p:spPr>
          <a:xfrm>
            <a:off x="6467475" y="4103846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关键差异</a:t>
            </a:r>
            <a:endParaRPr lang="zh-CN" sz="1950" dirty="0"/>
          </a:p>
        </p:txBody>
      </p:sp>
      <p:sp>
        <p:nvSpPr>
          <p:cNvPr id="38" name="T31/card/region-2/body"/>
          <p:cNvSpPr/>
          <p:nvPr/>
        </p:nvSpPr>
        <p:spPr>
          <a:xfrm>
            <a:off x="6381750" y="4561046"/>
            <a:ext cx="5219700" cy="1357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额外知识、模型和控制权进入何处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不同环境的数值不直接排序</a:t>
            </a:r>
            <a:endParaRPr lang="zh-CN" sz="1800" dirty="0"/>
          </a:p>
        </p:txBody>
      </p:sp>
      <p:sp>
        <p:nvSpPr>
          <p:cNvPr id="39" name="T31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2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 / 48</a:t>
            </a:r>
            <a:endParaRPr lang="zh-CN" sz="1050" dirty="0"/>
          </a:p>
        </p:txBody>
      </p:sp>
      <p:sp>
        <p:nvSpPr>
          <p:cNvPr id="4" name="T32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证据等级与外推距离</a:t>
            </a:r>
            <a:endParaRPr lang="zh-CN" sz="3000" dirty="0"/>
          </a:p>
        </p:txBody>
      </p:sp>
      <p:sp>
        <p:nvSpPr>
          <p:cNvPr id="5" name="T32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2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2/card/region-1/frame"/>
          <p:cNvSpPr/>
          <p:nvPr/>
        </p:nvSpPr>
        <p:spPr>
          <a:xfrm>
            <a:off x="457200" y="1226534"/>
            <a:ext cx="7620000" cy="114738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32/card/region-1/heading-fill"/>
          <p:cNvSpPr/>
          <p:nvPr/>
        </p:nvSpPr>
        <p:spPr>
          <a:xfrm>
            <a:off x="466725" y="1236059"/>
            <a:ext cx="76009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32/card/region-1/heading-rule"/>
          <p:cNvSpPr/>
          <p:nvPr/>
        </p:nvSpPr>
        <p:spPr>
          <a:xfrm>
            <a:off x="457200" y="1607534"/>
            <a:ext cx="76200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32/card/region-1/title"/>
          <p:cNvSpPr/>
          <p:nvPr/>
        </p:nvSpPr>
        <p:spPr>
          <a:xfrm>
            <a:off x="581025" y="1274159"/>
            <a:ext cx="7372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离线与模拟</a:t>
            </a:r>
            <a:endParaRPr lang="zh-CN" sz="1950" dirty="0"/>
          </a:p>
        </p:txBody>
      </p:sp>
      <p:sp>
        <p:nvSpPr>
          <p:cNvPr id="11" name="T32/card/region-1/body"/>
          <p:cNvSpPr/>
          <p:nvPr/>
        </p:nvSpPr>
        <p:spPr>
          <a:xfrm>
            <a:off x="590550" y="1712309"/>
            <a:ext cx="7353300" cy="566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明确模拟器和状态空间</a:t>
            </a:r>
            <a:endParaRPr lang="zh-CN" sz="1800" dirty="0"/>
          </a:p>
        </p:txBody>
      </p:sp>
      <p:sp>
        <p:nvSpPr>
          <p:cNvPr id="12" name="T32/card/region-2/frame"/>
          <p:cNvSpPr/>
          <p:nvPr/>
        </p:nvSpPr>
        <p:spPr>
          <a:xfrm>
            <a:off x="1028700" y="2472881"/>
            <a:ext cx="7048500" cy="114738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3" name="T32/card/region-2/heading-fill"/>
          <p:cNvSpPr/>
          <p:nvPr/>
        </p:nvSpPr>
        <p:spPr>
          <a:xfrm>
            <a:off x="1038225" y="2482406"/>
            <a:ext cx="70294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32/card/region-2/heading-rule"/>
          <p:cNvSpPr/>
          <p:nvPr/>
        </p:nvSpPr>
        <p:spPr>
          <a:xfrm>
            <a:off x="1028700" y="2853881"/>
            <a:ext cx="70485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5" name="T32/card/region-2/title"/>
          <p:cNvSpPr/>
          <p:nvPr/>
        </p:nvSpPr>
        <p:spPr>
          <a:xfrm>
            <a:off x="1152525" y="2520506"/>
            <a:ext cx="68008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受控实验</a:t>
            </a:r>
            <a:endParaRPr lang="zh-CN" sz="1950" dirty="0"/>
          </a:p>
        </p:txBody>
      </p:sp>
      <p:sp>
        <p:nvSpPr>
          <p:cNvPr id="16" name="T32/card/region-2/body"/>
          <p:cNvSpPr/>
          <p:nvPr/>
        </p:nvSpPr>
        <p:spPr>
          <a:xfrm>
            <a:off x="1162050" y="2958656"/>
            <a:ext cx="6781800" cy="566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说明受控条件与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独立重复</a:t>
            </a:r>
            <a:endParaRPr lang="zh-CN" sz="1800" dirty="0"/>
          </a:p>
        </p:txBody>
      </p:sp>
      <p:sp>
        <p:nvSpPr>
          <p:cNvPr id="17" name="T32/card/region-3/frame"/>
          <p:cNvSpPr/>
          <p:nvPr/>
        </p:nvSpPr>
        <p:spPr>
          <a:xfrm>
            <a:off x="1600200" y="3719132"/>
            <a:ext cx="6477000" cy="114738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8" name="T32/card/region-3/heading-fill"/>
          <p:cNvSpPr/>
          <p:nvPr/>
        </p:nvSpPr>
        <p:spPr>
          <a:xfrm>
            <a:off x="1609725" y="3728656"/>
            <a:ext cx="64579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32/card/region-3/heading-rule"/>
          <p:cNvSpPr/>
          <p:nvPr/>
        </p:nvSpPr>
        <p:spPr>
          <a:xfrm>
            <a:off x="1600200" y="4100131"/>
            <a:ext cx="64770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0" name="T32/card/region-3/title"/>
          <p:cNvSpPr/>
          <p:nvPr/>
        </p:nvSpPr>
        <p:spPr>
          <a:xfrm>
            <a:off x="1724025" y="3766757"/>
            <a:ext cx="6229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独立环境验证</a:t>
            </a:r>
            <a:endParaRPr lang="zh-CN" sz="1950" dirty="0"/>
          </a:p>
        </p:txBody>
      </p:sp>
      <p:sp>
        <p:nvSpPr>
          <p:cNvPr id="21" name="T32/card/region-3/body"/>
          <p:cNvSpPr/>
          <p:nvPr/>
        </p:nvSpPr>
        <p:spPr>
          <a:xfrm>
            <a:off x="1733550" y="4204907"/>
            <a:ext cx="6210300" cy="566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报告年份、地点或对象留出</a:t>
            </a:r>
            <a:endParaRPr lang="zh-CN" sz="1800" dirty="0"/>
          </a:p>
        </p:txBody>
      </p:sp>
      <p:sp>
        <p:nvSpPr>
          <p:cNvPr id="22" name="T32/card/region-4/frame"/>
          <p:cNvSpPr/>
          <p:nvPr/>
        </p:nvSpPr>
        <p:spPr>
          <a:xfrm>
            <a:off x="2171700" y="4965478"/>
            <a:ext cx="5905500" cy="114738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3" name="T32/card/region-4/heading-fill"/>
          <p:cNvSpPr/>
          <p:nvPr/>
        </p:nvSpPr>
        <p:spPr>
          <a:xfrm>
            <a:off x="2181225" y="4975003"/>
            <a:ext cx="58864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32/card/region-4/heading-rule"/>
          <p:cNvSpPr/>
          <p:nvPr/>
        </p:nvSpPr>
        <p:spPr>
          <a:xfrm>
            <a:off x="2171700" y="5346478"/>
            <a:ext cx="59055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5" name="T32/card/region-4/title"/>
          <p:cNvSpPr/>
          <p:nvPr/>
        </p:nvSpPr>
        <p:spPr>
          <a:xfrm>
            <a:off x="2295525" y="5013103"/>
            <a:ext cx="56578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真实部署</a:t>
            </a:r>
            <a:endParaRPr lang="zh-CN" sz="1950" dirty="0"/>
          </a:p>
        </p:txBody>
      </p:sp>
      <p:sp>
        <p:nvSpPr>
          <p:cNvPr id="26" name="T32/card/region-4/body"/>
          <p:cNvSpPr/>
          <p:nvPr/>
        </p:nvSpPr>
        <p:spPr>
          <a:xfrm>
            <a:off x="2305050" y="5451253"/>
            <a:ext cx="5638800" cy="566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交代部署时间与干预后果</a:t>
            </a:r>
            <a:endParaRPr lang="zh-CN" sz="1800" dirty="0"/>
          </a:p>
        </p:txBody>
      </p:sp>
      <p:sp>
        <p:nvSpPr>
          <p:cNvPr id="27" name="T32/card/region-5/base-rule"/>
          <p:cNvSpPr/>
          <p:nvPr/>
        </p:nvSpPr>
        <p:spPr>
          <a:xfrm>
            <a:off x="8515350" y="3363087"/>
            <a:ext cx="32194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28" name="T32/card/region-5/side-mark"/>
          <p:cNvSpPr/>
          <p:nvPr/>
        </p:nvSpPr>
        <p:spPr>
          <a:xfrm>
            <a:off x="8515350" y="1245584"/>
            <a:ext cx="47625" cy="295275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32/card/region-5/title"/>
          <p:cNvSpPr/>
          <p:nvPr/>
        </p:nvSpPr>
        <p:spPr>
          <a:xfrm>
            <a:off x="8667750" y="1245584"/>
            <a:ext cx="30670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共同评价对象</a:t>
            </a:r>
            <a:endParaRPr lang="zh-CN" sz="1950" dirty="0"/>
          </a:p>
        </p:txBody>
      </p:sp>
      <p:sp>
        <p:nvSpPr>
          <p:cNvPr id="30" name="T32/card/region-5/body"/>
          <p:cNvSpPr/>
          <p:nvPr/>
        </p:nvSpPr>
        <p:spPr>
          <a:xfrm>
            <a:off x="8667750" y="1664684"/>
            <a:ext cx="3067050" cy="1603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先确定评价对象是否一致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任务完成、预测性能和农艺收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益分别比较</a:t>
            </a:r>
            <a:endParaRPr lang="zh-CN" sz="1800" dirty="0"/>
          </a:p>
        </p:txBody>
      </p:sp>
      <p:sp>
        <p:nvSpPr>
          <p:cNvPr id="31" name="T32/card/region-6/frame"/>
          <p:cNvSpPr/>
          <p:nvPr/>
        </p:nvSpPr>
        <p:spPr>
          <a:xfrm>
            <a:off x="8515350" y="3754279"/>
            <a:ext cx="3219450" cy="2239804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2" name="T32/card/region-6/tab"/>
          <p:cNvSpPr/>
          <p:nvPr/>
        </p:nvSpPr>
        <p:spPr>
          <a:xfrm>
            <a:off x="8629650" y="3639979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32/card/region-6/title"/>
          <p:cNvSpPr/>
          <p:nvPr/>
        </p:nvSpPr>
        <p:spPr>
          <a:xfrm>
            <a:off x="8734425" y="3668554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外推边界</a:t>
            </a:r>
            <a:endParaRPr lang="zh-CN" sz="1950" dirty="0"/>
          </a:p>
        </p:txBody>
      </p:sp>
      <p:sp>
        <p:nvSpPr>
          <p:cNvPr id="34" name="T32/card/region-6/body"/>
          <p:cNvSpPr/>
          <p:nvPr/>
        </p:nvSpPr>
        <p:spPr>
          <a:xfrm>
            <a:off x="8648700" y="4125754"/>
            <a:ext cx="2952750" cy="1773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不同证据层级支持不同结论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指出升级验证还需要什么</a:t>
            </a:r>
            <a:endParaRPr lang="zh-CN" sz="1800" dirty="0"/>
          </a:p>
        </p:txBody>
      </p:sp>
      <p:sp>
        <p:nvSpPr>
          <p:cNvPr id="35" name="T3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3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 / 48</a:t>
            </a:r>
            <a:endParaRPr lang="zh-CN" sz="1050" dirty="0"/>
          </a:p>
        </p:txBody>
      </p:sp>
      <p:sp>
        <p:nvSpPr>
          <p:cNvPr id="4" name="T33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同维度方法比较</a:t>
            </a:r>
            <a:endParaRPr lang="zh-CN" sz="3000" dirty="0"/>
          </a:p>
        </p:txBody>
      </p:sp>
      <p:sp>
        <p:nvSpPr>
          <p:cNvPr id="5" name="T33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3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3/takeaway"/>
          <p:cNvSpPr/>
          <p:nvPr/>
        </p:nvSpPr>
        <p:spPr>
          <a:xfrm>
            <a:off x="457200" y="5776532"/>
            <a:ext cx="8153400" cy="27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统计口径、样本单位和适用条件需与原文一致</a:t>
            </a:r>
            <a:endParaRPr lang="zh-CN" sz="1800" dirty="0"/>
          </a:p>
        </p:txBody>
      </p:sp>
      <p:graphicFrame>
        <p:nvGraphicFramePr>
          <p:cNvPr id="34" name="T33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26534"/>
          <a:ext cx="8153400" cy="3072194"/>
        </p:xfrm>
        <a:graphic>
          <a:graphicData uri="http://schemas.openxmlformats.org/drawingml/2006/table">
            <a:tbl>
              <a:tblPr/>
              <a:tblGrid>
                <a:gridCol w="2038350"/>
                <a:gridCol w="2038350"/>
                <a:gridCol w="2038350"/>
                <a:gridCol w="203835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研究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输入与知识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决策接口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验证范围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66789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论文 A（替换）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填写实际输入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策略更新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仿真或实体（填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写）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89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论文 B（替换）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填写新增信息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奖励或约束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独立留出（填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写）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89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论文 C（替换）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填写工具边界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计划与工具调用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任务评价（填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写）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89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共同问题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输入是否公平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机制能否区分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结论能外推到哪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里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33/table-caption"/>
          <p:cNvSpPr/>
          <p:nvPr/>
        </p:nvSpPr>
        <p:spPr>
          <a:xfrm>
            <a:off x="457200" y="4365403"/>
            <a:ext cx="8153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10" name="T33/card/region-1/base-rule"/>
          <p:cNvSpPr/>
          <p:nvPr/>
        </p:nvSpPr>
        <p:spPr>
          <a:xfrm>
            <a:off x="8934450" y="3442240"/>
            <a:ext cx="28003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1" name="T33/card/region-1/side-mark"/>
          <p:cNvSpPr/>
          <p:nvPr/>
        </p:nvSpPr>
        <p:spPr>
          <a:xfrm>
            <a:off x="8934450" y="1245584"/>
            <a:ext cx="47625" cy="29527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33/card/region-1/title"/>
          <p:cNvSpPr/>
          <p:nvPr/>
        </p:nvSpPr>
        <p:spPr>
          <a:xfrm>
            <a:off x="9086850" y="1245584"/>
            <a:ext cx="2647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比较维度</a:t>
            </a:r>
            <a:endParaRPr lang="zh-CN" sz="1950" dirty="0"/>
          </a:p>
        </p:txBody>
      </p:sp>
      <p:sp>
        <p:nvSpPr>
          <p:cNvPr id="13" name="T33/card/region-1/body"/>
          <p:cNvSpPr/>
          <p:nvPr/>
        </p:nvSpPr>
        <p:spPr>
          <a:xfrm>
            <a:off x="9086850" y="1664684"/>
            <a:ext cx="2647950" cy="168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只比较含义一致的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数值比较须使用相同任务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和评价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endParaRPr lang="zh-CN" sz="1800" dirty="0"/>
          </a:p>
        </p:txBody>
      </p:sp>
      <p:sp>
        <p:nvSpPr>
          <p:cNvPr id="14" name="T33/card/region-2/frame"/>
          <p:cNvSpPr/>
          <p:nvPr/>
        </p:nvSpPr>
        <p:spPr>
          <a:xfrm>
            <a:off x="8934450" y="3813620"/>
            <a:ext cx="2800350" cy="2180463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5" name="T33/card/region-2/tab"/>
          <p:cNvSpPr/>
          <p:nvPr/>
        </p:nvSpPr>
        <p:spPr>
          <a:xfrm>
            <a:off x="9048750" y="3699320"/>
            <a:ext cx="150495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33/card/region-2/title"/>
          <p:cNvSpPr/>
          <p:nvPr/>
        </p:nvSpPr>
        <p:spPr>
          <a:xfrm>
            <a:off x="9153525" y="3727895"/>
            <a:ext cx="12954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不可比条件</a:t>
            </a:r>
            <a:endParaRPr lang="zh-CN" sz="1950" dirty="0"/>
          </a:p>
        </p:txBody>
      </p:sp>
      <p:sp>
        <p:nvSpPr>
          <p:cNvPr id="17" name="T33/card/region-2/body"/>
          <p:cNvSpPr/>
          <p:nvPr/>
        </p:nvSpPr>
        <p:spPr>
          <a:xfrm>
            <a:off x="9067800" y="4185095"/>
            <a:ext cx="2533650" cy="171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列出数据、预算和任务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范围的差异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报告不可比原因及需要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endParaRPr lang="zh-CN" sz="1800" dirty="0"/>
          </a:p>
        </p:txBody>
      </p:sp>
      <p:sp>
        <p:nvSpPr>
          <p:cNvPr id="18" name="T3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4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 / 48</a:t>
            </a:r>
            <a:endParaRPr lang="zh-CN" sz="1050" dirty="0"/>
          </a:p>
        </p:txBody>
      </p:sp>
      <p:sp>
        <p:nvSpPr>
          <p:cNvPr id="4" name="T34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研究进展与方法演化</a:t>
            </a:r>
            <a:endParaRPr lang="zh-CN" sz="3000" dirty="0"/>
          </a:p>
        </p:txBody>
      </p:sp>
      <p:sp>
        <p:nvSpPr>
          <p:cNvPr id="5" name="T34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4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4/edge:0"/>
          <p:cNvSpPr/>
          <p:nvPr/>
        </p:nvSpPr>
        <p:spPr>
          <a:xfrm>
            <a:off x="2762250" y="1958435"/>
            <a:ext cx="6858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8" name="T34/edge:1"/>
          <p:cNvSpPr/>
          <p:nvPr/>
        </p:nvSpPr>
        <p:spPr>
          <a:xfrm>
            <a:off x="5753100" y="1958435"/>
            <a:ext cx="6858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9" name="T34/edge:2"/>
          <p:cNvSpPr/>
          <p:nvPr/>
        </p:nvSpPr>
        <p:spPr>
          <a:xfrm>
            <a:off x="8743950" y="1958435"/>
            <a:ext cx="6858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34/node:step-1:frame"/>
          <p:cNvSpPr/>
          <p:nvPr/>
        </p:nvSpPr>
        <p:spPr>
          <a:xfrm>
            <a:off x="457200" y="1325404"/>
            <a:ext cx="230505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1" name="T34/node:step-1:heading-rule"/>
          <p:cNvSpPr/>
          <p:nvPr/>
        </p:nvSpPr>
        <p:spPr>
          <a:xfrm>
            <a:off x="457200" y="1325404"/>
            <a:ext cx="23050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2" name="T34/node:step-1:label"/>
          <p:cNvSpPr/>
          <p:nvPr/>
        </p:nvSpPr>
        <p:spPr>
          <a:xfrm>
            <a:off x="571500" y="1420654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阶段一</a:t>
            </a:r>
            <a:endParaRPr lang="zh-CN" sz="1800" dirty="0"/>
          </a:p>
        </p:txBody>
      </p:sp>
      <p:sp>
        <p:nvSpPr>
          <p:cNvPr id="13" name="T34/node:step-1:detail"/>
          <p:cNvSpPr/>
          <p:nvPr/>
        </p:nvSpPr>
        <p:spPr>
          <a:xfrm>
            <a:off x="571500" y="1734979"/>
            <a:ext cx="207645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定义输入与任务</a:t>
            </a:r>
            <a:endParaRPr lang="zh-CN" sz="1650" dirty="0"/>
          </a:p>
        </p:txBody>
      </p:sp>
      <p:sp>
        <p:nvSpPr>
          <p:cNvPr id="14" name="T34/node:step-2:frame"/>
          <p:cNvSpPr/>
          <p:nvPr/>
        </p:nvSpPr>
        <p:spPr>
          <a:xfrm>
            <a:off x="3448050" y="1325404"/>
            <a:ext cx="230505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5" name="T34/node:step-2:heading-rule"/>
          <p:cNvSpPr/>
          <p:nvPr/>
        </p:nvSpPr>
        <p:spPr>
          <a:xfrm>
            <a:off x="3448050" y="1325404"/>
            <a:ext cx="23050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6" name="T34/node:step-2:label"/>
          <p:cNvSpPr/>
          <p:nvPr/>
        </p:nvSpPr>
        <p:spPr>
          <a:xfrm>
            <a:off x="3562350" y="1420654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阶段二</a:t>
            </a:r>
            <a:endParaRPr lang="zh-CN" sz="1800" dirty="0"/>
          </a:p>
        </p:txBody>
      </p:sp>
      <p:sp>
        <p:nvSpPr>
          <p:cNvPr id="17" name="T34/node:step-2:detail"/>
          <p:cNvSpPr/>
          <p:nvPr/>
        </p:nvSpPr>
        <p:spPr>
          <a:xfrm>
            <a:off x="3562350" y="1734979"/>
            <a:ext cx="207645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定位新模块</a:t>
            </a:r>
            <a:endParaRPr lang="zh-CN" sz="1650" dirty="0"/>
          </a:p>
        </p:txBody>
      </p:sp>
      <p:sp>
        <p:nvSpPr>
          <p:cNvPr id="18" name="T34/node:step-3:frame"/>
          <p:cNvSpPr/>
          <p:nvPr/>
        </p:nvSpPr>
        <p:spPr>
          <a:xfrm>
            <a:off x="6438900" y="1325404"/>
            <a:ext cx="230505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34/node:step-3:heading-rule"/>
          <p:cNvSpPr/>
          <p:nvPr/>
        </p:nvSpPr>
        <p:spPr>
          <a:xfrm>
            <a:off x="6438900" y="1325404"/>
            <a:ext cx="23050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0" name="T34/node:step-3:label"/>
          <p:cNvSpPr/>
          <p:nvPr/>
        </p:nvSpPr>
        <p:spPr>
          <a:xfrm>
            <a:off x="6553200" y="1420654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阶段三</a:t>
            </a:r>
            <a:endParaRPr lang="zh-CN" sz="1800" dirty="0"/>
          </a:p>
        </p:txBody>
      </p:sp>
      <p:sp>
        <p:nvSpPr>
          <p:cNvPr id="21" name="T34/node:step-3:detail"/>
          <p:cNvSpPr/>
          <p:nvPr/>
        </p:nvSpPr>
        <p:spPr>
          <a:xfrm>
            <a:off x="6553200" y="1734979"/>
            <a:ext cx="207645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检查验证范围</a:t>
            </a:r>
            <a:endParaRPr lang="zh-CN" sz="1650" dirty="0"/>
          </a:p>
        </p:txBody>
      </p:sp>
      <p:sp>
        <p:nvSpPr>
          <p:cNvPr id="22" name="T34/node:step-4:frame"/>
          <p:cNvSpPr/>
          <p:nvPr/>
        </p:nvSpPr>
        <p:spPr>
          <a:xfrm>
            <a:off x="9429750" y="1325404"/>
            <a:ext cx="230505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3" name="T34/node:step-4:heading-rule"/>
          <p:cNvSpPr/>
          <p:nvPr/>
        </p:nvSpPr>
        <p:spPr>
          <a:xfrm>
            <a:off x="9429750" y="1325404"/>
            <a:ext cx="23050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4" name="T34/node:step-4:label"/>
          <p:cNvSpPr/>
          <p:nvPr/>
        </p:nvSpPr>
        <p:spPr>
          <a:xfrm>
            <a:off x="9544050" y="1420654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当前研究</a:t>
            </a:r>
            <a:endParaRPr lang="zh-CN" sz="1800" dirty="0"/>
          </a:p>
        </p:txBody>
      </p:sp>
      <p:sp>
        <p:nvSpPr>
          <p:cNvPr id="25" name="T34/node:step-4:detail"/>
          <p:cNvSpPr/>
          <p:nvPr/>
        </p:nvSpPr>
        <p:spPr>
          <a:xfrm>
            <a:off x="9544050" y="1734979"/>
            <a:ext cx="207645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明确仍缺的证据</a:t>
            </a:r>
            <a:endParaRPr lang="zh-CN" sz="1650" dirty="0"/>
          </a:p>
        </p:txBody>
      </p:sp>
      <p:sp>
        <p:nvSpPr>
          <p:cNvPr id="26" name="T34/card/region-1/base-rule"/>
          <p:cNvSpPr/>
          <p:nvPr/>
        </p:nvSpPr>
        <p:spPr>
          <a:xfrm>
            <a:off x="457200" y="6013895"/>
            <a:ext cx="35242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27" name="T34/card/region-1/side-mark"/>
          <p:cNvSpPr/>
          <p:nvPr/>
        </p:nvSpPr>
        <p:spPr>
          <a:xfrm>
            <a:off x="457200" y="3619500"/>
            <a:ext cx="47625" cy="29527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34/card/region-1/title"/>
          <p:cNvSpPr/>
          <p:nvPr/>
        </p:nvSpPr>
        <p:spPr>
          <a:xfrm>
            <a:off x="609600" y="3619500"/>
            <a:ext cx="33718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方法演化</a:t>
            </a:r>
            <a:endParaRPr lang="zh-CN" sz="1950" dirty="0"/>
          </a:p>
        </p:txBody>
      </p:sp>
      <p:sp>
        <p:nvSpPr>
          <p:cNvPr id="29" name="T34/card/region-1/body"/>
          <p:cNvSpPr/>
          <p:nvPr/>
        </p:nvSpPr>
        <p:spPr>
          <a:xfrm>
            <a:off x="609600" y="4038600"/>
            <a:ext cx="3371850" cy="188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记录新增的知识、工具或控制接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用具体模块变化解释方法进展</a:t>
            </a:r>
            <a:endParaRPr lang="zh-CN" sz="1800" dirty="0"/>
          </a:p>
        </p:txBody>
      </p:sp>
      <p:sp>
        <p:nvSpPr>
          <p:cNvPr id="30" name="T34/card/region-2/heading-rule"/>
          <p:cNvSpPr/>
          <p:nvPr/>
        </p:nvSpPr>
        <p:spPr>
          <a:xfrm>
            <a:off x="4267200" y="3962400"/>
            <a:ext cx="35242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1" name="T34/card/region-2/heading-mark"/>
          <p:cNvSpPr/>
          <p:nvPr/>
        </p:nvSpPr>
        <p:spPr>
          <a:xfrm>
            <a:off x="4267200" y="3962400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32" name="T34/card/region-2/title"/>
          <p:cNvSpPr/>
          <p:nvPr/>
        </p:nvSpPr>
        <p:spPr>
          <a:xfrm>
            <a:off x="4267200" y="3619500"/>
            <a:ext cx="35242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评价演化</a:t>
            </a:r>
            <a:endParaRPr lang="zh-CN" sz="1950" dirty="0"/>
          </a:p>
        </p:txBody>
      </p:sp>
      <p:sp>
        <p:nvSpPr>
          <p:cNvPr id="33" name="T34/card/region-2/body"/>
          <p:cNvSpPr/>
          <p:nvPr/>
        </p:nvSpPr>
        <p:spPr>
          <a:xfrm>
            <a:off x="4267200" y="4095750"/>
            <a:ext cx="3524250" cy="188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区分离线指标、任务评价与现场收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每个阶段注明实际验证范围</a:t>
            </a:r>
            <a:endParaRPr lang="zh-CN" sz="1800" dirty="0"/>
          </a:p>
        </p:txBody>
      </p:sp>
      <p:sp>
        <p:nvSpPr>
          <p:cNvPr id="34" name="T34/card/region-3/frame"/>
          <p:cNvSpPr/>
          <p:nvPr/>
        </p:nvSpPr>
        <p:spPr>
          <a:xfrm>
            <a:off x="8077200" y="3714750"/>
            <a:ext cx="3657600" cy="2299145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5" name="T34/card/region-3/tab"/>
          <p:cNvSpPr/>
          <p:nvPr/>
        </p:nvSpPr>
        <p:spPr>
          <a:xfrm>
            <a:off x="8191500" y="3600450"/>
            <a:ext cx="200025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34/card/region-3/title"/>
          <p:cNvSpPr/>
          <p:nvPr/>
        </p:nvSpPr>
        <p:spPr>
          <a:xfrm>
            <a:off x="8296275" y="3629025"/>
            <a:ext cx="17907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仍然缺少的验证</a:t>
            </a:r>
            <a:endParaRPr lang="zh-CN" sz="1950" dirty="0"/>
          </a:p>
        </p:txBody>
      </p:sp>
      <p:sp>
        <p:nvSpPr>
          <p:cNvPr id="37" name="T34/card/region-3/body"/>
          <p:cNvSpPr/>
          <p:nvPr/>
        </p:nvSpPr>
        <p:spPr>
          <a:xfrm>
            <a:off x="8210550" y="4086225"/>
            <a:ext cx="3390900" cy="183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指出现有证据尚未覆盖的条件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提出升级验证需要的数据与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endParaRPr lang="zh-CN" sz="1800" dirty="0"/>
          </a:p>
        </p:txBody>
      </p:sp>
      <p:sp>
        <p:nvSpPr>
          <p:cNvPr id="38" name="T3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5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5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 / 48</a:t>
            </a:r>
            <a:endParaRPr lang="zh-CN" sz="1050" dirty="0"/>
          </a:p>
        </p:txBody>
      </p:sp>
      <p:sp>
        <p:nvSpPr>
          <p:cNvPr id="4" name="T35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一致发现与相互冲突</a:t>
            </a:r>
            <a:endParaRPr lang="zh-CN" sz="3000" dirty="0"/>
          </a:p>
        </p:txBody>
      </p:sp>
      <p:sp>
        <p:nvSpPr>
          <p:cNvPr id="5" name="T35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5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5/figure:0:paper"/>
          <p:cNvSpPr/>
          <p:nvPr/>
        </p:nvSpPr>
        <p:spPr>
          <a:xfrm>
            <a:off x="1446011" y="1146620"/>
            <a:ext cx="3489729" cy="2586419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8" name="T35/figure:0:image" descr="A/B 为条件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4586" y="1175195"/>
            <a:ext cx="3432579" cy="2529269"/>
          </a:xfrm>
          <a:prstGeom prst="rect">
            <a:avLst/>
          </a:prstGeom>
        </p:spPr>
      </p:pic>
      <p:sp>
        <p:nvSpPr>
          <p:cNvPr id="9" name="T35/figure:0:caption"/>
          <p:cNvSpPr/>
          <p:nvPr/>
        </p:nvSpPr>
        <p:spPr>
          <a:xfrm>
            <a:off x="457200" y="3837813"/>
            <a:ext cx="54673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为条件；合成数据</a:t>
            </a:r>
            <a:endParaRPr lang="zh-CN" sz="1350" dirty="0"/>
          </a:p>
        </p:txBody>
      </p:sp>
      <p:sp>
        <p:nvSpPr>
          <p:cNvPr id="10" name="T35/figure:1:paper"/>
          <p:cNvSpPr/>
          <p:nvPr/>
        </p:nvSpPr>
        <p:spPr>
          <a:xfrm>
            <a:off x="7246736" y="1146620"/>
            <a:ext cx="3489729" cy="2586419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1" name="T35/figure:1:image" descr="Ref. 为参考，V1–V3 为变体；合成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311" y="1175195"/>
            <a:ext cx="3432579" cy="2529269"/>
          </a:xfrm>
          <a:prstGeom prst="rect">
            <a:avLst/>
          </a:prstGeom>
        </p:spPr>
      </p:pic>
      <p:sp>
        <p:nvSpPr>
          <p:cNvPr id="12" name="T35/figure:1:caption"/>
          <p:cNvSpPr/>
          <p:nvPr/>
        </p:nvSpPr>
        <p:spPr>
          <a:xfrm>
            <a:off x="6248400" y="3837813"/>
            <a:ext cx="5486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Ref. 为参考，V1–V3 为变体；合成数据</a:t>
            </a:r>
            <a:endParaRPr lang="zh-CN" sz="1350" dirty="0"/>
          </a:p>
        </p:txBody>
      </p:sp>
      <p:sp>
        <p:nvSpPr>
          <p:cNvPr id="13" name="T35/card/region-1/frame"/>
          <p:cNvSpPr/>
          <p:nvPr/>
        </p:nvSpPr>
        <p:spPr>
          <a:xfrm>
            <a:off x="457200" y="4312634"/>
            <a:ext cx="3524250" cy="170135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4" name="T35/card/region-1/heading-fill"/>
          <p:cNvSpPr/>
          <p:nvPr/>
        </p:nvSpPr>
        <p:spPr>
          <a:xfrm>
            <a:off x="466725" y="4322159"/>
            <a:ext cx="350520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35/card/region-1/heading-rule"/>
          <p:cNvSpPr/>
          <p:nvPr/>
        </p:nvSpPr>
        <p:spPr>
          <a:xfrm>
            <a:off x="457200" y="4693634"/>
            <a:ext cx="35242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6" name="T35/card/region-1/title"/>
          <p:cNvSpPr/>
          <p:nvPr/>
        </p:nvSpPr>
        <p:spPr>
          <a:xfrm>
            <a:off x="581025" y="4360259"/>
            <a:ext cx="32766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一致发现</a:t>
            </a:r>
            <a:endParaRPr lang="zh-CN" sz="1950" dirty="0"/>
          </a:p>
        </p:txBody>
      </p:sp>
      <p:sp>
        <p:nvSpPr>
          <p:cNvPr id="17" name="T35/card/region-1/body"/>
          <p:cNvSpPr/>
          <p:nvPr/>
        </p:nvSpPr>
        <p:spPr>
          <a:xfrm>
            <a:off x="590550" y="4798409"/>
            <a:ext cx="3257550" cy="1120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汇总可被不同证据重复支持的关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保留各论文共享的实验条件</a:t>
            </a:r>
            <a:endParaRPr lang="zh-CN" sz="1800" dirty="0"/>
          </a:p>
        </p:txBody>
      </p:sp>
      <p:sp>
        <p:nvSpPr>
          <p:cNvPr id="18" name="T35/card/region-2/frame"/>
          <p:cNvSpPr/>
          <p:nvPr/>
        </p:nvSpPr>
        <p:spPr>
          <a:xfrm>
            <a:off x="4267200" y="4426934"/>
            <a:ext cx="3524250" cy="158705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9" name="T35/card/region-2/tab"/>
          <p:cNvSpPr/>
          <p:nvPr/>
        </p:nvSpPr>
        <p:spPr>
          <a:xfrm>
            <a:off x="4381500" y="4312634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35/card/region-2/title"/>
          <p:cNvSpPr/>
          <p:nvPr/>
        </p:nvSpPr>
        <p:spPr>
          <a:xfrm>
            <a:off x="4486275" y="4341209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冲突来源</a:t>
            </a:r>
            <a:endParaRPr lang="zh-CN" sz="1950" dirty="0"/>
          </a:p>
        </p:txBody>
      </p:sp>
      <p:sp>
        <p:nvSpPr>
          <p:cNvPr id="21" name="T35/card/region-2/body"/>
          <p:cNvSpPr/>
          <p:nvPr/>
        </p:nvSpPr>
        <p:spPr>
          <a:xfrm>
            <a:off x="4400550" y="4798409"/>
            <a:ext cx="3257550" cy="1120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先检查任务、样本和测量尺度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再分析机制解释是否相互排斥</a:t>
            </a:r>
            <a:endParaRPr lang="zh-CN" sz="1800" dirty="0"/>
          </a:p>
        </p:txBody>
      </p:sp>
      <p:sp>
        <p:nvSpPr>
          <p:cNvPr id="22" name="T35/card/region-3/frame"/>
          <p:cNvSpPr/>
          <p:nvPr/>
        </p:nvSpPr>
        <p:spPr>
          <a:xfrm>
            <a:off x="8077200" y="4312634"/>
            <a:ext cx="3657600" cy="1701356"/>
          </a:xfrm>
          <a:prstGeom prst="rect">
            <a:avLst/>
          </a:prstGeom>
          <a:solidFill>
            <a:srgbClr val="EAF2FA"/>
          </a:solidFill>
          <a:ln w="12383">
            <a:solidFill>
              <a:srgbClr val="235E96"/>
            </a:solidFill>
            <a:prstDash val="dash"/>
          </a:ln>
        </p:spPr>
      </p:sp>
      <p:sp>
        <p:nvSpPr>
          <p:cNvPr id="23" name="T35/card/region-3/corner-white"/>
          <p:cNvSpPr/>
          <p:nvPr/>
        </p:nvSpPr>
        <p:spPr>
          <a:xfrm>
            <a:off x="11468100" y="4312634"/>
            <a:ext cx="2667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35/card/region-3/fold-diagonal"/>
          <p:cNvSpPr/>
          <p:nvPr/>
        </p:nvSpPr>
        <p:spPr>
          <a:xfrm>
            <a:off x="11468100" y="4312634"/>
            <a:ext cx="266700" cy="266700"/>
          </a:xfrm>
          <a:prstGeom prst="line">
            <a:avLst/>
          </a:prstGeom>
          <a:noFill/>
          <a:ln w="13335">
            <a:solidFill>
              <a:srgbClr val="235E96"/>
            </a:solidFill>
            <a:prstDash val="solid"/>
          </a:ln>
        </p:spPr>
      </p:sp>
      <p:sp>
        <p:nvSpPr>
          <p:cNvPr id="25" name="T35/card/region-3/fold-left"/>
          <p:cNvSpPr/>
          <p:nvPr/>
        </p:nvSpPr>
        <p:spPr>
          <a:xfrm>
            <a:off x="11468100" y="4312634"/>
            <a:ext cx="0" cy="266700"/>
          </a:xfrm>
          <a:prstGeom prst="line">
            <a:avLst/>
          </a:prstGeom>
          <a:noFill/>
          <a:ln w="13335">
            <a:solidFill>
              <a:srgbClr val="235E96"/>
            </a:solidFill>
            <a:prstDash val="solid"/>
          </a:ln>
        </p:spPr>
      </p:sp>
      <p:sp>
        <p:nvSpPr>
          <p:cNvPr id="26" name="T35/card/region-3/fold-bottom"/>
          <p:cNvSpPr/>
          <p:nvPr/>
        </p:nvSpPr>
        <p:spPr>
          <a:xfrm>
            <a:off x="11468100" y="4579334"/>
            <a:ext cx="266700" cy="0"/>
          </a:xfrm>
          <a:prstGeom prst="line">
            <a:avLst/>
          </a:prstGeom>
          <a:noFill/>
          <a:ln w="13335">
            <a:solidFill>
              <a:srgbClr val="235E96"/>
            </a:solidFill>
            <a:prstDash val="solid"/>
          </a:ln>
        </p:spPr>
      </p:sp>
      <p:sp>
        <p:nvSpPr>
          <p:cNvPr id="27" name="T35/card/region-3/title"/>
          <p:cNvSpPr/>
          <p:nvPr/>
        </p:nvSpPr>
        <p:spPr>
          <a:xfrm>
            <a:off x="8267700" y="4474559"/>
            <a:ext cx="30861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可区分的解释</a:t>
            </a:r>
            <a:endParaRPr lang="zh-CN" sz="1950" dirty="0"/>
          </a:p>
        </p:txBody>
      </p:sp>
      <p:sp>
        <p:nvSpPr>
          <p:cNvPr id="28" name="T35/card/region-3/body"/>
          <p:cNvSpPr/>
          <p:nvPr/>
        </p:nvSpPr>
        <p:spPr>
          <a:xfrm>
            <a:off x="8267700" y="4931759"/>
            <a:ext cx="3276600" cy="891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列出能够解释分歧的具体条件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设计只改变该条件的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公平比较</a:t>
            </a:r>
            <a:endParaRPr lang="zh-CN" sz="1800" dirty="0"/>
          </a:p>
        </p:txBody>
      </p:sp>
      <p:sp>
        <p:nvSpPr>
          <p:cNvPr id="29" name="T3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6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6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 / 48</a:t>
            </a:r>
            <a:endParaRPr lang="zh-CN" sz="1050" dirty="0"/>
          </a:p>
        </p:txBody>
      </p:sp>
      <p:sp>
        <p:nvSpPr>
          <p:cNvPr id="4" name="T36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证据缺口与研究问题</a:t>
            </a:r>
            <a:endParaRPr lang="zh-CN" sz="3000" dirty="0"/>
          </a:p>
        </p:txBody>
      </p:sp>
      <p:sp>
        <p:nvSpPr>
          <p:cNvPr id="5" name="T36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6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6/card/region-1/frame"/>
          <p:cNvSpPr/>
          <p:nvPr/>
        </p:nvSpPr>
        <p:spPr>
          <a:xfrm>
            <a:off x="457200" y="1226534"/>
            <a:ext cx="5124450" cy="1740884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36/card/region-1/heading-fill"/>
          <p:cNvSpPr/>
          <p:nvPr/>
        </p:nvSpPr>
        <p:spPr>
          <a:xfrm>
            <a:off x="466725" y="1236059"/>
            <a:ext cx="510540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36/card/region-1/heading-rule"/>
          <p:cNvSpPr/>
          <p:nvPr/>
        </p:nvSpPr>
        <p:spPr>
          <a:xfrm>
            <a:off x="457200" y="1607534"/>
            <a:ext cx="51244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36/card/region-1/title"/>
          <p:cNvSpPr/>
          <p:nvPr/>
        </p:nvSpPr>
        <p:spPr>
          <a:xfrm>
            <a:off x="581025" y="1274159"/>
            <a:ext cx="48768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已知证据一</a:t>
            </a:r>
            <a:endParaRPr lang="zh-CN" sz="1950" dirty="0"/>
          </a:p>
        </p:txBody>
      </p:sp>
      <p:sp>
        <p:nvSpPr>
          <p:cNvPr id="11" name="T36/card/region-1/body"/>
          <p:cNvSpPr/>
          <p:nvPr/>
        </p:nvSpPr>
        <p:spPr>
          <a:xfrm>
            <a:off x="590550" y="1712309"/>
            <a:ext cx="4857750" cy="1159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汇总现有研究一致支持的发现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保留场景与测量条件</a:t>
            </a:r>
            <a:endParaRPr lang="zh-CN" sz="1800" dirty="0"/>
          </a:p>
        </p:txBody>
      </p:sp>
      <p:sp>
        <p:nvSpPr>
          <p:cNvPr id="12" name="T36/card/region-2/title"/>
          <p:cNvSpPr/>
          <p:nvPr/>
        </p:nvSpPr>
        <p:spPr>
          <a:xfrm>
            <a:off x="5924550" y="1245584"/>
            <a:ext cx="58102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对应研究问题一</a:t>
            </a:r>
            <a:endParaRPr lang="zh-CN" sz="1950" dirty="0"/>
          </a:p>
        </p:txBody>
      </p:sp>
      <p:sp>
        <p:nvSpPr>
          <p:cNvPr id="13" name="T36/card/region-2/body"/>
          <p:cNvSpPr/>
          <p:nvPr/>
        </p:nvSpPr>
        <p:spPr>
          <a:xfrm>
            <a:off x="5924550" y="1693259"/>
            <a:ext cx="5810250" cy="123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新研究需要改变哪个接口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给出具体可测的目标</a:t>
            </a:r>
            <a:endParaRPr lang="zh-CN" sz="1800" dirty="0"/>
          </a:p>
        </p:txBody>
      </p:sp>
      <p:sp>
        <p:nvSpPr>
          <p:cNvPr id="14" name="T36/card/region-3/frame"/>
          <p:cNvSpPr/>
          <p:nvPr/>
        </p:nvSpPr>
        <p:spPr>
          <a:xfrm>
            <a:off x="457200" y="3264122"/>
            <a:ext cx="5124450" cy="1740884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5" name="T36/card/region-3/heading-fill"/>
          <p:cNvSpPr/>
          <p:nvPr/>
        </p:nvSpPr>
        <p:spPr>
          <a:xfrm>
            <a:off x="466725" y="3273647"/>
            <a:ext cx="510540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36/card/region-3/heading-rule"/>
          <p:cNvSpPr/>
          <p:nvPr/>
        </p:nvSpPr>
        <p:spPr>
          <a:xfrm>
            <a:off x="457200" y="3645122"/>
            <a:ext cx="51244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7" name="T36/card/region-3/title"/>
          <p:cNvSpPr/>
          <p:nvPr/>
        </p:nvSpPr>
        <p:spPr>
          <a:xfrm>
            <a:off x="581025" y="3311747"/>
            <a:ext cx="48768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已知证据二</a:t>
            </a:r>
            <a:endParaRPr lang="zh-CN" sz="1950" dirty="0"/>
          </a:p>
        </p:txBody>
      </p:sp>
      <p:sp>
        <p:nvSpPr>
          <p:cNvPr id="18" name="T36/card/region-3/body"/>
          <p:cNvSpPr/>
          <p:nvPr/>
        </p:nvSpPr>
        <p:spPr>
          <a:xfrm>
            <a:off x="590550" y="3749897"/>
            <a:ext cx="4857750" cy="1159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记录已有失败与反例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说明信息是否足以解释</a:t>
            </a:r>
            <a:endParaRPr lang="zh-CN" sz="1800" dirty="0"/>
          </a:p>
        </p:txBody>
      </p:sp>
      <p:sp>
        <p:nvSpPr>
          <p:cNvPr id="19" name="T36/card/region-4/title"/>
          <p:cNvSpPr/>
          <p:nvPr/>
        </p:nvSpPr>
        <p:spPr>
          <a:xfrm>
            <a:off x="5924550" y="3283172"/>
            <a:ext cx="58102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对应研究问题二</a:t>
            </a:r>
            <a:endParaRPr lang="zh-CN" sz="1950" dirty="0"/>
          </a:p>
        </p:txBody>
      </p:sp>
      <p:sp>
        <p:nvSpPr>
          <p:cNvPr id="20" name="T36/card/region-4/body"/>
          <p:cNvSpPr/>
          <p:nvPr/>
        </p:nvSpPr>
        <p:spPr>
          <a:xfrm>
            <a:off x="5924550" y="3730847"/>
            <a:ext cx="5810250" cy="123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设计能区分替代解释的比较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明确数据与预算</a:t>
            </a:r>
            <a:endParaRPr lang="zh-CN" sz="1800" dirty="0"/>
          </a:p>
        </p:txBody>
      </p:sp>
      <p:sp>
        <p:nvSpPr>
          <p:cNvPr id="21" name="T36/card/region-5/title"/>
          <p:cNvSpPr/>
          <p:nvPr/>
        </p:nvSpPr>
        <p:spPr>
          <a:xfrm>
            <a:off x="457200" y="5241703"/>
            <a:ext cx="11277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下一步检验条件</a:t>
            </a:r>
            <a:endParaRPr lang="zh-CN" sz="1950" dirty="0"/>
          </a:p>
        </p:txBody>
      </p:sp>
      <p:sp>
        <p:nvSpPr>
          <p:cNvPr id="22" name="T36/card/region-5/body"/>
          <p:cNvSpPr/>
          <p:nvPr/>
        </p:nvSpPr>
        <p:spPr>
          <a:xfrm>
            <a:off x="457200" y="5622703"/>
            <a:ext cx="1127760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优先检验影响核心结论且能获得证据的问题</a:t>
            </a:r>
            <a:endParaRPr lang="zh-CN" sz="1800" dirty="0"/>
          </a:p>
        </p:txBody>
      </p:sp>
      <p:sp>
        <p:nvSpPr>
          <p:cNvPr id="23" name="T3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7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7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 / 48</a:t>
            </a:r>
            <a:endParaRPr lang="zh-CN" sz="1050" dirty="0"/>
          </a:p>
        </p:txBody>
      </p:sp>
      <p:sp>
        <p:nvSpPr>
          <p:cNvPr id="4" name="T37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失败案例的逐步定位</a:t>
            </a:r>
            <a:endParaRPr lang="zh-CN" sz="3000" dirty="0"/>
          </a:p>
        </p:txBody>
      </p:sp>
      <p:sp>
        <p:nvSpPr>
          <p:cNvPr id="5" name="T37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7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7/panel:0:frame"/>
          <p:cNvSpPr/>
          <p:nvPr/>
        </p:nvSpPr>
        <p:spPr>
          <a:xfrm>
            <a:off x="457200" y="1281494"/>
            <a:ext cx="5943600" cy="447532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37/panel:0:tab"/>
          <p:cNvSpPr/>
          <p:nvPr/>
        </p:nvSpPr>
        <p:spPr>
          <a:xfrm>
            <a:off x="571500" y="1167194"/>
            <a:ext cx="25908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37/panel:0:title"/>
          <p:cNvSpPr/>
          <p:nvPr/>
        </p:nvSpPr>
        <p:spPr>
          <a:xfrm>
            <a:off x="676275" y="1195769"/>
            <a:ext cx="2381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失败输入及输出记录</a:t>
            </a:r>
            <a:endParaRPr lang="zh-CN" sz="1950" dirty="0"/>
          </a:p>
        </p:txBody>
      </p:sp>
      <p:sp>
        <p:nvSpPr>
          <p:cNvPr id="10" name="T37/takeaway"/>
          <p:cNvSpPr/>
          <p:nvPr/>
        </p:nvSpPr>
        <p:spPr>
          <a:xfrm>
            <a:off x="457200" y="5895213"/>
            <a:ext cx="5943600" cy="27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统计口径、样本单位和适用条件需与原文一致</a:t>
            </a:r>
            <a:endParaRPr lang="zh-CN" sz="1800" dirty="0"/>
          </a:p>
        </p:txBody>
      </p:sp>
      <p:sp>
        <p:nvSpPr>
          <p:cNvPr id="11" name="T37/figure:0:paper"/>
          <p:cNvSpPr/>
          <p:nvPr/>
        </p:nvSpPr>
        <p:spPr>
          <a:xfrm>
            <a:off x="1012977" y="1641253"/>
            <a:ext cx="4832046" cy="3575495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2" name="T37/figure:0:image" descr="A/B 为条件；合成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52" y="1669828"/>
            <a:ext cx="4774896" cy="3518345"/>
          </a:xfrm>
          <a:prstGeom prst="rect">
            <a:avLst/>
          </a:prstGeom>
        </p:spPr>
      </p:pic>
      <p:sp>
        <p:nvSpPr>
          <p:cNvPr id="13" name="T37/figure:0:caption"/>
          <p:cNvSpPr/>
          <p:nvPr/>
        </p:nvSpPr>
        <p:spPr>
          <a:xfrm>
            <a:off x="590550" y="5321522"/>
            <a:ext cx="5676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 为条件；合成数据</a:t>
            </a:r>
            <a:endParaRPr lang="zh-CN" sz="1350" dirty="0"/>
          </a:p>
        </p:txBody>
      </p:sp>
      <p:sp>
        <p:nvSpPr>
          <p:cNvPr id="14" name="T37/card/region-1/base-rule"/>
          <p:cNvSpPr/>
          <p:nvPr/>
        </p:nvSpPr>
        <p:spPr>
          <a:xfrm>
            <a:off x="6743700" y="2591467"/>
            <a:ext cx="49911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5" name="T37/card/region-1/side-mark"/>
          <p:cNvSpPr/>
          <p:nvPr/>
        </p:nvSpPr>
        <p:spPr>
          <a:xfrm>
            <a:off x="6743700" y="1225772"/>
            <a:ext cx="47625" cy="295275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37/card/region-1/title"/>
          <p:cNvSpPr/>
          <p:nvPr/>
        </p:nvSpPr>
        <p:spPr>
          <a:xfrm>
            <a:off x="6896100" y="1225772"/>
            <a:ext cx="4838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失败条件</a:t>
            </a:r>
            <a:endParaRPr lang="zh-CN" sz="1950" dirty="0"/>
          </a:p>
        </p:txBody>
      </p:sp>
      <p:sp>
        <p:nvSpPr>
          <p:cNvPr id="17" name="T37/card/region-1/body"/>
          <p:cNvSpPr/>
          <p:nvPr/>
        </p:nvSpPr>
        <p:spPr>
          <a:xfrm>
            <a:off x="6896100" y="1644872"/>
            <a:ext cx="4838700" cy="85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填写可复现的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、环境与触发点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给出出现失败的任务分母</a:t>
            </a:r>
            <a:endParaRPr lang="zh-CN" sz="1800" dirty="0"/>
          </a:p>
        </p:txBody>
      </p:sp>
      <p:sp>
        <p:nvSpPr>
          <p:cNvPr id="18" name="T37/card/region-2/frame"/>
          <p:cNvSpPr/>
          <p:nvPr/>
        </p:nvSpPr>
        <p:spPr>
          <a:xfrm>
            <a:off x="6743700" y="2963037"/>
            <a:ext cx="4991100" cy="131006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9" name="T37/card/region-2/tab"/>
          <p:cNvSpPr/>
          <p:nvPr/>
        </p:nvSpPr>
        <p:spPr>
          <a:xfrm>
            <a:off x="6858000" y="2848737"/>
            <a:ext cx="224790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37/card/region-2/title"/>
          <p:cNvSpPr/>
          <p:nvPr/>
        </p:nvSpPr>
        <p:spPr>
          <a:xfrm>
            <a:off x="6962775" y="2877312"/>
            <a:ext cx="20383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错误发生在哪一步</a:t>
            </a:r>
            <a:endParaRPr lang="zh-CN" sz="1950" dirty="0"/>
          </a:p>
        </p:txBody>
      </p:sp>
      <p:sp>
        <p:nvSpPr>
          <p:cNvPr id="21" name="T37/card/region-2/body"/>
          <p:cNvSpPr/>
          <p:nvPr/>
        </p:nvSpPr>
        <p:spPr>
          <a:xfrm>
            <a:off x="6877050" y="3334512"/>
            <a:ext cx="4724400" cy="843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日志定位第一个错误环节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区分原始错误和后续传播</a:t>
            </a:r>
            <a:endParaRPr lang="zh-CN" sz="1800" dirty="0"/>
          </a:p>
        </p:txBody>
      </p:sp>
      <p:sp>
        <p:nvSpPr>
          <p:cNvPr id="22" name="T37/card/region-3/heading-rule"/>
          <p:cNvSpPr/>
          <p:nvPr/>
        </p:nvSpPr>
        <p:spPr>
          <a:xfrm>
            <a:off x="6743700" y="4892231"/>
            <a:ext cx="49911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3" name="T37/card/region-3/heading-mark"/>
          <p:cNvSpPr/>
          <p:nvPr/>
        </p:nvSpPr>
        <p:spPr>
          <a:xfrm>
            <a:off x="6743700" y="4892231"/>
            <a:ext cx="342900" cy="0"/>
          </a:xfrm>
          <a:prstGeom prst="line">
            <a:avLst/>
          </a:prstGeom>
          <a:noFill/>
          <a:ln w="17145">
            <a:solidFill>
              <a:srgbClr val="146C63"/>
            </a:solidFill>
            <a:prstDash val="solid"/>
          </a:ln>
        </p:spPr>
      </p:sp>
      <p:sp>
        <p:nvSpPr>
          <p:cNvPr id="24" name="T37/card/region-3/title"/>
          <p:cNvSpPr/>
          <p:nvPr/>
        </p:nvSpPr>
        <p:spPr>
          <a:xfrm>
            <a:off x="6743700" y="4549331"/>
            <a:ext cx="49911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对结论的影响</a:t>
            </a:r>
            <a:endParaRPr lang="zh-CN" sz="1950" dirty="0"/>
          </a:p>
        </p:txBody>
      </p:sp>
      <p:sp>
        <p:nvSpPr>
          <p:cNvPr id="25" name="T37/card/region-3/body"/>
          <p:cNvSpPr/>
          <p:nvPr/>
        </p:nvSpPr>
        <p:spPr>
          <a:xfrm>
            <a:off x="6743700" y="5025581"/>
            <a:ext cx="4991100" cy="910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说明失败是否改变主要结果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记录该条件是否已纳入评价</a:t>
            </a:r>
            <a:endParaRPr lang="zh-CN" sz="1800" dirty="0"/>
          </a:p>
        </p:txBody>
      </p:sp>
      <p:sp>
        <p:nvSpPr>
          <p:cNvPr id="26" name="T37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8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8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 / 48</a:t>
            </a:r>
            <a:endParaRPr lang="zh-CN" sz="1050" dirty="0"/>
          </a:p>
        </p:txBody>
      </p:sp>
      <p:sp>
        <p:nvSpPr>
          <p:cNvPr id="4" name="T38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分布变化与迁移边界</a:t>
            </a:r>
            <a:endParaRPr lang="zh-CN" sz="3000" dirty="0"/>
          </a:p>
        </p:txBody>
      </p:sp>
      <p:sp>
        <p:nvSpPr>
          <p:cNvPr id="5" name="T38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8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graphicFrame>
        <p:nvGraphicFramePr>
          <p:cNvPr id="7" name="T38/data-chart" descr=""/>
          <p:cNvGraphicFramePr/>
          <p:nvPr/>
        </p:nvGraphicFramePr>
        <p:xfrm>
          <a:off x="457200" y="1206722"/>
          <a:ext cx="7448550" cy="34224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38/card/region-1/frame"/>
          <p:cNvSpPr/>
          <p:nvPr/>
        </p:nvSpPr>
        <p:spPr>
          <a:xfrm>
            <a:off x="8229600" y="1206722"/>
            <a:ext cx="3505200" cy="2176082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9" name="T38/card/region-1/heading-fill"/>
          <p:cNvSpPr/>
          <p:nvPr/>
        </p:nvSpPr>
        <p:spPr>
          <a:xfrm>
            <a:off x="8239125" y="1216247"/>
            <a:ext cx="348615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38/card/region-1/heading-rule"/>
          <p:cNvSpPr/>
          <p:nvPr/>
        </p:nvSpPr>
        <p:spPr>
          <a:xfrm>
            <a:off x="8229600" y="1587722"/>
            <a:ext cx="35052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1" name="T38/card/region-1/title"/>
          <p:cNvSpPr/>
          <p:nvPr/>
        </p:nvSpPr>
        <p:spPr>
          <a:xfrm>
            <a:off x="8353425" y="1254347"/>
            <a:ext cx="32575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输入条件变化</a:t>
            </a:r>
            <a:endParaRPr lang="zh-CN" sz="1950" dirty="0"/>
          </a:p>
        </p:txBody>
      </p:sp>
      <p:sp>
        <p:nvSpPr>
          <p:cNvPr id="12" name="T38/card/region-1/body"/>
          <p:cNvSpPr/>
          <p:nvPr/>
        </p:nvSpPr>
        <p:spPr>
          <a:xfrm>
            <a:off x="8362950" y="1692497"/>
            <a:ext cx="3238500" cy="1595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对齐训练和测试的变量范围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用同一尺度表示发生变化的条件</a:t>
            </a:r>
            <a:endParaRPr lang="zh-CN" sz="1800" dirty="0"/>
          </a:p>
        </p:txBody>
      </p:sp>
      <p:sp>
        <p:nvSpPr>
          <p:cNvPr id="13" name="T38/card/region-2/frame"/>
          <p:cNvSpPr/>
          <p:nvPr/>
        </p:nvSpPr>
        <p:spPr>
          <a:xfrm>
            <a:off x="8229600" y="3734562"/>
            <a:ext cx="3505200" cy="225961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4" name="T38/card/region-2/tab"/>
          <p:cNvSpPr/>
          <p:nvPr/>
        </p:nvSpPr>
        <p:spPr>
          <a:xfrm>
            <a:off x="8343900" y="3620262"/>
            <a:ext cx="125730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38/card/region-2/title"/>
          <p:cNvSpPr/>
          <p:nvPr/>
        </p:nvSpPr>
        <p:spPr>
          <a:xfrm>
            <a:off x="8448675" y="3648837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机制失配</a:t>
            </a:r>
            <a:endParaRPr lang="zh-CN" sz="1950" dirty="0"/>
          </a:p>
        </p:txBody>
      </p:sp>
      <p:sp>
        <p:nvSpPr>
          <p:cNvPr id="16" name="T38/card/region-2/body"/>
          <p:cNvSpPr/>
          <p:nvPr/>
        </p:nvSpPr>
        <p:spPr>
          <a:xfrm>
            <a:off x="8362950" y="4106037"/>
            <a:ext cx="3238500" cy="179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指出原有假设在哪个环境失效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检查模型、工具与执行约束的变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化</a:t>
            </a:r>
            <a:endParaRPr lang="zh-CN" sz="1800" dirty="0"/>
          </a:p>
        </p:txBody>
      </p:sp>
      <p:sp>
        <p:nvSpPr>
          <p:cNvPr id="17" name="T38/card/region-3/title"/>
          <p:cNvSpPr/>
          <p:nvPr/>
        </p:nvSpPr>
        <p:spPr>
          <a:xfrm>
            <a:off x="457200" y="4964716"/>
            <a:ext cx="7448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迁移结论</a:t>
            </a:r>
            <a:endParaRPr lang="zh-CN" sz="1950" dirty="0"/>
          </a:p>
        </p:txBody>
      </p:sp>
      <p:sp>
        <p:nvSpPr>
          <p:cNvPr id="18" name="T38/card/region-3/body"/>
          <p:cNvSpPr/>
          <p:nvPr/>
        </p:nvSpPr>
        <p:spPr>
          <a:xfrm>
            <a:off x="457200" y="5345716"/>
            <a:ext cx="7448550" cy="6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结论限定在已测试的条件变化内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独立报告未覆盖环境</a:t>
            </a:r>
            <a:endParaRPr lang="zh-CN" sz="1800" dirty="0"/>
          </a:p>
        </p:txBody>
      </p:sp>
      <p:sp>
        <p:nvSpPr>
          <p:cNvPr id="19" name="T38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9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9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 / 48</a:t>
            </a:r>
            <a:endParaRPr lang="zh-CN" sz="1050" dirty="0"/>
          </a:p>
        </p:txBody>
      </p:sp>
      <p:sp>
        <p:nvSpPr>
          <p:cNvPr id="4" name="T39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测量偏倚与替代解释</a:t>
            </a:r>
            <a:endParaRPr lang="zh-CN" sz="3000" dirty="0"/>
          </a:p>
        </p:txBody>
      </p:sp>
      <p:sp>
        <p:nvSpPr>
          <p:cNvPr id="5" name="T39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39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39/edge:0"/>
          <p:cNvSpPr/>
          <p:nvPr/>
        </p:nvSpPr>
        <p:spPr>
          <a:xfrm>
            <a:off x="2819400" y="2017871"/>
            <a:ext cx="6286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8" name="T39/edge:1"/>
          <p:cNvSpPr/>
          <p:nvPr/>
        </p:nvSpPr>
        <p:spPr>
          <a:xfrm>
            <a:off x="5810250" y="2017871"/>
            <a:ext cx="6286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9" name="T39/edge:2"/>
          <p:cNvSpPr/>
          <p:nvPr/>
        </p:nvSpPr>
        <p:spPr>
          <a:xfrm>
            <a:off x="8801100" y="2017871"/>
            <a:ext cx="6286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39/node:step-1:frame"/>
          <p:cNvSpPr/>
          <p:nvPr/>
        </p:nvSpPr>
        <p:spPr>
          <a:xfrm>
            <a:off x="457200" y="1365028"/>
            <a:ext cx="2362200" cy="1305687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1" name="T39/node:step-1:heading-rule"/>
          <p:cNvSpPr/>
          <p:nvPr/>
        </p:nvSpPr>
        <p:spPr>
          <a:xfrm>
            <a:off x="457200" y="1365028"/>
            <a:ext cx="23622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2" name="T39/node:step-1:label"/>
          <p:cNvSpPr/>
          <p:nvPr/>
        </p:nvSpPr>
        <p:spPr>
          <a:xfrm>
            <a:off x="571500" y="1460278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真实状态</a:t>
            </a:r>
            <a:endParaRPr lang="zh-CN" sz="1800" dirty="0"/>
          </a:p>
        </p:txBody>
      </p:sp>
      <p:sp>
        <p:nvSpPr>
          <p:cNvPr id="13" name="T39/node:step-1:detail"/>
          <p:cNvSpPr/>
          <p:nvPr/>
        </p:nvSpPr>
        <p:spPr>
          <a:xfrm>
            <a:off x="571500" y="1774603"/>
            <a:ext cx="2133600" cy="81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目标估计对象</a:t>
            </a:r>
            <a:endParaRPr lang="zh-CN" sz="1650" dirty="0"/>
          </a:p>
        </p:txBody>
      </p:sp>
      <p:sp>
        <p:nvSpPr>
          <p:cNvPr id="14" name="T39/node:step-2:frame"/>
          <p:cNvSpPr/>
          <p:nvPr/>
        </p:nvSpPr>
        <p:spPr>
          <a:xfrm>
            <a:off x="3448050" y="1365028"/>
            <a:ext cx="2362200" cy="1305687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5" name="T39/node:step-2:heading-rule"/>
          <p:cNvSpPr/>
          <p:nvPr/>
        </p:nvSpPr>
        <p:spPr>
          <a:xfrm>
            <a:off x="3448050" y="1365028"/>
            <a:ext cx="23622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6" name="T39/node:step-2:label"/>
          <p:cNvSpPr/>
          <p:nvPr/>
        </p:nvSpPr>
        <p:spPr>
          <a:xfrm>
            <a:off x="3562350" y="1460278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测量与选择</a:t>
            </a:r>
            <a:endParaRPr lang="zh-CN" sz="1800" dirty="0"/>
          </a:p>
        </p:txBody>
      </p:sp>
      <p:sp>
        <p:nvSpPr>
          <p:cNvPr id="17" name="T39/node:step-2:detail"/>
          <p:cNvSpPr/>
          <p:nvPr/>
        </p:nvSpPr>
        <p:spPr>
          <a:xfrm>
            <a:off x="3562350" y="1774603"/>
            <a:ext cx="2133600" cy="81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潜在系统性误差</a:t>
            </a:r>
            <a:endParaRPr lang="zh-CN" sz="1650" dirty="0"/>
          </a:p>
        </p:txBody>
      </p:sp>
      <p:sp>
        <p:nvSpPr>
          <p:cNvPr id="18" name="T39/node:step-3:frame"/>
          <p:cNvSpPr/>
          <p:nvPr/>
        </p:nvSpPr>
        <p:spPr>
          <a:xfrm>
            <a:off x="6438900" y="1365028"/>
            <a:ext cx="2362200" cy="1305687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39/node:step-3:heading-rule"/>
          <p:cNvSpPr/>
          <p:nvPr/>
        </p:nvSpPr>
        <p:spPr>
          <a:xfrm>
            <a:off x="6438900" y="1365028"/>
            <a:ext cx="236220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20" name="T39/node:step-3:label"/>
          <p:cNvSpPr/>
          <p:nvPr/>
        </p:nvSpPr>
        <p:spPr>
          <a:xfrm>
            <a:off x="6553200" y="1460278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统计估计</a:t>
            </a:r>
            <a:endParaRPr lang="zh-CN" sz="1800" dirty="0"/>
          </a:p>
        </p:txBody>
      </p:sp>
      <p:sp>
        <p:nvSpPr>
          <p:cNvPr id="21" name="T39/node:step-3:detail"/>
          <p:cNvSpPr/>
          <p:nvPr/>
        </p:nvSpPr>
        <p:spPr>
          <a:xfrm>
            <a:off x="6553200" y="1774603"/>
            <a:ext cx="2133600" cy="81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实际分析单位</a:t>
            </a:r>
            <a:endParaRPr lang="zh-CN" sz="1650" dirty="0"/>
          </a:p>
        </p:txBody>
      </p:sp>
      <p:sp>
        <p:nvSpPr>
          <p:cNvPr id="22" name="T39/node:step-4:frame"/>
          <p:cNvSpPr/>
          <p:nvPr/>
        </p:nvSpPr>
        <p:spPr>
          <a:xfrm>
            <a:off x="9429750" y="1365028"/>
            <a:ext cx="2305050" cy="1305687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3" name="T39/node:step-4:heading-rule"/>
          <p:cNvSpPr/>
          <p:nvPr/>
        </p:nvSpPr>
        <p:spPr>
          <a:xfrm>
            <a:off x="9429750" y="1365028"/>
            <a:ext cx="23050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4" name="T39/node:step-4:label"/>
          <p:cNvSpPr/>
          <p:nvPr/>
        </p:nvSpPr>
        <p:spPr>
          <a:xfrm>
            <a:off x="9544050" y="1460278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研究结论</a:t>
            </a:r>
            <a:endParaRPr lang="zh-CN" sz="1800" dirty="0"/>
          </a:p>
        </p:txBody>
      </p:sp>
      <p:sp>
        <p:nvSpPr>
          <p:cNvPr id="25" name="T39/node:step-4:detail"/>
          <p:cNvSpPr/>
          <p:nvPr/>
        </p:nvSpPr>
        <p:spPr>
          <a:xfrm>
            <a:off x="9544050" y="1774603"/>
            <a:ext cx="2076450" cy="81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适用对象与范围</a:t>
            </a:r>
            <a:endParaRPr lang="zh-CN" sz="1650" dirty="0"/>
          </a:p>
        </p:txBody>
      </p:sp>
      <p:sp>
        <p:nvSpPr>
          <p:cNvPr id="26" name="T39/card/region-1/frame"/>
          <p:cNvSpPr/>
          <p:nvPr/>
        </p:nvSpPr>
        <p:spPr>
          <a:xfrm>
            <a:off x="457200" y="4130231"/>
            <a:ext cx="5486400" cy="1883759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7" name="T39/card/region-1/tab"/>
          <p:cNvSpPr/>
          <p:nvPr/>
        </p:nvSpPr>
        <p:spPr>
          <a:xfrm>
            <a:off x="571500" y="4015931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39/card/region-1/title"/>
          <p:cNvSpPr/>
          <p:nvPr/>
        </p:nvSpPr>
        <p:spPr>
          <a:xfrm>
            <a:off x="676275" y="4044506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偏倚来源</a:t>
            </a:r>
            <a:endParaRPr lang="zh-CN" sz="1950" dirty="0"/>
          </a:p>
        </p:txBody>
      </p:sp>
      <p:sp>
        <p:nvSpPr>
          <p:cNvPr id="29" name="T39/card/region-1/body"/>
          <p:cNvSpPr/>
          <p:nvPr/>
        </p:nvSpPr>
        <p:spPr>
          <a:xfrm>
            <a:off x="590550" y="4501706"/>
            <a:ext cx="5219700" cy="1417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区分选择、测量和遗漏变量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说明偏倚可能影响的方向与对象</a:t>
            </a:r>
            <a:endParaRPr lang="zh-CN" sz="1800" dirty="0"/>
          </a:p>
        </p:txBody>
      </p:sp>
      <p:sp>
        <p:nvSpPr>
          <p:cNvPr id="30" name="T39/card/region-2/heading-rule"/>
          <p:cNvSpPr/>
          <p:nvPr/>
        </p:nvSpPr>
        <p:spPr>
          <a:xfrm>
            <a:off x="6248400" y="4377881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1" name="T39/card/region-2/heading-mark"/>
          <p:cNvSpPr/>
          <p:nvPr/>
        </p:nvSpPr>
        <p:spPr>
          <a:xfrm>
            <a:off x="6248400" y="4377881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32" name="T39/card/region-2/title"/>
          <p:cNvSpPr/>
          <p:nvPr/>
        </p:nvSpPr>
        <p:spPr>
          <a:xfrm>
            <a:off x="6248400" y="4034981"/>
            <a:ext cx="54864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排查与敏感性分析</a:t>
            </a:r>
            <a:endParaRPr lang="zh-CN" sz="1950" dirty="0"/>
          </a:p>
        </p:txBody>
      </p:sp>
      <p:sp>
        <p:nvSpPr>
          <p:cNvPr id="33" name="T39/card/region-2/body"/>
          <p:cNvSpPr/>
          <p:nvPr/>
        </p:nvSpPr>
        <p:spPr>
          <a:xfrm>
            <a:off x="6248400" y="4511231"/>
            <a:ext cx="5486400" cy="146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改变可疑假设并重新估计主要效应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比较结论是否依赖单一处理选择</a:t>
            </a:r>
            <a:endParaRPr lang="zh-CN" sz="1800" dirty="0"/>
          </a:p>
        </p:txBody>
      </p:sp>
      <p:sp>
        <p:nvSpPr>
          <p:cNvPr id="34" name="T39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0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0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 / 48</a:t>
            </a:r>
            <a:endParaRPr lang="zh-CN" sz="1050" dirty="0"/>
          </a:p>
        </p:txBody>
      </p:sp>
      <p:sp>
        <p:nvSpPr>
          <p:cNvPr id="4" name="T40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效度与解释边界</a:t>
            </a:r>
            <a:endParaRPr lang="zh-CN" sz="3000" dirty="0"/>
          </a:p>
        </p:txBody>
      </p:sp>
      <p:sp>
        <p:nvSpPr>
          <p:cNvPr id="5" name="T40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0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graphicFrame>
        <p:nvGraphicFramePr>
          <p:cNvPr id="41" name="T40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68229"/>
          <a:ext cx="11277600" cy="2403729"/>
        </p:xfrm>
        <a:graphic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威胁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可能影响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可核查证据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选择偏倚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样本代表性下降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纳入与排除记录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测量误差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效应估计偏移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校准与重复测量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信息泄漏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测试结果偏高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完整数据处理链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评价混淆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结论对象改变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统一分母与评价者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环境变化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外推失效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独立环境测试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40/table-caption"/>
          <p:cNvSpPr/>
          <p:nvPr/>
        </p:nvSpPr>
        <p:spPr>
          <a:xfrm>
            <a:off x="457200" y="3538633"/>
            <a:ext cx="1127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9" name="T40/card/region-1/frame"/>
          <p:cNvSpPr/>
          <p:nvPr/>
        </p:nvSpPr>
        <p:spPr>
          <a:xfrm>
            <a:off x="457200" y="3957733"/>
            <a:ext cx="5467350" cy="170135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0" name="T40/card/region-1/heading-fill"/>
          <p:cNvSpPr/>
          <p:nvPr/>
        </p:nvSpPr>
        <p:spPr>
          <a:xfrm>
            <a:off x="466725" y="3967258"/>
            <a:ext cx="544830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40/card/region-1/heading-rule"/>
          <p:cNvSpPr/>
          <p:nvPr/>
        </p:nvSpPr>
        <p:spPr>
          <a:xfrm>
            <a:off x="457200" y="4338733"/>
            <a:ext cx="54673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40/card/region-1/title"/>
          <p:cNvSpPr/>
          <p:nvPr/>
        </p:nvSpPr>
        <p:spPr>
          <a:xfrm>
            <a:off x="581025" y="4005358"/>
            <a:ext cx="5219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内部效度</a:t>
            </a:r>
            <a:endParaRPr lang="zh-CN" sz="1950" dirty="0"/>
          </a:p>
        </p:txBody>
      </p:sp>
      <p:sp>
        <p:nvSpPr>
          <p:cNvPr id="13" name="T40/card/region-1/body"/>
          <p:cNvSpPr/>
          <p:nvPr/>
        </p:nvSpPr>
        <p:spPr>
          <a:xfrm>
            <a:off x="590550" y="4443508"/>
            <a:ext cx="5200650" cy="1120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是否隔离了目标干预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检查混杂、泄漏与测量不一致</a:t>
            </a:r>
            <a:endParaRPr lang="zh-CN" sz="1800" dirty="0"/>
          </a:p>
        </p:txBody>
      </p:sp>
      <p:sp>
        <p:nvSpPr>
          <p:cNvPr id="14" name="T40/card/region-2/frame"/>
          <p:cNvSpPr/>
          <p:nvPr/>
        </p:nvSpPr>
        <p:spPr>
          <a:xfrm>
            <a:off x="6248400" y="3957733"/>
            <a:ext cx="5486400" cy="1701356"/>
          </a:xfrm>
          <a:prstGeom prst="rect">
            <a:avLst/>
          </a:prstGeom>
          <a:solidFill>
            <a:srgbClr val="EAF2FA"/>
          </a:solidFill>
          <a:ln w="12383">
            <a:solidFill>
              <a:srgbClr val="235E96"/>
            </a:solidFill>
            <a:prstDash val="dash"/>
          </a:ln>
        </p:spPr>
      </p:sp>
      <p:sp>
        <p:nvSpPr>
          <p:cNvPr id="15" name="T40/card/region-2/corner-white"/>
          <p:cNvSpPr/>
          <p:nvPr/>
        </p:nvSpPr>
        <p:spPr>
          <a:xfrm>
            <a:off x="11468100" y="3957733"/>
            <a:ext cx="2667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40/card/region-2/fold-diagonal"/>
          <p:cNvSpPr/>
          <p:nvPr/>
        </p:nvSpPr>
        <p:spPr>
          <a:xfrm>
            <a:off x="11468100" y="3957733"/>
            <a:ext cx="266700" cy="266700"/>
          </a:xfrm>
          <a:prstGeom prst="line">
            <a:avLst/>
          </a:prstGeom>
          <a:noFill/>
          <a:ln w="13335">
            <a:solidFill>
              <a:srgbClr val="235E96"/>
            </a:solidFill>
            <a:prstDash val="solid"/>
          </a:ln>
        </p:spPr>
      </p:sp>
      <p:sp>
        <p:nvSpPr>
          <p:cNvPr id="17" name="T40/card/region-2/fold-left"/>
          <p:cNvSpPr/>
          <p:nvPr/>
        </p:nvSpPr>
        <p:spPr>
          <a:xfrm>
            <a:off x="11468100" y="3957733"/>
            <a:ext cx="0" cy="266700"/>
          </a:xfrm>
          <a:prstGeom prst="line">
            <a:avLst/>
          </a:prstGeom>
          <a:noFill/>
          <a:ln w="13335">
            <a:solidFill>
              <a:srgbClr val="235E96"/>
            </a:solidFill>
            <a:prstDash val="solid"/>
          </a:ln>
        </p:spPr>
      </p:sp>
      <p:sp>
        <p:nvSpPr>
          <p:cNvPr id="18" name="T40/card/region-2/fold-bottom"/>
          <p:cNvSpPr/>
          <p:nvPr/>
        </p:nvSpPr>
        <p:spPr>
          <a:xfrm>
            <a:off x="11468100" y="4224433"/>
            <a:ext cx="266700" cy="0"/>
          </a:xfrm>
          <a:prstGeom prst="line">
            <a:avLst/>
          </a:prstGeom>
          <a:noFill/>
          <a:ln w="13335">
            <a:solidFill>
              <a:srgbClr val="235E96"/>
            </a:solidFill>
            <a:prstDash val="solid"/>
          </a:ln>
        </p:spPr>
      </p:sp>
      <p:sp>
        <p:nvSpPr>
          <p:cNvPr id="19" name="T40/card/region-2/title"/>
          <p:cNvSpPr/>
          <p:nvPr/>
        </p:nvSpPr>
        <p:spPr>
          <a:xfrm>
            <a:off x="6438900" y="4119658"/>
            <a:ext cx="49149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外部效度</a:t>
            </a:r>
            <a:endParaRPr lang="zh-CN" sz="1950" dirty="0"/>
          </a:p>
        </p:txBody>
      </p:sp>
      <p:sp>
        <p:nvSpPr>
          <p:cNvPr id="20" name="T40/card/region-2/body"/>
          <p:cNvSpPr/>
          <p:nvPr/>
        </p:nvSpPr>
        <p:spPr>
          <a:xfrm>
            <a:off x="6438900" y="4576858"/>
            <a:ext cx="5105400" cy="891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研究样本代表哪些对象和条件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明确跨地点、年份和管理制度的限制</a:t>
            </a:r>
            <a:endParaRPr lang="zh-CN" sz="1800" dirty="0"/>
          </a:p>
        </p:txBody>
      </p:sp>
      <p:sp>
        <p:nvSpPr>
          <p:cNvPr id="21" name="T40/takeaway"/>
          <p:cNvSpPr/>
          <p:nvPr/>
        </p:nvSpPr>
        <p:spPr>
          <a:xfrm>
            <a:off x="457200" y="5773388"/>
            <a:ext cx="11277600" cy="356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解释必须由本页证据支持，并保留样本、对照与适用条件。</a:t>
            </a:r>
            <a:endParaRPr lang="zh-CN" sz="1800" dirty="0"/>
          </a:p>
        </p:txBody>
      </p:sp>
      <p:sp>
        <p:nvSpPr>
          <p:cNvPr id="22" name="T40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1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1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 / 48</a:t>
            </a:r>
            <a:endParaRPr lang="zh-CN" sz="1050" dirty="0"/>
          </a:p>
        </p:txBody>
      </p:sp>
      <p:sp>
        <p:nvSpPr>
          <p:cNvPr id="4" name="T41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风险触发与干预条件</a:t>
            </a:r>
            <a:endParaRPr lang="zh-CN" sz="3000" dirty="0"/>
          </a:p>
        </p:txBody>
      </p:sp>
      <p:sp>
        <p:nvSpPr>
          <p:cNvPr id="5" name="T41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1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1/panel:0:frame"/>
          <p:cNvSpPr/>
          <p:nvPr/>
        </p:nvSpPr>
        <p:spPr>
          <a:xfrm>
            <a:off x="457200" y="1167194"/>
            <a:ext cx="7410450" cy="3501581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41/panel:0:side-mark"/>
          <p:cNvSpPr/>
          <p:nvPr/>
        </p:nvSpPr>
        <p:spPr>
          <a:xfrm>
            <a:off x="466725" y="1243394"/>
            <a:ext cx="47625" cy="27622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41/panel:0:title"/>
          <p:cNvSpPr/>
          <p:nvPr/>
        </p:nvSpPr>
        <p:spPr>
          <a:xfrm>
            <a:off x="609600" y="1214819"/>
            <a:ext cx="71056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触发、核验与记录</a:t>
            </a:r>
            <a:endParaRPr lang="zh-CN" sz="1950" dirty="0"/>
          </a:p>
        </p:txBody>
      </p:sp>
      <p:sp>
        <p:nvSpPr>
          <p:cNvPr id="10" name="T41/edge:0"/>
          <p:cNvSpPr/>
          <p:nvPr/>
        </p:nvSpPr>
        <p:spPr>
          <a:xfrm>
            <a:off x="2590800" y="2245328"/>
            <a:ext cx="6096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1" name="T41/edge:1"/>
          <p:cNvSpPr/>
          <p:nvPr/>
        </p:nvSpPr>
        <p:spPr>
          <a:xfrm>
            <a:off x="5200650" y="2245328"/>
            <a:ext cx="4953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2" name="T41/edge:2:segment:0"/>
          <p:cNvSpPr/>
          <p:nvPr/>
        </p:nvSpPr>
        <p:spPr>
          <a:xfrm>
            <a:off x="6705600" y="2749772"/>
            <a:ext cx="0" cy="455009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3" name="T41/edge:2:segment:1"/>
          <p:cNvSpPr/>
          <p:nvPr/>
        </p:nvSpPr>
        <p:spPr>
          <a:xfrm flipH="1">
            <a:off x="4200525" y="3204782"/>
            <a:ext cx="250507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4" name="T41/edge:2:segment:2"/>
          <p:cNvSpPr/>
          <p:nvPr/>
        </p:nvSpPr>
        <p:spPr>
          <a:xfrm>
            <a:off x="4200525" y="3204782"/>
            <a:ext cx="0" cy="455009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5" name="T41/edge:3:segment:0"/>
          <p:cNvSpPr/>
          <p:nvPr/>
        </p:nvSpPr>
        <p:spPr>
          <a:xfrm flipH="1">
            <a:off x="466725" y="4085130"/>
            <a:ext cx="273367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6" name="T41/edge:3:segment:1"/>
          <p:cNvSpPr/>
          <p:nvPr/>
        </p:nvSpPr>
        <p:spPr>
          <a:xfrm flipV="1">
            <a:off x="466725" y="2245328"/>
            <a:ext cx="0" cy="1839801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7" name="T41/edge:3:segment:2"/>
          <p:cNvSpPr/>
          <p:nvPr/>
        </p:nvSpPr>
        <p:spPr>
          <a:xfrm>
            <a:off x="466725" y="2245328"/>
            <a:ext cx="1238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8" name="T41/node:step-1:frame"/>
          <p:cNvSpPr/>
          <p:nvPr/>
        </p:nvSpPr>
        <p:spPr>
          <a:xfrm>
            <a:off x="590550" y="1740884"/>
            <a:ext cx="2000250" cy="1008888"/>
          </a:xfrm>
          <a:prstGeom prst="rect">
            <a:avLst/>
          </a:prstGeom>
          <a:solidFill>
            <a:srgbClr val="FAEEE8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41/node:step-1:heading-rule"/>
          <p:cNvSpPr/>
          <p:nvPr/>
        </p:nvSpPr>
        <p:spPr>
          <a:xfrm>
            <a:off x="590550" y="1740884"/>
            <a:ext cx="2000250" cy="0"/>
          </a:xfrm>
          <a:prstGeom prst="line">
            <a:avLst/>
          </a:prstGeom>
          <a:noFill/>
          <a:ln w="19050">
            <a:solidFill>
              <a:srgbClr val="A24736"/>
            </a:solidFill>
            <a:prstDash val="solid"/>
          </a:ln>
        </p:spPr>
      </p:sp>
      <p:sp>
        <p:nvSpPr>
          <p:cNvPr id="20" name="T41/node:step-1:label"/>
          <p:cNvSpPr/>
          <p:nvPr/>
        </p:nvSpPr>
        <p:spPr>
          <a:xfrm>
            <a:off x="704850" y="2111978"/>
            <a:ext cx="17716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异常或不确定性</a:t>
            </a:r>
            <a:endParaRPr lang="zh-CN" sz="1800" dirty="0"/>
          </a:p>
        </p:txBody>
      </p:sp>
      <p:sp>
        <p:nvSpPr>
          <p:cNvPr id="21" name="T41/node:step-2:frame"/>
          <p:cNvSpPr/>
          <p:nvPr/>
        </p:nvSpPr>
        <p:spPr>
          <a:xfrm>
            <a:off x="3200400" y="1740884"/>
            <a:ext cx="2000250" cy="1008888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2" name="T41/node:step-2:heading-rule"/>
          <p:cNvSpPr/>
          <p:nvPr/>
        </p:nvSpPr>
        <p:spPr>
          <a:xfrm>
            <a:off x="3200400" y="1740884"/>
            <a:ext cx="20002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3" name="T41/node:step-2:label"/>
          <p:cNvSpPr/>
          <p:nvPr/>
        </p:nvSpPr>
        <p:spPr>
          <a:xfrm>
            <a:off x="3314700" y="2111978"/>
            <a:ext cx="17716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触发复核</a:t>
            </a:r>
            <a:endParaRPr lang="zh-CN" sz="1800" dirty="0"/>
          </a:p>
        </p:txBody>
      </p:sp>
      <p:sp>
        <p:nvSpPr>
          <p:cNvPr id="24" name="T41/node:step-3:frame"/>
          <p:cNvSpPr/>
          <p:nvPr/>
        </p:nvSpPr>
        <p:spPr>
          <a:xfrm>
            <a:off x="5695950" y="1740884"/>
            <a:ext cx="2019300" cy="1008888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5" name="T41/node:step-3:heading-rule"/>
          <p:cNvSpPr/>
          <p:nvPr/>
        </p:nvSpPr>
        <p:spPr>
          <a:xfrm>
            <a:off x="5695950" y="1740884"/>
            <a:ext cx="201930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26" name="T41/node:step-3:label"/>
          <p:cNvSpPr/>
          <p:nvPr/>
        </p:nvSpPr>
        <p:spPr>
          <a:xfrm>
            <a:off x="5810250" y="2111978"/>
            <a:ext cx="1790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人工或工具核验</a:t>
            </a:r>
            <a:endParaRPr lang="zh-CN" sz="1800" dirty="0"/>
          </a:p>
        </p:txBody>
      </p:sp>
      <p:sp>
        <p:nvSpPr>
          <p:cNvPr id="27" name="T41/node:step-4:frame"/>
          <p:cNvSpPr/>
          <p:nvPr/>
        </p:nvSpPr>
        <p:spPr>
          <a:xfrm>
            <a:off x="3200400" y="3659791"/>
            <a:ext cx="2000250" cy="850678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8" name="T41/node:step-4:heading-rule"/>
          <p:cNvSpPr/>
          <p:nvPr/>
        </p:nvSpPr>
        <p:spPr>
          <a:xfrm>
            <a:off x="3200400" y="3659791"/>
            <a:ext cx="20002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9" name="T41/node:step-4:label"/>
          <p:cNvSpPr/>
          <p:nvPr/>
        </p:nvSpPr>
        <p:spPr>
          <a:xfrm>
            <a:off x="3314700" y="3951780"/>
            <a:ext cx="17716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返回与记录</a:t>
            </a:r>
            <a:endParaRPr lang="zh-CN" sz="1800" dirty="0"/>
          </a:p>
        </p:txBody>
      </p:sp>
      <p:sp>
        <p:nvSpPr>
          <p:cNvPr id="30" name="T41/card/region-1/frame"/>
          <p:cNvSpPr/>
          <p:nvPr/>
        </p:nvSpPr>
        <p:spPr>
          <a:xfrm>
            <a:off x="8134350" y="1321022"/>
            <a:ext cx="3600450" cy="2061782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1" name="T41/card/region-1/tab"/>
          <p:cNvSpPr/>
          <p:nvPr/>
        </p:nvSpPr>
        <p:spPr>
          <a:xfrm>
            <a:off x="8248650" y="1206722"/>
            <a:ext cx="17526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41/card/region-1/title"/>
          <p:cNvSpPr/>
          <p:nvPr/>
        </p:nvSpPr>
        <p:spPr>
          <a:xfrm>
            <a:off x="8353425" y="1235297"/>
            <a:ext cx="15430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风险触发条件</a:t>
            </a:r>
            <a:endParaRPr lang="zh-CN" sz="1950" dirty="0"/>
          </a:p>
        </p:txBody>
      </p:sp>
      <p:sp>
        <p:nvSpPr>
          <p:cNvPr id="33" name="T41/card/region-1/body"/>
          <p:cNvSpPr/>
          <p:nvPr/>
        </p:nvSpPr>
        <p:spPr>
          <a:xfrm>
            <a:off x="8267700" y="1692497"/>
            <a:ext cx="3333750" cy="1595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把失败或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不确定性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写成可监测信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号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提前规定何时停止、复核或回退</a:t>
            </a:r>
            <a:endParaRPr lang="zh-CN" sz="1800" dirty="0"/>
          </a:p>
        </p:txBody>
      </p:sp>
      <p:sp>
        <p:nvSpPr>
          <p:cNvPr id="34" name="T41/card/region-2/heading-rule"/>
          <p:cNvSpPr/>
          <p:nvPr/>
        </p:nvSpPr>
        <p:spPr>
          <a:xfrm>
            <a:off x="8134350" y="3982212"/>
            <a:ext cx="36004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5" name="T41/card/region-2/heading-mark"/>
          <p:cNvSpPr/>
          <p:nvPr/>
        </p:nvSpPr>
        <p:spPr>
          <a:xfrm>
            <a:off x="8134350" y="3982212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36" name="T41/card/region-2/title"/>
          <p:cNvSpPr/>
          <p:nvPr/>
        </p:nvSpPr>
        <p:spPr>
          <a:xfrm>
            <a:off x="8134350" y="3639312"/>
            <a:ext cx="36004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人工与计算代价</a:t>
            </a:r>
            <a:endParaRPr lang="zh-CN" sz="1950" dirty="0"/>
          </a:p>
        </p:txBody>
      </p:sp>
      <p:sp>
        <p:nvSpPr>
          <p:cNvPr id="37" name="T41/card/region-2/body"/>
          <p:cNvSpPr/>
          <p:nvPr/>
        </p:nvSpPr>
        <p:spPr>
          <a:xfrm>
            <a:off x="8134350" y="4115562"/>
            <a:ext cx="3600450" cy="184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记录复核次数、耗时与算力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评价干预是否减少错误及其代价</a:t>
            </a:r>
            <a:endParaRPr lang="zh-CN" sz="1800" dirty="0"/>
          </a:p>
        </p:txBody>
      </p:sp>
      <p:sp>
        <p:nvSpPr>
          <p:cNvPr id="38" name="T41/card/region-3/title"/>
          <p:cNvSpPr/>
          <p:nvPr/>
        </p:nvSpPr>
        <p:spPr>
          <a:xfrm>
            <a:off x="457200" y="4964716"/>
            <a:ext cx="74104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剩余风险</a:t>
            </a:r>
            <a:endParaRPr lang="zh-CN" sz="1950" dirty="0"/>
          </a:p>
        </p:txBody>
      </p:sp>
      <p:sp>
        <p:nvSpPr>
          <p:cNvPr id="39" name="T41/card/region-3/body"/>
          <p:cNvSpPr/>
          <p:nvPr/>
        </p:nvSpPr>
        <p:spPr>
          <a:xfrm>
            <a:off x="457200" y="5345716"/>
            <a:ext cx="7410450" cy="6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列出核验后仍可能保留的错误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据此限定自动执行的范围</a:t>
            </a:r>
            <a:endParaRPr lang="zh-CN" sz="1800" dirty="0"/>
          </a:p>
        </p:txBody>
      </p:sp>
      <p:sp>
        <p:nvSpPr>
          <p:cNvPr id="40" name="T41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2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 / 48</a:t>
            </a:r>
            <a:endParaRPr lang="zh-CN" sz="1050" dirty="0"/>
          </a:p>
        </p:txBody>
      </p:sp>
      <p:sp>
        <p:nvSpPr>
          <p:cNvPr id="4" name="T42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复现材料与缺失信息</a:t>
            </a:r>
            <a:endParaRPr lang="zh-CN" sz="3000" dirty="0"/>
          </a:p>
        </p:txBody>
      </p:sp>
      <p:sp>
        <p:nvSpPr>
          <p:cNvPr id="5" name="T42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2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2/takeaway"/>
          <p:cNvSpPr/>
          <p:nvPr/>
        </p:nvSpPr>
        <p:spPr>
          <a:xfrm>
            <a:off x="457200" y="5657850"/>
            <a:ext cx="6991350" cy="415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解释必须由本页证据支持，并保留样本、对照与适用条件。</a:t>
            </a:r>
            <a:endParaRPr lang="zh-CN" sz="1800" dirty="0"/>
          </a:p>
        </p:txBody>
      </p:sp>
      <p:sp>
        <p:nvSpPr>
          <p:cNvPr id="8" name="T42/edge:0"/>
          <p:cNvSpPr/>
          <p:nvPr/>
        </p:nvSpPr>
        <p:spPr>
          <a:xfrm>
            <a:off x="2724150" y="1889189"/>
            <a:ext cx="7239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9" name="T42/edge:1"/>
          <p:cNvSpPr/>
          <p:nvPr/>
        </p:nvSpPr>
        <p:spPr>
          <a:xfrm>
            <a:off x="4543425" y="2452973"/>
            <a:ext cx="0" cy="156295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42/edge:2"/>
          <p:cNvSpPr/>
          <p:nvPr/>
        </p:nvSpPr>
        <p:spPr>
          <a:xfrm flipH="1">
            <a:off x="2724150" y="4579715"/>
            <a:ext cx="7239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1" name="T42/node:step-1:frame"/>
          <p:cNvSpPr/>
          <p:nvPr/>
        </p:nvSpPr>
        <p:spPr>
          <a:xfrm>
            <a:off x="533400" y="1325404"/>
            <a:ext cx="2190750" cy="1127570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2" name="T42/node:step-1:heading-rule"/>
          <p:cNvSpPr/>
          <p:nvPr/>
        </p:nvSpPr>
        <p:spPr>
          <a:xfrm>
            <a:off x="533400" y="1325404"/>
            <a:ext cx="219075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13" name="T42/node:step-1:label"/>
          <p:cNvSpPr/>
          <p:nvPr/>
        </p:nvSpPr>
        <p:spPr>
          <a:xfrm>
            <a:off x="647700" y="1420654"/>
            <a:ext cx="19621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数据与版本</a:t>
            </a:r>
            <a:endParaRPr lang="zh-CN" sz="1800" dirty="0"/>
          </a:p>
        </p:txBody>
      </p:sp>
      <p:sp>
        <p:nvSpPr>
          <p:cNvPr id="14" name="T42/node:step-1:detail"/>
          <p:cNvSpPr/>
          <p:nvPr/>
        </p:nvSpPr>
        <p:spPr>
          <a:xfrm>
            <a:off x="647700" y="1734979"/>
            <a:ext cx="1962150" cy="632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公开记录与许可</a:t>
            </a:r>
            <a:endParaRPr lang="zh-CN" sz="1650" dirty="0"/>
          </a:p>
        </p:txBody>
      </p:sp>
      <p:sp>
        <p:nvSpPr>
          <p:cNvPr id="15" name="T42/node:step-2:frame"/>
          <p:cNvSpPr/>
          <p:nvPr/>
        </p:nvSpPr>
        <p:spPr>
          <a:xfrm>
            <a:off x="3448050" y="1325404"/>
            <a:ext cx="2190750" cy="1127570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6" name="T42/node:step-2:heading-rule"/>
          <p:cNvSpPr/>
          <p:nvPr/>
        </p:nvSpPr>
        <p:spPr>
          <a:xfrm>
            <a:off x="3448050" y="1325404"/>
            <a:ext cx="21907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7" name="T42/node:step-2:label"/>
          <p:cNvSpPr/>
          <p:nvPr/>
        </p:nvSpPr>
        <p:spPr>
          <a:xfrm>
            <a:off x="3562350" y="1420654"/>
            <a:ext cx="19621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环境与依赖</a:t>
            </a:r>
            <a:endParaRPr lang="zh-CN" sz="1800" dirty="0"/>
          </a:p>
        </p:txBody>
      </p:sp>
      <p:sp>
        <p:nvSpPr>
          <p:cNvPr id="18" name="T42/node:step-2:detail"/>
          <p:cNvSpPr/>
          <p:nvPr/>
        </p:nvSpPr>
        <p:spPr>
          <a:xfrm>
            <a:off x="3562350" y="1734979"/>
            <a:ext cx="1962150" cy="632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可复现安装</a:t>
            </a:r>
            <a:endParaRPr lang="zh-CN" sz="1650" dirty="0"/>
          </a:p>
        </p:txBody>
      </p:sp>
      <p:sp>
        <p:nvSpPr>
          <p:cNvPr id="19" name="T42/node:step-3:frame"/>
          <p:cNvSpPr/>
          <p:nvPr/>
        </p:nvSpPr>
        <p:spPr>
          <a:xfrm>
            <a:off x="3448050" y="4015931"/>
            <a:ext cx="2190750" cy="1127570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0" name="T42/node:step-3:heading-rule"/>
          <p:cNvSpPr/>
          <p:nvPr/>
        </p:nvSpPr>
        <p:spPr>
          <a:xfrm>
            <a:off x="3448050" y="4015931"/>
            <a:ext cx="21907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1" name="T42/node:step-3:label"/>
          <p:cNvSpPr/>
          <p:nvPr/>
        </p:nvSpPr>
        <p:spPr>
          <a:xfrm>
            <a:off x="3562350" y="4111181"/>
            <a:ext cx="19621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代码与参数</a:t>
            </a:r>
            <a:endParaRPr lang="zh-CN" sz="1800" dirty="0"/>
          </a:p>
        </p:txBody>
      </p:sp>
      <p:sp>
        <p:nvSpPr>
          <p:cNvPr id="22" name="T42/node:step-3:detail"/>
          <p:cNvSpPr/>
          <p:nvPr/>
        </p:nvSpPr>
        <p:spPr>
          <a:xfrm>
            <a:off x="3562350" y="4425506"/>
            <a:ext cx="1962150" cy="63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固定程序和预算</a:t>
            </a:r>
            <a:endParaRPr lang="zh-CN" sz="1650" dirty="0"/>
          </a:p>
        </p:txBody>
      </p:sp>
      <p:sp>
        <p:nvSpPr>
          <p:cNvPr id="23" name="T42/node:step-4:frame"/>
          <p:cNvSpPr/>
          <p:nvPr/>
        </p:nvSpPr>
        <p:spPr>
          <a:xfrm>
            <a:off x="533400" y="4015931"/>
            <a:ext cx="2190750" cy="1127570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4" name="T42/node:step-4:heading-rule"/>
          <p:cNvSpPr/>
          <p:nvPr/>
        </p:nvSpPr>
        <p:spPr>
          <a:xfrm>
            <a:off x="533400" y="4015931"/>
            <a:ext cx="219075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25" name="T42/node:step-4:label"/>
          <p:cNvSpPr/>
          <p:nvPr/>
        </p:nvSpPr>
        <p:spPr>
          <a:xfrm>
            <a:off x="647700" y="4111181"/>
            <a:ext cx="19621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输出与核验</a:t>
            </a:r>
            <a:endParaRPr lang="zh-CN" sz="1800" dirty="0"/>
          </a:p>
        </p:txBody>
      </p:sp>
      <p:sp>
        <p:nvSpPr>
          <p:cNvPr id="26" name="T42/node:step-4:detail"/>
          <p:cNvSpPr/>
          <p:nvPr/>
        </p:nvSpPr>
        <p:spPr>
          <a:xfrm>
            <a:off x="647700" y="4425506"/>
            <a:ext cx="1962150" cy="63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原图、数据与来源</a:t>
            </a:r>
            <a:endParaRPr lang="zh-CN" sz="1650" dirty="0"/>
          </a:p>
        </p:txBody>
      </p:sp>
      <p:sp>
        <p:nvSpPr>
          <p:cNvPr id="27" name="T42/card/region-1/frame"/>
          <p:cNvSpPr/>
          <p:nvPr/>
        </p:nvSpPr>
        <p:spPr>
          <a:xfrm>
            <a:off x="7753350" y="1368647"/>
            <a:ext cx="3981450" cy="2053781"/>
          </a:xfrm>
          <a:prstGeom prst="rect">
            <a:avLst/>
          </a:prstGeom>
          <a:solidFill>
            <a:srgbClr val="FFFFFF"/>
          </a:solidFill>
          <a:ln w="14288">
            <a:solidFill>
              <a:srgbClr val="536A7A"/>
            </a:solidFill>
            <a:prstDash val="solid"/>
          </a:ln>
        </p:spPr>
      </p:sp>
      <p:sp>
        <p:nvSpPr>
          <p:cNvPr id="28" name="T42/card/region-1/title-cutout"/>
          <p:cNvSpPr/>
          <p:nvPr/>
        </p:nvSpPr>
        <p:spPr>
          <a:xfrm>
            <a:off x="7886700" y="1216247"/>
            <a:ext cx="1304925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42/card/region-1/base-rule"/>
          <p:cNvSpPr/>
          <p:nvPr/>
        </p:nvSpPr>
        <p:spPr>
          <a:xfrm>
            <a:off x="7943850" y="3270028"/>
            <a:ext cx="333375" cy="0"/>
          </a:xfrm>
          <a:prstGeom prst="line">
            <a:avLst/>
          </a:prstGeom>
          <a:noFill/>
          <a:ln w="28575">
            <a:solidFill>
              <a:srgbClr val="536A7A"/>
            </a:solidFill>
            <a:prstDash val="solid"/>
          </a:ln>
        </p:spPr>
      </p:sp>
      <p:sp>
        <p:nvSpPr>
          <p:cNvPr id="30" name="T42/card/region-1/title"/>
          <p:cNvSpPr/>
          <p:nvPr/>
        </p:nvSpPr>
        <p:spPr>
          <a:xfrm>
            <a:off x="7943850" y="1225772"/>
            <a:ext cx="36004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已公开材料</a:t>
            </a:r>
            <a:endParaRPr lang="zh-CN" sz="1950" dirty="0"/>
          </a:p>
        </p:txBody>
      </p:sp>
      <p:sp>
        <p:nvSpPr>
          <p:cNvPr id="31" name="T42/card/region-1/body"/>
          <p:cNvSpPr/>
          <p:nvPr/>
        </p:nvSpPr>
        <p:spPr>
          <a:xfrm>
            <a:off x="7943850" y="1759172"/>
            <a:ext cx="3600450" cy="1472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逐项记录数据、代码和环境版本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用最小实验核查能否恢复原结果</a:t>
            </a:r>
            <a:endParaRPr lang="zh-CN" sz="1800" dirty="0"/>
          </a:p>
        </p:txBody>
      </p:sp>
      <p:sp>
        <p:nvSpPr>
          <p:cNvPr id="32" name="T42/card/region-2/frame"/>
          <p:cNvSpPr/>
          <p:nvPr/>
        </p:nvSpPr>
        <p:spPr>
          <a:xfrm>
            <a:off x="7753350" y="3679603"/>
            <a:ext cx="3981450" cy="2314575"/>
          </a:xfrm>
          <a:prstGeom prst="rect">
            <a:avLst/>
          </a:prstGeom>
          <a:solidFill>
            <a:srgbClr val="FAEEE8"/>
          </a:solidFill>
          <a:ln w="12383">
            <a:solidFill>
              <a:srgbClr val="A24736"/>
            </a:solidFill>
            <a:prstDash val="dash"/>
          </a:ln>
        </p:spPr>
      </p:sp>
      <p:sp>
        <p:nvSpPr>
          <p:cNvPr id="33" name="T42/card/region-2/corner-white"/>
          <p:cNvSpPr/>
          <p:nvPr/>
        </p:nvSpPr>
        <p:spPr>
          <a:xfrm>
            <a:off x="11468100" y="3679603"/>
            <a:ext cx="2667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42/card/region-2/fold-diagonal"/>
          <p:cNvSpPr/>
          <p:nvPr/>
        </p:nvSpPr>
        <p:spPr>
          <a:xfrm>
            <a:off x="11468100" y="3679603"/>
            <a:ext cx="266700" cy="266700"/>
          </a:xfrm>
          <a:prstGeom prst="line">
            <a:avLst/>
          </a:prstGeom>
          <a:noFill/>
          <a:ln w="13335">
            <a:solidFill>
              <a:srgbClr val="A24736"/>
            </a:solidFill>
            <a:prstDash val="solid"/>
          </a:ln>
        </p:spPr>
      </p:sp>
      <p:sp>
        <p:nvSpPr>
          <p:cNvPr id="35" name="T42/card/region-2/fold-left"/>
          <p:cNvSpPr/>
          <p:nvPr/>
        </p:nvSpPr>
        <p:spPr>
          <a:xfrm>
            <a:off x="11468100" y="3679603"/>
            <a:ext cx="0" cy="266700"/>
          </a:xfrm>
          <a:prstGeom prst="line">
            <a:avLst/>
          </a:prstGeom>
          <a:noFill/>
          <a:ln w="13335">
            <a:solidFill>
              <a:srgbClr val="A24736"/>
            </a:solidFill>
            <a:prstDash val="solid"/>
          </a:ln>
        </p:spPr>
      </p:sp>
      <p:sp>
        <p:nvSpPr>
          <p:cNvPr id="36" name="T42/card/region-2/fold-bottom"/>
          <p:cNvSpPr/>
          <p:nvPr/>
        </p:nvSpPr>
        <p:spPr>
          <a:xfrm>
            <a:off x="11468100" y="3946303"/>
            <a:ext cx="266700" cy="0"/>
          </a:xfrm>
          <a:prstGeom prst="line">
            <a:avLst/>
          </a:prstGeom>
          <a:noFill/>
          <a:ln w="13335">
            <a:solidFill>
              <a:srgbClr val="A24736"/>
            </a:solidFill>
            <a:prstDash val="solid"/>
          </a:ln>
        </p:spPr>
      </p:sp>
      <p:sp>
        <p:nvSpPr>
          <p:cNvPr id="37" name="T42/card/region-2/title"/>
          <p:cNvSpPr/>
          <p:nvPr/>
        </p:nvSpPr>
        <p:spPr>
          <a:xfrm>
            <a:off x="7943850" y="3841528"/>
            <a:ext cx="34099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缺失与重建条件</a:t>
            </a:r>
            <a:endParaRPr lang="zh-CN" sz="1950" dirty="0"/>
          </a:p>
        </p:txBody>
      </p:sp>
      <p:sp>
        <p:nvSpPr>
          <p:cNvPr id="38" name="T42/card/region-2/body"/>
          <p:cNvSpPr/>
          <p:nvPr/>
        </p:nvSpPr>
        <p:spPr>
          <a:xfrm>
            <a:off x="7943850" y="4298728"/>
            <a:ext cx="3600450" cy="150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定位缺失参数、数据或执行步骤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记录重建假设及其可能影响</a:t>
            </a:r>
            <a:endParaRPr lang="zh-CN" sz="1800" dirty="0"/>
          </a:p>
        </p:txBody>
      </p:sp>
      <p:sp>
        <p:nvSpPr>
          <p:cNvPr id="39" name="T4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3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 / 48</a:t>
            </a:r>
            <a:endParaRPr lang="zh-CN" sz="1050" dirty="0"/>
          </a:p>
        </p:txBody>
      </p:sp>
      <p:sp>
        <p:nvSpPr>
          <p:cNvPr id="4" name="T43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从证据缺口到可检验假设</a:t>
            </a:r>
            <a:endParaRPr lang="zh-CN" sz="3000" dirty="0"/>
          </a:p>
        </p:txBody>
      </p:sp>
      <p:sp>
        <p:nvSpPr>
          <p:cNvPr id="5" name="T43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3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3/card/region-1/frame"/>
          <p:cNvSpPr/>
          <p:nvPr/>
        </p:nvSpPr>
        <p:spPr>
          <a:xfrm>
            <a:off x="457200" y="1206722"/>
            <a:ext cx="5486400" cy="1740884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43/card/region-1/heading-fill"/>
          <p:cNvSpPr/>
          <p:nvPr/>
        </p:nvSpPr>
        <p:spPr>
          <a:xfrm>
            <a:off x="466725" y="1216247"/>
            <a:ext cx="546735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43/card/region-1/heading-rule"/>
          <p:cNvSpPr/>
          <p:nvPr/>
        </p:nvSpPr>
        <p:spPr>
          <a:xfrm>
            <a:off x="457200" y="1587722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43/card/region-1/title"/>
          <p:cNvSpPr/>
          <p:nvPr/>
        </p:nvSpPr>
        <p:spPr>
          <a:xfrm>
            <a:off x="581025" y="1254347"/>
            <a:ext cx="52387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已有证据</a:t>
            </a:r>
            <a:endParaRPr lang="zh-CN" sz="1950" dirty="0"/>
          </a:p>
        </p:txBody>
      </p:sp>
      <p:sp>
        <p:nvSpPr>
          <p:cNvPr id="11" name="T43/card/region-1/body"/>
          <p:cNvSpPr/>
          <p:nvPr/>
        </p:nvSpPr>
        <p:spPr>
          <a:xfrm>
            <a:off x="590550" y="1692497"/>
            <a:ext cx="5219700" cy="1159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填写可追溯的已有发现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指出效应与验证范围</a:t>
            </a:r>
            <a:endParaRPr lang="zh-CN" sz="1800" dirty="0"/>
          </a:p>
        </p:txBody>
      </p:sp>
      <p:sp>
        <p:nvSpPr>
          <p:cNvPr id="12" name="T43/card/region-2/frame"/>
          <p:cNvSpPr/>
          <p:nvPr/>
        </p:nvSpPr>
        <p:spPr>
          <a:xfrm>
            <a:off x="6248400" y="1321022"/>
            <a:ext cx="5486400" cy="1626584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3" name="T43/card/region-2/tab"/>
          <p:cNvSpPr/>
          <p:nvPr/>
        </p:nvSpPr>
        <p:spPr>
          <a:xfrm>
            <a:off x="6362700" y="1206722"/>
            <a:ext cx="1257300" cy="34290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43/card/region-2/title"/>
          <p:cNvSpPr/>
          <p:nvPr/>
        </p:nvSpPr>
        <p:spPr>
          <a:xfrm>
            <a:off x="6467475" y="1235297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尚存缺口</a:t>
            </a:r>
            <a:endParaRPr lang="zh-CN" sz="1950" dirty="0"/>
          </a:p>
        </p:txBody>
      </p:sp>
      <p:sp>
        <p:nvSpPr>
          <p:cNvPr id="15" name="T43/card/region-2/body"/>
          <p:cNvSpPr/>
          <p:nvPr/>
        </p:nvSpPr>
        <p:spPr>
          <a:xfrm>
            <a:off x="6381750" y="1692497"/>
            <a:ext cx="5219700" cy="1159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将缺少的证据写成具体问题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区分未知机制与未测环境</a:t>
            </a:r>
            <a:endParaRPr lang="zh-CN" sz="1800" dirty="0"/>
          </a:p>
        </p:txBody>
      </p:sp>
      <p:sp>
        <p:nvSpPr>
          <p:cNvPr id="16" name="T43/card/region-3/frame"/>
          <p:cNvSpPr/>
          <p:nvPr/>
        </p:nvSpPr>
        <p:spPr>
          <a:xfrm>
            <a:off x="457200" y="3283934"/>
            <a:ext cx="3467100" cy="2730056"/>
          </a:xfrm>
          <a:prstGeom prst="rect">
            <a:avLst/>
          </a:prstGeom>
          <a:solidFill>
            <a:srgbClr val="F2EDF7"/>
          </a:solidFill>
          <a:ln w="12383">
            <a:solidFill>
              <a:srgbClr val="6C528E"/>
            </a:solidFill>
            <a:prstDash val="dash"/>
          </a:ln>
        </p:spPr>
      </p:sp>
      <p:sp>
        <p:nvSpPr>
          <p:cNvPr id="17" name="T43/card/region-3/corner-white"/>
          <p:cNvSpPr/>
          <p:nvPr/>
        </p:nvSpPr>
        <p:spPr>
          <a:xfrm>
            <a:off x="3657600" y="3283934"/>
            <a:ext cx="2667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43/card/region-3/fold-diagonal"/>
          <p:cNvSpPr/>
          <p:nvPr/>
        </p:nvSpPr>
        <p:spPr>
          <a:xfrm>
            <a:off x="3657600" y="3283934"/>
            <a:ext cx="266700" cy="266700"/>
          </a:xfrm>
          <a:prstGeom prst="line">
            <a:avLst/>
          </a:prstGeom>
          <a:noFill/>
          <a:ln w="13335">
            <a:solidFill>
              <a:srgbClr val="6C528E"/>
            </a:solidFill>
            <a:prstDash val="solid"/>
          </a:ln>
        </p:spPr>
      </p:sp>
      <p:sp>
        <p:nvSpPr>
          <p:cNvPr id="19" name="T43/card/region-3/fold-left"/>
          <p:cNvSpPr/>
          <p:nvPr/>
        </p:nvSpPr>
        <p:spPr>
          <a:xfrm>
            <a:off x="3657600" y="3283934"/>
            <a:ext cx="0" cy="266700"/>
          </a:xfrm>
          <a:prstGeom prst="line">
            <a:avLst/>
          </a:prstGeom>
          <a:noFill/>
          <a:ln w="13335">
            <a:solidFill>
              <a:srgbClr val="6C528E"/>
            </a:solidFill>
            <a:prstDash val="solid"/>
          </a:ln>
        </p:spPr>
      </p:sp>
      <p:sp>
        <p:nvSpPr>
          <p:cNvPr id="20" name="T43/card/region-3/fold-bottom"/>
          <p:cNvSpPr/>
          <p:nvPr/>
        </p:nvSpPr>
        <p:spPr>
          <a:xfrm>
            <a:off x="3657600" y="3550634"/>
            <a:ext cx="266700" cy="0"/>
          </a:xfrm>
          <a:prstGeom prst="line">
            <a:avLst/>
          </a:prstGeom>
          <a:noFill/>
          <a:ln w="13335">
            <a:solidFill>
              <a:srgbClr val="6C528E"/>
            </a:solidFill>
            <a:prstDash val="solid"/>
          </a:ln>
        </p:spPr>
      </p:sp>
      <p:sp>
        <p:nvSpPr>
          <p:cNvPr id="21" name="T43/card/region-3/title"/>
          <p:cNvSpPr/>
          <p:nvPr/>
        </p:nvSpPr>
        <p:spPr>
          <a:xfrm>
            <a:off x="647700" y="3445859"/>
            <a:ext cx="2895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研究假设</a:t>
            </a:r>
            <a:endParaRPr lang="zh-CN" sz="1950" dirty="0"/>
          </a:p>
        </p:txBody>
      </p:sp>
      <p:sp>
        <p:nvSpPr>
          <p:cNvPr id="22" name="T43/card/region-3/body"/>
          <p:cNvSpPr/>
          <p:nvPr/>
        </p:nvSpPr>
        <p:spPr>
          <a:xfrm>
            <a:off x="647700" y="3903059"/>
            <a:ext cx="3086100" cy="1920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改变一个明确的机制或接口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预期哪个指标发生什么变化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哪种观察会使假说不获支持</a:t>
            </a:r>
            <a:endParaRPr lang="zh-CN" sz="1800" dirty="0"/>
          </a:p>
        </p:txBody>
      </p:sp>
      <p:sp>
        <p:nvSpPr>
          <p:cNvPr id="23" name="T43/card/region-4/frame"/>
          <p:cNvSpPr/>
          <p:nvPr/>
        </p:nvSpPr>
        <p:spPr>
          <a:xfrm>
            <a:off x="4210050" y="3445859"/>
            <a:ext cx="3467100" cy="2568131"/>
          </a:xfrm>
          <a:prstGeom prst="rect">
            <a:avLst/>
          </a:prstGeom>
          <a:solidFill>
            <a:srgbClr val="FFFFFF"/>
          </a:solidFill>
          <a:ln w="14288">
            <a:solidFill>
              <a:srgbClr val="235E96"/>
            </a:solidFill>
            <a:prstDash val="solid"/>
          </a:ln>
        </p:spPr>
      </p:sp>
      <p:sp>
        <p:nvSpPr>
          <p:cNvPr id="24" name="T43/card/region-4/title-cutout"/>
          <p:cNvSpPr/>
          <p:nvPr/>
        </p:nvSpPr>
        <p:spPr>
          <a:xfrm>
            <a:off x="4343400" y="3293459"/>
            <a:ext cx="1085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43/card/region-4/base-rule"/>
          <p:cNvSpPr/>
          <p:nvPr/>
        </p:nvSpPr>
        <p:spPr>
          <a:xfrm>
            <a:off x="4400550" y="5861590"/>
            <a:ext cx="333375" cy="0"/>
          </a:xfrm>
          <a:prstGeom prst="line">
            <a:avLst/>
          </a:prstGeom>
          <a:noFill/>
          <a:ln w="28575">
            <a:solidFill>
              <a:srgbClr val="235E96"/>
            </a:solidFill>
            <a:prstDash val="solid"/>
          </a:ln>
        </p:spPr>
      </p:sp>
      <p:sp>
        <p:nvSpPr>
          <p:cNvPr id="26" name="T43/card/region-4/title"/>
          <p:cNvSpPr/>
          <p:nvPr/>
        </p:nvSpPr>
        <p:spPr>
          <a:xfrm>
            <a:off x="4400550" y="3302984"/>
            <a:ext cx="30861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实验对照</a:t>
            </a:r>
            <a:endParaRPr lang="zh-CN" sz="1950" dirty="0"/>
          </a:p>
        </p:txBody>
      </p:sp>
      <p:sp>
        <p:nvSpPr>
          <p:cNvPr id="27" name="T43/card/region-4/body"/>
          <p:cNvSpPr/>
          <p:nvPr/>
        </p:nvSpPr>
        <p:spPr>
          <a:xfrm>
            <a:off x="4400550" y="3836384"/>
            <a:ext cx="3086100" cy="1987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冻结其余信息与工具预算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设置基线、干预和必要消融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保证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同一评价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和留出条件</a:t>
            </a:r>
            <a:endParaRPr lang="zh-CN" sz="1800" dirty="0"/>
          </a:p>
        </p:txBody>
      </p:sp>
      <p:sp>
        <p:nvSpPr>
          <p:cNvPr id="28" name="T43/card/region-5/frame"/>
          <p:cNvSpPr/>
          <p:nvPr/>
        </p:nvSpPr>
        <p:spPr>
          <a:xfrm>
            <a:off x="7962900" y="3283934"/>
            <a:ext cx="3771900" cy="2730056"/>
          </a:xfrm>
          <a:prstGeom prst="rect">
            <a:avLst/>
          </a:prstGeom>
          <a:solidFill>
            <a:srgbClr val="FFFFFF"/>
          </a:solidFill>
          <a:ln w="9525">
            <a:solidFill>
              <a:srgbClr val="BEC8D4"/>
            </a:solidFill>
            <a:prstDash val="solid"/>
          </a:ln>
        </p:spPr>
      </p:sp>
      <p:sp>
        <p:nvSpPr>
          <p:cNvPr id="29" name="T43/card/region-5/ledger-accent"/>
          <p:cNvSpPr/>
          <p:nvPr/>
        </p:nvSpPr>
        <p:spPr>
          <a:xfrm>
            <a:off x="7962900" y="3283934"/>
            <a:ext cx="57150" cy="2730056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43/card/region-5/ledger-rule"/>
          <p:cNvSpPr/>
          <p:nvPr/>
        </p:nvSpPr>
        <p:spPr>
          <a:xfrm>
            <a:off x="8153400" y="3826859"/>
            <a:ext cx="3390900" cy="0"/>
          </a:xfrm>
          <a:prstGeom prst="line">
            <a:avLst/>
          </a:prstGeom>
          <a:noFill/>
          <a:ln w="13335">
            <a:solidFill>
              <a:srgbClr val="BEC8D4"/>
            </a:solidFill>
            <a:prstDash val="solid"/>
          </a:ln>
        </p:spPr>
      </p:sp>
      <p:sp>
        <p:nvSpPr>
          <p:cNvPr id="31" name="T43/card/region-5/title"/>
          <p:cNvSpPr/>
          <p:nvPr/>
        </p:nvSpPr>
        <p:spPr>
          <a:xfrm>
            <a:off x="8153400" y="3445859"/>
            <a:ext cx="33909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评价与反证</a:t>
            </a:r>
            <a:endParaRPr lang="zh-CN" sz="1950" dirty="0"/>
          </a:p>
        </p:txBody>
      </p:sp>
      <p:sp>
        <p:nvSpPr>
          <p:cNvPr id="32" name="T43/card/region-5/body"/>
          <p:cNvSpPr/>
          <p:nvPr/>
        </p:nvSpPr>
        <p:spPr>
          <a:xfrm>
            <a:off x="8153400" y="3969734"/>
            <a:ext cx="3390900" cy="1853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预先定义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主要终点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不确定性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同时报告失败、成本和风险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无效或负效应也应完整保留</a:t>
            </a:r>
            <a:endParaRPr lang="zh-CN" sz="1800" dirty="0"/>
          </a:p>
        </p:txBody>
      </p:sp>
      <p:sp>
        <p:nvSpPr>
          <p:cNvPr id="33" name="T4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4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44 / 48</a:t>
            </a:r>
            <a:endParaRPr lang="zh-CN" sz="1050" dirty="0"/>
          </a:p>
        </p:txBody>
      </p:sp>
      <p:sp>
        <p:nvSpPr>
          <p:cNvPr id="4" name="T44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公平比较的实验结构</a:t>
            </a:r>
            <a:endParaRPr lang="zh-CN" sz="3000" dirty="0"/>
          </a:p>
        </p:txBody>
      </p:sp>
      <p:sp>
        <p:nvSpPr>
          <p:cNvPr id="5" name="T44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4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4/edge:0:segment:0"/>
          <p:cNvSpPr/>
          <p:nvPr/>
        </p:nvSpPr>
        <p:spPr>
          <a:xfrm>
            <a:off x="4362450" y="2156365"/>
            <a:ext cx="0" cy="43519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8" name="T44/edge:0:segment:1"/>
          <p:cNvSpPr/>
          <p:nvPr/>
        </p:nvSpPr>
        <p:spPr>
          <a:xfrm flipH="1">
            <a:off x="1876425" y="2591562"/>
            <a:ext cx="24860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9" name="T44/edge:0:segment:2"/>
          <p:cNvSpPr/>
          <p:nvPr/>
        </p:nvSpPr>
        <p:spPr>
          <a:xfrm>
            <a:off x="1876425" y="2591562"/>
            <a:ext cx="0" cy="43519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44/edge:1:segment:0"/>
          <p:cNvSpPr/>
          <p:nvPr/>
        </p:nvSpPr>
        <p:spPr>
          <a:xfrm>
            <a:off x="4362450" y="2156365"/>
            <a:ext cx="0" cy="43519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1" name="T44/edge:1:segment:1"/>
          <p:cNvSpPr/>
          <p:nvPr/>
        </p:nvSpPr>
        <p:spPr>
          <a:xfrm>
            <a:off x="4362450" y="2591562"/>
            <a:ext cx="21812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2" name="T44/edge:1:segment:2"/>
          <p:cNvSpPr/>
          <p:nvPr/>
        </p:nvSpPr>
        <p:spPr>
          <a:xfrm>
            <a:off x="6543675" y="2591562"/>
            <a:ext cx="0" cy="43519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3" name="T44/edge:2:segment:0"/>
          <p:cNvSpPr/>
          <p:nvPr/>
        </p:nvSpPr>
        <p:spPr>
          <a:xfrm>
            <a:off x="3086100" y="3659791"/>
            <a:ext cx="476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4" name="T44/edge:2:segment:1"/>
          <p:cNvSpPr/>
          <p:nvPr/>
        </p:nvSpPr>
        <p:spPr>
          <a:xfrm>
            <a:off x="3133725" y="3659791"/>
            <a:ext cx="0" cy="182989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5" name="T44/edge:2:segment:2"/>
          <p:cNvSpPr/>
          <p:nvPr/>
        </p:nvSpPr>
        <p:spPr>
          <a:xfrm>
            <a:off x="3133725" y="5489686"/>
            <a:ext cx="476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6" name="T44/edge:3:segment:0"/>
          <p:cNvSpPr/>
          <p:nvPr/>
        </p:nvSpPr>
        <p:spPr>
          <a:xfrm>
            <a:off x="6543675" y="4292822"/>
            <a:ext cx="0" cy="356092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7" name="T44/edge:3:segment:1"/>
          <p:cNvSpPr/>
          <p:nvPr/>
        </p:nvSpPr>
        <p:spPr>
          <a:xfrm flipH="1">
            <a:off x="4362450" y="4648914"/>
            <a:ext cx="21812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8" name="T44/edge:3:segment:2"/>
          <p:cNvSpPr/>
          <p:nvPr/>
        </p:nvSpPr>
        <p:spPr>
          <a:xfrm>
            <a:off x="4362450" y="4648914"/>
            <a:ext cx="0" cy="356092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9" name="T44/node:step-1:frame"/>
          <p:cNvSpPr/>
          <p:nvPr/>
        </p:nvSpPr>
        <p:spPr>
          <a:xfrm>
            <a:off x="3181350" y="1226534"/>
            <a:ext cx="2362200" cy="929831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0" name="T44/node:step-1:heading-rule"/>
          <p:cNvSpPr/>
          <p:nvPr/>
        </p:nvSpPr>
        <p:spPr>
          <a:xfrm>
            <a:off x="3181350" y="1226534"/>
            <a:ext cx="236220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21" name="T44/node:step-1:label"/>
          <p:cNvSpPr/>
          <p:nvPr/>
        </p:nvSpPr>
        <p:spPr>
          <a:xfrm>
            <a:off x="3295650" y="1558100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同一数据与任务集</a:t>
            </a:r>
            <a:endParaRPr lang="zh-CN" sz="1800" dirty="0"/>
          </a:p>
        </p:txBody>
      </p:sp>
      <p:sp>
        <p:nvSpPr>
          <p:cNvPr id="22" name="T44/node:step-2:frame"/>
          <p:cNvSpPr/>
          <p:nvPr/>
        </p:nvSpPr>
        <p:spPr>
          <a:xfrm>
            <a:off x="666750" y="3026759"/>
            <a:ext cx="241935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3" name="T44/node:step-2:heading-rule"/>
          <p:cNvSpPr/>
          <p:nvPr/>
        </p:nvSpPr>
        <p:spPr>
          <a:xfrm>
            <a:off x="666750" y="3026759"/>
            <a:ext cx="24193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4" name="T44/node:step-2:label"/>
          <p:cNvSpPr/>
          <p:nvPr/>
        </p:nvSpPr>
        <p:spPr>
          <a:xfrm>
            <a:off x="781050" y="3122009"/>
            <a:ext cx="21907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基线流程</a:t>
            </a:r>
            <a:endParaRPr lang="zh-CN" sz="1800" dirty="0"/>
          </a:p>
        </p:txBody>
      </p:sp>
      <p:sp>
        <p:nvSpPr>
          <p:cNvPr id="25" name="T44/node:step-2:detail"/>
          <p:cNvSpPr/>
          <p:nvPr/>
        </p:nvSpPr>
        <p:spPr>
          <a:xfrm>
            <a:off x="781050" y="3436334"/>
            <a:ext cx="219075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原有处理机制</a:t>
            </a:r>
            <a:endParaRPr lang="zh-CN" sz="1650" dirty="0"/>
          </a:p>
        </p:txBody>
      </p:sp>
      <p:sp>
        <p:nvSpPr>
          <p:cNvPr id="26" name="T44/node:step-3:frame"/>
          <p:cNvSpPr/>
          <p:nvPr/>
        </p:nvSpPr>
        <p:spPr>
          <a:xfrm>
            <a:off x="5334000" y="3026759"/>
            <a:ext cx="241935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7" name="T44/node:step-3:heading-rule"/>
          <p:cNvSpPr/>
          <p:nvPr/>
        </p:nvSpPr>
        <p:spPr>
          <a:xfrm>
            <a:off x="5334000" y="3026759"/>
            <a:ext cx="24193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8" name="T44/node:step-3:label"/>
          <p:cNvSpPr/>
          <p:nvPr/>
        </p:nvSpPr>
        <p:spPr>
          <a:xfrm>
            <a:off x="5448300" y="3122009"/>
            <a:ext cx="21907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干预流程</a:t>
            </a:r>
            <a:endParaRPr lang="zh-CN" sz="1800" dirty="0"/>
          </a:p>
        </p:txBody>
      </p:sp>
      <p:sp>
        <p:nvSpPr>
          <p:cNvPr id="29" name="T44/node:step-3:detail"/>
          <p:cNvSpPr/>
          <p:nvPr/>
        </p:nvSpPr>
        <p:spPr>
          <a:xfrm>
            <a:off x="5448300" y="3436334"/>
            <a:ext cx="219075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只改变指定模块</a:t>
            </a:r>
            <a:endParaRPr lang="zh-CN" sz="1650" dirty="0"/>
          </a:p>
        </p:txBody>
      </p:sp>
      <p:sp>
        <p:nvSpPr>
          <p:cNvPr id="30" name="T44/node:step-4:frame"/>
          <p:cNvSpPr/>
          <p:nvPr/>
        </p:nvSpPr>
        <p:spPr>
          <a:xfrm>
            <a:off x="3181350" y="5005007"/>
            <a:ext cx="2362200" cy="969359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1" name="T44/node:step-4:heading-rule"/>
          <p:cNvSpPr/>
          <p:nvPr/>
        </p:nvSpPr>
        <p:spPr>
          <a:xfrm>
            <a:off x="3181350" y="5005007"/>
            <a:ext cx="23622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32" name="T44/node:step-4:label"/>
          <p:cNvSpPr/>
          <p:nvPr/>
        </p:nvSpPr>
        <p:spPr>
          <a:xfrm>
            <a:off x="3295650" y="5356336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统一评价</a:t>
            </a:r>
            <a:endParaRPr lang="zh-CN" sz="1800" dirty="0"/>
          </a:p>
        </p:txBody>
      </p:sp>
      <p:sp>
        <p:nvSpPr>
          <p:cNvPr id="33" name="T44/card/region-1/frame"/>
          <p:cNvSpPr/>
          <p:nvPr/>
        </p:nvSpPr>
        <p:spPr>
          <a:xfrm>
            <a:off x="8610600" y="1206722"/>
            <a:ext cx="3124200" cy="2176082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4" name="T44/card/region-1/heading-fill"/>
          <p:cNvSpPr/>
          <p:nvPr/>
        </p:nvSpPr>
        <p:spPr>
          <a:xfrm>
            <a:off x="8620125" y="1216247"/>
            <a:ext cx="310515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44/card/region-1/heading-rule"/>
          <p:cNvSpPr/>
          <p:nvPr/>
        </p:nvSpPr>
        <p:spPr>
          <a:xfrm>
            <a:off x="8610600" y="1587722"/>
            <a:ext cx="31242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6" name="T44/card/region-1/title"/>
          <p:cNvSpPr/>
          <p:nvPr/>
        </p:nvSpPr>
        <p:spPr>
          <a:xfrm>
            <a:off x="8734425" y="1254347"/>
            <a:ext cx="28765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共同预算与信息</a:t>
            </a:r>
            <a:endParaRPr lang="zh-CN" sz="1950" dirty="0"/>
          </a:p>
        </p:txBody>
      </p:sp>
      <p:sp>
        <p:nvSpPr>
          <p:cNvPr id="37" name="T44/card/region-1/body"/>
          <p:cNvSpPr/>
          <p:nvPr/>
        </p:nvSpPr>
        <p:spPr>
          <a:xfrm>
            <a:off x="8743950" y="1692497"/>
            <a:ext cx="2857500" cy="1595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双方使用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同一任务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、观测和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固定调用次数、人工介入和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明确干预只改变哪个环节</a:t>
            </a:r>
            <a:endParaRPr lang="zh-CN" sz="1800" dirty="0"/>
          </a:p>
        </p:txBody>
      </p:sp>
      <p:sp>
        <p:nvSpPr>
          <p:cNvPr id="38" name="T44/card/region-2/frame"/>
          <p:cNvSpPr/>
          <p:nvPr/>
        </p:nvSpPr>
        <p:spPr>
          <a:xfrm>
            <a:off x="8610600" y="3734562"/>
            <a:ext cx="3124200" cy="225961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9" name="T44/card/region-2/tab"/>
          <p:cNvSpPr/>
          <p:nvPr/>
        </p:nvSpPr>
        <p:spPr>
          <a:xfrm>
            <a:off x="8724900" y="3620262"/>
            <a:ext cx="200025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44/card/region-2/title"/>
          <p:cNvSpPr/>
          <p:nvPr/>
        </p:nvSpPr>
        <p:spPr>
          <a:xfrm>
            <a:off x="8829675" y="3648837"/>
            <a:ext cx="17907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主要终点与反证</a:t>
            </a:r>
            <a:endParaRPr lang="zh-CN" sz="1950" dirty="0"/>
          </a:p>
        </p:txBody>
      </p:sp>
      <p:sp>
        <p:nvSpPr>
          <p:cNvPr id="41" name="T44/card/region-2/body"/>
          <p:cNvSpPr/>
          <p:nvPr/>
        </p:nvSpPr>
        <p:spPr>
          <a:xfrm>
            <a:off x="8743950" y="4106037"/>
            <a:ext cx="2857500" cy="179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定义可测的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主要终点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统一盲评与统计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预先规定不支持假说的结果</a:t>
            </a:r>
            <a:endParaRPr lang="zh-CN" sz="1800" dirty="0"/>
          </a:p>
        </p:txBody>
      </p:sp>
      <p:sp>
        <p:nvSpPr>
          <p:cNvPr id="42" name="T4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5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5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 / 48</a:t>
            </a:r>
            <a:endParaRPr lang="zh-CN" sz="1050" dirty="0"/>
          </a:p>
        </p:txBody>
      </p:sp>
      <p:sp>
        <p:nvSpPr>
          <p:cNvPr id="4" name="T45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数据采集与评价计划</a:t>
            </a:r>
            <a:endParaRPr lang="zh-CN" sz="3000" dirty="0"/>
          </a:p>
        </p:txBody>
      </p:sp>
      <p:sp>
        <p:nvSpPr>
          <p:cNvPr id="5" name="T45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5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5/edge:0"/>
          <p:cNvSpPr/>
          <p:nvPr/>
        </p:nvSpPr>
        <p:spPr>
          <a:xfrm>
            <a:off x="2743200" y="2027682"/>
            <a:ext cx="7048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8" name="T45/edge:1"/>
          <p:cNvSpPr/>
          <p:nvPr/>
        </p:nvSpPr>
        <p:spPr>
          <a:xfrm>
            <a:off x="5734050" y="2027682"/>
            <a:ext cx="7048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9" name="T45/edge:2"/>
          <p:cNvSpPr/>
          <p:nvPr/>
        </p:nvSpPr>
        <p:spPr>
          <a:xfrm>
            <a:off x="8724900" y="2027682"/>
            <a:ext cx="7048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45/node:step-1:frame"/>
          <p:cNvSpPr/>
          <p:nvPr/>
        </p:nvSpPr>
        <p:spPr>
          <a:xfrm>
            <a:off x="457200" y="1384745"/>
            <a:ext cx="2286000" cy="1285875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1" name="T45/node:step-1:heading-rule"/>
          <p:cNvSpPr/>
          <p:nvPr/>
        </p:nvSpPr>
        <p:spPr>
          <a:xfrm>
            <a:off x="457200" y="1384745"/>
            <a:ext cx="228600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12" name="T45/node:step-1:label"/>
          <p:cNvSpPr/>
          <p:nvPr/>
        </p:nvSpPr>
        <p:spPr>
          <a:xfrm>
            <a:off x="571500" y="1479995"/>
            <a:ext cx="2057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目标总体</a:t>
            </a:r>
            <a:endParaRPr lang="zh-CN" sz="1800" dirty="0"/>
          </a:p>
        </p:txBody>
      </p:sp>
      <p:sp>
        <p:nvSpPr>
          <p:cNvPr id="13" name="T45/node:step-1:detail"/>
          <p:cNvSpPr/>
          <p:nvPr/>
        </p:nvSpPr>
        <p:spPr>
          <a:xfrm>
            <a:off x="571500" y="1794320"/>
            <a:ext cx="2057400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独立实验单位</a:t>
            </a:r>
            <a:endParaRPr lang="zh-CN" sz="1650" dirty="0"/>
          </a:p>
        </p:txBody>
      </p:sp>
      <p:sp>
        <p:nvSpPr>
          <p:cNvPr id="14" name="T45/node:step-2:frame"/>
          <p:cNvSpPr/>
          <p:nvPr/>
        </p:nvSpPr>
        <p:spPr>
          <a:xfrm>
            <a:off x="3448050" y="1384745"/>
            <a:ext cx="2286000" cy="1285875"/>
          </a:xfrm>
          <a:prstGeom prst="rect">
            <a:avLst/>
          </a:prstGeom>
          <a:solidFill>
            <a:srgbClr val="FAEEE8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5" name="T45/node:step-2:heading-rule"/>
          <p:cNvSpPr/>
          <p:nvPr/>
        </p:nvSpPr>
        <p:spPr>
          <a:xfrm>
            <a:off x="3448050" y="1384745"/>
            <a:ext cx="2286000" cy="0"/>
          </a:xfrm>
          <a:prstGeom prst="line">
            <a:avLst/>
          </a:prstGeom>
          <a:noFill/>
          <a:ln w="19050">
            <a:solidFill>
              <a:srgbClr val="A24736"/>
            </a:solidFill>
            <a:prstDash val="solid"/>
          </a:ln>
        </p:spPr>
      </p:sp>
      <p:sp>
        <p:nvSpPr>
          <p:cNvPr id="16" name="T45/node:step-2:label"/>
          <p:cNvSpPr/>
          <p:nvPr/>
        </p:nvSpPr>
        <p:spPr>
          <a:xfrm>
            <a:off x="3562350" y="1479995"/>
            <a:ext cx="2057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采集与质量控制</a:t>
            </a:r>
            <a:endParaRPr lang="zh-CN" sz="1800" dirty="0"/>
          </a:p>
        </p:txBody>
      </p:sp>
      <p:sp>
        <p:nvSpPr>
          <p:cNvPr id="17" name="T45/node:step-2:detail"/>
          <p:cNvSpPr/>
          <p:nvPr/>
        </p:nvSpPr>
        <p:spPr>
          <a:xfrm>
            <a:off x="3562350" y="1794320"/>
            <a:ext cx="2057400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统一测量与版本</a:t>
            </a:r>
            <a:endParaRPr lang="zh-CN" sz="1650" dirty="0"/>
          </a:p>
        </p:txBody>
      </p:sp>
      <p:sp>
        <p:nvSpPr>
          <p:cNvPr id="18" name="T45/node:step-3:frame"/>
          <p:cNvSpPr/>
          <p:nvPr/>
        </p:nvSpPr>
        <p:spPr>
          <a:xfrm>
            <a:off x="6438900" y="1384745"/>
            <a:ext cx="2286000" cy="1285875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45/node:step-3:heading-rule"/>
          <p:cNvSpPr/>
          <p:nvPr/>
        </p:nvSpPr>
        <p:spPr>
          <a:xfrm>
            <a:off x="6438900" y="1384745"/>
            <a:ext cx="22860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0" name="T45/node:step-3:label"/>
          <p:cNvSpPr/>
          <p:nvPr/>
        </p:nvSpPr>
        <p:spPr>
          <a:xfrm>
            <a:off x="6553200" y="1479995"/>
            <a:ext cx="2057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预注册分析</a:t>
            </a:r>
            <a:endParaRPr lang="zh-CN" sz="1800" dirty="0"/>
          </a:p>
        </p:txBody>
      </p:sp>
      <p:sp>
        <p:nvSpPr>
          <p:cNvPr id="21" name="T45/node:step-3:detail"/>
          <p:cNvSpPr/>
          <p:nvPr/>
        </p:nvSpPr>
        <p:spPr>
          <a:xfrm>
            <a:off x="6553200" y="1794320"/>
            <a:ext cx="2057400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冻结主要终点</a:t>
            </a:r>
            <a:endParaRPr lang="zh-CN" sz="1650" dirty="0"/>
          </a:p>
        </p:txBody>
      </p:sp>
      <p:sp>
        <p:nvSpPr>
          <p:cNvPr id="22" name="T45/node:step-4:frame"/>
          <p:cNvSpPr/>
          <p:nvPr/>
        </p:nvSpPr>
        <p:spPr>
          <a:xfrm>
            <a:off x="9429750" y="1384745"/>
            <a:ext cx="2305050" cy="1285875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3" name="T45/node:step-4:heading-rule"/>
          <p:cNvSpPr/>
          <p:nvPr/>
        </p:nvSpPr>
        <p:spPr>
          <a:xfrm>
            <a:off x="9429750" y="1384745"/>
            <a:ext cx="230505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24" name="T45/node:step-4:label"/>
          <p:cNvSpPr/>
          <p:nvPr/>
        </p:nvSpPr>
        <p:spPr>
          <a:xfrm>
            <a:off x="9544050" y="1479995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独立验证</a:t>
            </a:r>
            <a:endParaRPr lang="zh-CN" sz="1800" dirty="0"/>
          </a:p>
        </p:txBody>
      </p:sp>
      <p:sp>
        <p:nvSpPr>
          <p:cNvPr id="25" name="T45/node:step-4:detail"/>
          <p:cNvSpPr/>
          <p:nvPr/>
        </p:nvSpPr>
        <p:spPr>
          <a:xfrm>
            <a:off x="9544050" y="1794320"/>
            <a:ext cx="2076450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单独留出环境</a:t>
            </a:r>
            <a:endParaRPr lang="zh-CN" sz="1650" dirty="0"/>
          </a:p>
        </p:txBody>
      </p:sp>
      <p:sp>
        <p:nvSpPr>
          <p:cNvPr id="26" name="T45/card/region-1/frame"/>
          <p:cNvSpPr/>
          <p:nvPr/>
        </p:nvSpPr>
        <p:spPr>
          <a:xfrm>
            <a:off x="457200" y="3738944"/>
            <a:ext cx="5467350" cy="227504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7" name="T45/card/region-1/heading-fill"/>
          <p:cNvSpPr/>
          <p:nvPr/>
        </p:nvSpPr>
        <p:spPr>
          <a:xfrm>
            <a:off x="466725" y="3748469"/>
            <a:ext cx="544830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45/card/region-1/heading-rule"/>
          <p:cNvSpPr/>
          <p:nvPr/>
        </p:nvSpPr>
        <p:spPr>
          <a:xfrm>
            <a:off x="457200" y="4119944"/>
            <a:ext cx="54673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9" name="T45/card/region-1/title"/>
          <p:cNvSpPr/>
          <p:nvPr/>
        </p:nvSpPr>
        <p:spPr>
          <a:xfrm>
            <a:off x="581025" y="3786569"/>
            <a:ext cx="5219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样本量与采集计划</a:t>
            </a:r>
            <a:endParaRPr lang="zh-CN" sz="1950" dirty="0"/>
          </a:p>
        </p:txBody>
      </p:sp>
      <p:sp>
        <p:nvSpPr>
          <p:cNvPr id="30" name="T45/card/region-1/body"/>
          <p:cNvSpPr/>
          <p:nvPr/>
        </p:nvSpPr>
        <p:spPr>
          <a:xfrm>
            <a:off x="590550" y="4224719"/>
            <a:ext cx="5200650" cy="169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独立实验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规划采集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依据预期效应与变异说明样本量</a:t>
            </a:r>
            <a:endParaRPr lang="zh-CN" sz="1800" dirty="0"/>
          </a:p>
        </p:txBody>
      </p:sp>
      <p:sp>
        <p:nvSpPr>
          <p:cNvPr id="31" name="T45/card/region-2/heading-rule"/>
          <p:cNvSpPr/>
          <p:nvPr/>
        </p:nvSpPr>
        <p:spPr>
          <a:xfrm>
            <a:off x="6248400" y="4100894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2" name="T45/card/region-2/heading-mark"/>
          <p:cNvSpPr/>
          <p:nvPr/>
        </p:nvSpPr>
        <p:spPr>
          <a:xfrm>
            <a:off x="6248400" y="4100894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33" name="T45/card/region-2/title"/>
          <p:cNvSpPr/>
          <p:nvPr/>
        </p:nvSpPr>
        <p:spPr>
          <a:xfrm>
            <a:off x="6248400" y="3757994"/>
            <a:ext cx="54864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留出与分析计划</a:t>
            </a:r>
            <a:endParaRPr lang="zh-CN" sz="1950" dirty="0"/>
          </a:p>
        </p:txBody>
      </p:sp>
      <p:sp>
        <p:nvSpPr>
          <p:cNvPr id="34" name="T45/card/region-2/body"/>
          <p:cNvSpPr/>
          <p:nvPr/>
        </p:nvSpPr>
        <p:spPr>
          <a:xfrm>
            <a:off x="6248400" y="4234244"/>
            <a:ext cx="5486400" cy="174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在采集前明确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主要终点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和分析程序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锁定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独立留出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条件与缺失值处理</a:t>
            </a:r>
            <a:endParaRPr lang="zh-CN" sz="1800" dirty="0"/>
          </a:p>
        </p:txBody>
      </p:sp>
      <p:sp>
        <p:nvSpPr>
          <p:cNvPr id="35" name="T4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6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6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46 / 48</a:t>
            </a:r>
            <a:endParaRPr lang="zh-CN" sz="1050" dirty="0"/>
          </a:p>
        </p:txBody>
      </p:sp>
      <p:sp>
        <p:nvSpPr>
          <p:cNvPr id="4" name="T46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研究任务与阶段交付</a:t>
            </a:r>
            <a:endParaRPr lang="zh-CN" sz="3000" dirty="0"/>
          </a:p>
        </p:txBody>
      </p:sp>
      <p:sp>
        <p:nvSpPr>
          <p:cNvPr id="5" name="T46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6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6/card/region-1/base-rule"/>
          <p:cNvSpPr/>
          <p:nvPr/>
        </p:nvSpPr>
        <p:spPr>
          <a:xfrm>
            <a:off x="457200" y="2631091"/>
            <a:ext cx="79248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8" name="T46/card/region-1/side-mark"/>
          <p:cNvSpPr/>
          <p:nvPr/>
        </p:nvSpPr>
        <p:spPr>
          <a:xfrm>
            <a:off x="457200" y="1245584"/>
            <a:ext cx="47625" cy="295275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46/card/region-1/title"/>
          <p:cNvSpPr/>
          <p:nvPr/>
        </p:nvSpPr>
        <p:spPr>
          <a:xfrm>
            <a:off x="609600" y="1245584"/>
            <a:ext cx="7772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阶段一：材料与基线</a:t>
            </a:r>
            <a:endParaRPr lang="zh-CN" sz="1950" dirty="0"/>
          </a:p>
        </p:txBody>
      </p:sp>
      <p:sp>
        <p:nvSpPr>
          <p:cNvPr id="10" name="T46/card/region-1/body"/>
          <p:cNvSpPr/>
          <p:nvPr/>
        </p:nvSpPr>
        <p:spPr>
          <a:xfrm>
            <a:off x="609600" y="1664684"/>
            <a:ext cx="7772400" cy="871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确认数据版本、许可与基线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产物：可复现的基线与证据记录</a:t>
            </a:r>
            <a:endParaRPr lang="zh-CN" sz="1800" dirty="0"/>
          </a:p>
        </p:txBody>
      </p:sp>
      <p:sp>
        <p:nvSpPr>
          <p:cNvPr id="11" name="T46/card/region-2/base-rule"/>
          <p:cNvSpPr/>
          <p:nvPr/>
        </p:nvSpPr>
        <p:spPr>
          <a:xfrm>
            <a:off x="457200" y="4332351"/>
            <a:ext cx="79248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2" name="T46/card/region-2/side-mark"/>
          <p:cNvSpPr/>
          <p:nvPr/>
        </p:nvSpPr>
        <p:spPr>
          <a:xfrm>
            <a:off x="457200" y="2946845"/>
            <a:ext cx="47625" cy="29527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46/card/region-2/title"/>
          <p:cNvSpPr/>
          <p:nvPr/>
        </p:nvSpPr>
        <p:spPr>
          <a:xfrm>
            <a:off x="609600" y="2946845"/>
            <a:ext cx="7772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阶段二：机制与验证</a:t>
            </a:r>
            <a:endParaRPr lang="zh-CN" sz="1950" dirty="0"/>
          </a:p>
        </p:txBody>
      </p:sp>
      <p:sp>
        <p:nvSpPr>
          <p:cNvPr id="14" name="T46/card/region-2/body"/>
          <p:cNvSpPr/>
          <p:nvPr/>
        </p:nvSpPr>
        <p:spPr>
          <a:xfrm>
            <a:off x="609600" y="3365945"/>
            <a:ext cx="7772400" cy="871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实施预定义干预与消融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产物：按统一口径报告的比较结果</a:t>
            </a:r>
            <a:endParaRPr lang="zh-CN" sz="1800" dirty="0"/>
          </a:p>
        </p:txBody>
      </p:sp>
      <p:sp>
        <p:nvSpPr>
          <p:cNvPr id="15" name="T46/card/region-3/base-rule"/>
          <p:cNvSpPr/>
          <p:nvPr/>
        </p:nvSpPr>
        <p:spPr>
          <a:xfrm>
            <a:off x="457200" y="6033707"/>
            <a:ext cx="79248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6" name="T46/card/region-3/side-mark"/>
          <p:cNvSpPr/>
          <p:nvPr/>
        </p:nvSpPr>
        <p:spPr>
          <a:xfrm>
            <a:off x="457200" y="4648200"/>
            <a:ext cx="47625" cy="295275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46/card/region-3/title"/>
          <p:cNvSpPr/>
          <p:nvPr/>
        </p:nvSpPr>
        <p:spPr>
          <a:xfrm>
            <a:off x="609600" y="4648200"/>
            <a:ext cx="7772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阶段三：边界与复现</a:t>
            </a:r>
            <a:endParaRPr lang="zh-CN" sz="1950" dirty="0"/>
          </a:p>
        </p:txBody>
      </p:sp>
      <p:sp>
        <p:nvSpPr>
          <p:cNvPr id="18" name="T46/card/region-3/body"/>
          <p:cNvSpPr/>
          <p:nvPr/>
        </p:nvSpPr>
        <p:spPr>
          <a:xfrm>
            <a:off x="609600" y="5067300"/>
            <a:ext cx="7772400" cy="871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补充留出、失败与稳健性分析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产物：复现材料与解释边界</a:t>
            </a:r>
            <a:endParaRPr lang="zh-CN" sz="1800" dirty="0"/>
          </a:p>
        </p:txBody>
      </p:sp>
      <p:sp>
        <p:nvSpPr>
          <p:cNvPr id="19" name="T46/card/region-4/title"/>
          <p:cNvSpPr/>
          <p:nvPr/>
        </p:nvSpPr>
        <p:spPr>
          <a:xfrm>
            <a:off x="8705850" y="1245584"/>
            <a:ext cx="30289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阶段依赖</a:t>
            </a:r>
            <a:endParaRPr lang="zh-CN" sz="1950" dirty="0"/>
          </a:p>
        </p:txBody>
      </p:sp>
      <p:sp>
        <p:nvSpPr>
          <p:cNvPr id="20" name="T46/card/region-4/body"/>
          <p:cNvSpPr/>
          <p:nvPr/>
        </p:nvSpPr>
        <p:spPr>
          <a:xfrm>
            <a:off x="8705850" y="1693259"/>
            <a:ext cx="3028950" cy="1671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说明各阶段所需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与完成条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避免仅按日期排列任务</a:t>
            </a:r>
            <a:endParaRPr lang="zh-CN" sz="1800" dirty="0"/>
          </a:p>
        </p:txBody>
      </p:sp>
      <p:sp>
        <p:nvSpPr>
          <p:cNvPr id="21" name="T46/card/region-5/frame"/>
          <p:cNvSpPr/>
          <p:nvPr/>
        </p:nvSpPr>
        <p:spPr>
          <a:xfrm>
            <a:off x="8705850" y="3774091"/>
            <a:ext cx="3028950" cy="225961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2" name="T46/card/region-5/tab"/>
          <p:cNvSpPr/>
          <p:nvPr/>
        </p:nvSpPr>
        <p:spPr>
          <a:xfrm>
            <a:off x="8820150" y="3659791"/>
            <a:ext cx="2000250" cy="342900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46/card/region-5/title"/>
          <p:cNvSpPr/>
          <p:nvPr/>
        </p:nvSpPr>
        <p:spPr>
          <a:xfrm>
            <a:off x="8924925" y="3688366"/>
            <a:ext cx="17907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停止与调整条件</a:t>
            </a:r>
            <a:endParaRPr lang="zh-CN" sz="1950" dirty="0"/>
          </a:p>
        </p:txBody>
      </p:sp>
      <p:sp>
        <p:nvSpPr>
          <p:cNvPr id="24" name="T46/card/region-5/body"/>
          <p:cNvSpPr/>
          <p:nvPr/>
        </p:nvSpPr>
        <p:spPr>
          <a:xfrm>
            <a:off x="8839200" y="4145566"/>
            <a:ext cx="2762250" cy="179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材料不足、效果无效或成本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超出时如何调整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把停止条件与研究问题对应</a:t>
            </a:r>
            <a:endParaRPr lang="zh-CN" sz="1800" dirty="0"/>
          </a:p>
        </p:txBody>
      </p:sp>
      <p:sp>
        <p:nvSpPr>
          <p:cNvPr id="25" name="T4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7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7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47 / 48</a:t>
            </a:r>
            <a:endParaRPr lang="zh-CN" sz="1050" dirty="0"/>
          </a:p>
        </p:txBody>
      </p:sp>
      <p:sp>
        <p:nvSpPr>
          <p:cNvPr id="4" name="T47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结论证据与后续问题</a:t>
            </a:r>
            <a:endParaRPr lang="zh-CN" sz="3000" dirty="0"/>
          </a:p>
        </p:txBody>
      </p:sp>
      <p:sp>
        <p:nvSpPr>
          <p:cNvPr id="5" name="T47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7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7/card/region-1/base-rule"/>
          <p:cNvSpPr/>
          <p:nvPr/>
        </p:nvSpPr>
        <p:spPr>
          <a:xfrm>
            <a:off x="457200" y="2591562"/>
            <a:ext cx="74485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8" name="T47/card/region-1/side-mark"/>
          <p:cNvSpPr/>
          <p:nvPr/>
        </p:nvSpPr>
        <p:spPr>
          <a:xfrm>
            <a:off x="457200" y="1265396"/>
            <a:ext cx="47625" cy="295275"/>
          </a:xfrm>
          <a:prstGeom prst="rect">
            <a:avLst/>
          </a:prstGeom>
          <a:solidFill>
            <a:srgbClr val="146C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47/card/region-1/title"/>
          <p:cNvSpPr/>
          <p:nvPr/>
        </p:nvSpPr>
        <p:spPr>
          <a:xfrm>
            <a:off x="609600" y="1265396"/>
            <a:ext cx="72961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结论一及证据</a:t>
            </a:r>
            <a:endParaRPr lang="zh-CN" sz="1950" dirty="0"/>
          </a:p>
        </p:txBody>
      </p:sp>
      <p:sp>
        <p:nvSpPr>
          <p:cNvPr id="10" name="T47/card/region-1/body"/>
          <p:cNvSpPr/>
          <p:nvPr/>
        </p:nvSpPr>
        <p:spPr>
          <a:xfrm>
            <a:off x="609600" y="1684496"/>
            <a:ext cx="7296150" cy="81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用一句结论连接一项核心证据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保留样本、比较与实验身份</a:t>
            </a:r>
            <a:endParaRPr lang="zh-CN" sz="1800" dirty="0"/>
          </a:p>
        </p:txBody>
      </p:sp>
      <p:sp>
        <p:nvSpPr>
          <p:cNvPr id="11" name="T47/card/region-2/heading-rule"/>
          <p:cNvSpPr/>
          <p:nvPr/>
        </p:nvSpPr>
        <p:spPr>
          <a:xfrm>
            <a:off x="457200" y="3230404"/>
            <a:ext cx="74485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47/card/region-2/heading-mark"/>
          <p:cNvSpPr/>
          <p:nvPr/>
        </p:nvSpPr>
        <p:spPr>
          <a:xfrm>
            <a:off x="457200" y="3230404"/>
            <a:ext cx="342900" cy="0"/>
          </a:xfrm>
          <a:prstGeom prst="line">
            <a:avLst/>
          </a:prstGeom>
          <a:noFill/>
          <a:ln w="17145">
            <a:solidFill>
              <a:srgbClr val="146C63"/>
            </a:solidFill>
            <a:prstDash val="solid"/>
          </a:ln>
        </p:spPr>
      </p:sp>
      <p:sp>
        <p:nvSpPr>
          <p:cNvPr id="13" name="T47/card/region-2/title"/>
          <p:cNvSpPr/>
          <p:nvPr/>
        </p:nvSpPr>
        <p:spPr>
          <a:xfrm>
            <a:off x="457200" y="2887504"/>
            <a:ext cx="7448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结论二及证据</a:t>
            </a:r>
            <a:endParaRPr lang="zh-CN" sz="1950" dirty="0"/>
          </a:p>
        </p:txBody>
      </p:sp>
      <p:sp>
        <p:nvSpPr>
          <p:cNvPr id="14" name="T47/card/region-2/body"/>
          <p:cNvSpPr/>
          <p:nvPr/>
        </p:nvSpPr>
        <p:spPr>
          <a:xfrm>
            <a:off x="457200" y="3363754"/>
            <a:ext cx="7448550" cy="81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解释与前一结论的关系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避免重复陈述相同发现</a:t>
            </a:r>
            <a:endParaRPr lang="zh-CN" sz="1800" dirty="0"/>
          </a:p>
        </p:txBody>
      </p:sp>
      <p:sp>
        <p:nvSpPr>
          <p:cNvPr id="15" name="T47/card/region-3/title"/>
          <p:cNvSpPr/>
          <p:nvPr/>
        </p:nvSpPr>
        <p:spPr>
          <a:xfrm>
            <a:off x="457200" y="4509707"/>
            <a:ext cx="7448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结论三及证据</a:t>
            </a:r>
            <a:endParaRPr lang="zh-CN" sz="1950" dirty="0"/>
          </a:p>
        </p:txBody>
      </p:sp>
      <p:sp>
        <p:nvSpPr>
          <p:cNvPr id="16" name="T47/card/region-3/body"/>
          <p:cNvSpPr/>
          <p:nvPr/>
        </p:nvSpPr>
        <p:spPr>
          <a:xfrm>
            <a:off x="457200" y="4957382"/>
            <a:ext cx="7448550" cy="1018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总结机制或适用范围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将推断与原文报告区分</a:t>
            </a:r>
            <a:endParaRPr lang="zh-CN" sz="1800" dirty="0"/>
          </a:p>
        </p:txBody>
      </p:sp>
      <p:sp>
        <p:nvSpPr>
          <p:cNvPr id="17" name="T47/card/region-4/frame"/>
          <p:cNvSpPr/>
          <p:nvPr/>
        </p:nvSpPr>
        <p:spPr>
          <a:xfrm>
            <a:off x="8286750" y="1360646"/>
            <a:ext cx="3448050" cy="2081594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8" name="T47/card/region-4/tab"/>
          <p:cNvSpPr/>
          <p:nvPr/>
        </p:nvSpPr>
        <p:spPr>
          <a:xfrm>
            <a:off x="8401050" y="1246346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47/card/region-4/title"/>
          <p:cNvSpPr/>
          <p:nvPr/>
        </p:nvSpPr>
        <p:spPr>
          <a:xfrm>
            <a:off x="8505825" y="1274921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尚未验证</a:t>
            </a:r>
            <a:endParaRPr lang="zh-CN" sz="1950" dirty="0"/>
          </a:p>
        </p:txBody>
      </p:sp>
      <p:sp>
        <p:nvSpPr>
          <p:cNvPr id="20" name="T47/card/region-4/body"/>
          <p:cNvSpPr/>
          <p:nvPr/>
        </p:nvSpPr>
        <p:spPr>
          <a:xfrm>
            <a:off x="8420100" y="1732121"/>
            <a:ext cx="3181350" cy="1614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列出论文没有测试的条件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说明这些未知如何影响应用</a:t>
            </a:r>
            <a:endParaRPr lang="zh-CN" sz="1800" dirty="0"/>
          </a:p>
        </p:txBody>
      </p:sp>
      <p:sp>
        <p:nvSpPr>
          <p:cNvPr id="21" name="T47/card/region-5/frame"/>
          <p:cNvSpPr/>
          <p:nvPr/>
        </p:nvSpPr>
        <p:spPr>
          <a:xfrm>
            <a:off x="8286750" y="3861245"/>
            <a:ext cx="3448050" cy="2152650"/>
          </a:xfrm>
          <a:prstGeom prst="rect">
            <a:avLst/>
          </a:prstGeom>
          <a:solidFill>
            <a:srgbClr val="FFFFFF"/>
          </a:solidFill>
          <a:ln w="14288">
            <a:solidFill>
              <a:srgbClr val="6C528E"/>
            </a:solidFill>
            <a:prstDash val="solid"/>
          </a:ln>
        </p:spPr>
      </p:sp>
      <p:sp>
        <p:nvSpPr>
          <p:cNvPr id="22" name="T47/card/region-5/title-cutout"/>
          <p:cNvSpPr/>
          <p:nvPr/>
        </p:nvSpPr>
        <p:spPr>
          <a:xfrm>
            <a:off x="8420100" y="3708844"/>
            <a:ext cx="15240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47/card/region-5/base-rule"/>
          <p:cNvSpPr/>
          <p:nvPr/>
        </p:nvSpPr>
        <p:spPr>
          <a:xfrm>
            <a:off x="8477250" y="5861495"/>
            <a:ext cx="333375" cy="0"/>
          </a:xfrm>
          <a:prstGeom prst="line">
            <a:avLst/>
          </a:prstGeom>
          <a:noFill/>
          <a:ln w="28575">
            <a:solidFill>
              <a:srgbClr val="6C528E"/>
            </a:solidFill>
            <a:prstDash val="solid"/>
          </a:ln>
        </p:spPr>
      </p:sp>
      <p:sp>
        <p:nvSpPr>
          <p:cNvPr id="24" name="T47/card/region-5/title"/>
          <p:cNvSpPr/>
          <p:nvPr/>
        </p:nvSpPr>
        <p:spPr>
          <a:xfrm>
            <a:off x="8477250" y="3718370"/>
            <a:ext cx="30670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优先研究问题</a:t>
            </a:r>
            <a:endParaRPr lang="zh-CN" sz="1950" dirty="0"/>
          </a:p>
        </p:txBody>
      </p:sp>
      <p:sp>
        <p:nvSpPr>
          <p:cNvPr id="25" name="T47/card/region-5/body"/>
          <p:cNvSpPr/>
          <p:nvPr/>
        </p:nvSpPr>
        <p:spPr>
          <a:xfrm>
            <a:off x="8477250" y="4251770"/>
            <a:ext cx="3067050" cy="157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提出能被实验区分的下一步问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保留公平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和评价尺度</a:t>
            </a:r>
            <a:endParaRPr lang="zh-CN" sz="1800" dirty="0"/>
          </a:p>
        </p:txBody>
      </p:sp>
      <p:sp>
        <p:nvSpPr>
          <p:cNvPr id="26" name="T47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8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8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 / 48</a:t>
            </a:r>
            <a:endParaRPr lang="zh-CN" sz="1050" dirty="0"/>
          </a:p>
        </p:txBody>
      </p:sp>
      <p:sp>
        <p:nvSpPr>
          <p:cNvPr id="4" name="T48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参考文献与补充说明</a:t>
            </a:r>
            <a:endParaRPr lang="zh-CN" sz="3000" dirty="0"/>
          </a:p>
        </p:txBody>
      </p:sp>
      <p:sp>
        <p:nvSpPr>
          <p:cNvPr id="5" name="T48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8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8/ref:T1:id"/>
          <p:cNvSpPr/>
          <p:nvPr/>
        </p:nvSpPr>
        <p:spPr>
          <a:xfrm>
            <a:off x="457200" y="1166432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</a:t>
            </a:r>
            <a:endParaRPr lang="zh-CN" sz="1650" dirty="0"/>
          </a:p>
        </p:txBody>
      </p:sp>
      <p:sp>
        <p:nvSpPr>
          <p:cNvPr id="8" name="T48/ref:T1:title"/>
          <p:cNvSpPr/>
          <p:nvPr/>
        </p:nvSpPr>
        <p:spPr>
          <a:xfrm>
            <a:off x="1123950" y="1147381"/>
            <a:ext cx="70104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article title: connecting decision models, experimental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evidence and independent validation in crop cultivation</a:t>
            </a:r>
            <a:endParaRPr lang="zh-CN" sz="1800" dirty="0"/>
          </a:p>
        </p:txBody>
      </p:sp>
      <p:sp>
        <p:nvSpPr>
          <p:cNvPr id="9" name="T48/ref:T1:meta"/>
          <p:cNvSpPr/>
          <p:nvPr/>
        </p:nvSpPr>
        <p:spPr>
          <a:xfrm>
            <a:off x="1123950" y="1762697"/>
            <a:ext cx="7010400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 · 书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目占位，非真实文献</a:t>
            </a:r>
            <a:endParaRPr lang="zh-CN" sz="1350" dirty="0"/>
          </a:p>
        </p:txBody>
      </p:sp>
      <p:sp>
        <p:nvSpPr>
          <p:cNvPr id="10" name="T48/ref:T1:line"/>
          <p:cNvSpPr/>
          <p:nvPr/>
        </p:nvSpPr>
        <p:spPr>
          <a:xfrm>
            <a:off x="1123950" y="2292286"/>
            <a:ext cx="7010400" cy="0"/>
          </a:xfrm>
          <a:prstGeom prst="line">
            <a:avLst/>
          </a:prstGeom>
          <a:noFill/>
          <a:ln w="13335">
            <a:solidFill>
              <a:srgbClr val="BEC8D4"/>
            </a:solidFill>
            <a:prstDash val="solid"/>
          </a:ln>
        </p:spPr>
      </p:sp>
      <p:sp>
        <p:nvSpPr>
          <p:cNvPr id="11" name="T48/ref:T2:id"/>
          <p:cNvSpPr/>
          <p:nvPr/>
        </p:nvSpPr>
        <p:spPr>
          <a:xfrm>
            <a:off x="457200" y="2435161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T2</a:t>
            </a:r>
            <a:endParaRPr lang="zh-CN" sz="1650" dirty="0"/>
          </a:p>
        </p:txBody>
      </p:sp>
      <p:sp>
        <p:nvSpPr>
          <p:cNvPr id="12" name="T48/ref:T2:title"/>
          <p:cNvSpPr/>
          <p:nvPr/>
        </p:nvSpPr>
        <p:spPr>
          <a:xfrm>
            <a:off x="1123950" y="2416112"/>
            <a:ext cx="7010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title of a related methods or validation study</a:t>
            </a:r>
            <a:endParaRPr lang="zh-CN" sz="1800" dirty="0"/>
          </a:p>
        </p:txBody>
      </p:sp>
      <p:sp>
        <p:nvSpPr>
          <p:cNvPr id="13" name="T48/ref:T2:meta"/>
          <p:cNvSpPr/>
          <p:nvPr/>
        </p:nvSpPr>
        <p:spPr>
          <a:xfrm>
            <a:off x="1123950" y="2757107"/>
            <a:ext cx="7010400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 · 书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目占位，非真实文献</a:t>
            </a:r>
            <a:endParaRPr lang="zh-CN" sz="1350" dirty="0"/>
          </a:p>
        </p:txBody>
      </p:sp>
      <p:sp>
        <p:nvSpPr>
          <p:cNvPr id="14" name="T48/ref:T2:line"/>
          <p:cNvSpPr/>
          <p:nvPr/>
        </p:nvSpPr>
        <p:spPr>
          <a:xfrm>
            <a:off x="1123950" y="3286696"/>
            <a:ext cx="7010400" cy="0"/>
          </a:xfrm>
          <a:prstGeom prst="line">
            <a:avLst/>
          </a:prstGeom>
          <a:noFill/>
          <a:ln w="13335">
            <a:solidFill>
              <a:srgbClr val="BEC8D4"/>
            </a:solidFill>
            <a:prstDash val="solid"/>
          </a:ln>
        </p:spPr>
      </p:sp>
      <p:sp>
        <p:nvSpPr>
          <p:cNvPr id="15" name="T48/ref:T3:id"/>
          <p:cNvSpPr/>
          <p:nvPr/>
        </p:nvSpPr>
        <p:spPr>
          <a:xfrm>
            <a:off x="457200" y="3429571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T3</a:t>
            </a:r>
            <a:endParaRPr lang="zh-CN" sz="1650" dirty="0"/>
          </a:p>
        </p:txBody>
      </p:sp>
      <p:sp>
        <p:nvSpPr>
          <p:cNvPr id="16" name="T48/ref:T3:title"/>
          <p:cNvSpPr/>
          <p:nvPr/>
        </p:nvSpPr>
        <p:spPr>
          <a:xfrm>
            <a:off x="1123950" y="3410521"/>
            <a:ext cx="7010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title of the source for the supplementary evidence</a:t>
            </a:r>
            <a:endParaRPr lang="zh-CN" sz="1800" dirty="0"/>
          </a:p>
        </p:txBody>
      </p:sp>
      <p:sp>
        <p:nvSpPr>
          <p:cNvPr id="17" name="T48/ref:T3:meta"/>
          <p:cNvSpPr/>
          <p:nvPr/>
        </p:nvSpPr>
        <p:spPr>
          <a:xfrm>
            <a:off x="1123950" y="3751517"/>
            <a:ext cx="7010400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 · 书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目占位，非真实文献</a:t>
            </a:r>
            <a:endParaRPr lang="zh-CN" sz="1350" dirty="0"/>
          </a:p>
        </p:txBody>
      </p:sp>
      <p:sp>
        <p:nvSpPr>
          <p:cNvPr id="18" name="T48/card/region-1/base-rule"/>
          <p:cNvSpPr/>
          <p:nvPr/>
        </p:nvSpPr>
        <p:spPr>
          <a:xfrm>
            <a:off x="8477250" y="3402616"/>
            <a:ext cx="32575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9" name="T48/card/region-1/side-mark"/>
          <p:cNvSpPr/>
          <p:nvPr/>
        </p:nvSpPr>
        <p:spPr>
          <a:xfrm>
            <a:off x="8477250" y="1245584"/>
            <a:ext cx="47625" cy="295275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48/card/region-1/title"/>
          <p:cNvSpPr/>
          <p:nvPr/>
        </p:nvSpPr>
        <p:spPr>
          <a:xfrm>
            <a:off x="8629650" y="1245584"/>
            <a:ext cx="31051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版本与补充材料</a:t>
            </a:r>
            <a:endParaRPr lang="zh-CN" sz="1950" dirty="0"/>
          </a:p>
        </p:txBody>
      </p:sp>
      <p:sp>
        <p:nvSpPr>
          <p:cNvPr id="21" name="T48/card/region-1/body"/>
          <p:cNvSpPr/>
          <p:nvPr/>
        </p:nvSpPr>
        <p:spPr>
          <a:xfrm>
            <a:off x="8629650" y="1664684"/>
            <a:ext cx="3105150" cy="1642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记录正式稿、作者稿或预印本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补充材料、代码和数据分别定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不要把链接存在当作已读全文</a:t>
            </a:r>
            <a:endParaRPr lang="zh-CN" sz="1800" dirty="0"/>
          </a:p>
        </p:txBody>
      </p:sp>
      <p:sp>
        <p:nvSpPr>
          <p:cNvPr id="22" name="T48/card/region-2/heading-rule"/>
          <p:cNvSpPr/>
          <p:nvPr/>
        </p:nvSpPr>
        <p:spPr>
          <a:xfrm>
            <a:off x="8477250" y="4021741"/>
            <a:ext cx="32575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3" name="T48/card/region-2/heading-mark"/>
          <p:cNvSpPr/>
          <p:nvPr/>
        </p:nvSpPr>
        <p:spPr>
          <a:xfrm>
            <a:off x="8477250" y="4021741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24" name="T48/card/region-2/title"/>
          <p:cNvSpPr/>
          <p:nvPr/>
        </p:nvSpPr>
        <p:spPr>
          <a:xfrm>
            <a:off x="8477250" y="3678841"/>
            <a:ext cx="3257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图像与数据来源</a:t>
            </a:r>
            <a:endParaRPr lang="zh-CN" sz="1950" dirty="0"/>
          </a:p>
        </p:txBody>
      </p:sp>
      <p:sp>
        <p:nvSpPr>
          <p:cNvPr id="25" name="T48/card/region-2/body"/>
          <p:cNvSpPr/>
          <p:nvPr/>
        </p:nvSpPr>
        <p:spPr>
          <a:xfrm>
            <a:off x="8477250" y="4155091"/>
            <a:ext cx="3257550" cy="1820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保留图号、面板、作者与许可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裁切说明不能省略关键上下文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替换本页所有占位书目后再汇报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 种学术汇报版式参考</dc:title>
  <dc:subject>原创学术版式、结构化填充指引与合成科学图</dc:subject>
  <dc:creator>DSH Academic PPT</dc:creator>
  <cp:lastModifiedBy>DSH Academic PPT</cp:lastModifiedBy>
  <cp:revision>1</cp:revision>
  <dcterms:created xsi:type="dcterms:W3CDTF">2026-10-20T05:39:56Z</dcterms:created>
  <dcterms:modified xsi:type="dcterms:W3CDTF">2026-10-20T05:39:56Z</dcterms:modified>
</cp:coreProperties>
</file>