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4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5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合成效应</c:v>
                </c:pt>
              </c:strCache>
            </c:strRef>
          </c:tx>
          <c:spPr>
            <a:solidFill>
              <a:srgbClr val="173C70"/>
            </a:solidFill>
            <a:effectLst/>
          </c:spPr>
          <c:invertIfNegative val="0"/>
          <c:dLbls>
            <c:numFmt formatCode="0.############" sourceLinked="0"/>
            <c:txPr>
              <a:bodyPr/>
              <a:lstStyle/>
              <a:p>
                <a:pPr>
                  <a:defRPr b="0" i="0" strike="noStrike" sz="1650" u="none">
                    <a:solidFill>
                      <a:srgbClr val="1C2430"/>
                    </a:solidFill>
                    <a:latin typeface="Noto Sans CJK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73C7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55D8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03543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参考方法</c:v>
                  </c:pt>
                  <c:pt idx="1">
                    <c:v>设置一</c:v>
                  </c:pt>
                  <c:pt idx="2">
                    <c:v>设置二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31</c:v>
                </c:pt>
                <c:pt idx="2">
                  <c:v>37</c:v>
                </c:pt>
              </c:numCache>
            </c:numRef>
          </c:val>
        </c:ser>
        <c:dLbls>
          <c:numFmt formatCode="0.############" sourceLinked="0"/>
          <c:txPr>
            <a:bodyPr/>
            <a:lstStyle/>
            <a:p>
              <a:pPr>
                <a:defRPr b="0" i="0" strike="noStrike" sz="1650" u="none">
                  <a:solidFill>
                    <a:srgbClr val="1C2430"/>
                  </a:solidFill>
                  <a:latin typeface="Noto Sans CJK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75" b="0" i="0" u="none" strike="noStrike">
                <a:solidFill>
                  <a:srgbClr val="1C243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12700" cap="flat">
              <a:solidFill>
                <a:srgbClr val="BEC8D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25" b="0" i="0" u="none" strike="noStrike">
                    <a:solidFill>
                      <a:srgbClr val="515B68"/>
                    </a:solidFill>
                    <a:latin typeface="Noto Sans CJK SC"/>
                  </a:defRPr>
                </a:pPr>
                <a:r>
                  <a:rPr sz="1425" b="0" i="0" u="none" strike="noStrike">
                    <a:solidFill>
                      <a:srgbClr val="515B68"/>
                    </a:solidFill>
                    <a:latin typeface="Noto Sans CJK SC"/>
                  </a:rPr>
                  <a:t>合成值 / a.u.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515B68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终点一（合成）</c:v>
                </c:pt>
              </c:strCache>
            </c:strRef>
          </c:tx>
          <c:spPr>
            <a:solidFill>
              <a:srgbClr val="173C70"/>
            </a:solidFill>
            <a:effectLst/>
          </c:spPr>
          <c:invertIfNegative val="0"/>
          <c:dLbls>
            <c:numFmt formatCode="0.############" sourceLinked="0"/>
            <c:txPr>
              <a:bodyPr/>
              <a:lstStyle/>
              <a:p>
                <a:pPr>
                  <a:defRPr b="0" i="0" strike="noStrike" sz="1650" u="none">
                    <a:solidFill>
                      <a:srgbClr val="1C2430"/>
                    </a:solidFill>
                    <a:latin typeface="Noto Sans CJK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73C7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55D8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03543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对照</c:v>
                  </c:pt>
                  <c:pt idx="1">
                    <c:v>低处理</c:v>
                  </c:pt>
                  <c:pt idx="2">
                    <c:v>高处理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29</c:v>
                </c:pt>
                <c:pt idx="2">
                  <c:v>35</c:v>
                </c:pt>
              </c:numCache>
            </c:numRef>
          </c:val>
        </c:ser>
        <c:dLbls>
          <c:numFmt formatCode="0.############" sourceLinked="0"/>
          <c:txPr>
            <a:bodyPr/>
            <a:lstStyle/>
            <a:p>
              <a:pPr>
                <a:defRPr b="0" i="0" strike="noStrike" sz="1650" u="none">
                  <a:solidFill>
                    <a:srgbClr val="1C2430"/>
                  </a:solidFill>
                  <a:latin typeface="Noto Sans CJK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75" b="0" i="0" u="none" strike="noStrike">
                <a:solidFill>
                  <a:srgbClr val="1C243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12700" cap="flat">
              <a:solidFill>
                <a:srgbClr val="BEC8D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25" b="0" i="0" u="none" strike="noStrike">
                    <a:solidFill>
                      <a:srgbClr val="515B68"/>
                    </a:solidFill>
                    <a:latin typeface="Noto Sans CJK SC"/>
                  </a:defRPr>
                </a:pPr>
                <a:r>
                  <a:rPr sz="1425" b="0" i="0" u="none" strike="noStrike">
                    <a:solidFill>
                      <a:srgbClr val="515B68"/>
                    </a:solidFill>
                    <a:latin typeface="Noto Sans CJK SC"/>
                  </a:rPr>
                  <a:t>合成终点一 / a.u.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515B68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条件 A（合成）</c:v>
                </c:pt>
              </c:strCache>
            </c:strRef>
          </c:tx>
          <c:spPr>
            <a:solidFill>
              <a:srgbClr val="173C70"/>
            </a:solidFill>
            <a:ln w="25400" cap="flat">
              <a:solidFill>
                <a:srgbClr val="173C70"/>
              </a:solidFill>
              <a:prstDash val="solid"/>
              <a:round/>
            </a:ln>
            <a:effectLst/>
          </c:spPr>
          <c:invertIfNegative val="0"/>
          <c:dLbls>
            <c:numFmt formatCode="0.############" sourceLinked="0"/>
            <c:txPr>
              <a:bodyPr/>
              <a:lstStyle/>
              <a:p>
                <a:pPr>
                  <a:defRPr b="0" i="0" strike="noStrike" sz="1650" u="none">
                    <a:solidFill>
                      <a:srgbClr val="1C2430"/>
                    </a:solidFill>
                    <a:latin typeface="Noto Sans CJK S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73C70"/>
              </a:solidFill>
              <a:ln w="9525" cap="flat">
                <a:solidFill>
                  <a:srgbClr val="173C7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E1</c:v>
                  </c:pt>
                  <c:pt idx="1">
                    <c:v>E2</c:v>
                  </c:pt>
                  <c:pt idx="2">
                    <c:v>E3</c:v>
                  </c:pt>
                  <c:pt idx="3">
                    <c:v>E4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</c:v>
                </c:pt>
                <c:pt idx="1">
                  <c:v>78</c:v>
                </c:pt>
                <c:pt idx="2">
                  <c:v>70</c:v>
                </c:pt>
                <c:pt idx="3">
                  <c:v>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条件 B（合成）</c:v>
                </c:pt>
              </c:strCache>
            </c:strRef>
          </c:tx>
          <c:spPr>
            <a:solidFill>
              <a:srgbClr val="355D88"/>
            </a:solidFill>
            <a:ln w="25400" cap="flat">
              <a:solidFill>
                <a:srgbClr val="355D88"/>
              </a:solidFill>
              <a:prstDash val="solid"/>
              <a:round/>
            </a:ln>
            <a:effectLst/>
          </c:spPr>
          <c:invertIfNegative val="0"/>
          <c:dLbls>
            <c:numFmt formatCode="0.############" sourceLinked="0"/>
            <c:txPr>
              <a:bodyPr/>
              <a:lstStyle/>
              <a:p>
                <a:pPr>
                  <a:defRPr b="0" i="0" strike="noStrike" sz="1650" u="none">
                    <a:solidFill>
                      <a:srgbClr val="1C2430"/>
                    </a:solidFill>
                    <a:latin typeface="Noto Sans CJK S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355D88"/>
              </a:solidFill>
              <a:ln w="9525" cap="flat">
                <a:solidFill>
                  <a:srgbClr val="355D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E1</c:v>
                  </c:pt>
                  <c:pt idx="1">
                    <c:v>E2</c:v>
                  </c:pt>
                  <c:pt idx="2">
                    <c:v>E3</c:v>
                  </c:pt>
                  <c:pt idx="3">
                    <c:v>E4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81</c:v>
                </c:pt>
                <c:pt idx="2">
                  <c:v>76</c:v>
                </c:pt>
                <c:pt idx="3">
                  <c:v>72</c:v>
                </c:pt>
              </c:numCache>
            </c:numRef>
          </c:val>
          <c:smooth val="0"/>
        </c:ser>
        <c:dLbls>
          <c:numFmt formatCode="0.############" sourceLinked="0"/>
          <c:txPr>
            <a:bodyPr/>
            <a:lstStyle/>
            <a:p>
              <a:pPr>
                <a:defRPr b="0" i="0" strike="noStrike" sz="1650" u="none">
                  <a:solidFill>
                    <a:srgbClr val="1C2430"/>
                  </a:solidFill>
                  <a:latin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75" b="0" i="0" u="none" strike="noStrike">
                <a:solidFill>
                  <a:srgbClr val="1C243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BEC8D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25" b="0" i="0" u="none" strike="noStrike">
                    <a:solidFill>
                      <a:srgbClr val="515B68"/>
                    </a:solidFill>
                    <a:latin typeface="Noto Sans CJK SC"/>
                  </a:defRPr>
                </a:pPr>
                <a:r>
                  <a:rPr sz="1425" b="0" i="0" u="none" strike="noStrike">
                    <a:solidFill>
                      <a:srgbClr val="515B68"/>
                    </a:solidFill>
                    <a:latin typeface="Noto Sans CJK SC"/>
                  </a:rPr>
                  <a:t>合成指标 / a.u.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515B68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25">
              <a:latin typeface="Noto Sans CJK SC"/>
              <a:cs typeface="Noto Sans CJK SC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合成指标</c:v>
                </c:pt>
              </c:strCache>
            </c:strRef>
          </c:tx>
          <c:spPr>
            <a:solidFill>
              <a:srgbClr val="173C70"/>
            </a:solidFill>
            <a:effectLst/>
          </c:spPr>
          <c:invertIfNegative val="0"/>
          <c:dLbls>
            <c:numFmt formatCode="0.############" sourceLinked="0"/>
            <c:txPr>
              <a:bodyPr/>
              <a:lstStyle/>
              <a:p>
                <a:pPr>
                  <a:defRPr b="0" i="0" strike="noStrike" sz="1650" u="none">
                    <a:solidFill>
                      <a:srgbClr val="1C2430"/>
                    </a:solidFill>
                    <a:latin typeface="Noto Sans CJK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73C7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55D8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03543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参考方法</c:v>
                  </c:pt>
                  <c:pt idx="1">
                    <c:v>设置一</c:v>
                  </c:pt>
                  <c:pt idx="2">
                    <c:v>设置二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31</c:v>
                </c:pt>
                <c:pt idx="2">
                  <c:v>37</c:v>
                </c:pt>
              </c:numCache>
            </c:numRef>
          </c:val>
        </c:ser>
        <c:dLbls>
          <c:numFmt formatCode="0.############" sourceLinked="0"/>
          <c:txPr>
            <a:bodyPr/>
            <a:lstStyle/>
            <a:p>
              <a:pPr>
                <a:defRPr b="0" i="0" strike="noStrike" sz="1650" u="none">
                  <a:solidFill>
                    <a:srgbClr val="1C2430"/>
                  </a:solidFill>
                  <a:latin typeface="Noto Sans CJK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75" b="0" i="0" u="none" strike="noStrike">
                <a:solidFill>
                  <a:srgbClr val="1C243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b"/>
        <c:majorGridlines>
          <c:spPr>
            <a:ln w="12700" cap="flat">
              <a:solidFill>
                <a:srgbClr val="BEC8D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25" b="0" i="0" u="none" strike="noStrike">
                    <a:solidFill>
                      <a:srgbClr val="515B68"/>
                    </a:solidFill>
                    <a:latin typeface="Noto Sans CJK SC"/>
                  </a:defRPr>
                </a:pPr>
                <a:r>
                  <a:rPr sz="1425" b="0" i="0" u="none" strike="noStrike">
                    <a:solidFill>
                      <a:srgbClr val="515B68"/>
                    </a:solidFill>
                    <a:latin typeface="Noto Sans CJK SC"/>
                  </a:rPr>
                  <a:t>合成值 / a.u.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515B68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条件 A（合成）</c:v>
                </c:pt>
              </c:strCache>
            </c:strRef>
          </c:tx>
          <c:spPr>
            <a:solidFill>
              <a:srgbClr val="173C70"/>
            </a:solidFill>
            <a:ln w="25400" cap="flat">
              <a:solidFill>
                <a:srgbClr val="173C70"/>
              </a:solidFill>
              <a:prstDash val="solid"/>
              <a:round/>
            </a:ln>
            <a:effectLst/>
          </c:spPr>
          <c:invertIfNegative val="0"/>
          <c:dLbls>
            <c:numFmt formatCode="0.############" sourceLinked="0"/>
            <c:txPr>
              <a:bodyPr/>
              <a:lstStyle/>
              <a:p>
                <a:pPr>
                  <a:defRPr b="0" i="0" strike="noStrike" sz="1650" u="none">
                    <a:solidFill>
                      <a:srgbClr val="1C2430"/>
                    </a:solidFill>
                    <a:latin typeface="Noto Sans CJK S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73C70"/>
              </a:solidFill>
              <a:ln w="9525" cap="flat">
                <a:solidFill>
                  <a:srgbClr val="173C7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E1</c:v>
                  </c:pt>
                  <c:pt idx="1">
                    <c:v>E2</c:v>
                  </c:pt>
                  <c:pt idx="2">
                    <c:v>E3</c:v>
                  </c:pt>
                  <c:pt idx="3">
                    <c:v>E4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</c:v>
                </c:pt>
                <c:pt idx="1">
                  <c:v>78</c:v>
                </c:pt>
                <c:pt idx="2">
                  <c:v>70</c:v>
                </c:pt>
                <c:pt idx="3">
                  <c:v>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条件 B（合成）</c:v>
                </c:pt>
              </c:strCache>
            </c:strRef>
          </c:tx>
          <c:spPr>
            <a:solidFill>
              <a:srgbClr val="355D88"/>
            </a:solidFill>
            <a:ln w="25400" cap="flat">
              <a:solidFill>
                <a:srgbClr val="355D88"/>
              </a:solidFill>
              <a:prstDash val="solid"/>
              <a:round/>
            </a:ln>
            <a:effectLst/>
          </c:spPr>
          <c:invertIfNegative val="0"/>
          <c:dLbls>
            <c:numFmt formatCode="0.############" sourceLinked="0"/>
            <c:txPr>
              <a:bodyPr/>
              <a:lstStyle/>
              <a:p>
                <a:pPr>
                  <a:defRPr b="0" i="0" strike="noStrike" sz="1650" u="none">
                    <a:solidFill>
                      <a:srgbClr val="1C2430"/>
                    </a:solidFill>
                    <a:latin typeface="Noto Sans CJK S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355D88"/>
              </a:solidFill>
              <a:ln w="9525" cap="flat">
                <a:solidFill>
                  <a:srgbClr val="355D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E1</c:v>
                  </c:pt>
                  <c:pt idx="1">
                    <c:v>E2</c:v>
                  </c:pt>
                  <c:pt idx="2">
                    <c:v>E3</c:v>
                  </c:pt>
                  <c:pt idx="3">
                    <c:v>E4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81</c:v>
                </c:pt>
                <c:pt idx="2">
                  <c:v>76</c:v>
                </c:pt>
                <c:pt idx="3">
                  <c:v>72</c:v>
                </c:pt>
              </c:numCache>
            </c:numRef>
          </c:val>
          <c:smooth val="0"/>
        </c:ser>
        <c:dLbls>
          <c:numFmt formatCode="0.############" sourceLinked="0"/>
          <c:txPr>
            <a:bodyPr/>
            <a:lstStyle/>
            <a:p>
              <a:pPr>
                <a:defRPr b="0" i="0" strike="noStrike" sz="1650" u="none">
                  <a:solidFill>
                    <a:srgbClr val="1C2430"/>
                  </a:solidFill>
                  <a:latin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75" b="0" i="0" u="none" strike="noStrike">
                <a:solidFill>
                  <a:srgbClr val="1C243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BEC8D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25" b="0" i="0" u="none" strike="noStrike">
                    <a:solidFill>
                      <a:srgbClr val="515B68"/>
                    </a:solidFill>
                    <a:latin typeface="Noto Sans CJK SC"/>
                  </a:defRPr>
                </a:pPr>
                <a:r>
                  <a:rPr sz="1425" b="0" i="0" u="none" strike="noStrike">
                    <a:solidFill>
                      <a:srgbClr val="515B68"/>
                    </a:solidFill>
                    <a:latin typeface="Noto Sans CJK SC"/>
                  </a:rPr>
                  <a:t>合成指标 / a.u.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515B68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25">
              <a:latin typeface="Noto Sans CJK SC"/>
              <a:cs typeface="Noto Sans CJK SC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paper-overview。完整书目置顶，左侧主图，右侧依次解释问题、方法与结果边界。
全部文本为填写指引，图表值是合成演示值，不是任何研究结果。使用前替换论文、数据、原图与来源。
内容职责：研究问题；方法改变了什么；结果及适用范围。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paper-gap-hypothesis。区分已有认识、尚存缺口、研究假说及可观测预测。
全部文本为填写指引，图表值是合成演示值，不是任何研究结果。使用前替换论文、数据、原图与来源。
内容职责：已有认识；尚存缺口；可检验假说；预期观测与反证。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paper-evidence-map。左窄右宽两组证据，右组原图与解释链同框，底部保留共同边界。
全部文本为填写指引，图表值是合成演示值，不是任何研究结果。使用前替换论文、数据、原图与来源。
内容职责：论点一的依据；论点二的依据。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paper-study-scope。完整题名后将样本、任务与验证范围连续排布。
全部文本为填写指引，图表值是合成演示值，不是任何研究结果。使用前替换论文、数据、原图与来源。
内容职责：研究对象；分析任务；实验身份；实际验证内容；外推范围。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paper-contribution-comparison。原生表格仅用于严格维度映射，侧栏说明新增贡献与公平性。
全部文本为填写指引，图表值是合成演示值，不是任何研究结果。使用前替换论文、数据、原图与来源。
内容职责：关键改变；比较条件。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paper-journal-club。一幅关键图配研究问题与争议，底部展开方法和验证讨论。
全部文本为填写指引，图表值是合成演示值，不是任何研究结果。使用前替换论文、数据、原图与来源。
内容职责：本次讨论问题；方法审查；实验审查。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method-agent-loop。六节点闭环说明规划、执行与核验，右侧保留接口和失败处理。
全部文本为填写指引，图表值是合成演示值，不是任何研究结果。使用前替换论文、数据、原图与来源。
内容职责：系统接口；核验与失败处理。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method-rl-interface。环境与策略构成闭环，右侧将状态、动作、奖励、约束分别定义。
全部文本为填写指引，图表值是合成演示值，不是任何研究结果。使用前替换论文、数据、原图与来源。
内容职责：状态 s_t；动作 a_t；奖励 r_t；安全约束。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method-tool-routing。纵向任务入口分流到三类工具，再汇总到核验节点。
全部文本为填写指引，图表值是合成演示值，不是任何研究结果。使用前替换论文、数据、原图与来源。
内容职责：路由依据；工具覆盖范围。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method-model-coupling。耦合链横向展开，下面交代接口、校准和模型失配。
全部文本为填写指引，图表值是合成演示值，不是任何研究结果。使用前替换论文、数据、原图与来源。
内容职责：输入与单位；校准与验证；模型失配。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method-algorithm-steps。左列给出紧凑有序步骤，右侧给出核心算子与必要假设。
全部文本为填写指引，图表值是合成演示值，不是任何研究结果。使用前替换论文、数据、原图与来源。
内容职责：关键运算；更新规则；假设与计算条件。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method-objective-constraints。将目标函数、约束和变量定义并置，底部给出求解和评价分工。
全部文本为填写指引，图表值是合成演示值，不是任何研究结果。使用前替换论文、数据、原图与来源。
内容职责：优化目标；约束集合；求解与评价；符号与单位；可识别性假设。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experiment-cohort-design。队列划分和采集过程在左，独立样本与观测次数在右明确区分。
全部文本为填写指引，图表值是合成演示值，不是任何研究结果。使用前替换论文、数据、原图与来源。
内容职责：独立样本单位；重复测量结构；纳入排除与缺失值。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experiment-factorial。用原生表格记录因子水平与处理，右侧解释随机化和交互作用。
全部文本为填写指引，图表值是合成演示值，不是任何研究结果。使用前替换论文、数据、原图与来源。
内容职责：随机化与重复；效应解释。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experiment-train-test-split。原始样本按独立单位划分到训练、验证与独立测试三个分支，下方说明划分职责与泄漏检查。
全部文本为填写指引，图表值是合成演示值，不是任何研究结果。使用前替换论文、数据、原图与来源。
内容职责：划分单位与留出条件；信息泄漏检查。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experiment-baseline-controls。共同条件用表格对齐，额外信息、算力与调参预算在侧栏说明。
全部文本为填写指引，图表值是合成演示值，不是任何研究结果。使用前替换论文、数据、原图与来源。
内容职责：共同预算；额外信息。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experiment-measurement-chain。测量链用分层流程，误差来源与校准集中置于右侧。
全部文本为填写指引，图表值是合成演示值，不是任何研究结果。使用前替换论文、数据、原图与来源。
内容职责：校准与误差；分析单位。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experiment-parameter-protocol。参数表配训练、测试和复现备注，避免参数被藏在讲稿中。
全部文本为填写指引，图表值是合成演示值，不是任何研究结果。使用前替换论文、数据、原图与来源。
内容职责：训练条件；测试条件；复现材料。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results-main-effect。主图占主要面积，右侧同时给出效应、样本与结论边界。
全部文本为填写指引，图表值是合成演示值，不是任何研究结果。使用前替换论文、数据、原图与来源。
内容职责：主要效应；统计口径；解释边界。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results-two-outcomes。左原生图表与右原图分别报告终点，解释各自的指标、分母与条件。
全部文本为填写指引，图表值是合成演示值，不是任何研究结果。使用前替换论文、数据、原图与来源。
内容职责：终点一的解释；终点二的解释。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results-ablation。消融表与组件作用说明相邻，底部列出估计不确定性。
全部文本为填写指引，图表值是合成演示值，不是任何研究结果。使用前替换论文、数据、原图与来源。
内容职责：组件作用；替代解释；不确定性与重复。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results-robustness。趋势图展示环境差异，右侧记录训练覆盖与最差情形。
全部文本为填写指引，图表值是合成演示值，不是任何研究结果。使用前替换论文、数据、原图与来源。
内容职责：测试环境；最差情形；平均值以外的结论。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results-tradeoff。定量图配三个不同角色的解释区，明确权衡的比较单位。
全部文本为填写指引，图表值是合成演示值，不是任何研究结果。使用前替换论文、数据、原图与来源。
内容职责：收益指标；风险指标；资源代价。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results-error-analysis。原生错误分类表与实际评价流程并置，避免评价口径混用。
全部文本为填写指引，图表值是合成演示值，不是任何研究结果。使用前替换论文、数据、原图与来源。
内容职责：评价者与尺度；失败集中在哪一步；分母与统计单位。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figure-wide-annotated。完整宽幅原图置于上方，下面按图中元素组织读图说明。
全部文本为填写指引，图表值是合成演示值，不是任何研究结果。使用前替换论文、数据、原图与来源。
内容职责：图例与处理；主要趋势；必要限定。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figure-two-panels。两面板共享高度，每幅图的解释直接放在对应面板下面。
全部文本为填写指引，图表值是合成演示值，不是任何研究结果。使用前替换论文、数据、原图与来源。
内容职责：面板 A；面板 B。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figure-three-panels。三图解释不同证据环节，结论限定沿底部展开。
全部文本为填写指引，图表值是合成演示值，不是任何研究结果。使用前替换论文、数据、原图与来源。
内容职责：证据 A；证据 B；证据 C。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figure-detail-window。全图与细节分别保留为独立图像，附面板位置和放大范围说明。
全部文本为填写指引，图表值是合成演示值，不是任何研究结果。使用前替换论文、数据、原图与来源。
内容职责：全图定位；局部读数与上下文。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figure-portrait-reading。竖图使用整列高度，右侧先解释流程，再记录关键证据和局限。
全部文本为填写指引，图表值是合成演示值，不是任何研究结果。使用前替换论文、数据、原图与来源。
内容职责：阅读顺序；关键证据；局限与外推。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figure-legend-first。原图在右，左列明确变量、颜色和判读规则。
全部文本为填写指引，图表值是合成演示值，不是任何研究结果。使用前替换论文、数据、原图与来源。
内容职责：坐标与变量；颜色与处理；判读规则。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synthesis-mechanism-map。以共有接口连接不同方法，下面说明差异来自哪里。
全部文本为填写指引，图表值是合成演示值，不是任何研究结果。使用前替换论文、数据、原图与来源。
内容职责：共同机制；关键差异。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synthesis-evidence-ladder。四类证据按验证层级展开，侧栏解释可支持的结论。
全部文本为填写指引，图表值是合成演示值，不是任何研究结果。使用前替换论文、数据、原图与来源。
内容职责：离线与模拟；受控实验；独立环境验证；真实部署；共同评价对象；外推边界。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synthesis-method-comparison。表格只比较输入、接口与验证范围，右侧解释不可比的数字。
全部文本为填写指引，图表值是合成演示值，不是任何研究结果。使用前替换论文、数据、原图与来源。
内容职责：比较维度；不可比条件。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synthesis-timeline。时间节点上方对应技术变化，下方集中说明评价方式的变化。
全部文本为填写指引，图表值是合成演示值，不是任何研究结果。使用前替换论文、数据、原图与来源。
内容职责：方法演化；评价演化；仍然缺少的验证。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synthesis-agreement-conflict。并列证据图后将一致结论、冲突来源与可能解释明确区分。
全部文本为填写指引，图表值是合成演示值，不是任何研究结果。使用前替换论文、数据、原图与来源。
内容职责：一致发现；冲突来源；可区分的解释。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synthesis-open-questions。左列归纳已知证据，右侧提出对应问题，底部说明检验优先级。
全部文本为填写指引，图表值是合成演示值，不是任何研究结果。使用前替换论文、数据、原图与来源。
内容职责：已知证据一；对应研究问题一；已知证据二；对应研究问题二；下一步检验条件。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limitations-failure-case。失败原图保留在左，右侧按输入、错误步骤和后果解释。
全部文本为填写指引，图表值是合成演示值，不是任何研究结果。使用前替换论文、数据、原图与来源。
内容职责：失败条件；错误发生在哪一步；对结论的影响。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limitations-domain-shift。跨条件曲线配输入变化、机制失配和验证范围。
全部文本为填写指引，图表值是合成演示值，不是任何研究结果。使用前替换论文、数据、原图与来源。
内容职责：输入条件变化；机制失配；可支持的迁移结论。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limitations-measurement-bias。因果链展示测量误差如何传入结论，下方给出排查与敏感性分析。
全部文本为填写指引，图表值是合成演示值，不是任何研究结果。使用前替换论文、数据、原图与来源。
内容职责：偏倚来源；排查与敏感性分析。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limitations-validity-audit。逐项对应威胁、证据与处理，避免笼统的局限清单。
全部文本为填写指引，图表值是合成演示值，不是任何研究结果。使用前替换论文、数据、原图与来源。
内容职责：内部效度；外部效度。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limitations-risk-mitigation。触发到复核的过程与风险分类、介入代价并列。
全部文本为填写指引，图表值是合成演示值，不是任何研究结果。使用前替换论文、数据、原图与来源。
内容职责：风险触发条件；人工与计算代价；剩余风险。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limitations-reproducibility。左侧记录材料依赖链，右侧列出可复现范围与缺失项。
全部文本为填写指引，图表值是合成演示值，不是任何研究结果。使用前替换论文、数据、原图与来源。
内容职责：已公开材料；缺失与重建条件。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plan-hypothesis-test。上方说明证据和缺口，下面以干预、对照和终点形成实验设计。
全部文本为填写指引，图表值是合成演示值，不是任何研究结果。使用前替换论文、数据、原图与来源。
内容职责：已有证据；尚存缺口；研究假设；实验对照；评价与反证。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plan-fair-comparison。一套数据分配到两种流程，再用同一评价程序核查。
全部文本为填写指引，图表值是合成演示值，不是任何研究结果。使用前替换论文、数据、原图与来源。
内容职责：共同预算与信息；主要终点与反证。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plan-data-evaluation。数据到评价的主线占上部，下方明确样本量依据与留出条件。
全部文本为填写指引，图表值是合成演示值，不是任何研究结果。使用前替换论文、数据、原图与来源。
内容职责：样本量与采集计划；留出与分析计划。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plan-work-packages。纵向三个研究阶段各自包含目标、方法与可检查的产物。
全部文本为填写指引，图表值是合成演示值，不是任何研究结果。使用前替换论文、数据、原图与来源。
内容职责：阶段一：材料与基线；阶段二：机制与验证；阶段三：边界与复现；阶段依赖；停止与调整条件。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plan-conclusions。结论分别连接对应证据，侧栏集中说明尚未解决的问题。
全部文本为填写指引，图表值是合成演示值，不是任何研究结果。使用前替换论文、数据、原图与来源。
内容职责：结论一及证据；结论二及证据；结论三及证据；尚未验证；优先研究问题。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plan-reference-notes。完整书目集中排列，右栏记录版本、补充材料与图像来源。
全部文本为填写指引，图表值是合成演示值，不是任何研究结果。使用前替换论文、数据、原图与来源。
内容职责：版本与补充材料；图像与数据来源。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
T2 · Full title of a related methods or validation study · 期刊与卷页（替换） · 2026 · 待替换 · 书目占位，非真实文献
T3 · Full title of the source for the supplementary evidence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1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1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/ 48</a:t>
            </a:r>
            <a:endParaRPr lang="zh-CN" sz="1050" dirty="0"/>
          </a:p>
        </p:txBody>
      </p:sp>
      <p:sp>
        <p:nvSpPr>
          <p:cNvPr id="4" name="T01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01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单篇论文全景</a:t>
            </a:r>
            <a:endParaRPr lang="zh-CN" sz="2550" dirty="0"/>
          </a:p>
        </p:txBody>
      </p:sp>
      <p:sp>
        <p:nvSpPr>
          <p:cNvPr id="6" name="T01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01/panel:0:frame"/>
          <p:cNvSpPr/>
          <p:nvPr/>
        </p:nvSpPr>
        <p:spPr>
          <a:xfrm>
            <a:off x="457200" y="2514600"/>
            <a:ext cx="6496050" cy="35242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01/panel:0:heading-fill"/>
          <p:cNvSpPr/>
          <p:nvPr/>
        </p:nvSpPr>
        <p:spPr>
          <a:xfrm>
            <a:off x="466725" y="2524125"/>
            <a:ext cx="647700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01/panel:0:heading-rule"/>
          <p:cNvSpPr/>
          <p:nvPr/>
        </p:nvSpPr>
        <p:spPr>
          <a:xfrm>
            <a:off x="457200" y="2905125"/>
            <a:ext cx="64960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01/panel:0:title"/>
          <p:cNvSpPr/>
          <p:nvPr/>
        </p:nvSpPr>
        <p:spPr>
          <a:xfrm>
            <a:off x="581025" y="2571750"/>
            <a:ext cx="62484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关键证据图</a:t>
            </a:r>
            <a:endParaRPr lang="zh-CN" sz="1800" dirty="0"/>
          </a:p>
        </p:txBody>
      </p:sp>
      <p:sp>
        <p:nvSpPr>
          <p:cNvPr id="11" name="T01/paper-title"/>
          <p:cNvSpPr/>
          <p:nvPr/>
        </p:nvSpPr>
        <p:spPr>
          <a:xfrm>
            <a:off x="457200" y="1219200"/>
            <a:ext cx="112776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Full article title: connecting decision models, experimental evidence and independent </a:t>
            </a:r>
            <a:endParaRPr lang="zh-CN" sz="1875" dirty="0"/>
          </a:p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validation in crop cultivation</a:t>
            </a:r>
            <a:endParaRPr lang="zh-CN" sz="1875" dirty="0"/>
          </a:p>
        </p:txBody>
      </p:sp>
      <p:sp>
        <p:nvSpPr>
          <p:cNvPr id="12" name="T01/paper-bibliography"/>
          <p:cNvSpPr/>
          <p:nvPr/>
        </p:nvSpPr>
        <p:spPr>
          <a:xfrm>
            <a:off x="457200" y="1847850"/>
            <a:ext cx="112776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6"/>
              </a:lnSpc>
              <a:buNone/>
            </a:pPr>
            <a:r>
              <a:rPr lang="zh-CN" altLang="en-US" sz="127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作者姓名（替换） · 期刊与卷页（替换） · 2026 · DOI: 待替换</a:t>
            </a:r>
            <a:endParaRPr lang="zh-CN" sz="1275" dirty="0"/>
          </a:p>
        </p:txBody>
      </p:sp>
      <p:sp>
        <p:nvSpPr>
          <p:cNvPr id="13" name="T01/figure:0:paper"/>
          <p:cNvSpPr/>
          <p:nvPr/>
        </p:nvSpPr>
        <p:spPr>
          <a:xfrm>
            <a:off x="590550" y="2971800"/>
            <a:ext cx="6229350" cy="29146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T01/figure:0:image" descr="T1 · 示例图 · 响应曲线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2100" y="2971800"/>
            <a:ext cx="4286250" cy="2571750"/>
          </a:xfrm>
          <a:prstGeom prst="rect">
            <a:avLst/>
          </a:prstGeom>
        </p:spPr>
      </p:pic>
      <p:sp>
        <p:nvSpPr>
          <p:cNvPr id="15" name="T01/figure:0:caption"/>
          <p:cNvSpPr/>
          <p:nvPr/>
        </p:nvSpPr>
        <p:spPr>
          <a:xfrm>
            <a:off x="590550" y="5629275"/>
            <a:ext cx="62293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响应曲线；合成演示值</a:t>
            </a:r>
            <a:endParaRPr lang="zh-CN" sz="1350" dirty="0"/>
          </a:p>
        </p:txBody>
      </p:sp>
      <p:sp>
        <p:nvSpPr>
          <p:cNvPr id="16" name="T01/card/region-1/base-rule"/>
          <p:cNvSpPr/>
          <p:nvPr/>
        </p:nvSpPr>
        <p:spPr>
          <a:xfrm>
            <a:off x="7200900" y="3638550"/>
            <a:ext cx="45339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7" name="T01/card/region-1/side-mark"/>
          <p:cNvSpPr/>
          <p:nvPr/>
        </p:nvSpPr>
        <p:spPr>
          <a:xfrm>
            <a:off x="7200900" y="2533650"/>
            <a:ext cx="47625" cy="295275"/>
          </a:xfrm>
          <a:prstGeom prst="rect">
            <a:avLst/>
          </a:prstGeom>
          <a:solidFill>
            <a:srgbClr val="355D8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01/card/region-1/title"/>
          <p:cNvSpPr/>
          <p:nvPr/>
        </p:nvSpPr>
        <p:spPr>
          <a:xfrm>
            <a:off x="7353300" y="2533650"/>
            <a:ext cx="4381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355D8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研究问题</a:t>
            </a:r>
            <a:endParaRPr lang="zh-CN" sz="1800" dirty="0"/>
          </a:p>
        </p:txBody>
      </p:sp>
      <p:sp>
        <p:nvSpPr>
          <p:cNvPr id="19" name="T01/card/region-1/body"/>
          <p:cNvSpPr/>
          <p:nvPr/>
        </p:nvSpPr>
        <p:spPr>
          <a:xfrm>
            <a:off x="7353300" y="2952750"/>
            <a:ext cx="438150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明确研究对象与问题边界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给出当前方法尚未解释的关系</a:t>
            </a:r>
            <a:endParaRPr lang="zh-CN" sz="1725" dirty="0"/>
          </a:p>
        </p:txBody>
      </p:sp>
      <p:sp>
        <p:nvSpPr>
          <p:cNvPr id="20" name="T01/card/region-2/title"/>
          <p:cNvSpPr/>
          <p:nvPr/>
        </p:nvSpPr>
        <p:spPr>
          <a:xfrm>
            <a:off x="7200900" y="3771900"/>
            <a:ext cx="45339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方法改变了什么</a:t>
            </a:r>
            <a:endParaRPr lang="zh-CN" sz="1875" dirty="0"/>
          </a:p>
        </p:txBody>
      </p:sp>
      <p:sp>
        <p:nvSpPr>
          <p:cNvPr id="21" name="T01/card/region-2/body"/>
          <p:cNvSpPr/>
          <p:nvPr/>
        </p:nvSpPr>
        <p:spPr>
          <a:xfrm>
            <a:off x="7200900" y="4152900"/>
            <a:ext cx="4533900" cy="628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说明输入、处理与输出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指出新增方法实际介入的环节</a:t>
            </a:r>
            <a:endParaRPr lang="zh-CN" sz="1725" dirty="0"/>
          </a:p>
        </p:txBody>
      </p:sp>
      <p:sp>
        <p:nvSpPr>
          <p:cNvPr id="22" name="T01/card/region-3/heading-rule"/>
          <p:cNvSpPr/>
          <p:nvPr/>
        </p:nvSpPr>
        <p:spPr>
          <a:xfrm>
            <a:off x="7200900" y="5295900"/>
            <a:ext cx="45339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3" name="T01/card/region-3/heading-mark"/>
          <p:cNvSpPr/>
          <p:nvPr/>
        </p:nvSpPr>
        <p:spPr>
          <a:xfrm>
            <a:off x="7200900" y="52959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24" name="T01/card/region-3/title"/>
          <p:cNvSpPr/>
          <p:nvPr/>
        </p:nvSpPr>
        <p:spPr>
          <a:xfrm>
            <a:off x="7200900" y="4953000"/>
            <a:ext cx="45339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结果及适用范围</a:t>
            </a:r>
            <a:endParaRPr lang="zh-CN" sz="1875" dirty="0"/>
          </a:p>
        </p:txBody>
      </p:sp>
      <p:sp>
        <p:nvSpPr>
          <p:cNvPr id="25" name="T01/card/region-3/body"/>
          <p:cNvSpPr/>
          <p:nvPr/>
        </p:nvSpPr>
        <p:spPr>
          <a:xfrm>
            <a:off x="7200900" y="5429250"/>
            <a:ext cx="45339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报告效果、分母与比较对象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保留作者实际测试的场景</a:t>
            </a:r>
            <a:endParaRPr lang="zh-CN" sz="1800" dirty="0"/>
          </a:p>
        </p:txBody>
      </p:sp>
      <p:sp>
        <p:nvSpPr>
          <p:cNvPr id="26" name="T01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2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2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/ 48</a:t>
            </a:r>
            <a:endParaRPr lang="zh-CN" sz="1050" dirty="0"/>
          </a:p>
        </p:txBody>
      </p:sp>
      <p:sp>
        <p:nvSpPr>
          <p:cNvPr id="4" name="T02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02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缺口与假说</a:t>
            </a:r>
            <a:endParaRPr lang="zh-CN" sz="2550" dirty="0"/>
          </a:p>
        </p:txBody>
      </p:sp>
      <p:sp>
        <p:nvSpPr>
          <p:cNvPr id="6" name="T02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02/paper-title"/>
          <p:cNvSpPr/>
          <p:nvPr/>
        </p:nvSpPr>
        <p:spPr>
          <a:xfrm>
            <a:off x="457200" y="1219200"/>
            <a:ext cx="112776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Full article title: connecting decision models, experimental evidence and independent </a:t>
            </a:r>
            <a:endParaRPr lang="zh-CN" sz="1875" dirty="0"/>
          </a:p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validation in crop cultivation</a:t>
            </a:r>
            <a:endParaRPr lang="zh-CN" sz="1875" dirty="0"/>
          </a:p>
        </p:txBody>
      </p:sp>
      <p:sp>
        <p:nvSpPr>
          <p:cNvPr id="8" name="T02/paper-bibliography"/>
          <p:cNvSpPr/>
          <p:nvPr/>
        </p:nvSpPr>
        <p:spPr>
          <a:xfrm>
            <a:off x="457200" y="1847850"/>
            <a:ext cx="112776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6"/>
              </a:lnSpc>
              <a:buNone/>
            </a:pPr>
            <a:r>
              <a:rPr lang="zh-CN" altLang="en-US" sz="127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作者姓名（替换） · 期刊与卷页（替换） · 2026 · DOI: 待替换</a:t>
            </a:r>
            <a:endParaRPr lang="zh-CN" sz="1275" dirty="0"/>
          </a:p>
        </p:txBody>
      </p:sp>
      <p:sp>
        <p:nvSpPr>
          <p:cNvPr id="9" name="T02/card/region-1/title"/>
          <p:cNvSpPr/>
          <p:nvPr/>
        </p:nvSpPr>
        <p:spPr>
          <a:xfrm>
            <a:off x="457200" y="2590800"/>
            <a:ext cx="54102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已有认识</a:t>
            </a:r>
            <a:endParaRPr lang="zh-CN" sz="1875" dirty="0"/>
          </a:p>
        </p:txBody>
      </p:sp>
      <p:sp>
        <p:nvSpPr>
          <p:cNvPr id="10" name="T02/card/region-1/body"/>
          <p:cNvSpPr/>
          <p:nvPr/>
        </p:nvSpPr>
        <p:spPr>
          <a:xfrm>
            <a:off x="457200" y="3038475"/>
            <a:ext cx="5410200" cy="1000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列出已有研究共同支持的结论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说明该结论依赖的数据条件</a:t>
            </a:r>
            <a:endParaRPr lang="zh-CN" sz="1800" dirty="0"/>
          </a:p>
        </p:txBody>
      </p:sp>
      <p:sp>
        <p:nvSpPr>
          <p:cNvPr id="11" name="T02/card/region-2/frame"/>
          <p:cNvSpPr/>
          <p:nvPr/>
        </p:nvSpPr>
        <p:spPr>
          <a:xfrm>
            <a:off x="6153150" y="2686050"/>
            <a:ext cx="5581650" cy="13906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2" name="T02/card/region-2/tab"/>
          <p:cNvSpPr/>
          <p:nvPr/>
        </p:nvSpPr>
        <p:spPr>
          <a:xfrm>
            <a:off x="6267450" y="257175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02/card/region-2/title"/>
          <p:cNvSpPr/>
          <p:nvPr/>
        </p:nvSpPr>
        <p:spPr>
          <a:xfrm>
            <a:off x="6372225" y="26003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尚存缺口</a:t>
            </a:r>
            <a:endParaRPr lang="zh-CN" sz="1800" dirty="0"/>
          </a:p>
        </p:txBody>
      </p:sp>
      <p:sp>
        <p:nvSpPr>
          <p:cNvPr id="14" name="T02/card/region-2/body"/>
          <p:cNvSpPr/>
          <p:nvPr/>
        </p:nvSpPr>
        <p:spPr>
          <a:xfrm>
            <a:off x="6286500" y="3034665"/>
            <a:ext cx="5314950" cy="9467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指出尚未验证的机制或条件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将缺口定位到具体决策接口</a:t>
            </a:r>
            <a:endParaRPr lang="zh-CN" sz="1725" dirty="0"/>
          </a:p>
        </p:txBody>
      </p:sp>
      <p:sp>
        <p:nvSpPr>
          <p:cNvPr id="15" name="T02/card/region-3/frame"/>
          <p:cNvSpPr/>
          <p:nvPr/>
        </p:nvSpPr>
        <p:spPr>
          <a:xfrm>
            <a:off x="457200" y="4324350"/>
            <a:ext cx="7315200" cy="17145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6" name="T02/card/region-3/heading-fill"/>
          <p:cNvSpPr/>
          <p:nvPr/>
        </p:nvSpPr>
        <p:spPr>
          <a:xfrm>
            <a:off x="466725" y="4333875"/>
            <a:ext cx="72961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02/card/region-3/heading-rule"/>
          <p:cNvSpPr/>
          <p:nvPr/>
        </p:nvSpPr>
        <p:spPr>
          <a:xfrm>
            <a:off x="457200" y="4705350"/>
            <a:ext cx="73152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8" name="T02/card/region-3/title"/>
          <p:cNvSpPr/>
          <p:nvPr/>
        </p:nvSpPr>
        <p:spPr>
          <a:xfrm>
            <a:off x="581025" y="4381500"/>
            <a:ext cx="70675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355D8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可检验假说</a:t>
            </a:r>
            <a:endParaRPr lang="zh-CN" sz="1800" dirty="0"/>
          </a:p>
        </p:txBody>
      </p:sp>
      <p:sp>
        <p:nvSpPr>
          <p:cNvPr id="19" name="T02/card/region-3/body"/>
          <p:cNvSpPr/>
          <p:nvPr/>
        </p:nvSpPr>
        <p:spPr>
          <a:xfrm>
            <a:off x="590550" y="4819650"/>
            <a:ext cx="7048500" cy="1123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明确干预变量与预期结果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给出能够区分替代解释的观测</a:t>
            </a:r>
            <a:endParaRPr lang="zh-CN" sz="1725" dirty="0"/>
          </a:p>
        </p:txBody>
      </p:sp>
      <p:sp>
        <p:nvSpPr>
          <p:cNvPr id="20" name="T02/card/region-4/heading-rule"/>
          <p:cNvSpPr/>
          <p:nvPr/>
        </p:nvSpPr>
        <p:spPr>
          <a:xfrm>
            <a:off x="8077200" y="4686300"/>
            <a:ext cx="36576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1" name="T02/card/region-4/heading-mark"/>
          <p:cNvSpPr/>
          <p:nvPr/>
        </p:nvSpPr>
        <p:spPr>
          <a:xfrm>
            <a:off x="8077200" y="4686300"/>
            <a:ext cx="342900" cy="0"/>
          </a:xfrm>
          <a:prstGeom prst="line">
            <a:avLst/>
          </a:prstGeom>
          <a:noFill/>
          <a:ln w="17145">
            <a:solidFill>
              <a:srgbClr val="903543"/>
            </a:solidFill>
            <a:prstDash val="solid"/>
          </a:ln>
        </p:spPr>
      </p:sp>
      <p:sp>
        <p:nvSpPr>
          <p:cNvPr id="22" name="T02/card/region-4/title"/>
          <p:cNvSpPr/>
          <p:nvPr/>
        </p:nvSpPr>
        <p:spPr>
          <a:xfrm>
            <a:off x="8077200" y="4343400"/>
            <a:ext cx="36576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9035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预期观测与反证</a:t>
            </a:r>
            <a:endParaRPr lang="zh-CN" sz="1875" dirty="0"/>
          </a:p>
        </p:txBody>
      </p:sp>
      <p:sp>
        <p:nvSpPr>
          <p:cNvPr id="23" name="T02/card/region-4/body"/>
          <p:cNvSpPr/>
          <p:nvPr/>
        </p:nvSpPr>
        <p:spPr>
          <a:xfrm>
            <a:off x="8077200" y="4819650"/>
            <a:ext cx="3657600" cy="1181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预先规定支持或否定的条件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同时说明无效或负效应如何解释</a:t>
            </a:r>
            <a:endParaRPr lang="zh-CN" sz="1800" dirty="0"/>
          </a:p>
        </p:txBody>
      </p:sp>
      <p:sp>
        <p:nvSpPr>
          <p:cNvPr id="24" name="T02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3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3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/ 48</a:t>
            </a:r>
            <a:endParaRPr lang="zh-CN" sz="1050" dirty="0"/>
          </a:p>
        </p:txBody>
      </p:sp>
      <p:sp>
        <p:nvSpPr>
          <p:cNvPr id="4" name="T03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03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核心论点与证据对应</a:t>
            </a:r>
            <a:endParaRPr lang="zh-CN" sz="2550" dirty="0"/>
          </a:p>
        </p:txBody>
      </p:sp>
      <p:sp>
        <p:nvSpPr>
          <p:cNvPr id="6" name="T03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03/panel:0:frame"/>
          <p:cNvSpPr/>
          <p:nvPr/>
        </p:nvSpPr>
        <p:spPr>
          <a:xfrm>
            <a:off x="457200" y="1295400"/>
            <a:ext cx="4267200" cy="42100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03/panel:0:heading-fill"/>
          <p:cNvSpPr/>
          <p:nvPr/>
        </p:nvSpPr>
        <p:spPr>
          <a:xfrm>
            <a:off x="466725" y="1304925"/>
            <a:ext cx="424815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03/panel:0:heading-rule"/>
          <p:cNvSpPr/>
          <p:nvPr/>
        </p:nvSpPr>
        <p:spPr>
          <a:xfrm>
            <a:off x="457200" y="1685925"/>
            <a:ext cx="42672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03/panel:0:title"/>
          <p:cNvSpPr/>
          <p:nvPr/>
        </p:nvSpPr>
        <p:spPr>
          <a:xfrm>
            <a:off x="581025" y="1352550"/>
            <a:ext cx="40195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证据一：测量对象</a:t>
            </a:r>
            <a:endParaRPr lang="zh-CN" sz="1800" dirty="0"/>
          </a:p>
        </p:txBody>
      </p:sp>
      <p:sp>
        <p:nvSpPr>
          <p:cNvPr id="11" name="T03/panel:1:frame"/>
          <p:cNvSpPr/>
          <p:nvPr/>
        </p:nvSpPr>
        <p:spPr>
          <a:xfrm>
            <a:off x="5010150" y="1295400"/>
            <a:ext cx="6724650" cy="42100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2" name="T03/panel:1:heading-fill"/>
          <p:cNvSpPr/>
          <p:nvPr/>
        </p:nvSpPr>
        <p:spPr>
          <a:xfrm>
            <a:off x="5019675" y="1304925"/>
            <a:ext cx="670560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03/panel:1:heading-rule"/>
          <p:cNvSpPr/>
          <p:nvPr/>
        </p:nvSpPr>
        <p:spPr>
          <a:xfrm>
            <a:off x="5010150" y="1685925"/>
            <a:ext cx="67246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4" name="T03/panel:1:title"/>
          <p:cNvSpPr/>
          <p:nvPr/>
        </p:nvSpPr>
        <p:spPr>
          <a:xfrm>
            <a:off x="5133975" y="1352550"/>
            <a:ext cx="64770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证据二：效应与解释</a:t>
            </a:r>
            <a:endParaRPr lang="zh-CN" sz="1800" dirty="0"/>
          </a:p>
        </p:txBody>
      </p:sp>
      <p:sp>
        <p:nvSpPr>
          <p:cNvPr id="15" name="T03/takeaway"/>
          <p:cNvSpPr/>
          <p:nvPr/>
        </p:nvSpPr>
        <p:spPr>
          <a:xfrm>
            <a:off x="457200" y="5676900"/>
            <a:ext cx="1127760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解释必须由本页证据支持，并保留样本、对照与适用条件。</a:t>
            </a:r>
            <a:endParaRPr lang="zh-CN" sz="1800" dirty="0"/>
          </a:p>
        </p:txBody>
      </p:sp>
      <p:sp>
        <p:nvSpPr>
          <p:cNvPr id="16" name="T03/figure:0:paper"/>
          <p:cNvSpPr/>
          <p:nvPr/>
        </p:nvSpPr>
        <p:spPr>
          <a:xfrm>
            <a:off x="590550" y="1790700"/>
            <a:ext cx="4000500" cy="2457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T03/figure:0:image" descr="T1 · 示例图 · 响应曲线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675" y="1790700"/>
            <a:ext cx="3524250" cy="2114550"/>
          </a:xfrm>
          <a:prstGeom prst="rect">
            <a:avLst/>
          </a:prstGeom>
        </p:spPr>
      </p:pic>
      <p:sp>
        <p:nvSpPr>
          <p:cNvPr id="18" name="T03/figure:0:caption"/>
          <p:cNvSpPr/>
          <p:nvPr/>
        </p:nvSpPr>
        <p:spPr>
          <a:xfrm>
            <a:off x="590550" y="3990975"/>
            <a:ext cx="40005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响应曲线；合成演示值</a:t>
            </a:r>
            <a:endParaRPr lang="zh-CN" sz="1350" dirty="0"/>
          </a:p>
        </p:txBody>
      </p:sp>
      <p:sp>
        <p:nvSpPr>
          <p:cNvPr id="19" name="T03/figure:1:paper"/>
          <p:cNvSpPr/>
          <p:nvPr/>
        </p:nvSpPr>
        <p:spPr>
          <a:xfrm>
            <a:off x="5143500" y="1790700"/>
            <a:ext cx="3905250" cy="2457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T03/figure:1:image" descr="T1 · 示例图 · 效应与区间；合成演示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1790700"/>
            <a:ext cx="3524250" cy="2114550"/>
          </a:xfrm>
          <a:prstGeom prst="rect">
            <a:avLst/>
          </a:prstGeom>
        </p:spPr>
      </p:pic>
      <p:sp>
        <p:nvSpPr>
          <p:cNvPr id="21" name="T03/figure:1:caption"/>
          <p:cNvSpPr/>
          <p:nvPr/>
        </p:nvSpPr>
        <p:spPr>
          <a:xfrm>
            <a:off x="5143500" y="3990975"/>
            <a:ext cx="39052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效应与区间；合成演示值</a:t>
            </a:r>
            <a:endParaRPr lang="zh-CN" sz="1350" dirty="0"/>
          </a:p>
        </p:txBody>
      </p:sp>
      <p:sp>
        <p:nvSpPr>
          <p:cNvPr id="22" name="T03/edge:0"/>
          <p:cNvSpPr/>
          <p:nvPr/>
        </p:nvSpPr>
        <p:spPr>
          <a:xfrm>
            <a:off x="10448925" y="2457450"/>
            <a:ext cx="0" cy="2476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23" name="T03/edge:1"/>
          <p:cNvSpPr/>
          <p:nvPr/>
        </p:nvSpPr>
        <p:spPr>
          <a:xfrm>
            <a:off x="10448925" y="3295650"/>
            <a:ext cx="0" cy="2476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24" name="T03/node:step-1:frame"/>
          <p:cNvSpPr/>
          <p:nvPr/>
        </p:nvSpPr>
        <p:spPr>
          <a:xfrm>
            <a:off x="9372600" y="1866900"/>
            <a:ext cx="2152650" cy="590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5" name="T03/node:step-1:heading-rule"/>
          <p:cNvSpPr/>
          <p:nvPr/>
        </p:nvSpPr>
        <p:spPr>
          <a:xfrm>
            <a:off x="9372600" y="186690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6" name="T03/node:step-1:label"/>
          <p:cNvSpPr/>
          <p:nvPr/>
        </p:nvSpPr>
        <p:spPr>
          <a:xfrm>
            <a:off x="9486900" y="2028825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输入与测量</a:t>
            </a:r>
            <a:endParaRPr lang="zh-CN" sz="1800" dirty="0"/>
          </a:p>
        </p:txBody>
      </p:sp>
      <p:sp>
        <p:nvSpPr>
          <p:cNvPr id="27" name="T03/node:step-2:frame"/>
          <p:cNvSpPr/>
          <p:nvPr/>
        </p:nvSpPr>
        <p:spPr>
          <a:xfrm>
            <a:off x="9372600" y="2705100"/>
            <a:ext cx="2152650" cy="590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8" name="T03/node:step-2:heading-rule"/>
          <p:cNvSpPr/>
          <p:nvPr/>
        </p:nvSpPr>
        <p:spPr>
          <a:xfrm>
            <a:off x="9372600" y="270510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9" name="T03/node:step-2:label"/>
          <p:cNvSpPr/>
          <p:nvPr/>
        </p:nvSpPr>
        <p:spPr>
          <a:xfrm>
            <a:off x="9486900" y="2867025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验证与比较</a:t>
            </a:r>
            <a:endParaRPr lang="zh-CN" sz="1800" dirty="0"/>
          </a:p>
        </p:txBody>
      </p:sp>
      <p:sp>
        <p:nvSpPr>
          <p:cNvPr id="30" name="T03/node:step-3:frame"/>
          <p:cNvSpPr/>
          <p:nvPr/>
        </p:nvSpPr>
        <p:spPr>
          <a:xfrm>
            <a:off x="9372600" y="3543300"/>
            <a:ext cx="2152650" cy="590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1" name="T03/node:step-3:heading-rule"/>
          <p:cNvSpPr/>
          <p:nvPr/>
        </p:nvSpPr>
        <p:spPr>
          <a:xfrm>
            <a:off x="9372600" y="354330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32" name="T03/node:step-3:label"/>
          <p:cNvSpPr/>
          <p:nvPr/>
        </p:nvSpPr>
        <p:spPr>
          <a:xfrm>
            <a:off x="9486900" y="3705225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解释与限定</a:t>
            </a:r>
            <a:endParaRPr lang="zh-CN" sz="1800" dirty="0"/>
          </a:p>
        </p:txBody>
      </p:sp>
      <p:sp>
        <p:nvSpPr>
          <p:cNvPr id="33" name="T03/card/region-1/title"/>
          <p:cNvSpPr/>
          <p:nvPr/>
        </p:nvSpPr>
        <p:spPr>
          <a:xfrm>
            <a:off x="590550" y="4533900"/>
            <a:ext cx="40005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论点一的依据</a:t>
            </a:r>
            <a:endParaRPr lang="zh-CN" sz="1875" dirty="0"/>
          </a:p>
        </p:txBody>
      </p:sp>
      <p:sp>
        <p:nvSpPr>
          <p:cNvPr id="34" name="T03/card/region-1/body"/>
          <p:cNvSpPr/>
          <p:nvPr/>
        </p:nvSpPr>
        <p:spPr>
          <a:xfrm>
            <a:off x="590550" y="4914900"/>
            <a:ext cx="400050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对应面板 A 的变量与趋势</a:t>
            </a:r>
            <a:endParaRPr lang="zh-CN" sz="1725" dirty="0"/>
          </a:p>
        </p:txBody>
      </p:sp>
      <p:sp>
        <p:nvSpPr>
          <p:cNvPr id="35" name="T03/card/region-2/title"/>
          <p:cNvSpPr/>
          <p:nvPr/>
        </p:nvSpPr>
        <p:spPr>
          <a:xfrm>
            <a:off x="5143500" y="4533900"/>
            <a:ext cx="64579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论点二的依据</a:t>
            </a:r>
            <a:endParaRPr lang="zh-CN" sz="1875" dirty="0"/>
          </a:p>
        </p:txBody>
      </p:sp>
      <p:sp>
        <p:nvSpPr>
          <p:cNvPr id="36" name="T03/card/region-2/body"/>
          <p:cNvSpPr/>
          <p:nvPr/>
        </p:nvSpPr>
        <p:spPr>
          <a:xfrm>
            <a:off x="5143500" y="4914900"/>
            <a:ext cx="64579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对应面板 B 的效应与区间</a:t>
            </a:r>
            <a:endParaRPr lang="zh-CN" sz="1725" dirty="0"/>
          </a:p>
        </p:txBody>
      </p:sp>
      <p:sp>
        <p:nvSpPr>
          <p:cNvPr id="37" name="T03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4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4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/ 48</a:t>
            </a:r>
            <a:endParaRPr lang="zh-CN" sz="1050" dirty="0"/>
          </a:p>
        </p:txBody>
      </p:sp>
      <p:sp>
        <p:nvSpPr>
          <p:cNvPr id="4" name="T04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04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研究对象与验证范围</a:t>
            </a:r>
            <a:endParaRPr lang="zh-CN" sz="2550" dirty="0"/>
          </a:p>
        </p:txBody>
      </p:sp>
      <p:sp>
        <p:nvSpPr>
          <p:cNvPr id="6" name="T04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04/paper-title"/>
          <p:cNvSpPr/>
          <p:nvPr/>
        </p:nvSpPr>
        <p:spPr>
          <a:xfrm>
            <a:off x="457200" y="1219200"/>
            <a:ext cx="112776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Full article title: connecting decision models, experimental evidence and independent </a:t>
            </a:r>
            <a:endParaRPr lang="zh-CN" sz="1875" dirty="0"/>
          </a:p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validation in crop cultivation</a:t>
            </a:r>
            <a:endParaRPr lang="zh-CN" sz="1875" dirty="0"/>
          </a:p>
        </p:txBody>
      </p:sp>
      <p:sp>
        <p:nvSpPr>
          <p:cNvPr id="8" name="T04/paper-bibliography"/>
          <p:cNvSpPr/>
          <p:nvPr/>
        </p:nvSpPr>
        <p:spPr>
          <a:xfrm>
            <a:off x="457200" y="1847850"/>
            <a:ext cx="112776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6"/>
              </a:lnSpc>
              <a:buNone/>
            </a:pPr>
            <a:r>
              <a:rPr lang="zh-CN" altLang="en-US" sz="127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作者姓名（替换） · 期刊与卷页（替换） · 2026 · DOI: 待替换</a:t>
            </a:r>
            <a:endParaRPr lang="zh-CN" sz="1275" dirty="0"/>
          </a:p>
        </p:txBody>
      </p:sp>
      <p:sp>
        <p:nvSpPr>
          <p:cNvPr id="9" name="T04/card/region-1/frame"/>
          <p:cNvSpPr/>
          <p:nvPr/>
        </p:nvSpPr>
        <p:spPr>
          <a:xfrm>
            <a:off x="457200" y="2609850"/>
            <a:ext cx="3448050" cy="15621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0" name="T04/card/region-1/heading-fill"/>
          <p:cNvSpPr/>
          <p:nvPr/>
        </p:nvSpPr>
        <p:spPr>
          <a:xfrm>
            <a:off x="466725" y="2619375"/>
            <a:ext cx="34290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04/card/region-1/heading-rule"/>
          <p:cNvSpPr/>
          <p:nvPr/>
        </p:nvSpPr>
        <p:spPr>
          <a:xfrm>
            <a:off x="457200" y="2990850"/>
            <a:ext cx="34480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2" name="T04/card/region-1/title"/>
          <p:cNvSpPr/>
          <p:nvPr/>
        </p:nvSpPr>
        <p:spPr>
          <a:xfrm>
            <a:off x="581025" y="2667000"/>
            <a:ext cx="32004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研究对象</a:t>
            </a:r>
            <a:endParaRPr lang="zh-CN" sz="1800" dirty="0"/>
          </a:p>
        </p:txBody>
      </p:sp>
      <p:sp>
        <p:nvSpPr>
          <p:cNvPr id="13" name="T04/card/region-1/body"/>
          <p:cNvSpPr/>
          <p:nvPr/>
        </p:nvSpPr>
        <p:spPr>
          <a:xfrm>
            <a:off x="590550" y="3105150"/>
            <a:ext cx="3181350" cy="971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填写物种、样本来源和实验单位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区分个体数与重复观测次数</a:t>
            </a:r>
            <a:endParaRPr lang="zh-CN" sz="1725" dirty="0"/>
          </a:p>
        </p:txBody>
      </p:sp>
      <p:sp>
        <p:nvSpPr>
          <p:cNvPr id="14" name="T04/card/region-2/frame"/>
          <p:cNvSpPr/>
          <p:nvPr/>
        </p:nvSpPr>
        <p:spPr>
          <a:xfrm>
            <a:off x="4191000" y="2609850"/>
            <a:ext cx="3448050" cy="15621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5" name="T04/card/region-2/heading-fill"/>
          <p:cNvSpPr/>
          <p:nvPr/>
        </p:nvSpPr>
        <p:spPr>
          <a:xfrm>
            <a:off x="4200525" y="2619375"/>
            <a:ext cx="34290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04/card/region-2/heading-rule"/>
          <p:cNvSpPr/>
          <p:nvPr/>
        </p:nvSpPr>
        <p:spPr>
          <a:xfrm>
            <a:off x="4191000" y="2990850"/>
            <a:ext cx="34480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7" name="T04/card/region-2/title"/>
          <p:cNvSpPr/>
          <p:nvPr/>
        </p:nvSpPr>
        <p:spPr>
          <a:xfrm>
            <a:off x="4314825" y="2667000"/>
            <a:ext cx="32004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分析任务</a:t>
            </a:r>
            <a:endParaRPr lang="zh-CN" sz="1800" dirty="0"/>
          </a:p>
        </p:txBody>
      </p:sp>
      <p:sp>
        <p:nvSpPr>
          <p:cNvPr id="18" name="T04/card/region-2/body"/>
          <p:cNvSpPr/>
          <p:nvPr/>
        </p:nvSpPr>
        <p:spPr>
          <a:xfrm>
            <a:off x="4324350" y="3105150"/>
            <a:ext cx="3181350" cy="971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列出任务输入和预期输出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说明是否承担实际管理决策</a:t>
            </a:r>
            <a:endParaRPr lang="zh-CN" sz="1725" dirty="0"/>
          </a:p>
        </p:txBody>
      </p:sp>
      <p:sp>
        <p:nvSpPr>
          <p:cNvPr id="19" name="T04/card/region-3/frame"/>
          <p:cNvSpPr/>
          <p:nvPr/>
        </p:nvSpPr>
        <p:spPr>
          <a:xfrm>
            <a:off x="7924800" y="2609850"/>
            <a:ext cx="3810000" cy="15621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0" name="T04/card/region-3/heading-fill"/>
          <p:cNvSpPr/>
          <p:nvPr/>
        </p:nvSpPr>
        <p:spPr>
          <a:xfrm>
            <a:off x="7934325" y="2619375"/>
            <a:ext cx="37909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04/card/region-3/heading-rule"/>
          <p:cNvSpPr/>
          <p:nvPr/>
        </p:nvSpPr>
        <p:spPr>
          <a:xfrm>
            <a:off x="7924800" y="2990850"/>
            <a:ext cx="38100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2" name="T04/card/region-3/title"/>
          <p:cNvSpPr/>
          <p:nvPr/>
        </p:nvSpPr>
        <p:spPr>
          <a:xfrm>
            <a:off x="8048625" y="2667000"/>
            <a:ext cx="35623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实验身份</a:t>
            </a:r>
            <a:endParaRPr lang="zh-CN" sz="1800" dirty="0"/>
          </a:p>
        </p:txBody>
      </p:sp>
      <p:sp>
        <p:nvSpPr>
          <p:cNvPr id="23" name="T04/card/region-3/body"/>
          <p:cNvSpPr/>
          <p:nvPr/>
        </p:nvSpPr>
        <p:spPr>
          <a:xfrm>
            <a:off x="8058150" y="3105150"/>
            <a:ext cx="3543300" cy="971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标明仿真、实验室或真实田间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报告环境范围与观测周期</a:t>
            </a:r>
            <a:endParaRPr lang="zh-CN" sz="1725" dirty="0"/>
          </a:p>
        </p:txBody>
      </p:sp>
      <p:sp>
        <p:nvSpPr>
          <p:cNvPr id="24" name="T04/card/region-4/heading-rule"/>
          <p:cNvSpPr/>
          <p:nvPr/>
        </p:nvSpPr>
        <p:spPr>
          <a:xfrm>
            <a:off x="457200" y="4762500"/>
            <a:ext cx="71247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5" name="T04/card/region-4/heading-mark"/>
          <p:cNvSpPr/>
          <p:nvPr/>
        </p:nvSpPr>
        <p:spPr>
          <a:xfrm>
            <a:off x="457200" y="47625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26" name="T04/card/region-4/title"/>
          <p:cNvSpPr/>
          <p:nvPr/>
        </p:nvSpPr>
        <p:spPr>
          <a:xfrm>
            <a:off x="457200" y="4419600"/>
            <a:ext cx="71247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实际验证内容</a:t>
            </a:r>
            <a:endParaRPr lang="zh-CN" sz="1875" dirty="0"/>
          </a:p>
        </p:txBody>
      </p:sp>
      <p:sp>
        <p:nvSpPr>
          <p:cNvPr id="27" name="T04/card/region-4/body"/>
          <p:cNvSpPr/>
          <p:nvPr/>
        </p:nvSpPr>
        <p:spPr>
          <a:xfrm>
            <a:off x="457200" y="4895850"/>
            <a:ext cx="7124700" cy="1104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把作者已测量的能力逐项列出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将系统可执行与结果正确分开</a:t>
            </a:r>
            <a:endParaRPr lang="zh-CN" sz="1800" dirty="0"/>
          </a:p>
        </p:txBody>
      </p:sp>
      <p:sp>
        <p:nvSpPr>
          <p:cNvPr id="28" name="T04/card/region-5/frame"/>
          <p:cNvSpPr/>
          <p:nvPr/>
        </p:nvSpPr>
        <p:spPr>
          <a:xfrm>
            <a:off x="7867650" y="4514850"/>
            <a:ext cx="3867150" cy="15240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9" name="T04/card/region-5/tab"/>
          <p:cNvSpPr/>
          <p:nvPr/>
        </p:nvSpPr>
        <p:spPr>
          <a:xfrm>
            <a:off x="7981950" y="440055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04/card/region-5/title"/>
          <p:cNvSpPr/>
          <p:nvPr/>
        </p:nvSpPr>
        <p:spPr>
          <a:xfrm>
            <a:off x="8086725" y="44291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外推范围</a:t>
            </a:r>
            <a:endParaRPr lang="zh-CN" sz="1800" dirty="0"/>
          </a:p>
        </p:txBody>
      </p:sp>
      <p:sp>
        <p:nvSpPr>
          <p:cNvPr id="31" name="T04/card/region-5/body"/>
          <p:cNvSpPr/>
          <p:nvPr/>
        </p:nvSpPr>
        <p:spPr>
          <a:xfrm>
            <a:off x="8001000" y="4863465"/>
            <a:ext cx="3600450" cy="10801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指出未包含的场景与人群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避免把短期结果扩展为长期收益</a:t>
            </a:r>
            <a:endParaRPr lang="zh-CN" sz="1725" dirty="0"/>
          </a:p>
        </p:txBody>
      </p:sp>
      <p:sp>
        <p:nvSpPr>
          <p:cNvPr id="32" name="T04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5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5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/ 48</a:t>
            </a:r>
            <a:endParaRPr lang="zh-CN" sz="1050" dirty="0"/>
          </a:p>
        </p:txBody>
      </p:sp>
      <p:sp>
        <p:nvSpPr>
          <p:cNvPr id="4" name="T05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05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贡献与基线的差异</a:t>
            </a:r>
            <a:endParaRPr lang="zh-CN" sz="2550" dirty="0"/>
          </a:p>
        </p:txBody>
      </p:sp>
      <p:sp>
        <p:nvSpPr>
          <p:cNvPr id="6" name="T05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05/paper-title"/>
          <p:cNvSpPr/>
          <p:nvPr/>
        </p:nvSpPr>
        <p:spPr>
          <a:xfrm>
            <a:off x="457200" y="1219200"/>
            <a:ext cx="112776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Full article title: connecting decision models, experimental evidence and independent </a:t>
            </a:r>
            <a:endParaRPr lang="zh-CN" sz="1875" dirty="0"/>
          </a:p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validation in crop cultivation</a:t>
            </a:r>
            <a:endParaRPr lang="zh-CN" sz="1875" dirty="0"/>
          </a:p>
        </p:txBody>
      </p:sp>
      <p:sp>
        <p:nvSpPr>
          <p:cNvPr id="8" name="T05/paper-bibliography"/>
          <p:cNvSpPr/>
          <p:nvPr/>
        </p:nvSpPr>
        <p:spPr>
          <a:xfrm>
            <a:off x="457200" y="1847850"/>
            <a:ext cx="112776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6"/>
              </a:lnSpc>
              <a:buNone/>
            </a:pPr>
            <a:r>
              <a:rPr lang="zh-CN" altLang="en-US" sz="127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作者姓名（替换） · 期刊与卷页（替换） · 2026 · DOI: 待替换</a:t>
            </a:r>
            <a:endParaRPr lang="zh-CN" sz="1275" dirty="0"/>
          </a:p>
        </p:txBody>
      </p:sp>
      <p:sp>
        <p:nvSpPr>
          <p:cNvPr id="9" name="T05/takeaway"/>
          <p:cNvSpPr/>
          <p:nvPr/>
        </p:nvSpPr>
        <p:spPr>
          <a:xfrm>
            <a:off x="457200" y="5867400"/>
            <a:ext cx="76771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统计口径、样本单位和适用条件需与原文一致</a:t>
            </a:r>
            <a:endParaRPr lang="zh-CN" sz="1800" dirty="0"/>
          </a:p>
        </p:txBody>
      </p:sp>
      <p:graphicFrame>
        <p:nvGraphicFramePr>
          <p:cNvPr id="6" name="T05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52700"/>
          <a:ext cx="7677150" cy="2003108"/>
        </p:xfrm>
        <a:graphic>
          <a:graphicData uri="http://schemas.openxmlformats.org/drawingml/2006/table">
            <a:tbl>
              <a:tblPr/>
              <a:tblGrid>
                <a:gridCol w="2559050"/>
                <a:gridCol w="2559050"/>
                <a:gridCol w="2559050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比较维度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既有方法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本研究方法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输入信息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原有观测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新增信息（填写）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决策接口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原有算子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改变环节（填写）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验证范围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已发表条件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新增场景（填写）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资源预算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统一记录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统一记录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05/table-caption"/>
          <p:cNvSpPr/>
          <p:nvPr/>
        </p:nvSpPr>
        <p:spPr>
          <a:xfrm>
            <a:off x="457200" y="4622483"/>
            <a:ext cx="767715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结构占位 / 合成数据，必须替换后才能用于学术结论</a:t>
            </a:r>
            <a:endParaRPr lang="zh-CN" sz="1350" dirty="0"/>
          </a:p>
        </p:txBody>
      </p:sp>
      <p:sp>
        <p:nvSpPr>
          <p:cNvPr id="12" name="T05/card/region-1/base-rule"/>
          <p:cNvSpPr/>
          <p:nvPr/>
        </p:nvSpPr>
        <p:spPr>
          <a:xfrm>
            <a:off x="8401050" y="4133850"/>
            <a:ext cx="33337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3" name="T05/card/region-1/side-mark"/>
          <p:cNvSpPr/>
          <p:nvPr/>
        </p:nvSpPr>
        <p:spPr>
          <a:xfrm>
            <a:off x="8401050" y="25717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05/card/region-1/title"/>
          <p:cNvSpPr/>
          <p:nvPr/>
        </p:nvSpPr>
        <p:spPr>
          <a:xfrm>
            <a:off x="8553450" y="2571750"/>
            <a:ext cx="31813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关键改变</a:t>
            </a:r>
            <a:endParaRPr lang="zh-CN" sz="1800" dirty="0"/>
          </a:p>
        </p:txBody>
      </p:sp>
      <p:sp>
        <p:nvSpPr>
          <p:cNvPr id="15" name="T05/card/region-1/body"/>
          <p:cNvSpPr/>
          <p:nvPr/>
        </p:nvSpPr>
        <p:spPr>
          <a:xfrm>
            <a:off x="8553450" y="2990850"/>
            <a:ext cx="3181350" cy="1047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区分新增信息与算法结构变化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保持对应基线的输入条件一致</a:t>
            </a:r>
            <a:endParaRPr lang="zh-CN" sz="1725" dirty="0"/>
          </a:p>
        </p:txBody>
      </p:sp>
      <p:sp>
        <p:nvSpPr>
          <p:cNvPr id="16" name="T05/card/region-2/heading-rule"/>
          <p:cNvSpPr/>
          <p:nvPr/>
        </p:nvSpPr>
        <p:spPr>
          <a:xfrm>
            <a:off x="8401050" y="4686300"/>
            <a:ext cx="33337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7" name="T05/card/region-2/heading-mark"/>
          <p:cNvSpPr/>
          <p:nvPr/>
        </p:nvSpPr>
        <p:spPr>
          <a:xfrm>
            <a:off x="8401050" y="46863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18" name="T05/card/region-2/title"/>
          <p:cNvSpPr/>
          <p:nvPr/>
        </p:nvSpPr>
        <p:spPr>
          <a:xfrm>
            <a:off x="8401050" y="4343400"/>
            <a:ext cx="33337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比较条件</a:t>
            </a:r>
            <a:endParaRPr lang="zh-CN" sz="1875" dirty="0"/>
          </a:p>
        </p:txBody>
      </p:sp>
      <p:sp>
        <p:nvSpPr>
          <p:cNvPr id="19" name="T05/card/region-2/body"/>
          <p:cNvSpPr/>
          <p:nvPr/>
        </p:nvSpPr>
        <p:spPr>
          <a:xfrm>
            <a:off x="8401050" y="4819650"/>
            <a:ext cx="3333750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对齐样本、时间窗和评价方法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说明额外调参或计算预算</a:t>
            </a:r>
            <a:endParaRPr lang="zh-CN" sz="1800" dirty="0"/>
          </a:p>
        </p:txBody>
      </p:sp>
      <p:sp>
        <p:nvSpPr>
          <p:cNvPr id="20" name="T05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6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6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/ 48</a:t>
            </a:r>
            <a:endParaRPr lang="zh-CN" sz="1050" dirty="0"/>
          </a:p>
        </p:txBody>
      </p:sp>
      <p:sp>
        <p:nvSpPr>
          <p:cNvPr id="4" name="T06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06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精读讨论提纲</a:t>
            </a:r>
            <a:endParaRPr lang="zh-CN" sz="2550" dirty="0"/>
          </a:p>
        </p:txBody>
      </p:sp>
      <p:sp>
        <p:nvSpPr>
          <p:cNvPr id="6" name="T06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06/panel:0:frame"/>
          <p:cNvSpPr/>
          <p:nvPr/>
        </p:nvSpPr>
        <p:spPr>
          <a:xfrm>
            <a:off x="7715250" y="2667000"/>
            <a:ext cx="4019550" cy="33718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06/panel:0:tab"/>
          <p:cNvSpPr/>
          <p:nvPr/>
        </p:nvSpPr>
        <p:spPr>
          <a:xfrm>
            <a:off x="7829550" y="2552700"/>
            <a:ext cx="1181100" cy="3238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06/panel:0:title"/>
          <p:cNvSpPr/>
          <p:nvPr/>
        </p:nvSpPr>
        <p:spPr>
          <a:xfrm>
            <a:off x="7934325" y="2581275"/>
            <a:ext cx="9715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讨论依据</a:t>
            </a:r>
            <a:endParaRPr lang="zh-CN" sz="1800" dirty="0"/>
          </a:p>
        </p:txBody>
      </p:sp>
      <p:sp>
        <p:nvSpPr>
          <p:cNvPr id="10" name="T06/paper-title"/>
          <p:cNvSpPr/>
          <p:nvPr/>
        </p:nvSpPr>
        <p:spPr>
          <a:xfrm>
            <a:off x="457200" y="1219200"/>
            <a:ext cx="112776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Full article title: connecting decision models, experimental evidence and independent </a:t>
            </a:r>
            <a:endParaRPr lang="zh-CN" sz="1875" dirty="0"/>
          </a:p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validation in crop cultivation</a:t>
            </a:r>
            <a:endParaRPr lang="zh-CN" sz="1875" dirty="0"/>
          </a:p>
        </p:txBody>
      </p:sp>
      <p:sp>
        <p:nvSpPr>
          <p:cNvPr id="11" name="T06/paper-bibliography"/>
          <p:cNvSpPr/>
          <p:nvPr/>
        </p:nvSpPr>
        <p:spPr>
          <a:xfrm>
            <a:off x="457200" y="1847850"/>
            <a:ext cx="112776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6"/>
              </a:lnSpc>
              <a:buNone/>
            </a:pPr>
            <a:r>
              <a:rPr lang="zh-CN" altLang="en-US" sz="127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作者姓名（替换） · 期刊与卷页（替换） · 2026 · DOI: 待替换</a:t>
            </a:r>
            <a:endParaRPr lang="zh-CN" sz="1275" dirty="0"/>
          </a:p>
        </p:txBody>
      </p:sp>
      <p:sp>
        <p:nvSpPr>
          <p:cNvPr id="12" name="T06/figure:0:paper"/>
          <p:cNvSpPr/>
          <p:nvPr/>
        </p:nvSpPr>
        <p:spPr>
          <a:xfrm>
            <a:off x="7848600" y="2990850"/>
            <a:ext cx="3752850" cy="289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T06/figure:0:image" descr="T1 · 示例图 · 响应曲线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8600" y="3141345"/>
            <a:ext cx="3752850" cy="2251710"/>
          </a:xfrm>
          <a:prstGeom prst="rect">
            <a:avLst/>
          </a:prstGeom>
        </p:spPr>
      </p:pic>
      <p:sp>
        <p:nvSpPr>
          <p:cNvPr id="14" name="T06/figure:0:caption"/>
          <p:cNvSpPr/>
          <p:nvPr/>
        </p:nvSpPr>
        <p:spPr>
          <a:xfrm>
            <a:off x="7848600" y="5629275"/>
            <a:ext cx="37528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响应曲线；合成演示值</a:t>
            </a:r>
            <a:endParaRPr lang="zh-CN" sz="1350" dirty="0"/>
          </a:p>
        </p:txBody>
      </p:sp>
      <p:sp>
        <p:nvSpPr>
          <p:cNvPr id="15" name="T06/card/region-1/title"/>
          <p:cNvSpPr/>
          <p:nvPr/>
        </p:nvSpPr>
        <p:spPr>
          <a:xfrm>
            <a:off x="457200" y="2571750"/>
            <a:ext cx="69913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本次讨论问题</a:t>
            </a:r>
            <a:endParaRPr lang="zh-CN" sz="1875" dirty="0"/>
          </a:p>
        </p:txBody>
      </p:sp>
      <p:sp>
        <p:nvSpPr>
          <p:cNvPr id="16" name="T06/card/region-1/body"/>
          <p:cNvSpPr/>
          <p:nvPr/>
        </p:nvSpPr>
        <p:spPr>
          <a:xfrm>
            <a:off x="457200" y="2952750"/>
            <a:ext cx="6991350" cy="552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用一个具体科学问题组织精读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方法、实验和局限围绕该问题展开</a:t>
            </a:r>
            <a:endParaRPr lang="zh-CN" sz="1725" dirty="0"/>
          </a:p>
        </p:txBody>
      </p:sp>
      <p:sp>
        <p:nvSpPr>
          <p:cNvPr id="17" name="T06/card/region-2/frame"/>
          <p:cNvSpPr/>
          <p:nvPr/>
        </p:nvSpPr>
        <p:spPr>
          <a:xfrm>
            <a:off x="457200" y="3714750"/>
            <a:ext cx="3371850" cy="23241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8" name="T06/card/region-2/heading-fill"/>
          <p:cNvSpPr/>
          <p:nvPr/>
        </p:nvSpPr>
        <p:spPr>
          <a:xfrm>
            <a:off x="466725" y="3724275"/>
            <a:ext cx="33528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06/card/region-2/heading-rule"/>
          <p:cNvSpPr/>
          <p:nvPr/>
        </p:nvSpPr>
        <p:spPr>
          <a:xfrm>
            <a:off x="457200" y="4095750"/>
            <a:ext cx="33718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0" name="T06/card/region-2/title"/>
          <p:cNvSpPr/>
          <p:nvPr/>
        </p:nvSpPr>
        <p:spPr>
          <a:xfrm>
            <a:off x="581025" y="3771900"/>
            <a:ext cx="31242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方法审查</a:t>
            </a:r>
            <a:endParaRPr lang="zh-CN" sz="1800" dirty="0"/>
          </a:p>
        </p:txBody>
      </p:sp>
      <p:sp>
        <p:nvSpPr>
          <p:cNvPr id="21" name="T06/card/region-2/body"/>
          <p:cNvSpPr/>
          <p:nvPr/>
        </p:nvSpPr>
        <p:spPr>
          <a:xfrm>
            <a:off x="590550" y="4210050"/>
            <a:ext cx="3105150" cy="1733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输入假设和关键算子是否明确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机制图与实际实现是否一致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额外模块提供了什么新信息</a:t>
            </a:r>
            <a:endParaRPr lang="zh-CN" sz="1725" dirty="0"/>
          </a:p>
        </p:txBody>
      </p:sp>
      <p:sp>
        <p:nvSpPr>
          <p:cNvPr id="22" name="T06/card/region-3/frame"/>
          <p:cNvSpPr/>
          <p:nvPr/>
        </p:nvSpPr>
        <p:spPr>
          <a:xfrm>
            <a:off x="4057650" y="3829050"/>
            <a:ext cx="3390900" cy="22098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3" name="T06/card/region-3/tab"/>
          <p:cNvSpPr/>
          <p:nvPr/>
        </p:nvSpPr>
        <p:spPr>
          <a:xfrm>
            <a:off x="4171950" y="371475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06/card/region-3/title"/>
          <p:cNvSpPr/>
          <p:nvPr/>
        </p:nvSpPr>
        <p:spPr>
          <a:xfrm>
            <a:off x="4276725" y="37433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实验审查</a:t>
            </a:r>
            <a:endParaRPr lang="zh-CN" sz="1800" dirty="0"/>
          </a:p>
        </p:txBody>
      </p:sp>
      <p:sp>
        <p:nvSpPr>
          <p:cNvPr id="25" name="T06/card/region-3/body"/>
          <p:cNvSpPr/>
          <p:nvPr/>
        </p:nvSpPr>
        <p:spPr>
          <a:xfrm>
            <a:off x="4191000" y="4177665"/>
            <a:ext cx="3124200" cy="17659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基线、划分与重复是否合适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误差、失败与外推是否充分报告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结果支持到哪个层级的结论</a:t>
            </a:r>
            <a:endParaRPr lang="zh-CN" sz="1725" dirty="0"/>
          </a:p>
        </p:txBody>
      </p:sp>
      <p:sp>
        <p:nvSpPr>
          <p:cNvPr id="26" name="T06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7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7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 / 48</a:t>
            </a:r>
            <a:endParaRPr lang="zh-CN" sz="1050" dirty="0"/>
          </a:p>
        </p:txBody>
      </p:sp>
      <p:sp>
        <p:nvSpPr>
          <p:cNvPr id="4" name="T07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07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智能体执行与反馈</a:t>
            </a:r>
            <a:endParaRPr lang="zh-CN" sz="2550" dirty="0"/>
          </a:p>
        </p:txBody>
      </p:sp>
      <p:sp>
        <p:nvSpPr>
          <p:cNvPr id="6" name="T07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07/panel:0:frame"/>
          <p:cNvSpPr/>
          <p:nvPr/>
        </p:nvSpPr>
        <p:spPr>
          <a:xfrm>
            <a:off x="457200" y="1333500"/>
            <a:ext cx="7829550" cy="41910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07/panel:0:heading-fill"/>
          <p:cNvSpPr/>
          <p:nvPr/>
        </p:nvSpPr>
        <p:spPr>
          <a:xfrm>
            <a:off x="466725" y="1343025"/>
            <a:ext cx="781050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07/panel:0:heading-rule"/>
          <p:cNvSpPr/>
          <p:nvPr/>
        </p:nvSpPr>
        <p:spPr>
          <a:xfrm>
            <a:off x="457200" y="1724025"/>
            <a:ext cx="78295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07/panel:0:title"/>
          <p:cNvSpPr/>
          <p:nvPr/>
        </p:nvSpPr>
        <p:spPr>
          <a:xfrm>
            <a:off x="581025" y="1390650"/>
            <a:ext cx="75819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任务驱动的执行闭环</a:t>
            </a:r>
            <a:endParaRPr lang="zh-CN" sz="1800" dirty="0"/>
          </a:p>
        </p:txBody>
      </p:sp>
      <p:sp>
        <p:nvSpPr>
          <p:cNvPr id="11" name="T07/takeaway"/>
          <p:cNvSpPr/>
          <p:nvPr/>
        </p:nvSpPr>
        <p:spPr>
          <a:xfrm>
            <a:off x="457200" y="5676900"/>
            <a:ext cx="782955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解释必须由本页证据支持，并保留样本、对照与适用条件。</a:t>
            </a:r>
            <a:endParaRPr lang="zh-CN" sz="1800" dirty="0"/>
          </a:p>
        </p:txBody>
      </p:sp>
      <p:sp>
        <p:nvSpPr>
          <p:cNvPr id="12" name="T07/edge:0"/>
          <p:cNvSpPr/>
          <p:nvPr/>
        </p:nvSpPr>
        <p:spPr>
          <a:xfrm>
            <a:off x="2762250" y="2409825"/>
            <a:ext cx="4762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3" name="T07/edge:1"/>
          <p:cNvSpPr/>
          <p:nvPr/>
        </p:nvSpPr>
        <p:spPr>
          <a:xfrm>
            <a:off x="5391150" y="2409825"/>
            <a:ext cx="4762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4" name="T07/edge:2"/>
          <p:cNvSpPr/>
          <p:nvPr/>
        </p:nvSpPr>
        <p:spPr>
          <a:xfrm>
            <a:off x="6943725" y="2933700"/>
            <a:ext cx="0" cy="12001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5" name="T07/edge:3"/>
          <p:cNvSpPr/>
          <p:nvPr/>
        </p:nvSpPr>
        <p:spPr>
          <a:xfrm flipH="1">
            <a:off x="5391150" y="4657725"/>
            <a:ext cx="4762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6" name="T07/edge:4"/>
          <p:cNvSpPr/>
          <p:nvPr/>
        </p:nvSpPr>
        <p:spPr>
          <a:xfrm flipH="1">
            <a:off x="2762250" y="4657725"/>
            <a:ext cx="4762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7" name="T07/edge:5:segment:0"/>
          <p:cNvSpPr/>
          <p:nvPr/>
        </p:nvSpPr>
        <p:spPr>
          <a:xfrm flipH="1">
            <a:off x="466725" y="4657725"/>
            <a:ext cx="14287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8" name="T07/edge:5:segment:1"/>
          <p:cNvSpPr/>
          <p:nvPr/>
        </p:nvSpPr>
        <p:spPr>
          <a:xfrm flipV="1">
            <a:off x="466725" y="2409825"/>
            <a:ext cx="0" cy="22479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9" name="T07/edge:5:segment:2"/>
          <p:cNvSpPr/>
          <p:nvPr/>
        </p:nvSpPr>
        <p:spPr>
          <a:xfrm>
            <a:off x="466725" y="2409825"/>
            <a:ext cx="14287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20" name="T07/node:step-1:frame"/>
          <p:cNvSpPr/>
          <p:nvPr/>
        </p:nvSpPr>
        <p:spPr>
          <a:xfrm>
            <a:off x="609600" y="1885950"/>
            <a:ext cx="2152650" cy="1047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1" name="T07/node:step-1:heading-rule"/>
          <p:cNvSpPr/>
          <p:nvPr/>
        </p:nvSpPr>
        <p:spPr>
          <a:xfrm>
            <a:off x="609600" y="188595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2" name="T07/node:step-1:label"/>
          <p:cNvSpPr/>
          <p:nvPr/>
        </p:nvSpPr>
        <p:spPr>
          <a:xfrm>
            <a:off x="723900" y="2276475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任务与观测</a:t>
            </a:r>
            <a:endParaRPr lang="zh-CN" sz="1800" dirty="0"/>
          </a:p>
        </p:txBody>
      </p:sp>
      <p:sp>
        <p:nvSpPr>
          <p:cNvPr id="23" name="T07/node:step-2:frame"/>
          <p:cNvSpPr/>
          <p:nvPr/>
        </p:nvSpPr>
        <p:spPr>
          <a:xfrm>
            <a:off x="3238500" y="1885950"/>
            <a:ext cx="2152650" cy="1047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4" name="T07/node:step-2:heading-rule"/>
          <p:cNvSpPr/>
          <p:nvPr/>
        </p:nvSpPr>
        <p:spPr>
          <a:xfrm>
            <a:off x="3238500" y="188595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5" name="T07/node:step-2:label"/>
          <p:cNvSpPr/>
          <p:nvPr/>
        </p:nvSpPr>
        <p:spPr>
          <a:xfrm>
            <a:off x="3352800" y="2276475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计划与工具选择</a:t>
            </a:r>
            <a:endParaRPr lang="zh-CN" sz="1800" dirty="0"/>
          </a:p>
        </p:txBody>
      </p:sp>
      <p:sp>
        <p:nvSpPr>
          <p:cNvPr id="26" name="T07/node:step-3:frame"/>
          <p:cNvSpPr/>
          <p:nvPr/>
        </p:nvSpPr>
        <p:spPr>
          <a:xfrm>
            <a:off x="5867400" y="1885950"/>
            <a:ext cx="2152650" cy="1047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7" name="T07/node:step-3:heading-rule"/>
          <p:cNvSpPr/>
          <p:nvPr/>
        </p:nvSpPr>
        <p:spPr>
          <a:xfrm>
            <a:off x="5867400" y="188595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8" name="T07/node:step-3:label"/>
          <p:cNvSpPr/>
          <p:nvPr/>
        </p:nvSpPr>
        <p:spPr>
          <a:xfrm>
            <a:off x="5981700" y="2276475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执行与记录</a:t>
            </a:r>
            <a:endParaRPr lang="zh-CN" sz="1800" dirty="0"/>
          </a:p>
        </p:txBody>
      </p:sp>
      <p:sp>
        <p:nvSpPr>
          <p:cNvPr id="29" name="T07/node:step-4:frame"/>
          <p:cNvSpPr/>
          <p:nvPr/>
        </p:nvSpPr>
        <p:spPr>
          <a:xfrm>
            <a:off x="5867400" y="4133850"/>
            <a:ext cx="2152650" cy="1047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0" name="T07/node:step-4:heading-rule"/>
          <p:cNvSpPr/>
          <p:nvPr/>
        </p:nvSpPr>
        <p:spPr>
          <a:xfrm>
            <a:off x="5867400" y="413385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31" name="T07/node:step-4:label"/>
          <p:cNvSpPr/>
          <p:nvPr/>
        </p:nvSpPr>
        <p:spPr>
          <a:xfrm>
            <a:off x="5981700" y="4524375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结果检验</a:t>
            </a:r>
            <a:endParaRPr lang="zh-CN" sz="1800" dirty="0"/>
          </a:p>
        </p:txBody>
      </p:sp>
      <p:sp>
        <p:nvSpPr>
          <p:cNvPr id="32" name="T07/node:step-5:frame"/>
          <p:cNvSpPr/>
          <p:nvPr/>
        </p:nvSpPr>
        <p:spPr>
          <a:xfrm>
            <a:off x="3238500" y="4133850"/>
            <a:ext cx="2152650" cy="1047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3" name="T07/node:step-5:heading-rule"/>
          <p:cNvSpPr/>
          <p:nvPr/>
        </p:nvSpPr>
        <p:spPr>
          <a:xfrm>
            <a:off x="3238500" y="413385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34" name="T07/node:step-5:label"/>
          <p:cNvSpPr/>
          <p:nvPr/>
        </p:nvSpPr>
        <p:spPr>
          <a:xfrm>
            <a:off x="3352800" y="4524375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状态更新</a:t>
            </a:r>
            <a:endParaRPr lang="zh-CN" sz="1800" dirty="0"/>
          </a:p>
        </p:txBody>
      </p:sp>
      <p:sp>
        <p:nvSpPr>
          <p:cNvPr id="35" name="T07/node:step-6:frame"/>
          <p:cNvSpPr/>
          <p:nvPr/>
        </p:nvSpPr>
        <p:spPr>
          <a:xfrm>
            <a:off x="609600" y="4133850"/>
            <a:ext cx="2152650" cy="1047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6" name="T07/node:step-6:heading-rule"/>
          <p:cNvSpPr/>
          <p:nvPr/>
        </p:nvSpPr>
        <p:spPr>
          <a:xfrm>
            <a:off x="609600" y="413385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37" name="T07/node:step-6:label"/>
          <p:cNvSpPr/>
          <p:nvPr/>
        </p:nvSpPr>
        <p:spPr>
          <a:xfrm>
            <a:off x="723900" y="4524375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后续任务</a:t>
            </a:r>
            <a:endParaRPr lang="zh-CN" sz="1800" dirty="0"/>
          </a:p>
        </p:txBody>
      </p:sp>
      <p:sp>
        <p:nvSpPr>
          <p:cNvPr id="38" name="T07/card/region-1/base-rule"/>
          <p:cNvSpPr/>
          <p:nvPr/>
        </p:nvSpPr>
        <p:spPr>
          <a:xfrm>
            <a:off x="8629650" y="3505200"/>
            <a:ext cx="31051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39" name="T07/card/region-1/side-mark"/>
          <p:cNvSpPr/>
          <p:nvPr/>
        </p:nvSpPr>
        <p:spPr>
          <a:xfrm>
            <a:off x="8629650" y="140970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07/card/region-1/title"/>
          <p:cNvSpPr/>
          <p:nvPr/>
        </p:nvSpPr>
        <p:spPr>
          <a:xfrm>
            <a:off x="8782050" y="1409700"/>
            <a:ext cx="29527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系统接口</a:t>
            </a:r>
            <a:endParaRPr lang="zh-CN" sz="1800" dirty="0"/>
          </a:p>
        </p:txBody>
      </p:sp>
      <p:sp>
        <p:nvSpPr>
          <p:cNvPr id="41" name="T07/card/region-1/body"/>
          <p:cNvSpPr/>
          <p:nvPr/>
        </p:nvSpPr>
        <p:spPr>
          <a:xfrm>
            <a:off x="8782050" y="1828800"/>
            <a:ext cx="2952750" cy="1581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标出各步骤输入、输出和记录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区分模型决策与确定性工具计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算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用箭头说明状态由谁更新</a:t>
            </a:r>
            <a:endParaRPr lang="zh-CN" sz="1725" dirty="0"/>
          </a:p>
        </p:txBody>
      </p:sp>
      <p:sp>
        <p:nvSpPr>
          <p:cNvPr id="42" name="T07/card/region-2/frame"/>
          <p:cNvSpPr/>
          <p:nvPr/>
        </p:nvSpPr>
        <p:spPr>
          <a:xfrm>
            <a:off x="8629650" y="3848100"/>
            <a:ext cx="3105150" cy="21336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43" name="T07/card/region-2/tab"/>
          <p:cNvSpPr/>
          <p:nvPr/>
        </p:nvSpPr>
        <p:spPr>
          <a:xfrm>
            <a:off x="8743950" y="3733800"/>
            <a:ext cx="18669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07/card/region-2/title"/>
          <p:cNvSpPr/>
          <p:nvPr/>
        </p:nvSpPr>
        <p:spPr>
          <a:xfrm>
            <a:off x="8848725" y="3762375"/>
            <a:ext cx="16573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核验与失败处理</a:t>
            </a:r>
            <a:endParaRPr lang="zh-CN" sz="1800" dirty="0"/>
          </a:p>
        </p:txBody>
      </p:sp>
      <p:sp>
        <p:nvSpPr>
          <p:cNvPr id="45" name="T07/card/region-2/body"/>
          <p:cNvSpPr/>
          <p:nvPr/>
        </p:nvSpPr>
        <p:spPr>
          <a:xfrm>
            <a:off x="8763000" y="4196715"/>
            <a:ext cx="2838450" cy="16897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列出错误触发与返回机制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保存工具输出、引用和重试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核验模块的成本也需要评价</a:t>
            </a:r>
            <a:endParaRPr lang="zh-CN" sz="1725" dirty="0"/>
          </a:p>
        </p:txBody>
      </p:sp>
      <p:sp>
        <p:nvSpPr>
          <p:cNvPr id="46" name="T07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8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8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 / 48</a:t>
            </a:r>
            <a:endParaRPr lang="zh-CN" sz="1050" dirty="0"/>
          </a:p>
        </p:txBody>
      </p:sp>
      <p:sp>
        <p:nvSpPr>
          <p:cNvPr id="4" name="T08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08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强化学习的状态动作奖励</a:t>
            </a:r>
            <a:endParaRPr lang="zh-CN" sz="2550" dirty="0"/>
          </a:p>
        </p:txBody>
      </p:sp>
      <p:sp>
        <p:nvSpPr>
          <p:cNvPr id="6" name="T08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08/edge:0"/>
          <p:cNvSpPr/>
          <p:nvPr/>
        </p:nvSpPr>
        <p:spPr>
          <a:xfrm>
            <a:off x="3333750" y="2362200"/>
            <a:ext cx="9906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8" name="T08/edge:1"/>
          <p:cNvSpPr/>
          <p:nvPr/>
        </p:nvSpPr>
        <p:spPr>
          <a:xfrm>
            <a:off x="5676900" y="2971800"/>
            <a:ext cx="0" cy="10668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9" name="T08/edge:2"/>
          <p:cNvSpPr/>
          <p:nvPr/>
        </p:nvSpPr>
        <p:spPr>
          <a:xfrm flipH="1">
            <a:off x="3333750" y="4648200"/>
            <a:ext cx="9906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0" name="T08/edge:3:segment:0"/>
          <p:cNvSpPr/>
          <p:nvPr/>
        </p:nvSpPr>
        <p:spPr>
          <a:xfrm flipH="1">
            <a:off x="466725" y="4648200"/>
            <a:ext cx="1619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1" name="T08/edge:3:segment:1"/>
          <p:cNvSpPr/>
          <p:nvPr/>
        </p:nvSpPr>
        <p:spPr>
          <a:xfrm flipV="1">
            <a:off x="466725" y="2362200"/>
            <a:ext cx="0" cy="22860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2" name="T08/edge:3:segment:2"/>
          <p:cNvSpPr/>
          <p:nvPr/>
        </p:nvSpPr>
        <p:spPr>
          <a:xfrm>
            <a:off x="466725" y="2362200"/>
            <a:ext cx="1619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3" name="T08/node:step-1:frame"/>
          <p:cNvSpPr/>
          <p:nvPr/>
        </p:nvSpPr>
        <p:spPr>
          <a:xfrm>
            <a:off x="628650" y="1752600"/>
            <a:ext cx="270510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4" name="T08/node:step-1:heading-rule"/>
          <p:cNvSpPr/>
          <p:nvPr/>
        </p:nvSpPr>
        <p:spPr>
          <a:xfrm>
            <a:off x="628650" y="1752600"/>
            <a:ext cx="27051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5" name="T08/node:step-1:label"/>
          <p:cNvSpPr/>
          <p:nvPr/>
        </p:nvSpPr>
        <p:spPr>
          <a:xfrm>
            <a:off x="742950" y="1847850"/>
            <a:ext cx="24765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观测与状态估计</a:t>
            </a:r>
            <a:endParaRPr lang="zh-CN" sz="1800" dirty="0"/>
          </a:p>
        </p:txBody>
      </p:sp>
      <p:sp>
        <p:nvSpPr>
          <p:cNvPr id="16" name="T08/node:step-1:detail"/>
          <p:cNvSpPr/>
          <p:nvPr/>
        </p:nvSpPr>
        <p:spPr>
          <a:xfrm>
            <a:off x="742950" y="2162175"/>
            <a:ext cx="247650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7" name="T08/node:step-2:frame"/>
          <p:cNvSpPr/>
          <p:nvPr/>
        </p:nvSpPr>
        <p:spPr>
          <a:xfrm>
            <a:off x="4324350" y="1752600"/>
            <a:ext cx="270510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8" name="T08/node:step-2:heading-rule"/>
          <p:cNvSpPr/>
          <p:nvPr/>
        </p:nvSpPr>
        <p:spPr>
          <a:xfrm>
            <a:off x="4324350" y="1752600"/>
            <a:ext cx="27051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9" name="T08/node:step-2:label"/>
          <p:cNvSpPr/>
          <p:nvPr/>
        </p:nvSpPr>
        <p:spPr>
          <a:xfrm>
            <a:off x="4438650" y="1847850"/>
            <a:ext cx="24765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策略决策</a:t>
            </a:r>
            <a:endParaRPr lang="zh-CN" sz="1800" dirty="0"/>
          </a:p>
        </p:txBody>
      </p:sp>
      <p:sp>
        <p:nvSpPr>
          <p:cNvPr id="20" name="T08/node:step-2:detail"/>
          <p:cNvSpPr/>
          <p:nvPr/>
        </p:nvSpPr>
        <p:spPr>
          <a:xfrm>
            <a:off x="4438650" y="2162175"/>
            <a:ext cx="247650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1" name="T08/node:step-3:frame"/>
          <p:cNvSpPr/>
          <p:nvPr/>
        </p:nvSpPr>
        <p:spPr>
          <a:xfrm>
            <a:off x="4324350" y="4038600"/>
            <a:ext cx="270510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2" name="T08/node:step-3:heading-rule"/>
          <p:cNvSpPr/>
          <p:nvPr/>
        </p:nvSpPr>
        <p:spPr>
          <a:xfrm>
            <a:off x="4324350" y="4038600"/>
            <a:ext cx="27051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3" name="T08/node:step-3:label"/>
          <p:cNvSpPr/>
          <p:nvPr/>
        </p:nvSpPr>
        <p:spPr>
          <a:xfrm>
            <a:off x="4438650" y="4133850"/>
            <a:ext cx="24765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环境与执行器</a:t>
            </a:r>
            <a:endParaRPr lang="zh-CN" sz="1800" dirty="0"/>
          </a:p>
        </p:txBody>
      </p:sp>
      <p:sp>
        <p:nvSpPr>
          <p:cNvPr id="24" name="T08/node:step-3:detail"/>
          <p:cNvSpPr/>
          <p:nvPr/>
        </p:nvSpPr>
        <p:spPr>
          <a:xfrm>
            <a:off x="4438650" y="4448175"/>
            <a:ext cx="247650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5" name="T08/node:step-4:frame"/>
          <p:cNvSpPr/>
          <p:nvPr/>
        </p:nvSpPr>
        <p:spPr>
          <a:xfrm>
            <a:off x="628650" y="4038600"/>
            <a:ext cx="270510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6" name="T08/node:step-4:heading-rule"/>
          <p:cNvSpPr/>
          <p:nvPr/>
        </p:nvSpPr>
        <p:spPr>
          <a:xfrm>
            <a:off x="628650" y="4038600"/>
            <a:ext cx="27051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7" name="T08/node:step-4:label"/>
          <p:cNvSpPr/>
          <p:nvPr/>
        </p:nvSpPr>
        <p:spPr>
          <a:xfrm>
            <a:off x="742950" y="4133850"/>
            <a:ext cx="24765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反馈与终止条件</a:t>
            </a:r>
            <a:endParaRPr lang="zh-CN" sz="1800" dirty="0"/>
          </a:p>
        </p:txBody>
      </p:sp>
      <p:sp>
        <p:nvSpPr>
          <p:cNvPr id="28" name="T08/node:step-4:detail"/>
          <p:cNvSpPr/>
          <p:nvPr/>
        </p:nvSpPr>
        <p:spPr>
          <a:xfrm>
            <a:off x="742950" y="4448175"/>
            <a:ext cx="247650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9" name="T08/card/region-1/title"/>
          <p:cNvSpPr/>
          <p:nvPr/>
        </p:nvSpPr>
        <p:spPr>
          <a:xfrm>
            <a:off x="7924800" y="1371600"/>
            <a:ext cx="38100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状态 s_t</a:t>
            </a:r>
            <a:endParaRPr lang="zh-CN" sz="1875" dirty="0"/>
          </a:p>
        </p:txBody>
      </p:sp>
      <p:sp>
        <p:nvSpPr>
          <p:cNvPr id="30" name="T08/card/region-1/body"/>
          <p:cNvSpPr/>
          <p:nvPr/>
        </p:nvSpPr>
        <p:spPr>
          <a:xfrm>
            <a:off x="7924800" y="1752600"/>
            <a:ext cx="3810000" cy="628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观测变量、历史和缺失值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记录单位、采样频率与可得时间</a:t>
            </a:r>
            <a:endParaRPr lang="zh-CN" sz="1725" dirty="0"/>
          </a:p>
        </p:txBody>
      </p:sp>
      <p:sp>
        <p:nvSpPr>
          <p:cNvPr id="31" name="T08/card/region-2/title"/>
          <p:cNvSpPr/>
          <p:nvPr/>
        </p:nvSpPr>
        <p:spPr>
          <a:xfrm>
            <a:off x="7924800" y="2590800"/>
            <a:ext cx="38100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动作 a_t</a:t>
            </a:r>
            <a:endParaRPr lang="zh-CN" sz="1875" dirty="0"/>
          </a:p>
        </p:txBody>
      </p:sp>
      <p:sp>
        <p:nvSpPr>
          <p:cNvPr id="32" name="T08/card/region-2/body"/>
          <p:cNvSpPr/>
          <p:nvPr/>
        </p:nvSpPr>
        <p:spPr>
          <a:xfrm>
            <a:off x="7924800" y="2971800"/>
            <a:ext cx="3810000" cy="628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管理对象、离散或连续范围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说明执行频率和现实约束</a:t>
            </a:r>
            <a:endParaRPr lang="zh-CN" sz="1725" dirty="0"/>
          </a:p>
        </p:txBody>
      </p:sp>
      <p:sp>
        <p:nvSpPr>
          <p:cNvPr id="33" name="T08/card/region-3/title"/>
          <p:cNvSpPr/>
          <p:nvPr/>
        </p:nvSpPr>
        <p:spPr>
          <a:xfrm>
            <a:off x="7924800" y="3810000"/>
            <a:ext cx="38100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奖励 r_t</a:t>
            </a:r>
            <a:endParaRPr lang="zh-CN" sz="1875" dirty="0"/>
          </a:p>
        </p:txBody>
      </p:sp>
      <p:sp>
        <p:nvSpPr>
          <p:cNvPr id="34" name="T08/card/region-3/body"/>
          <p:cNvSpPr/>
          <p:nvPr/>
        </p:nvSpPr>
        <p:spPr>
          <a:xfrm>
            <a:off x="7924800" y="4191000"/>
            <a:ext cx="3810000" cy="628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写出奖励组成与归一化方法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区分即时奖励和最终目标</a:t>
            </a:r>
            <a:endParaRPr lang="zh-CN" sz="1725" dirty="0"/>
          </a:p>
        </p:txBody>
      </p:sp>
      <p:sp>
        <p:nvSpPr>
          <p:cNvPr id="35" name="T08/card/region-4/title"/>
          <p:cNvSpPr/>
          <p:nvPr/>
        </p:nvSpPr>
        <p:spPr>
          <a:xfrm>
            <a:off x="7924800" y="5029200"/>
            <a:ext cx="38100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安全约束</a:t>
            </a:r>
            <a:endParaRPr lang="zh-CN" sz="1875" dirty="0"/>
          </a:p>
        </p:txBody>
      </p:sp>
      <p:sp>
        <p:nvSpPr>
          <p:cNvPr id="36" name="T08/card/region-4/body"/>
          <p:cNvSpPr/>
          <p:nvPr/>
        </p:nvSpPr>
        <p:spPr>
          <a:xfrm>
            <a:off x="7924800" y="5410200"/>
            <a:ext cx="3810000" cy="628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硬边界、软惩罚与终止条件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单独报告约束违反情况</a:t>
            </a:r>
            <a:endParaRPr lang="zh-CN" sz="1725" dirty="0"/>
          </a:p>
        </p:txBody>
      </p:sp>
      <p:sp>
        <p:nvSpPr>
          <p:cNvPr id="37" name="T08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9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9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 / 48</a:t>
            </a:r>
            <a:endParaRPr lang="zh-CN" sz="1050" dirty="0"/>
          </a:p>
        </p:txBody>
      </p:sp>
      <p:sp>
        <p:nvSpPr>
          <p:cNvPr id="4" name="T09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09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工具路由与能力边界</a:t>
            </a:r>
            <a:endParaRPr lang="zh-CN" sz="2550" dirty="0"/>
          </a:p>
        </p:txBody>
      </p:sp>
      <p:sp>
        <p:nvSpPr>
          <p:cNvPr id="6" name="T09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09/panel:0:frame"/>
          <p:cNvSpPr/>
          <p:nvPr/>
        </p:nvSpPr>
        <p:spPr>
          <a:xfrm>
            <a:off x="457200" y="1428750"/>
            <a:ext cx="7905750" cy="46101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09/panel:0:tab"/>
          <p:cNvSpPr/>
          <p:nvPr/>
        </p:nvSpPr>
        <p:spPr>
          <a:xfrm>
            <a:off x="571500" y="1314450"/>
            <a:ext cx="2095500" cy="3238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09/panel:0:title"/>
          <p:cNvSpPr/>
          <p:nvPr/>
        </p:nvSpPr>
        <p:spPr>
          <a:xfrm>
            <a:off x="676275" y="1343025"/>
            <a:ext cx="18859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任务、工具与输出</a:t>
            </a:r>
            <a:endParaRPr lang="zh-CN" sz="1800" dirty="0"/>
          </a:p>
        </p:txBody>
      </p:sp>
      <p:sp>
        <p:nvSpPr>
          <p:cNvPr id="10" name="T09/edge:0:segment:0"/>
          <p:cNvSpPr/>
          <p:nvPr/>
        </p:nvSpPr>
        <p:spPr>
          <a:xfrm>
            <a:off x="4324350" y="2552700"/>
            <a:ext cx="0" cy="3619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1" name="T09/edge:0:segment:1"/>
          <p:cNvSpPr/>
          <p:nvPr/>
        </p:nvSpPr>
        <p:spPr>
          <a:xfrm flipH="1">
            <a:off x="1704975" y="2914650"/>
            <a:ext cx="261937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2" name="T09/edge:0:segment:2"/>
          <p:cNvSpPr/>
          <p:nvPr/>
        </p:nvSpPr>
        <p:spPr>
          <a:xfrm>
            <a:off x="1704975" y="2914650"/>
            <a:ext cx="0" cy="3619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3" name="T09/edge:1:segment:0"/>
          <p:cNvSpPr/>
          <p:nvPr/>
        </p:nvSpPr>
        <p:spPr>
          <a:xfrm>
            <a:off x="4324350" y="2552700"/>
            <a:ext cx="0" cy="3619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4" name="T09/edge:1:segment:1"/>
          <p:cNvSpPr/>
          <p:nvPr/>
        </p:nvSpPr>
        <p:spPr>
          <a:xfrm>
            <a:off x="4324350" y="2914650"/>
            <a:ext cx="1619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5" name="T09/edge:1:segment:2"/>
          <p:cNvSpPr/>
          <p:nvPr/>
        </p:nvSpPr>
        <p:spPr>
          <a:xfrm>
            <a:off x="4486275" y="2914650"/>
            <a:ext cx="0" cy="3619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6" name="T09/edge:2:segment:0"/>
          <p:cNvSpPr/>
          <p:nvPr/>
        </p:nvSpPr>
        <p:spPr>
          <a:xfrm>
            <a:off x="5600700" y="2181225"/>
            <a:ext cx="2762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7" name="T09/edge:2:segment:1"/>
          <p:cNvSpPr/>
          <p:nvPr/>
        </p:nvSpPr>
        <p:spPr>
          <a:xfrm>
            <a:off x="5876925" y="2181225"/>
            <a:ext cx="0" cy="16192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8" name="T09/edge:2:segment:2"/>
          <p:cNvSpPr/>
          <p:nvPr/>
        </p:nvSpPr>
        <p:spPr>
          <a:xfrm>
            <a:off x="5876925" y="3800475"/>
            <a:ext cx="2762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9" name="T09/edge:3:segment:0"/>
          <p:cNvSpPr/>
          <p:nvPr/>
        </p:nvSpPr>
        <p:spPr>
          <a:xfrm>
            <a:off x="2800350" y="3800475"/>
            <a:ext cx="1238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20" name="T09/edge:3:segment:1"/>
          <p:cNvSpPr/>
          <p:nvPr/>
        </p:nvSpPr>
        <p:spPr>
          <a:xfrm>
            <a:off x="2924175" y="3800475"/>
            <a:ext cx="0" cy="1762125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21" name="T09/edge:3:segment:2"/>
          <p:cNvSpPr/>
          <p:nvPr/>
        </p:nvSpPr>
        <p:spPr>
          <a:xfrm>
            <a:off x="2924175" y="5562600"/>
            <a:ext cx="1238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22" name="T09/edge:4:segment:0"/>
          <p:cNvSpPr/>
          <p:nvPr/>
        </p:nvSpPr>
        <p:spPr>
          <a:xfrm>
            <a:off x="4486275" y="4324350"/>
            <a:ext cx="0" cy="447675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23" name="T09/edge:4:segment:1"/>
          <p:cNvSpPr/>
          <p:nvPr/>
        </p:nvSpPr>
        <p:spPr>
          <a:xfrm flipH="1">
            <a:off x="4324350" y="4772025"/>
            <a:ext cx="1619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24" name="T09/edge:4:segment:2"/>
          <p:cNvSpPr/>
          <p:nvPr/>
        </p:nvSpPr>
        <p:spPr>
          <a:xfrm>
            <a:off x="4324350" y="4772025"/>
            <a:ext cx="0" cy="447675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25" name="T09/edge:5:segment:0"/>
          <p:cNvSpPr/>
          <p:nvPr/>
        </p:nvSpPr>
        <p:spPr>
          <a:xfrm>
            <a:off x="7181850" y="4324350"/>
            <a:ext cx="0" cy="447675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26" name="T09/edge:5:segment:1"/>
          <p:cNvSpPr/>
          <p:nvPr/>
        </p:nvSpPr>
        <p:spPr>
          <a:xfrm flipH="1">
            <a:off x="4324350" y="4772025"/>
            <a:ext cx="28575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27" name="T09/edge:5:segment:2"/>
          <p:cNvSpPr/>
          <p:nvPr/>
        </p:nvSpPr>
        <p:spPr>
          <a:xfrm>
            <a:off x="4324350" y="4772025"/>
            <a:ext cx="0" cy="447675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28" name="T09/node:step-1:frame"/>
          <p:cNvSpPr/>
          <p:nvPr/>
        </p:nvSpPr>
        <p:spPr>
          <a:xfrm>
            <a:off x="3048000" y="1809750"/>
            <a:ext cx="2552700" cy="7429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9" name="T09/node:step-1:heading-rule"/>
          <p:cNvSpPr/>
          <p:nvPr/>
        </p:nvSpPr>
        <p:spPr>
          <a:xfrm>
            <a:off x="3048000" y="1809750"/>
            <a:ext cx="25527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30" name="T09/node:step-1:label"/>
          <p:cNvSpPr/>
          <p:nvPr/>
        </p:nvSpPr>
        <p:spPr>
          <a:xfrm>
            <a:off x="3162300" y="2047875"/>
            <a:ext cx="23241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任务解析</a:t>
            </a:r>
            <a:endParaRPr lang="zh-CN" sz="1800" dirty="0"/>
          </a:p>
        </p:txBody>
      </p:sp>
      <p:sp>
        <p:nvSpPr>
          <p:cNvPr id="31" name="T09/node:step-2:frame"/>
          <p:cNvSpPr/>
          <p:nvPr/>
        </p:nvSpPr>
        <p:spPr>
          <a:xfrm>
            <a:off x="609600" y="3276600"/>
            <a:ext cx="2190750" cy="1047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2" name="T09/node:step-2:heading-rule"/>
          <p:cNvSpPr/>
          <p:nvPr/>
        </p:nvSpPr>
        <p:spPr>
          <a:xfrm>
            <a:off x="609600" y="3276600"/>
            <a:ext cx="21907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33" name="T09/node:step-2:label"/>
          <p:cNvSpPr/>
          <p:nvPr/>
        </p:nvSpPr>
        <p:spPr>
          <a:xfrm>
            <a:off x="723900" y="3667125"/>
            <a:ext cx="19621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感知模型</a:t>
            </a:r>
            <a:endParaRPr lang="zh-CN" sz="1800" dirty="0"/>
          </a:p>
        </p:txBody>
      </p:sp>
      <p:sp>
        <p:nvSpPr>
          <p:cNvPr id="34" name="T09/node:step-3:frame"/>
          <p:cNvSpPr/>
          <p:nvPr/>
        </p:nvSpPr>
        <p:spPr>
          <a:xfrm>
            <a:off x="3390900" y="3276600"/>
            <a:ext cx="2190750" cy="1047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5" name="T09/node:step-3:heading-rule"/>
          <p:cNvSpPr/>
          <p:nvPr/>
        </p:nvSpPr>
        <p:spPr>
          <a:xfrm>
            <a:off x="3390900" y="3276600"/>
            <a:ext cx="21907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36" name="T09/node:step-3:label"/>
          <p:cNvSpPr/>
          <p:nvPr/>
        </p:nvSpPr>
        <p:spPr>
          <a:xfrm>
            <a:off x="3505200" y="3667125"/>
            <a:ext cx="19621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数据与统计工具</a:t>
            </a:r>
            <a:endParaRPr lang="zh-CN" sz="1800" dirty="0"/>
          </a:p>
        </p:txBody>
      </p:sp>
      <p:sp>
        <p:nvSpPr>
          <p:cNvPr id="37" name="T09/node:step-4:frame"/>
          <p:cNvSpPr/>
          <p:nvPr/>
        </p:nvSpPr>
        <p:spPr>
          <a:xfrm>
            <a:off x="6153150" y="3276600"/>
            <a:ext cx="2057400" cy="1047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8" name="T09/node:step-4:heading-rule"/>
          <p:cNvSpPr/>
          <p:nvPr/>
        </p:nvSpPr>
        <p:spPr>
          <a:xfrm>
            <a:off x="6153150" y="3276600"/>
            <a:ext cx="20574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39" name="T09/node:step-4:label"/>
          <p:cNvSpPr/>
          <p:nvPr/>
        </p:nvSpPr>
        <p:spPr>
          <a:xfrm>
            <a:off x="6267450" y="3667125"/>
            <a:ext cx="18288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知识检索</a:t>
            </a:r>
            <a:endParaRPr lang="zh-CN" sz="1800" dirty="0"/>
          </a:p>
        </p:txBody>
      </p:sp>
      <p:sp>
        <p:nvSpPr>
          <p:cNvPr id="40" name="T09/node:step-5:frame"/>
          <p:cNvSpPr/>
          <p:nvPr/>
        </p:nvSpPr>
        <p:spPr>
          <a:xfrm>
            <a:off x="3048000" y="5219700"/>
            <a:ext cx="2552700" cy="6858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41" name="T09/node:step-5:heading-rule"/>
          <p:cNvSpPr/>
          <p:nvPr/>
        </p:nvSpPr>
        <p:spPr>
          <a:xfrm>
            <a:off x="3048000" y="5219700"/>
            <a:ext cx="25527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42" name="T09/node:step-5:label"/>
          <p:cNvSpPr/>
          <p:nvPr/>
        </p:nvSpPr>
        <p:spPr>
          <a:xfrm>
            <a:off x="3162300" y="5429250"/>
            <a:ext cx="23241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输出核验</a:t>
            </a:r>
            <a:endParaRPr lang="zh-CN" sz="1800" dirty="0"/>
          </a:p>
        </p:txBody>
      </p:sp>
      <p:sp>
        <p:nvSpPr>
          <p:cNvPr id="43" name="T09/card/region-1/frame"/>
          <p:cNvSpPr/>
          <p:nvPr/>
        </p:nvSpPr>
        <p:spPr>
          <a:xfrm>
            <a:off x="8648700" y="1371600"/>
            <a:ext cx="3086100" cy="20574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44" name="T09/card/region-1/heading-fill"/>
          <p:cNvSpPr/>
          <p:nvPr/>
        </p:nvSpPr>
        <p:spPr>
          <a:xfrm>
            <a:off x="8658225" y="1381125"/>
            <a:ext cx="30670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09/card/region-1/heading-rule"/>
          <p:cNvSpPr/>
          <p:nvPr/>
        </p:nvSpPr>
        <p:spPr>
          <a:xfrm>
            <a:off x="8648700" y="1752600"/>
            <a:ext cx="30861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46" name="T09/card/region-1/title"/>
          <p:cNvSpPr/>
          <p:nvPr/>
        </p:nvSpPr>
        <p:spPr>
          <a:xfrm>
            <a:off x="8772525" y="1428750"/>
            <a:ext cx="28384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路由依据</a:t>
            </a:r>
            <a:endParaRPr lang="zh-CN" sz="1800" dirty="0"/>
          </a:p>
        </p:txBody>
      </p:sp>
      <p:sp>
        <p:nvSpPr>
          <p:cNvPr id="47" name="T09/card/region-1/body"/>
          <p:cNvSpPr/>
          <p:nvPr/>
        </p:nvSpPr>
        <p:spPr>
          <a:xfrm>
            <a:off x="8782050" y="1866900"/>
            <a:ext cx="2819400" cy="1466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任务类型如何匹配工具能力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工具选择是否使用相同的信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息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缺少工具时应明确退出或求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助</a:t>
            </a:r>
            <a:endParaRPr lang="zh-CN" sz="1725" dirty="0"/>
          </a:p>
        </p:txBody>
      </p:sp>
      <p:sp>
        <p:nvSpPr>
          <p:cNvPr id="48" name="T09/card/region-2/frame"/>
          <p:cNvSpPr/>
          <p:nvPr/>
        </p:nvSpPr>
        <p:spPr>
          <a:xfrm>
            <a:off x="8648700" y="3829050"/>
            <a:ext cx="3086100" cy="21717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49" name="T09/card/region-2/tab"/>
          <p:cNvSpPr/>
          <p:nvPr/>
        </p:nvSpPr>
        <p:spPr>
          <a:xfrm>
            <a:off x="8763000" y="3714750"/>
            <a:ext cx="16383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09/card/region-2/title"/>
          <p:cNvSpPr/>
          <p:nvPr/>
        </p:nvSpPr>
        <p:spPr>
          <a:xfrm>
            <a:off x="8867775" y="3743325"/>
            <a:ext cx="14287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工具覆盖范围</a:t>
            </a:r>
            <a:endParaRPr lang="zh-CN" sz="1800" dirty="0"/>
          </a:p>
        </p:txBody>
      </p:sp>
      <p:sp>
        <p:nvSpPr>
          <p:cNvPr id="51" name="T09/card/region-2/body"/>
          <p:cNvSpPr/>
          <p:nvPr/>
        </p:nvSpPr>
        <p:spPr>
          <a:xfrm>
            <a:off x="8782050" y="4177665"/>
            <a:ext cx="2819400" cy="1727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列出工具能处理的对象和输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入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标注分布外样本与失败类别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解释工具更新后需重做哪些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验证</a:t>
            </a:r>
            <a:endParaRPr lang="zh-CN" sz="1725" dirty="0"/>
          </a:p>
        </p:txBody>
      </p:sp>
      <p:sp>
        <p:nvSpPr>
          <p:cNvPr id="52" name="T09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0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0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 / 48</a:t>
            </a:r>
            <a:endParaRPr lang="zh-CN" sz="1050" dirty="0"/>
          </a:p>
        </p:txBody>
      </p:sp>
      <p:sp>
        <p:nvSpPr>
          <p:cNvPr id="4" name="T10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10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机理模型与优化器耦合</a:t>
            </a:r>
            <a:endParaRPr lang="zh-CN" sz="2550" dirty="0"/>
          </a:p>
        </p:txBody>
      </p:sp>
      <p:sp>
        <p:nvSpPr>
          <p:cNvPr id="6" name="T10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10/panel:0:frame"/>
          <p:cNvSpPr/>
          <p:nvPr/>
        </p:nvSpPr>
        <p:spPr>
          <a:xfrm>
            <a:off x="457200" y="1352550"/>
            <a:ext cx="11277600" cy="18097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10/panel:0:heading-fill"/>
          <p:cNvSpPr/>
          <p:nvPr/>
        </p:nvSpPr>
        <p:spPr>
          <a:xfrm>
            <a:off x="466725" y="1362075"/>
            <a:ext cx="1125855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10/panel:0:heading-rule"/>
          <p:cNvSpPr/>
          <p:nvPr/>
        </p:nvSpPr>
        <p:spPr>
          <a:xfrm>
            <a:off x="457200" y="1743075"/>
            <a:ext cx="112776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10/panel:0:title"/>
          <p:cNvSpPr/>
          <p:nvPr/>
        </p:nvSpPr>
        <p:spPr>
          <a:xfrm>
            <a:off x="581025" y="1409700"/>
            <a:ext cx="110299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耦合计算链</a:t>
            </a:r>
            <a:endParaRPr lang="zh-CN" sz="1800" dirty="0"/>
          </a:p>
        </p:txBody>
      </p:sp>
      <p:sp>
        <p:nvSpPr>
          <p:cNvPr id="11" name="T10/edge:0"/>
          <p:cNvSpPr/>
          <p:nvPr/>
        </p:nvSpPr>
        <p:spPr>
          <a:xfrm>
            <a:off x="2762250" y="2419350"/>
            <a:ext cx="7239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2" name="T10/edge:1"/>
          <p:cNvSpPr/>
          <p:nvPr/>
        </p:nvSpPr>
        <p:spPr>
          <a:xfrm>
            <a:off x="5638800" y="2419350"/>
            <a:ext cx="7429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3" name="T10/edge:2"/>
          <p:cNvSpPr/>
          <p:nvPr/>
        </p:nvSpPr>
        <p:spPr>
          <a:xfrm>
            <a:off x="8534400" y="2419350"/>
            <a:ext cx="7429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4" name="T10/node:step-1:frame"/>
          <p:cNvSpPr/>
          <p:nvPr/>
        </p:nvSpPr>
        <p:spPr>
          <a:xfrm>
            <a:off x="609600" y="1866900"/>
            <a:ext cx="2152650" cy="11049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5" name="T10/node:step-1:heading-rule"/>
          <p:cNvSpPr/>
          <p:nvPr/>
        </p:nvSpPr>
        <p:spPr>
          <a:xfrm>
            <a:off x="609600" y="186690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6" name="T10/node:step-1:label"/>
          <p:cNvSpPr/>
          <p:nvPr/>
        </p:nvSpPr>
        <p:spPr>
          <a:xfrm>
            <a:off x="723900" y="1962150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环境与管理输入</a:t>
            </a:r>
            <a:endParaRPr lang="zh-CN" sz="1800" dirty="0"/>
          </a:p>
        </p:txBody>
      </p:sp>
      <p:sp>
        <p:nvSpPr>
          <p:cNvPr id="17" name="T10/node:step-1:detail"/>
          <p:cNvSpPr/>
          <p:nvPr/>
        </p:nvSpPr>
        <p:spPr>
          <a:xfrm>
            <a:off x="723900" y="2276475"/>
            <a:ext cx="192405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8" name="T10/node:step-2:frame"/>
          <p:cNvSpPr/>
          <p:nvPr/>
        </p:nvSpPr>
        <p:spPr>
          <a:xfrm>
            <a:off x="3486150" y="1866900"/>
            <a:ext cx="2152650" cy="11049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9" name="T10/node:step-2:heading-rule"/>
          <p:cNvSpPr/>
          <p:nvPr/>
        </p:nvSpPr>
        <p:spPr>
          <a:xfrm>
            <a:off x="3486150" y="186690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0" name="T10/node:step-2:label"/>
          <p:cNvSpPr/>
          <p:nvPr/>
        </p:nvSpPr>
        <p:spPr>
          <a:xfrm>
            <a:off x="3600450" y="1962150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机理模型</a:t>
            </a:r>
            <a:endParaRPr lang="zh-CN" sz="1800" dirty="0"/>
          </a:p>
        </p:txBody>
      </p:sp>
      <p:sp>
        <p:nvSpPr>
          <p:cNvPr id="21" name="T10/node:step-2:detail"/>
          <p:cNvSpPr/>
          <p:nvPr/>
        </p:nvSpPr>
        <p:spPr>
          <a:xfrm>
            <a:off x="3600450" y="2276475"/>
            <a:ext cx="192405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2" name="T10/node:step-3:frame"/>
          <p:cNvSpPr/>
          <p:nvPr/>
        </p:nvSpPr>
        <p:spPr>
          <a:xfrm>
            <a:off x="6381750" y="1866900"/>
            <a:ext cx="2152650" cy="11049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3" name="T10/node:step-3:heading-rule"/>
          <p:cNvSpPr/>
          <p:nvPr/>
        </p:nvSpPr>
        <p:spPr>
          <a:xfrm>
            <a:off x="6381750" y="186690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4" name="T10/node:step-3:label"/>
          <p:cNvSpPr/>
          <p:nvPr/>
        </p:nvSpPr>
        <p:spPr>
          <a:xfrm>
            <a:off x="6496050" y="1962150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目标与约束计算</a:t>
            </a:r>
            <a:endParaRPr lang="zh-CN" sz="1800" dirty="0"/>
          </a:p>
        </p:txBody>
      </p:sp>
      <p:sp>
        <p:nvSpPr>
          <p:cNvPr id="25" name="T10/node:step-3:detail"/>
          <p:cNvSpPr/>
          <p:nvPr/>
        </p:nvSpPr>
        <p:spPr>
          <a:xfrm>
            <a:off x="6496050" y="2276475"/>
            <a:ext cx="192405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6" name="T10/node:step-4:frame"/>
          <p:cNvSpPr/>
          <p:nvPr/>
        </p:nvSpPr>
        <p:spPr>
          <a:xfrm>
            <a:off x="9277350" y="1866900"/>
            <a:ext cx="2305050" cy="11049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7" name="T10/node:step-4:heading-rule"/>
          <p:cNvSpPr/>
          <p:nvPr/>
        </p:nvSpPr>
        <p:spPr>
          <a:xfrm>
            <a:off x="9277350" y="1866900"/>
            <a:ext cx="23050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8" name="T10/node:step-4:label"/>
          <p:cNvSpPr/>
          <p:nvPr/>
        </p:nvSpPr>
        <p:spPr>
          <a:xfrm>
            <a:off x="9391650" y="1962150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优化或策略更新</a:t>
            </a:r>
            <a:endParaRPr lang="zh-CN" sz="1800" dirty="0"/>
          </a:p>
        </p:txBody>
      </p:sp>
      <p:sp>
        <p:nvSpPr>
          <p:cNvPr id="29" name="T10/node:step-4:detail"/>
          <p:cNvSpPr/>
          <p:nvPr/>
        </p:nvSpPr>
        <p:spPr>
          <a:xfrm>
            <a:off x="9391650" y="2276475"/>
            <a:ext cx="207645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30" name="T10/card/region-1/base-rule"/>
          <p:cNvSpPr/>
          <p:nvPr/>
        </p:nvSpPr>
        <p:spPr>
          <a:xfrm>
            <a:off x="457200" y="5962650"/>
            <a:ext cx="34861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31" name="T10/card/region-1/side-mark"/>
          <p:cNvSpPr/>
          <p:nvPr/>
        </p:nvSpPr>
        <p:spPr>
          <a:xfrm>
            <a:off x="457200" y="358140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10/card/region-1/title"/>
          <p:cNvSpPr/>
          <p:nvPr/>
        </p:nvSpPr>
        <p:spPr>
          <a:xfrm>
            <a:off x="609600" y="3581400"/>
            <a:ext cx="33337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输入与单位</a:t>
            </a:r>
            <a:endParaRPr lang="zh-CN" sz="1800" dirty="0"/>
          </a:p>
        </p:txBody>
      </p:sp>
      <p:sp>
        <p:nvSpPr>
          <p:cNvPr id="33" name="T10/card/region-1/body"/>
          <p:cNvSpPr/>
          <p:nvPr/>
        </p:nvSpPr>
        <p:spPr>
          <a:xfrm>
            <a:off x="609600" y="4000500"/>
            <a:ext cx="3333750" cy="1866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同化观测、气象与管理输入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逐项保留物理量单位和时间步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说明缺失或预测数据的来源</a:t>
            </a:r>
            <a:endParaRPr lang="zh-CN" sz="1725" dirty="0"/>
          </a:p>
        </p:txBody>
      </p:sp>
      <p:sp>
        <p:nvSpPr>
          <p:cNvPr id="34" name="T10/card/region-2/frame"/>
          <p:cNvSpPr/>
          <p:nvPr/>
        </p:nvSpPr>
        <p:spPr>
          <a:xfrm>
            <a:off x="4210050" y="3562350"/>
            <a:ext cx="3505200" cy="24003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5" name="T10/card/region-2/heading-fill"/>
          <p:cNvSpPr/>
          <p:nvPr/>
        </p:nvSpPr>
        <p:spPr>
          <a:xfrm>
            <a:off x="4219575" y="3571875"/>
            <a:ext cx="34861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10/card/region-2/heading-rule"/>
          <p:cNvSpPr/>
          <p:nvPr/>
        </p:nvSpPr>
        <p:spPr>
          <a:xfrm>
            <a:off x="4210050" y="3943350"/>
            <a:ext cx="35052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7" name="T10/card/region-2/title"/>
          <p:cNvSpPr/>
          <p:nvPr/>
        </p:nvSpPr>
        <p:spPr>
          <a:xfrm>
            <a:off x="4333875" y="3619500"/>
            <a:ext cx="32575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校准与验证</a:t>
            </a:r>
            <a:endParaRPr lang="zh-CN" sz="1800" dirty="0"/>
          </a:p>
        </p:txBody>
      </p:sp>
      <p:sp>
        <p:nvSpPr>
          <p:cNvPr id="38" name="T10/card/region-2/body"/>
          <p:cNvSpPr/>
          <p:nvPr/>
        </p:nvSpPr>
        <p:spPr>
          <a:xfrm>
            <a:off x="4343400" y="4057650"/>
            <a:ext cx="3238500" cy="1809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区分参数校准与独立验证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报告校准范围与留出环境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与观测比较误差而非只看拟合</a:t>
            </a:r>
            <a:endParaRPr lang="zh-CN" sz="1725" dirty="0"/>
          </a:p>
        </p:txBody>
      </p:sp>
      <p:sp>
        <p:nvSpPr>
          <p:cNvPr id="39" name="T10/card/region-3/frame"/>
          <p:cNvSpPr/>
          <p:nvPr/>
        </p:nvSpPr>
        <p:spPr>
          <a:xfrm>
            <a:off x="7981950" y="3676650"/>
            <a:ext cx="3752850" cy="22860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40" name="T10/card/region-3/tab"/>
          <p:cNvSpPr/>
          <p:nvPr/>
        </p:nvSpPr>
        <p:spPr>
          <a:xfrm>
            <a:off x="8096250" y="356235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10/card/region-3/title"/>
          <p:cNvSpPr/>
          <p:nvPr/>
        </p:nvSpPr>
        <p:spPr>
          <a:xfrm>
            <a:off x="8201025" y="35909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模型失配</a:t>
            </a:r>
            <a:endParaRPr lang="zh-CN" sz="1800" dirty="0"/>
          </a:p>
        </p:txBody>
      </p:sp>
      <p:sp>
        <p:nvSpPr>
          <p:cNvPr id="42" name="T10/card/region-3/body"/>
          <p:cNvSpPr/>
          <p:nvPr/>
        </p:nvSpPr>
        <p:spPr>
          <a:xfrm>
            <a:off x="8115300" y="4025265"/>
            <a:ext cx="3486150" cy="18421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列出结构误差与参数不确定性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说明误差如何影响优化或策略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补充越界状态的处理规则</a:t>
            </a:r>
            <a:endParaRPr lang="zh-CN" sz="1725" dirty="0"/>
          </a:p>
        </p:txBody>
      </p:sp>
      <p:sp>
        <p:nvSpPr>
          <p:cNvPr id="43" name="T10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1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1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 / 48</a:t>
            </a:r>
            <a:endParaRPr lang="zh-CN" sz="1050" dirty="0"/>
          </a:p>
        </p:txBody>
      </p:sp>
      <p:sp>
        <p:nvSpPr>
          <p:cNvPr id="4" name="T11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11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算法步骤与关键假设</a:t>
            </a:r>
            <a:endParaRPr lang="zh-CN" sz="2550" dirty="0"/>
          </a:p>
        </p:txBody>
      </p:sp>
      <p:sp>
        <p:nvSpPr>
          <p:cNvPr id="6" name="T11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11/edge:0"/>
          <p:cNvSpPr/>
          <p:nvPr/>
        </p:nvSpPr>
        <p:spPr>
          <a:xfrm>
            <a:off x="2228850" y="2057400"/>
            <a:ext cx="0" cy="2667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8" name="T11/edge:1"/>
          <p:cNvSpPr/>
          <p:nvPr/>
        </p:nvSpPr>
        <p:spPr>
          <a:xfrm>
            <a:off x="2228850" y="3048000"/>
            <a:ext cx="0" cy="2667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9" name="T11/edge:2"/>
          <p:cNvSpPr/>
          <p:nvPr/>
        </p:nvSpPr>
        <p:spPr>
          <a:xfrm>
            <a:off x="2228850" y="4038600"/>
            <a:ext cx="0" cy="2667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0" name="T11/edge:3"/>
          <p:cNvSpPr/>
          <p:nvPr/>
        </p:nvSpPr>
        <p:spPr>
          <a:xfrm>
            <a:off x="2228850" y="5029200"/>
            <a:ext cx="0" cy="2667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1" name="T11/node:step-1:frame"/>
          <p:cNvSpPr/>
          <p:nvPr/>
        </p:nvSpPr>
        <p:spPr>
          <a:xfrm>
            <a:off x="590550" y="1333500"/>
            <a:ext cx="3276600" cy="7239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2" name="T11/node:step-1:heading-rule"/>
          <p:cNvSpPr/>
          <p:nvPr/>
        </p:nvSpPr>
        <p:spPr>
          <a:xfrm>
            <a:off x="590550" y="1333500"/>
            <a:ext cx="32766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3" name="T11/node:step-1:label"/>
          <p:cNvSpPr/>
          <p:nvPr/>
        </p:nvSpPr>
        <p:spPr>
          <a:xfrm>
            <a:off x="704850" y="1562100"/>
            <a:ext cx="3048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输入与初始化</a:t>
            </a:r>
            <a:endParaRPr lang="zh-CN" sz="1800" dirty="0"/>
          </a:p>
        </p:txBody>
      </p:sp>
      <p:sp>
        <p:nvSpPr>
          <p:cNvPr id="14" name="T11/node:step-2:frame"/>
          <p:cNvSpPr/>
          <p:nvPr/>
        </p:nvSpPr>
        <p:spPr>
          <a:xfrm>
            <a:off x="590550" y="2324100"/>
            <a:ext cx="3276600" cy="7239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5" name="T11/node:step-2:heading-rule"/>
          <p:cNvSpPr/>
          <p:nvPr/>
        </p:nvSpPr>
        <p:spPr>
          <a:xfrm>
            <a:off x="590550" y="2324100"/>
            <a:ext cx="32766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6" name="T11/node:step-2:label"/>
          <p:cNvSpPr/>
          <p:nvPr/>
        </p:nvSpPr>
        <p:spPr>
          <a:xfrm>
            <a:off x="704850" y="2552700"/>
            <a:ext cx="3048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构造候选</a:t>
            </a:r>
            <a:endParaRPr lang="zh-CN" sz="1800" dirty="0"/>
          </a:p>
        </p:txBody>
      </p:sp>
      <p:sp>
        <p:nvSpPr>
          <p:cNvPr id="17" name="T11/node:step-3:frame"/>
          <p:cNvSpPr/>
          <p:nvPr/>
        </p:nvSpPr>
        <p:spPr>
          <a:xfrm>
            <a:off x="590550" y="3314700"/>
            <a:ext cx="3276600" cy="7239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8" name="T11/node:step-3:heading-rule"/>
          <p:cNvSpPr/>
          <p:nvPr/>
        </p:nvSpPr>
        <p:spPr>
          <a:xfrm>
            <a:off x="590550" y="3314700"/>
            <a:ext cx="32766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9" name="T11/node:step-3:label"/>
          <p:cNvSpPr/>
          <p:nvPr/>
        </p:nvSpPr>
        <p:spPr>
          <a:xfrm>
            <a:off x="704850" y="3543300"/>
            <a:ext cx="3048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计算目标</a:t>
            </a:r>
            <a:endParaRPr lang="zh-CN" sz="1800" dirty="0"/>
          </a:p>
        </p:txBody>
      </p:sp>
      <p:sp>
        <p:nvSpPr>
          <p:cNvPr id="20" name="T11/node:step-4:frame"/>
          <p:cNvSpPr/>
          <p:nvPr/>
        </p:nvSpPr>
        <p:spPr>
          <a:xfrm>
            <a:off x="590550" y="4305300"/>
            <a:ext cx="3276600" cy="7239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1" name="T11/node:step-4:heading-rule"/>
          <p:cNvSpPr/>
          <p:nvPr/>
        </p:nvSpPr>
        <p:spPr>
          <a:xfrm>
            <a:off x="590550" y="4305300"/>
            <a:ext cx="32766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2" name="T11/node:step-4:label"/>
          <p:cNvSpPr/>
          <p:nvPr/>
        </p:nvSpPr>
        <p:spPr>
          <a:xfrm>
            <a:off x="704850" y="4533900"/>
            <a:ext cx="3048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更新参数</a:t>
            </a:r>
            <a:endParaRPr lang="zh-CN" sz="1800" dirty="0"/>
          </a:p>
        </p:txBody>
      </p:sp>
      <p:sp>
        <p:nvSpPr>
          <p:cNvPr id="23" name="T11/node:step-5:frame"/>
          <p:cNvSpPr/>
          <p:nvPr/>
        </p:nvSpPr>
        <p:spPr>
          <a:xfrm>
            <a:off x="590550" y="5295900"/>
            <a:ext cx="3276600" cy="7239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4" name="T11/node:step-5:heading-rule"/>
          <p:cNvSpPr/>
          <p:nvPr/>
        </p:nvSpPr>
        <p:spPr>
          <a:xfrm>
            <a:off x="590550" y="5295900"/>
            <a:ext cx="32766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5" name="T11/node:step-5:label"/>
          <p:cNvSpPr/>
          <p:nvPr/>
        </p:nvSpPr>
        <p:spPr>
          <a:xfrm>
            <a:off x="704850" y="5524500"/>
            <a:ext cx="3048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停止与输出</a:t>
            </a:r>
            <a:endParaRPr lang="zh-CN" sz="1800" dirty="0"/>
          </a:p>
        </p:txBody>
      </p:sp>
      <p:sp>
        <p:nvSpPr>
          <p:cNvPr id="26" name="T11/card/region-1/frame"/>
          <p:cNvSpPr/>
          <p:nvPr/>
        </p:nvSpPr>
        <p:spPr>
          <a:xfrm>
            <a:off x="4305300" y="1352550"/>
            <a:ext cx="7429500" cy="14478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7" name="T11/card/region-1/heading-fill"/>
          <p:cNvSpPr/>
          <p:nvPr/>
        </p:nvSpPr>
        <p:spPr>
          <a:xfrm>
            <a:off x="4314825" y="1362075"/>
            <a:ext cx="74104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11/card/region-1/heading-rule"/>
          <p:cNvSpPr/>
          <p:nvPr/>
        </p:nvSpPr>
        <p:spPr>
          <a:xfrm>
            <a:off x="4305300" y="1733550"/>
            <a:ext cx="74295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9" name="T11/card/region-1/title"/>
          <p:cNvSpPr/>
          <p:nvPr/>
        </p:nvSpPr>
        <p:spPr>
          <a:xfrm>
            <a:off x="4429125" y="1409700"/>
            <a:ext cx="71818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关键运算</a:t>
            </a:r>
            <a:endParaRPr lang="zh-CN" sz="1800" dirty="0"/>
          </a:p>
        </p:txBody>
      </p:sp>
      <p:sp>
        <p:nvSpPr>
          <p:cNvPr id="30" name="T11/card/region-1/body"/>
          <p:cNvSpPr/>
          <p:nvPr/>
        </p:nvSpPr>
        <p:spPr>
          <a:xfrm>
            <a:off x="4438650" y="1847850"/>
            <a:ext cx="716280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写清关键更新或目标计算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保留输入维度、输出与复杂度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避免只写算法名而省略机制</a:t>
            </a:r>
            <a:endParaRPr lang="zh-CN" sz="1725" dirty="0"/>
          </a:p>
        </p:txBody>
      </p:sp>
      <p:sp>
        <p:nvSpPr>
          <p:cNvPr id="31" name="T11/card/region-2/heading-rule"/>
          <p:cNvSpPr/>
          <p:nvPr/>
        </p:nvSpPr>
        <p:spPr>
          <a:xfrm>
            <a:off x="4305300" y="3352800"/>
            <a:ext cx="74295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2" name="T11/card/region-2/heading-mark"/>
          <p:cNvSpPr/>
          <p:nvPr/>
        </p:nvSpPr>
        <p:spPr>
          <a:xfrm>
            <a:off x="4305300" y="33528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33" name="T11/card/region-2/title"/>
          <p:cNvSpPr/>
          <p:nvPr/>
        </p:nvSpPr>
        <p:spPr>
          <a:xfrm>
            <a:off x="4305300" y="3009900"/>
            <a:ext cx="74295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更新规则</a:t>
            </a:r>
            <a:endParaRPr lang="zh-CN" sz="1875" dirty="0"/>
          </a:p>
        </p:txBody>
      </p:sp>
      <p:sp>
        <p:nvSpPr>
          <p:cNvPr id="34" name="T11/card/region-2/body"/>
          <p:cNvSpPr/>
          <p:nvPr/>
        </p:nvSpPr>
        <p:spPr>
          <a:xfrm>
            <a:off x="4305300" y="3486150"/>
            <a:ext cx="7429500" cy="876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说明批次、频率与停止条件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区分训练更新和测试时的行为</a:t>
            </a:r>
            <a:endParaRPr lang="zh-CN" sz="1800" dirty="0"/>
          </a:p>
        </p:txBody>
      </p:sp>
      <p:sp>
        <p:nvSpPr>
          <p:cNvPr id="35" name="T11/card/region-3/frame"/>
          <p:cNvSpPr/>
          <p:nvPr/>
        </p:nvSpPr>
        <p:spPr>
          <a:xfrm>
            <a:off x="4305300" y="4724400"/>
            <a:ext cx="7429500" cy="12954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6" name="T11/card/region-3/tab"/>
          <p:cNvSpPr/>
          <p:nvPr/>
        </p:nvSpPr>
        <p:spPr>
          <a:xfrm>
            <a:off x="4419600" y="4610100"/>
            <a:ext cx="1866900" cy="320040"/>
          </a:xfrm>
          <a:prstGeom prst="rect">
            <a:avLst/>
          </a:prstGeom>
          <a:solidFill>
            <a:srgbClr val="355D8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11/card/region-3/title"/>
          <p:cNvSpPr/>
          <p:nvPr/>
        </p:nvSpPr>
        <p:spPr>
          <a:xfrm>
            <a:off x="4524375" y="4638675"/>
            <a:ext cx="16573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假设与计算条件</a:t>
            </a:r>
            <a:endParaRPr lang="zh-CN" sz="1800" dirty="0"/>
          </a:p>
        </p:txBody>
      </p:sp>
      <p:sp>
        <p:nvSpPr>
          <p:cNvPr id="38" name="T11/card/region-3/body"/>
          <p:cNvSpPr/>
          <p:nvPr/>
        </p:nvSpPr>
        <p:spPr>
          <a:xfrm>
            <a:off x="4438650" y="5073015"/>
            <a:ext cx="7162800" cy="8515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列出独立性、可观测性与稳定性假设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报告超参数、随机种子和预算</a:t>
            </a:r>
            <a:endParaRPr lang="zh-CN" sz="1725" dirty="0"/>
          </a:p>
        </p:txBody>
      </p:sp>
      <p:sp>
        <p:nvSpPr>
          <p:cNvPr id="39" name="T11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2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2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 / 48</a:t>
            </a:r>
            <a:endParaRPr lang="zh-CN" sz="1050" dirty="0"/>
          </a:p>
        </p:txBody>
      </p:sp>
      <p:sp>
        <p:nvSpPr>
          <p:cNvPr id="4" name="T12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12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目标函数与约束分解</a:t>
            </a:r>
            <a:endParaRPr lang="zh-CN" sz="2550" dirty="0"/>
          </a:p>
        </p:txBody>
      </p:sp>
      <p:sp>
        <p:nvSpPr>
          <p:cNvPr id="6" name="T12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12/card/region-1/frame"/>
          <p:cNvSpPr/>
          <p:nvPr/>
        </p:nvSpPr>
        <p:spPr>
          <a:xfrm>
            <a:off x="457200" y="1352550"/>
            <a:ext cx="7296150" cy="14668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12/card/region-1/heading-fill"/>
          <p:cNvSpPr/>
          <p:nvPr/>
        </p:nvSpPr>
        <p:spPr>
          <a:xfrm>
            <a:off x="466725" y="1362075"/>
            <a:ext cx="72771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12/card/region-1/heading-rule"/>
          <p:cNvSpPr/>
          <p:nvPr/>
        </p:nvSpPr>
        <p:spPr>
          <a:xfrm>
            <a:off x="457200" y="1733550"/>
            <a:ext cx="72961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12/card/region-1/title"/>
          <p:cNvSpPr/>
          <p:nvPr/>
        </p:nvSpPr>
        <p:spPr>
          <a:xfrm>
            <a:off x="581025" y="1409700"/>
            <a:ext cx="70485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优化目标</a:t>
            </a:r>
            <a:endParaRPr lang="zh-CN" sz="1800" dirty="0"/>
          </a:p>
        </p:txBody>
      </p:sp>
      <p:sp>
        <p:nvSpPr>
          <p:cNvPr id="11" name="T12/card/region-1/body"/>
          <p:cNvSpPr/>
          <p:nvPr/>
        </p:nvSpPr>
        <p:spPr>
          <a:xfrm>
            <a:off x="590550" y="1847850"/>
            <a:ext cx="7029450" cy="876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示例：min L = Ldata + λ Lregularizer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替换为原论文公式并解释每一项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确认优化目标与评价指标的关系</a:t>
            </a:r>
            <a:endParaRPr lang="zh-CN" sz="1725" dirty="0"/>
          </a:p>
        </p:txBody>
      </p:sp>
      <p:sp>
        <p:nvSpPr>
          <p:cNvPr id="12" name="T12/card/region-2/heading-rule"/>
          <p:cNvSpPr/>
          <p:nvPr/>
        </p:nvSpPr>
        <p:spPr>
          <a:xfrm>
            <a:off x="457200" y="3390900"/>
            <a:ext cx="72961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3" name="T12/card/region-2/heading-mark"/>
          <p:cNvSpPr/>
          <p:nvPr/>
        </p:nvSpPr>
        <p:spPr>
          <a:xfrm>
            <a:off x="457200" y="33909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14" name="T12/card/region-2/title"/>
          <p:cNvSpPr/>
          <p:nvPr/>
        </p:nvSpPr>
        <p:spPr>
          <a:xfrm>
            <a:off x="457200" y="3048000"/>
            <a:ext cx="72961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约束集合</a:t>
            </a:r>
            <a:endParaRPr lang="zh-CN" sz="1875" dirty="0"/>
          </a:p>
        </p:txBody>
      </p:sp>
      <p:sp>
        <p:nvSpPr>
          <p:cNvPr id="15" name="T12/card/region-2/body"/>
          <p:cNvSpPr/>
          <p:nvPr/>
        </p:nvSpPr>
        <p:spPr>
          <a:xfrm>
            <a:off x="457200" y="3524250"/>
            <a:ext cx="729615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示例：g(x) ≤ 0，a_t ∈ A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说明约束作用对象与违反代价</a:t>
            </a:r>
            <a:endParaRPr lang="zh-CN" sz="1800" dirty="0"/>
          </a:p>
        </p:txBody>
      </p:sp>
      <p:sp>
        <p:nvSpPr>
          <p:cNvPr id="16" name="T12/card/region-3/title"/>
          <p:cNvSpPr/>
          <p:nvPr/>
        </p:nvSpPr>
        <p:spPr>
          <a:xfrm>
            <a:off x="457200" y="4552950"/>
            <a:ext cx="72961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求解与评价</a:t>
            </a:r>
            <a:endParaRPr lang="zh-CN" sz="1875" dirty="0"/>
          </a:p>
        </p:txBody>
      </p:sp>
      <p:sp>
        <p:nvSpPr>
          <p:cNvPr id="17" name="T12/card/region-3/body"/>
          <p:cNvSpPr/>
          <p:nvPr/>
        </p:nvSpPr>
        <p:spPr>
          <a:xfrm>
            <a:off x="457200" y="5000625"/>
            <a:ext cx="7296150" cy="1019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求解器负责怎样的搜索或更新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独立测试怎样估计结果与不确定性</a:t>
            </a:r>
            <a:endParaRPr lang="zh-CN" sz="1800" dirty="0"/>
          </a:p>
        </p:txBody>
      </p:sp>
      <p:sp>
        <p:nvSpPr>
          <p:cNvPr id="18" name="T12/card/region-4/base-rule"/>
          <p:cNvSpPr/>
          <p:nvPr/>
        </p:nvSpPr>
        <p:spPr>
          <a:xfrm>
            <a:off x="8096250" y="3600450"/>
            <a:ext cx="36385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9" name="T12/card/region-4/side-mark"/>
          <p:cNvSpPr/>
          <p:nvPr/>
        </p:nvSpPr>
        <p:spPr>
          <a:xfrm>
            <a:off x="8096250" y="137160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12/card/region-4/title"/>
          <p:cNvSpPr/>
          <p:nvPr/>
        </p:nvSpPr>
        <p:spPr>
          <a:xfrm>
            <a:off x="8248650" y="1371600"/>
            <a:ext cx="34861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符号与单位</a:t>
            </a:r>
            <a:endParaRPr lang="zh-CN" sz="1800" dirty="0"/>
          </a:p>
        </p:txBody>
      </p:sp>
      <p:sp>
        <p:nvSpPr>
          <p:cNvPr id="21" name="T12/card/region-4/body"/>
          <p:cNvSpPr/>
          <p:nvPr/>
        </p:nvSpPr>
        <p:spPr>
          <a:xfrm>
            <a:off x="8248650" y="1790700"/>
            <a:ext cx="3486150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统一状态、动作、参数与损失符号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所有数值项保留量纲与归一化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避免同一符号代表不同物理量</a:t>
            </a:r>
            <a:endParaRPr lang="zh-CN" sz="1725" dirty="0"/>
          </a:p>
        </p:txBody>
      </p:sp>
      <p:sp>
        <p:nvSpPr>
          <p:cNvPr id="22" name="T12/card/region-5/frame"/>
          <p:cNvSpPr/>
          <p:nvPr/>
        </p:nvSpPr>
        <p:spPr>
          <a:xfrm>
            <a:off x="8096250" y="3943350"/>
            <a:ext cx="3638550" cy="21145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3" name="T12/card/region-5/tab"/>
          <p:cNvSpPr/>
          <p:nvPr/>
        </p:nvSpPr>
        <p:spPr>
          <a:xfrm>
            <a:off x="8210550" y="3829050"/>
            <a:ext cx="1638300" cy="320040"/>
          </a:xfrm>
          <a:prstGeom prst="rect">
            <a:avLst/>
          </a:prstGeom>
          <a:solidFill>
            <a:srgbClr val="355D8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12/card/region-5/title"/>
          <p:cNvSpPr/>
          <p:nvPr/>
        </p:nvSpPr>
        <p:spPr>
          <a:xfrm>
            <a:off x="8315325" y="3857625"/>
            <a:ext cx="14287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可识别性假设</a:t>
            </a:r>
            <a:endParaRPr lang="zh-CN" sz="1800" dirty="0"/>
          </a:p>
        </p:txBody>
      </p:sp>
      <p:sp>
        <p:nvSpPr>
          <p:cNvPr id="25" name="T12/card/region-5/body"/>
          <p:cNvSpPr/>
          <p:nvPr/>
        </p:nvSpPr>
        <p:spPr>
          <a:xfrm>
            <a:off x="8229600" y="4291965"/>
            <a:ext cx="3371850" cy="16706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解释哪些参数能由观测识别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列出需要固定或外部提供的条件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用消融或敏感性分析检查解释</a:t>
            </a:r>
            <a:endParaRPr lang="zh-CN" sz="1725" dirty="0"/>
          </a:p>
        </p:txBody>
      </p:sp>
      <p:sp>
        <p:nvSpPr>
          <p:cNvPr id="26" name="T12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3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3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 / 48</a:t>
            </a:r>
            <a:endParaRPr lang="zh-CN" sz="1050" dirty="0"/>
          </a:p>
        </p:txBody>
      </p:sp>
      <p:sp>
        <p:nvSpPr>
          <p:cNvPr id="4" name="T13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13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样本单位与重复测量</a:t>
            </a:r>
            <a:endParaRPr lang="zh-CN" sz="2550" dirty="0"/>
          </a:p>
        </p:txBody>
      </p:sp>
      <p:sp>
        <p:nvSpPr>
          <p:cNvPr id="6" name="T13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13/edge:0"/>
          <p:cNvSpPr/>
          <p:nvPr/>
        </p:nvSpPr>
        <p:spPr>
          <a:xfrm>
            <a:off x="2533650" y="2171700"/>
            <a:ext cx="5905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8" name="T13/edge:1"/>
          <p:cNvSpPr/>
          <p:nvPr/>
        </p:nvSpPr>
        <p:spPr>
          <a:xfrm>
            <a:off x="5200650" y="2171700"/>
            <a:ext cx="5905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9" name="T13/edge:2"/>
          <p:cNvSpPr/>
          <p:nvPr/>
        </p:nvSpPr>
        <p:spPr>
          <a:xfrm>
            <a:off x="4162425" y="2705100"/>
            <a:ext cx="0" cy="6286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0" name="T13/node:step-1:frame"/>
          <p:cNvSpPr/>
          <p:nvPr/>
        </p:nvSpPr>
        <p:spPr>
          <a:xfrm>
            <a:off x="457200" y="1638300"/>
            <a:ext cx="2076450" cy="10668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1" name="T13/node:step-1:heading-rule"/>
          <p:cNvSpPr/>
          <p:nvPr/>
        </p:nvSpPr>
        <p:spPr>
          <a:xfrm>
            <a:off x="457200" y="1638300"/>
            <a:ext cx="20764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2" name="T13/node:step-1:label"/>
          <p:cNvSpPr/>
          <p:nvPr/>
        </p:nvSpPr>
        <p:spPr>
          <a:xfrm>
            <a:off x="571500" y="1733550"/>
            <a:ext cx="18478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目标总体</a:t>
            </a:r>
            <a:endParaRPr lang="zh-CN" sz="1800" dirty="0"/>
          </a:p>
        </p:txBody>
      </p:sp>
      <p:sp>
        <p:nvSpPr>
          <p:cNvPr id="13" name="T13/node:step-1:detail"/>
          <p:cNvSpPr/>
          <p:nvPr/>
        </p:nvSpPr>
        <p:spPr>
          <a:xfrm>
            <a:off x="571500" y="2047875"/>
            <a:ext cx="184785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4" name="T13/node:step-2:frame"/>
          <p:cNvSpPr/>
          <p:nvPr/>
        </p:nvSpPr>
        <p:spPr>
          <a:xfrm>
            <a:off x="3124200" y="1638300"/>
            <a:ext cx="2076450" cy="10668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5" name="T13/node:step-2:heading-rule"/>
          <p:cNvSpPr/>
          <p:nvPr/>
        </p:nvSpPr>
        <p:spPr>
          <a:xfrm>
            <a:off x="3124200" y="1638300"/>
            <a:ext cx="20764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6" name="T13/node:step-2:label"/>
          <p:cNvSpPr/>
          <p:nvPr/>
        </p:nvSpPr>
        <p:spPr>
          <a:xfrm>
            <a:off x="3238500" y="1733550"/>
            <a:ext cx="18478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独立实验单位</a:t>
            </a:r>
            <a:endParaRPr lang="zh-CN" sz="1800" dirty="0"/>
          </a:p>
        </p:txBody>
      </p:sp>
      <p:sp>
        <p:nvSpPr>
          <p:cNvPr id="17" name="T13/node:step-2:detail"/>
          <p:cNvSpPr/>
          <p:nvPr/>
        </p:nvSpPr>
        <p:spPr>
          <a:xfrm>
            <a:off x="3238500" y="2047875"/>
            <a:ext cx="184785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8" name="T13/node:step-3:frame"/>
          <p:cNvSpPr/>
          <p:nvPr/>
        </p:nvSpPr>
        <p:spPr>
          <a:xfrm>
            <a:off x="5791200" y="1638300"/>
            <a:ext cx="2076450" cy="10668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9" name="T13/node:step-3:heading-rule"/>
          <p:cNvSpPr/>
          <p:nvPr/>
        </p:nvSpPr>
        <p:spPr>
          <a:xfrm>
            <a:off x="5791200" y="1638300"/>
            <a:ext cx="20764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0" name="T13/node:step-3:label"/>
          <p:cNvSpPr/>
          <p:nvPr/>
        </p:nvSpPr>
        <p:spPr>
          <a:xfrm>
            <a:off x="5905500" y="1733550"/>
            <a:ext cx="18478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分组与处理</a:t>
            </a:r>
            <a:endParaRPr lang="zh-CN" sz="1800" dirty="0"/>
          </a:p>
        </p:txBody>
      </p:sp>
      <p:sp>
        <p:nvSpPr>
          <p:cNvPr id="21" name="T13/node:step-3:detail"/>
          <p:cNvSpPr/>
          <p:nvPr/>
        </p:nvSpPr>
        <p:spPr>
          <a:xfrm>
            <a:off x="5905500" y="2047875"/>
            <a:ext cx="184785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2" name="T13/node:step-4:frame"/>
          <p:cNvSpPr/>
          <p:nvPr/>
        </p:nvSpPr>
        <p:spPr>
          <a:xfrm>
            <a:off x="3124200" y="3333750"/>
            <a:ext cx="2076450" cy="8953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3" name="T13/node:step-4:heading-rule"/>
          <p:cNvSpPr/>
          <p:nvPr/>
        </p:nvSpPr>
        <p:spPr>
          <a:xfrm>
            <a:off x="3124200" y="3333750"/>
            <a:ext cx="20764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4" name="T13/node:step-4:label"/>
          <p:cNvSpPr/>
          <p:nvPr/>
        </p:nvSpPr>
        <p:spPr>
          <a:xfrm>
            <a:off x="3238500" y="3648075"/>
            <a:ext cx="18478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重复测量</a:t>
            </a:r>
            <a:endParaRPr lang="zh-CN" sz="1800" dirty="0"/>
          </a:p>
        </p:txBody>
      </p:sp>
      <p:sp>
        <p:nvSpPr>
          <p:cNvPr id="25" name="T13/card/region-1/frame"/>
          <p:cNvSpPr/>
          <p:nvPr/>
        </p:nvSpPr>
        <p:spPr>
          <a:xfrm>
            <a:off x="8229600" y="1371600"/>
            <a:ext cx="3505200" cy="20574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6" name="T13/card/region-1/heading-fill"/>
          <p:cNvSpPr/>
          <p:nvPr/>
        </p:nvSpPr>
        <p:spPr>
          <a:xfrm>
            <a:off x="8239125" y="1381125"/>
            <a:ext cx="34861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13/card/region-1/heading-rule"/>
          <p:cNvSpPr/>
          <p:nvPr/>
        </p:nvSpPr>
        <p:spPr>
          <a:xfrm>
            <a:off x="8229600" y="1752600"/>
            <a:ext cx="35052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8" name="T13/card/region-1/title"/>
          <p:cNvSpPr/>
          <p:nvPr/>
        </p:nvSpPr>
        <p:spPr>
          <a:xfrm>
            <a:off x="8353425" y="1428750"/>
            <a:ext cx="32575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独立样本单位</a:t>
            </a:r>
            <a:endParaRPr lang="zh-CN" sz="1800" dirty="0"/>
          </a:p>
        </p:txBody>
      </p:sp>
      <p:sp>
        <p:nvSpPr>
          <p:cNvPr id="29" name="T13/card/region-1/body"/>
          <p:cNvSpPr/>
          <p:nvPr/>
        </p:nvSpPr>
        <p:spPr>
          <a:xfrm>
            <a:off x="8362950" y="1866900"/>
            <a:ext cx="3238500" cy="1466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填写真正接受独立处理的个体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随机种子、图像和轨迹分别计数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用实验设计判断统计独立性</a:t>
            </a:r>
            <a:endParaRPr lang="zh-CN" sz="1725" dirty="0"/>
          </a:p>
        </p:txBody>
      </p:sp>
      <p:sp>
        <p:nvSpPr>
          <p:cNvPr id="30" name="T13/card/region-2/base-rule"/>
          <p:cNvSpPr/>
          <p:nvPr/>
        </p:nvSpPr>
        <p:spPr>
          <a:xfrm>
            <a:off x="8229600" y="6038850"/>
            <a:ext cx="35052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31" name="T13/card/region-2/side-mark"/>
          <p:cNvSpPr/>
          <p:nvPr/>
        </p:nvSpPr>
        <p:spPr>
          <a:xfrm>
            <a:off x="8229600" y="369570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13/card/region-2/title"/>
          <p:cNvSpPr/>
          <p:nvPr/>
        </p:nvSpPr>
        <p:spPr>
          <a:xfrm>
            <a:off x="8382000" y="3695700"/>
            <a:ext cx="335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重复测量结构</a:t>
            </a:r>
            <a:endParaRPr lang="zh-CN" sz="1800" dirty="0"/>
          </a:p>
        </p:txBody>
      </p:sp>
      <p:sp>
        <p:nvSpPr>
          <p:cNvPr id="33" name="T13/card/region-2/body"/>
          <p:cNvSpPr/>
          <p:nvPr/>
        </p:nvSpPr>
        <p:spPr>
          <a:xfrm>
            <a:off x="8382000" y="4114800"/>
            <a:ext cx="335280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填写每个个体的时间点与采样频率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说明分层或相关观测的处理方法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缺失测量不应扩大独立样本数</a:t>
            </a:r>
            <a:endParaRPr lang="zh-CN" sz="1725" dirty="0"/>
          </a:p>
        </p:txBody>
      </p:sp>
      <p:sp>
        <p:nvSpPr>
          <p:cNvPr id="34" name="T13/card/region-3/heading-rule"/>
          <p:cNvSpPr/>
          <p:nvPr/>
        </p:nvSpPr>
        <p:spPr>
          <a:xfrm>
            <a:off x="457200" y="4991100"/>
            <a:ext cx="74104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5" name="T13/card/region-3/heading-mark"/>
          <p:cNvSpPr/>
          <p:nvPr/>
        </p:nvSpPr>
        <p:spPr>
          <a:xfrm>
            <a:off x="457200" y="4991100"/>
            <a:ext cx="342900" cy="0"/>
          </a:xfrm>
          <a:prstGeom prst="line">
            <a:avLst/>
          </a:prstGeom>
          <a:noFill/>
          <a:ln w="17145">
            <a:solidFill>
              <a:srgbClr val="903543"/>
            </a:solidFill>
            <a:prstDash val="solid"/>
          </a:ln>
        </p:spPr>
      </p:sp>
      <p:sp>
        <p:nvSpPr>
          <p:cNvPr id="36" name="T13/card/region-3/title"/>
          <p:cNvSpPr/>
          <p:nvPr/>
        </p:nvSpPr>
        <p:spPr>
          <a:xfrm>
            <a:off x="457200" y="4648200"/>
            <a:ext cx="74104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9035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纳入排除与缺失值</a:t>
            </a:r>
            <a:endParaRPr lang="zh-CN" sz="1875" dirty="0"/>
          </a:p>
        </p:txBody>
      </p:sp>
      <p:sp>
        <p:nvSpPr>
          <p:cNvPr id="37" name="T13/card/region-3/body"/>
          <p:cNvSpPr/>
          <p:nvPr/>
        </p:nvSpPr>
        <p:spPr>
          <a:xfrm>
            <a:off x="457200" y="5124450"/>
            <a:ext cx="7410450" cy="876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预先写明纳入、排除和质量控制规则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报告各阶段样本量与缺失原因</a:t>
            </a:r>
            <a:endParaRPr lang="zh-CN" sz="1800" dirty="0"/>
          </a:p>
        </p:txBody>
      </p:sp>
      <p:sp>
        <p:nvSpPr>
          <p:cNvPr id="38" name="T13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4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4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14 / 48</a:t>
            </a:r>
            <a:endParaRPr lang="zh-CN" sz="1050" dirty="0"/>
          </a:p>
        </p:txBody>
      </p:sp>
      <p:sp>
        <p:nvSpPr>
          <p:cNvPr id="4" name="T14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14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实验因子与处理组合</a:t>
            </a:r>
            <a:endParaRPr lang="zh-CN" sz="2550" dirty="0"/>
          </a:p>
        </p:txBody>
      </p:sp>
      <p:sp>
        <p:nvSpPr>
          <p:cNvPr id="6" name="T14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14/takeaway"/>
          <p:cNvSpPr/>
          <p:nvPr/>
        </p:nvSpPr>
        <p:spPr>
          <a:xfrm>
            <a:off x="457200" y="5676900"/>
            <a:ext cx="758190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解释必须由本页证据支持，并保留样本、对照与适用条件。</a:t>
            </a:r>
            <a:endParaRPr lang="zh-CN" sz="1800" dirty="0"/>
          </a:p>
        </p:txBody>
      </p:sp>
      <p:graphicFrame>
        <p:nvGraphicFramePr>
          <p:cNvPr id="15" name="T14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6850"/>
          <a:ext cx="7581900" cy="2270379"/>
        </p:xfrm>
        <a:graphic>
          <a:graphicData uri="http://schemas.openxmlformats.org/drawingml/2006/table">
            <a:tbl>
              <a:tblPr/>
              <a:tblGrid>
                <a:gridCol w="1895475"/>
                <a:gridCol w="1895475"/>
                <a:gridCol w="1895475"/>
                <a:gridCol w="1895475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因子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水平 1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水平 2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设计说明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处理强度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低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高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填写实际水平与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单位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环境条件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E1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E2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说明独立重复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时间阶段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早期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后期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是否为重复测量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随机化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按区组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组内分配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记录分配单位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14/table-caption"/>
          <p:cNvSpPr/>
          <p:nvPr/>
        </p:nvSpPr>
        <p:spPr>
          <a:xfrm>
            <a:off x="457200" y="3803904"/>
            <a:ext cx="75819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结构占位 / 合成数据，必须替换后才能用于学术结论</a:t>
            </a:r>
            <a:endParaRPr lang="zh-CN" sz="1350" dirty="0"/>
          </a:p>
        </p:txBody>
      </p:sp>
      <p:sp>
        <p:nvSpPr>
          <p:cNvPr id="10" name="T14/card/region-1/frame"/>
          <p:cNvSpPr/>
          <p:nvPr/>
        </p:nvSpPr>
        <p:spPr>
          <a:xfrm>
            <a:off x="8362950" y="1390650"/>
            <a:ext cx="3371850" cy="21145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1" name="T14/card/region-1/heading-fill"/>
          <p:cNvSpPr/>
          <p:nvPr/>
        </p:nvSpPr>
        <p:spPr>
          <a:xfrm>
            <a:off x="8372475" y="1400175"/>
            <a:ext cx="33528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14/card/region-1/heading-rule"/>
          <p:cNvSpPr/>
          <p:nvPr/>
        </p:nvSpPr>
        <p:spPr>
          <a:xfrm>
            <a:off x="8362950" y="1771650"/>
            <a:ext cx="33718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3" name="T14/card/region-1/title"/>
          <p:cNvSpPr/>
          <p:nvPr/>
        </p:nvSpPr>
        <p:spPr>
          <a:xfrm>
            <a:off x="8486775" y="1447800"/>
            <a:ext cx="31242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随机化与重复</a:t>
            </a:r>
            <a:endParaRPr lang="zh-CN" sz="1800" dirty="0"/>
          </a:p>
        </p:txBody>
      </p:sp>
      <p:sp>
        <p:nvSpPr>
          <p:cNvPr id="14" name="T14/card/region-1/body"/>
          <p:cNvSpPr/>
          <p:nvPr/>
        </p:nvSpPr>
        <p:spPr>
          <a:xfrm>
            <a:off x="8496300" y="1885950"/>
            <a:ext cx="310515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说明处理分配与区组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写清每组独立重复数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将技术重复与生物重复区分</a:t>
            </a:r>
            <a:endParaRPr lang="zh-CN" sz="1725" dirty="0"/>
          </a:p>
        </p:txBody>
      </p:sp>
      <p:sp>
        <p:nvSpPr>
          <p:cNvPr id="15" name="T14/card/region-2/heading-rule"/>
          <p:cNvSpPr/>
          <p:nvPr/>
        </p:nvSpPr>
        <p:spPr>
          <a:xfrm>
            <a:off x="8362950" y="4095750"/>
            <a:ext cx="33718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6" name="T14/card/region-2/heading-mark"/>
          <p:cNvSpPr/>
          <p:nvPr/>
        </p:nvSpPr>
        <p:spPr>
          <a:xfrm>
            <a:off x="8362950" y="409575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17" name="T14/card/region-2/title"/>
          <p:cNvSpPr/>
          <p:nvPr/>
        </p:nvSpPr>
        <p:spPr>
          <a:xfrm>
            <a:off x="8362950" y="3752850"/>
            <a:ext cx="33718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效应解释</a:t>
            </a:r>
            <a:endParaRPr lang="zh-CN" sz="1875" dirty="0"/>
          </a:p>
        </p:txBody>
      </p:sp>
      <p:sp>
        <p:nvSpPr>
          <p:cNvPr id="18" name="T14/card/region-2/body"/>
          <p:cNvSpPr/>
          <p:nvPr/>
        </p:nvSpPr>
        <p:spPr>
          <a:xfrm>
            <a:off x="8362950" y="4229100"/>
            <a:ext cx="3371850" cy="1771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分别解释主效应与交互作用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比较应固定其他因素的条件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多次比较的处理需在页上交代</a:t>
            </a:r>
            <a:endParaRPr lang="zh-CN" sz="1800" dirty="0"/>
          </a:p>
        </p:txBody>
      </p:sp>
      <p:sp>
        <p:nvSpPr>
          <p:cNvPr id="19" name="T14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5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5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 / 48</a:t>
            </a:r>
            <a:endParaRPr lang="zh-CN" sz="1050" dirty="0"/>
          </a:p>
        </p:txBody>
      </p:sp>
      <p:sp>
        <p:nvSpPr>
          <p:cNvPr id="4" name="T15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15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训练验证与独立测试</a:t>
            </a:r>
            <a:endParaRPr lang="zh-CN" sz="2550" dirty="0"/>
          </a:p>
        </p:txBody>
      </p:sp>
      <p:sp>
        <p:nvSpPr>
          <p:cNvPr id="6" name="T15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15/panel:0:frame"/>
          <p:cNvSpPr/>
          <p:nvPr/>
        </p:nvSpPr>
        <p:spPr>
          <a:xfrm>
            <a:off x="457200" y="1314450"/>
            <a:ext cx="11277600" cy="24574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15/panel:0:heading-fill"/>
          <p:cNvSpPr/>
          <p:nvPr/>
        </p:nvSpPr>
        <p:spPr>
          <a:xfrm>
            <a:off x="466725" y="1323975"/>
            <a:ext cx="1125855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15/panel:0:heading-rule"/>
          <p:cNvSpPr/>
          <p:nvPr/>
        </p:nvSpPr>
        <p:spPr>
          <a:xfrm>
            <a:off x="457200" y="1704975"/>
            <a:ext cx="112776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15/panel:0:title"/>
          <p:cNvSpPr/>
          <p:nvPr/>
        </p:nvSpPr>
        <p:spPr>
          <a:xfrm>
            <a:off x="581025" y="1371600"/>
            <a:ext cx="110299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各集合承担不同职责</a:t>
            </a:r>
            <a:endParaRPr lang="zh-CN" sz="1800" dirty="0"/>
          </a:p>
        </p:txBody>
      </p:sp>
      <p:sp>
        <p:nvSpPr>
          <p:cNvPr id="11" name="T15/edge:0:segment:0"/>
          <p:cNvSpPr/>
          <p:nvPr/>
        </p:nvSpPr>
        <p:spPr>
          <a:xfrm>
            <a:off x="6096000" y="2495550"/>
            <a:ext cx="0" cy="219075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2" name="T15/edge:0:segment:1"/>
          <p:cNvSpPr/>
          <p:nvPr/>
        </p:nvSpPr>
        <p:spPr>
          <a:xfrm flipH="1">
            <a:off x="2171700" y="2714625"/>
            <a:ext cx="39243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3" name="T15/edge:0:segment:2"/>
          <p:cNvSpPr/>
          <p:nvPr/>
        </p:nvSpPr>
        <p:spPr>
          <a:xfrm>
            <a:off x="2171700" y="2714625"/>
            <a:ext cx="0" cy="219075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4" name="T15/edge:1"/>
          <p:cNvSpPr/>
          <p:nvPr/>
        </p:nvSpPr>
        <p:spPr>
          <a:xfrm>
            <a:off x="6096000" y="2495550"/>
            <a:ext cx="0" cy="4381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5" name="T15/edge:2:segment:0"/>
          <p:cNvSpPr/>
          <p:nvPr/>
        </p:nvSpPr>
        <p:spPr>
          <a:xfrm>
            <a:off x="6096000" y="2495550"/>
            <a:ext cx="0" cy="219075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6" name="T15/edge:2:segment:1"/>
          <p:cNvSpPr/>
          <p:nvPr/>
        </p:nvSpPr>
        <p:spPr>
          <a:xfrm>
            <a:off x="6096000" y="2714625"/>
            <a:ext cx="39243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7" name="T15/edge:2:segment:2"/>
          <p:cNvSpPr/>
          <p:nvPr/>
        </p:nvSpPr>
        <p:spPr>
          <a:xfrm>
            <a:off x="10020300" y="2714625"/>
            <a:ext cx="0" cy="219075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8" name="T15/node:step-1:frame"/>
          <p:cNvSpPr/>
          <p:nvPr/>
        </p:nvSpPr>
        <p:spPr>
          <a:xfrm>
            <a:off x="3333750" y="1809750"/>
            <a:ext cx="5524500" cy="6858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9" name="T15/node:step-1:heading-rule"/>
          <p:cNvSpPr/>
          <p:nvPr/>
        </p:nvSpPr>
        <p:spPr>
          <a:xfrm>
            <a:off x="3333750" y="1809750"/>
            <a:ext cx="55245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0" name="T15/node:step-1:label"/>
          <p:cNvSpPr/>
          <p:nvPr/>
        </p:nvSpPr>
        <p:spPr>
          <a:xfrm>
            <a:off x="3448050" y="2019300"/>
            <a:ext cx="52959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原始样本：按独立单位划分</a:t>
            </a:r>
            <a:endParaRPr lang="zh-CN" sz="1800" dirty="0"/>
          </a:p>
        </p:txBody>
      </p:sp>
      <p:sp>
        <p:nvSpPr>
          <p:cNvPr id="21" name="T15/node:step-2:frame"/>
          <p:cNvSpPr/>
          <p:nvPr/>
        </p:nvSpPr>
        <p:spPr>
          <a:xfrm>
            <a:off x="609600" y="2933700"/>
            <a:ext cx="3124200" cy="666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2" name="T15/node:step-2:heading-rule"/>
          <p:cNvSpPr/>
          <p:nvPr/>
        </p:nvSpPr>
        <p:spPr>
          <a:xfrm>
            <a:off x="609600" y="2933700"/>
            <a:ext cx="31242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3" name="T15/node:step-2:label"/>
          <p:cNvSpPr/>
          <p:nvPr/>
        </p:nvSpPr>
        <p:spPr>
          <a:xfrm>
            <a:off x="723900" y="3133725"/>
            <a:ext cx="2895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训练集</a:t>
            </a:r>
            <a:endParaRPr lang="zh-CN" sz="1800" dirty="0"/>
          </a:p>
        </p:txBody>
      </p:sp>
      <p:sp>
        <p:nvSpPr>
          <p:cNvPr id="24" name="T15/node:step-3:frame"/>
          <p:cNvSpPr/>
          <p:nvPr/>
        </p:nvSpPr>
        <p:spPr>
          <a:xfrm>
            <a:off x="4533900" y="2933700"/>
            <a:ext cx="3124200" cy="666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5" name="T15/node:step-3:heading-rule"/>
          <p:cNvSpPr/>
          <p:nvPr/>
        </p:nvSpPr>
        <p:spPr>
          <a:xfrm>
            <a:off x="4533900" y="2933700"/>
            <a:ext cx="31242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6" name="T15/node:step-3:label"/>
          <p:cNvSpPr/>
          <p:nvPr/>
        </p:nvSpPr>
        <p:spPr>
          <a:xfrm>
            <a:off x="4648200" y="3133725"/>
            <a:ext cx="2895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验证集</a:t>
            </a:r>
            <a:endParaRPr lang="zh-CN" sz="1800" dirty="0"/>
          </a:p>
        </p:txBody>
      </p:sp>
      <p:sp>
        <p:nvSpPr>
          <p:cNvPr id="27" name="T15/node:step-4:frame"/>
          <p:cNvSpPr/>
          <p:nvPr/>
        </p:nvSpPr>
        <p:spPr>
          <a:xfrm>
            <a:off x="8458200" y="2933700"/>
            <a:ext cx="3124200" cy="666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8" name="T15/node:step-4:heading-rule"/>
          <p:cNvSpPr/>
          <p:nvPr/>
        </p:nvSpPr>
        <p:spPr>
          <a:xfrm>
            <a:off x="8458200" y="2933700"/>
            <a:ext cx="31242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9" name="T15/node:step-4:label"/>
          <p:cNvSpPr/>
          <p:nvPr/>
        </p:nvSpPr>
        <p:spPr>
          <a:xfrm>
            <a:off x="8572500" y="3133725"/>
            <a:ext cx="2895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独立测试集</a:t>
            </a:r>
            <a:endParaRPr lang="zh-CN" sz="1800" dirty="0"/>
          </a:p>
        </p:txBody>
      </p:sp>
      <p:sp>
        <p:nvSpPr>
          <p:cNvPr id="30" name="T15/card/region-1/base-rule"/>
          <p:cNvSpPr/>
          <p:nvPr/>
        </p:nvSpPr>
        <p:spPr>
          <a:xfrm>
            <a:off x="457200" y="6038850"/>
            <a:ext cx="54864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31" name="T15/card/region-1/side-mark"/>
          <p:cNvSpPr/>
          <p:nvPr/>
        </p:nvSpPr>
        <p:spPr>
          <a:xfrm>
            <a:off x="457200" y="40195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15/card/region-1/title"/>
          <p:cNvSpPr/>
          <p:nvPr/>
        </p:nvSpPr>
        <p:spPr>
          <a:xfrm>
            <a:off x="609600" y="4019550"/>
            <a:ext cx="533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划分单位与留出条件</a:t>
            </a:r>
            <a:endParaRPr lang="zh-CN" sz="1800" dirty="0"/>
          </a:p>
        </p:txBody>
      </p:sp>
      <p:sp>
        <p:nvSpPr>
          <p:cNvPr id="33" name="T15/card/region-1/body"/>
          <p:cNvSpPr/>
          <p:nvPr/>
        </p:nvSpPr>
        <p:spPr>
          <a:xfrm>
            <a:off x="609600" y="4438650"/>
            <a:ext cx="5334000" cy="150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按个体、站点或年份划分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明确训练、验证与独立测试的职责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测试集不能参与特征或阈值选择</a:t>
            </a:r>
            <a:endParaRPr lang="zh-CN" sz="1725" dirty="0"/>
          </a:p>
        </p:txBody>
      </p:sp>
      <p:sp>
        <p:nvSpPr>
          <p:cNvPr id="34" name="T15/card/region-2/frame"/>
          <p:cNvSpPr/>
          <p:nvPr/>
        </p:nvSpPr>
        <p:spPr>
          <a:xfrm>
            <a:off x="6248400" y="4114800"/>
            <a:ext cx="5486400" cy="19240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5" name="T15/card/region-2/tab"/>
          <p:cNvSpPr/>
          <p:nvPr/>
        </p:nvSpPr>
        <p:spPr>
          <a:xfrm>
            <a:off x="6362700" y="4000500"/>
            <a:ext cx="16383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15/card/region-2/title"/>
          <p:cNvSpPr/>
          <p:nvPr/>
        </p:nvSpPr>
        <p:spPr>
          <a:xfrm>
            <a:off x="6467475" y="4029075"/>
            <a:ext cx="14287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信息泄漏检查</a:t>
            </a:r>
            <a:endParaRPr lang="zh-CN" sz="1800" dirty="0"/>
          </a:p>
        </p:txBody>
      </p:sp>
      <p:sp>
        <p:nvSpPr>
          <p:cNvPr id="37" name="T15/card/region-2/body"/>
          <p:cNvSpPr/>
          <p:nvPr/>
        </p:nvSpPr>
        <p:spPr>
          <a:xfrm>
            <a:off x="6381750" y="4463415"/>
            <a:ext cx="5219700" cy="1480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同一对象的重复观测不得跨集合泄漏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标准化、缺失填补应只拟合训练集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报告时序数据可见的信息范围</a:t>
            </a:r>
            <a:endParaRPr lang="zh-CN" sz="1725" dirty="0"/>
          </a:p>
        </p:txBody>
      </p:sp>
      <p:sp>
        <p:nvSpPr>
          <p:cNvPr id="38" name="T15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6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6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16 / 48</a:t>
            </a:r>
            <a:endParaRPr lang="zh-CN" sz="1050" dirty="0"/>
          </a:p>
        </p:txBody>
      </p:sp>
      <p:sp>
        <p:nvSpPr>
          <p:cNvPr id="4" name="T16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16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基线与公平对照</a:t>
            </a:r>
            <a:endParaRPr lang="zh-CN" sz="2550" dirty="0"/>
          </a:p>
        </p:txBody>
      </p:sp>
      <p:sp>
        <p:nvSpPr>
          <p:cNvPr id="6" name="T16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16/takeaway"/>
          <p:cNvSpPr/>
          <p:nvPr/>
        </p:nvSpPr>
        <p:spPr>
          <a:xfrm>
            <a:off x="457200" y="5867400"/>
            <a:ext cx="7848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统计口径、样本单位和适用条件需与原文一致</a:t>
            </a:r>
            <a:endParaRPr lang="zh-CN" sz="1800" dirty="0"/>
          </a:p>
        </p:txBody>
      </p:sp>
      <p:graphicFrame>
        <p:nvGraphicFramePr>
          <p:cNvPr id="17" name="T16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28750"/>
          <a:ext cx="7848600" cy="2403729"/>
        </p:xfrm>
        <a:graphic>
          <a:graphicData uri="http://schemas.openxmlformats.org/drawingml/2006/table">
            <a:tbl>
              <a:tblPr/>
              <a:tblGrid>
                <a:gridCol w="2616200"/>
                <a:gridCol w="2616200"/>
                <a:gridCol w="2616200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条件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基线流程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干预流程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观测数据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相同数据版本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相同数据版本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工具与参数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预先冻结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只修改指定模块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计算预算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统一上限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统一上限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人工干预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记录每次介入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记录每次介入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评价方法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同一盲评程序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同一盲评程序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16/table-caption"/>
          <p:cNvSpPr/>
          <p:nvPr/>
        </p:nvSpPr>
        <p:spPr>
          <a:xfrm>
            <a:off x="457200" y="3899154"/>
            <a:ext cx="7848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结构占位 / 合成数据，必须替换后才能用于学术结论</a:t>
            </a:r>
            <a:endParaRPr lang="zh-CN" sz="1350" dirty="0"/>
          </a:p>
        </p:txBody>
      </p:sp>
      <p:sp>
        <p:nvSpPr>
          <p:cNvPr id="10" name="T16/card/region-1/base-rule"/>
          <p:cNvSpPr/>
          <p:nvPr/>
        </p:nvSpPr>
        <p:spPr>
          <a:xfrm>
            <a:off x="8629650" y="3467100"/>
            <a:ext cx="31051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1" name="T16/card/region-1/side-mark"/>
          <p:cNvSpPr/>
          <p:nvPr/>
        </p:nvSpPr>
        <p:spPr>
          <a:xfrm>
            <a:off x="8629650" y="144780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16/card/region-1/title"/>
          <p:cNvSpPr/>
          <p:nvPr/>
        </p:nvSpPr>
        <p:spPr>
          <a:xfrm>
            <a:off x="8782050" y="1447800"/>
            <a:ext cx="29527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共同预算</a:t>
            </a:r>
            <a:endParaRPr lang="zh-CN" sz="1800" dirty="0"/>
          </a:p>
        </p:txBody>
      </p:sp>
      <p:sp>
        <p:nvSpPr>
          <p:cNvPr id="13" name="T16/card/region-1/body"/>
          <p:cNvSpPr/>
          <p:nvPr/>
        </p:nvSpPr>
        <p:spPr>
          <a:xfrm>
            <a:off x="8782050" y="1866900"/>
            <a:ext cx="2952750" cy="150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观测、工具与训练预算保持一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致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固定调参和人工干预次数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报告运行时间与失败成本</a:t>
            </a:r>
            <a:endParaRPr lang="zh-CN" sz="1725" dirty="0"/>
          </a:p>
        </p:txBody>
      </p:sp>
      <p:sp>
        <p:nvSpPr>
          <p:cNvPr id="14" name="T16/card/region-2/frame"/>
          <p:cNvSpPr/>
          <p:nvPr/>
        </p:nvSpPr>
        <p:spPr>
          <a:xfrm>
            <a:off x="8629650" y="3829050"/>
            <a:ext cx="3105150" cy="21526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5" name="T16/card/region-2/tab"/>
          <p:cNvSpPr/>
          <p:nvPr/>
        </p:nvSpPr>
        <p:spPr>
          <a:xfrm>
            <a:off x="8743950" y="371475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16/card/region-2/title"/>
          <p:cNvSpPr/>
          <p:nvPr/>
        </p:nvSpPr>
        <p:spPr>
          <a:xfrm>
            <a:off x="8848725" y="37433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额外信息</a:t>
            </a:r>
            <a:endParaRPr lang="zh-CN" sz="1800" dirty="0"/>
          </a:p>
        </p:txBody>
      </p:sp>
      <p:sp>
        <p:nvSpPr>
          <p:cNvPr id="17" name="T16/card/region-2/body"/>
          <p:cNvSpPr/>
          <p:nvPr/>
        </p:nvSpPr>
        <p:spPr>
          <a:xfrm>
            <a:off x="8763000" y="4177665"/>
            <a:ext cx="2838450" cy="17087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列出每种方法获得的新增信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息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通过单独对照区分信息优势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不能只据结果提升归因于结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构</a:t>
            </a:r>
            <a:endParaRPr lang="zh-CN" sz="1725" dirty="0"/>
          </a:p>
        </p:txBody>
      </p:sp>
      <p:sp>
        <p:nvSpPr>
          <p:cNvPr id="18" name="T16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7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7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17 / 48</a:t>
            </a:r>
            <a:endParaRPr lang="zh-CN" sz="1050" dirty="0"/>
          </a:p>
        </p:txBody>
      </p:sp>
      <p:sp>
        <p:nvSpPr>
          <p:cNvPr id="4" name="T17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17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测量到统计分析的链路</a:t>
            </a:r>
            <a:endParaRPr lang="zh-CN" sz="2550" dirty="0"/>
          </a:p>
        </p:txBody>
      </p:sp>
      <p:sp>
        <p:nvSpPr>
          <p:cNvPr id="6" name="T17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17/panel:0:frame"/>
          <p:cNvSpPr/>
          <p:nvPr/>
        </p:nvSpPr>
        <p:spPr>
          <a:xfrm>
            <a:off x="457200" y="1314450"/>
            <a:ext cx="7886700" cy="46101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17/panel:0:side-mark"/>
          <p:cNvSpPr/>
          <p:nvPr/>
        </p:nvSpPr>
        <p:spPr>
          <a:xfrm>
            <a:off x="466725" y="1390650"/>
            <a:ext cx="47625" cy="27622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17/panel:0:title"/>
          <p:cNvSpPr/>
          <p:nvPr/>
        </p:nvSpPr>
        <p:spPr>
          <a:xfrm>
            <a:off x="609600" y="1371600"/>
            <a:ext cx="75819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从观测到估计</a:t>
            </a:r>
            <a:endParaRPr lang="zh-CN" sz="1800" dirty="0"/>
          </a:p>
        </p:txBody>
      </p:sp>
      <p:sp>
        <p:nvSpPr>
          <p:cNvPr id="10" name="T17/edge:0"/>
          <p:cNvSpPr/>
          <p:nvPr/>
        </p:nvSpPr>
        <p:spPr>
          <a:xfrm>
            <a:off x="2876550" y="2362200"/>
            <a:ext cx="4953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1" name="T17/edge:1"/>
          <p:cNvSpPr/>
          <p:nvPr/>
        </p:nvSpPr>
        <p:spPr>
          <a:xfrm>
            <a:off x="5638800" y="2362200"/>
            <a:ext cx="4953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2" name="T17/edge:2"/>
          <p:cNvSpPr/>
          <p:nvPr/>
        </p:nvSpPr>
        <p:spPr>
          <a:xfrm>
            <a:off x="7162800" y="2857500"/>
            <a:ext cx="0" cy="16383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3" name="T17/edge:3"/>
          <p:cNvSpPr/>
          <p:nvPr/>
        </p:nvSpPr>
        <p:spPr>
          <a:xfrm flipH="1">
            <a:off x="5638800" y="4991100"/>
            <a:ext cx="4953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4" name="T17/edge:4"/>
          <p:cNvSpPr/>
          <p:nvPr/>
        </p:nvSpPr>
        <p:spPr>
          <a:xfrm flipH="1">
            <a:off x="2876550" y="4991100"/>
            <a:ext cx="4953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5" name="T17/node:step-1:frame"/>
          <p:cNvSpPr/>
          <p:nvPr/>
        </p:nvSpPr>
        <p:spPr>
          <a:xfrm>
            <a:off x="609600" y="1866900"/>
            <a:ext cx="2266950" cy="9906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6" name="T17/node:step-1:heading-rule"/>
          <p:cNvSpPr/>
          <p:nvPr/>
        </p:nvSpPr>
        <p:spPr>
          <a:xfrm>
            <a:off x="609600" y="1866900"/>
            <a:ext cx="22669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7" name="T17/node:step-1:label"/>
          <p:cNvSpPr/>
          <p:nvPr/>
        </p:nvSpPr>
        <p:spPr>
          <a:xfrm>
            <a:off x="723900" y="2228850"/>
            <a:ext cx="20383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实验对象</a:t>
            </a:r>
            <a:endParaRPr lang="zh-CN" sz="1800" dirty="0"/>
          </a:p>
        </p:txBody>
      </p:sp>
      <p:sp>
        <p:nvSpPr>
          <p:cNvPr id="18" name="T17/node:step-2:frame"/>
          <p:cNvSpPr/>
          <p:nvPr/>
        </p:nvSpPr>
        <p:spPr>
          <a:xfrm>
            <a:off x="3371850" y="1866900"/>
            <a:ext cx="2266950" cy="9906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9" name="T17/node:step-2:heading-rule"/>
          <p:cNvSpPr/>
          <p:nvPr/>
        </p:nvSpPr>
        <p:spPr>
          <a:xfrm>
            <a:off x="3371850" y="1866900"/>
            <a:ext cx="22669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0" name="T17/node:step-2:label"/>
          <p:cNvSpPr/>
          <p:nvPr/>
        </p:nvSpPr>
        <p:spPr>
          <a:xfrm>
            <a:off x="3486150" y="2228850"/>
            <a:ext cx="20383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传感与成像</a:t>
            </a:r>
            <a:endParaRPr lang="zh-CN" sz="1800" dirty="0"/>
          </a:p>
        </p:txBody>
      </p:sp>
      <p:sp>
        <p:nvSpPr>
          <p:cNvPr id="21" name="T17/node:step-3:frame"/>
          <p:cNvSpPr/>
          <p:nvPr/>
        </p:nvSpPr>
        <p:spPr>
          <a:xfrm>
            <a:off x="6134100" y="1866900"/>
            <a:ext cx="2057400" cy="9906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2" name="T17/node:step-3:heading-rule"/>
          <p:cNvSpPr/>
          <p:nvPr/>
        </p:nvSpPr>
        <p:spPr>
          <a:xfrm>
            <a:off x="6134100" y="1866900"/>
            <a:ext cx="20574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3" name="T17/node:step-3:label"/>
          <p:cNvSpPr/>
          <p:nvPr/>
        </p:nvSpPr>
        <p:spPr>
          <a:xfrm>
            <a:off x="6248400" y="2228850"/>
            <a:ext cx="18288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原始观测</a:t>
            </a:r>
            <a:endParaRPr lang="zh-CN" sz="1800" dirty="0"/>
          </a:p>
        </p:txBody>
      </p:sp>
      <p:sp>
        <p:nvSpPr>
          <p:cNvPr id="24" name="T17/node:step-4:frame"/>
          <p:cNvSpPr/>
          <p:nvPr/>
        </p:nvSpPr>
        <p:spPr>
          <a:xfrm>
            <a:off x="6134100" y="4495800"/>
            <a:ext cx="2057400" cy="9906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5" name="T17/node:step-4:heading-rule"/>
          <p:cNvSpPr/>
          <p:nvPr/>
        </p:nvSpPr>
        <p:spPr>
          <a:xfrm>
            <a:off x="6134100" y="4495800"/>
            <a:ext cx="20574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6" name="T17/node:step-4:label"/>
          <p:cNvSpPr/>
          <p:nvPr/>
        </p:nvSpPr>
        <p:spPr>
          <a:xfrm>
            <a:off x="6248400" y="4857750"/>
            <a:ext cx="18288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质量控制</a:t>
            </a:r>
            <a:endParaRPr lang="zh-CN" sz="1800" dirty="0"/>
          </a:p>
        </p:txBody>
      </p:sp>
      <p:sp>
        <p:nvSpPr>
          <p:cNvPr id="27" name="T17/node:step-5:frame"/>
          <p:cNvSpPr/>
          <p:nvPr/>
        </p:nvSpPr>
        <p:spPr>
          <a:xfrm>
            <a:off x="3371850" y="4495800"/>
            <a:ext cx="2266950" cy="9906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8" name="T17/node:step-5:heading-rule"/>
          <p:cNvSpPr/>
          <p:nvPr/>
        </p:nvSpPr>
        <p:spPr>
          <a:xfrm>
            <a:off x="3371850" y="4495800"/>
            <a:ext cx="22669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9" name="T17/node:step-5:label"/>
          <p:cNvSpPr/>
          <p:nvPr/>
        </p:nvSpPr>
        <p:spPr>
          <a:xfrm>
            <a:off x="3486150" y="4857750"/>
            <a:ext cx="20383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特征构建</a:t>
            </a:r>
            <a:endParaRPr lang="zh-CN" sz="1800" dirty="0"/>
          </a:p>
        </p:txBody>
      </p:sp>
      <p:sp>
        <p:nvSpPr>
          <p:cNvPr id="30" name="T17/node:step-6:frame"/>
          <p:cNvSpPr/>
          <p:nvPr/>
        </p:nvSpPr>
        <p:spPr>
          <a:xfrm>
            <a:off x="609600" y="4495800"/>
            <a:ext cx="2266950" cy="9906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1" name="T17/node:step-6:heading-rule"/>
          <p:cNvSpPr/>
          <p:nvPr/>
        </p:nvSpPr>
        <p:spPr>
          <a:xfrm>
            <a:off x="609600" y="4495800"/>
            <a:ext cx="22669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32" name="T17/node:step-6:label"/>
          <p:cNvSpPr/>
          <p:nvPr/>
        </p:nvSpPr>
        <p:spPr>
          <a:xfrm>
            <a:off x="723900" y="4857750"/>
            <a:ext cx="20383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统计估计</a:t>
            </a:r>
            <a:endParaRPr lang="zh-CN" sz="1800" dirty="0"/>
          </a:p>
        </p:txBody>
      </p:sp>
      <p:sp>
        <p:nvSpPr>
          <p:cNvPr id="33" name="T17/card/region-1/frame"/>
          <p:cNvSpPr/>
          <p:nvPr/>
        </p:nvSpPr>
        <p:spPr>
          <a:xfrm>
            <a:off x="8629650" y="1409700"/>
            <a:ext cx="3105150" cy="21145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4" name="T17/card/region-1/heading-fill"/>
          <p:cNvSpPr/>
          <p:nvPr/>
        </p:nvSpPr>
        <p:spPr>
          <a:xfrm>
            <a:off x="8639175" y="1419225"/>
            <a:ext cx="30861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17/card/region-1/heading-rule"/>
          <p:cNvSpPr/>
          <p:nvPr/>
        </p:nvSpPr>
        <p:spPr>
          <a:xfrm>
            <a:off x="8629650" y="1790700"/>
            <a:ext cx="31051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6" name="T17/card/region-1/title"/>
          <p:cNvSpPr/>
          <p:nvPr/>
        </p:nvSpPr>
        <p:spPr>
          <a:xfrm>
            <a:off x="8753475" y="1466850"/>
            <a:ext cx="28575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校准与误差</a:t>
            </a:r>
            <a:endParaRPr lang="zh-CN" sz="1800" dirty="0"/>
          </a:p>
        </p:txBody>
      </p:sp>
      <p:sp>
        <p:nvSpPr>
          <p:cNvPr id="37" name="T17/card/region-1/body"/>
          <p:cNvSpPr/>
          <p:nvPr/>
        </p:nvSpPr>
        <p:spPr>
          <a:xfrm>
            <a:off x="8763000" y="1905000"/>
            <a:ext cx="283845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报告仪器校准与测量不确定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性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记录异常检测和人工复核规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则</a:t>
            </a:r>
            <a:endParaRPr lang="zh-CN" sz="1725" dirty="0"/>
          </a:p>
        </p:txBody>
      </p:sp>
      <p:sp>
        <p:nvSpPr>
          <p:cNvPr id="38" name="T17/card/region-2/heading-rule"/>
          <p:cNvSpPr/>
          <p:nvPr/>
        </p:nvSpPr>
        <p:spPr>
          <a:xfrm>
            <a:off x="8629650" y="4114800"/>
            <a:ext cx="31051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9" name="T17/card/region-2/heading-mark"/>
          <p:cNvSpPr/>
          <p:nvPr/>
        </p:nvSpPr>
        <p:spPr>
          <a:xfrm>
            <a:off x="8629650" y="41148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40" name="T17/card/region-2/title"/>
          <p:cNvSpPr/>
          <p:nvPr/>
        </p:nvSpPr>
        <p:spPr>
          <a:xfrm>
            <a:off x="8629650" y="3771900"/>
            <a:ext cx="31051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分析单位</a:t>
            </a:r>
            <a:endParaRPr lang="zh-CN" sz="1875" dirty="0"/>
          </a:p>
        </p:txBody>
      </p:sp>
      <p:sp>
        <p:nvSpPr>
          <p:cNvPr id="41" name="T17/card/region-2/body"/>
          <p:cNvSpPr/>
          <p:nvPr/>
        </p:nvSpPr>
        <p:spPr>
          <a:xfrm>
            <a:off x="8629650" y="4248150"/>
            <a:ext cx="3105150" cy="1733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区分记录行、图像、样本与场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次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模型估计应符合实际分层结构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解释聚合前后的信息损失</a:t>
            </a:r>
            <a:endParaRPr lang="zh-CN" sz="1800" dirty="0"/>
          </a:p>
        </p:txBody>
      </p:sp>
      <p:sp>
        <p:nvSpPr>
          <p:cNvPr id="42" name="T17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8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8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18 / 48</a:t>
            </a:r>
            <a:endParaRPr lang="zh-CN" sz="1050" dirty="0"/>
          </a:p>
        </p:txBody>
      </p:sp>
      <p:sp>
        <p:nvSpPr>
          <p:cNvPr id="4" name="T18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18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参数与复现实验协议</a:t>
            </a:r>
            <a:endParaRPr lang="zh-CN" sz="2550" dirty="0"/>
          </a:p>
        </p:txBody>
      </p:sp>
      <p:sp>
        <p:nvSpPr>
          <p:cNvPr id="6" name="T18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18/takeaway"/>
          <p:cNvSpPr/>
          <p:nvPr/>
        </p:nvSpPr>
        <p:spPr>
          <a:xfrm>
            <a:off x="457200" y="5695950"/>
            <a:ext cx="7086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解释必须由本页证据支持，并保留样本、对照与适用条件。</a:t>
            </a:r>
            <a:endParaRPr lang="zh-CN" sz="1800" dirty="0"/>
          </a:p>
        </p:txBody>
      </p:sp>
      <p:graphicFrame>
        <p:nvGraphicFramePr>
          <p:cNvPr id="19" name="T18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9700"/>
          <a:ext cx="7086600" cy="2403729"/>
        </p:xfrm>
        <a:graphic>
          <a:graphicData uri="http://schemas.openxmlformats.org/drawingml/2006/table">
            <a:tbl>
              <a:tblPr/>
              <a:tblGrid>
                <a:gridCol w="2362200"/>
                <a:gridCol w="2362200"/>
                <a:gridCol w="2362200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参数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设置（待替换）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依据或来源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时间步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填写数值与单位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实验采样频率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训练轮次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填写停止条件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验证集选择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重复数量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填写独立重复数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样本量依据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学习率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填写候选与最终值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仅训练/验证选取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测试范围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列出年份与环境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独立留出记录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18/table-caption"/>
          <p:cNvSpPr/>
          <p:nvPr/>
        </p:nvSpPr>
        <p:spPr>
          <a:xfrm>
            <a:off x="457200" y="3880104"/>
            <a:ext cx="7086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结构占位 / 合成数据，必须替换后才能用于学术结论</a:t>
            </a:r>
            <a:endParaRPr lang="zh-CN" sz="1350" dirty="0"/>
          </a:p>
        </p:txBody>
      </p:sp>
      <p:sp>
        <p:nvSpPr>
          <p:cNvPr id="10" name="T18/card/region-1/base-rule"/>
          <p:cNvSpPr/>
          <p:nvPr/>
        </p:nvSpPr>
        <p:spPr>
          <a:xfrm>
            <a:off x="7886700" y="2800350"/>
            <a:ext cx="38481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1" name="T18/card/region-1/side-mark"/>
          <p:cNvSpPr/>
          <p:nvPr/>
        </p:nvSpPr>
        <p:spPr>
          <a:xfrm>
            <a:off x="7886700" y="140970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18/card/region-1/title"/>
          <p:cNvSpPr/>
          <p:nvPr/>
        </p:nvSpPr>
        <p:spPr>
          <a:xfrm>
            <a:off x="8039100" y="1409700"/>
            <a:ext cx="36957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训练条件</a:t>
            </a:r>
            <a:endParaRPr lang="zh-CN" sz="1800" dirty="0"/>
          </a:p>
        </p:txBody>
      </p:sp>
      <p:sp>
        <p:nvSpPr>
          <p:cNvPr id="13" name="T18/card/region-1/body"/>
          <p:cNvSpPr/>
          <p:nvPr/>
        </p:nvSpPr>
        <p:spPr>
          <a:xfrm>
            <a:off x="8039100" y="1828800"/>
            <a:ext cx="3695700" cy="876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固定数据版本、目标与停止规则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记录种子和选择超参数的依据</a:t>
            </a:r>
            <a:endParaRPr lang="zh-CN" sz="1725" dirty="0"/>
          </a:p>
        </p:txBody>
      </p:sp>
      <p:sp>
        <p:nvSpPr>
          <p:cNvPr id="14" name="T18/card/region-2/heading-rule"/>
          <p:cNvSpPr/>
          <p:nvPr/>
        </p:nvSpPr>
        <p:spPr>
          <a:xfrm>
            <a:off x="7886700" y="3352800"/>
            <a:ext cx="38481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5" name="T18/card/region-2/heading-mark"/>
          <p:cNvSpPr/>
          <p:nvPr/>
        </p:nvSpPr>
        <p:spPr>
          <a:xfrm>
            <a:off x="7886700" y="33528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16" name="T18/card/region-2/title"/>
          <p:cNvSpPr/>
          <p:nvPr/>
        </p:nvSpPr>
        <p:spPr>
          <a:xfrm>
            <a:off x="7886700" y="3009900"/>
            <a:ext cx="38481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测试条件</a:t>
            </a:r>
            <a:endParaRPr lang="zh-CN" sz="1875" dirty="0"/>
          </a:p>
        </p:txBody>
      </p:sp>
      <p:sp>
        <p:nvSpPr>
          <p:cNvPr id="17" name="T18/card/region-2/body"/>
          <p:cNvSpPr/>
          <p:nvPr/>
        </p:nvSpPr>
        <p:spPr>
          <a:xfrm>
            <a:off x="7886700" y="3486150"/>
            <a:ext cx="384810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冻结模型后使用独立数据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保留场景、尺度与失败记录</a:t>
            </a:r>
            <a:endParaRPr lang="zh-CN" sz="1800" dirty="0"/>
          </a:p>
        </p:txBody>
      </p:sp>
      <p:sp>
        <p:nvSpPr>
          <p:cNvPr id="18" name="T18/card/region-3/frame"/>
          <p:cNvSpPr/>
          <p:nvPr/>
        </p:nvSpPr>
        <p:spPr>
          <a:xfrm>
            <a:off x="7886700" y="4733925"/>
            <a:ext cx="3848100" cy="1285875"/>
          </a:xfrm>
          <a:prstGeom prst="rect">
            <a:avLst/>
          </a:prstGeom>
          <a:solidFill>
            <a:srgbClr val="FFFFFF"/>
          </a:solidFill>
          <a:ln w="14288">
            <a:solidFill>
              <a:srgbClr val="173C70"/>
            </a:solidFill>
            <a:prstDash val="solid"/>
          </a:ln>
        </p:spPr>
      </p:sp>
      <p:sp>
        <p:nvSpPr>
          <p:cNvPr id="19" name="T18/card/region-3/title-cutout"/>
          <p:cNvSpPr/>
          <p:nvPr/>
        </p:nvSpPr>
        <p:spPr>
          <a:xfrm>
            <a:off x="8020050" y="4581525"/>
            <a:ext cx="108585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18/card/region-3/base-rule"/>
          <p:cNvSpPr/>
          <p:nvPr/>
        </p:nvSpPr>
        <p:spPr>
          <a:xfrm>
            <a:off x="8077200" y="5867400"/>
            <a:ext cx="333375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sp>
        <p:nvSpPr>
          <p:cNvPr id="21" name="T18/card/region-3/title"/>
          <p:cNvSpPr/>
          <p:nvPr/>
        </p:nvSpPr>
        <p:spPr>
          <a:xfrm>
            <a:off x="8077200" y="4591050"/>
            <a:ext cx="346710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复现材料</a:t>
            </a:r>
            <a:endParaRPr lang="zh-CN" sz="1800" dirty="0"/>
          </a:p>
        </p:txBody>
      </p:sp>
      <p:sp>
        <p:nvSpPr>
          <p:cNvPr id="22" name="T18/card/region-3/body"/>
          <p:cNvSpPr/>
          <p:nvPr/>
        </p:nvSpPr>
        <p:spPr>
          <a:xfrm>
            <a:off x="8077200" y="5124450"/>
            <a:ext cx="3467100" cy="704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78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代码、数据、参数和运行环境</a:t>
            </a:r>
            <a:endParaRPr lang="zh-CN" sz="1650" dirty="0"/>
          </a:p>
          <a:p>
            <a:pPr algn="l" indent="0" marL="0">
              <a:lnSpc>
                <a:spcPts val="2178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明确哪些材料公开，哪些受限</a:t>
            </a:r>
            <a:endParaRPr lang="zh-CN" sz="1650" dirty="0"/>
          </a:p>
        </p:txBody>
      </p:sp>
      <p:sp>
        <p:nvSpPr>
          <p:cNvPr id="23" name="T18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9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9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19 / 48</a:t>
            </a:r>
            <a:endParaRPr lang="zh-CN" sz="1050" dirty="0"/>
          </a:p>
        </p:txBody>
      </p:sp>
      <p:sp>
        <p:nvSpPr>
          <p:cNvPr id="4" name="T19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19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主结果与统计口径</a:t>
            </a:r>
            <a:endParaRPr lang="zh-CN" sz="2550" dirty="0"/>
          </a:p>
        </p:txBody>
      </p:sp>
      <p:sp>
        <p:nvSpPr>
          <p:cNvPr id="6" name="T19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19/takeaway"/>
          <p:cNvSpPr/>
          <p:nvPr/>
        </p:nvSpPr>
        <p:spPr>
          <a:xfrm>
            <a:off x="457200" y="5867400"/>
            <a:ext cx="76962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统计口径、样本单位和适用条件需与原文一致</a:t>
            </a:r>
            <a:endParaRPr lang="zh-CN" sz="1800" dirty="0"/>
          </a:p>
        </p:txBody>
      </p:sp>
      <p:graphicFrame>
        <p:nvGraphicFramePr>
          <p:cNvPr id="8" name="T19/data-chart" descr=""/>
          <p:cNvGraphicFramePr/>
          <p:nvPr/>
        </p:nvGraphicFramePr>
        <p:xfrm>
          <a:off x="457200" y="1409700"/>
          <a:ext cx="7696200" cy="43053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19/card/region-1/base-rule"/>
          <p:cNvSpPr/>
          <p:nvPr/>
        </p:nvSpPr>
        <p:spPr>
          <a:xfrm>
            <a:off x="8458200" y="2781300"/>
            <a:ext cx="3276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0" name="T19/card/region-1/side-mark"/>
          <p:cNvSpPr/>
          <p:nvPr/>
        </p:nvSpPr>
        <p:spPr>
          <a:xfrm>
            <a:off x="8458200" y="140970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19/card/region-1/title"/>
          <p:cNvSpPr/>
          <p:nvPr/>
        </p:nvSpPr>
        <p:spPr>
          <a:xfrm>
            <a:off x="8610600" y="1409700"/>
            <a:ext cx="3124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主要效应</a:t>
            </a:r>
            <a:endParaRPr lang="zh-CN" sz="1800" dirty="0"/>
          </a:p>
        </p:txBody>
      </p:sp>
      <p:sp>
        <p:nvSpPr>
          <p:cNvPr id="12" name="T19/card/region-1/body"/>
          <p:cNvSpPr/>
          <p:nvPr/>
        </p:nvSpPr>
        <p:spPr>
          <a:xfrm>
            <a:off x="8610600" y="1828800"/>
            <a:ext cx="312420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报告效应大小与比较基线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模板图中的数字仅为合成演示</a:t>
            </a:r>
            <a:endParaRPr lang="zh-CN" sz="1725" dirty="0"/>
          </a:p>
        </p:txBody>
      </p:sp>
      <p:sp>
        <p:nvSpPr>
          <p:cNvPr id="13" name="T19/card/region-2/heading-rule"/>
          <p:cNvSpPr/>
          <p:nvPr/>
        </p:nvSpPr>
        <p:spPr>
          <a:xfrm>
            <a:off x="8458200" y="3371850"/>
            <a:ext cx="32766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4" name="T19/card/region-2/heading-mark"/>
          <p:cNvSpPr/>
          <p:nvPr/>
        </p:nvSpPr>
        <p:spPr>
          <a:xfrm>
            <a:off x="8458200" y="337185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15" name="T19/card/region-2/title"/>
          <p:cNvSpPr/>
          <p:nvPr/>
        </p:nvSpPr>
        <p:spPr>
          <a:xfrm>
            <a:off x="8458200" y="3028950"/>
            <a:ext cx="32766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统计口径</a:t>
            </a:r>
            <a:endParaRPr lang="zh-CN" sz="1875" dirty="0"/>
          </a:p>
        </p:txBody>
      </p:sp>
      <p:sp>
        <p:nvSpPr>
          <p:cNvPr id="16" name="T19/card/region-2/body"/>
          <p:cNvSpPr/>
          <p:nvPr/>
        </p:nvSpPr>
        <p:spPr>
          <a:xfrm>
            <a:off x="8458200" y="3505200"/>
            <a:ext cx="3276600" cy="838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给出样本、聚合方法与不确定性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误差条含义不能只写 error</a:t>
            </a:r>
            <a:endParaRPr lang="zh-CN" sz="1800" dirty="0"/>
          </a:p>
        </p:txBody>
      </p:sp>
      <p:sp>
        <p:nvSpPr>
          <p:cNvPr id="17" name="T19/card/region-3/frame"/>
          <p:cNvSpPr/>
          <p:nvPr/>
        </p:nvSpPr>
        <p:spPr>
          <a:xfrm>
            <a:off x="8458200" y="4724400"/>
            <a:ext cx="3276600" cy="12763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8" name="T19/card/region-3/tab"/>
          <p:cNvSpPr/>
          <p:nvPr/>
        </p:nvSpPr>
        <p:spPr>
          <a:xfrm>
            <a:off x="8572500" y="4610100"/>
            <a:ext cx="11811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19/card/region-3/title"/>
          <p:cNvSpPr/>
          <p:nvPr/>
        </p:nvSpPr>
        <p:spPr>
          <a:xfrm>
            <a:off x="8677275" y="463867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解释边界</a:t>
            </a:r>
            <a:endParaRPr lang="zh-CN" sz="1800" dirty="0"/>
          </a:p>
        </p:txBody>
      </p:sp>
      <p:sp>
        <p:nvSpPr>
          <p:cNvPr id="20" name="T19/card/region-3/body"/>
          <p:cNvSpPr/>
          <p:nvPr/>
        </p:nvSpPr>
        <p:spPr>
          <a:xfrm>
            <a:off x="8591550" y="5073015"/>
            <a:ext cx="3009900" cy="832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统计差异与实际意义分别判断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说明未测试的条件与替代解释</a:t>
            </a:r>
            <a:endParaRPr lang="zh-CN" sz="1725" dirty="0"/>
          </a:p>
        </p:txBody>
      </p:sp>
      <p:sp>
        <p:nvSpPr>
          <p:cNvPr id="21" name="T19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0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0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 / 48</a:t>
            </a:r>
            <a:endParaRPr lang="zh-CN" sz="1050" dirty="0"/>
          </a:p>
        </p:txBody>
      </p:sp>
      <p:sp>
        <p:nvSpPr>
          <p:cNvPr id="4" name="T20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20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两个终点分别报告</a:t>
            </a:r>
            <a:endParaRPr lang="zh-CN" sz="2550" dirty="0"/>
          </a:p>
        </p:txBody>
      </p:sp>
      <p:sp>
        <p:nvSpPr>
          <p:cNvPr id="6" name="T20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20/panel:0:frame"/>
          <p:cNvSpPr/>
          <p:nvPr/>
        </p:nvSpPr>
        <p:spPr>
          <a:xfrm>
            <a:off x="457200" y="1295400"/>
            <a:ext cx="5467350" cy="28384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20/panel:0:heading-fill"/>
          <p:cNvSpPr/>
          <p:nvPr/>
        </p:nvSpPr>
        <p:spPr>
          <a:xfrm>
            <a:off x="466725" y="1304925"/>
            <a:ext cx="544830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20/panel:0:heading-rule"/>
          <p:cNvSpPr/>
          <p:nvPr/>
        </p:nvSpPr>
        <p:spPr>
          <a:xfrm>
            <a:off x="457200" y="1685925"/>
            <a:ext cx="54673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20/panel:0:title"/>
          <p:cNvSpPr/>
          <p:nvPr/>
        </p:nvSpPr>
        <p:spPr>
          <a:xfrm>
            <a:off x="581025" y="1352550"/>
            <a:ext cx="52197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终点一：组间比较</a:t>
            </a:r>
            <a:endParaRPr lang="zh-CN" sz="1800" dirty="0"/>
          </a:p>
        </p:txBody>
      </p:sp>
      <p:sp>
        <p:nvSpPr>
          <p:cNvPr id="11" name="T20/panel:1:frame"/>
          <p:cNvSpPr/>
          <p:nvPr/>
        </p:nvSpPr>
        <p:spPr>
          <a:xfrm>
            <a:off x="6248400" y="1295400"/>
            <a:ext cx="5486400" cy="28384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2" name="T20/panel:1:heading-fill"/>
          <p:cNvSpPr/>
          <p:nvPr/>
        </p:nvSpPr>
        <p:spPr>
          <a:xfrm>
            <a:off x="6257925" y="1304925"/>
            <a:ext cx="546735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20/panel:1:heading-rule"/>
          <p:cNvSpPr/>
          <p:nvPr/>
        </p:nvSpPr>
        <p:spPr>
          <a:xfrm>
            <a:off x="6248400" y="1685925"/>
            <a:ext cx="54864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4" name="T20/panel:1:title"/>
          <p:cNvSpPr/>
          <p:nvPr/>
        </p:nvSpPr>
        <p:spPr>
          <a:xfrm>
            <a:off x="6372225" y="1352550"/>
            <a:ext cx="52387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终点二：个体分布</a:t>
            </a:r>
            <a:endParaRPr lang="zh-CN" sz="1800" dirty="0"/>
          </a:p>
        </p:txBody>
      </p:sp>
      <p:sp>
        <p:nvSpPr>
          <p:cNvPr id="15" name="T20/figure:0:paper"/>
          <p:cNvSpPr/>
          <p:nvPr/>
        </p:nvSpPr>
        <p:spPr>
          <a:xfrm>
            <a:off x="6381750" y="1790700"/>
            <a:ext cx="5219700" cy="217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T20/figure:0:image" descr="T1 · 示例图 · 独立观测分布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7600" y="1790700"/>
            <a:ext cx="3048000" cy="1828800"/>
          </a:xfrm>
          <a:prstGeom prst="rect">
            <a:avLst/>
          </a:prstGeom>
        </p:spPr>
      </p:pic>
      <p:sp>
        <p:nvSpPr>
          <p:cNvPr id="17" name="T20/figure:0:caption"/>
          <p:cNvSpPr/>
          <p:nvPr/>
        </p:nvSpPr>
        <p:spPr>
          <a:xfrm>
            <a:off x="6381750" y="3705225"/>
            <a:ext cx="5219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独立观测分布；合成演示值</a:t>
            </a:r>
            <a:endParaRPr lang="zh-CN" sz="1350" dirty="0"/>
          </a:p>
        </p:txBody>
      </p:sp>
      <p:graphicFrame>
        <p:nvGraphicFramePr>
          <p:cNvPr id="18" name="T20/data-chart" descr=""/>
          <p:cNvGraphicFramePr/>
          <p:nvPr/>
        </p:nvGraphicFramePr>
        <p:xfrm>
          <a:off x="590550" y="1790700"/>
          <a:ext cx="5200650" cy="21717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20/card/region-1/frame"/>
          <p:cNvSpPr/>
          <p:nvPr/>
        </p:nvSpPr>
        <p:spPr>
          <a:xfrm>
            <a:off x="457200" y="4457700"/>
            <a:ext cx="5467350" cy="15811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0" name="T20/card/region-1/heading-fill"/>
          <p:cNvSpPr/>
          <p:nvPr/>
        </p:nvSpPr>
        <p:spPr>
          <a:xfrm>
            <a:off x="466725" y="4467225"/>
            <a:ext cx="54483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20/card/region-1/heading-rule"/>
          <p:cNvSpPr/>
          <p:nvPr/>
        </p:nvSpPr>
        <p:spPr>
          <a:xfrm>
            <a:off x="457200" y="4838700"/>
            <a:ext cx="54673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2" name="T20/card/region-1/title"/>
          <p:cNvSpPr/>
          <p:nvPr/>
        </p:nvSpPr>
        <p:spPr>
          <a:xfrm>
            <a:off x="581025" y="4514850"/>
            <a:ext cx="52197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终点一的解释</a:t>
            </a:r>
            <a:endParaRPr lang="zh-CN" sz="1800" dirty="0"/>
          </a:p>
        </p:txBody>
      </p:sp>
      <p:sp>
        <p:nvSpPr>
          <p:cNvPr id="23" name="T20/card/region-1/body"/>
          <p:cNvSpPr/>
          <p:nvPr/>
        </p:nvSpPr>
        <p:spPr>
          <a:xfrm>
            <a:off x="590550" y="4953000"/>
            <a:ext cx="5200650" cy="990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定义单位、分母与评价时间窗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单独报告该指标的效应与误差</a:t>
            </a:r>
            <a:endParaRPr lang="zh-CN" sz="1725" dirty="0"/>
          </a:p>
        </p:txBody>
      </p:sp>
      <p:sp>
        <p:nvSpPr>
          <p:cNvPr id="24" name="T20/card/region-2/frame"/>
          <p:cNvSpPr/>
          <p:nvPr/>
        </p:nvSpPr>
        <p:spPr>
          <a:xfrm>
            <a:off x="6248400" y="4457700"/>
            <a:ext cx="5486400" cy="15811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5" name="T20/card/region-2/heading-fill"/>
          <p:cNvSpPr/>
          <p:nvPr/>
        </p:nvSpPr>
        <p:spPr>
          <a:xfrm>
            <a:off x="6257925" y="4467225"/>
            <a:ext cx="54673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20/card/region-2/heading-rule"/>
          <p:cNvSpPr/>
          <p:nvPr/>
        </p:nvSpPr>
        <p:spPr>
          <a:xfrm>
            <a:off x="6248400" y="4838700"/>
            <a:ext cx="54864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7" name="T20/card/region-2/title"/>
          <p:cNvSpPr/>
          <p:nvPr/>
        </p:nvSpPr>
        <p:spPr>
          <a:xfrm>
            <a:off x="6372225" y="4514850"/>
            <a:ext cx="52387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终点二的解释</a:t>
            </a:r>
            <a:endParaRPr lang="zh-CN" sz="1800" dirty="0"/>
          </a:p>
        </p:txBody>
      </p:sp>
      <p:sp>
        <p:nvSpPr>
          <p:cNvPr id="28" name="T20/card/region-2/body"/>
          <p:cNvSpPr/>
          <p:nvPr/>
        </p:nvSpPr>
        <p:spPr>
          <a:xfrm>
            <a:off x="6381750" y="4953000"/>
            <a:ext cx="5219700" cy="990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明确与终点一的不同含义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两个终点分别达标不等于同时达标</a:t>
            </a:r>
            <a:endParaRPr lang="zh-CN" sz="1725" dirty="0"/>
          </a:p>
        </p:txBody>
      </p:sp>
      <p:sp>
        <p:nvSpPr>
          <p:cNvPr id="29" name="T20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1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1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21 / 48</a:t>
            </a:r>
            <a:endParaRPr lang="zh-CN" sz="1050" dirty="0"/>
          </a:p>
        </p:txBody>
      </p:sp>
      <p:sp>
        <p:nvSpPr>
          <p:cNvPr id="4" name="T21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21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消融比较与组件贡献</a:t>
            </a:r>
            <a:endParaRPr lang="zh-CN" sz="2550" dirty="0"/>
          </a:p>
        </p:txBody>
      </p:sp>
      <p:sp>
        <p:nvSpPr>
          <p:cNvPr id="6" name="T21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graphicFrame>
        <p:nvGraphicFramePr>
          <p:cNvPr id="22" name="T21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7800"/>
          <a:ext cx="7486650" cy="2003108"/>
        </p:xfrm>
        <a:graphic>
          <a:graphicData uri="http://schemas.openxmlformats.org/drawingml/2006/table">
            <a:tbl>
              <a:tblPr/>
              <a:tblGrid>
                <a:gridCol w="1871663"/>
                <a:gridCol w="1871663"/>
                <a:gridCol w="1871663"/>
                <a:gridCol w="1871663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设置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合成效应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合成区间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解释任务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参考方法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0.00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−0.08…0.08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定义共同基线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移除模块 A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0.22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0.11…0.33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核查机制贡献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移除模块 B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0.31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0.17…0.45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核查信息变化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完整方法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0.43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0.27…0.59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报告资源代价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21/table-caption"/>
          <p:cNvSpPr/>
          <p:nvPr/>
        </p:nvSpPr>
        <p:spPr>
          <a:xfrm>
            <a:off x="457200" y="3517583"/>
            <a:ext cx="748665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结构占位 / 合成数据，必须替换后才能用于学术结论</a:t>
            </a:r>
            <a:endParaRPr lang="zh-CN" sz="1350" dirty="0"/>
          </a:p>
        </p:txBody>
      </p:sp>
      <p:sp>
        <p:nvSpPr>
          <p:cNvPr id="9" name="T21/card/region-1/base-rule"/>
          <p:cNvSpPr/>
          <p:nvPr/>
        </p:nvSpPr>
        <p:spPr>
          <a:xfrm>
            <a:off x="8343900" y="3448050"/>
            <a:ext cx="33909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0" name="T21/card/region-1/side-mark"/>
          <p:cNvSpPr/>
          <p:nvPr/>
        </p:nvSpPr>
        <p:spPr>
          <a:xfrm>
            <a:off x="8343900" y="14668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21/card/region-1/title"/>
          <p:cNvSpPr/>
          <p:nvPr/>
        </p:nvSpPr>
        <p:spPr>
          <a:xfrm>
            <a:off x="8496300" y="1466850"/>
            <a:ext cx="3238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组件作用</a:t>
            </a:r>
            <a:endParaRPr lang="zh-CN" sz="1800" dirty="0"/>
          </a:p>
        </p:txBody>
      </p:sp>
      <p:sp>
        <p:nvSpPr>
          <p:cNvPr id="12" name="T21/card/region-1/body"/>
          <p:cNvSpPr/>
          <p:nvPr/>
        </p:nvSpPr>
        <p:spPr>
          <a:xfrm>
            <a:off x="8496300" y="1885950"/>
            <a:ext cx="3238500" cy="1466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把消融操作和机制假设对应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比较时其余输入与预算保持一致</a:t>
            </a:r>
            <a:endParaRPr lang="zh-CN" sz="1725" dirty="0"/>
          </a:p>
        </p:txBody>
      </p:sp>
      <p:sp>
        <p:nvSpPr>
          <p:cNvPr id="13" name="T21/card/region-2/frame"/>
          <p:cNvSpPr/>
          <p:nvPr/>
        </p:nvSpPr>
        <p:spPr>
          <a:xfrm>
            <a:off x="8343900" y="3810000"/>
            <a:ext cx="3390900" cy="21717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4" name="T21/card/region-2/tab"/>
          <p:cNvSpPr/>
          <p:nvPr/>
        </p:nvSpPr>
        <p:spPr>
          <a:xfrm>
            <a:off x="8458200" y="369570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21/card/region-2/title"/>
          <p:cNvSpPr/>
          <p:nvPr/>
        </p:nvSpPr>
        <p:spPr>
          <a:xfrm>
            <a:off x="8562975" y="372427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替代解释</a:t>
            </a:r>
            <a:endParaRPr lang="zh-CN" sz="1800" dirty="0"/>
          </a:p>
        </p:txBody>
      </p:sp>
      <p:sp>
        <p:nvSpPr>
          <p:cNvPr id="16" name="T21/card/region-2/body"/>
          <p:cNvSpPr/>
          <p:nvPr/>
        </p:nvSpPr>
        <p:spPr>
          <a:xfrm>
            <a:off x="8477250" y="4158615"/>
            <a:ext cx="3124200" cy="1727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消融同时改变了哪些条件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检查调参、容量与数据的影响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用进一步对照区分机制贡献</a:t>
            </a:r>
            <a:endParaRPr lang="zh-CN" sz="1725" dirty="0"/>
          </a:p>
        </p:txBody>
      </p:sp>
      <p:sp>
        <p:nvSpPr>
          <p:cNvPr id="17" name="T21/card/region-3/title"/>
          <p:cNvSpPr/>
          <p:nvPr/>
        </p:nvSpPr>
        <p:spPr>
          <a:xfrm>
            <a:off x="457200" y="4914900"/>
            <a:ext cx="74866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不确定性与重复</a:t>
            </a:r>
            <a:endParaRPr lang="zh-CN" sz="1875" dirty="0"/>
          </a:p>
        </p:txBody>
      </p:sp>
      <p:sp>
        <p:nvSpPr>
          <p:cNvPr id="18" name="T21/card/region-3/body"/>
          <p:cNvSpPr/>
          <p:nvPr/>
        </p:nvSpPr>
        <p:spPr>
          <a:xfrm>
            <a:off x="457200" y="5295900"/>
            <a:ext cx="7486650" cy="647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报告独立重复、区间和显著性方法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避免仅凭单次最佳值解释组件贡献</a:t>
            </a:r>
            <a:endParaRPr lang="zh-CN" sz="1725" dirty="0"/>
          </a:p>
        </p:txBody>
      </p:sp>
      <p:sp>
        <p:nvSpPr>
          <p:cNvPr id="19" name="T21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2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2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22 / 48</a:t>
            </a:r>
            <a:endParaRPr lang="zh-CN" sz="1050" dirty="0"/>
          </a:p>
        </p:txBody>
      </p:sp>
      <p:sp>
        <p:nvSpPr>
          <p:cNvPr id="4" name="T22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22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跨环境表现与异质性</a:t>
            </a:r>
            <a:endParaRPr lang="zh-CN" sz="2550" dirty="0"/>
          </a:p>
        </p:txBody>
      </p:sp>
      <p:sp>
        <p:nvSpPr>
          <p:cNvPr id="6" name="T22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graphicFrame>
        <p:nvGraphicFramePr>
          <p:cNvPr id="7" name="T22/data-chart" descr=""/>
          <p:cNvGraphicFramePr/>
          <p:nvPr/>
        </p:nvGraphicFramePr>
        <p:xfrm>
          <a:off x="457200" y="1390650"/>
          <a:ext cx="7905750" cy="32956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22/card/region-1/frame"/>
          <p:cNvSpPr/>
          <p:nvPr/>
        </p:nvSpPr>
        <p:spPr>
          <a:xfrm>
            <a:off x="8686800" y="1390650"/>
            <a:ext cx="3048000" cy="20955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9" name="T22/card/region-1/heading-fill"/>
          <p:cNvSpPr/>
          <p:nvPr/>
        </p:nvSpPr>
        <p:spPr>
          <a:xfrm>
            <a:off x="8696325" y="1400175"/>
            <a:ext cx="30289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22/card/region-1/heading-rule"/>
          <p:cNvSpPr/>
          <p:nvPr/>
        </p:nvSpPr>
        <p:spPr>
          <a:xfrm>
            <a:off x="8686800" y="1771650"/>
            <a:ext cx="30480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1" name="T22/card/region-1/title"/>
          <p:cNvSpPr/>
          <p:nvPr/>
        </p:nvSpPr>
        <p:spPr>
          <a:xfrm>
            <a:off x="8810625" y="1447800"/>
            <a:ext cx="28003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测试环境</a:t>
            </a:r>
            <a:endParaRPr lang="zh-CN" sz="1800" dirty="0"/>
          </a:p>
        </p:txBody>
      </p:sp>
      <p:sp>
        <p:nvSpPr>
          <p:cNvPr id="12" name="T22/card/region-1/body"/>
          <p:cNvSpPr/>
          <p:nvPr/>
        </p:nvSpPr>
        <p:spPr>
          <a:xfrm>
            <a:off x="8820150" y="1885950"/>
            <a:ext cx="2781300" cy="150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列出训练覆盖和独立留出条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分环境报告，不只给全局平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均</a:t>
            </a:r>
            <a:endParaRPr lang="zh-CN" sz="1725" dirty="0"/>
          </a:p>
        </p:txBody>
      </p:sp>
      <p:sp>
        <p:nvSpPr>
          <p:cNvPr id="13" name="T22/card/region-2/frame"/>
          <p:cNvSpPr/>
          <p:nvPr/>
        </p:nvSpPr>
        <p:spPr>
          <a:xfrm>
            <a:off x="8686800" y="3848100"/>
            <a:ext cx="3048000" cy="21717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4" name="T22/card/region-2/tab"/>
          <p:cNvSpPr/>
          <p:nvPr/>
        </p:nvSpPr>
        <p:spPr>
          <a:xfrm>
            <a:off x="8801100" y="3733800"/>
            <a:ext cx="11811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22/card/region-2/title"/>
          <p:cNvSpPr/>
          <p:nvPr/>
        </p:nvSpPr>
        <p:spPr>
          <a:xfrm>
            <a:off x="8905875" y="376237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最差情形</a:t>
            </a:r>
            <a:endParaRPr lang="zh-CN" sz="1800" dirty="0"/>
          </a:p>
        </p:txBody>
      </p:sp>
      <p:sp>
        <p:nvSpPr>
          <p:cNvPr id="16" name="T22/card/region-2/body"/>
          <p:cNvSpPr/>
          <p:nvPr/>
        </p:nvSpPr>
        <p:spPr>
          <a:xfrm>
            <a:off x="8820150" y="4196715"/>
            <a:ext cx="2781300" cy="1727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展示失败环境与违反约束的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次数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讨论收益下降是否有系统性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同时报告离群值和缺失情况</a:t>
            </a:r>
            <a:endParaRPr lang="zh-CN" sz="1725" dirty="0"/>
          </a:p>
        </p:txBody>
      </p:sp>
      <p:sp>
        <p:nvSpPr>
          <p:cNvPr id="17" name="T22/card/region-3/title"/>
          <p:cNvSpPr/>
          <p:nvPr/>
        </p:nvSpPr>
        <p:spPr>
          <a:xfrm>
            <a:off x="457200" y="5010150"/>
            <a:ext cx="79057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平均值以外的结论</a:t>
            </a:r>
            <a:endParaRPr lang="zh-CN" sz="1875" dirty="0"/>
          </a:p>
        </p:txBody>
      </p:sp>
      <p:sp>
        <p:nvSpPr>
          <p:cNvPr id="18" name="T22/card/region-3/body"/>
          <p:cNvSpPr/>
          <p:nvPr/>
        </p:nvSpPr>
        <p:spPr>
          <a:xfrm>
            <a:off x="457200" y="5391150"/>
            <a:ext cx="790575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检查分位数、最差环境与个体差异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总体均值不能替代条件层面的判断</a:t>
            </a:r>
            <a:endParaRPr lang="zh-CN" sz="1725" dirty="0"/>
          </a:p>
        </p:txBody>
      </p:sp>
      <p:sp>
        <p:nvSpPr>
          <p:cNvPr id="19" name="T22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3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3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23 / 48</a:t>
            </a:r>
            <a:endParaRPr lang="zh-CN" sz="1050" dirty="0"/>
          </a:p>
        </p:txBody>
      </p:sp>
      <p:sp>
        <p:nvSpPr>
          <p:cNvPr id="4" name="T23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23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收益风险与代价权衡</a:t>
            </a:r>
            <a:endParaRPr lang="zh-CN" sz="2550" dirty="0"/>
          </a:p>
        </p:txBody>
      </p:sp>
      <p:sp>
        <p:nvSpPr>
          <p:cNvPr id="6" name="T23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23/takeaway"/>
          <p:cNvSpPr/>
          <p:nvPr/>
        </p:nvSpPr>
        <p:spPr>
          <a:xfrm>
            <a:off x="457200" y="5848350"/>
            <a:ext cx="71628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统计口径、样本单位和适用条件需与原文一致</a:t>
            </a:r>
            <a:endParaRPr lang="zh-CN" sz="1800" dirty="0"/>
          </a:p>
        </p:txBody>
      </p:sp>
      <p:graphicFrame>
        <p:nvGraphicFramePr>
          <p:cNvPr id="8" name="T23/data-chart" descr=""/>
          <p:cNvGraphicFramePr/>
          <p:nvPr/>
        </p:nvGraphicFramePr>
        <p:xfrm>
          <a:off x="457200" y="1409700"/>
          <a:ext cx="7162800" cy="43053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23/card/region-1/base-rule"/>
          <p:cNvSpPr/>
          <p:nvPr/>
        </p:nvSpPr>
        <p:spPr>
          <a:xfrm>
            <a:off x="7943850" y="2762250"/>
            <a:ext cx="37909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0" name="T23/card/region-1/side-mark"/>
          <p:cNvSpPr/>
          <p:nvPr/>
        </p:nvSpPr>
        <p:spPr>
          <a:xfrm>
            <a:off x="7943850" y="140970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23/card/region-1/title"/>
          <p:cNvSpPr/>
          <p:nvPr/>
        </p:nvSpPr>
        <p:spPr>
          <a:xfrm>
            <a:off x="8096250" y="1409700"/>
            <a:ext cx="36385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收益指标</a:t>
            </a:r>
            <a:endParaRPr lang="zh-CN" sz="1800" dirty="0"/>
          </a:p>
        </p:txBody>
      </p:sp>
      <p:sp>
        <p:nvSpPr>
          <p:cNvPr id="12" name="T23/card/region-1/body"/>
          <p:cNvSpPr/>
          <p:nvPr/>
        </p:nvSpPr>
        <p:spPr>
          <a:xfrm>
            <a:off x="8096250" y="1828800"/>
            <a:ext cx="3638550" cy="838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定义收益、单位与基线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说明是否包含预测或模拟项</a:t>
            </a:r>
            <a:endParaRPr lang="zh-CN" sz="1725" dirty="0"/>
          </a:p>
        </p:txBody>
      </p:sp>
      <p:sp>
        <p:nvSpPr>
          <p:cNvPr id="13" name="T23/card/region-2/frame"/>
          <p:cNvSpPr/>
          <p:nvPr/>
        </p:nvSpPr>
        <p:spPr>
          <a:xfrm>
            <a:off x="7943850" y="3124200"/>
            <a:ext cx="3790950" cy="12573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4" name="T23/card/region-2/tab"/>
          <p:cNvSpPr/>
          <p:nvPr/>
        </p:nvSpPr>
        <p:spPr>
          <a:xfrm>
            <a:off x="8058150" y="3009900"/>
            <a:ext cx="11811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23/card/region-2/title"/>
          <p:cNvSpPr/>
          <p:nvPr/>
        </p:nvSpPr>
        <p:spPr>
          <a:xfrm>
            <a:off x="8162925" y="303847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风险指标</a:t>
            </a:r>
            <a:endParaRPr lang="zh-CN" sz="1800" dirty="0"/>
          </a:p>
        </p:txBody>
      </p:sp>
      <p:sp>
        <p:nvSpPr>
          <p:cNvPr id="16" name="T23/card/region-2/body"/>
          <p:cNvSpPr/>
          <p:nvPr/>
        </p:nvSpPr>
        <p:spPr>
          <a:xfrm>
            <a:off x="8077200" y="3472815"/>
            <a:ext cx="3524250" cy="813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报告违反约束的概率或幅度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分开平均风险与极端情形</a:t>
            </a:r>
            <a:endParaRPr lang="zh-CN" sz="1725" dirty="0"/>
          </a:p>
        </p:txBody>
      </p:sp>
      <p:sp>
        <p:nvSpPr>
          <p:cNvPr id="17" name="T23/card/region-3/heading-rule"/>
          <p:cNvSpPr/>
          <p:nvPr/>
        </p:nvSpPr>
        <p:spPr>
          <a:xfrm>
            <a:off x="7943850" y="4991100"/>
            <a:ext cx="37909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8" name="T23/card/region-3/heading-mark"/>
          <p:cNvSpPr/>
          <p:nvPr/>
        </p:nvSpPr>
        <p:spPr>
          <a:xfrm>
            <a:off x="7943850" y="49911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19" name="T23/card/region-3/title"/>
          <p:cNvSpPr/>
          <p:nvPr/>
        </p:nvSpPr>
        <p:spPr>
          <a:xfrm>
            <a:off x="7943850" y="4648200"/>
            <a:ext cx="37909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资源代价</a:t>
            </a:r>
            <a:endParaRPr lang="zh-CN" sz="1875" dirty="0"/>
          </a:p>
        </p:txBody>
      </p:sp>
      <p:sp>
        <p:nvSpPr>
          <p:cNvPr id="20" name="T23/card/region-3/body"/>
          <p:cNvSpPr/>
          <p:nvPr/>
        </p:nvSpPr>
        <p:spPr>
          <a:xfrm>
            <a:off x="7943850" y="5124450"/>
            <a:ext cx="3790950" cy="838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计算、人工、数据与执行成本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权衡使用相同的时间与计量单位</a:t>
            </a:r>
            <a:endParaRPr lang="zh-CN" sz="1800" dirty="0"/>
          </a:p>
        </p:txBody>
      </p:sp>
      <p:sp>
        <p:nvSpPr>
          <p:cNvPr id="21" name="T23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4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4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24 / 48</a:t>
            </a:r>
            <a:endParaRPr lang="zh-CN" sz="1050" dirty="0"/>
          </a:p>
        </p:txBody>
      </p:sp>
      <p:sp>
        <p:nvSpPr>
          <p:cNvPr id="4" name="T24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24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错误类型与任务分母</a:t>
            </a:r>
            <a:endParaRPr lang="zh-CN" sz="2550" dirty="0"/>
          </a:p>
        </p:txBody>
      </p:sp>
      <p:sp>
        <p:nvSpPr>
          <p:cNvPr id="6" name="T24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graphicFrame>
        <p:nvGraphicFramePr>
          <p:cNvPr id="25" name="T24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90650"/>
          <a:ext cx="6858000" cy="3072194"/>
        </p:xfrm>
        <a:graphic>
          <a:graphicData uri="http://schemas.openxmlformats.org/drawingml/2006/table">
            <a:tbl>
              <a:tblPr/>
              <a:tblGrid>
                <a:gridCol w="1714500"/>
                <a:gridCol w="1714500"/>
                <a:gridCol w="1714500"/>
                <a:gridCol w="1714500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阶段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合成任务数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合成失败数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需核查的证据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数据获取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原始输入与缺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失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工具执行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2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参数、日志与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异常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结果解释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3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答案与数据来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源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最终交付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完整性与可复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现性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24/table-caption"/>
          <p:cNvSpPr/>
          <p:nvPr/>
        </p:nvSpPr>
        <p:spPr>
          <a:xfrm>
            <a:off x="457200" y="4529519"/>
            <a:ext cx="68580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结构占位 / 合成数据，必须替换后才能用于学术结论</a:t>
            </a:r>
            <a:endParaRPr lang="zh-CN" sz="1350" dirty="0"/>
          </a:p>
        </p:txBody>
      </p:sp>
      <p:sp>
        <p:nvSpPr>
          <p:cNvPr id="9" name="T24/card/region-1/frame"/>
          <p:cNvSpPr/>
          <p:nvPr/>
        </p:nvSpPr>
        <p:spPr>
          <a:xfrm>
            <a:off x="7696200" y="1390650"/>
            <a:ext cx="4038600" cy="20002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0" name="T24/card/region-1/heading-fill"/>
          <p:cNvSpPr/>
          <p:nvPr/>
        </p:nvSpPr>
        <p:spPr>
          <a:xfrm>
            <a:off x="7705725" y="1400175"/>
            <a:ext cx="40195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24/card/region-1/heading-rule"/>
          <p:cNvSpPr/>
          <p:nvPr/>
        </p:nvSpPr>
        <p:spPr>
          <a:xfrm>
            <a:off x="7696200" y="1771650"/>
            <a:ext cx="40386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2" name="T24/card/region-1/title"/>
          <p:cNvSpPr/>
          <p:nvPr/>
        </p:nvSpPr>
        <p:spPr>
          <a:xfrm>
            <a:off x="7820025" y="1447800"/>
            <a:ext cx="37909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评价者与尺度</a:t>
            </a:r>
            <a:endParaRPr lang="zh-CN" sz="1800" dirty="0"/>
          </a:p>
        </p:txBody>
      </p:sp>
      <p:sp>
        <p:nvSpPr>
          <p:cNvPr id="13" name="T24/card/region-1/body"/>
          <p:cNvSpPr/>
          <p:nvPr/>
        </p:nvSpPr>
        <p:spPr>
          <a:xfrm>
            <a:off x="7829550" y="1885950"/>
            <a:ext cx="3771900" cy="1409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人工、程序和模型评分分别记录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说明评分规则与是否盲评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任务完成和答案正确应分别评价</a:t>
            </a:r>
            <a:endParaRPr lang="zh-CN" sz="1725" dirty="0"/>
          </a:p>
        </p:txBody>
      </p:sp>
      <p:sp>
        <p:nvSpPr>
          <p:cNvPr id="14" name="T24/card/region-2/frame"/>
          <p:cNvSpPr/>
          <p:nvPr/>
        </p:nvSpPr>
        <p:spPr>
          <a:xfrm>
            <a:off x="7696200" y="3752850"/>
            <a:ext cx="4038600" cy="22479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5" name="T24/card/region-2/tab"/>
          <p:cNvSpPr/>
          <p:nvPr/>
        </p:nvSpPr>
        <p:spPr>
          <a:xfrm>
            <a:off x="7810500" y="3638550"/>
            <a:ext cx="20955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24/card/region-2/title"/>
          <p:cNvSpPr/>
          <p:nvPr/>
        </p:nvSpPr>
        <p:spPr>
          <a:xfrm>
            <a:off x="7915275" y="3667125"/>
            <a:ext cx="18859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失败集中在哪一步</a:t>
            </a:r>
            <a:endParaRPr lang="zh-CN" sz="1800" dirty="0"/>
          </a:p>
        </p:txBody>
      </p:sp>
      <p:sp>
        <p:nvSpPr>
          <p:cNvPr id="17" name="T24/card/region-2/body"/>
          <p:cNvSpPr/>
          <p:nvPr/>
        </p:nvSpPr>
        <p:spPr>
          <a:xfrm>
            <a:off x="7829550" y="4101465"/>
            <a:ext cx="3771900" cy="1804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将错误对应到数据、计划、工具或读图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记录可复现的输入和失败输出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避免用总分掩盖集中失效的环节</a:t>
            </a:r>
            <a:endParaRPr lang="zh-CN" sz="1725" dirty="0"/>
          </a:p>
        </p:txBody>
      </p:sp>
      <p:sp>
        <p:nvSpPr>
          <p:cNvPr id="18" name="T24/card/region-3/title"/>
          <p:cNvSpPr/>
          <p:nvPr/>
        </p:nvSpPr>
        <p:spPr>
          <a:xfrm>
            <a:off x="457200" y="5010150"/>
            <a:ext cx="68580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分母与统计单位</a:t>
            </a:r>
            <a:endParaRPr lang="zh-CN" sz="1875" dirty="0"/>
          </a:p>
        </p:txBody>
      </p:sp>
      <p:sp>
        <p:nvSpPr>
          <p:cNvPr id="19" name="T24/card/region-3/body"/>
          <p:cNvSpPr/>
          <p:nvPr/>
        </p:nvSpPr>
        <p:spPr>
          <a:xfrm>
            <a:off x="457200" y="5391150"/>
            <a:ext cx="685800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报告任务数、重复数与实际评价单位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模板计数仅用于验证表格表达</a:t>
            </a:r>
            <a:endParaRPr lang="zh-CN" sz="1725" dirty="0"/>
          </a:p>
        </p:txBody>
      </p:sp>
      <p:sp>
        <p:nvSpPr>
          <p:cNvPr id="20" name="T24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5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5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25 / 48</a:t>
            </a:r>
            <a:endParaRPr lang="zh-CN" sz="1050" dirty="0"/>
          </a:p>
        </p:txBody>
      </p:sp>
      <p:sp>
        <p:nvSpPr>
          <p:cNvPr id="4" name="T25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25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宽幅原图与读图说明</a:t>
            </a:r>
            <a:endParaRPr lang="zh-CN" sz="2550" dirty="0"/>
          </a:p>
        </p:txBody>
      </p:sp>
      <p:sp>
        <p:nvSpPr>
          <p:cNvPr id="6" name="T25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25/panel:0:frame"/>
          <p:cNvSpPr/>
          <p:nvPr/>
        </p:nvSpPr>
        <p:spPr>
          <a:xfrm>
            <a:off x="457200" y="1390650"/>
            <a:ext cx="11277600" cy="31242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25/panel:0:tab"/>
          <p:cNvSpPr/>
          <p:nvPr/>
        </p:nvSpPr>
        <p:spPr>
          <a:xfrm>
            <a:off x="571500" y="1276350"/>
            <a:ext cx="2095500" cy="3238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25/panel:0:title"/>
          <p:cNvSpPr/>
          <p:nvPr/>
        </p:nvSpPr>
        <p:spPr>
          <a:xfrm>
            <a:off x="676275" y="1304925"/>
            <a:ext cx="18859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证据图与面板顺序</a:t>
            </a:r>
            <a:endParaRPr lang="zh-CN" sz="1800" dirty="0"/>
          </a:p>
        </p:txBody>
      </p:sp>
      <p:sp>
        <p:nvSpPr>
          <p:cNvPr id="10" name="T25/figure:0:paper"/>
          <p:cNvSpPr/>
          <p:nvPr/>
        </p:nvSpPr>
        <p:spPr>
          <a:xfrm>
            <a:off x="590550" y="1714500"/>
            <a:ext cx="11010900" cy="26479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T25/figure:0:image" descr="T1 · 示例图 · 宽幅面板示例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263" y="1714500"/>
            <a:ext cx="9705474" cy="2305050"/>
          </a:xfrm>
          <a:prstGeom prst="rect">
            <a:avLst/>
          </a:prstGeom>
        </p:spPr>
      </p:pic>
      <p:sp>
        <p:nvSpPr>
          <p:cNvPr id="12" name="T25/figure:0:caption"/>
          <p:cNvSpPr/>
          <p:nvPr/>
        </p:nvSpPr>
        <p:spPr>
          <a:xfrm>
            <a:off x="590550" y="4105275"/>
            <a:ext cx="110109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宽幅面板示例；合成演示值</a:t>
            </a:r>
            <a:endParaRPr lang="zh-CN" sz="1350" dirty="0"/>
          </a:p>
        </p:txBody>
      </p:sp>
      <p:sp>
        <p:nvSpPr>
          <p:cNvPr id="13" name="T25/card/region-1/base-rule"/>
          <p:cNvSpPr/>
          <p:nvPr/>
        </p:nvSpPr>
        <p:spPr>
          <a:xfrm>
            <a:off x="457200" y="6019800"/>
            <a:ext cx="34671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4" name="T25/card/region-1/side-mark"/>
          <p:cNvSpPr/>
          <p:nvPr/>
        </p:nvSpPr>
        <p:spPr>
          <a:xfrm>
            <a:off x="457200" y="47434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25/card/region-1/title"/>
          <p:cNvSpPr/>
          <p:nvPr/>
        </p:nvSpPr>
        <p:spPr>
          <a:xfrm>
            <a:off x="609600" y="4743450"/>
            <a:ext cx="33147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图例与处理</a:t>
            </a:r>
            <a:endParaRPr lang="zh-CN" sz="1800" dirty="0"/>
          </a:p>
        </p:txBody>
      </p:sp>
      <p:sp>
        <p:nvSpPr>
          <p:cNvPr id="16" name="T25/card/region-1/body"/>
          <p:cNvSpPr/>
          <p:nvPr/>
        </p:nvSpPr>
        <p:spPr>
          <a:xfrm>
            <a:off x="609600" y="5162550"/>
            <a:ext cx="33147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解释颜色、线型与实验条件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读图前先明确比较对象</a:t>
            </a:r>
            <a:endParaRPr lang="zh-CN" sz="1725" dirty="0"/>
          </a:p>
        </p:txBody>
      </p:sp>
      <p:sp>
        <p:nvSpPr>
          <p:cNvPr id="17" name="T25/card/region-2/heading-rule"/>
          <p:cNvSpPr/>
          <p:nvPr/>
        </p:nvSpPr>
        <p:spPr>
          <a:xfrm>
            <a:off x="4210050" y="5086350"/>
            <a:ext cx="34671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8" name="T25/card/region-2/heading-mark"/>
          <p:cNvSpPr/>
          <p:nvPr/>
        </p:nvSpPr>
        <p:spPr>
          <a:xfrm>
            <a:off x="4210050" y="508635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19" name="T25/card/region-2/title"/>
          <p:cNvSpPr/>
          <p:nvPr/>
        </p:nvSpPr>
        <p:spPr>
          <a:xfrm>
            <a:off x="4210050" y="4743450"/>
            <a:ext cx="34671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主要趋势</a:t>
            </a:r>
            <a:endParaRPr lang="zh-CN" sz="1875" dirty="0"/>
          </a:p>
        </p:txBody>
      </p:sp>
      <p:sp>
        <p:nvSpPr>
          <p:cNvPr id="20" name="T25/card/region-2/body"/>
          <p:cNvSpPr/>
          <p:nvPr/>
        </p:nvSpPr>
        <p:spPr>
          <a:xfrm>
            <a:off x="4210050" y="5219700"/>
            <a:ext cx="34671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指出具体面板和变化方向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对照图注与原始数据核对数值</a:t>
            </a:r>
            <a:endParaRPr lang="zh-CN" sz="1800" dirty="0"/>
          </a:p>
        </p:txBody>
      </p:sp>
      <p:sp>
        <p:nvSpPr>
          <p:cNvPr id="21" name="T25/card/region-3/frame"/>
          <p:cNvSpPr/>
          <p:nvPr/>
        </p:nvSpPr>
        <p:spPr>
          <a:xfrm>
            <a:off x="7962900" y="4838700"/>
            <a:ext cx="3771900" cy="11811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2" name="T25/card/region-3/tab"/>
          <p:cNvSpPr/>
          <p:nvPr/>
        </p:nvSpPr>
        <p:spPr>
          <a:xfrm>
            <a:off x="8077200" y="472440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25/card/region-3/title"/>
          <p:cNvSpPr/>
          <p:nvPr/>
        </p:nvSpPr>
        <p:spPr>
          <a:xfrm>
            <a:off x="8181975" y="475297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必要限定</a:t>
            </a:r>
            <a:endParaRPr lang="zh-CN" sz="1800" dirty="0"/>
          </a:p>
        </p:txBody>
      </p:sp>
      <p:sp>
        <p:nvSpPr>
          <p:cNvPr id="24" name="T25/card/region-3/body"/>
          <p:cNvSpPr/>
          <p:nvPr/>
        </p:nvSpPr>
        <p:spPr>
          <a:xfrm>
            <a:off x="8096250" y="5187315"/>
            <a:ext cx="3505200" cy="737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保留样本、误差与实验范围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不从示意图推导真实研究结论</a:t>
            </a:r>
            <a:endParaRPr lang="zh-CN" sz="1725" dirty="0"/>
          </a:p>
        </p:txBody>
      </p:sp>
      <p:sp>
        <p:nvSpPr>
          <p:cNvPr id="25" name="T25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6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6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26 / 48</a:t>
            </a:r>
            <a:endParaRPr lang="zh-CN" sz="1050" dirty="0"/>
          </a:p>
        </p:txBody>
      </p:sp>
      <p:sp>
        <p:nvSpPr>
          <p:cNvPr id="4" name="T26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26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双面板对照解读</a:t>
            </a:r>
            <a:endParaRPr lang="zh-CN" sz="2550" dirty="0"/>
          </a:p>
        </p:txBody>
      </p:sp>
      <p:sp>
        <p:nvSpPr>
          <p:cNvPr id="6" name="T26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26/panel:0:frame"/>
          <p:cNvSpPr/>
          <p:nvPr/>
        </p:nvSpPr>
        <p:spPr>
          <a:xfrm>
            <a:off x="457200" y="1314450"/>
            <a:ext cx="5467350" cy="47244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26/panel:0:heading-fill"/>
          <p:cNvSpPr/>
          <p:nvPr/>
        </p:nvSpPr>
        <p:spPr>
          <a:xfrm>
            <a:off x="466725" y="1323975"/>
            <a:ext cx="544830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26/panel:0:heading-rule"/>
          <p:cNvSpPr/>
          <p:nvPr/>
        </p:nvSpPr>
        <p:spPr>
          <a:xfrm>
            <a:off x="457200" y="1704975"/>
            <a:ext cx="54673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26/panel:0:title"/>
          <p:cNvSpPr/>
          <p:nvPr/>
        </p:nvSpPr>
        <p:spPr>
          <a:xfrm>
            <a:off x="581025" y="1371600"/>
            <a:ext cx="52197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  面板及对应解读</a:t>
            </a:r>
            <a:endParaRPr lang="zh-CN" sz="1800" dirty="0"/>
          </a:p>
        </p:txBody>
      </p:sp>
      <p:sp>
        <p:nvSpPr>
          <p:cNvPr id="11" name="T26/panel:1:frame"/>
          <p:cNvSpPr/>
          <p:nvPr/>
        </p:nvSpPr>
        <p:spPr>
          <a:xfrm>
            <a:off x="6248400" y="1314450"/>
            <a:ext cx="5486400" cy="47244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2" name="T26/panel:1:heading-fill"/>
          <p:cNvSpPr/>
          <p:nvPr/>
        </p:nvSpPr>
        <p:spPr>
          <a:xfrm>
            <a:off x="6257925" y="1323975"/>
            <a:ext cx="546735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26/panel:1:heading-rule"/>
          <p:cNvSpPr/>
          <p:nvPr/>
        </p:nvSpPr>
        <p:spPr>
          <a:xfrm>
            <a:off x="6248400" y="1704975"/>
            <a:ext cx="54864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4" name="T26/panel:1:title"/>
          <p:cNvSpPr/>
          <p:nvPr/>
        </p:nvSpPr>
        <p:spPr>
          <a:xfrm>
            <a:off x="6372225" y="1371600"/>
            <a:ext cx="52387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  面板及对应解读</a:t>
            </a:r>
            <a:endParaRPr lang="zh-CN" sz="1800" dirty="0"/>
          </a:p>
        </p:txBody>
      </p:sp>
      <p:sp>
        <p:nvSpPr>
          <p:cNvPr id="15" name="T26/figure:0:paper"/>
          <p:cNvSpPr/>
          <p:nvPr/>
        </p:nvSpPr>
        <p:spPr>
          <a:xfrm>
            <a:off x="590550" y="1790700"/>
            <a:ext cx="5200650" cy="26098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T26/figure:0:image" descr="T1 · 示例图 · 响应曲线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1750" y="1790700"/>
            <a:ext cx="3778250" cy="2266950"/>
          </a:xfrm>
          <a:prstGeom prst="rect">
            <a:avLst/>
          </a:prstGeom>
        </p:spPr>
      </p:pic>
      <p:sp>
        <p:nvSpPr>
          <p:cNvPr id="17" name="T26/figure:0:caption"/>
          <p:cNvSpPr/>
          <p:nvPr/>
        </p:nvSpPr>
        <p:spPr>
          <a:xfrm>
            <a:off x="590550" y="4143375"/>
            <a:ext cx="52006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响应曲线；合成演示值</a:t>
            </a:r>
            <a:endParaRPr lang="zh-CN" sz="1350" dirty="0"/>
          </a:p>
        </p:txBody>
      </p:sp>
      <p:sp>
        <p:nvSpPr>
          <p:cNvPr id="18" name="T26/figure:1:paper"/>
          <p:cNvSpPr/>
          <p:nvPr/>
        </p:nvSpPr>
        <p:spPr>
          <a:xfrm>
            <a:off x="6381750" y="1790700"/>
            <a:ext cx="5219700" cy="26098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T26/figure:1:image" descr="T1 · 示例图 · 效应与区间；合成演示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2475" y="1790700"/>
            <a:ext cx="3778250" cy="2266950"/>
          </a:xfrm>
          <a:prstGeom prst="rect">
            <a:avLst/>
          </a:prstGeom>
        </p:spPr>
      </p:pic>
      <p:sp>
        <p:nvSpPr>
          <p:cNvPr id="20" name="T26/figure:1:caption"/>
          <p:cNvSpPr/>
          <p:nvPr/>
        </p:nvSpPr>
        <p:spPr>
          <a:xfrm>
            <a:off x="6381750" y="4143375"/>
            <a:ext cx="5219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效应与区间；合成演示值</a:t>
            </a:r>
            <a:endParaRPr lang="zh-CN" sz="1350" dirty="0"/>
          </a:p>
        </p:txBody>
      </p:sp>
      <p:sp>
        <p:nvSpPr>
          <p:cNvPr id="21" name="T26/card/region-1/title"/>
          <p:cNvSpPr/>
          <p:nvPr/>
        </p:nvSpPr>
        <p:spPr>
          <a:xfrm>
            <a:off x="590550" y="4705350"/>
            <a:ext cx="52006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面板 A</a:t>
            </a:r>
            <a:endParaRPr lang="zh-CN" sz="1875" dirty="0"/>
          </a:p>
        </p:txBody>
      </p:sp>
      <p:sp>
        <p:nvSpPr>
          <p:cNvPr id="22" name="T26/card/region-1/body"/>
          <p:cNvSpPr/>
          <p:nvPr/>
        </p:nvSpPr>
        <p:spPr>
          <a:xfrm>
            <a:off x="590550" y="5086350"/>
            <a:ext cx="5200650" cy="781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解释该面板的变量和处理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对应的图注与样本条件独立保留</a:t>
            </a:r>
            <a:endParaRPr lang="zh-CN" sz="1725" dirty="0"/>
          </a:p>
        </p:txBody>
      </p:sp>
      <p:sp>
        <p:nvSpPr>
          <p:cNvPr id="23" name="T26/card/region-2/title"/>
          <p:cNvSpPr/>
          <p:nvPr/>
        </p:nvSpPr>
        <p:spPr>
          <a:xfrm>
            <a:off x="6381750" y="4705350"/>
            <a:ext cx="52197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面板 B</a:t>
            </a:r>
            <a:endParaRPr lang="zh-CN" sz="1875" dirty="0"/>
          </a:p>
        </p:txBody>
      </p:sp>
      <p:sp>
        <p:nvSpPr>
          <p:cNvPr id="24" name="T26/card/region-2/body"/>
          <p:cNvSpPr/>
          <p:nvPr/>
        </p:nvSpPr>
        <p:spPr>
          <a:xfrm>
            <a:off x="6381750" y="5086350"/>
            <a:ext cx="5219700" cy="781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说明它如何补充前一面板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确认两图尺度是否可以直接比较</a:t>
            </a:r>
            <a:endParaRPr lang="zh-CN" sz="1725" dirty="0"/>
          </a:p>
        </p:txBody>
      </p:sp>
      <p:sp>
        <p:nvSpPr>
          <p:cNvPr id="25" name="T26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7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7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27 / 48</a:t>
            </a:r>
            <a:endParaRPr lang="zh-CN" sz="1050" dirty="0"/>
          </a:p>
        </p:txBody>
      </p:sp>
      <p:sp>
        <p:nvSpPr>
          <p:cNvPr id="4" name="T27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27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三项互补证据</a:t>
            </a:r>
            <a:endParaRPr lang="zh-CN" sz="2550" dirty="0"/>
          </a:p>
        </p:txBody>
      </p:sp>
      <p:sp>
        <p:nvSpPr>
          <p:cNvPr id="6" name="T27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27/panel:0:frame"/>
          <p:cNvSpPr/>
          <p:nvPr/>
        </p:nvSpPr>
        <p:spPr>
          <a:xfrm>
            <a:off x="457200" y="1333500"/>
            <a:ext cx="3524250" cy="47244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27/panel:0:heading-fill"/>
          <p:cNvSpPr/>
          <p:nvPr/>
        </p:nvSpPr>
        <p:spPr>
          <a:xfrm>
            <a:off x="466725" y="1343025"/>
            <a:ext cx="350520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27/panel:0:heading-rule"/>
          <p:cNvSpPr/>
          <p:nvPr/>
        </p:nvSpPr>
        <p:spPr>
          <a:xfrm>
            <a:off x="457200" y="1724025"/>
            <a:ext cx="35242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27/panel:0:title"/>
          <p:cNvSpPr/>
          <p:nvPr/>
        </p:nvSpPr>
        <p:spPr>
          <a:xfrm>
            <a:off x="581025" y="1390650"/>
            <a:ext cx="32766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  对应证据</a:t>
            </a:r>
            <a:endParaRPr lang="zh-CN" sz="1800" dirty="0"/>
          </a:p>
        </p:txBody>
      </p:sp>
      <p:sp>
        <p:nvSpPr>
          <p:cNvPr id="11" name="T27/panel:1:frame"/>
          <p:cNvSpPr/>
          <p:nvPr/>
        </p:nvSpPr>
        <p:spPr>
          <a:xfrm>
            <a:off x="4267200" y="1333500"/>
            <a:ext cx="3524250" cy="47244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2" name="T27/panel:1:heading-fill"/>
          <p:cNvSpPr/>
          <p:nvPr/>
        </p:nvSpPr>
        <p:spPr>
          <a:xfrm>
            <a:off x="4276725" y="1343025"/>
            <a:ext cx="350520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27/panel:1:heading-rule"/>
          <p:cNvSpPr/>
          <p:nvPr/>
        </p:nvSpPr>
        <p:spPr>
          <a:xfrm>
            <a:off x="4267200" y="1724025"/>
            <a:ext cx="35242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4" name="T27/panel:1:title"/>
          <p:cNvSpPr/>
          <p:nvPr/>
        </p:nvSpPr>
        <p:spPr>
          <a:xfrm>
            <a:off x="4391025" y="1390650"/>
            <a:ext cx="32766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  对应证据</a:t>
            </a:r>
            <a:endParaRPr lang="zh-CN" sz="1800" dirty="0"/>
          </a:p>
        </p:txBody>
      </p:sp>
      <p:sp>
        <p:nvSpPr>
          <p:cNvPr id="15" name="T27/panel:2:frame"/>
          <p:cNvSpPr/>
          <p:nvPr/>
        </p:nvSpPr>
        <p:spPr>
          <a:xfrm>
            <a:off x="8077200" y="1333500"/>
            <a:ext cx="3657600" cy="47244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6" name="T27/panel:2:heading-fill"/>
          <p:cNvSpPr/>
          <p:nvPr/>
        </p:nvSpPr>
        <p:spPr>
          <a:xfrm>
            <a:off x="8086725" y="1343025"/>
            <a:ext cx="363855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27/panel:2:heading-rule"/>
          <p:cNvSpPr/>
          <p:nvPr/>
        </p:nvSpPr>
        <p:spPr>
          <a:xfrm>
            <a:off x="8077200" y="1724025"/>
            <a:ext cx="36576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8" name="T27/panel:2:title"/>
          <p:cNvSpPr/>
          <p:nvPr/>
        </p:nvSpPr>
        <p:spPr>
          <a:xfrm>
            <a:off x="8201025" y="1390650"/>
            <a:ext cx="34099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  对应证据</a:t>
            </a:r>
            <a:endParaRPr lang="zh-CN" sz="1800" dirty="0"/>
          </a:p>
        </p:txBody>
      </p:sp>
      <p:sp>
        <p:nvSpPr>
          <p:cNvPr id="19" name="T27/figure:0:paper"/>
          <p:cNvSpPr/>
          <p:nvPr/>
        </p:nvSpPr>
        <p:spPr>
          <a:xfrm>
            <a:off x="590550" y="1828800"/>
            <a:ext cx="3257550" cy="2552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T27/figure:0:image" descr="T1 · 示例图 · 响应曲线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550" y="1956435"/>
            <a:ext cx="3257550" cy="1954530"/>
          </a:xfrm>
          <a:prstGeom prst="rect">
            <a:avLst/>
          </a:prstGeom>
        </p:spPr>
      </p:pic>
      <p:sp>
        <p:nvSpPr>
          <p:cNvPr id="21" name="T27/figure:0:caption"/>
          <p:cNvSpPr/>
          <p:nvPr/>
        </p:nvSpPr>
        <p:spPr>
          <a:xfrm>
            <a:off x="590550" y="4124325"/>
            <a:ext cx="32575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响应曲线；合成演示值</a:t>
            </a:r>
            <a:endParaRPr lang="zh-CN" sz="1350" dirty="0"/>
          </a:p>
        </p:txBody>
      </p:sp>
      <p:sp>
        <p:nvSpPr>
          <p:cNvPr id="22" name="T27/figure:1:paper"/>
          <p:cNvSpPr/>
          <p:nvPr/>
        </p:nvSpPr>
        <p:spPr>
          <a:xfrm>
            <a:off x="4400550" y="1828800"/>
            <a:ext cx="3257550" cy="2552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T27/figure:1:image" descr="T1 · 示例图 · 效应与区间；合成演示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0550" y="1956435"/>
            <a:ext cx="3257550" cy="1954530"/>
          </a:xfrm>
          <a:prstGeom prst="rect">
            <a:avLst/>
          </a:prstGeom>
        </p:spPr>
      </p:pic>
      <p:sp>
        <p:nvSpPr>
          <p:cNvPr id="24" name="T27/figure:1:caption"/>
          <p:cNvSpPr/>
          <p:nvPr/>
        </p:nvSpPr>
        <p:spPr>
          <a:xfrm>
            <a:off x="4400550" y="4124325"/>
            <a:ext cx="32575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效应与区间；合成演示值</a:t>
            </a:r>
            <a:endParaRPr lang="zh-CN" sz="1350" dirty="0"/>
          </a:p>
        </p:txBody>
      </p:sp>
      <p:sp>
        <p:nvSpPr>
          <p:cNvPr id="25" name="T27/figure:2:paper"/>
          <p:cNvSpPr/>
          <p:nvPr/>
        </p:nvSpPr>
        <p:spPr>
          <a:xfrm>
            <a:off x="8210550" y="1828800"/>
            <a:ext cx="3390900" cy="2552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T27/figure:2:image" descr="T1 · 示例图 · 跨环境矩阵；合成演示值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0550" y="1916430"/>
            <a:ext cx="3390900" cy="2034540"/>
          </a:xfrm>
          <a:prstGeom prst="rect">
            <a:avLst/>
          </a:prstGeom>
        </p:spPr>
      </p:pic>
      <p:sp>
        <p:nvSpPr>
          <p:cNvPr id="27" name="T27/figure:2:caption"/>
          <p:cNvSpPr/>
          <p:nvPr/>
        </p:nvSpPr>
        <p:spPr>
          <a:xfrm>
            <a:off x="8210550" y="4124325"/>
            <a:ext cx="33909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跨环境矩阵；合成演示值</a:t>
            </a:r>
            <a:endParaRPr lang="zh-CN" sz="1350" dirty="0"/>
          </a:p>
        </p:txBody>
      </p:sp>
      <p:sp>
        <p:nvSpPr>
          <p:cNvPr id="28" name="T27/card/region-1/title"/>
          <p:cNvSpPr/>
          <p:nvPr/>
        </p:nvSpPr>
        <p:spPr>
          <a:xfrm>
            <a:off x="590550" y="4648200"/>
            <a:ext cx="32575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 A</a:t>
            </a:r>
            <a:endParaRPr lang="zh-CN" sz="1875" dirty="0"/>
          </a:p>
        </p:txBody>
      </p:sp>
      <p:sp>
        <p:nvSpPr>
          <p:cNvPr id="29" name="T27/card/region-1/body"/>
          <p:cNvSpPr/>
          <p:nvPr/>
        </p:nvSpPr>
        <p:spPr>
          <a:xfrm>
            <a:off x="590550" y="5029200"/>
            <a:ext cx="325755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变量、样本和关键趋势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对应来源面板及读图规则</a:t>
            </a:r>
            <a:endParaRPr lang="zh-CN" sz="1725" dirty="0"/>
          </a:p>
        </p:txBody>
      </p:sp>
      <p:sp>
        <p:nvSpPr>
          <p:cNvPr id="30" name="T27/card/region-2/title"/>
          <p:cNvSpPr/>
          <p:nvPr/>
        </p:nvSpPr>
        <p:spPr>
          <a:xfrm>
            <a:off x="4400550" y="4648200"/>
            <a:ext cx="32575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 B</a:t>
            </a:r>
            <a:endParaRPr lang="zh-CN" sz="1875" dirty="0"/>
          </a:p>
        </p:txBody>
      </p:sp>
      <p:sp>
        <p:nvSpPr>
          <p:cNvPr id="31" name="T27/card/region-2/body"/>
          <p:cNvSpPr/>
          <p:nvPr/>
        </p:nvSpPr>
        <p:spPr>
          <a:xfrm>
            <a:off x="4400550" y="5029200"/>
            <a:ext cx="325755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使用不同观测检查同一解释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保留自身单位与统计口径</a:t>
            </a:r>
            <a:endParaRPr lang="zh-CN" sz="1725" dirty="0"/>
          </a:p>
        </p:txBody>
      </p:sp>
      <p:sp>
        <p:nvSpPr>
          <p:cNvPr id="32" name="T27/card/region-3/title"/>
          <p:cNvSpPr/>
          <p:nvPr/>
        </p:nvSpPr>
        <p:spPr>
          <a:xfrm>
            <a:off x="8210550" y="4648200"/>
            <a:ext cx="33909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 C</a:t>
            </a:r>
            <a:endParaRPr lang="zh-CN" sz="1875" dirty="0"/>
          </a:p>
        </p:txBody>
      </p:sp>
      <p:sp>
        <p:nvSpPr>
          <p:cNvPr id="33" name="T27/card/region-3/body"/>
          <p:cNvSpPr/>
          <p:nvPr/>
        </p:nvSpPr>
        <p:spPr>
          <a:xfrm>
            <a:off x="8210550" y="5029200"/>
            <a:ext cx="339090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补充机制或边界证据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不要把相关性作为因果结论</a:t>
            </a:r>
            <a:endParaRPr lang="zh-CN" sz="1725" dirty="0"/>
          </a:p>
        </p:txBody>
      </p:sp>
      <p:sp>
        <p:nvSpPr>
          <p:cNvPr id="34" name="T27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8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8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28 / 48</a:t>
            </a:r>
            <a:endParaRPr lang="zh-CN" sz="1050" dirty="0"/>
          </a:p>
        </p:txBody>
      </p:sp>
      <p:sp>
        <p:nvSpPr>
          <p:cNvPr id="4" name="T28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28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全图定位与局部放大</a:t>
            </a:r>
            <a:endParaRPr lang="zh-CN" sz="2550" dirty="0"/>
          </a:p>
        </p:txBody>
      </p:sp>
      <p:sp>
        <p:nvSpPr>
          <p:cNvPr id="6" name="T28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28/figure:0:paper"/>
          <p:cNvSpPr/>
          <p:nvPr/>
        </p:nvSpPr>
        <p:spPr>
          <a:xfrm>
            <a:off x="457200" y="1371600"/>
            <a:ext cx="4267200" cy="36385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T28/figure:0:image" descr="T1 · 示例图 · 多面板科学图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39265"/>
            <a:ext cx="4267200" cy="2560320"/>
          </a:xfrm>
          <a:prstGeom prst="rect">
            <a:avLst/>
          </a:prstGeom>
        </p:spPr>
      </p:pic>
      <p:sp>
        <p:nvSpPr>
          <p:cNvPr id="9" name="T28/figure:0:caption"/>
          <p:cNvSpPr/>
          <p:nvPr/>
        </p:nvSpPr>
        <p:spPr>
          <a:xfrm>
            <a:off x="457200" y="4752975"/>
            <a:ext cx="42672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多面板科学图；合成演示值</a:t>
            </a:r>
            <a:endParaRPr lang="zh-CN" sz="1350" dirty="0"/>
          </a:p>
        </p:txBody>
      </p:sp>
      <p:sp>
        <p:nvSpPr>
          <p:cNvPr id="10" name="T28/figure:1:paper"/>
          <p:cNvSpPr/>
          <p:nvPr/>
        </p:nvSpPr>
        <p:spPr>
          <a:xfrm>
            <a:off x="5029200" y="1371600"/>
            <a:ext cx="6705600" cy="36385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T28/figure:1:image" descr="T1 · 示例图 · 合成图面板 A 的局部视窗">    </p:cNvPr>
          <p:cNvPicPr>
            <a:picLocks noChangeAspect="1"/>
          </p:cNvPicPr>
          <p:nvPr/>
        </p:nvPicPr>
        <p:blipFill>
          <a:blip r:embed="rId2"/>
          <a:srcRect l="1500" r="49000" t="2500" b="48500"/>
          <a:stretch/>
        </p:blipFill>
        <p:spPr>
          <a:xfrm>
            <a:off x="5607601" y="1371600"/>
            <a:ext cx="5548798" cy="3295650"/>
          </a:xfrm>
          <a:prstGeom prst="rect">
            <a:avLst/>
          </a:prstGeom>
        </p:spPr>
      </p:pic>
      <p:sp>
        <p:nvSpPr>
          <p:cNvPr id="12" name="T28/figure:1:caption"/>
          <p:cNvSpPr/>
          <p:nvPr/>
        </p:nvSpPr>
        <p:spPr>
          <a:xfrm>
            <a:off x="5029200" y="4752975"/>
            <a:ext cx="67056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合成图面板 A 的局部视窗</a:t>
            </a:r>
            <a:endParaRPr lang="zh-CN" sz="1350" dirty="0"/>
          </a:p>
        </p:txBody>
      </p:sp>
      <p:sp>
        <p:nvSpPr>
          <p:cNvPr id="13" name="T28/card/region-1/title"/>
          <p:cNvSpPr/>
          <p:nvPr/>
        </p:nvSpPr>
        <p:spPr>
          <a:xfrm>
            <a:off x="457200" y="5257800"/>
            <a:ext cx="42672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全图定位</a:t>
            </a:r>
            <a:endParaRPr lang="zh-CN" sz="1875" dirty="0"/>
          </a:p>
        </p:txBody>
      </p:sp>
      <p:sp>
        <p:nvSpPr>
          <p:cNvPr id="14" name="T28/card/region-1/body"/>
          <p:cNvSpPr/>
          <p:nvPr/>
        </p:nvSpPr>
        <p:spPr>
          <a:xfrm>
            <a:off x="457200" y="5638800"/>
            <a:ext cx="426720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保留图号和细节区域的位置</a:t>
            </a:r>
            <a:endParaRPr lang="zh-CN" sz="1725" dirty="0"/>
          </a:p>
        </p:txBody>
      </p:sp>
      <p:sp>
        <p:nvSpPr>
          <p:cNvPr id="15" name="T28/card/region-2/title"/>
          <p:cNvSpPr/>
          <p:nvPr/>
        </p:nvSpPr>
        <p:spPr>
          <a:xfrm>
            <a:off x="5029200" y="5257800"/>
            <a:ext cx="67056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局部读数与上下文</a:t>
            </a:r>
            <a:endParaRPr lang="zh-CN" sz="1875" dirty="0"/>
          </a:p>
        </p:txBody>
      </p:sp>
      <p:sp>
        <p:nvSpPr>
          <p:cNvPr id="16" name="T28/card/region-2/body"/>
          <p:cNvSpPr/>
          <p:nvPr/>
        </p:nvSpPr>
        <p:spPr>
          <a:xfrm>
            <a:off x="5029200" y="5638800"/>
            <a:ext cx="670560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放大指定面板，保留坐标、单位和邻近图例</a:t>
            </a:r>
            <a:endParaRPr lang="zh-CN" sz="1725" dirty="0"/>
          </a:p>
        </p:txBody>
      </p:sp>
      <p:sp>
        <p:nvSpPr>
          <p:cNvPr id="17" name="T28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9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9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29 / 48</a:t>
            </a:r>
            <a:endParaRPr lang="zh-CN" sz="1050" dirty="0"/>
          </a:p>
        </p:txBody>
      </p:sp>
      <p:sp>
        <p:nvSpPr>
          <p:cNvPr id="4" name="T29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29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竖向原图与分步解读</a:t>
            </a:r>
            <a:endParaRPr lang="zh-CN" sz="2550" dirty="0"/>
          </a:p>
        </p:txBody>
      </p:sp>
      <p:sp>
        <p:nvSpPr>
          <p:cNvPr id="6" name="T29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29/panel:0:frame"/>
          <p:cNvSpPr/>
          <p:nvPr/>
        </p:nvSpPr>
        <p:spPr>
          <a:xfrm>
            <a:off x="457200" y="1409700"/>
            <a:ext cx="4514850" cy="46672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29/panel:0:tab"/>
          <p:cNvSpPr/>
          <p:nvPr/>
        </p:nvSpPr>
        <p:spPr>
          <a:xfrm>
            <a:off x="571500" y="1295400"/>
            <a:ext cx="1409700" cy="3238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29/panel:0:title"/>
          <p:cNvSpPr/>
          <p:nvPr/>
        </p:nvSpPr>
        <p:spPr>
          <a:xfrm>
            <a:off x="676275" y="1323975"/>
            <a:ext cx="12001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竖向证据图</a:t>
            </a:r>
            <a:endParaRPr lang="zh-CN" sz="1800" dirty="0"/>
          </a:p>
        </p:txBody>
      </p:sp>
      <p:sp>
        <p:nvSpPr>
          <p:cNvPr id="10" name="T29/figure:0:paper"/>
          <p:cNvSpPr/>
          <p:nvPr/>
        </p:nvSpPr>
        <p:spPr>
          <a:xfrm>
            <a:off x="590550" y="1733550"/>
            <a:ext cx="4248150" cy="419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T29/figure:0:image" descr="T1 · 示例图 · 竖向面板示例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6632" y="1733550"/>
            <a:ext cx="2315986" cy="3848100"/>
          </a:xfrm>
          <a:prstGeom prst="rect">
            <a:avLst/>
          </a:prstGeom>
        </p:spPr>
      </p:pic>
      <p:sp>
        <p:nvSpPr>
          <p:cNvPr id="12" name="T29/figure:0:caption"/>
          <p:cNvSpPr/>
          <p:nvPr/>
        </p:nvSpPr>
        <p:spPr>
          <a:xfrm>
            <a:off x="590550" y="5667375"/>
            <a:ext cx="42481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竖向面板示例；合成演示值</a:t>
            </a:r>
            <a:endParaRPr lang="zh-CN" sz="1350" dirty="0"/>
          </a:p>
        </p:txBody>
      </p:sp>
      <p:sp>
        <p:nvSpPr>
          <p:cNvPr id="13" name="T29/card/region-1/base-rule"/>
          <p:cNvSpPr/>
          <p:nvPr/>
        </p:nvSpPr>
        <p:spPr>
          <a:xfrm>
            <a:off x="5314950" y="2705100"/>
            <a:ext cx="64198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4" name="T29/card/region-1/side-mark"/>
          <p:cNvSpPr/>
          <p:nvPr/>
        </p:nvSpPr>
        <p:spPr>
          <a:xfrm>
            <a:off x="5314950" y="13525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29/card/region-1/title"/>
          <p:cNvSpPr/>
          <p:nvPr/>
        </p:nvSpPr>
        <p:spPr>
          <a:xfrm>
            <a:off x="5467350" y="1352550"/>
            <a:ext cx="62674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阅读顺序</a:t>
            </a:r>
            <a:endParaRPr lang="zh-CN" sz="1800" dirty="0"/>
          </a:p>
        </p:txBody>
      </p:sp>
      <p:sp>
        <p:nvSpPr>
          <p:cNvPr id="16" name="T29/card/region-1/body"/>
          <p:cNvSpPr/>
          <p:nvPr/>
        </p:nvSpPr>
        <p:spPr>
          <a:xfrm>
            <a:off x="5467350" y="1771650"/>
            <a:ext cx="6267450" cy="838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按面板和变量解释竖向图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先识别输入、过程与输出</a:t>
            </a:r>
            <a:endParaRPr lang="zh-CN" sz="1725" dirty="0"/>
          </a:p>
        </p:txBody>
      </p:sp>
      <p:sp>
        <p:nvSpPr>
          <p:cNvPr id="17" name="T29/card/region-2/frame"/>
          <p:cNvSpPr/>
          <p:nvPr/>
        </p:nvSpPr>
        <p:spPr>
          <a:xfrm>
            <a:off x="5314950" y="2933700"/>
            <a:ext cx="6419850" cy="13716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8" name="T29/card/region-2/heading-fill"/>
          <p:cNvSpPr/>
          <p:nvPr/>
        </p:nvSpPr>
        <p:spPr>
          <a:xfrm>
            <a:off x="5324475" y="2943225"/>
            <a:ext cx="64008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29/card/region-2/heading-rule"/>
          <p:cNvSpPr/>
          <p:nvPr/>
        </p:nvSpPr>
        <p:spPr>
          <a:xfrm>
            <a:off x="5314950" y="3314700"/>
            <a:ext cx="64198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0" name="T29/card/region-2/title"/>
          <p:cNvSpPr/>
          <p:nvPr/>
        </p:nvSpPr>
        <p:spPr>
          <a:xfrm>
            <a:off x="5438775" y="2990850"/>
            <a:ext cx="61722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关键证据</a:t>
            </a:r>
            <a:endParaRPr lang="zh-CN" sz="1800" dirty="0"/>
          </a:p>
        </p:txBody>
      </p:sp>
      <p:sp>
        <p:nvSpPr>
          <p:cNvPr id="21" name="T29/card/region-2/body"/>
          <p:cNvSpPr/>
          <p:nvPr/>
        </p:nvSpPr>
        <p:spPr>
          <a:xfrm>
            <a:off x="5448300" y="3429000"/>
            <a:ext cx="6153150" cy="781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指出哪个面板支持具体论点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把精确读数与正文或源数据对照</a:t>
            </a:r>
            <a:endParaRPr lang="zh-CN" sz="1725" dirty="0"/>
          </a:p>
        </p:txBody>
      </p:sp>
      <p:sp>
        <p:nvSpPr>
          <p:cNvPr id="22" name="T29/card/region-3/frame"/>
          <p:cNvSpPr/>
          <p:nvPr/>
        </p:nvSpPr>
        <p:spPr>
          <a:xfrm>
            <a:off x="5314950" y="4667250"/>
            <a:ext cx="6419850" cy="13525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3" name="T29/card/region-3/tab"/>
          <p:cNvSpPr/>
          <p:nvPr/>
        </p:nvSpPr>
        <p:spPr>
          <a:xfrm>
            <a:off x="5429250" y="4552950"/>
            <a:ext cx="14097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29/card/region-3/title"/>
          <p:cNvSpPr/>
          <p:nvPr/>
        </p:nvSpPr>
        <p:spPr>
          <a:xfrm>
            <a:off x="5534025" y="4581525"/>
            <a:ext cx="12001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局限与外推</a:t>
            </a:r>
            <a:endParaRPr lang="zh-CN" sz="1800" dirty="0"/>
          </a:p>
        </p:txBody>
      </p:sp>
      <p:sp>
        <p:nvSpPr>
          <p:cNvPr id="25" name="T29/card/region-3/body"/>
          <p:cNvSpPr/>
          <p:nvPr/>
        </p:nvSpPr>
        <p:spPr>
          <a:xfrm>
            <a:off x="5448300" y="5015865"/>
            <a:ext cx="6153150" cy="9086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保留图中未覆盖的条件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放大原图不改变其证据范围</a:t>
            </a:r>
            <a:endParaRPr lang="zh-CN" sz="1725" dirty="0"/>
          </a:p>
        </p:txBody>
      </p:sp>
      <p:sp>
        <p:nvSpPr>
          <p:cNvPr id="26" name="T29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0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0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30 / 48</a:t>
            </a:r>
            <a:endParaRPr lang="zh-CN" sz="1050" dirty="0"/>
          </a:p>
        </p:txBody>
      </p:sp>
      <p:sp>
        <p:nvSpPr>
          <p:cNvPr id="4" name="T30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0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图例变量与结果判读</a:t>
            </a:r>
            <a:endParaRPr lang="zh-CN" sz="2550" dirty="0"/>
          </a:p>
        </p:txBody>
      </p:sp>
      <p:sp>
        <p:nvSpPr>
          <p:cNvPr id="6" name="T30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30/panel:0:frame"/>
          <p:cNvSpPr/>
          <p:nvPr/>
        </p:nvSpPr>
        <p:spPr>
          <a:xfrm>
            <a:off x="4629150" y="1352550"/>
            <a:ext cx="7105650" cy="46291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30/panel:0:heading-fill"/>
          <p:cNvSpPr/>
          <p:nvPr/>
        </p:nvSpPr>
        <p:spPr>
          <a:xfrm>
            <a:off x="4638675" y="1362075"/>
            <a:ext cx="708660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30/panel:0:heading-rule"/>
          <p:cNvSpPr/>
          <p:nvPr/>
        </p:nvSpPr>
        <p:spPr>
          <a:xfrm>
            <a:off x="4629150" y="1743075"/>
            <a:ext cx="71056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30/panel:0:title"/>
          <p:cNvSpPr/>
          <p:nvPr/>
        </p:nvSpPr>
        <p:spPr>
          <a:xfrm>
            <a:off x="4752975" y="1409700"/>
            <a:ext cx="68580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图像与图例</a:t>
            </a:r>
            <a:endParaRPr lang="zh-CN" sz="1800" dirty="0"/>
          </a:p>
        </p:txBody>
      </p:sp>
      <p:sp>
        <p:nvSpPr>
          <p:cNvPr id="11" name="T30/figure:0:paper"/>
          <p:cNvSpPr/>
          <p:nvPr/>
        </p:nvSpPr>
        <p:spPr>
          <a:xfrm>
            <a:off x="4762500" y="1847850"/>
            <a:ext cx="6838950" cy="398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T30/figure:0:image" descr="T1 · 示例图 · 响应曲线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9850" y="1847850"/>
            <a:ext cx="6064250" cy="3638550"/>
          </a:xfrm>
          <a:prstGeom prst="rect">
            <a:avLst/>
          </a:prstGeom>
        </p:spPr>
      </p:pic>
      <p:sp>
        <p:nvSpPr>
          <p:cNvPr id="13" name="T30/figure:0:caption"/>
          <p:cNvSpPr/>
          <p:nvPr/>
        </p:nvSpPr>
        <p:spPr>
          <a:xfrm>
            <a:off x="4762500" y="5572125"/>
            <a:ext cx="6838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响应曲线；合成演示值</a:t>
            </a:r>
            <a:endParaRPr lang="zh-CN" sz="1350" dirty="0"/>
          </a:p>
        </p:txBody>
      </p:sp>
      <p:sp>
        <p:nvSpPr>
          <p:cNvPr id="14" name="T30/card/region-1/base-rule"/>
          <p:cNvSpPr/>
          <p:nvPr/>
        </p:nvSpPr>
        <p:spPr>
          <a:xfrm>
            <a:off x="457200" y="2743200"/>
            <a:ext cx="38290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5" name="T30/card/region-1/side-mark"/>
          <p:cNvSpPr/>
          <p:nvPr/>
        </p:nvSpPr>
        <p:spPr>
          <a:xfrm>
            <a:off x="457200" y="140970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30/card/region-1/title"/>
          <p:cNvSpPr/>
          <p:nvPr/>
        </p:nvSpPr>
        <p:spPr>
          <a:xfrm>
            <a:off x="609600" y="1409700"/>
            <a:ext cx="36766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坐标与变量</a:t>
            </a:r>
            <a:endParaRPr lang="zh-CN" sz="1800" dirty="0"/>
          </a:p>
        </p:txBody>
      </p:sp>
      <p:sp>
        <p:nvSpPr>
          <p:cNvPr id="17" name="T30/card/region-1/body"/>
          <p:cNvSpPr/>
          <p:nvPr/>
        </p:nvSpPr>
        <p:spPr>
          <a:xfrm>
            <a:off x="609600" y="1828800"/>
            <a:ext cx="3676650" cy="819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解释横纵轴、量纲与归一化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注明对数刻度或截断范围</a:t>
            </a:r>
            <a:endParaRPr lang="zh-CN" sz="1725" dirty="0"/>
          </a:p>
        </p:txBody>
      </p:sp>
      <p:sp>
        <p:nvSpPr>
          <p:cNvPr id="18" name="T30/card/region-2/heading-rule"/>
          <p:cNvSpPr/>
          <p:nvPr/>
        </p:nvSpPr>
        <p:spPr>
          <a:xfrm>
            <a:off x="457200" y="3371850"/>
            <a:ext cx="38290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9" name="T30/card/region-2/heading-mark"/>
          <p:cNvSpPr/>
          <p:nvPr/>
        </p:nvSpPr>
        <p:spPr>
          <a:xfrm>
            <a:off x="457200" y="337185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20" name="T30/card/region-2/title"/>
          <p:cNvSpPr/>
          <p:nvPr/>
        </p:nvSpPr>
        <p:spPr>
          <a:xfrm>
            <a:off x="457200" y="3028950"/>
            <a:ext cx="38290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颜色与处理</a:t>
            </a:r>
            <a:endParaRPr lang="zh-CN" sz="1875" dirty="0"/>
          </a:p>
        </p:txBody>
      </p:sp>
      <p:sp>
        <p:nvSpPr>
          <p:cNvPr id="21" name="T30/card/region-2/body"/>
          <p:cNvSpPr/>
          <p:nvPr/>
        </p:nvSpPr>
        <p:spPr>
          <a:xfrm>
            <a:off x="457200" y="3505200"/>
            <a:ext cx="3829050" cy="838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颜色只编码条件或类别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线型和符号也应能区分</a:t>
            </a:r>
            <a:endParaRPr lang="zh-CN" sz="1800" dirty="0"/>
          </a:p>
        </p:txBody>
      </p:sp>
      <p:sp>
        <p:nvSpPr>
          <p:cNvPr id="22" name="T30/card/region-3/title"/>
          <p:cNvSpPr/>
          <p:nvPr/>
        </p:nvSpPr>
        <p:spPr>
          <a:xfrm>
            <a:off x="457200" y="4648200"/>
            <a:ext cx="38290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判读规则</a:t>
            </a:r>
            <a:endParaRPr lang="zh-CN" sz="1875" dirty="0"/>
          </a:p>
        </p:txBody>
      </p:sp>
      <p:sp>
        <p:nvSpPr>
          <p:cNvPr id="23" name="T30/card/region-3/body"/>
          <p:cNvSpPr/>
          <p:nvPr/>
        </p:nvSpPr>
        <p:spPr>
          <a:xfrm>
            <a:off x="457200" y="5095875"/>
            <a:ext cx="3829050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说明点、带和误差条代表什么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依据实验设计解释比较关系</a:t>
            </a:r>
            <a:endParaRPr lang="zh-CN" sz="1800" dirty="0"/>
          </a:p>
        </p:txBody>
      </p:sp>
      <p:sp>
        <p:nvSpPr>
          <p:cNvPr id="24" name="T30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1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1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31 / 48</a:t>
            </a:r>
            <a:endParaRPr lang="zh-CN" sz="1050" dirty="0"/>
          </a:p>
        </p:txBody>
      </p:sp>
      <p:sp>
        <p:nvSpPr>
          <p:cNvPr id="4" name="T31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1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多篇方法的接口对应</a:t>
            </a:r>
            <a:endParaRPr lang="zh-CN" sz="2550" dirty="0"/>
          </a:p>
        </p:txBody>
      </p:sp>
      <p:sp>
        <p:nvSpPr>
          <p:cNvPr id="6" name="T31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31/panel:0:frame"/>
          <p:cNvSpPr/>
          <p:nvPr/>
        </p:nvSpPr>
        <p:spPr>
          <a:xfrm>
            <a:off x="457200" y="1371600"/>
            <a:ext cx="11277600" cy="23241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31/panel:0:heading-fill"/>
          <p:cNvSpPr/>
          <p:nvPr/>
        </p:nvSpPr>
        <p:spPr>
          <a:xfrm>
            <a:off x="466725" y="1381125"/>
            <a:ext cx="1125855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31/panel:0:heading-rule"/>
          <p:cNvSpPr/>
          <p:nvPr/>
        </p:nvSpPr>
        <p:spPr>
          <a:xfrm>
            <a:off x="457200" y="1762125"/>
            <a:ext cx="112776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31/panel:0:title"/>
          <p:cNvSpPr/>
          <p:nvPr/>
        </p:nvSpPr>
        <p:spPr>
          <a:xfrm>
            <a:off x="581025" y="1428750"/>
            <a:ext cx="110299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在同一接口层级比较</a:t>
            </a:r>
            <a:endParaRPr lang="zh-CN" sz="1800" dirty="0"/>
          </a:p>
        </p:txBody>
      </p:sp>
      <p:sp>
        <p:nvSpPr>
          <p:cNvPr id="11" name="T31/edge:0"/>
          <p:cNvSpPr/>
          <p:nvPr/>
        </p:nvSpPr>
        <p:spPr>
          <a:xfrm>
            <a:off x="2762250" y="2695575"/>
            <a:ext cx="7239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2" name="T31/edge:1"/>
          <p:cNvSpPr/>
          <p:nvPr/>
        </p:nvSpPr>
        <p:spPr>
          <a:xfrm>
            <a:off x="5638800" y="2695575"/>
            <a:ext cx="7429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3" name="T31/edge:2"/>
          <p:cNvSpPr/>
          <p:nvPr/>
        </p:nvSpPr>
        <p:spPr>
          <a:xfrm>
            <a:off x="8534400" y="2695575"/>
            <a:ext cx="7429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4" name="T31/node:step-1:frame"/>
          <p:cNvSpPr/>
          <p:nvPr/>
        </p:nvSpPr>
        <p:spPr>
          <a:xfrm>
            <a:off x="609600" y="2019300"/>
            <a:ext cx="2152650" cy="1352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5" name="T31/node:step-1:heading-rule"/>
          <p:cNvSpPr/>
          <p:nvPr/>
        </p:nvSpPr>
        <p:spPr>
          <a:xfrm>
            <a:off x="609600" y="201930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6" name="T31/node:step-1:label"/>
          <p:cNvSpPr/>
          <p:nvPr/>
        </p:nvSpPr>
        <p:spPr>
          <a:xfrm>
            <a:off x="723900" y="2114550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共同输入</a:t>
            </a:r>
            <a:endParaRPr lang="zh-CN" sz="1800" dirty="0"/>
          </a:p>
        </p:txBody>
      </p:sp>
      <p:sp>
        <p:nvSpPr>
          <p:cNvPr id="17" name="T31/node:step-1:detail"/>
          <p:cNvSpPr/>
          <p:nvPr/>
        </p:nvSpPr>
        <p:spPr>
          <a:xfrm>
            <a:off x="723900" y="2428875"/>
            <a:ext cx="192405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8" name="T31/node:step-2:frame"/>
          <p:cNvSpPr/>
          <p:nvPr/>
        </p:nvSpPr>
        <p:spPr>
          <a:xfrm>
            <a:off x="3486150" y="2019300"/>
            <a:ext cx="2152650" cy="1352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9" name="T31/node:step-2:heading-rule"/>
          <p:cNvSpPr/>
          <p:nvPr/>
        </p:nvSpPr>
        <p:spPr>
          <a:xfrm>
            <a:off x="3486150" y="201930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0" name="T31/node:step-2:label"/>
          <p:cNvSpPr/>
          <p:nvPr/>
        </p:nvSpPr>
        <p:spPr>
          <a:xfrm>
            <a:off x="3600450" y="2114550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知识接入</a:t>
            </a:r>
            <a:endParaRPr lang="zh-CN" sz="1800" dirty="0"/>
          </a:p>
        </p:txBody>
      </p:sp>
      <p:sp>
        <p:nvSpPr>
          <p:cNvPr id="21" name="T31/node:step-2:detail"/>
          <p:cNvSpPr/>
          <p:nvPr/>
        </p:nvSpPr>
        <p:spPr>
          <a:xfrm>
            <a:off x="3600450" y="2428875"/>
            <a:ext cx="192405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2" name="T31/node:step-3:frame"/>
          <p:cNvSpPr/>
          <p:nvPr/>
        </p:nvSpPr>
        <p:spPr>
          <a:xfrm>
            <a:off x="6381750" y="2019300"/>
            <a:ext cx="2152650" cy="1352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3" name="T31/node:step-3:heading-rule"/>
          <p:cNvSpPr/>
          <p:nvPr/>
        </p:nvSpPr>
        <p:spPr>
          <a:xfrm>
            <a:off x="6381750" y="201930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4" name="T31/node:step-3:label"/>
          <p:cNvSpPr/>
          <p:nvPr/>
        </p:nvSpPr>
        <p:spPr>
          <a:xfrm>
            <a:off x="6496050" y="2114550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决策接口</a:t>
            </a:r>
            <a:endParaRPr lang="zh-CN" sz="1800" dirty="0"/>
          </a:p>
        </p:txBody>
      </p:sp>
      <p:sp>
        <p:nvSpPr>
          <p:cNvPr id="25" name="T31/node:step-3:detail"/>
          <p:cNvSpPr/>
          <p:nvPr/>
        </p:nvSpPr>
        <p:spPr>
          <a:xfrm>
            <a:off x="6496050" y="2428875"/>
            <a:ext cx="192405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6" name="T31/node:step-4:frame"/>
          <p:cNvSpPr/>
          <p:nvPr/>
        </p:nvSpPr>
        <p:spPr>
          <a:xfrm>
            <a:off x="9277350" y="2019300"/>
            <a:ext cx="2305050" cy="1352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7" name="T31/node:step-4:heading-rule"/>
          <p:cNvSpPr/>
          <p:nvPr/>
        </p:nvSpPr>
        <p:spPr>
          <a:xfrm>
            <a:off x="9277350" y="2019300"/>
            <a:ext cx="23050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8" name="T31/node:step-4:label"/>
          <p:cNvSpPr/>
          <p:nvPr/>
        </p:nvSpPr>
        <p:spPr>
          <a:xfrm>
            <a:off x="9391650" y="2114550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执行与反馈</a:t>
            </a:r>
            <a:endParaRPr lang="zh-CN" sz="1800" dirty="0"/>
          </a:p>
        </p:txBody>
      </p:sp>
      <p:sp>
        <p:nvSpPr>
          <p:cNvPr id="29" name="T31/node:step-4:detail"/>
          <p:cNvSpPr/>
          <p:nvPr/>
        </p:nvSpPr>
        <p:spPr>
          <a:xfrm>
            <a:off x="9391650" y="2428875"/>
            <a:ext cx="207645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30" name="T31/card/region-1/frame"/>
          <p:cNvSpPr/>
          <p:nvPr/>
        </p:nvSpPr>
        <p:spPr>
          <a:xfrm>
            <a:off x="457200" y="4152900"/>
            <a:ext cx="5486400" cy="18669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1" name="T31/card/region-1/heading-fill"/>
          <p:cNvSpPr/>
          <p:nvPr/>
        </p:nvSpPr>
        <p:spPr>
          <a:xfrm>
            <a:off x="466725" y="4162425"/>
            <a:ext cx="54673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31/card/region-1/heading-rule"/>
          <p:cNvSpPr/>
          <p:nvPr/>
        </p:nvSpPr>
        <p:spPr>
          <a:xfrm>
            <a:off x="457200" y="4533900"/>
            <a:ext cx="54864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3" name="T31/card/region-1/title"/>
          <p:cNvSpPr/>
          <p:nvPr/>
        </p:nvSpPr>
        <p:spPr>
          <a:xfrm>
            <a:off x="581025" y="4210050"/>
            <a:ext cx="52387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共同机制</a:t>
            </a:r>
            <a:endParaRPr lang="zh-CN" sz="1800" dirty="0"/>
          </a:p>
        </p:txBody>
      </p:sp>
      <p:sp>
        <p:nvSpPr>
          <p:cNvPr id="34" name="T31/card/region-1/body"/>
          <p:cNvSpPr/>
          <p:nvPr/>
        </p:nvSpPr>
        <p:spPr>
          <a:xfrm>
            <a:off x="590550" y="4648200"/>
            <a:ext cx="5219700" cy="1276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比较共同输入、动作和反馈的接口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把机制相同与实现相同分开</a:t>
            </a:r>
            <a:endParaRPr lang="zh-CN" sz="1725" dirty="0"/>
          </a:p>
        </p:txBody>
      </p:sp>
      <p:sp>
        <p:nvSpPr>
          <p:cNvPr id="35" name="T31/card/region-2/frame"/>
          <p:cNvSpPr/>
          <p:nvPr/>
        </p:nvSpPr>
        <p:spPr>
          <a:xfrm>
            <a:off x="6248400" y="4267200"/>
            <a:ext cx="5486400" cy="17526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6" name="T31/card/region-2/tab"/>
          <p:cNvSpPr/>
          <p:nvPr/>
        </p:nvSpPr>
        <p:spPr>
          <a:xfrm>
            <a:off x="6362700" y="415290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31/card/region-2/title"/>
          <p:cNvSpPr/>
          <p:nvPr/>
        </p:nvSpPr>
        <p:spPr>
          <a:xfrm>
            <a:off x="6467475" y="418147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关键差异</a:t>
            </a:r>
            <a:endParaRPr lang="zh-CN" sz="1800" dirty="0"/>
          </a:p>
        </p:txBody>
      </p:sp>
      <p:sp>
        <p:nvSpPr>
          <p:cNvPr id="38" name="T31/card/region-2/body"/>
          <p:cNvSpPr/>
          <p:nvPr/>
        </p:nvSpPr>
        <p:spPr>
          <a:xfrm>
            <a:off x="6381750" y="4615815"/>
            <a:ext cx="5219700" cy="13087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额外知识、模型和控制权进入何处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不同环境的数值不直接排序</a:t>
            </a:r>
            <a:endParaRPr lang="zh-CN" sz="1725" dirty="0"/>
          </a:p>
        </p:txBody>
      </p:sp>
      <p:sp>
        <p:nvSpPr>
          <p:cNvPr id="39" name="T31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2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2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32 / 48</a:t>
            </a:r>
            <a:endParaRPr lang="zh-CN" sz="1050" dirty="0"/>
          </a:p>
        </p:txBody>
      </p:sp>
      <p:sp>
        <p:nvSpPr>
          <p:cNvPr id="4" name="T32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2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证据等级与外推距离</a:t>
            </a:r>
            <a:endParaRPr lang="zh-CN" sz="2550" dirty="0"/>
          </a:p>
        </p:txBody>
      </p:sp>
      <p:sp>
        <p:nvSpPr>
          <p:cNvPr id="6" name="T32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32/card/region-1/frame"/>
          <p:cNvSpPr/>
          <p:nvPr/>
        </p:nvSpPr>
        <p:spPr>
          <a:xfrm>
            <a:off x="457200" y="1409700"/>
            <a:ext cx="7620000" cy="11049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32/card/region-1/heading-fill"/>
          <p:cNvSpPr/>
          <p:nvPr/>
        </p:nvSpPr>
        <p:spPr>
          <a:xfrm>
            <a:off x="466725" y="1419225"/>
            <a:ext cx="76009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32/card/region-1/heading-rule"/>
          <p:cNvSpPr/>
          <p:nvPr/>
        </p:nvSpPr>
        <p:spPr>
          <a:xfrm>
            <a:off x="457200" y="1790700"/>
            <a:ext cx="76200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32/card/region-1/title"/>
          <p:cNvSpPr/>
          <p:nvPr/>
        </p:nvSpPr>
        <p:spPr>
          <a:xfrm>
            <a:off x="581025" y="1466850"/>
            <a:ext cx="73723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离线与模拟</a:t>
            </a:r>
            <a:endParaRPr lang="zh-CN" sz="1800" dirty="0"/>
          </a:p>
        </p:txBody>
      </p:sp>
      <p:sp>
        <p:nvSpPr>
          <p:cNvPr id="11" name="T32/card/region-1/body"/>
          <p:cNvSpPr/>
          <p:nvPr/>
        </p:nvSpPr>
        <p:spPr>
          <a:xfrm>
            <a:off x="590550" y="1905000"/>
            <a:ext cx="73533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明确模拟器和状态空间</a:t>
            </a:r>
            <a:endParaRPr lang="zh-CN" sz="1725" dirty="0"/>
          </a:p>
        </p:txBody>
      </p:sp>
      <p:sp>
        <p:nvSpPr>
          <p:cNvPr id="12" name="T32/card/region-2/frame"/>
          <p:cNvSpPr/>
          <p:nvPr/>
        </p:nvSpPr>
        <p:spPr>
          <a:xfrm>
            <a:off x="1028700" y="2609850"/>
            <a:ext cx="7048500" cy="11049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3" name="T32/card/region-2/heading-fill"/>
          <p:cNvSpPr/>
          <p:nvPr/>
        </p:nvSpPr>
        <p:spPr>
          <a:xfrm>
            <a:off x="1038225" y="2619375"/>
            <a:ext cx="70294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32/card/region-2/heading-rule"/>
          <p:cNvSpPr/>
          <p:nvPr/>
        </p:nvSpPr>
        <p:spPr>
          <a:xfrm>
            <a:off x="1028700" y="2990850"/>
            <a:ext cx="70485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5" name="T32/card/region-2/title"/>
          <p:cNvSpPr/>
          <p:nvPr/>
        </p:nvSpPr>
        <p:spPr>
          <a:xfrm>
            <a:off x="1152525" y="2667000"/>
            <a:ext cx="68008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受控实验</a:t>
            </a:r>
            <a:endParaRPr lang="zh-CN" sz="1800" dirty="0"/>
          </a:p>
        </p:txBody>
      </p:sp>
      <p:sp>
        <p:nvSpPr>
          <p:cNvPr id="16" name="T32/card/region-2/body"/>
          <p:cNvSpPr/>
          <p:nvPr/>
        </p:nvSpPr>
        <p:spPr>
          <a:xfrm>
            <a:off x="1162050" y="3105150"/>
            <a:ext cx="67818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说明受控条件与独立重复</a:t>
            </a:r>
            <a:endParaRPr lang="zh-CN" sz="1725" dirty="0"/>
          </a:p>
        </p:txBody>
      </p:sp>
      <p:sp>
        <p:nvSpPr>
          <p:cNvPr id="17" name="T32/card/region-3/frame"/>
          <p:cNvSpPr/>
          <p:nvPr/>
        </p:nvSpPr>
        <p:spPr>
          <a:xfrm>
            <a:off x="1600200" y="3810000"/>
            <a:ext cx="6477000" cy="11049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8" name="T32/card/region-3/heading-fill"/>
          <p:cNvSpPr/>
          <p:nvPr/>
        </p:nvSpPr>
        <p:spPr>
          <a:xfrm>
            <a:off x="1609725" y="3819525"/>
            <a:ext cx="64579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32/card/region-3/heading-rule"/>
          <p:cNvSpPr/>
          <p:nvPr/>
        </p:nvSpPr>
        <p:spPr>
          <a:xfrm>
            <a:off x="1600200" y="4191000"/>
            <a:ext cx="64770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0" name="T32/card/region-3/title"/>
          <p:cNvSpPr/>
          <p:nvPr/>
        </p:nvSpPr>
        <p:spPr>
          <a:xfrm>
            <a:off x="1724025" y="3867150"/>
            <a:ext cx="62293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独立环境验证</a:t>
            </a:r>
            <a:endParaRPr lang="zh-CN" sz="1800" dirty="0"/>
          </a:p>
        </p:txBody>
      </p:sp>
      <p:sp>
        <p:nvSpPr>
          <p:cNvPr id="21" name="T32/card/region-3/body"/>
          <p:cNvSpPr/>
          <p:nvPr/>
        </p:nvSpPr>
        <p:spPr>
          <a:xfrm>
            <a:off x="1733550" y="4305300"/>
            <a:ext cx="62103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报告年份、地点或对象留出</a:t>
            </a:r>
            <a:endParaRPr lang="zh-CN" sz="1725" dirty="0"/>
          </a:p>
        </p:txBody>
      </p:sp>
      <p:sp>
        <p:nvSpPr>
          <p:cNvPr id="22" name="T32/card/region-4/frame"/>
          <p:cNvSpPr/>
          <p:nvPr/>
        </p:nvSpPr>
        <p:spPr>
          <a:xfrm>
            <a:off x="2171700" y="5010150"/>
            <a:ext cx="5905500" cy="11049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3" name="T32/card/region-4/heading-fill"/>
          <p:cNvSpPr/>
          <p:nvPr/>
        </p:nvSpPr>
        <p:spPr>
          <a:xfrm>
            <a:off x="2181225" y="5019675"/>
            <a:ext cx="58864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32/card/region-4/heading-rule"/>
          <p:cNvSpPr/>
          <p:nvPr/>
        </p:nvSpPr>
        <p:spPr>
          <a:xfrm>
            <a:off x="2171700" y="5391150"/>
            <a:ext cx="59055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5" name="T32/card/region-4/title"/>
          <p:cNvSpPr/>
          <p:nvPr/>
        </p:nvSpPr>
        <p:spPr>
          <a:xfrm>
            <a:off x="2295525" y="5067300"/>
            <a:ext cx="56578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真实部署</a:t>
            </a:r>
            <a:endParaRPr lang="zh-CN" sz="1800" dirty="0"/>
          </a:p>
        </p:txBody>
      </p:sp>
      <p:sp>
        <p:nvSpPr>
          <p:cNvPr id="26" name="T32/card/region-4/body"/>
          <p:cNvSpPr/>
          <p:nvPr/>
        </p:nvSpPr>
        <p:spPr>
          <a:xfrm>
            <a:off x="2305050" y="5505450"/>
            <a:ext cx="56388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交代部署时间与干预后果</a:t>
            </a:r>
            <a:endParaRPr lang="zh-CN" sz="1725" dirty="0"/>
          </a:p>
        </p:txBody>
      </p:sp>
      <p:sp>
        <p:nvSpPr>
          <p:cNvPr id="27" name="T32/card/region-5/base-rule"/>
          <p:cNvSpPr/>
          <p:nvPr/>
        </p:nvSpPr>
        <p:spPr>
          <a:xfrm>
            <a:off x="8515350" y="3467100"/>
            <a:ext cx="32194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28" name="T32/card/region-5/side-mark"/>
          <p:cNvSpPr/>
          <p:nvPr/>
        </p:nvSpPr>
        <p:spPr>
          <a:xfrm>
            <a:off x="8515350" y="14287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32/card/region-5/title"/>
          <p:cNvSpPr/>
          <p:nvPr/>
        </p:nvSpPr>
        <p:spPr>
          <a:xfrm>
            <a:off x="8667750" y="1428750"/>
            <a:ext cx="30670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共同评价对象</a:t>
            </a:r>
            <a:endParaRPr lang="zh-CN" sz="1800" dirty="0"/>
          </a:p>
        </p:txBody>
      </p:sp>
      <p:sp>
        <p:nvSpPr>
          <p:cNvPr id="30" name="T32/card/region-5/body"/>
          <p:cNvSpPr/>
          <p:nvPr/>
        </p:nvSpPr>
        <p:spPr>
          <a:xfrm>
            <a:off x="8667750" y="1847850"/>
            <a:ext cx="306705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先确定评价对象是否一致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任务完成、预测性能和农艺收益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分别比较</a:t>
            </a:r>
            <a:endParaRPr lang="zh-CN" sz="1725" dirty="0"/>
          </a:p>
        </p:txBody>
      </p:sp>
      <p:sp>
        <p:nvSpPr>
          <p:cNvPr id="31" name="T32/card/region-6/frame"/>
          <p:cNvSpPr/>
          <p:nvPr/>
        </p:nvSpPr>
        <p:spPr>
          <a:xfrm>
            <a:off x="8515350" y="3848100"/>
            <a:ext cx="3219450" cy="21526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2" name="T32/card/region-6/tab"/>
          <p:cNvSpPr/>
          <p:nvPr/>
        </p:nvSpPr>
        <p:spPr>
          <a:xfrm>
            <a:off x="8629650" y="3733800"/>
            <a:ext cx="11811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32/card/region-6/title"/>
          <p:cNvSpPr/>
          <p:nvPr/>
        </p:nvSpPr>
        <p:spPr>
          <a:xfrm>
            <a:off x="8734425" y="376237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外推边界</a:t>
            </a:r>
            <a:endParaRPr lang="zh-CN" sz="1800" dirty="0"/>
          </a:p>
        </p:txBody>
      </p:sp>
      <p:sp>
        <p:nvSpPr>
          <p:cNvPr id="34" name="T32/card/region-6/body"/>
          <p:cNvSpPr/>
          <p:nvPr/>
        </p:nvSpPr>
        <p:spPr>
          <a:xfrm>
            <a:off x="8648700" y="4196715"/>
            <a:ext cx="2952750" cy="17087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不同证据层级支持不同结论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指出升级验证还需要什么</a:t>
            </a:r>
            <a:endParaRPr lang="zh-CN" sz="1725" dirty="0"/>
          </a:p>
        </p:txBody>
      </p:sp>
      <p:sp>
        <p:nvSpPr>
          <p:cNvPr id="35" name="T32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3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3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33 / 48</a:t>
            </a:r>
            <a:endParaRPr lang="zh-CN" sz="1050" dirty="0"/>
          </a:p>
        </p:txBody>
      </p:sp>
      <p:sp>
        <p:nvSpPr>
          <p:cNvPr id="4" name="T33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3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同维度方法比较</a:t>
            </a:r>
            <a:endParaRPr lang="zh-CN" sz="2550" dirty="0"/>
          </a:p>
        </p:txBody>
      </p:sp>
      <p:sp>
        <p:nvSpPr>
          <p:cNvPr id="6" name="T33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33/takeaway"/>
          <p:cNvSpPr/>
          <p:nvPr/>
        </p:nvSpPr>
        <p:spPr>
          <a:xfrm>
            <a:off x="457200" y="5791200"/>
            <a:ext cx="81534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统计口径、样本单位和适用条件需与原文一致</a:t>
            </a:r>
            <a:endParaRPr lang="zh-CN" sz="1800" dirty="0"/>
          </a:p>
        </p:txBody>
      </p:sp>
      <p:graphicFrame>
        <p:nvGraphicFramePr>
          <p:cNvPr id="34" name="T33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9700"/>
          <a:ext cx="8153400" cy="3072194"/>
        </p:xfrm>
        <a:graphic>
          <a:graphicData uri="http://schemas.openxmlformats.org/drawingml/2006/table">
            <a:tbl>
              <a:tblPr/>
              <a:tblGrid>
                <a:gridCol w="2038350"/>
                <a:gridCol w="2038350"/>
                <a:gridCol w="2038350"/>
                <a:gridCol w="2038350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研究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输入与知识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决策接口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验证范围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论文 A（替换）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填写实际输入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策略更新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仿真或实体（填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写）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论文 B（替换）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填写新增信息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奖励或约束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独立留出（填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写）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论文 C（替换）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填写工具边界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计划与工具调用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任务评价（填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写）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共同问题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输入是否公平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机制能否区分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结论能外推到哪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里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33/table-caption"/>
          <p:cNvSpPr/>
          <p:nvPr/>
        </p:nvSpPr>
        <p:spPr>
          <a:xfrm>
            <a:off x="457200" y="4548569"/>
            <a:ext cx="81534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结构占位 / 合成数据，必须替换后才能用于学术结论</a:t>
            </a:r>
            <a:endParaRPr lang="zh-CN" sz="1350" dirty="0"/>
          </a:p>
        </p:txBody>
      </p:sp>
      <p:sp>
        <p:nvSpPr>
          <p:cNvPr id="10" name="T33/card/region-1/base-rule"/>
          <p:cNvSpPr/>
          <p:nvPr/>
        </p:nvSpPr>
        <p:spPr>
          <a:xfrm>
            <a:off x="8934450" y="3543300"/>
            <a:ext cx="28003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1" name="T33/card/region-1/side-mark"/>
          <p:cNvSpPr/>
          <p:nvPr/>
        </p:nvSpPr>
        <p:spPr>
          <a:xfrm>
            <a:off x="8934450" y="14287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33/card/region-1/title"/>
          <p:cNvSpPr/>
          <p:nvPr/>
        </p:nvSpPr>
        <p:spPr>
          <a:xfrm>
            <a:off x="9086850" y="1428750"/>
            <a:ext cx="26479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比较维度</a:t>
            </a:r>
            <a:endParaRPr lang="zh-CN" sz="1800" dirty="0"/>
          </a:p>
        </p:txBody>
      </p:sp>
      <p:sp>
        <p:nvSpPr>
          <p:cNvPr id="13" name="T33/card/region-1/body"/>
          <p:cNvSpPr/>
          <p:nvPr/>
        </p:nvSpPr>
        <p:spPr>
          <a:xfrm>
            <a:off x="9086850" y="1847850"/>
            <a:ext cx="264795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只比较含义一致的输入与接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口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数值比较须使用相同任务和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评价单位</a:t>
            </a:r>
            <a:endParaRPr lang="zh-CN" sz="1725" dirty="0"/>
          </a:p>
        </p:txBody>
      </p:sp>
      <p:sp>
        <p:nvSpPr>
          <p:cNvPr id="14" name="T33/card/region-2/frame"/>
          <p:cNvSpPr/>
          <p:nvPr/>
        </p:nvSpPr>
        <p:spPr>
          <a:xfrm>
            <a:off x="8934450" y="3905250"/>
            <a:ext cx="2800350" cy="20955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5" name="T33/card/region-2/tab"/>
          <p:cNvSpPr/>
          <p:nvPr/>
        </p:nvSpPr>
        <p:spPr>
          <a:xfrm>
            <a:off x="9048750" y="3790950"/>
            <a:ext cx="14097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33/card/region-2/title"/>
          <p:cNvSpPr/>
          <p:nvPr/>
        </p:nvSpPr>
        <p:spPr>
          <a:xfrm>
            <a:off x="9153525" y="3819525"/>
            <a:ext cx="12001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不可比条件</a:t>
            </a:r>
            <a:endParaRPr lang="zh-CN" sz="1800" dirty="0"/>
          </a:p>
        </p:txBody>
      </p:sp>
      <p:sp>
        <p:nvSpPr>
          <p:cNvPr id="17" name="T33/card/region-2/body"/>
          <p:cNvSpPr/>
          <p:nvPr/>
        </p:nvSpPr>
        <p:spPr>
          <a:xfrm>
            <a:off x="9067800" y="4253865"/>
            <a:ext cx="2533650" cy="1651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列出数据、预算和任务范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围的差异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报告不可比原因及需要补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充的对照</a:t>
            </a:r>
            <a:endParaRPr lang="zh-CN" sz="1725" dirty="0"/>
          </a:p>
        </p:txBody>
      </p:sp>
      <p:sp>
        <p:nvSpPr>
          <p:cNvPr id="18" name="T33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4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4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34 / 48</a:t>
            </a:r>
            <a:endParaRPr lang="zh-CN" sz="1050" dirty="0"/>
          </a:p>
        </p:txBody>
      </p:sp>
      <p:sp>
        <p:nvSpPr>
          <p:cNvPr id="4" name="T34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4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研究进展与方法演化</a:t>
            </a:r>
            <a:endParaRPr lang="zh-CN" sz="2550" dirty="0"/>
          </a:p>
        </p:txBody>
      </p:sp>
      <p:sp>
        <p:nvSpPr>
          <p:cNvPr id="6" name="T34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34/edge:0"/>
          <p:cNvSpPr/>
          <p:nvPr/>
        </p:nvSpPr>
        <p:spPr>
          <a:xfrm>
            <a:off x="2762250" y="2114550"/>
            <a:ext cx="6858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8" name="T34/edge:1"/>
          <p:cNvSpPr/>
          <p:nvPr/>
        </p:nvSpPr>
        <p:spPr>
          <a:xfrm>
            <a:off x="5753100" y="2114550"/>
            <a:ext cx="6858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9" name="T34/edge:2"/>
          <p:cNvSpPr/>
          <p:nvPr/>
        </p:nvSpPr>
        <p:spPr>
          <a:xfrm>
            <a:off x="8743950" y="2114550"/>
            <a:ext cx="6858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0" name="T34/node:step-1:frame"/>
          <p:cNvSpPr/>
          <p:nvPr/>
        </p:nvSpPr>
        <p:spPr>
          <a:xfrm>
            <a:off x="457200" y="1504950"/>
            <a:ext cx="23050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1" name="T34/node:step-1:heading-rule"/>
          <p:cNvSpPr/>
          <p:nvPr/>
        </p:nvSpPr>
        <p:spPr>
          <a:xfrm>
            <a:off x="457200" y="1504950"/>
            <a:ext cx="23050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2" name="T34/node:step-1:label"/>
          <p:cNvSpPr/>
          <p:nvPr/>
        </p:nvSpPr>
        <p:spPr>
          <a:xfrm>
            <a:off x="571500" y="1600200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阶段一</a:t>
            </a:r>
            <a:endParaRPr lang="zh-CN" sz="1800" dirty="0"/>
          </a:p>
        </p:txBody>
      </p:sp>
      <p:sp>
        <p:nvSpPr>
          <p:cNvPr id="13" name="T34/node:step-1:detail"/>
          <p:cNvSpPr/>
          <p:nvPr/>
        </p:nvSpPr>
        <p:spPr>
          <a:xfrm>
            <a:off x="571500" y="1914525"/>
            <a:ext cx="207645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4" name="T34/node:step-2:frame"/>
          <p:cNvSpPr/>
          <p:nvPr/>
        </p:nvSpPr>
        <p:spPr>
          <a:xfrm>
            <a:off x="3448050" y="1504950"/>
            <a:ext cx="23050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5" name="T34/node:step-2:heading-rule"/>
          <p:cNvSpPr/>
          <p:nvPr/>
        </p:nvSpPr>
        <p:spPr>
          <a:xfrm>
            <a:off x="3448050" y="1504950"/>
            <a:ext cx="23050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6" name="T34/node:step-2:label"/>
          <p:cNvSpPr/>
          <p:nvPr/>
        </p:nvSpPr>
        <p:spPr>
          <a:xfrm>
            <a:off x="3562350" y="1600200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阶段二</a:t>
            </a:r>
            <a:endParaRPr lang="zh-CN" sz="1800" dirty="0"/>
          </a:p>
        </p:txBody>
      </p:sp>
      <p:sp>
        <p:nvSpPr>
          <p:cNvPr id="17" name="T34/node:step-2:detail"/>
          <p:cNvSpPr/>
          <p:nvPr/>
        </p:nvSpPr>
        <p:spPr>
          <a:xfrm>
            <a:off x="3562350" y="1914525"/>
            <a:ext cx="207645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8" name="T34/node:step-3:frame"/>
          <p:cNvSpPr/>
          <p:nvPr/>
        </p:nvSpPr>
        <p:spPr>
          <a:xfrm>
            <a:off x="6438900" y="1504950"/>
            <a:ext cx="23050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9" name="T34/node:step-3:heading-rule"/>
          <p:cNvSpPr/>
          <p:nvPr/>
        </p:nvSpPr>
        <p:spPr>
          <a:xfrm>
            <a:off x="6438900" y="1504950"/>
            <a:ext cx="23050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0" name="T34/node:step-3:label"/>
          <p:cNvSpPr/>
          <p:nvPr/>
        </p:nvSpPr>
        <p:spPr>
          <a:xfrm>
            <a:off x="6553200" y="1600200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阶段三</a:t>
            </a:r>
            <a:endParaRPr lang="zh-CN" sz="1800" dirty="0"/>
          </a:p>
        </p:txBody>
      </p:sp>
      <p:sp>
        <p:nvSpPr>
          <p:cNvPr id="21" name="T34/node:step-3:detail"/>
          <p:cNvSpPr/>
          <p:nvPr/>
        </p:nvSpPr>
        <p:spPr>
          <a:xfrm>
            <a:off x="6553200" y="1914525"/>
            <a:ext cx="207645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2" name="T34/node:step-4:frame"/>
          <p:cNvSpPr/>
          <p:nvPr/>
        </p:nvSpPr>
        <p:spPr>
          <a:xfrm>
            <a:off x="9429750" y="1504950"/>
            <a:ext cx="23050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3" name="T34/node:step-4:heading-rule"/>
          <p:cNvSpPr/>
          <p:nvPr/>
        </p:nvSpPr>
        <p:spPr>
          <a:xfrm>
            <a:off x="9429750" y="1504950"/>
            <a:ext cx="23050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4" name="T34/node:step-4:label"/>
          <p:cNvSpPr/>
          <p:nvPr/>
        </p:nvSpPr>
        <p:spPr>
          <a:xfrm>
            <a:off x="9544050" y="1600200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当前研究</a:t>
            </a:r>
            <a:endParaRPr lang="zh-CN" sz="1800" dirty="0"/>
          </a:p>
        </p:txBody>
      </p:sp>
      <p:sp>
        <p:nvSpPr>
          <p:cNvPr id="25" name="T34/node:step-4:detail"/>
          <p:cNvSpPr/>
          <p:nvPr/>
        </p:nvSpPr>
        <p:spPr>
          <a:xfrm>
            <a:off x="9544050" y="1914525"/>
            <a:ext cx="207645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6" name="T34/card/region-1/base-rule"/>
          <p:cNvSpPr/>
          <p:nvPr/>
        </p:nvSpPr>
        <p:spPr>
          <a:xfrm>
            <a:off x="457200" y="6019800"/>
            <a:ext cx="35242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27" name="T34/card/region-1/side-mark"/>
          <p:cNvSpPr/>
          <p:nvPr/>
        </p:nvSpPr>
        <p:spPr>
          <a:xfrm>
            <a:off x="457200" y="37147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34/card/region-1/title"/>
          <p:cNvSpPr/>
          <p:nvPr/>
        </p:nvSpPr>
        <p:spPr>
          <a:xfrm>
            <a:off x="609600" y="3714750"/>
            <a:ext cx="33718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方法演化</a:t>
            </a:r>
            <a:endParaRPr lang="zh-CN" sz="1800" dirty="0"/>
          </a:p>
        </p:txBody>
      </p:sp>
      <p:sp>
        <p:nvSpPr>
          <p:cNvPr id="29" name="T34/card/region-1/body"/>
          <p:cNvSpPr/>
          <p:nvPr/>
        </p:nvSpPr>
        <p:spPr>
          <a:xfrm>
            <a:off x="609600" y="4133850"/>
            <a:ext cx="3371850" cy="1790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记录新增的知识、工具或控制接口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用具体模块变化解释方法进展</a:t>
            </a:r>
            <a:endParaRPr lang="zh-CN" sz="1725" dirty="0"/>
          </a:p>
        </p:txBody>
      </p:sp>
      <p:sp>
        <p:nvSpPr>
          <p:cNvPr id="30" name="T34/card/region-2/heading-rule"/>
          <p:cNvSpPr/>
          <p:nvPr/>
        </p:nvSpPr>
        <p:spPr>
          <a:xfrm>
            <a:off x="4267200" y="4057650"/>
            <a:ext cx="35242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1" name="T34/card/region-2/heading-mark"/>
          <p:cNvSpPr/>
          <p:nvPr/>
        </p:nvSpPr>
        <p:spPr>
          <a:xfrm>
            <a:off x="4267200" y="405765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32" name="T34/card/region-2/title"/>
          <p:cNvSpPr/>
          <p:nvPr/>
        </p:nvSpPr>
        <p:spPr>
          <a:xfrm>
            <a:off x="4267200" y="3714750"/>
            <a:ext cx="35242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评价演化</a:t>
            </a:r>
            <a:endParaRPr lang="zh-CN" sz="1875" dirty="0"/>
          </a:p>
        </p:txBody>
      </p:sp>
      <p:sp>
        <p:nvSpPr>
          <p:cNvPr id="33" name="T34/card/region-2/body"/>
          <p:cNvSpPr/>
          <p:nvPr/>
        </p:nvSpPr>
        <p:spPr>
          <a:xfrm>
            <a:off x="4267200" y="4191000"/>
            <a:ext cx="3524250" cy="1790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区分离线指标、任务评价与现场收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益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每个阶段注明实际验证范围</a:t>
            </a:r>
            <a:endParaRPr lang="zh-CN" sz="1800" dirty="0"/>
          </a:p>
        </p:txBody>
      </p:sp>
      <p:sp>
        <p:nvSpPr>
          <p:cNvPr id="34" name="T34/card/region-3/frame"/>
          <p:cNvSpPr/>
          <p:nvPr/>
        </p:nvSpPr>
        <p:spPr>
          <a:xfrm>
            <a:off x="8077200" y="3810000"/>
            <a:ext cx="3657600" cy="22098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5" name="T34/card/region-3/tab"/>
          <p:cNvSpPr/>
          <p:nvPr/>
        </p:nvSpPr>
        <p:spPr>
          <a:xfrm>
            <a:off x="8191500" y="3695700"/>
            <a:ext cx="18669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34/card/region-3/title"/>
          <p:cNvSpPr/>
          <p:nvPr/>
        </p:nvSpPr>
        <p:spPr>
          <a:xfrm>
            <a:off x="8296275" y="3724275"/>
            <a:ext cx="16573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仍然缺少的验证</a:t>
            </a:r>
            <a:endParaRPr lang="zh-CN" sz="1800" dirty="0"/>
          </a:p>
        </p:txBody>
      </p:sp>
      <p:sp>
        <p:nvSpPr>
          <p:cNvPr id="37" name="T34/card/region-3/body"/>
          <p:cNvSpPr/>
          <p:nvPr/>
        </p:nvSpPr>
        <p:spPr>
          <a:xfrm>
            <a:off x="8210550" y="4158615"/>
            <a:ext cx="3390900" cy="17659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指出现有证据尚未覆盖的条件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提出升级验证需要的数据与对照</a:t>
            </a:r>
            <a:endParaRPr lang="zh-CN" sz="1725" dirty="0"/>
          </a:p>
        </p:txBody>
      </p:sp>
      <p:sp>
        <p:nvSpPr>
          <p:cNvPr id="38" name="T34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5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5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35 / 48</a:t>
            </a:r>
            <a:endParaRPr lang="zh-CN" sz="1050" dirty="0"/>
          </a:p>
        </p:txBody>
      </p:sp>
      <p:sp>
        <p:nvSpPr>
          <p:cNvPr id="4" name="T35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5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一致发现与相互冲突</a:t>
            </a:r>
            <a:endParaRPr lang="zh-CN" sz="2550" dirty="0"/>
          </a:p>
        </p:txBody>
      </p:sp>
      <p:sp>
        <p:nvSpPr>
          <p:cNvPr id="6" name="T35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35/figure:0:paper"/>
          <p:cNvSpPr/>
          <p:nvPr/>
        </p:nvSpPr>
        <p:spPr>
          <a:xfrm>
            <a:off x="457200" y="1314450"/>
            <a:ext cx="5467350" cy="2476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T35/figure:0:image" descr="T1 · 示例图 · 响应曲线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2875" y="1314450"/>
            <a:ext cx="3556000" cy="2133600"/>
          </a:xfrm>
          <a:prstGeom prst="rect">
            <a:avLst/>
          </a:prstGeom>
        </p:spPr>
      </p:pic>
      <p:sp>
        <p:nvSpPr>
          <p:cNvPr id="9" name="T35/figure:0:caption"/>
          <p:cNvSpPr/>
          <p:nvPr/>
        </p:nvSpPr>
        <p:spPr>
          <a:xfrm>
            <a:off x="457200" y="3533775"/>
            <a:ext cx="54673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响应曲线；合成演示值</a:t>
            </a:r>
            <a:endParaRPr lang="zh-CN" sz="1350" dirty="0"/>
          </a:p>
        </p:txBody>
      </p:sp>
      <p:sp>
        <p:nvSpPr>
          <p:cNvPr id="10" name="T35/figure:1:paper"/>
          <p:cNvSpPr/>
          <p:nvPr/>
        </p:nvSpPr>
        <p:spPr>
          <a:xfrm>
            <a:off x="6248400" y="1314450"/>
            <a:ext cx="5486400" cy="2476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T35/figure:1:image" descr="T1 · 示例图 · 效应与区间；合成演示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600" y="1314450"/>
            <a:ext cx="3556000" cy="2133600"/>
          </a:xfrm>
          <a:prstGeom prst="rect">
            <a:avLst/>
          </a:prstGeom>
        </p:spPr>
      </p:pic>
      <p:sp>
        <p:nvSpPr>
          <p:cNvPr id="12" name="T35/figure:1:caption"/>
          <p:cNvSpPr/>
          <p:nvPr/>
        </p:nvSpPr>
        <p:spPr>
          <a:xfrm>
            <a:off x="6248400" y="3533775"/>
            <a:ext cx="54864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效应与区间；合成演示值</a:t>
            </a:r>
            <a:endParaRPr lang="zh-CN" sz="1350" dirty="0"/>
          </a:p>
        </p:txBody>
      </p:sp>
      <p:sp>
        <p:nvSpPr>
          <p:cNvPr id="13" name="T35/card/region-1/frame"/>
          <p:cNvSpPr/>
          <p:nvPr/>
        </p:nvSpPr>
        <p:spPr>
          <a:xfrm>
            <a:off x="457200" y="4133850"/>
            <a:ext cx="3524250" cy="18669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4" name="T35/card/region-1/heading-fill"/>
          <p:cNvSpPr/>
          <p:nvPr/>
        </p:nvSpPr>
        <p:spPr>
          <a:xfrm>
            <a:off x="466725" y="4143375"/>
            <a:ext cx="35052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35/card/region-1/heading-rule"/>
          <p:cNvSpPr/>
          <p:nvPr/>
        </p:nvSpPr>
        <p:spPr>
          <a:xfrm>
            <a:off x="457200" y="4514850"/>
            <a:ext cx="35242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6" name="T35/card/region-1/title"/>
          <p:cNvSpPr/>
          <p:nvPr/>
        </p:nvSpPr>
        <p:spPr>
          <a:xfrm>
            <a:off x="581025" y="4191000"/>
            <a:ext cx="32766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一致发现</a:t>
            </a:r>
            <a:endParaRPr lang="zh-CN" sz="1800" dirty="0"/>
          </a:p>
        </p:txBody>
      </p:sp>
      <p:sp>
        <p:nvSpPr>
          <p:cNvPr id="17" name="T35/card/region-1/body"/>
          <p:cNvSpPr/>
          <p:nvPr/>
        </p:nvSpPr>
        <p:spPr>
          <a:xfrm>
            <a:off x="590550" y="4629150"/>
            <a:ext cx="3257550" cy="1276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汇总可被不同证据重复支持的关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系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保留各论文共享的实验条件</a:t>
            </a:r>
            <a:endParaRPr lang="zh-CN" sz="1725" dirty="0"/>
          </a:p>
        </p:txBody>
      </p:sp>
      <p:sp>
        <p:nvSpPr>
          <p:cNvPr id="18" name="T35/card/region-2/frame"/>
          <p:cNvSpPr/>
          <p:nvPr/>
        </p:nvSpPr>
        <p:spPr>
          <a:xfrm>
            <a:off x="4267200" y="4248150"/>
            <a:ext cx="3524250" cy="17526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9" name="T35/card/region-2/tab"/>
          <p:cNvSpPr/>
          <p:nvPr/>
        </p:nvSpPr>
        <p:spPr>
          <a:xfrm>
            <a:off x="4381500" y="413385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35/card/region-2/title"/>
          <p:cNvSpPr/>
          <p:nvPr/>
        </p:nvSpPr>
        <p:spPr>
          <a:xfrm>
            <a:off x="4486275" y="41624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冲突来源</a:t>
            </a:r>
            <a:endParaRPr lang="zh-CN" sz="1800" dirty="0"/>
          </a:p>
        </p:txBody>
      </p:sp>
      <p:sp>
        <p:nvSpPr>
          <p:cNvPr id="21" name="T35/card/region-2/body"/>
          <p:cNvSpPr/>
          <p:nvPr/>
        </p:nvSpPr>
        <p:spPr>
          <a:xfrm>
            <a:off x="4400550" y="4596765"/>
            <a:ext cx="3257550" cy="13087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先检查任务、样本和测量尺度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再分析机制解释是否相互排斥</a:t>
            </a:r>
            <a:endParaRPr lang="zh-CN" sz="1725" dirty="0"/>
          </a:p>
        </p:txBody>
      </p:sp>
      <p:sp>
        <p:nvSpPr>
          <p:cNvPr id="22" name="T35/card/region-3/heading-rule"/>
          <p:cNvSpPr/>
          <p:nvPr/>
        </p:nvSpPr>
        <p:spPr>
          <a:xfrm>
            <a:off x="8077200" y="4495800"/>
            <a:ext cx="36576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3" name="T35/card/region-3/heading-mark"/>
          <p:cNvSpPr/>
          <p:nvPr/>
        </p:nvSpPr>
        <p:spPr>
          <a:xfrm>
            <a:off x="8077200" y="44958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24" name="T35/card/region-3/title"/>
          <p:cNvSpPr/>
          <p:nvPr/>
        </p:nvSpPr>
        <p:spPr>
          <a:xfrm>
            <a:off x="8077200" y="4152900"/>
            <a:ext cx="36576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可区分的解释</a:t>
            </a:r>
            <a:endParaRPr lang="zh-CN" sz="1875" dirty="0"/>
          </a:p>
        </p:txBody>
      </p:sp>
      <p:sp>
        <p:nvSpPr>
          <p:cNvPr id="25" name="T35/card/region-3/body"/>
          <p:cNvSpPr/>
          <p:nvPr/>
        </p:nvSpPr>
        <p:spPr>
          <a:xfrm>
            <a:off x="8077200" y="4629150"/>
            <a:ext cx="3657600" cy="1333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列出能够解释分歧的具体条件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设计只改变该条件的公平比较</a:t>
            </a:r>
            <a:endParaRPr lang="zh-CN" sz="1800" dirty="0"/>
          </a:p>
        </p:txBody>
      </p:sp>
      <p:sp>
        <p:nvSpPr>
          <p:cNvPr id="26" name="T35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6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6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36 / 48</a:t>
            </a:r>
            <a:endParaRPr lang="zh-CN" sz="1050" dirty="0"/>
          </a:p>
        </p:txBody>
      </p:sp>
      <p:sp>
        <p:nvSpPr>
          <p:cNvPr id="4" name="T36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6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证据缺口与研究问题</a:t>
            </a:r>
            <a:endParaRPr lang="zh-CN" sz="2550" dirty="0"/>
          </a:p>
        </p:txBody>
      </p:sp>
      <p:sp>
        <p:nvSpPr>
          <p:cNvPr id="6" name="T36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36/card/region-1/frame"/>
          <p:cNvSpPr/>
          <p:nvPr/>
        </p:nvSpPr>
        <p:spPr>
          <a:xfrm>
            <a:off x="457200" y="1409700"/>
            <a:ext cx="5124450" cy="16764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36/card/region-1/heading-fill"/>
          <p:cNvSpPr/>
          <p:nvPr/>
        </p:nvSpPr>
        <p:spPr>
          <a:xfrm>
            <a:off x="466725" y="1419225"/>
            <a:ext cx="51054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36/card/region-1/heading-rule"/>
          <p:cNvSpPr/>
          <p:nvPr/>
        </p:nvSpPr>
        <p:spPr>
          <a:xfrm>
            <a:off x="457200" y="1790700"/>
            <a:ext cx="51244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36/card/region-1/title"/>
          <p:cNvSpPr/>
          <p:nvPr/>
        </p:nvSpPr>
        <p:spPr>
          <a:xfrm>
            <a:off x="581025" y="1466850"/>
            <a:ext cx="48768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已知证据一</a:t>
            </a:r>
            <a:endParaRPr lang="zh-CN" sz="1800" dirty="0"/>
          </a:p>
        </p:txBody>
      </p:sp>
      <p:sp>
        <p:nvSpPr>
          <p:cNvPr id="11" name="T36/card/region-1/body"/>
          <p:cNvSpPr/>
          <p:nvPr/>
        </p:nvSpPr>
        <p:spPr>
          <a:xfrm>
            <a:off x="590550" y="1905000"/>
            <a:ext cx="4857750" cy="1085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汇总现有研究一致支持的发现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保留场景与测量条件</a:t>
            </a:r>
            <a:endParaRPr lang="zh-CN" sz="1725" dirty="0"/>
          </a:p>
        </p:txBody>
      </p:sp>
      <p:sp>
        <p:nvSpPr>
          <p:cNvPr id="12" name="T36/card/region-2/title"/>
          <p:cNvSpPr/>
          <p:nvPr/>
        </p:nvSpPr>
        <p:spPr>
          <a:xfrm>
            <a:off x="5924550" y="1428750"/>
            <a:ext cx="58102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355D8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对应研究问题一</a:t>
            </a:r>
            <a:endParaRPr lang="zh-CN" sz="1875" dirty="0"/>
          </a:p>
        </p:txBody>
      </p:sp>
      <p:sp>
        <p:nvSpPr>
          <p:cNvPr id="13" name="T36/card/region-2/body"/>
          <p:cNvSpPr/>
          <p:nvPr/>
        </p:nvSpPr>
        <p:spPr>
          <a:xfrm>
            <a:off x="5924550" y="1876425"/>
            <a:ext cx="5810250" cy="1171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新研究需要改变哪个接口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给出具体可测的目标</a:t>
            </a:r>
            <a:endParaRPr lang="zh-CN" sz="1800" dirty="0"/>
          </a:p>
        </p:txBody>
      </p:sp>
      <p:sp>
        <p:nvSpPr>
          <p:cNvPr id="14" name="T36/card/region-3/frame"/>
          <p:cNvSpPr/>
          <p:nvPr/>
        </p:nvSpPr>
        <p:spPr>
          <a:xfrm>
            <a:off x="457200" y="3371850"/>
            <a:ext cx="5124450" cy="16764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5" name="T36/card/region-3/heading-fill"/>
          <p:cNvSpPr/>
          <p:nvPr/>
        </p:nvSpPr>
        <p:spPr>
          <a:xfrm>
            <a:off x="466725" y="3381375"/>
            <a:ext cx="51054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36/card/region-3/heading-rule"/>
          <p:cNvSpPr/>
          <p:nvPr/>
        </p:nvSpPr>
        <p:spPr>
          <a:xfrm>
            <a:off x="457200" y="3752850"/>
            <a:ext cx="51244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7" name="T36/card/region-3/title"/>
          <p:cNvSpPr/>
          <p:nvPr/>
        </p:nvSpPr>
        <p:spPr>
          <a:xfrm>
            <a:off x="581025" y="3429000"/>
            <a:ext cx="48768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已知证据二</a:t>
            </a:r>
            <a:endParaRPr lang="zh-CN" sz="1800" dirty="0"/>
          </a:p>
        </p:txBody>
      </p:sp>
      <p:sp>
        <p:nvSpPr>
          <p:cNvPr id="18" name="T36/card/region-3/body"/>
          <p:cNvSpPr/>
          <p:nvPr/>
        </p:nvSpPr>
        <p:spPr>
          <a:xfrm>
            <a:off x="590550" y="3867150"/>
            <a:ext cx="4857750" cy="1085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记录已有失败与反例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说明信息是否足以解释</a:t>
            </a:r>
            <a:endParaRPr lang="zh-CN" sz="1725" dirty="0"/>
          </a:p>
        </p:txBody>
      </p:sp>
      <p:sp>
        <p:nvSpPr>
          <p:cNvPr id="19" name="T36/card/region-4/title"/>
          <p:cNvSpPr/>
          <p:nvPr/>
        </p:nvSpPr>
        <p:spPr>
          <a:xfrm>
            <a:off x="5924550" y="3390900"/>
            <a:ext cx="58102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355D8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对应研究问题二</a:t>
            </a:r>
            <a:endParaRPr lang="zh-CN" sz="1875" dirty="0"/>
          </a:p>
        </p:txBody>
      </p:sp>
      <p:sp>
        <p:nvSpPr>
          <p:cNvPr id="20" name="T36/card/region-4/body"/>
          <p:cNvSpPr/>
          <p:nvPr/>
        </p:nvSpPr>
        <p:spPr>
          <a:xfrm>
            <a:off x="5924550" y="3838575"/>
            <a:ext cx="5810250" cy="1171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设计能区分替代解释的比较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明确数据与预算</a:t>
            </a:r>
            <a:endParaRPr lang="zh-CN" sz="1800" dirty="0"/>
          </a:p>
        </p:txBody>
      </p:sp>
      <p:sp>
        <p:nvSpPr>
          <p:cNvPr id="21" name="T36/card/region-5/title"/>
          <p:cNvSpPr/>
          <p:nvPr/>
        </p:nvSpPr>
        <p:spPr>
          <a:xfrm>
            <a:off x="457200" y="5353050"/>
            <a:ext cx="112776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下一步检验条件</a:t>
            </a:r>
            <a:endParaRPr lang="zh-CN" sz="1875" dirty="0"/>
          </a:p>
        </p:txBody>
      </p:sp>
      <p:sp>
        <p:nvSpPr>
          <p:cNvPr id="22" name="T36/card/region-5/body"/>
          <p:cNvSpPr/>
          <p:nvPr/>
        </p:nvSpPr>
        <p:spPr>
          <a:xfrm>
            <a:off x="457200" y="5734050"/>
            <a:ext cx="11277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优先检验影响核心结论且能获得证据的问题</a:t>
            </a:r>
            <a:endParaRPr lang="zh-CN" sz="1725" dirty="0"/>
          </a:p>
        </p:txBody>
      </p:sp>
      <p:sp>
        <p:nvSpPr>
          <p:cNvPr id="23" name="T36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7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7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37 / 48</a:t>
            </a:r>
            <a:endParaRPr lang="zh-CN" sz="1050" dirty="0"/>
          </a:p>
        </p:txBody>
      </p:sp>
      <p:sp>
        <p:nvSpPr>
          <p:cNvPr id="4" name="T37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7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失败案例的逐步定位</a:t>
            </a:r>
            <a:endParaRPr lang="zh-CN" sz="2550" dirty="0"/>
          </a:p>
        </p:txBody>
      </p:sp>
      <p:sp>
        <p:nvSpPr>
          <p:cNvPr id="6" name="T37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37/panel:0:frame"/>
          <p:cNvSpPr/>
          <p:nvPr/>
        </p:nvSpPr>
        <p:spPr>
          <a:xfrm>
            <a:off x="457200" y="1466850"/>
            <a:ext cx="5943600" cy="43053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37/panel:0:tab"/>
          <p:cNvSpPr/>
          <p:nvPr/>
        </p:nvSpPr>
        <p:spPr>
          <a:xfrm>
            <a:off x="571500" y="1352550"/>
            <a:ext cx="2324100" cy="3238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37/panel:0:title"/>
          <p:cNvSpPr/>
          <p:nvPr/>
        </p:nvSpPr>
        <p:spPr>
          <a:xfrm>
            <a:off x="676275" y="1381125"/>
            <a:ext cx="21145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失败输入及输出记录</a:t>
            </a:r>
            <a:endParaRPr lang="zh-CN" sz="1800" dirty="0"/>
          </a:p>
        </p:txBody>
      </p:sp>
      <p:sp>
        <p:nvSpPr>
          <p:cNvPr id="10" name="T37/takeaway"/>
          <p:cNvSpPr/>
          <p:nvPr/>
        </p:nvSpPr>
        <p:spPr>
          <a:xfrm>
            <a:off x="457200" y="5905500"/>
            <a:ext cx="5943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统计口径、样本单位和适用条件需与原文一致</a:t>
            </a:r>
            <a:endParaRPr lang="zh-CN" sz="1800" dirty="0"/>
          </a:p>
        </p:txBody>
      </p:sp>
      <p:sp>
        <p:nvSpPr>
          <p:cNvPr id="11" name="T37/figure:0:paper"/>
          <p:cNvSpPr/>
          <p:nvPr/>
        </p:nvSpPr>
        <p:spPr>
          <a:xfrm>
            <a:off x="590550" y="1790700"/>
            <a:ext cx="5676900" cy="3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T37/figure:0:image" descr="T1 · 示例图 · 响应曲线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550" y="1821180"/>
            <a:ext cx="5676900" cy="3406140"/>
          </a:xfrm>
          <a:prstGeom prst="rect">
            <a:avLst/>
          </a:prstGeom>
        </p:spPr>
      </p:pic>
      <p:sp>
        <p:nvSpPr>
          <p:cNvPr id="13" name="T37/figure:0:caption"/>
          <p:cNvSpPr/>
          <p:nvPr/>
        </p:nvSpPr>
        <p:spPr>
          <a:xfrm>
            <a:off x="590550" y="5343525"/>
            <a:ext cx="56769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响应曲线；合成演示值</a:t>
            </a:r>
            <a:endParaRPr lang="zh-CN" sz="1350" dirty="0"/>
          </a:p>
        </p:txBody>
      </p:sp>
      <p:sp>
        <p:nvSpPr>
          <p:cNvPr id="14" name="T37/card/region-1/base-rule"/>
          <p:cNvSpPr/>
          <p:nvPr/>
        </p:nvSpPr>
        <p:spPr>
          <a:xfrm>
            <a:off x="6743700" y="2724150"/>
            <a:ext cx="49911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5" name="T37/card/region-1/side-mark"/>
          <p:cNvSpPr/>
          <p:nvPr/>
        </p:nvSpPr>
        <p:spPr>
          <a:xfrm>
            <a:off x="6743700" y="1409700"/>
            <a:ext cx="47625" cy="295275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37/card/region-1/title"/>
          <p:cNvSpPr/>
          <p:nvPr/>
        </p:nvSpPr>
        <p:spPr>
          <a:xfrm>
            <a:off x="6896100" y="1409700"/>
            <a:ext cx="48387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9035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失败条件</a:t>
            </a:r>
            <a:endParaRPr lang="zh-CN" sz="1800" dirty="0"/>
          </a:p>
        </p:txBody>
      </p:sp>
      <p:sp>
        <p:nvSpPr>
          <p:cNvPr id="17" name="T37/card/region-1/body"/>
          <p:cNvSpPr/>
          <p:nvPr/>
        </p:nvSpPr>
        <p:spPr>
          <a:xfrm>
            <a:off x="6896100" y="1828800"/>
            <a:ext cx="483870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填写可复现的输入、环境与触发点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给出出现失败的任务分母</a:t>
            </a:r>
            <a:endParaRPr lang="zh-CN" sz="1725" dirty="0"/>
          </a:p>
        </p:txBody>
      </p:sp>
      <p:sp>
        <p:nvSpPr>
          <p:cNvPr id="18" name="T37/card/region-2/frame"/>
          <p:cNvSpPr/>
          <p:nvPr/>
        </p:nvSpPr>
        <p:spPr>
          <a:xfrm>
            <a:off x="6743700" y="3086100"/>
            <a:ext cx="4991100" cy="12573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9" name="T37/card/region-2/tab"/>
          <p:cNvSpPr/>
          <p:nvPr/>
        </p:nvSpPr>
        <p:spPr>
          <a:xfrm>
            <a:off x="6858000" y="2971800"/>
            <a:ext cx="20955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37/card/region-2/title"/>
          <p:cNvSpPr/>
          <p:nvPr/>
        </p:nvSpPr>
        <p:spPr>
          <a:xfrm>
            <a:off x="6962775" y="3000375"/>
            <a:ext cx="18859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错误发生在哪一步</a:t>
            </a:r>
            <a:endParaRPr lang="zh-CN" sz="1800" dirty="0"/>
          </a:p>
        </p:txBody>
      </p:sp>
      <p:sp>
        <p:nvSpPr>
          <p:cNvPr id="21" name="T37/card/region-2/body"/>
          <p:cNvSpPr/>
          <p:nvPr/>
        </p:nvSpPr>
        <p:spPr>
          <a:xfrm>
            <a:off x="6877050" y="3434715"/>
            <a:ext cx="4724400" cy="813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对照日志定位第一个错误环节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区分原始错误和后续传播</a:t>
            </a:r>
            <a:endParaRPr lang="zh-CN" sz="1725" dirty="0"/>
          </a:p>
        </p:txBody>
      </p:sp>
      <p:sp>
        <p:nvSpPr>
          <p:cNvPr id="22" name="T37/card/region-3/heading-rule"/>
          <p:cNvSpPr/>
          <p:nvPr/>
        </p:nvSpPr>
        <p:spPr>
          <a:xfrm>
            <a:off x="6743700" y="4953000"/>
            <a:ext cx="49911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3" name="T37/card/region-3/heading-mark"/>
          <p:cNvSpPr/>
          <p:nvPr/>
        </p:nvSpPr>
        <p:spPr>
          <a:xfrm>
            <a:off x="6743700" y="49530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24" name="T37/card/region-3/title"/>
          <p:cNvSpPr/>
          <p:nvPr/>
        </p:nvSpPr>
        <p:spPr>
          <a:xfrm>
            <a:off x="6743700" y="4610100"/>
            <a:ext cx="49911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对结论的影响</a:t>
            </a:r>
            <a:endParaRPr lang="zh-CN" sz="1875" dirty="0"/>
          </a:p>
        </p:txBody>
      </p:sp>
      <p:sp>
        <p:nvSpPr>
          <p:cNvPr id="25" name="T37/card/region-3/body"/>
          <p:cNvSpPr/>
          <p:nvPr/>
        </p:nvSpPr>
        <p:spPr>
          <a:xfrm>
            <a:off x="6743700" y="5086350"/>
            <a:ext cx="499110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说明失败是否改变主要结果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记录该条件是否已纳入评价</a:t>
            </a:r>
            <a:endParaRPr lang="zh-CN" sz="1800" dirty="0"/>
          </a:p>
        </p:txBody>
      </p:sp>
      <p:sp>
        <p:nvSpPr>
          <p:cNvPr id="26" name="T37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8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8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38 / 48</a:t>
            </a:r>
            <a:endParaRPr lang="zh-CN" sz="1050" dirty="0"/>
          </a:p>
        </p:txBody>
      </p:sp>
      <p:sp>
        <p:nvSpPr>
          <p:cNvPr id="4" name="T38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8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分布变化与迁移边界</a:t>
            </a:r>
            <a:endParaRPr lang="zh-CN" sz="2550" dirty="0"/>
          </a:p>
        </p:txBody>
      </p:sp>
      <p:sp>
        <p:nvSpPr>
          <p:cNvPr id="6" name="T38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graphicFrame>
        <p:nvGraphicFramePr>
          <p:cNvPr id="7" name="T38/data-chart" descr=""/>
          <p:cNvGraphicFramePr/>
          <p:nvPr/>
        </p:nvGraphicFramePr>
        <p:xfrm>
          <a:off x="457200" y="1390650"/>
          <a:ext cx="7448550" cy="32956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38/card/region-1/frame"/>
          <p:cNvSpPr/>
          <p:nvPr/>
        </p:nvSpPr>
        <p:spPr>
          <a:xfrm>
            <a:off x="8229600" y="1390650"/>
            <a:ext cx="3505200" cy="20955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9" name="T38/card/region-1/heading-fill"/>
          <p:cNvSpPr/>
          <p:nvPr/>
        </p:nvSpPr>
        <p:spPr>
          <a:xfrm>
            <a:off x="8239125" y="1400175"/>
            <a:ext cx="34861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38/card/region-1/heading-rule"/>
          <p:cNvSpPr/>
          <p:nvPr/>
        </p:nvSpPr>
        <p:spPr>
          <a:xfrm>
            <a:off x="8229600" y="1771650"/>
            <a:ext cx="35052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1" name="T38/card/region-1/title"/>
          <p:cNvSpPr/>
          <p:nvPr/>
        </p:nvSpPr>
        <p:spPr>
          <a:xfrm>
            <a:off x="8353425" y="1447800"/>
            <a:ext cx="32575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输入条件变化</a:t>
            </a:r>
            <a:endParaRPr lang="zh-CN" sz="1800" dirty="0"/>
          </a:p>
        </p:txBody>
      </p:sp>
      <p:sp>
        <p:nvSpPr>
          <p:cNvPr id="12" name="T38/card/region-1/body"/>
          <p:cNvSpPr/>
          <p:nvPr/>
        </p:nvSpPr>
        <p:spPr>
          <a:xfrm>
            <a:off x="8362950" y="1885950"/>
            <a:ext cx="3238500" cy="150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对齐训练和测试的变量范围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用同一尺度表示发生变化的条件</a:t>
            </a:r>
            <a:endParaRPr lang="zh-CN" sz="1725" dirty="0"/>
          </a:p>
        </p:txBody>
      </p:sp>
      <p:sp>
        <p:nvSpPr>
          <p:cNvPr id="13" name="T38/card/region-2/frame"/>
          <p:cNvSpPr/>
          <p:nvPr/>
        </p:nvSpPr>
        <p:spPr>
          <a:xfrm>
            <a:off x="8229600" y="3829050"/>
            <a:ext cx="3505200" cy="21717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4" name="T38/card/region-2/tab"/>
          <p:cNvSpPr/>
          <p:nvPr/>
        </p:nvSpPr>
        <p:spPr>
          <a:xfrm>
            <a:off x="8343900" y="371475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38/card/region-2/title"/>
          <p:cNvSpPr/>
          <p:nvPr/>
        </p:nvSpPr>
        <p:spPr>
          <a:xfrm>
            <a:off x="8448675" y="37433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机制失配</a:t>
            </a:r>
            <a:endParaRPr lang="zh-CN" sz="1800" dirty="0"/>
          </a:p>
        </p:txBody>
      </p:sp>
      <p:sp>
        <p:nvSpPr>
          <p:cNvPr id="16" name="T38/card/region-2/body"/>
          <p:cNvSpPr/>
          <p:nvPr/>
        </p:nvSpPr>
        <p:spPr>
          <a:xfrm>
            <a:off x="8362950" y="4177665"/>
            <a:ext cx="3238500" cy="1727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指出原有假设在哪个环境失效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检查模型、工具与执行约束的变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化</a:t>
            </a:r>
            <a:endParaRPr lang="zh-CN" sz="1725" dirty="0"/>
          </a:p>
        </p:txBody>
      </p:sp>
      <p:sp>
        <p:nvSpPr>
          <p:cNvPr id="17" name="T38/card/region-3/title"/>
          <p:cNvSpPr/>
          <p:nvPr/>
        </p:nvSpPr>
        <p:spPr>
          <a:xfrm>
            <a:off x="457200" y="5010150"/>
            <a:ext cx="74485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可支持的迁移结论</a:t>
            </a:r>
            <a:endParaRPr lang="zh-CN" sz="1875" dirty="0"/>
          </a:p>
        </p:txBody>
      </p:sp>
      <p:sp>
        <p:nvSpPr>
          <p:cNvPr id="18" name="T38/card/region-3/body"/>
          <p:cNvSpPr/>
          <p:nvPr/>
        </p:nvSpPr>
        <p:spPr>
          <a:xfrm>
            <a:off x="457200" y="5391150"/>
            <a:ext cx="744855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结论限定在已测试的条件变化内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独立报告未覆盖环境</a:t>
            </a:r>
            <a:endParaRPr lang="zh-CN" sz="1725" dirty="0"/>
          </a:p>
        </p:txBody>
      </p:sp>
      <p:sp>
        <p:nvSpPr>
          <p:cNvPr id="19" name="T38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9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9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39 / 48</a:t>
            </a:r>
            <a:endParaRPr lang="zh-CN" sz="1050" dirty="0"/>
          </a:p>
        </p:txBody>
      </p:sp>
      <p:sp>
        <p:nvSpPr>
          <p:cNvPr id="4" name="T39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9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测量偏倚与替代解释</a:t>
            </a:r>
            <a:endParaRPr lang="zh-CN" sz="2550" dirty="0"/>
          </a:p>
        </p:txBody>
      </p:sp>
      <p:sp>
        <p:nvSpPr>
          <p:cNvPr id="6" name="T39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39/edge:0"/>
          <p:cNvSpPr/>
          <p:nvPr/>
        </p:nvSpPr>
        <p:spPr>
          <a:xfrm>
            <a:off x="2819400" y="2171700"/>
            <a:ext cx="6286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8" name="T39/edge:1"/>
          <p:cNvSpPr/>
          <p:nvPr/>
        </p:nvSpPr>
        <p:spPr>
          <a:xfrm>
            <a:off x="5810250" y="2171700"/>
            <a:ext cx="6286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9" name="T39/edge:2"/>
          <p:cNvSpPr/>
          <p:nvPr/>
        </p:nvSpPr>
        <p:spPr>
          <a:xfrm>
            <a:off x="8801100" y="2171700"/>
            <a:ext cx="6286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0" name="T39/node:step-1:frame"/>
          <p:cNvSpPr/>
          <p:nvPr/>
        </p:nvSpPr>
        <p:spPr>
          <a:xfrm>
            <a:off x="457200" y="1543050"/>
            <a:ext cx="2362200" cy="12573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1" name="T39/node:step-1:heading-rule"/>
          <p:cNvSpPr/>
          <p:nvPr/>
        </p:nvSpPr>
        <p:spPr>
          <a:xfrm>
            <a:off x="457200" y="1543050"/>
            <a:ext cx="23622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2" name="T39/node:step-1:label"/>
          <p:cNvSpPr/>
          <p:nvPr/>
        </p:nvSpPr>
        <p:spPr>
          <a:xfrm>
            <a:off x="571500" y="1638300"/>
            <a:ext cx="2133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真实状态</a:t>
            </a:r>
            <a:endParaRPr lang="zh-CN" sz="1800" dirty="0"/>
          </a:p>
        </p:txBody>
      </p:sp>
      <p:sp>
        <p:nvSpPr>
          <p:cNvPr id="13" name="T39/node:step-1:detail"/>
          <p:cNvSpPr/>
          <p:nvPr/>
        </p:nvSpPr>
        <p:spPr>
          <a:xfrm>
            <a:off x="571500" y="1952625"/>
            <a:ext cx="21336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4" name="T39/node:step-2:frame"/>
          <p:cNvSpPr/>
          <p:nvPr/>
        </p:nvSpPr>
        <p:spPr>
          <a:xfrm>
            <a:off x="3448050" y="1543050"/>
            <a:ext cx="2362200" cy="12573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5" name="T39/node:step-2:heading-rule"/>
          <p:cNvSpPr/>
          <p:nvPr/>
        </p:nvSpPr>
        <p:spPr>
          <a:xfrm>
            <a:off x="3448050" y="1543050"/>
            <a:ext cx="23622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6" name="T39/node:step-2:label"/>
          <p:cNvSpPr/>
          <p:nvPr/>
        </p:nvSpPr>
        <p:spPr>
          <a:xfrm>
            <a:off x="3562350" y="1638300"/>
            <a:ext cx="2133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测量与选择</a:t>
            </a:r>
            <a:endParaRPr lang="zh-CN" sz="1800" dirty="0"/>
          </a:p>
        </p:txBody>
      </p:sp>
      <p:sp>
        <p:nvSpPr>
          <p:cNvPr id="17" name="T39/node:step-2:detail"/>
          <p:cNvSpPr/>
          <p:nvPr/>
        </p:nvSpPr>
        <p:spPr>
          <a:xfrm>
            <a:off x="3562350" y="1952625"/>
            <a:ext cx="21336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8" name="T39/node:step-3:frame"/>
          <p:cNvSpPr/>
          <p:nvPr/>
        </p:nvSpPr>
        <p:spPr>
          <a:xfrm>
            <a:off x="6438900" y="1543050"/>
            <a:ext cx="2362200" cy="12573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9" name="T39/node:step-3:heading-rule"/>
          <p:cNvSpPr/>
          <p:nvPr/>
        </p:nvSpPr>
        <p:spPr>
          <a:xfrm>
            <a:off x="6438900" y="1543050"/>
            <a:ext cx="23622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0" name="T39/node:step-3:label"/>
          <p:cNvSpPr/>
          <p:nvPr/>
        </p:nvSpPr>
        <p:spPr>
          <a:xfrm>
            <a:off x="6553200" y="1638300"/>
            <a:ext cx="2133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统计估计</a:t>
            </a:r>
            <a:endParaRPr lang="zh-CN" sz="1800" dirty="0"/>
          </a:p>
        </p:txBody>
      </p:sp>
      <p:sp>
        <p:nvSpPr>
          <p:cNvPr id="21" name="T39/node:step-3:detail"/>
          <p:cNvSpPr/>
          <p:nvPr/>
        </p:nvSpPr>
        <p:spPr>
          <a:xfrm>
            <a:off x="6553200" y="1952625"/>
            <a:ext cx="21336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2" name="T39/node:step-4:frame"/>
          <p:cNvSpPr/>
          <p:nvPr/>
        </p:nvSpPr>
        <p:spPr>
          <a:xfrm>
            <a:off x="9429750" y="1543050"/>
            <a:ext cx="2305050" cy="12573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3" name="T39/node:step-4:heading-rule"/>
          <p:cNvSpPr/>
          <p:nvPr/>
        </p:nvSpPr>
        <p:spPr>
          <a:xfrm>
            <a:off x="9429750" y="1543050"/>
            <a:ext cx="23050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4" name="T39/node:step-4:label"/>
          <p:cNvSpPr/>
          <p:nvPr/>
        </p:nvSpPr>
        <p:spPr>
          <a:xfrm>
            <a:off x="9544050" y="1638300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研究结论</a:t>
            </a:r>
            <a:endParaRPr lang="zh-CN" sz="1800" dirty="0"/>
          </a:p>
        </p:txBody>
      </p:sp>
      <p:sp>
        <p:nvSpPr>
          <p:cNvPr id="25" name="T39/node:step-4:detail"/>
          <p:cNvSpPr/>
          <p:nvPr/>
        </p:nvSpPr>
        <p:spPr>
          <a:xfrm>
            <a:off x="9544050" y="1952625"/>
            <a:ext cx="207645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6" name="T39/card/region-1/frame"/>
          <p:cNvSpPr/>
          <p:nvPr/>
        </p:nvSpPr>
        <p:spPr>
          <a:xfrm>
            <a:off x="457200" y="4210050"/>
            <a:ext cx="5486400" cy="18097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7" name="T39/card/region-1/tab"/>
          <p:cNvSpPr/>
          <p:nvPr/>
        </p:nvSpPr>
        <p:spPr>
          <a:xfrm>
            <a:off x="571500" y="4095750"/>
            <a:ext cx="11811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39/card/region-1/title"/>
          <p:cNvSpPr/>
          <p:nvPr/>
        </p:nvSpPr>
        <p:spPr>
          <a:xfrm>
            <a:off x="676275" y="41243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偏倚来源</a:t>
            </a:r>
            <a:endParaRPr lang="zh-CN" sz="1800" dirty="0"/>
          </a:p>
        </p:txBody>
      </p:sp>
      <p:sp>
        <p:nvSpPr>
          <p:cNvPr id="29" name="T39/card/region-1/body"/>
          <p:cNvSpPr/>
          <p:nvPr/>
        </p:nvSpPr>
        <p:spPr>
          <a:xfrm>
            <a:off x="590550" y="4558665"/>
            <a:ext cx="5219700" cy="1365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区分选择、测量和遗漏变量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说明偏倚可能影响的方向与对象</a:t>
            </a:r>
            <a:endParaRPr lang="zh-CN" sz="1725" dirty="0"/>
          </a:p>
        </p:txBody>
      </p:sp>
      <p:sp>
        <p:nvSpPr>
          <p:cNvPr id="30" name="T39/card/region-2/heading-rule"/>
          <p:cNvSpPr/>
          <p:nvPr/>
        </p:nvSpPr>
        <p:spPr>
          <a:xfrm>
            <a:off x="6248400" y="4457700"/>
            <a:ext cx="54864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1" name="T39/card/region-2/heading-mark"/>
          <p:cNvSpPr/>
          <p:nvPr/>
        </p:nvSpPr>
        <p:spPr>
          <a:xfrm>
            <a:off x="6248400" y="44577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32" name="T39/card/region-2/title"/>
          <p:cNvSpPr/>
          <p:nvPr/>
        </p:nvSpPr>
        <p:spPr>
          <a:xfrm>
            <a:off x="6248400" y="4114800"/>
            <a:ext cx="54864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排查与敏感性分析</a:t>
            </a:r>
            <a:endParaRPr lang="zh-CN" sz="1875" dirty="0"/>
          </a:p>
        </p:txBody>
      </p:sp>
      <p:sp>
        <p:nvSpPr>
          <p:cNvPr id="33" name="T39/card/region-2/body"/>
          <p:cNvSpPr/>
          <p:nvPr/>
        </p:nvSpPr>
        <p:spPr>
          <a:xfrm>
            <a:off x="6248400" y="4591050"/>
            <a:ext cx="5486400" cy="1390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改变可疑假设并重新估计主要效应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比较结论是否依赖单一处理选择</a:t>
            </a:r>
            <a:endParaRPr lang="zh-CN" sz="1800" dirty="0"/>
          </a:p>
        </p:txBody>
      </p:sp>
      <p:sp>
        <p:nvSpPr>
          <p:cNvPr id="34" name="T39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0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0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40 / 48</a:t>
            </a:r>
            <a:endParaRPr lang="zh-CN" sz="1050" dirty="0"/>
          </a:p>
        </p:txBody>
      </p:sp>
      <p:sp>
        <p:nvSpPr>
          <p:cNvPr id="4" name="T40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0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效度与解释边界</a:t>
            </a:r>
            <a:endParaRPr lang="zh-CN" sz="2550" dirty="0"/>
          </a:p>
        </p:txBody>
      </p:sp>
      <p:sp>
        <p:nvSpPr>
          <p:cNvPr id="6" name="T40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0/takeaway"/>
          <p:cNvSpPr/>
          <p:nvPr/>
        </p:nvSpPr>
        <p:spPr>
          <a:xfrm>
            <a:off x="457200" y="5638800"/>
            <a:ext cx="79438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解释必须由本页证据支持，并保留样本、对照与适用条件。</a:t>
            </a:r>
            <a:endParaRPr lang="zh-CN" sz="1800" dirty="0"/>
          </a:p>
        </p:txBody>
      </p:sp>
      <p:graphicFrame>
        <p:nvGraphicFramePr>
          <p:cNvPr id="41" name="T40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9700"/>
          <a:ext cx="7943850" cy="2403729"/>
        </p:xfrm>
        <a:graphic>
          <a:graphicData uri="http://schemas.openxmlformats.org/drawingml/2006/table">
            <a:tbl>
              <a:tblPr/>
              <a:tblGrid>
                <a:gridCol w="2647950"/>
                <a:gridCol w="2647950"/>
                <a:gridCol w="2647950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威胁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可能影响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可核查证据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选择偏倚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样本代表性下降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纳入与排除记录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测量误差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效应估计偏移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校准与重复测量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信息泄漏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测试结果偏高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完整数据处理链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评价混淆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结论对象改变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统一分母与评价者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环境变化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外推失效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独立环境测试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40/table-caption"/>
          <p:cNvSpPr/>
          <p:nvPr/>
        </p:nvSpPr>
        <p:spPr>
          <a:xfrm>
            <a:off x="457200" y="3880104"/>
            <a:ext cx="794385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结构占位 / 合成数据，必须替换后才能用于学术结论</a:t>
            </a:r>
            <a:endParaRPr lang="zh-CN" sz="1350" dirty="0"/>
          </a:p>
        </p:txBody>
      </p:sp>
      <p:sp>
        <p:nvSpPr>
          <p:cNvPr id="10" name="T40/card/region-1/base-rule"/>
          <p:cNvSpPr/>
          <p:nvPr/>
        </p:nvSpPr>
        <p:spPr>
          <a:xfrm>
            <a:off x="8724900" y="3505200"/>
            <a:ext cx="30099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1" name="T40/card/region-1/side-mark"/>
          <p:cNvSpPr/>
          <p:nvPr/>
        </p:nvSpPr>
        <p:spPr>
          <a:xfrm>
            <a:off x="8724900" y="14287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40/card/region-1/title"/>
          <p:cNvSpPr/>
          <p:nvPr/>
        </p:nvSpPr>
        <p:spPr>
          <a:xfrm>
            <a:off x="8877300" y="1428750"/>
            <a:ext cx="2857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内部效度</a:t>
            </a:r>
            <a:endParaRPr lang="zh-CN" sz="1800" dirty="0"/>
          </a:p>
        </p:txBody>
      </p:sp>
      <p:sp>
        <p:nvSpPr>
          <p:cNvPr id="13" name="T40/card/region-1/body"/>
          <p:cNvSpPr/>
          <p:nvPr/>
        </p:nvSpPr>
        <p:spPr>
          <a:xfrm>
            <a:off x="8877300" y="1847850"/>
            <a:ext cx="2857500" cy="156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对照是否隔离了目标干预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检查混杂、泄漏与测量不一致</a:t>
            </a:r>
            <a:endParaRPr lang="zh-CN" sz="1725" dirty="0"/>
          </a:p>
        </p:txBody>
      </p:sp>
      <p:sp>
        <p:nvSpPr>
          <p:cNvPr id="14" name="T40/card/region-2/frame"/>
          <p:cNvSpPr/>
          <p:nvPr/>
        </p:nvSpPr>
        <p:spPr>
          <a:xfrm>
            <a:off x="8724900" y="3867150"/>
            <a:ext cx="3009900" cy="21336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5" name="T40/card/region-2/tab"/>
          <p:cNvSpPr/>
          <p:nvPr/>
        </p:nvSpPr>
        <p:spPr>
          <a:xfrm>
            <a:off x="8839200" y="375285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40/card/region-2/title"/>
          <p:cNvSpPr/>
          <p:nvPr/>
        </p:nvSpPr>
        <p:spPr>
          <a:xfrm>
            <a:off x="8943975" y="37814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外部效度</a:t>
            </a:r>
            <a:endParaRPr lang="zh-CN" sz="1800" dirty="0"/>
          </a:p>
        </p:txBody>
      </p:sp>
      <p:sp>
        <p:nvSpPr>
          <p:cNvPr id="17" name="T40/card/region-2/body"/>
          <p:cNvSpPr/>
          <p:nvPr/>
        </p:nvSpPr>
        <p:spPr>
          <a:xfrm>
            <a:off x="8858250" y="4215765"/>
            <a:ext cx="2743200" cy="16897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研究样本代表哪些对象和条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明确跨地点、年份和管理制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度的限制</a:t>
            </a:r>
            <a:endParaRPr lang="zh-CN" sz="1725" dirty="0"/>
          </a:p>
        </p:txBody>
      </p:sp>
      <p:sp>
        <p:nvSpPr>
          <p:cNvPr id="18" name="T40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1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1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41 / 48</a:t>
            </a:r>
            <a:endParaRPr lang="zh-CN" sz="1050" dirty="0"/>
          </a:p>
        </p:txBody>
      </p:sp>
      <p:sp>
        <p:nvSpPr>
          <p:cNvPr id="4" name="T41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1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风险触发与干预条件</a:t>
            </a:r>
            <a:endParaRPr lang="zh-CN" sz="2550" dirty="0"/>
          </a:p>
        </p:txBody>
      </p:sp>
      <p:sp>
        <p:nvSpPr>
          <p:cNvPr id="6" name="T41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1/panel:0:frame"/>
          <p:cNvSpPr/>
          <p:nvPr/>
        </p:nvSpPr>
        <p:spPr>
          <a:xfrm>
            <a:off x="457200" y="1352550"/>
            <a:ext cx="7410450" cy="33718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41/panel:0:side-mark"/>
          <p:cNvSpPr/>
          <p:nvPr/>
        </p:nvSpPr>
        <p:spPr>
          <a:xfrm>
            <a:off x="466725" y="1428750"/>
            <a:ext cx="47625" cy="27622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41/panel:0:title"/>
          <p:cNvSpPr/>
          <p:nvPr/>
        </p:nvSpPr>
        <p:spPr>
          <a:xfrm>
            <a:off x="609600" y="1409700"/>
            <a:ext cx="71056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触发、核验与记录</a:t>
            </a:r>
            <a:endParaRPr lang="zh-CN" sz="1800" dirty="0"/>
          </a:p>
        </p:txBody>
      </p:sp>
      <p:sp>
        <p:nvSpPr>
          <p:cNvPr id="10" name="T41/edge:0"/>
          <p:cNvSpPr/>
          <p:nvPr/>
        </p:nvSpPr>
        <p:spPr>
          <a:xfrm>
            <a:off x="2590800" y="2390775"/>
            <a:ext cx="6096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1" name="T41/edge:1"/>
          <p:cNvSpPr/>
          <p:nvPr/>
        </p:nvSpPr>
        <p:spPr>
          <a:xfrm>
            <a:off x="5200650" y="2390775"/>
            <a:ext cx="4953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2" name="T41/edge:2:segment:0"/>
          <p:cNvSpPr/>
          <p:nvPr/>
        </p:nvSpPr>
        <p:spPr>
          <a:xfrm>
            <a:off x="6705600" y="2876550"/>
            <a:ext cx="0" cy="4381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3" name="T41/edge:2:segment:1"/>
          <p:cNvSpPr/>
          <p:nvPr/>
        </p:nvSpPr>
        <p:spPr>
          <a:xfrm flipH="1">
            <a:off x="4200525" y="3314700"/>
            <a:ext cx="250507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4" name="T41/edge:2:segment:2"/>
          <p:cNvSpPr/>
          <p:nvPr/>
        </p:nvSpPr>
        <p:spPr>
          <a:xfrm>
            <a:off x="4200525" y="3314700"/>
            <a:ext cx="0" cy="4381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5" name="T41/edge:3:segment:0"/>
          <p:cNvSpPr/>
          <p:nvPr/>
        </p:nvSpPr>
        <p:spPr>
          <a:xfrm flipH="1">
            <a:off x="466725" y="4162425"/>
            <a:ext cx="273367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6" name="T41/edge:3:segment:1"/>
          <p:cNvSpPr/>
          <p:nvPr/>
        </p:nvSpPr>
        <p:spPr>
          <a:xfrm flipV="1">
            <a:off x="466725" y="2390775"/>
            <a:ext cx="0" cy="17716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7" name="T41/edge:3:segment:2"/>
          <p:cNvSpPr/>
          <p:nvPr/>
        </p:nvSpPr>
        <p:spPr>
          <a:xfrm>
            <a:off x="466725" y="2390775"/>
            <a:ext cx="1238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8" name="T41/node:step-1:frame"/>
          <p:cNvSpPr/>
          <p:nvPr/>
        </p:nvSpPr>
        <p:spPr>
          <a:xfrm>
            <a:off x="590550" y="1905000"/>
            <a:ext cx="2000250" cy="971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9" name="T41/node:step-1:heading-rule"/>
          <p:cNvSpPr/>
          <p:nvPr/>
        </p:nvSpPr>
        <p:spPr>
          <a:xfrm>
            <a:off x="590550" y="1905000"/>
            <a:ext cx="20002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0" name="T41/node:step-1:label"/>
          <p:cNvSpPr/>
          <p:nvPr/>
        </p:nvSpPr>
        <p:spPr>
          <a:xfrm>
            <a:off x="704850" y="2257425"/>
            <a:ext cx="17716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异常或不确定性</a:t>
            </a:r>
            <a:endParaRPr lang="zh-CN" sz="1800" dirty="0"/>
          </a:p>
        </p:txBody>
      </p:sp>
      <p:sp>
        <p:nvSpPr>
          <p:cNvPr id="21" name="T41/node:step-2:frame"/>
          <p:cNvSpPr/>
          <p:nvPr/>
        </p:nvSpPr>
        <p:spPr>
          <a:xfrm>
            <a:off x="3200400" y="1905000"/>
            <a:ext cx="2000250" cy="971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2" name="T41/node:step-2:heading-rule"/>
          <p:cNvSpPr/>
          <p:nvPr/>
        </p:nvSpPr>
        <p:spPr>
          <a:xfrm>
            <a:off x="3200400" y="1905000"/>
            <a:ext cx="20002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3" name="T41/node:step-2:label"/>
          <p:cNvSpPr/>
          <p:nvPr/>
        </p:nvSpPr>
        <p:spPr>
          <a:xfrm>
            <a:off x="3314700" y="2257425"/>
            <a:ext cx="17716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触发复核</a:t>
            </a:r>
            <a:endParaRPr lang="zh-CN" sz="1800" dirty="0"/>
          </a:p>
        </p:txBody>
      </p:sp>
      <p:sp>
        <p:nvSpPr>
          <p:cNvPr id="24" name="T41/node:step-3:frame"/>
          <p:cNvSpPr/>
          <p:nvPr/>
        </p:nvSpPr>
        <p:spPr>
          <a:xfrm>
            <a:off x="5695950" y="1905000"/>
            <a:ext cx="2019300" cy="971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5" name="T41/node:step-3:heading-rule"/>
          <p:cNvSpPr/>
          <p:nvPr/>
        </p:nvSpPr>
        <p:spPr>
          <a:xfrm>
            <a:off x="5695950" y="1905000"/>
            <a:ext cx="20193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6" name="T41/node:step-3:label"/>
          <p:cNvSpPr/>
          <p:nvPr/>
        </p:nvSpPr>
        <p:spPr>
          <a:xfrm>
            <a:off x="5810250" y="2257425"/>
            <a:ext cx="17907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人工或工具核验</a:t>
            </a:r>
            <a:endParaRPr lang="zh-CN" sz="1800" dirty="0"/>
          </a:p>
        </p:txBody>
      </p:sp>
      <p:sp>
        <p:nvSpPr>
          <p:cNvPr id="27" name="T41/node:step-4:frame"/>
          <p:cNvSpPr/>
          <p:nvPr/>
        </p:nvSpPr>
        <p:spPr>
          <a:xfrm>
            <a:off x="3200400" y="3752850"/>
            <a:ext cx="2000250" cy="8191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8" name="T41/node:step-4:heading-rule"/>
          <p:cNvSpPr/>
          <p:nvPr/>
        </p:nvSpPr>
        <p:spPr>
          <a:xfrm>
            <a:off x="3200400" y="3752850"/>
            <a:ext cx="20002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9" name="T41/node:step-4:label"/>
          <p:cNvSpPr/>
          <p:nvPr/>
        </p:nvSpPr>
        <p:spPr>
          <a:xfrm>
            <a:off x="3314700" y="4029075"/>
            <a:ext cx="17716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返回与记录</a:t>
            </a:r>
            <a:endParaRPr lang="zh-CN" sz="1800" dirty="0"/>
          </a:p>
        </p:txBody>
      </p:sp>
      <p:sp>
        <p:nvSpPr>
          <p:cNvPr id="30" name="T41/card/region-1/frame"/>
          <p:cNvSpPr/>
          <p:nvPr/>
        </p:nvSpPr>
        <p:spPr>
          <a:xfrm>
            <a:off x="8134350" y="1504950"/>
            <a:ext cx="3600450" cy="19812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1" name="T41/card/region-1/tab"/>
          <p:cNvSpPr/>
          <p:nvPr/>
        </p:nvSpPr>
        <p:spPr>
          <a:xfrm>
            <a:off x="8248650" y="1390650"/>
            <a:ext cx="16383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41/card/region-1/title"/>
          <p:cNvSpPr/>
          <p:nvPr/>
        </p:nvSpPr>
        <p:spPr>
          <a:xfrm>
            <a:off x="8353425" y="1419225"/>
            <a:ext cx="14287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风险触发条件</a:t>
            </a:r>
            <a:endParaRPr lang="zh-CN" sz="1800" dirty="0"/>
          </a:p>
        </p:txBody>
      </p:sp>
      <p:sp>
        <p:nvSpPr>
          <p:cNvPr id="33" name="T41/card/region-1/body"/>
          <p:cNvSpPr/>
          <p:nvPr/>
        </p:nvSpPr>
        <p:spPr>
          <a:xfrm>
            <a:off x="8267700" y="1853565"/>
            <a:ext cx="3333750" cy="15373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把失败或不确定性写成可监测信号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提前规定何时停止、复核或回退</a:t>
            </a:r>
            <a:endParaRPr lang="zh-CN" sz="1725" dirty="0"/>
          </a:p>
        </p:txBody>
      </p:sp>
      <p:sp>
        <p:nvSpPr>
          <p:cNvPr id="34" name="T41/card/region-2/heading-rule"/>
          <p:cNvSpPr/>
          <p:nvPr/>
        </p:nvSpPr>
        <p:spPr>
          <a:xfrm>
            <a:off x="8134350" y="4076700"/>
            <a:ext cx="36004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5" name="T41/card/region-2/heading-mark"/>
          <p:cNvSpPr/>
          <p:nvPr/>
        </p:nvSpPr>
        <p:spPr>
          <a:xfrm>
            <a:off x="8134350" y="40767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36" name="T41/card/region-2/title"/>
          <p:cNvSpPr/>
          <p:nvPr/>
        </p:nvSpPr>
        <p:spPr>
          <a:xfrm>
            <a:off x="8134350" y="3733800"/>
            <a:ext cx="36004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人工与计算代价</a:t>
            </a:r>
            <a:endParaRPr lang="zh-CN" sz="1875" dirty="0"/>
          </a:p>
        </p:txBody>
      </p:sp>
      <p:sp>
        <p:nvSpPr>
          <p:cNvPr id="37" name="T41/card/region-2/body"/>
          <p:cNvSpPr/>
          <p:nvPr/>
        </p:nvSpPr>
        <p:spPr>
          <a:xfrm>
            <a:off x="8134350" y="4210050"/>
            <a:ext cx="3600450" cy="175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记录复核次数、耗时与算力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评价干预是否减少错误及其代价</a:t>
            </a:r>
            <a:endParaRPr lang="zh-CN" sz="1800" dirty="0"/>
          </a:p>
        </p:txBody>
      </p:sp>
      <p:sp>
        <p:nvSpPr>
          <p:cNvPr id="38" name="T41/card/region-3/title"/>
          <p:cNvSpPr/>
          <p:nvPr/>
        </p:nvSpPr>
        <p:spPr>
          <a:xfrm>
            <a:off x="457200" y="5010150"/>
            <a:ext cx="74104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9035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剩余风险</a:t>
            </a:r>
            <a:endParaRPr lang="zh-CN" sz="1875" dirty="0"/>
          </a:p>
        </p:txBody>
      </p:sp>
      <p:sp>
        <p:nvSpPr>
          <p:cNvPr id="39" name="T41/card/region-3/body"/>
          <p:cNvSpPr/>
          <p:nvPr/>
        </p:nvSpPr>
        <p:spPr>
          <a:xfrm>
            <a:off x="457200" y="5391150"/>
            <a:ext cx="741045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列出核验后仍可能保留的错误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据此限定自动执行的范围</a:t>
            </a:r>
            <a:endParaRPr lang="zh-CN" sz="1725" dirty="0"/>
          </a:p>
        </p:txBody>
      </p:sp>
      <p:sp>
        <p:nvSpPr>
          <p:cNvPr id="40" name="T41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2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2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42 / 48</a:t>
            </a:r>
            <a:endParaRPr lang="zh-CN" sz="1050" dirty="0"/>
          </a:p>
        </p:txBody>
      </p:sp>
      <p:sp>
        <p:nvSpPr>
          <p:cNvPr id="4" name="T42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2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复现材料与缺失信息</a:t>
            </a:r>
            <a:endParaRPr lang="zh-CN" sz="2550" dirty="0"/>
          </a:p>
        </p:txBody>
      </p:sp>
      <p:sp>
        <p:nvSpPr>
          <p:cNvPr id="6" name="T42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2/takeaway"/>
          <p:cNvSpPr/>
          <p:nvPr/>
        </p:nvSpPr>
        <p:spPr>
          <a:xfrm>
            <a:off x="457200" y="5676900"/>
            <a:ext cx="699135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解释必须由本页证据支持，并保留样本、对照与适用条件。</a:t>
            </a:r>
            <a:endParaRPr lang="zh-CN" sz="1800" dirty="0"/>
          </a:p>
        </p:txBody>
      </p:sp>
      <p:sp>
        <p:nvSpPr>
          <p:cNvPr id="8" name="T42/edge:0"/>
          <p:cNvSpPr/>
          <p:nvPr/>
        </p:nvSpPr>
        <p:spPr>
          <a:xfrm>
            <a:off x="2724150" y="2047875"/>
            <a:ext cx="7239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9" name="T42/edge:1"/>
          <p:cNvSpPr/>
          <p:nvPr/>
        </p:nvSpPr>
        <p:spPr>
          <a:xfrm>
            <a:off x="4543425" y="2590800"/>
            <a:ext cx="0" cy="15049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0" name="T42/edge:2"/>
          <p:cNvSpPr/>
          <p:nvPr/>
        </p:nvSpPr>
        <p:spPr>
          <a:xfrm flipH="1">
            <a:off x="2724150" y="4638675"/>
            <a:ext cx="7239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1" name="T42/node:step-1:frame"/>
          <p:cNvSpPr/>
          <p:nvPr/>
        </p:nvSpPr>
        <p:spPr>
          <a:xfrm>
            <a:off x="533400" y="1504950"/>
            <a:ext cx="2190750" cy="10858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2" name="T42/node:step-1:heading-rule"/>
          <p:cNvSpPr/>
          <p:nvPr/>
        </p:nvSpPr>
        <p:spPr>
          <a:xfrm>
            <a:off x="533400" y="1504950"/>
            <a:ext cx="21907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3" name="T42/node:step-1:label"/>
          <p:cNvSpPr/>
          <p:nvPr/>
        </p:nvSpPr>
        <p:spPr>
          <a:xfrm>
            <a:off x="647700" y="1600200"/>
            <a:ext cx="19621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数据与版本</a:t>
            </a:r>
            <a:endParaRPr lang="zh-CN" sz="1800" dirty="0"/>
          </a:p>
        </p:txBody>
      </p:sp>
      <p:sp>
        <p:nvSpPr>
          <p:cNvPr id="14" name="T42/node:step-1:detail"/>
          <p:cNvSpPr/>
          <p:nvPr/>
        </p:nvSpPr>
        <p:spPr>
          <a:xfrm>
            <a:off x="647700" y="1914525"/>
            <a:ext cx="196215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5" name="T42/node:step-2:frame"/>
          <p:cNvSpPr/>
          <p:nvPr/>
        </p:nvSpPr>
        <p:spPr>
          <a:xfrm>
            <a:off x="3448050" y="1504950"/>
            <a:ext cx="2190750" cy="10858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6" name="T42/node:step-2:heading-rule"/>
          <p:cNvSpPr/>
          <p:nvPr/>
        </p:nvSpPr>
        <p:spPr>
          <a:xfrm>
            <a:off x="3448050" y="1504950"/>
            <a:ext cx="21907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7" name="T42/node:step-2:label"/>
          <p:cNvSpPr/>
          <p:nvPr/>
        </p:nvSpPr>
        <p:spPr>
          <a:xfrm>
            <a:off x="3562350" y="1600200"/>
            <a:ext cx="19621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环境与依赖</a:t>
            </a:r>
            <a:endParaRPr lang="zh-CN" sz="1800" dirty="0"/>
          </a:p>
        </p:txBody>
      </p:sp>
      <p:sp>
        <p:nvSpPr>
          <p:cNvPr id="18" name="T42/node:step-2:detail"/>
          <p:cNvSpPr/>
          <p:nvPr/>
        </p:nvSpPr>
        <p:spPr>
          <a:xfrm>
            <a:off x="3562350" y="1914525"/>
            <a:ext cx="196215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9" name="T42/node:step-3:frame"/>
          <p:cNvSpPr/>
          <p:nvPr/>
        </p:nvSpPr>
        <p:spPr>
          <a:xfrm>
            <a:off x="3448050" y="4095750"/>
            <a:ext cx="2190750" cy="10858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0" name="T42/node:step-3:heading-rule"/>
          <p:cNvSpPr/>
          <p:nvPr/>
        </p:nvSpPr>
        <p:spPr>
          <a:xfrm>
            <a:off x="3448050" y="4095750"/>
            <a:ext cx="21907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1" name="T42/node:step-3:label"/>
          <p:cNvSpPr/>
          <p:nvPr/>
        </p:nvSpPr>
        <p:spPr>
          <a:xfrm>
            <a:off x="3562350" y="4191000"/>
            <a:ext cx="19621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代码与参数</a:t>
            </a:r>
            <a:endParaRPr lang="zh-CN" sz="1800" dirty="0"/>
          </a:p>
        </p:txBody>
      </p:sp>
      <p:sp>
        <p:nvSpPr>
          <p:cNvPr id="22" name="T42/node:step-3:detail"/>
          <p:cNvSpPr/>
          <p:nvPr/>
        </p:nvSpPr>
        <p:spPr>
          <a:xfrm>
            <a:off x="3562350" y="4505325"/>
            <a:ext cx="196215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3" name="T42/node:step-4:frame"/>
          <p:cNvSpPr/>
          <p:nvPr/>
        </p:nvSpPr>
        <p:spPr>
          <a:xfrm>
            <a:off x="533400" y="4095750"/>
            <a:ext cx="2190750" cy="10858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4" name="T42/node:step-4:heading-rule"/>
          <p:cNvSpPr/>
          <p:nvPr/>
        </p:nvSpPr>
        <p:spPr>
          <a:xfrm>
            <a:off x="533400" y="4095750"/>
            <a:ext cx="21907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5" name="T42/node:step-4:label"/>
          <p:cNvSpPr/>
          <p:nvPr/>
        </p:nvSpPr>
        <p:spPr>
          <a:xfrm>
            <a:off x="647700" y="4191000"/>
            <a:ext cx="19621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输出与核验</a:t>
            </a:r>
            <a:endParaRPr lang="zh-CN" sz="1800" dirty="0"/>
          </a:p>
        </p:txBody>
      </p:sp>
      <p:sp>
        <p:nvSpPr>
          <p:cNvPr id="26" name="T42/node:step-4:detail"/>
          <p:cNvSpPr/>
          <p:nvPr/>
        </p:nvSpPr>
        <p:spPr>
          <a:xfrm>
            <a:off x="647700" y="4505325"/>
            <a:ext cx="196215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7" name="T42/card/region-1/frame"/>
          <p:cNvSpPr/>
          <p:nvPr/>
        </p:nvSpPr>
        <p:spPr>
          <a:xfrm>
            <a:off x="7753350" y="1390650"/>
            <a:ext cx="3981450" cy="21336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8" name="T42/card/region-1/heading-fill"/>
          <p:cNvSpPr/>
          <p:nvPr/>
        </p:nvSpPr>
        <p:spPr>
          <a:xfrm>
            <a:off x="7762875" y="1400175"/>
            <a:ext cx="39624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42/card/region-1/heading-rule"/>
          <p:cNvSpPr/>
          <p:nvPr/>
        </p:nvSpPr>
        <p:spPr>
          <a:xfrm>
            <a:off x="7753350" y="1771650"/>
            <a:ext cx="39814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0" name="T42/card/region-1/title"/>
          <p:cNvSpPr/>
          <p:nvPr/>
        </p:nvSpPr>
        <p:spPr>
          <a:xfrm>
            <a:off x="7877175" y="1447800"/>
            <a:ext cx="37338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已公开材料</a:t>
            </a:r>
            <a:endParaRPr lang="zh-CN" sz="1800" dirty="0"/>
          </a:p>
        </p:txBody>
      </p:sp>
      <p:sp>
        <p:nvSpPr>
          <p:cNvPr id="31" name="T42/card/region-1/body"/>
          <p:cNvSpPr/>
          <p:nvPr/>
        </p:nvSpPr>
        <p:spPr>
          <a:xfrm>
            <a:off x="7886700" y="1885950"/>
            <a:ext cx="3714750" cy="154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逐项记录数据、代码和环境版本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用最小实验核查能否恢复原结果</a:t>
            </a:r>
            <a:endParaRPr lang="zh-CN" sz="1725" dirty="0"/>
          </a:p>
        </p:txBody>
      </p:sp>
      <p:sp>
        <p:nvSpPr>
          <p:cNvPr id="32" name="T42/card/region-2/frame"/>
          <p:cNvSpPr/>
          <p:nvPr/>
        </p:nvSpPr>
        <p:spPr>
          <a:xfrm>
            <a:off x="7753350" y="3771900"/>
            <a:ext cx="3981450" cy="2228850"/>
          </a:xfrm>
          <a:prstGeom prst="rect">
            <a:avLst/>
          </a:prstGeom>
          <a:solidFill>
            <a:srgbClr val="FFFFFF"/>
          </a:solidFill>
          <a:ln w="14288">
            <a:solidFill>
              <a:srgbClr val="903543"/>
            </a:solidFill>
            <a:prstDash val="dash"/>
          </a:ln>
        </p:spPr>
      </p:sp>
      <p:sp>
        <p:nvSpPr>
          <p:cNvPr id="33" name="T42/card/region-2/corner-white"/>
          <p:cNvSpPr/>
          <p:nvPr/>
        </p:nvSpPr>
        <p:spPr>
          <a:xfrm>
            <a:off x="11468100" y="3771900"/>
            <a:ext cx="2667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42/card/region-2/fold-diagonal"/>
          <p:cNvSpPr/>
          <p:nvPr/>
        </p:nvSpPr>
        <p:spPr>
          <a:xfrm>
            <a:off x="11468100" y="3771900"/>
            <a:ext cx="266700" cy="266700"/>
          </a:xfrm>
          <a:prstGeom prst="line">
            <a:avLst/>
          </a:prstGeom>
          <a:noFill/>
          <a:ln w="13335">
            <a:solidFill>
              <a:srgbClr val="903543"/>
            </a:solidFill>
            <a:prstDash val="solid"/>
          </a:ln>
        </p:spPr>
      </p:sp>
      <p:sp>
        <p:nvSpPr>
          <p:cNvPr id="35" name="T42/card/region-2/fold-left"/>
          <p:cNvSpPr/>
          <p:nvPr/>
        </p:nvSpPr>
        <p:spPr>
          <a:xfrm>
            <a:off x="11468100" y="3771900"/>
            <a:ext cx="0" cy="266700"/>
          </a:xfrm>
          <a:prstGeom prst="line">
            <a:avLst/>
          </a:prstGeom>
          <a:noFill/>
          <a:ln w="13335">
            <a:solidFill>
              <a:srgbClr val="903543"/>
            </a:solidFill>
            <a:prstDash val="solid"/>
          </a:ln>
        </p:spPr>
      </p:sp>
      <p:sp>
        <p:nvSpPr>
          <p:cNvPr id="36" name="T42/card/region-2/fold-bottom"/>
          <p:cNvSpPr/>
          <p:nvPr/>
        </p:nvSpPr>
        <p:spPr>
          <a:xfrm>
            <a:off x="11468100" y="4038600"/>
            <a:ext cx="266700" cy="0"/>
          </a:xfrm>
          <a:prstGeom prst="line">
            <a:avLst/>
          </a:prstGeom>
          <a:noFill/>
          <a:ln w="13335">
            <a:solidFill>
              <a:srgbClr val="903543"/>
            </a:solidFill>
            <a:prstDash val="solid"/>
          </a:ln>
        </p:spPr>
      </p:sp>
      <p:sp>
        <p:nvSpPr>
          <p:cNvPr id="37" name="T42/card/region-2/title"/>
          <p:cNvSpPr/>
          <p:nvPr/>
        </p:nvSpPr>
        <p:spPr>
          <a:xfrm>
            <a:off x="7943850" y="3933825"/>
            <a:ext cx="340995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9035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缺失与重建条件</a:t>
            </a:r>
            <a:endParaRPr lang="zh-CN" sz="1800" dirty="0"/>
          </a:p>
        </p:txBody>
      </p:sp>
      <p:sp>
        <p:nvSpPr>
          <p:cNvPr id="38" name="T42/card/region-2/body"/>
          <p:cNvSpPr/>
          <p:nvPr/>
        </p:nvSpPr>
        <p:spPr>
          <a:xfrm>
            <a:off x="7943850" y="4391025"/>
            <a:ext cx="3600450" cy="1419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78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定位缺失参数、数据或执行步骤</a:t>
            </a:r>
            <a:endParaRPr lang="zh-CN" sz="1650" dirty="0"/>
          </a:p>
          <a:p>
            <a:pPr algn="l" indent="0" marL="0">
              <a:lnSpc>
                <a:spcPts val="2178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记录重建假设及其可能影响</a:t>
            </a:r>
            <a:endParaRPr lang="zh-CN" sz="1650" dirty="0"/>
          </a:p>
        </p:txBody>
      </p:sp>
      <p:sp>
        <p:nvSpPr>
          <p:cNvPr id="39" name="T42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3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3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43 / 48</a:t>
            </a:r>
            <a:endParaRPr lang="zh-CN" sz="1050" dirty="0"/>
          </a:p>
        </p:txBody>
      </p:sp>
      <p:sp>
        <p:nvSpPr>
          <p:cNvPr id="4" name="T43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3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从证据缺口到可检验假设</a:t>
            </a:r>
            <a:endParaRPr lang="zh-CN" sz="2550" dirty="0"/>
          </a:p>
        </p:txBody>
      </p:sp>
      <p:sp>
        <p:nvSpPr>
          <p:cNvPr id="6" name="T43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3/card/region-1/frame"/>
          <p:cNvSpPr/>
          <p:nvPr/>
        </p:nvSpPr>
        <p:spPr>
          <a:xfrm>
            <a:off x="457200" y="1390650"/>
            <a:ext cx="5486400" cy="16764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43/card/region-1/heading-fill"/>
          <p:cNvSpPr/>
          <p:nvPr/>
        </p:nvSpPr>
        <p:spPr>
          <a:xfrm>
            <a:off x="466725" y="1400175"/>
            <a:ext cx="54673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43/card/region-1/heading-rule"/>
          <p:cNvSpPr/>
          <p:nvPr/>
        </p:nvSpPr>
        <p:spPr>
          <a:xfrm>
            <a:off x="457200" y="1771650"/>
            <a:ext cx="54864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43/card/region-1/title"/>
          <p:cNvSpPr/>
          <p:nvPr/>
        </p:nvSpPr>
        <p:spPr>
          <a:xfrm>
            <a:off x="581025" y="1447800"/>
            <a:ext cx="52387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已有证据</a:t>
            </a:r>
            <a:endParaRPr lang="zh-CN" sz="1800" dirty="0"/>
          </a:p>
        </p:txBody>
      </p:sp>
      <p:sp>
        <p:nvSpPr>
          <p:cNvPr id="11" name="T43/card/region-1/body"/>
          <p:cNvSpPr/>
          <p:nvPr/>
        </p:nvSpPr>
        <p:spPr>
          <a:xfrm>
            <a:off x="590550" y="1885950"/>
            <a:ext cx="5219700" cy="1085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填写可追溯的已有发现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指出效应与验证范围</a:t>
            </a:r>
            <a:endParaRPr lang="zh-CN" sz="1725" dirty="0"/>
          </a:p>
        </p:txBody>
      </p:sp>
      <p:sp>
        <p:nvSpPr>
          <p:cNvPr id="12" name="T43/card/region-2/frame"/>
          <p:cNvSpPr/>
          <p:nvPr/>
        </p:nvSpPr>
        <p:spPr>
          <a:xfrm>
            <a:off x="6248400" y="1504950"/>
            <a:ext cx="5486400" cy="15621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3" name="T43/card/region-2/tab"/>
          <p:cNvSpPr/>
          <p:nvPr/>
        </p:nvSpPr>
        <p:spPr>
          <a:xfrm>
            <a:off x="6362700" y="139065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43/card/region-2/title"/>
          <p:cNvSpPr/>
          <p:nvPr/>
        </p:nvSpPr>
        <p:spPr>
          <a:xfrm>
            <a:off x="6467475" y="14192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尚存缺口</a:t>
            </a:r>
            <a:endParaRPr lang="zh-CN" sz="1800" dirty="0"/>
          </a:p>
        </p:txBody>
      </p:sp>
      <p:sp>
        <p:nvSpPr>
          <p:cNvPr id="15" name="T43/card/region-2/body"/>
          <p:cNvSpPr/>
          <p:nvPr/>
        </p:nvSpPr>
        <p:spPr>
          <a:xfrm>
            <a:off x="6381750" y="1853565"/>
            <a:ext cx="5219700" cy="1118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将缺少的证据写成具体问题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区分未知机制与未测环境</a:t>
            </a:r>
            <a:endParaRPr lang="zh-CN" sz="1725" dirty="0"/>
          </a:p>
        </p:txBody>
      </p:sp>
      <p:sp>
        <p:nvSpPr>
          <p:cNvPr id="16" name="T43/card/region-3/frame"/>
          <p:cNvSpPr/>
          <p:nvPr/>
        </p:nvSpPr>
        <p:spPr>
          <a:xfrm>
            <a:off x="457200" y="3552825"/>
            <a:ext cx="3467100" cy="2466975"/>
          </a:xfrm>
          <a:prstGeom prst="rect">
            <a:avLst/>
          </a:prstGeom>
          <a:solidFill>
            <a:srgbClr val="FFFFFF"/>
          </a:solidFill>
          <a:ln w="14288">
            <a:solidFill>
              <a:srgbClr val="355D88"/>
            </a:solidFill>
            <a:prstDash val="solid"/>
          </a:ln>
        </p:spPr>
      </p:sp>
      <p:sp>
        <p:nvSpPr>
          <p:cNvPr id="17" name="T43/card/region-3/title-cutout"/>
          <p:cNvSpPr/>
          <p:nvPr/>
        </p:nvSpPr>
        <p:spPr>
          <a:xfrm>
            <a:off x="590550" y="3400425"/>
            <a:ext cx="108585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43/card/region-3/base-rule"/>
          <p:cNvSpPr/>
          <p:nvPr/>
        </p:nvSpPr>
        <p:spPr>
          <a:xfrm>
            <a:off x="647700" y="5867400"/>
            <a:ext cx="333375" cy="0"/>
          </a:xfrm>
          <a:prstGeom prst="line">
            <a:avLst/>
          </a:prstGeom>
          <a:noFill/>
          <a:ln w="28575">
            <a:solidFill>
              <a:srgbClr val="355D88"/>
            </a:solidFill>
            <a:prstDash val="solid"/>
          </a:ln>
        </p:spPr>
      </p:sp>
      <p:sp>
        <p:nvSpPr>
          <p:cNvPr id="19" name="T43/card/region-3/title"/>
          <p:cNvSpPr/>
          <p:nvPr/>
        </p:nvSpPr>
        <p:spPr>
          <a:xfrm>
            <a:off x="647700" y="3409950"/>
            <a:ext cx="308610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355D8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研究假设</a:t>
            </a:r>
            <a:endParaRPr lang="zh-CN" sz="1800" dirty="0"/>
          </a:p>
        </p:txBody>
      </p:sp>
      <p:sp>
        <p:nvSpPr>
          <p:cNvPr id="20" name="T43/card/region-3/body"/>
          <p:cNvSpPr/>
          <p:nvPr/>
        </p:nvSpPr>
        <p:spPr>
          <a:xfrm>
            <a:off x="647700" y="3943350"/>
            <a:ext cx="3086100" cy="1885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78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改变一个明确的机制或接口</a:t>
            </a:r>
            <a:endParaRPr lang="zh-CN" sz="1650" dirty="0"/>
          </a:p>
          <a:p>
            <a:pPr algn="l" indent="0" marL="0">
              <a:lnSpc>
                <a:spcPts val="2178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预期哪个指标发生什么变化</a:t>
            </a:r>
            <a:endParaRPr lang="zh-CN" sz="1650" dirty="0"/>
          </a:p>
          <a:p>
            <a:pPr algn="l" indent="0" marL="0">
              <a:lnSpc>
                <a:spcPts val="2178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哪种观察会使假说不获支持</a:t>
            </a:r>
            <a:endParaRPr lang="zh-CN" sz="1650" dirty="0"/>
          </a:p>
        </p:txBody>
      </p:sp>
      <p:sp>
        <p:nvSpPr>
          <p:cNvPr id="21" name="T43/card/region-4/title"/>
          <p:cNvSpPr/>
          <p:nvPr/>
        </p:nvSpPr>
        <p:spPr>
          <a:xfrm>
            <a:off x="4210050" y="3409950"/>
            <a:ext cx="34671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实验对照</a:t>
            </a:r>
            <a:endParaRPr lang="zh-CN" sz="1875" dirty="0"/>
          </a:p>
        </p:txBody>
      </p:sp>
      <p:sp>
        <p:nvSpPr>
          <p:cNvPr id="22" name="T43/card/region-4/body"/>
          <p:cNvSpPr/>
          <p:nvPr/>
        </p:nvSpPr>
        <p:spPr>
          <a:xfrm>
            <a:off x="4210050" y="3857625"/>
            <a:ext cx="3467100" cy="2124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冻结其余信息与工具预算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设置基线、干预和必要消融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保证同一评价和留出条件</a:t>
            </a:r>
            <a:endParaRPr lang="zh-CN" sz="1800" dirty="0"/>
          </a:p>
        </p:txBody>
      </p:sp>
      <p:sp>
        <p:nvSpPr>
          <p:cNvPr id="23" name="T43/card/region-5/heading-rule"/>
          <p:cNvSpPr/>
          <p:nvPr/>
        </p:nvSpPr>
        <p:spPr>
          <a:xfrm>
            <a:off x="7962900" y="3752850"/>
            <a:ext cx="37719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4" name="T43/card/region-5/heading-mark"/>
          <p:cNvSpPr/>
          <p:nvPr/>
        </p:nvSpPr>
        <p:spPr>
          <a:xfrm>
            <a:off x="7962900" y="3752850"/>
            <a:ext cx="342900" cy="0"/>
          </a:xfrm>
          <a:prstGeom prst="line">
            <a:avLst/>
          </a:prstGeom>
          <a:noFill/>
          <a:ln w="17145">
            <a:solidFill>
              <a:srgbClr val="903543"/>
            </a:solidFill>
            <a:prstDash val="solid"/>
          </a:ln>
        </p:spPr>
      </p:sp>
      <p:sp>
        <p:nvSpPr>
          <p:cNvPr id="25" name="T43/card/region-5/title"/>
          <p:cNvSpPr/>
          <p:nvPr/>
        </p:nvSpPr>
        <p:spPr>
          <a:xfrm>
            <a:off x="7962900" y="3409950"/>
            <a:ext cx="37719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9035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评价与反证</a:t>
            </a:r>
            <a:endParaRPr lang="zh-CN" sz="1875" dirty="0"/>
          </a:p>
        </p:txBody>
      </p:sp>
      <p:sp>
        <p:nvSpPr>
          <p:cNvPr id="26" name="T43/card/region-5/body"/>
          <p:cNvSpPr/>
          <p:nvPr/>
        </p:nvSpPr>
        <p:spPr>
          <a:xfrm>
            <a:off x="7962900" y="3886200"/>
            <a:ext cx="3771900" cy="2095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预先定义主要终点与不确定性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同时报告失败、成本和风险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无效或负效应也应完整保留</a:t>
            </a:r>
            <a:endParaRPr lang="zh-CN" sz="1800" dirty="0"/>
          </a:p>
        </p:txBody>
      </p:sp>
      <p:sp>
        <p:nvSpPr>
          <p:cNvPr id="27" name="T43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4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4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44 / 48</a:t>
            </a:r>
            <a:endParaRPr lang="zh-CN" sz="1050" dirty="0"/>
          </a:p>
        </p:txBody>
      </p:sp>
      <p:sp>
        <p:nvSpPr>
          <p:cNvPr id="4" name="T44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4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公平比较的实验结构</a:t>
            </a:r>
            <a:endParaRPr lang="zh-CN" sz="2550" dirty="0"/>
          </a:p>
        </p:txBody>
      </p:sp>
      <p:sp>
        <p:nvSpPr>
          <p:cNvPr id="6" name="T44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4/edge:0:segment:0"/>
          <p:cNvSpPr/>
          <p:nvPr/>
        </p:nvSpPr>
        <p:spPr>
          <a:xfrm>
            <a:off x="4362450" y="2305050"/>
            <a:ext cx="0" cy="4191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8" name="T44/edge:0:segment:1"/>
          <p:cNvSpPr/>
          <p:nvPr/>
        </p:nvSpPr>
        <p:spPr>
          <a:xfrm flipH="1">
            <a:off x="1876425" y="2724150"/>
            <a:ext cx="24860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9" name="T44/edge:0:segment:2"/>
          <p:cNvSpPr/>
          <p:nvPr/>
        </p:nvSpPr>
        <p:spPr>
          <a:xfrm>
            <a:off x="1876425" y="2724150"/>
            <a:ext cx="0" cy="4191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0" name="T44/edge:1:segment:0"/>
          <p:cNvSpPr/>
          <p:nvPr/>
        </p:nvSpPr>
        <p:spPr>
          <a:xfrm>
            <a:off x="4362450" y="2305050"/>
            <a:ext cx="0" cy="4191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1" name="T44/edge:1:segment:1"/>
          <p:cNvSpPr/>
          <p:nvPr/>
        </p:nvSpPr>
        <p:spPr>
          <a:xfrm>
            <a:off x="4362450" y="2724150"/>
            <a:ext cx="21812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2" name="T44/edge:1:segment:2"/>
          <p:cNvSpPr/>
          <p:nvPr/>
        </p:nvSpPr>
        <p:spPr>
          <a:xfrm>
            <a:off x="6543675" y="2724150"/>
            <a:ext cx="0" cy="4191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3" name="T44/edge:2:segment:0"/>
          <p:cNvSpPr/>
          <p:nvPr/>
        </p:nvSpPr>
        <p:spPr>
          <a:xfrm>
            <a:off x="3086100" y="3752850"/>
            <a:ext cx="476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4" name="T44/edge:2:segment:1"/>
          <p:cNvSpPr/>
          <p:nvPr/>
        </p:nvSpPr>
        <p:spPr>
          <a:xfrm>
            <a:off x="3133725" y="3752850"/>
            <a:ext cx="0" cy="1762125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5" name="T44/edge:2:segment:2"/>
          <p:cNvSpPr/>
          <p:nvPr/>
        </p:nvSpPr>
        <p:spPr>
          <a:xfrm>
            <a:off x="3133725" y="5514975"/>
            <a:ext cx="476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6" name="T44/edge:3:segment:0"/>
          <p:cNvSpPr/>
          <p:nvPr/>
        </p:nvSpPr>
        <p:spPr>
          <a:xfrm>
            <a:off x="6543675" y="4362450"/>
            <a:ext cx="0" cy="3429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7" name="T44/edge:3:segment:1"/>
          <p:cNvSpPr/>
          <p:nvPr/>
        </p:nvSpPr>
        <p:spPr>
          <a:xfrm flipH="1">
            <a:off x="4362450" y="4705350"/>
            <a:ext cx="21812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8" name="T44/edge:3:segment:2"/>
          <p:cNvSpPr/>
          <p:nvPr/>
        </p:nvSpPr>
        <p:spPr>
          <a:xfrm>
            <a:off x="4362450" y="4705350"/>
            <a:ext cx="0" cy="34290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9" name="T44/node:step-1:frame"/>
          <p:cNvSpPr/>
          <p:nvPr/>
        </p:nvSpPr>
        <p:spPr>
          <a:xfrm>
            <a:off x="3181350" y="1409700"/>
            <a:ext cx="2362200" cy="8953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0" name="T44/node:step-1:heading-rule"/>
          <p:cNvSpPr/>
          <p:nvPr/>
        </p:nvSpPr>
        <p:spPr>
          <a:xfrm>
            <a:off x="3181350" y="1409700"/>
            <a:ext cx="23622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1" name="T44/node:step-1:label"/>
          <p:cNvSpPr/>
          <p:nvPr/>
        </p:nvSpPr>
        <p:spPr>
          <a:xfrm>
            <a:off x="3295650" y="1724025"/>
            <a:ext cx="2133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同一数据与任务集</a:t>
            </a:r>
            <a:endParaRPr lang="zh-CN" sz="1800" dirty="0"/>
          </a:p>
        </p:txBody>
      </p:sp>
      <p:sp>
        <p:nvSpPr>
          <p:cNvPr id="22" name="T44/node:step-2:frame"/>
          <p:cNvSpPr/>
          <p:nvPr/>
        </p:nvSpPr>
        <p:spPr>
          <a:xfrm>
            <a:off x="666750" y="3143250"/>
            <a:ext cx="24193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3" name="T44/node:step-2:heading-rule"/>
          <p:cNvSpPr/>
          <p:nvPr/>
        </p:nvSpPr>
        <p:spPr>
          <a:xfrm>
            <a:off x="666750" y="3143250"/>
            <a:ext cx="24193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4" name="T44/node:step-2:label"/>
          <p:cNvSpPr/>
          <p:nvPr/>
        </p:nvSpPr>
        <p:spPr>
          <a:xfrm>
            <a:off x="781050" y="3238500"/>
            <a:ext cx="21907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基线流程</a:t>
            </a:r>
            <a:endParaRPr lang="zh-CN" sz="1800" dirty="0"/>
          </a:p>
        </p:txBody>
      </p:sp>
      <p:sp>
        <p:nvSpPr>
          <p:cNvPr id="25" name="T44/node:step-2:detail"/>
          <p:cNvSpPr/>
          <p:nvPr/>
        </p:nvSpPr>
        <p:spPr>
          <a:xfrm>
            <a:off x="781050" y="3552825"/>
            <a:ext cx="219075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6" name="T44/node:step-3:frame"/>
          <p:cNvSpPr/>
          <p:nvPr/>
        </p:nvSpPr>
        <p:spPr>
          <a:xfrm>
            <a:off x="5334000" y="3143250"/>
            <a:ext cx="241935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7" name="T44/node:step-3:heading-rule"/>
          <p:cNvSpPr/>
          <p:nvPr/>
        </p:nvSpPr>
        <p:spPr>
          <a:xfrm>
            <a:off x="5334000" y="3143250"/>
            <a:ext cx="24193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8" name="T44/node:step-3:label"/>
          <p:cNvSpPr/>
          <p:nvPr/>
        </p:nvSpPr>
        <p:spPr>
          <a:xfrm>
            <a:off x="5448300" y="3238500"/>
            <a:ext cx="21907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干预流程</a:t>
            </a:r>
            <a:endParaRPr lang="zh-CN" sz="1800" dirty="0"/>
          </a:p>
        </p:txBody>
      </p:sp>
      <p:sp>
        <p:nvSpPr>
          <p:cNvPr id="29" name="T44/node:step-3:detail"/>
          <p:cNvSpPr/>
          <p:nvPr/>
        </p:nvSpPr>
        <p:spPr>
          <a:xfrm>
            <a:off x="5448300" y="3552825"/>
            <a:ext cx="2190750" cy="723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30" name="T44/node:step-4:frame"/>
          <p:cNvSpPr/>
          <p:nvPr/>
        </p:nvSpPr>
        <p:spPr>
          <a:xfrm>
            <a:off x="3181350" y="5048250"/>
            <a:ext cx="2362200" cy="9334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1" name="T44/node:step-4:heading-rule"/>
          <p:cNvSpPr/>
          <p:nvPr/>
        </p:nvSpPr>
        <p:spPr>
          <a:xfrm>
            <a:off x="3181350" y="5048250"/>
            <a:ext cx="23622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32" name="T44/node:step-4:label"/>
          <p:cNvSpPr/>
          <p:nvPr/>
        </p:nvSpPr>
        <p:spPr>
          <a:xfrm>
            <a:off x="3295650" y="5381625"/>
            <a:ext cx="2133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统一评价</a:t>
            </a:r>
            <a:endParaRPr lang="zh-CN" sz="1800" dirty="0"/>
          </a:p>
        </p:txBody>
      </p:sp>
      <p:sp>
        <p:nvSpPr>
          <p:cNvPr id="33" name="T44/card/region-1/frame"/>
          <p:cNvSpPr/>
          <p:nvPr/>
        </p:nvSpPr>
        <p:spPr>
          <a:xfrm>
            <a:off x="8610600" y="1390650"/>
            <a:ext cx="3124200" cy="20955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4" name="T44/card/region-1/heading-fill"/>
          <p:cNvSpPr/>
          <p:nvPr/>
        </p:nvSpPr>
        <p:spPr>
          <a:xfrm>
            <a:off x="8620125" y="1400175"/>
            <a:ext cx="31051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44/card/region-1/heading-rule"/>
          <p:cNvSpPr/>
          <p:nvPr/>
        </p:nvSpPr>
        <p:spPr>
          <a:xfrm>
            <a:off x="8610600" y="1771650"/>
            <a:ext cx="31242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6" name="T44/card/region-1/title"/>
          <p:cNvSpPr/>
          <p:nvPr/>
        </p:nvSpPr>
        <p:spPr>
          <a:xfrm>
            <a:off x="8734425" y="1447800"/>
            <a:ext cx="28765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共同预算与信息</a:t>
            </a:r>
            <a:endParaRPr lang="zh-CN" sz="1800" dirty="0"/>
          </a:p>
        </p:txBody>
      </p:sp>
      <p:sp>
        <p:nvSpPr>
          <p:cNvPr id="37" name="T44/card/region-1/body"/>
          <p:cNvSpPr/>
          <p:nvPr/>
        </p:nvSpPr>
        <p:spPr>
          <a:xfrm>
            <a:off x="8743950" y="1885950"/>
            <a:ext cx="2857500" cy="150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双方使用同一任务、观测和工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具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固定调用次数、人工介入和预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算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明确干预只改变哪个环节</a:t>
            </a:r>
            <a:endParaRPr lang="zh-CN" sz="1725" dirty="0"/>
          </a:p>
        </p:txBody>
      </p:sp>
      <p:sp>
        <p:nvSpPr>
          <p:cNvPr id="38" name="T44/card/region-2/frame"/>
          <p:cNvSpPr/>
          <p:nvPr/>
        </p:nvSpPr>
        <p:spPr>
          <a:xfrm>
            <a:off x="8610600" y="3829050"/>
            <a:ext cx="3124200" cy="21717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9" name="T44/card/region-2/tab"/>
          <p:cNvSpPr/>
          <p:nvPr/>
        </p:nvSpPr>
        <p:spPr>
          <a:xfrm>
            <a:off x="8724900" y="3714750"/>
            <a:ext cx="18669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44/card/region-2/title"/>
          <p:cNvSpPr/>
          <p:nvPr/>
        </p:nvSpPr>
        <p:spPr>
          <a:xfrm>
            <a:off x="8829675" y="3743325"/>
            <a:ext cx="16573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主要终点与反证</a:t>
            </a:r>
            <a:endParaRPr lang="zh-CN" sz="1800" dirty="0"/>
          </a:p>
        </p:txBody>
      </p:sp>
      <p:sp>
        <p:nvSpPr>
          <p:cNvPr id="41" name="T44/card/region-2/body"/>
          <p:cNvSpPr/>
          <p:nvPr/>
        </p:nvSpPr>
        <p:spPr>
          <a:xfrm>
            <a:off x="8743950" y="4177665"/>
            <a:ext cx="2857500" cy="1727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定义可测的主要终点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统一盲评与统计单位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预先规定不支持假说的结果</a:t>
            </a:r>
            <a:endParaRPr lang="zh-CN" sz="1725" dirty="0"/>
          </a:p>
        </p:txBody>
      </p:sp>
      <p:sp>
        <p:nvSpPr>
          <p:cNvPr id="42" name="T44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5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5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45 / 48</a:t>
            </a:r>
            <a:endParaRPr lang="zh-CN" sz="1050" dirty="0"/>
          </a:p>
        </p:txBody>
      </p:sp>
      <p:sp>
        <p:nvSpPr>
          <p:cNvPr id="4" name="T45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5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数据采集与评价计划</a:t>
            </a:r>
            <a:endParaRPr lang="zh-CN" sz="2550" dirty="0"/>
          </a:p>
        </p:txBody>
      </p:sp>
      <p:sp>
        <p:nvSpPr>
          <p:cNvPr id="6" name="T45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5/edge:0"/>
          <p:cNvSpPr/>
          <p:nvPr/>
        </p:nvSpPr>
        <p:spPr>
          <a:xfrm>
            <a:off x="2743200" y="2181225"/>
            <a:ext cx="7048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8" name="T45/edge:1"/>
          <p:cNvSpPr/>
          <p:nvPr/>
        </p:nvSpPr>
        <p:spPr>
          <a:xfrm>
            <a:off x="5734050" y="2181225"/>
            <a:ext cx="7048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9" name="T45/edge:2"/>
          <p:cNvSpPr/>
          <p:nvPr/>
        </p:nvSpPr>
        <p:spPr>
          <a:xfrm>
            <a:off x="8724900" y="2181225"/>
            <a:ext cx="7048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0" name="T45/node:step-1:frame"/>
          <p:cNvSpPr/>
          <p:nvPr/>
        </p:nvSpPr>
        <p:spPr>
          <a:xfrm>
            <a:off x="457200" y="1562100"/>
            <a:ext cx="2286000" cy="12382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1" name="T45/node:step-1:heading-rule"/>
          <p:cNvSpPr/>
          <p:nvPr/>
        </p:nvSpPr>
        <p:spPr>
          <a:xfrm>
            <a:off x="457200" y="1562100"/>
            <a:ext cx="22860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2" name="T45/node:step-1:label"/>
          <p:cNvSpPr/>
          <p:nvPr/>
        </p:nvSpPr>
        <p:spPr>
          <a:xfrm>
            <a:off x="571500" y="1657350"/>
            <a:ext cx="20574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目标总体</a:t>
            </a:r>
            <a:endParaRPr lang="zh-CN" sz="1800" dirty="0"/>
          </a:p>
        </p:txBody>
      </p:sp>
      <p:sp>
        <p:nvSpPr>
          <p:cNvPr id="13" name="T45/node:step-1:detail"/>
          <p:cNvSpPr/>
          <p:nvPr/>
        </p:nvSpPr>
        <p:spPr>
          <a:xfrm>
            <a:off x="571500" y="1971675"/>
            <a:ext cx="2057400" cy="742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4" name="T45/node:step-2:frame"/>
          <p:cNvSpPr/>
          <p:nvPr/>
        </p:nvSpPr>
        <p:spPr>
          <a:xfrm>
            <a:off x="3448050" y="1562100"/>
            <a:ext cx="2286000" cy="12382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5" name="T45/node:step-2:heading-rule"/>
          <p:cNvSpPr/>
          <p:nvPr/>
        </p:nvSpPr>
        <p:spPr>
          <a:xfrm>
            <a:off x="3448050" y="1562100"/>
            <a:ext cx="22860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6" name="T45/node:step-2:label"/>
          <p:cNvSpPr/>
          <p:nvPr/>
        </p:nvSpPr>
        <p:spPr>
          <a:xfrm>
            <a:off x="3562350" y="1657350"/>
            <a:ext cx="20574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采集与质量控制</a:t>
            </a:r>
            <a:endParaRPr lang="zh-CN" sz="1800" dirty="0"/>
          </a:p>
        </p:txBody>
      </p:sp>
      <p:sp>
        <p:nvSpPr>
          <p:cNvPr id="17" name="T45/node:step-2:detail"/>
          <p:cNvSpPr/>
          <p:nvPr/>
        </p:nvSpPr>
        <p:spPr>
          <a:xfrm>
            <a:off x="3562350" y="1971675"/>
            <a:ext cx="2057400" cy="742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8" name="T45/node:step-3:frame"/>
          <p:cNvSpPr/>
          <p:nvPr/>
        </p:nvSpPr>
        <p:spPr>
          <a:xfrm>
            <a:off x="6438900" y="1562100"/>
            <a:ext cx="2286000" cy="12382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9" name="T45/node:step-3:heading-rule"/>
          <p:cNvSpPr/>
          <p:nvPr/>
        </p:nvSpPr>
        <p:spPr>
          <a:xfrm>
            <a:off x="6438900" y="1562100"/>
            <a:ext cx="22860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0" name="T45/node:step-3:label"/>
          <p:cNvSpPr/>
          <p:nvPr/>
        </p:nvSpPr>
        <p:spPr>
          <a:xfrm>
            <a:off x="6553200" y="1657350"/>
            <a:ext cx="20574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预注册分析</a:t>
            </a:r>
            <a:endParaRPr lang="zh-CN" sz="1800" dirty="0"/>
          </a:p>
        </p:txBody>
      </p:sp>
      <p:sp>
        <p:nvSpPr>
          <p:cNvPr id="21" name="T45/node:step-3:detail"/>
          <p:cNvSpPr/>
          <p:nvPr/>
        </p:nvSpPr>
        <p:spPr>
          <a:xfrm>
            <a:off x="6553200" y="1971675"/>
            <a:ext cx="2057400" cy="742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2" name="T45/node:step-4:frame"/>
          <p:cNvSpPr/>
          <p:nvPr/>
        </p:nvSpPr>
        <p:spPr>
          <a:xfrm>
            <a:off x="9429750" y="1562100"/>
            <a:ext cx="2305050" cy="12382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3" name="T45/node:step-4:heading-rule"/>
          <p:cNvSpPr/>
          <p:nvPr/>
        </p:nvSpPr>
        <p:spPr>
          <a:xfrm>
            <a:off x="9429750" y="1562100"/>
            <a:ext cx="23050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4" name="T45/node:step-4:label"/>
          <p:cNvSpPr/>
          <p:nvPr/>
        </p:nvSpPr>
        <p:spPr>
          <a:xfrm>
            <a:off x="9544050" y="1657350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独立验证</a:t>
            </a:r>
            <a:endParaRPr lang="zh-CN" sz="1800" dirty="0"/>
          </a:p>
        </p:txBody>
      </p:sp>
      <p:sp>
        <p:nvSpPr>
          <p:cNvPr id="25" name="T45/node:step-4:detail"/>
          <p:cNvSpPr/>
          <p:nvPr/>
        </p:nvSpPr>
        <p:spPr>
          <a:xfrm>
            <a:off x="9544050" y="1971675"/>
            <a:ext cx="2076450" cy="742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6" name="T45/card/region-1/frame"/>
          <p:cNvSpPr/>
          <p:nvPr/>
        </p:nvSpPr>
        <p:spPr>
          <a:xfrm>
            <a:off x="457200" y="3829050"/>
            <a:ext cx="5467350" cy="21907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7" name="T45/card/region-1/heading-fill"/>
          <p:cNvSpPr/>
          <p:nvPr/>
        </p:nvSpPr>
        <p:spPr>
          <a:xfrm>
            <a:off x="466725" y="3838575"/>
            <a:ext cx="54483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45/card/region-1/heading-rule"/>
          <p:cNvSpPr/>
          <p:nvPr/>
        </p:nvSpPr>
        <p:spPr>
          <a:xfrm>
            <a:off x="457200" y="4210050"/>
            <a:ext cx="54673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9" name="T45/card/region-1/title"/>
          <p:cNvSpPr/>
          <p:nvPr/>
        </p:nvSpPr>
        <p:spPr>
          <a:xfrm>
            <a:off x="581025" y="3886200"/>
            <a:ext cx="52197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样本量与采集计划</a:t>
            </a:r>
            <a:endParaRPr lang="zh-CN" sz="1800" dirty="0"/>
          </a:p>
        </p:txBody>
      </p:sp>
      <p:sp>
        <p:nvSpPr>
          <p:cNvPr id="30" name="T45/card/region-1/body"/>
          <p:cNvSpPr/>
          <p:nvPr/>
        </p:nvSpPr>
        <p:spPr>
          <a:xfrm>
            <a:off x="590550" y="4324350"/>
            <a:ext cx="520065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按独立实验单位规划采集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依据预期效应与变异说明样本量</a:t>
            </a:r>
            <a:endParaRPr lang="zh-CN" sz="1725" dirty="0"/>
          </a:p>
        </p:txBody>
      </p:sp>
      <p:sp>
        <p:nvSpPr>
          <p:cNvPr id="31" name="T45/card/region-2/heading-rule"/>
          <p:cNvSpPr/>
          <p:nvPr/>
        </p:nvSpPr>
        <p:spPr>
          <a:xfrm>
            <a:off x="6248400" y="4191000"/>
            <a:ext cx="54864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2" name="T45/card/region-2/heading-mark"/>
          <p:cNvSpPr/>
          <p:nvPr/>
        </p:nvSpPr>
        <p:spPr>
          <a:xfrm>
            <a:off x="6248400" y="41910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33" name="T45/card/region-2/title"/>
          <p:cNvSpPr/>
          <p:nvPr/>
        </p:nvSpPr>
        <p:spPr>
          <a:xfrm>
            <a:off x="6248400" y="3848100"/>
            <a:ext cx="54864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留出与分析计划</a:t>
            </a:r>
            <a:endParaRPr lang="zh-CN" sz="1875" dirty="0"/>
          </a:p>
        </p:txBody>
      </p:sp>
      <p:sp>
        <p:nvSpPr>
          <p:cNvPr id="34" name="T45/card/region-2/body"/>
          <p:cNvSpPr/>
          <p:nvPr/>
        </p:nvSpPr>
        <p:spPr>
          <a:xfrm>
            <a:off x="6248400" y="4324350"/>
            <a:ext cx="5486400" cy="1657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在采集前明确主要终点和分析程序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锁定独立留出条件与缺失值处理</a:t>
            </a:r>
            <a:endParaRPr lang="zh-CN" sz="1800" dirty="0"/>
          </a:p>
        </p:txBody>
      </p:sp>
      <p:sp>
        <p:nvSpPr>
          <p:cNvPr id="35" name="T45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6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6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46 / 48</a:t>
            </a:r>
            <a:endParaRPr lang="zh-CN" sz="1050" dirty="0"/>
          </a:p>
        </p:txBody>
      </p:sp>
      <p:sp>
        <p:nvSpPr>
          <p:cNvPr id="4" name="T46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6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研究任务与阶段交付</a:t>
            </a:r>
            <a:endParaRPr lang="zh-CN" sz="2550" dirty="0"/>
          </a:p>
        </p:txBody>
      </p:sp>
      <p:sp>
        <p:nvSpPr>
          <p:cNvPr id="6" name="T46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6/card/region-1/base-rule"/>
          <p:cNvSpPr/>
          <p:nvPr/>
        </p:nvSpPr>
        <p:spPr>
          <a:xfrm>
            <a:off x="457200" y="2762250"/>
            <a:ext cx="79248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8" name="T46/card/region-1/side-mark"/>
          <p:cNvSpPr/>
          <p:nvPr/>
        </p:nvSpPr>
        <p:spPr>
          <a:xfrm>
            <a:off x="457200" y="14287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46/card/region-1/title"/>
          <p:cNvSpPr/>
          <p:nvPr/>
        </p:nvSpPr>
        <p:spPr>
          <a:xfrm>
            <a:off x="609600" y="1428750"/>
            <a:ext cx="77724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阶段一：材料与基线</a:t>
            </a:r>
            <a:endParaRPr lang="zh-CN" sz="1800" dirty="0"/>
          </a:p>
        </p:txBody>
      </p:sp>
      <p:sp>
        <p:nvSpPr>
          <p:cNvPr id="10" name="T46/card/region-1/body"/>
          <p:cNvSpPr/>
          <p:nvPr/>
        </p:nvSpPr>
        <p:spPr>
          <a:xfrm>
            <a:off x="609600" y="1847850"/>
            <a:ext cx="7772400" cy="819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确认数据版本、许可与基线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产物：可复现的基线与证据记录</a:t>
            </a:r>
            <a:endParaRPr lang="zh-CN" sz="1725" dirty="0"/>
          </a:p>
        </p:txBody>
      </p:sp>
      <p:sp>
        <p:nvSpPr>
          <p:cNvPr id="11" name="T46/card/region-2/base-rule"/>
          <p:cNvSpPr/>
          <p:nvPr/>
        </p:nvSpPr>
        <p:spPr>
          <a:xfrm>
            <a:off x="457200" y="4400550"/>
            <a:ext cx="79248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2" name="T46/card/region-2/side-mark"/>
          <p:cNvSpPr/>
          <p:nvPr/>
        </p:nvSpPr>
        <p:spPr>
          <a:xfrm>
            <a:off x="457200" y="30670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46/card/region-2/title"/>
          <p:cNvSpPr/>
          <p:nvPr/>
        </p:nvSpPr>
        <p:spPr>
          <a:xfrm>
            <a:off x="609600" y="3067050"/>
            <a:ext cx="77724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阶段二：机制与验证</a:t>
            </a:r>
            <a:endParaRPr lang="zh-CN" sz="1800" dirty="0"/>
          </a:p>
        </p:txBody>
      </p:sp>
      <p:sp>
        <p:nvSpPr>
          <p:cNvPr id="14" name="T46/card/region-2/body"/>
          <p:cNvSpPr/>
          <p:nvPr/>
        </p:nvSpPr>
        <p:spPr>
          <a:xfrm>
            <a:off x="609600" y="3486150"/>
            <a:ext cx="7772400" cy="819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实施预定义干预与消融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产物：按统一口径报告的比较结果</a:t>
            </a:r>
            <a:endParaRPr lang="zh-CN" sz="1725" dirty="0"/>
          </a:p>
        </p:txBody>
      </p:sp>
      <p:sp>
        <p:nvSpPr>
          <p:cNvPr id="15" name="T46/card/region-3/base-rule"/>
          <p:cNvSpPr/>
          <p:nvPr/>
        </p:nvSpPr>
        <p:spPr>
          <a:xfrm>
            <a:off x="457200" y="6038850"/>
            <a:ext cx="79248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6" name="T46/card/region-3/side-mark"/>
          <p:cNvSpPr/>
          <p:nvPr/>
        </p:nvSpPr>
        <p:spPr>
          <a:xfrm>
            <a:off x="457200" y="4705350"/>
            <a:ext cx="47625" cy="295275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46/card/region-3/title"/>
          <p:cNvSpPr/>
          <p:nvPr/>
        </p:nvSpPr>
        <p:spPr>
          <a:xfrm>
            <a:off x="609600" y="4705350"/>
            <a:ext cx="77724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9035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阶段三：边界与复现</a:t>
            </a:r>
            <a:endParaRPr lang="zh-CN" sz="1800" dirty="0"/>
          </a:p>
        </p:txBody>
      </p:sp>
      <p:sp>
        <p:nvSpPr>
          <p:cNvPr id="18" name="T46/card/region-3/body"/>
          <p:cNvSpPr/>
          <p:nvPr/>
        </p:nvSpPr>
        <p:spPr>
          <a:xfrm>
            <a:off x="609600" y="5124450"/>
            <a:ext cx="7772400" cy="819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补充留出、失败与稳健性分析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产物：复现材料与解释边界</a:t>
            </a:r>
            <a:endParaRPr lang="zh-CN" sz="1725" dirty="0"/>
          </a:p>
        </p:txBody>
      </p:sp>
      <p:sp>
        <p:nvSpPr>
          <p:cNvPr id="19" name="T46/card/region-4/title"/>
          <p:cNvSpPr/>
          <p:nvPr/>
        </p:nvSpPr>
        <p:spPr>
          <a:xfrm>
            <a:off x="8705850" y="1428750"/>
            <a:ext cx="30289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阶段依赖</a:t>
            </a:r>
            <a:endParaRPr lang="zh-CN" sz="1875" dirty="0"/>
          </a:p>
        </p:txBody>
      </p:sp>
      <p:sp>
        <p:nvSpPr>
          <p:cNvPr id="20" name="T46/card/region-4/body"/>
          <p:cNvSpPr/>
          <p:nvPr/>
        </p:nvSpPr>
        <p:spPr>
          <a:xfrm>
            <a:off x="8705850" y="1876425"/>
            <a:ext cx="3028950" cy="15906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说明各阶段所需输入与完成条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件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避免仅按日期排列任务</a:t>
            </a:r>
            <a:endParaRPr lang="zh-CN" sz="1800" dirty="0"/>
          </a:p>
        </p:txBody>
      </p:sp>
      <p:sp>
        <p:nvSpPr>
          <p:cNvPr id="21" name="T46/card/region-5/frame"/>
          <p:cNvSpPr/>
          <p:nvPr/>
        </p:nvSpPr>
        <p:spPr>
          <a:xfrm>
            <a:off x="8705850" y="3867150"/>
            <a:ext cx="3028950" cy="21717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2" name="T46/card/region-5/tab"/>
          <p:cNvSpPr/>
          <p:nvPr/>
        </p:nvSpPr>
        <p:spPr>
          <a:xfrm>
            <a:off x="8820150" y="3752850"/>
            <a:ext cx="18669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46/card/region-5/title"/>
          <p:cNvSpPr/>
          <p:nvPr/>
        </p:nvSpPr>
        <p:spPr>
          <a:xfrm>
            <a:off x="8924925" y="3781425"/>
            <a:ext cx="16573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停止与调整条件</a:t>
            </a:r>
            <a:endParaRPr lang="zh-CN" sz="1800" dirty="0"/>
          </a:p>
        </p:txBody>
      </p:sp>
      <p:sp>
        <p:nvSpPr>
          <p:cNvPr id="24" name="T46/card/region-5/body"/>
          <p:cNvSpPr/>
          <p:nvPr/>
        </p:nvSpPr>
        <p:spPr>
          <a:xfrm>
            <a:off x="8839200" y="4215765"/>
            <a:ext cx="2762250" cy="1727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材料不足、效果无效或成本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超出时如何调整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把停止条件与研究问题对应</a:t>
            </a:r>
            <a:endParaRPr lang="zh-CN" sz="1725" dirty="0"/>
          </a:p>
        </p:txBody>
      </p:sp>
      <p:sp>
        <p:nvSpPr>
          <p:cNvPr id="25" name="T46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7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7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47 / 48</a:t>
            </a:r>
            <a:endParaRPr lang="zh-CN" sz="1050" dirty="0"/>
          </a:p>
        </p:txBody>
      </p:sp>
      <p:sp>
        <p:nvSpPr>
          <p:cNvPr id="4" name="T47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7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结论证据与后续问题</a:t>
            </a:r>
            <a:endParaRPr lang="zh-CN" sz="2550" dirty="0"/>
          </a:p>
        </p:txBody>
      </p:sp>
      <p:sp>
        <p:nvSpPr>
          <p:cNvPr id="6" name="T47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7/card/region-1/base-rule"/>
          <p:cNvSpPr/>
          <p:nvPr/>
        </p:nvSpPr>
        <p:spPr>
          <a:xfrm>
            <a:off x="457200" y="2724150"/>
            <a:ext cx="74485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8" name="T47/card/region-1/side-mark"/>
          <p:cNvSpPr/>
          <p:nvPr/>
        </p:nvSpPr>
        <p:spPr>
          <a:xfrm>
            <a:off x="457200" y="144780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47/card/region-1/title"/>
          <p:cNvSpPr/>
          <p:nvPr/>
        </p:nvSpPr>
        <p:spPr>
          <a:xfrm>
            <a:off x="609600" y="1447800"/>
            <a:ext cx="72961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结论一及证据</a:t>
            </a:r>
            <a:endParaRPr lang="zh-CN" sz="1800" dirty="0"/>
          </a:p>
        </p:txBody>
      </p:sp>
      <p:sp>
        <p:nvSpPr>
          <p:cNvPr id="10" name="T47/card/region-1/body"/>
          <p:cNvSpPr/>
          <p:nvPr/>
        </p:nvSpPr>
        <p:spPr>
          <a:xfrm>
            <a:off x="609600" y="1866900"/>
            <a:ext cx="729615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用一句结论连接一项核心证据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保留样本、比较与实验身份</a:t>
            </a:r>
            <a:endParaRPr lang="zh-CN" sz="1725" dirty="0"/>
          </a:p>
        </p:txBody>
      </p:sp>
      <p:sp>
        <p:nvSpPr>
          <p:cNvPr id="11" name="T47/card/region-2/heading-rule"/>
          <p:cNvSpPr/>
          <p:nvPr/>
        </p:nvSpPr>
        <p:spPr>
          <a:xfrm>
            <a:off x="457200" y="3352800"/>
            <a:ext cx="74485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2" name="T47/card/region-2/heading-mark"/>
          <p:cNvSpPr/>
          <p:nvPr/>
        </p:nvSpPr>
        <p:spPr>
          <a:xfrm>
            <a:off x="457200" y="33528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13" name="T47/card/region-2/title"/>
          <p:cNvSpPr/>
          <p:nvPr/>
        </p:nvSpPr>
        <p:spPr>
          <a:xfrm>
            <a:off x="457200" y="3009900"/>
            <a:ext cx="74485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结论二及证据</a:t>
            </a:r>
            <a:endParaRPr lang="zh-CN" sz="1875" dirty="0"/>
          </a:p>
        </p:txBody>
      </p:sp>
      <p:sp>
        <p:nvSpPr>
          <p:cNvPr id="14" name="T47/card/region-2/body"/>
          <p:cNvSpPr/>
          <p:nvPr/>
        </p:nvSpPr>
        <p:spPr>
          <a:xfrm>
            <a:off x="457200" y="3486150"/>
            <a:ext cx="744855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解释与前一结论的关系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避免重复陈述相同发现</a:t>
            </a:r>
            <a:endParaRPr lang="zh-CN" sz="1800" dirty="0"/>
          </a:p>
        </p:txBody>
      </p:sp>
      <p:sp>
        <p:nvSpPr>
          <p:cNvPr id="15" name="T47/card/region-3/title"/>
          <p:cNvSpPr/>
          <p:nvPr/>
        </p:nvSpPr>
        <p:spPr>
          <a:xfrm>
            <a:off x="457200" y="4572000"/>
            <a:ext cx="74485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结论三及证据</a:t>
            </a:r>
            <a:endParaRPr lang="zh-CN" sz="1875" dirty="0"/>
          </a:p>
        </p:txBody>
      </p:sp>
      <p:sp>
        <p:nvSpPr>
          <p:cNvPr id="16" name="T47/card/region-3/body"/>
          <p:cNvSpPr/>
          <p:nvPr/>
        </p:nvSpPr>
        <p:spPr>
          <a:xfrm>
            <a:off x="457200" y="5019675"/>
            <a:ext cx="7448550" cy="962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总结机制或适用范围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将推断与原文报告区分</a:t>
            </a:r>
            <a:endParaRPr lang="zh-CN" sz="1800" dirty="0"/>
          </a:p>
        </p:txBody>
      </p:sp>
      <p:sp>
        <p:nvSpPr>
          <p:cNvPr id="17" name="T47/card/region-4/frame"/>
          <p:cNvSpPr/>
          <p:nvPr/>
        </p:nvSpPr>
        <p:spPr>
          <a:xfrm>
            <a:off x="8286750" y="1543050"/>
            <a:ext cx="3448050" cy="20002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8" name="T47/card/region-4/tab"/>
          <p:cNvSpPr/>
          <p:nvPr/>
        </p:nvSpPr>
        <p:spPr>
          <a:xfrm>
            <a:off x="8401050" y="1428750"/>
            <a:ext cx="11811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47/card/region-4/title"/>
          <p:cNvSpPr/>
          <p:nvPr/>
        </p:nvSpPr>
        <p:spPr>
          <a:xfrm>
            <a:off x="8505825" y="14573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尚未验证</a:t>
            </a:r>
            <a:endParaRPr lang="zh-CN" sz="1800" dirty="0"/>
          </a:p>
        </p:txBody>
      </p:sp>
      <p:sp>
        <p:nvSpPr>
          <p:cNvPr id="20" name="T47/card/region-4/body"/>
          <p:cNvSpPr/>
          <p:nvPr/>
        </p:nvSpPr>
        <p:spPr>
          <a:xfrm>
            <a:off x="8420100" y="1891665"/>
            <a:ext cx="3181350" cy="15563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列出论文没有测试的条件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说明这些未知如何影响应用</a:t>
            </a:r>
            <a:endParaRPr lang="zh-CN" sz="1725" dirty="0"/>
          </a:p>
        </p:txBody>
      </p:sp>
      <p:sp>
        <p:nvSpPr>
          <p:cNvPr id="21" name="T47/card/region-5/frame"/>
          <p:cNvSpPr/>
          <p:nvPr/>
        </p:nvSpPr>
        <p:spPr>
          <a:xfrm>
            <a:off x="8286750" y="3952875"/>
            <a:ext cx="3448050" cy="2066925"/>
          </a:xfrm>
          <a:prstGeom prst="rect">
            <a:avLst/>
          </a:prstGeom>
          <a:solidFill>
            <a:srgbClr val="FFFFFF"/>
          </a:solidFill>
          <a:ln w="14288">
            <a:solidFill>
              <a:srgbClr val="355D88"/>
            </a:solidFill>
            <a:prstDash val="solid"/>
          </a:ln>
        </p:spPr>
      </p:sp>
      <p:sp>
        <p:nvSpPr>
          <p:cNvPr id="22" name="T47/card/region-5/title-cutout"/>
          <p:cNvSpPr/>
          <p:nvPr/>
        </p:nvSpPr>
        <p:spPr>
          <a:xfrm>
            <a:off x="8420100" y="3800475"/>
            <a:ext cx="152400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47/card/region-5/base-rule"/>
          <p:cNvSpPr/>
          <p:nvPr/>
        </p:nvSpPr>
        <p:spPr>
          <a:xfrm>
            <a:off x="8477250" y="5867400"/>
            <a:ext cx="333375" cy="0"/>
          </a:xfrm>
          <a:prstGeom prst="line">
            <a:avLst/>
          </a:prstGeom>
          <a:noFill/>
          <a:ln w="28575">
            <a:solidFill>
              <a:srgbClr val="355D88"/>
            </a:solidFill>
            <a:prstDash val="solid"/>
          </a:ln>
        </p:spPr>
      </p:sp>
      <p:sp>
        <p:nvSpPr>
          <p:cNvPr id="24" name="T47/card/region-5/title"/>
          <p:cNvSpPr/>
          <p:nvPr/>
        </p:nvSpPr>
        <p:spPr>
          <a:xfrm>
            <a:off x="8477250" y="3810000"/>
            <a:ext cx="306705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355D8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优先研究问题</a:t>
            </a:r>
            <a:endParaRPr lang="zh-CN" sz="1800" dirty="0"/>
          </a:p>
        </p:txBody>
      </p:sp>
      <p:sp>
        <p:nvSpPr>
          <p:cNvPr id="25" name="T47/card/region-5/body"/>
          <p:cNvSpPr/>
          <p:nvPr/>
        </p:nvSpPr>
        <p:spPr>
          <a:xfrm>
            <a:off x="8477250" y="4343400"/>
            <a:ext cx="3067050" cy="148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78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提出能被实验区分的下一步问题</a:t>
            </a:r>
            <a:endParaRPr lang="zh-CN" sz="1650" dirty="0"/>
          </a:p>
          <a:p>
            <a:pPr algn="l" indent="0" marL="0">
              <a:lnSpc>
                <a:spcPts val="2178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保留公平对照和评价尺度</a:t>
            </a:r>
            <a:endParaRPr lang="zh-CN" sz="1650" dirty="0"/>
          </a:p>
        </p:txBody>
      </p:sp>
      <p:sp>
        <p:nvSpPr>
          <p:cNvPr id="26" name="T47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8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8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48 / 48</a:t>
            </a:r>
            <a:endParaRPr lang="zh-CN" sz="1050" dirty="0"/>
          </a:p>
        </p:txBody>
      </p:sp>
      <p:sp>
        <p:nvSpPr>
          <p:cNvPr id="4" name="T48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8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参考文献与补充说明</a:t>
            </a:r>
            <a:endParaRPr lang="zh-CN" sz="2550" dirty="0"/>
          </a:p>
        </p:txBody>
      </p:sp>
      <p:sp>
        <p:nvSpPr>
          <p:cNvPr id="6" name="T48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8/ref:T1:id"/>
          <p:cNvSpPr/>
          <p:nvPr/>
        </p:nvSpPr>
        <p:spPr>
          <a:xfrm>
            <a:off x="457200" y="1352550"/>
            <a:ext cx="5524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2"/>
              </a:lnSpc>
              <a:buNone/>
            </a:pPr>
            <a:r>
              <a:rPr lang="zh-CN" altLang="en-US" sz="165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</a:t>
            </a:r>
            <a:endParaRPr lang="zh-CN" sz="1650" dirty="0"/>
          </a:p>
        </p:txBody>
      </p:sp>
      <p:sp>
        <p:nvSpPr>
          <p:cNvPr id="8" name="T48/ref:T1:title"/>
          <p:cNvSpPr/>
          <p:nvPr/>
        </p:nvSpPr>
        <p:spPr>
          <a:xfrm>
            <a:off x="1123950" y="1333500"/>
            <a:ext cx="701040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Full article title: connecting decision models, experimental</a:t>
            </a:r>
            <a:endParaRPr lang="zh-CN" sz="1800" dirty="0"/>
          </a:p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 evidence and independent validation in crop cultivation</a:t>
            </a:r>
            <a:endParaRPr lang="zh-CN" sz="1800" dirty="0"/>
          </a:p>
        </p:txBody>
      </p:sp>
      <p:sp>
        <p:nvSpPr>
          <p:cNvPr id="9" name="T48/ref:T1:meta"/>
          <p:cNvSpPr/>
          <p:nvPr/>
        </p:nvSpPr>
        <p:spPr>
          <a:xfrm>
            <a:off x="1123950" y="1948815"/>
            <a:ext cx="7010400" cy="2124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作者姓名（替换） · 期刊与卷页（替换） · 2026 · DOI: 待替换 · 书目占位，非真实文献</a:t>
            </a:r>
            <a:endParaRPr lang="zh-CN" sz="1350" dirty="0"/>
          </a:p>
        </p:txBody>
      </p:sp>
      <p:sp>
        <p:nvSpPr>
          <p:cNvPr id="10" name="T48/ref:T1:line"/>
          <p:cNvSpPr/>
          <p:nvPr/>
        </p:nvSpPr>
        <p:spPr>
          <a:xfrm>
            <a:off x="1123950" y="2265998"/>
            <a:ext cx="7010400" cy="0"/>
          </a:xfrm>
          <a:prstGeom prst="line">
            <a:avLst/>
          </a:prstGeom>
          <a:noFill/>
          <a:ln w="13335">
            <a:solidFill>
              <a:srgbClr val="BEC8D4"/>
            </a:solidFill>
            <a:prstDash val="solid"/>
          </a:ln>
        </p:spPr>
      </p:sp>
      <p:sp>
        <p:nvSpPr>
          <p:cNvPr id="11" name="T48/ref:T2:id"/>
          <p:cNvSpPr/>
          <p:nvPr/>
        </p:nvSpPr>
        <p:spPr>
          <a:xfrm>
            <a:off x="457200" y="2408873"/>
            <a:ext cx="5524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2"/>
              </a:lnSpc>
              <a:buNone/>
            </a:pPr>
            <a:r>
              <a:rPr lang="zh-CN" altLang="en-US" sz="165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T2</a:t>
            </a:r>
            <a:endParaRPr lang="zh-CN" sz="1650" dirty="0"/>
          </a:p>
        </p:txBody>
      </p:sp>
      <p:sp>
        <p:nvSpPr>
          <p:cNvPr id="12" name="T48/ref:T2:title"/>
          <p:cNvSpPr/>
          <p:nvPr/>
        </p:nvSpPr>
        <p:spPr>
          <a:xfrm>
            <a:off x="1123950" y="2389823"/>
            <a:ext cx="7010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Full title of a related methods or validation study</a:t>
            </a:r>
            <a:endParaRPr lang="zh-CN" sz="1800" dirty="0"/>
          </a:p>
        </p:txBody>
      </p:sp>
      <p:sp>
        <p:nvSpPr>
          <p:cNvPr id="13" name="T48/ref:T2:meta"/>
          <p:cNvSpPr/>
          <p:nvPr/>
        </p:nvSpPr>
        <p:spPr>
          <a:xfrm>
            <a:off x="1123950" y="2730818"/>
            <a:ext cx="7010400" cy="2124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作者姓名（替换） · 期刊与卷页（替换） · 2026 · DOI: 待替换 · 书目占位，非真实文献</a:t>
            </a:r>
            <a:endParaRPr lang="zh-CN" sz="1350" dirty="0"/>
          </a:p>
        </p:txBody>
      </p:sp>
      <p:sp>
        <p:nvSpPr>
          <p:cNvPr id="14" name="T48/ref:T2:line"/>
          <p:cNvSpPr/>
          <p:nvPr/>
        </p:nvSpPr>
        <p:spPr>
          <a:xfrm>
            <a:off x="1123950" y="3048000"/>
            <a:ext cx="7010400" cy="0"/>
          </a:xfrm>
          <a:prstGeom prst="line">
            <a:avLst/>
          </a:prstGeom>
          <a:noFill/>
          <a:ln w="13335">
            <a:solidFill>
              <a:srgbClr val="BEC8D4"/>
            </a:solidFill>
            <a:prstDash val="solid"/>
          </a:ln>
        </p:spPr>
      </p:sp>
      <p:sp>
        <p:nvSpPr>
          <p:cNvPr id="15" name="T48/ref:T3:id"/>
          <p:cNvSpPr/>
          <p:nvPr/>
        </p:nvSpPr>
        <p:spPr>
          <a:xfrm>
            <a:off x="457200" y="3190875"/>
            <a:ext cx="5524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2"/>
              </a:lnSpc>
              <a:buNone/>
            </a:pPr>
            <a:r>
              <a:rPr lang="zh-CN" altLang="en-US" sz="165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T3</a:t>
            </a:r>
            <a:endParaRPr lang="zh-CN" sz="1650" dirty="0"/>
          </a:p>
        </p:txBody>
      </p:sp>
      <p:sp>
        <p:nvSpPr>
          <p:cNvPr id="16" name="T48/ref:T3:title"/>
          <p:cNvSpPr/>
          <p:nvPr/>
        </p:nvSpPr>
        <p:spPr>
          <a:xfrm>
            <a:off x="1123950" y="3171825"/>
            <a:ext cx="7010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Full title of the source for the supplementary evidence</a:t>
            </a:r>
            <a:endParaRPr lang="zh-CN" sz="1800" dirty="0"/>
          </a:p>
        </p:txBody>
      </p:sp>
      <p:sp>
        <p:nvSpPr>
          <p:cNvPr id="17" name="T48/ref:T3:meta"/>
          <p:cNvSpPr/>
          <p:nvPr/>
        </p:nvSpPr>
        <p:spPr>
          <a:xfrm>
            <a:off x="1123950" y="3512820"/>
            <a:ext cx="7010400" cy="2124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作者姓名（替换） · 期刊与卷页（替换） · 2026 · DOI: 待替换 · 书目占位，非真实文献</a:t>
            </a:r>
            <a:endParaRPr lang="zh-CN" sz="1350" dirty="0"/>
          </a:p>
        </p:txBody>
      </p:sp>
      <p:sp>
        <p:nvSpPr>
          <p:cNvPr id="18" name="T48/card/region-1/base-rule"/>
          <p:cNvSpPr/>
          <p:nvPr/>
        </p:nvSpPr>
        <p:spPr>
          <a:xfrm>
            <a:off x="8477250" y="3505200"/>
            <a:ext cx="32575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9" name="T48/card/region-1/side-mark"/>
          <p:cNvSpPr/>
          <p:nvPr/>
        </p:nvSpPr>
        <p:spPr>
          <a:xfrm>
            <a:off x="8477250" y="14287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48/card/region-1/title"/>
          <p:cNvSpPr/>
          <p:nvPr/>
        </p:nvSpPr>
        <p:spPr>
          <a:xfrm>
            <a:off x="8629650" y="1428750"/>
            <a:ext cx="31051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版本与补充材料</a:t>
            </a:r>
            <a:endParaRPr lang="zh-CN" sz="1800" dirty="0"/>
          </a:p>
        </p:txBody>
      </p:sp>
      <p:sp>
        <p:nvSpPr>
          <p:cNvPr id="21" name="T48/card/region-1/body"/>
          <p:cNvSpPr/>
          <p:nvPr/>
        </p:nvSpPr>
        <p:spPr>
          <a:xfrm>
            <a:off x="8629650" y="1847850"/>
            <a:ext cx="3105150" cy="156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记录正式稿、作者稿或预印本版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补充材料、代码和数据分别定位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不要把链接存在当作已读全文</a:t>
            </a:r>
            <a:endParaRPr lang="zh-CN" sz="1725" dirty="0"/>
          </a:p>
        </p:txBody>
      </p:sp>
      <p:sp>
        <p:nvSpPr>
          <p:cNvPr id="22" name="T48/card/region-2/heading-rule"/>
          <p:cNvSpPr/>
          <p:nvPr/>
        </p:nvSpPr>
        <p:spPr>
          <a:xfrm>
            <a:off x="8477250" y="4114800"/>
            <a:ext cx="32575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3" name="T48/card/region-2/heading-mark"/>
          <p:cNvSpPr/>
          <p:nvPr/>
        </p:nvSpPr>
        <p:spPr>
          <a:xfrm>
            <a:off x="8477250" y="41148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24" name="T48/card/region-2/title"/>
          <p:cNvSpPr/>
          <p:nvPr/>
        </p:nvSpPr>
        <p:spPr>
          <a:xfrm>
            <a:off x="8477250" y="3771900"/>
            <a:ext cx="32575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图像与数据来源</a:t>
            </a:r>
            <a:endParaRPr lang="zh-CN" sz="1875" dirty="0"/>
          </a:p>
        </p:txBody>
      </p:sp>
      <p:sp>
        <p:nvSpPr>
          <p:cNvPr id="25" name="T48/card/region-2/body"/>
          <p:cNvSpPr/>
          <p:nvPr/>
        </p:nvSpPr>
        <p:spPr>
          <a:xfrm>
            <a:off x="8477250" y="4248150"/>
            <a:ext cx="3257550" cy="1733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保留图号、面板、作者与许可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裁切说明不能省略关键上下文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替换本页所有占位书目后再汇报</a:t>
            </a:r>
            <a:endParaRPr lang="zh-CN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48 种学术汇报版式参考</dc:title>
  <dc:subject>原创学术版式、结构化填充指引与合成科学图</dc:subject>
  <dc:creator>DSH Academic PPT</dc:creator>
  <cp:lastModifiedBy>DSH Academic PPT</cp:lastModifiedBy>
  <cp:revision>1</cp:revision>
  <dcterms:created xsi:type="dcterms:W3CDTF">2026-10-20T04:29:14Z</dcterms:created>
  <dcterms:modified xsi:type="dcterms:W3CDTF">2026-10-20T04:29:14Z</dcterms:modified>
</cp:coreProperties>
</file>