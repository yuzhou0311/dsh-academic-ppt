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method-agent-loop。六节点闭环说明规划、执行与核验，右侧保留接口和失败处理。
全部文本为填写指引，图表值是合成演示值，不是任何研究结果。使用前替换论文、数据、原图与来源。
内容职责：系统接口；核验与失败处理。
建议讲述时间只是排练起点，按实际内容调整。
参考文献（完整题名）
T1 · Full article title: connecting decision models, experimental evidence and independent validation in crop cultivation · 期刊与卷页（替换） · 2026 · 待替换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method-rl-interface。环境与策略构成闭环，右侧将状态、动作、奖励、约束分别定义。
全部文本为填写指引，图表值是合成演示值，不是任何研究结果。使用前替换论文、数据、原图与来源。
内容职责：状态 s_t；动作 a_t；奖励 r_t；安全约束。
建议讲述时间只是排练起点，按实际内容调整。
参考文献（完整题名）
T1 · Full article title: connecting decision models, experimental evidence and independent validation in crop cultivation · 期刊与卷页（替换） · 2026 · 待替换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method-tool-routing。纵向任务入口分流到三类工具，再汇总到核验节点。
全部文本为填写指引，图表值是合成演示值，不是任何研究结果。使用前替换论文、数据、原图与来源。
内容职责：路由依据；工具覆盖范围。
建议讲述时间只是排练起点，按实际内容调整。
参考文献（完整题名）
T1 · Full article title: connecting decision models, experimental evidence and independent validation in crop cultivation · 期刊与卷页（替换） · 2026 · 待替换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method-model-coupling。耦合链横向展开，下面交代接口、校准和模型失配。
全部文本为填写指引，图表值是合成演示值，不是任何研究结果。使用前替换论文、数据、原图与来源。
内容职责：输入与单位；校准与验证；模型失配。
建议讲述时间只是排练起点，按实际内容调整。
参考文献（完整题名）
T1 · Full article title: connecting decision models, experimental evidence and independent validation in crop cultivation · 期刊与卷页（替换） · 2026 · 待替换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method-algorithm-steps。左列给出紧凑有序步骤，右侧给出核心算子与必要假设。
全部文本为填写指引，图表值是合成演示值，不是任何研究结果。使用前替换论文、数据、原图与来源。
内容职责：关键运算；更新规则；假设与计算条件。
建议讲述时间只是排练起点，按实际内容调整。
参考文献（完整题名）
T1 · Full article title: connecting decision models, experimental evidence and independent validation in crop cultivation · 期刊与卷页（替换） · 2026 · 待替换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method-objective-constraints。将目标函数、约束和变量定义并置，底部给出求解和评价分工。
全部文本为填写指引，图表值是合成演示值，不是任何研究结果。使用前替换论文、数据、原图与来源。
内容职责：优化目标；约束集合；求解与评价；符号与单位；可识别性假设。
建议讲述时间只是排练起点，按实际内容调整。
参考文献（完整题名）
T1 · Full article title: connecting decision models, experimental evidence and independent validation in crop cultivation · 期刊与卷页（替换） · 2026 · 待替换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7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07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/ 06</a:t>
            </a:r>
            <a:endParaRPr lang="zh-CN" sz="1050" dirty="0"/>
          </a:p>
        </p:txBody>
      </p:sp>
      <p:sp>
        <p:nvSpPr>
          <p:cNvPr id="4" name="T07/kicker"/>
          <p:cNvSpPr/>
          <p:nvPr/>
        </p:nvSpPr>
        <p:spPr>
          <a:xfrm>
            <a:off x="457200" y="152400"/>
            <a:ext cx="11277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zh-CN" altLang="en-US" sz="120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结构模板 / 占位说明与合成数据</a:t>
            </a:r>
            <a:endParaRPr lang="zh-CN" sz="1200" dirty="0"/>
          </a:p>
        </p:txBody>
      </p:sp>
      <p:sp>
        <p:nvSpPr>
          <p:cNvPr id="5" name="T07/title"/>
          <p:cNvSpPr/>
          <p:nvPr/>
        </p:nvSpPr>
        <p:spPr>
          <a:xfrm>
            <a:off x="457200" y="381000"/>
            <a:ext cx="112776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6"/>
              </a:lnSpc>
              <a:buNone/>
            </a:pPr>
            <a:r>
              <a:rPr lang="zh-CN" altLang="en-US" sz="255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智能体执行与反馈</a:t>
            </a:r>
            <a:endParaRPr lang="zh-CN" sz="2550" dirty="0"/>
          </a:p>
        </p:txBody>
      </p:sp>
      <p:sp>
        <p:nvSpPr>
          <p:cNvPr id="6" name="T07/header-rule"/>
          <p:cNvSpPr/>
          <p:nvPr/>
        </p:nvSpPr>
        <p:spPr>
          <a:xfrm>
            <a:off x="457200" y="876300"/>
            <a:ext cx="11277600" cy="0"/>
          </a:xfrm>
          <a:prstGeom prst="line">
            <a:avLst/>
          </a:prstGeom>
          <a:noFill/>
          <a:ln w="11430">
            <a:solidFill>
              <a:srgbClr val="173C70"/>
            </a:solidFill>
            <a:prstDash val="solid"/>
          </a:ln>
        </p:spPr>
      </p:sp>
      <p:sp>
        <p:nvSpPr>
          <p:cNvPr id="7" name="T07/panel:0:frame"/>
          <p:cNvSpPr/>
          <p:nvPr/>
        </p:nvSpPr>
        <p:spPr>
          <a:xfrm>
            <a:off x="457200" y="1333500"/>
            <a:ext cx="7829550" cy="4191000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8" name="T07/panel:0:heading-fill"/>
          <p:cNvSpPr/>
          <p:nvPr/>
        </p:nvSpPr>
        <p:spPr>
          <a:xfrm>
            <a:off x="466725" y="1343025"/>
            <a:ext cx="7810500" cy="381000"/>
          </a:xfrm>
          <a:prstGeom prst="rect">
            <a:avLst/>
          </a:prstGeom>
          <a:solidFill>
            <a:srgbClr val="EEF3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07/panel:0:heading-rule"/>
          <p:cNvSpPr/>
          <p:nvPr/>
        </p:nvSpPr>
        <p:spPr>
          <a:xfrm>
            <a:off x="457200" y="1724025"/>
            <a:ext cx="78295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0" name="T07/panel:0:title"/>
          <p:cNvSpPr/>
          <p:nvPr/>
        </p:nvSpPr>
        <p:spPr>
          <a:xfrm>
            <a:off x="581025" y="1390650"/>
            <a:ext cx="75819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任务驱动的执行闭环</a:t>
            </a:r>
            <a:endParaRPr lang="zh-CN" sz="1800" dirty="0"/>
          </a:p>
        </p:txBody>
      </p:sp>
      <p:sp>
        <p:nvSpPr>
          <p:cNvPr id="11" name="T07/takeaway"/>
          <p:cNvSpPr/>
          <p:nvPr/>
        </p:nvSpPr>
        <p:spPr>
          <a:xfrm>
            <a:off x="457200" y="5676900"/>
            <a:ext cx="78295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解释必须由本页证据支持，并保留样本、对照与适用条件。</a:t>
            </a:r>
            <a:endParaRPr lang="zh-CN" sz="1800" dirty="0"/>
          </a:p>
        </p:txBody>
      </p:sp>
      <p:sp>
        <p:nvSpPr>
          <p:cNvPr id="12" name="T07/edge:0"/>
          <p:cNvSpPr/>
          <p:nvPr/>
        </p:nvSpPr>
        <p:spPr>
          <a:xfrm>
            <a:off x="2762250" y="2409825"/>
            <a:ext cx="47625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3" name="T07/edge:1"/>
          <p:cNvSpPr/>
          <p:nvPr/>
        </p:nvSpPr>
        <p:spPr>
          <a:xfrm>
            <a:off x="5391150" y="2409825"/>
            <a:ext cx="47625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4" name="T07/edge:2"/>
          <p:cNvSpPr/>
          <p:nvPr/>
        </p:nvSpPr>
        <p:spPr>
          <a:xfrm>
            <a:off x="6943725" y="2933700"/>
            <a:ext cx="0" cy="120015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5" name="T07/edge:3"/>
          <p:cNvSpPr/>
          <p:nvPr/>
        </p:nvSpPr>
        <p:spPr>
          <a:xfrm flipH="1">
            <a:off x="5391150" y="4657725"/>
            <a:ext cx="47625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6" name="T07/edge:4"/>
          <p:cNvSpPr/>
          <p:nvPr/>
        </p:nvSpPr>
        <p:spPr>
          <a:xfrm flipH="1">
            <a:off x="2762250" y="4657725"/>
            <a:ext cx="47625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7" name="T07/edge:5:segment:0"/>
          <p:cNvSpPr/>
          <p:nvPr/>
        </p:nvSpPr>
        <p:spPr>
          <a:xfrm flipH="1">
            <a:off x="466725" y="4657725"/>
            <a:ext cx="142875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8" name="T07/edge:5:segment:1"/>
          <p:cNvSpPr/>
          <p:nvPr/>
        </p:nvSpPr>
        <p:spPr>
          <a:xfrm flipV="1">
            <a:off x="466725" y="2409825"/>
            <a:ext cx="0" cy="224790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9" name="T07/edge:5:segment:2"/>
          <p:cNvSpPr/>
          <p:nvPr/>
        </p:nvSpPr>
        <p:spPr>
          <a:xfrm>
            <a:off x="466725" y="2409825"/>
            <a:ext cx="142875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20" name="T07/node:step-1:frame"/>
          <p:cNvSpPr/>
          <p:nvPr/>
        </p:nvSpPr>
        <p:spPr>
          <a:xfrm>
            <a:off x="609600" y="1885950"/>
            <a:ext cx="2152650" cy="1047750"/>
          </a:xfrm>
          <a:prstGeom prst="rect">
            <a:avLst/>
          </a:prstGeom>
          <a:solidFill>
            <a:srgbClr val="FFFFFF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1" name="T07/node:step-1:heading-rule"/>
          <p:cNvSpPr/>
          <p:nvPr/>
        </p:nvSpPr>
        <p:spPr>
          <a:xfrm>
            <a:off x="609600" y="1885950"/>
            <a:ext cx="2152650" cy="0"/>
          </a:xfrm>
          <a:prstGeom prst="line">
            <a:avLst/>
          </a:prstGeom>
          <a:noFill/>
          <a:ln w="19050">
            <a:solidFill>
              <a:srgbClr val="173C70"/>
            </a:solidFill>
            <a:prstDash val="solid"/>
          </a:ln>
        </p:spPr>
      </p:sp>
      <p:sp>
        <p:nvSpPr>
          <p:cNvPr id="22" name="T07/node:step-1:label"/>
          <p:cNvSpPr/>
          <p:nvPr/>
        </p:nvSpPr>
        <p:spPr>
          <a:xfrm>
            <a:off x="723900" y="2276475"/>
            <a:ext cx="19240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任务与观测</a:t>
            </a:r>
            <a:endParaRPr lang="zh-CN" sz="1800" dirty="0"/>
          </a:p>
        </p:txBody>
      </p:sp>
      <p:sp>
        <p:nvSpPr>
          <p:cNvPr id="23" name="T07/node:step-2:frame"/>
          <p:cNvSpPr/>
          <p:nvPr/>
        </p:nvSpPr>
        <p:spPr>
          <a:xfrm>
            <a:off x="3238500" y="1885950"/>
            <a:ext cx="2152650" cy="1047750"/>
          </a:xfrm>
          <a:prstGeom prst="rect">
            <a:avLst/>
          </a:prstGeom>
          <a:solidFill>
            <a:srgbClr val="FFFFFF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4" name="T07/node:step-2:heading-rule"/>
          <p:cNvSpPr/>
          <p:nvPr/>
        </p:nvSpPr>
        <p:spPr>
          <a:xfrm>
            <a:off x="3238500" y="1885950"/>
            <a:ext cx="2152650" cy="0"/>
          </a:xfrm>
          <a:prstGeom prst="line">
            <a:avLst/>
          </a:prstGeom>
          <a:noFill/>
          <a:ln w="19050">
            <a:solidFill>
              <a:srgbClr val="173C70"/>
            </a:solidFill>
            <a:prstDash val="solid"/>
          </a:ln>
        </p:spPr>
      </p:sp>
      <p:sp>
        <p:nvSpPr>
          <p:cNvPr id="25" name="T07/node:step-2:label"/>
          <p:cNvSpPr/>
          <p:nvPr/>
        </p:nvSpPr>
        <p:spPr>
          <a:xfrm>
            <a:off x="3352800" y="2276475"/>
            <a:ext cx="19240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计划与工具选择</a:t>
            </a:r>
            <a:endParaRPr lang="zh-CN" sz="1800" dirty="0"/>
          </a:p>
        </p:txBody>
      </p:sp>
      <p:sp>
        <p:nvSpPr>
          <p:cNvPr id="26" name="T07/node:step-3:frame"/>
          <p:cNvSpPr/>
          <p:nvPr/>
        </p:nvSpPr>
        <p:spPr>
          <a:xfrm>
            <a:off x="5867400" y="1885950"/>
            <a:ext cx="2152650" cy="1047750"/>
          </a:xfrm>
          <a:prstGeom prst="rect">
            <a:avLst/>
          </a:prstGeom>
          <a:solidFill>
            <a:srgbClr val="FFFFFF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7" name="T07/node:step-3:heading-rule"/>
          <p:cNvSpPr/>
          <p:nvPr/>
        </p:nvSpPr>
        <p:spPr>
          <a:xfrm>
            <a:off x="5867400" y="1885950"/>
            <a:ext cx="2152650" cy="0"/>
          </a:xfrm>
          <a:prstGeom prst="line">
            <a:avLst/>
          </a:prstGeom>
          <a:noFill/>
          <a:ln w="19050">
            <a:solidFill>
              <a:srgbClr val="173C70"/>
            </a:solidFill>
            <a:prstDash val="solid"/>
          </a:ln>
        </p:spPr>
      </p:sp>
      <p:sp>
        <p:nvSpPr>
          <p:cNvPr id="28" name="T07/node:step-3:label"/>
          <p:cNvSpPr/>
          <p:nvPr/>
        </p:nvSpPr>
        <p:spPr>
          <a:xfrm>
            <a:off x="5981700" y="2276475"/>
            <a:ext cx="19240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执行与记录</a:t>
            </a:r>
            <a:endParaRPr lang="zh-CN" sz="1800" dirty="0"/>
          </a:p>
        </p:txBody>
      </p:sp>
      <p:sp>
        <p:nvSpPr>
          <p:cNvPr id="29" name="T07/node:step-4:frame"/>
          <p:cNvSpPr/>
          <p:nvPr/>
        </p:nvSpPr>
        <p:spPr>
          <a:xfrm>
            <a:off x="5867400" y="4133850"/>
            <a:ext cx="2152650" cy="1047750"/>
          </a:xfrm>
          <a:prstGeom prst="rect">
            <a:avLst/>
          </a:prstGeom>
          <a:solidFill>
            <a:srgbClr val="FFFFFF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30" name="T07/node:step-4:heading-rule"/>
          <p:cNvSpPr/>
          <p:nvPr/>
        </p:nvSpPr>
        <p:spPr>
          <a:xfrm>
            <a:off x="5867400" y="4133850"/>
            <a:ext cx="2152650" cy="0"/>
          </a:xfrm>
          <a:prstGeom prst="line">
            <a:avLst/>
          </a:prstGeom>
          <a:noFill/>
          <a:ln w="19050">
            <a:solidFill>
              <a:srgbClr val="173C70"/>
            </a:solidFill>
            <a:prstDash val="solid"/>
          </a:ln>
        </p:spPr>
      </p:sp>
      <p:sp>
        <p:nvSpPr>
          <p:cNvPr id="31" name="T07/node:step-4:label"/>
          <p:cNvSpPr/>
          <p:nvPr/>
        </p:nvSpPr>
        <p:spPr>
          <a:xfrm>
            <a:off x="5981700" y="4524375"/>
            <a:ext cx="19240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结果检验</a:t>
            </a:r>
            <a:endParaRPr lang="zh-CN" sz="1800" dirty="0"/>
          </a:p>
        </p:txBody>
      </p:sp>
      <p:sp>
        <p:nvSpPr>
          <p:cNvPr id="32" name="T07/node:step-5:frame"/>
          <p:cNvSpPr/>
          <p:nvPr/>
        </p:nvSpPr>
        <p:spPr>
          <a:xfrm>
            <a:off x="3238500" y="4133850"/>
            <a:ext cx="2152650" cy="1047750"/>
          </a:xfrm>
          <a:prstGeom prst="rect">
            <a:avLst/>
          </a:prstGeom>
          <a:solidFill>
            <a:srgbClr val="FFFFFF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33" name="T07/node:step-5:heading-rule"/>
          <p:cNvSpPr/>
          <p:nvPr/>
        </p:nvSpPr>
        <p:spPr>
          <a:xfrm>
            <a:off x="3238500" y="4133850"/>
            <a:ext cx="2152650" cy="0"/>
          </a:xfrm>
          <a:prstGeom prst="line">
            <a:avLst/>
          </a:prstGeom>
          <a:noFill/>
          <a:ln w="19050">
            <a:solidFill>
              <a:srgbClr val="173C70"/>
            </a:solidFill>
            <a:prstDash val="solid"/>
          </a:ln>
        </p:spPr>
      </p:sp>
      <p:sp>
        <p:nvSpPr>
          <p:cNvPr id="34" name="T07/node:step-5:label"/>
          <p:cNvSpPr/>
          <p:nvPr/>
        </p:nvSpPr>
        <p:spPr>
          <a:xfrm>
            <a:off x="3352800" y="4524375"/>
            <a:ext cx="19240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状态更新</a:t>
            </a:r>
            <a:endParaRPr lang="zh-CN" sz="1800" dirty="0"/>
          </a:p>
        </p:txBody>
      </p:sp>
      <p:sp>
        <p:nvSpPr>
          <p:cNvPr id="35" name="T07/node:step-6:frame"/>
          <p:cNvSpPr/>
          <p:nvPr/>
        </p:nvSpPr>
        <p:spPr>
          <a:xfrm>
            <a:off x="609600" y="4133850"/>
            <a:ext cx="2152650" cy="1047750"/>
          </a:xfrm>
          <a:prstGeom prst="rect">
            <a:avLst/>
          </a:prstGeom>
          <a:solidFill>
            <a:srgbClr val="FFFFFF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36" name="T07/node:step-6:heading-rule"/>
          <p:cNvSpPr/>
          <p:nvPr/>
        </p:nvSpPr>
        <p:spPr>
          <a:xfrm>
            <a:off x="609600" y="4133850"/>
            <a:ext cx="2152650" cy="0"/>
          </a:xfrm>
          <a:prstGeom prst="line">
            <a:avLst/>
          </a:prstGeom>
          <a:noFill/>
          <a:ln w="19050">
            <a:solidFill>
              <a:srgbClr val="173C70"/>
            </a:solidFill>
            <a:prstDash val="solid"/>
          </a:ln>
        </p:spPr>
      </p:sp>
      <p:sp>
        <p:nvSpPr>
          <p:cNvPr id="37" name="T07/node:step-6:label"/>
          <p:cNvSpPr/>
          <p:nvPr/>
        </p:nvSpPr>
        <p:spPr>
          <a:xfrm>
            <a:off x="723900" y="4524375"/>
            <a:ext cx="19240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后续任务</a:t>
            </a:r>
            <a:endParaRPr lang="zh-CN" sz="1800" dirty="0"/>
          </a:p>
        </p:txBody>
      </p:sp>
      <p:sp>
        <p:nvSpPr>
          <p:cNvPr id="38" name="T07/card/region-1/base-rule"/>
          <p:cNvSpPr/>
          <p:nvPr/>
        </p:nvSpPr>
        <p:spPr>
          <a:xfrm>
            <a:off x="8629650" y="3505200"/>
            <a:ext cx="310515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39" name="T07/card/region-1/side-mark"/>
          <p:cNvSpPr/>
          <p:nvPr/>
        </p:nvSpPr>
        <p:spPr>
          <a:xfrm>
            <a:off x="8629650" y="1409700"/>
            <a:ext cx="47625" cy="295275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07/card/region-1/title"/>
          <p:cNvSpPr/>
          <p:nvPr/>
        </p:nvSpPr>
        <p:spPr>
          <a:xfrm>
            <a:off x="8782050" y="1409700"/>
            <a:ext cx="29527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系统接口</a:t>
            </a:r>
            <a:endParaRPr lang="zh-CN" sz="1800" dirty="0"/>
          </a:p>
        </p:txBody>
      </p:sp>
      <p:sp>
        <p:nvSpPr>
          <p:cNvPr id="41" name="T07/card/region-1/body"/>
          <p:cNvSpPr/>
          <p:nvPr/>
        </p:nvSpPr>
        <p:spPr>
          <a:xfrm>
            <a:off x="8782050" y="1828800"/>
            <a:ext cx="2952750" cy="1581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标出各步骤输入、输出和记录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区分模型决策与确定性工具计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算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用箭头说明状态由谁更新</a:t>
            </a:r>
            <a:endParaRPr lang="zh-CN" sz="1725" dirty="0"/>
          </a:p>
        </p:txBody>
      </p:sp>
      <p:sp>
        <p:nvSpPr>
          <p:cNvPr id="42" name="T07/card/region-2/frame"/>
          <p:cNvSpPr/>
          <p:nvPr/>
        </p:nvSpPr>
        <p:spPr>
          <a:xfrm>
            <a:off x="8629650" y="3848100"/>
            <a:ext cx="3105150" cy="2133600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43" name="T07/card/region-2/tab"/>
          <p:cNvSpPr/>
          <p:nvPr/>
        </p:nvSpPr>
        <p:spPr>
          <a:xfrm>
            <a:off x="8743950" y="3733800"/>
            <a:ext cx="1866900" cy="320040"/>
          </a:xfrm>
          <a:prstGeom prst="rect">
            <a:avLst/>
          </a:prstGeom>
          <a:solidFill>
            <a:srgbClr val="90354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07/card/region-2/title"/>
          <p:cNvSpPr/>
          <p:nvPr/>
        </p:nvSpPr>
        <p:spPr>
          <a:xfrm>
            <a:off x="8848725" y="3762375"/>
            <a:ext cx="1657350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核验与失败处理</a:t>
            </a:r>
            <a:endParaRPr lang="zh-CN" sz="1800" dirty="0"/>
          </a:p>
        </p:txBody>
      </p:sp>
      <p:sp>
        <p:nvSpPr>
          <p:cNvPr id="45" name="T07/card/region-2/body"/>
          <p:cNvSpPr/>
          <p:nvPr/>
        </p:nvSpPr>
        <p:spPr>
          <a:xfrm>
            <a:off x="8763000" y="4196715"/>
            <a:ext cx="2838450" cy="1689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列出错误触发与返回机制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保存工具输出、引用和重试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核验模块的成本也需要评价</a:t>
            </a:r>
            <a:endParaRPr lang="zh-CN" sz="1725" dirty="0"/>
          </a:p>
        </p:txBody>
      </p:sp>
      <p:sp>
        <p:nvSpPr>
          <p:cNvPr id="46" name="T07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待替换</a:t>
            </a:r>
            <a:endParaRPr lang="zh-CN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8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08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06</a:t>
            </a:r>
            <a:endParaRPr lang="zh-CN" sz="1050" dirty="0"/>
          </a:p>
        </p:txBody>
      </p:sp>
      <p:sp>
        <p:nvSpPr>
          <p:cNvPr id="4" name="T08/kicker"/>
          <p:cNvSpPr/>
          <p:nvPr/>
        </p:nvSpPr>
        <p:spPr>
          <a:xfrm>
            <a:off x="457200" y="152400"/>
            <a:ext cx="11277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zh-CN" altLang="en-US" sz="120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结构模板 / 占位说明与合成数据</a:t>
            </a:r>
            <a:endParaRPr lang="zh-CN" sz="1200" dirty="0"/>
          </a:p>
        </p:txBody>
      </p:sp>
      <p:sp>
        <p:nvSpPr>
          <p:cNvPr id="5" name="T08/title"/>
          <p:cNvSpPr/>
          <p:nvPr/>
        </p:nvSpPr>
        <p:spPr>
          <a:xfrm>
            <a:off x="457200" y="381000"/>
            <a:ext cx="112776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6"/>
              </a:lnSpc>
              <a:buNone/>
            </a:pPr>
            <a:r>
              <a:rPr lang="zh-CN" altLang="en-US" sz="255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强化学习的状态动作奖励</a:t>
            </a:r>
            <a:endParaRPr lang="zh-CN" sz="2550" dirty="0"/>
          </a:p>
        </p:txBody>
      </p:sp>
      <p:sp>
        <p:nvSpPr>
          <p:cNvPr id="6" name="T08/header-rule"/>
          <p:cNvSpPr/>
          <p:nvPr/>
        </p:nvSpPr>
        <p:spPr>
          <a:xfrm>
            <a:off x="457200" y="876300"/>
            <a:ext cx="11277600" cy="0"/>
          </a:xfrm>
          <a:prstGeom prst="line">
            <a:avLst/>
          </a:prstGeom>
          <a:noFill/>
          <a:ln w="11430">
            <a:solidFill>
              <a:srgbClr val="173C70"/>
            </a:solidFill>
            <a:prstDash val="solid"/>
          </a:ln>
        </p:spPr>
      </p:sp>
      <p:sp>
        <p:nvSpPr>
          <p:cNvPr id="7" name="T08/edge:0"/>
          <p:cNvSpPr/>
          <p:nvPr/>
        </p:nvSpPr>
        <p:spPr>
          <a:xfrm>
            <a:off x="3333750" y="2362200"/>
            <a:ext cx="99060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8" name="T08/edge:1"/>
          <p:cNvSpPr/>
          <p:nvPr/>
        </p:nvSpPr>
        <p:spPr>
          <a:xfrm>
            <a:off x="5676900" y="2971800"/>
            <a:ext cx="0" cy="106680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9" name="T08/edge:2"/>
          <p:cNvSpPr/>
          <p:nvPr/>
        </p:nvSpPr>
        <p:spPr>
          <a:xfrm flipH="1">
            <a:off x="3333750" y="4648200"/>
            <a:ext cx="99060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0" name="T08/edge:3:segment:0"/>
          <p:cNvSpPr/>
          <p:nvPr/>
        </p:nvSpPr>
        <p:spPr>
          <a:xfrm flipH="1">
            <a:off x="466725" y="4648200"/>
            <a:ext cx="161925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1" name="T08/edge:3:segment:1"/>
          <p:cNvSpPr/>
          <p:nvPr/>
        </p:nvSpPr>
        <p:spPr>
          <a:xfrm flipV="1">
            <a:off x="466725" y="2362200"/>
            <a:ext cx="0" cy="228600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2" name="T08/edge:3:segment:2"/>
          <p:cNvSpPr/>
          <p:nvPr/>
        </p:nvSpPr>
        <p:spPr>
          <a:xfrm>
            <a:off x="466725" y="2362200"/>
            <a:ext cx="161925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3" name="T08/node:step-1:frame"/>
          <p:cNvSpPr/>
          <p:nvPr/>
        </p:nvSpPr>
        <p:spPr>
          <a:xfrm>
            <a:off x="628650" y="1752600"/>
            <a:ext cx="2705100" cy="1219200"/>
          </a:xfrm>
          <a:prstGeom prst="rect">
            <a:avLst/>
          </a:prstGeom>
          <a:solidFill>
            <a:srgbClr val="FFFFFF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4" name="T08/node:step-1:heading-rule"/>
          <p:cNvSpPr/>
          <p:nvPr/>
        </p:nvSpPr>
        <p:spPr>
          <a:xfrm>
            <a:off x="628650" y="1752600"/>
            <a:ext cx="2705100" cy="0"/>
          </a:xfrm>
          <a:prstGeom prst="line">
            <a:avLst/>
          </a:prstGeom>
          <a:noFill/>
          <a:ln w="19050">
            <a:solidFill>
              <a:srgbClr val="173C70"/>
            </a:solidFill>
            <a:prstDash val="solid"/>
          </a:ln>
        </p:spPr>
      </p:sp>
      <p:sp>
        <p:nvSpPr>
          <p:cNvPr id="15" name="T08/node:step-1:label"/>
          <p:cNvSpPr/>
          <p:nvPr/>
        </p:nvSpPr>
        <p:spPr>
          <a:xfrm>
            <a:off x="742950" y="1847850"/>
            <a:ext cx="24765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观测与状态估计</a:t>
            </a:r>
            <a:endParaRPr lang="zh-CN" sz="1800" dirty="0"/>
          </a:p>
        </p:txBody>
      </p:sp>
      <p:sp>
        <p:nvSpPr>
          <p:cNvPr id="16" name="T08/node:step-1:detail"/>
          <p:cNvSpPr/>
          <p:nvPr/>
        </p:nvSpPr>
        <p:spPr>
          <a:xfrm>
            <a:off x="742950" y="2162175"/>
            <a:ext cx="2476500" cy="723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填写接口与条件</a:t>
            </a:r>
            <a:endParaRPr lang="zh-CN" sz="1650" dirty="0"/>
          </a:p>
        </p:txBody>
      </p:sp>
      <p:sp>
        <p:nvSpPr>
          <p:cNvPr id="17" name="T08/node:step-2:frame"/>
          <p:cNvSpPr/>
          <p:nvPr/>
        </p:nvSpPr>
        <p:spPr>
          <a:xfrm>
            <a:off x="4324350" y="1752600"/>
            <a:ext cx="2705100" cy="1219200"/>
          </a:xfrm>
          <a:prstGeom prst="rect">
            <a:avLst/>
          </a:prstGeom>
          <a:solidFill>
            <a:srgbClr val="FFFFFF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8" name="T08/node:step-2:heading-rule"/>
          <p:cNvSpPr/>
          <p:nvPr/>
        </p:nvSpPr>
        <p:spPr>
          <a:xfrm>
            <a:off x="4324350" y="1752600"/>
            <a:ext cx="2705100" cy="0"/>
          </a:xfrm>
          <a:prstGeom prst="line">
            <a:avLst/>
          </a:prstGeom>
          <a:noFill/>
          <a:ln w="19050">
            <a:solidFill>
              <a:srgbClr val="173C70"/>
            </a:solidFill>
            <a:prstDash val="solid"/>
          </a:ln>
        </p:spPr>
      </p:sp>
      <p:sp>
        <p:nvSpPr>
          <p:cNvPr id="19" name="T08/node:step-2:label"/>
          <p:cNvSpPr/>
          <p:nvPr/>
        </p:nvSpPr>
        <p:spPr>
          <a:xfrm>
            <a:off x="4438650" y="1847850"/>
            <a:ext cx="24765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策略决策</a:t>
            </a:r>
            <a:endParaRPr lang="zh-CN" sz="1800" dirty="0"/>
          </a:p>
        </p:txBody>
      </p:sp>
      <p:sp>
        <p:nvSpPr>
          <p:cNvPr id="20" name="T08/node:step-2:detail"/>
          <p:cNvSpPr/>
          <p:nvPr/>
        </p:nvSpPr>
        <p:spPr>
          <a:xfrm>
            <a:off x="4438650" y="2162175"/>
            <a:ext cx="2476500" cy="723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填写接口与条件</a:t>
            </a:r>
            <a:endParaRPr lang="zh-CN" sz="1650" dirty="0"/>
          </a:p>
        </p:txBody>
      </p:sp>
      <p:sp>
        <p:nvSpPr>
          <p:cNvPr id="21" name="T08/node:step-3:frame"/>
          <p:cNvSpPr/>
          <p:nvPr/>
        </p:nvSpPr>
        <p:spPr>
          <a:xfrm>
            <a:off x="4324350" y="4038600"/>
            <a:ext cx="2705100" cy="1219200"/>
          </a:xfrm>
          <a:prstGeom prst="rect">
            <a:avLst/>
          </a:prstGeom>
          <a:solidFill>
            <a:srgbClr val="FFFFFF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2" name="T08/node:step-3:heading-rule"/>
          <p:cNvSpPr/>
          <p:nvPr/>
        </p:nvSpPr>
        <p:spPr>
          <a:xfrm>
            <a:off x="4324350" y="4038600"/>
            <a:ext cx="2705100" cy="0"/>
          </a:xfrm>
          <a:prstGeom prst="line">
            <a:avLst/>
          </a:prstGeom>
          <a:noFill/>
          <a:ln w="19050">
            <a:solidFill>
              <a:srgbClr val="173C70"/>
            </a:solidFill>
            <a:prstDash val="solid"/>
          </a:ln>
        </p:spPr>
      </p:sp>
      <p:sp>
        <p:nvSpPr>
          <p:cNvPr id="23" name="T08/node:step-3:label"/>
          <p:cNvSpPr/>
          <p:nvPr/>
        </p:nvSpPr>
        <p:spPr>
          <a:xfrm>
            <a:off x="4438650" y="4133850"/>
            <a:ext cx="24765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环境与执行器</a:t>
            </a:r>
            <a:endParaRPr lang="zh-CN" sz="1800" dirty="0"/>
          </a:p>
        </p:txBody>
      </p:sp>
      <p:sp>
        <p:nvSpPr>
          <p:cNvPr id="24" name="T08/node:step-3:detail"/>
          <p:cNvSpPr/>
          <p:nvPr/>
        </p:nvSpPr>
        <p:spPr>
          <a:xfrm>
            <a:off x="4438650" y="4448175"/>
            <a:ext cx="2476500" cy="723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填写接口与条件</a:t>
            </a:r>
            <a:endParaRPr lang="zh-CN" sz="1650" dirty="0"/>
          </a:p>
        </p:txBody>
      </p:sp>
      <p:sp>
        <p:nvSpPr>
          <p:cNvPr id="25" name="T08/node:step-4:frame"/>
          <p:cNvSpPr/>
          <p:nvPr/>
        </p:nvSpPr>
        <p:spPr>
          <a:xfrm>
            <a:off x="628650" y="4038600"/>
            <a:ext cx="2705100" cy="1219200"/>
          </a:xfrm>
          <a:prstGeom prst="rect">
            <a:avLst/>
          </a:prstGeom>
          <a:solidFill>
            <a:srgbClr val="FFFFFF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6" name="T08/node:step-4:heading-rule"/>
          <p:cNvSpPr/>
          <p:nvPr/>
        </p:nvSpPr>
        <p:spPr>
          <a:xfrm>
            <a:off x="628650" y="4038600"/>
            <a:ext cx="2705100" cy="0"/>
          </a:xfrm>
          <a:prstGeom prst="line">
            <a:avLst/>
          </a:prstGeom>
          <a:noFill/>
          <a:ln w="19050">
            <a:solidFill>
              <a:srgbClr val="173C70"/>
            </a:solidFill>
            <a:prstDash val="solid"/>
          </a:ln>
        </p:spPr>
      </p:sp>
      <p:sp>
        <p:nvSpPr>
          <p:cNvPr id="27" name="T08/node:step-4:label"/>
          <p:cNvSpPr/>
          <p:nvPr/>
        </p:nvSpPr>
        <p:spPr>
          <a:xfrm>
            <a:off x="742950" y="4133850"/>
            <a:ext cx="24765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反馈与终止条件</a:t>
            </a:r>
            <a:endParaRPr lang="zh-CN" sz="1800" dirty="0"/>
          </a:p>
        </p:txBody>
      </p:sp>
      <p:sp>
        <p:nvSpPr>
          <p:cNvPr id="28" name="T08/node:step-4:detail"/>
          <p:cNvSpPr/>
          <p:nvPr/>
        </p:nvSpPr>
        <p:spPr>
          <a:xfrm>
            <a:off x="742950" y="4448175"/>
            <a:ext cx="2476500" cy="723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填写接口与条件</a:t>
            </a:r>
            <a:endParaRPr lang="zh-CN" sz="1650" dirty="0"/>
          </a:p>
        </p:txBody>
      </p:sp>
      <p:sp>
        <p:nvSpPr>
          <p:cNvPr id="29" name="T08/card/region-1/title"/>
          <p:cNvSpPr/>
          <p:nvPr/>
        </p:nvSpPr>
        <p:spPr>
          <a:xfrm>
            <a:off x="7924800" y="1371600"/>
            <a:ext cx="38100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6"/>
              </a:lnSpc>
              <a:buNone/>
            </a:pPr>
            <a:r>
              <a:rPr lang="zh-CN" altLang="en-US" sz="1875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 s_t</a:t>
            </a:r>
            <a:endParaRPr lang="zh-CN" sz="1875" dirty="0"/>
          </a:p>
        </p:txBody>
      </p:sp>
      <p:sp>
        <p:nvSpPr>
          <p:cNvPr id="30" name="T08/card/region-1/body"/>
          <p:cNvSpPr/>
          <p:nvPr/>
        </p:nvSpPr>
        <p:spPr>
          <a:xfrm>
            <a:off x="7924800" y="1752600"/>
            <a:ext cx="3810000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观测变量、历史和缺失值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记录单位、采样频率与可得时间</a:t>
            </a:r>
            <a:endParaRPr lang="zh-CN" sz="1725" dirty="0"/>
          </a:p>
        </p:txBody>
      </p:sp>
      <p:sp>
        <p:nvSpPr>
          <p:cNvPr id="31" name="T08/card/region-2/title"/>
          <p:cNvSpPr/>
          <p:nvPr/>
        </p:nvSpPr>
        <p:spPr>
          <a:xfrm>
            <a:off x="7924800" y="2590800"/>
            <a:ext cx="38100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6"/>
              </a:lnSpc>
              <a:buNone/>
            </a:pPr>
            <a:r>
              <a:rPr lang="zh-CN" altLang="en-US" sz="1875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动作 a_t</a:t>
            </a:r>
            <a:endParaRPr lang="zh-CN" sz="1875" dirty="0"/>
          </a:p>
        </p:txBody>
      </p:sp>
      <p:sp>
        <p:nvSpPr>
          <p:cNvPr id="32" name="T08/card/region-2/body"/>
          <p:cNvSpPr/>
          <p:nvPr/>
        </p:nvSpPr>
        <p:spPr>
          <a:xfrm>
            <a:off x="7924800" y="2971800"/>
            <a:ext cx="3810000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管理对象、离散或连续范围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说明执行频率和现实约束</a:t>
            </a:r>
            <a:endParaRPr lang="zh-CN" sz="1725" dirty="0"/>
          </a:p>
        </p:txBody>
      </p:sp>
      <p:sp>
        <p:nvSpPr>
          <p:cNvPr id="33" name="T08/card/region-3/title"/>
          <p:cNvSpPr/>
          <p:nvPr/>
        </p:nvSpPr>
        <p:spPr>
          <a:xfrm>
            <a:off x="7924800" y="3810000"/>
            <a:ext cx="38100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6"/>
              </a:lnSpc>
              <a:buNone/>
            </a:pPr>
            <a:r>
              <a:rPr lang="zh-CN" altLang="en-US" sz="1875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奖励 r_t</a:t>
            </a:r>
            <a:endParaRPr lang="zh-CN" sz="1875" dirty="0"/>
          </a:p>
        </p:txBody>
      </p:sp>
      <p:sp>
        <p:nvSpPr>
          <p:cNvPr id="34" name="T08/card/region-3/body"/>
          <p:cNvSpPr/>
          <p:nvPr/>
        </p:nvSpPr>
        <p:spPr>
          <a:xfrm>
            <a:off x="7924800" y="4191000"/>
            <a:ext cx="3810000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写出奖励组成与归一化方法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区分即时奖励和最终目标</a:t>
            </a:r>
            <a:endParaRPr lang="zh-CN" sz="1725" dirty="0"/>
          </a:p>
        </p:txBody>
      </p:sp>
      <p:sp>
        <p:nvSpPr>
          <p:cNvPr id="35" name="T08/card/region-4/title"/>
          <p:cNvSpPr/>
          <p:nvPr/>
        </p:nvSpPr>
        <p:spPr>
          <a:xfrm>
            <a:off x="7924800" y="5029200"/>
            <a:ext cx="38100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6"/>
              </a:lnSpc>
              <a:buNone/>
            </a:pPr>
            <a:r>
              <a:rPr lang="zh-CN" altLang="en-US" sz="1875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安全约束</a:t>
            </a:r>
            <a:endParaRPr lang="zh-CN" sz="1875" dirty="0"/>
          </a:p>
        </p:txBody>
      </p:sp>
      <p:sp>
        <p:nvSpPr>
          <p:cNvPr id="36" name="T08/card/region-4/body"/>
          <p:cNvSpPr/>
          <p:nvPr/>
        </p:nvSpPr>
        <p:spPr>
          <a:xfrm>
            <a:off x="7924800" y="5410200"/>
            <a:ext cx="3810000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硬边界、软惩罚与终止条件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单独报告约束违反情况</a:t>
            </a:r>
            <a:endParaRPr lang="zh-CN" sz="1725" dirty="0"/>
          </a:p>
        </p:txBody>
      </p:sp>
      <p:sp>
        <p:nvSpPr>
          <p:cNvPr id="37" name="T08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待替换</a:t>
            </a:r>
            <a:endParaRPr lang="zh-CN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9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09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06</a:t>
            </a:r>
            <a:endParaRPr lang="zh-CN" sz="1050" dirty="0"/>
          </a:p>
        </p:txBody>
      </p:sp>
      <p:sp>
        <p:nvSpPr>
          <p:cNvPr id="4" name="T09/kicker"/>
          <p:cNvSpPr/>
          <p:nvPr/>
        </p:nvSpPr>
        <p:spPr>
          <a:xfrm>
            <a:off x="457200" y="152400"/>
            <a:ext cx="11277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zh-CN" altLang="en-US" sz="120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结构模板 / 占位说明与合成数据</a:t>
            </a:r>
            <a:endParaRPr lang="zh-CN" sz="1200" dirty="0"/>
          </a:p>
        </p:txBody>
      </p:sp>
      <p:sp>
        <p:nvSpPr>
          <p:cNvPr id="5" name="T09/title"/>
          <p:cNvSpPr/>
          <p:nvPr/>
        </p:nvSpPr>
        <p:spPr>
          <a:xfrm>
            <a:off x="457200" y="381000"/>
            <a:ext cx="112776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6"/>
              </a:lnSpc>
              <a:buNone/>
            </a:pPr>
            <a:r>
              <a:rPr lang="zh-CN" altLang="en-US" sz="255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工具路由与能力边界</a:t>
            </a:r>
            <a:endParaRPr lang="zh-CN" sz="2550" dirty="0"/>
          </a:p>
        </p:txBody>
      </p:sp>
      <p:sp>
        <p:nvSpPr>
          <p:cNvPr id="6" name="T09/header-rule"/>
          <p:cNvSpPr/>
          <p:nvPr/>
        </p:nvSpPr>
        <p:spPr>
          <a:xfrm>
            <a:off x="457200" y="876300"/>
            <a:ext cx="11277600" cy="0"/>
          </a:xfrm>
          <a:prstGeom prst="line">
            <a:avLst/>
          </a:prstGeom>
          <a:noFill/>
          <a:ln w="11430">
            <a:solidFill>
              <a:srgbClr val="173C70"/>
            </a:solidFill>
            <a:prstDash val="solid"/>
          </a:ln>
        </p:spPr>
      </p:sp>
      <p:sp>
        <p:nvSpPr>
          <p:cNvPr id="7" name="T09/panel:0:frame"/>
          <p:cNvSpPr/>
          <p:nvPr/>
        </p:nvSpPr>
        <p:spPr>
          <a:xfrm>
            <a:off x="457200" y="1428750"/>
            <a:ext cx="7905750" cy="4610100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8" name="T09/panel:0:tab"/>
          <p:cNvSpPr/>
          <p:nvPr/>
        </p:nvSpPr>
        <p:spPr>
          <a:xfrm>
            <a:off x="571500" y="1314450"/>
            <a:ext cx="2095500" cy="3238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09/panel:0:title"/>
          <p:cNvSpPr/>
          <p:nvPr/>
        </p:nvSpPr>
        <p:spPr>
          <a:xfrm>
            <a:off x="676275" y="1343025"/>
            <a:ext cx="188595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任务、工具与输出</a:t>
            </a:r>
            <a:endParaRPr lang="zh-CN" sz="1800" dirty="0"/>
          </a:p>
        </p:txBody>
      </p:sp>
      <p:sp>
        <p:nvSpPr>
          <p:cNvPr id="10" name="T09/edge:0:segment:0"/>
          <p:cNvSpPr/>
          <p:nvPr/>
        </p:nvSpPr>
        <p:spPr>
          <a:xfrm>
            <a:off x="4324350" y="2552700"/>
            <a:ext cx="0" cy="36195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1" name="T09/edge:0:segment:1"/>
          <p:cNvSpPr/>
          <p:nvPr/>
        </p:nvSpPr>
        <p:spPr>
          <a:xfrm flipH="1">
            <a:off x="1704975" y="2914650"/>
            <a:ext cx="2619375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2" name="T09/edge:0:segment:2"/>
          <p:cNvSpPr/>
          <p:nvPr/>
        </p:nvSpPr>
        <p:spPr>
          <a:xfrm>
            <a:off x="1704975" y="2914650"/>
            <a:ext cx="0" cy="36195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3" name="T09/edge:1:segment:0"/>
          <p:cNvSpPr/>
          <p:nvPr/>
        </p:nvSpPr>
        <p:spPr>
          <a:xfrm>
            <a:off x="4324350" y="2552700"/>
            <a:ext cx="0" cy="36195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4" name="T09/edge:1:segment:1"/>
          <p:cNvSpPr/>
          <p:nvPr/>
        </p:nvSpPr>
        <p:spPr>
          <a:xfrm>
            <a:off x="4324350" y="2914650"/>
            <a:ext cx="161925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5" name="T09/edge:1:segment:2"/>
          <p:cNvSpPr/>
          <p:nvPr/>
        </p:nvSpPr>
        <p:spPr>
          <a:xfrm>
            <a:off x="4486275" y="2914650"/>
            <a:ext cx="0" cy="36195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6" name="T09/edge:2:segment:0"/>
          <p:cNvSpPr/>
          <p:nvPr/>
        </p:nvSpPr>
        <p:spPr>
          <a:xfrm>
            <a:off x="5600700" y="2181225"/>
            <a:ext cx="276225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7" name="T09/edge:2:segment:1"/>
          <p:cNvSpPr/>
          <p:nvPr/>
        </p:nvSpPr>
        <p:spPr>
          <a:xfrm>
            <a:off x="5876925" y="2181225"/>
            <a:ext cx="0" cy="161925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8" name="T09/edge:2:segment:2"/>
          <p:cNvSpPr/>
          <p:nvPr/>
        </p:nvSpPr>
        <p:spPr>
          <a:xfrm>
            <a:off x="5876925" y="3800475"/>
            <a:ext cx="276225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9" name="T09/edge:3:segment:0"/>
          <p:cNvSpPr/>
          <p:nvPr/>
        </p:nvSpPr>
        <p:spPr>
          <a:xfrm>
            <a:off x="2800350" y="3800475"/>
            <a:ext cx="123825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20" name="T09/edge:3:segment:1"/>
          <p:cNvSpPr/>
          <p:nvPr/>
        </p:nvSpPr>
        <p:spPr>
          <a:xfrm>
            <a:off x="2924175" y="3800475"/>
            <a:ext cx="0" cy="1762125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21" name="T09/edge:3:segment:2"/>
          <p:cNvSpPr/>
          <p:nvPr/>
        </p:nvSpPr>
        <p:spPr>
          <a:xfrm>
            <a:off x="2924175" y="5562600"/>
            <a:ext cx="123825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22" name="T09/edge:4:segment:0"/>
          <p:cNvSpPr/>
          <p:nvPr/>
        </p:nvSpPr>
        <p:spPr>
          <a:xfrm>
            <a:off x="4486275" y="4324350"/>
            <a:ext cx="0" cy="447675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23" name="T09/edge:4:segment:1"/>
          <p:cNvSpPr/>
          <p:nvPr/>
        </p:nvSpPr>
        <p:spPr>
          <a:xfrm flipH="1">
            <a:off x="4324350" y="4772025"/>
            <a:ext cx="161925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24" name="T09/edge:4:segment:2"/>
          <p:cNvSpPr/>
          <p:nvPr/>
        </p:nvSpPr>
        <p:spPr>
          <a:xfrm>
            <a:off x="4324350" y="4772025"/>
            <a:ext cx="0" cy="447675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25" name="T09/edge:5:segment:0"/>
          <p:cNvSpPr/>
          <p:nvPr/>
        </p:nvSpPr>
        <p:spPr>
          <a:xfrm>
            <a:off x="7181850" y="4324350"/>
            <a:ext cx="0" cy="447675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26" name="T09/edge:5:segment:1"/>
          <p:cNvSpPr/>
          <p:nvPr/>
        </p:nvSpPr>
        <p:spPr>
          <a:xfrm flipH="1">
            <a:off x="4324350" y="4772025"/>
            <a:ext cx="285750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27" name="T09/edge:5:segment:2"/>
          <p:cNvSpPr/>
          <p:nvPr/>
        </p:nvSpPr>
        <p:spPr>
          <a:xfrm>
            <a:off x="4324350" y="4772025"/>
            <a:ext cx="0" cy="447675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28" name="T09/node:step-1:frame"/>
          <p:cNvSpPr/>
          <p:nvPr/>
        </p:nvSpPr>
        <p:spPr>
          <a:xfrm>
            <a:off x="3048000" y="1809750"/>
            <a:ext cx="2552700" cy="742950"/>
          </a:xfrm>
          <a:prstGeom prst="rect">
            <a:avLst/>
          </a:prstGeom>
          <a:solidFill>
            <a:srgbClr val="FFFFFF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9" name="T09/node:step-1:heading-rule"/>
          <p:cNvSpPr/>
          <p:nvPr/>
        </p:nvSpPr>
        <p:spPr>
          <a:xfrm>
            <a:off x="3048000" y="1809750"/>
            <a:ext cx="2552700" cy="0"/>
          </a:xfrm>
          <a:prstGeom prst="line">
            <a:avLst/>
          </a:prstGeom>
          <a:noFill/>
          <a:ln w="19050">
            <a:solidFill>
              <a:srgbClr val="173C70"/>
            </a:solidFill>
            <a:prstDash val="solid"/>
          </a:ln>
        </p:spPr>
      </p:sp>
      <p:sp>
        <p:nvSpPr>
          <p:cNvPr id="30" name="T09/node:step-1:label"/>
          <p:cNvSpPr/>
          <p:nvPr/>
        </p:nvSpPr>
        <p:spPr>
          <a:xfrm>
            <a:off x="3162300" y="2047875"/>
            <a:ext cx="23241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任务解析</a:t>
            </a:r>
            <a:endParaRPr lang="zh-CN" sz="1800" dirty="0"/>
          </a:p>
        </p:txBody>
      </p:sp>
      <p:sp>
        <p:nvSpPr>
          <p:cNvPr id="31" name="T09/node:step-2:frame"/>
          <p:cNvSpPr/>
          <p:nvPr/>
        </p:nvSpPr>
        <p:spPr>
          <a:xfrm>
            <a:off x="609600" y="3276600"/>
            <a:ext cx="2190750" cy="1047750"/>
          </a:xfrm>
          <a:prstGeom prst="rect">
            <a:avLst/>
          </a:prstGeom>
          <a:solidFill>
            <a:srgbClr val="FFFFFF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32" name="T09/node:step-2:heading-rule"/>
          <p:cNvSpPr/>
          <p:nvPr/>
        </p:nvSpPr>
        <p:spPr>
          <a:xfrm>
            <a:off x="609600" y="3276600"/>
            <a:ext cx="2190750" cy="0"/>
          </a:xfrm>
          <a:prstGeom prst="line">
            <a:avLst/>
          </a:prstGeom>
          <a:noFill/>
          <a:ln w="19050">
            <a:solidFill>
              <a:srgbClr val="173C70"/>
            </a:solidFill>
            <a:prstDash val="solid"/>
          </a:ln>
        </p:spPr>
      </p:sp>
      <p:sp>
        <p:nvSpPr>
          <p:cNvPr id="33" name="T09/node:step-2:label"/>
          <p:cNvSpPr/>
          <p:nvPr/>
        </p:nvSpPr>
        <p:spPr>
          <a:xfrm>
            <a:off x="723900" y="3667125"/>
            <a:ext cx="19621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感知模型</a:t>
            </a:r>
            <a:endParaRPr lang="zh-CN" sz="1800" dirty="0"/>
          </a:p>
        </p:txBody>
      </p:sp>
      <p:sp>
        <p:nvSpPr>
          <p:cNvPr id="34" name="T09/node:step-3:frame"/>
          <p:cNvSpPr/>
          <p:nvPr/>
        </p:nvSpPr>
        <p:spPr>
          <a:xfrm>
            <a:off x="3390900" y="3276600"/>
            <a:ext cx="2190750" cy="1047750"/>
          </a:xfrm>
          <a:prstGeom prst="rect">
            <a:avLst/>
          </a:prstGeom>
          <a:solidFill>
            <a:srgbClr val="FFFFFF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35" name="T09/node:step-3:heading-rule"/>
          <p:cNvSpPr/>
          <p:nvPr/>
        </p:nvSpPr>
        <p:spPr>
          <a:xfrm>
            <a:off x="3390900" y="3276600"/>
            <a:ext cx="2190750" cy="0"/>
          </a:xfrm>
          <a:prstGeom prst="line">
            <a:avLst/>
          </a:prstGeom>
          <a:noFill/>
          <a:ln w="19050">
            <a:solidFill>
              <a:srgbClr val="173C70"/>
            </a:solidFill>
            <a:prstDash val="solid"/>
          </a:ln>
        </p:spPr>
      </p:sp>
      <p:sp>
        <p:nvSpPr>
          <p:cNvPr id="36" name="T09/node:step-3:label"/>
          <p:cNvSpPr/>
          <p:nvPr/>
        </p:nvSpPr>
        <p:spPr>
          <a:xfrm>
            <a:off x="3505200" y="3667125"/>
            <a:ext cx="19621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数据与统计工具</a:t>
            </a:r>
            <a:endParaRPr lang="zh-CN" sz="1800" dirty="0"/>
          </a:p>
        </p:txBody>
      </p:sp>
      <p:sp>
        <p:nvSpPr>
          <p:cNvPr id="37" name="T09/node:step-4:frame"/>
          <p:cNvSpPr/>
          <p:nvPr/>
        </p:nvSpPr>
        <p:spPr>
          <a:xfrm>
            <a:off x="6153150" y="3276600"/>
            <a:ext cx="2057400" cy="1047750"/>
          </a:xfrm>
          <a:prstGeom prst="rect">
            <a:avLst/>
          </a:prstGeom>
          <a:solidFill>
            <a:srgbClr val="FFFFFF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38" name="T09/node:step-4:heading-rule"/>
          <p:cNvSpPr/>
          <p:nvPr/>
        </p:nvSpPr>
        <p:spPr>
          <a:xfrm>
            <a:off x="6153150" y="3276600"/>
            <a:ext cx="2057400" cy="0"/>
          </a:xfrm>
          <a:prstGeom prst="line">
            <a:avLst/>
          </a:prstGeom>
          <a:noFill/>
          <a:ln w="19050">
            <a:solidFill>
              <a:srgbClr val="173C70"/>
            </a:solidFill>
            <a:prstDash val="solid"/>
          </a:ln>
        </p:spPr>
      </p:sp>
      <p:sp>
        <p:nvSpPr>
          <p:cNvPr id="39" name="T09/node:step-4:label"/>
          <p:cNvSpPr/>
          <p:nvPr/>
        </p:nvSpPr>
        <p:spPr>
          <a:xfrm>
            <a:off x="6267450" y="3667125"/>
            <a:ext cx="1828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知识检索</a:t>
            </a:r>
            <a:endParaRPr lang="zh-CN" sz="1800" dirty="0"/>
          </a:p>
        </p:txBody>
      </p:sp>
      <p:sp>
        <p:nvSpPr>
          <p:cNvPr id="40" name="T09/node:step-5:frame"/>
          <p:cNvSpPr/>
          <p:nvPr/>
        </p:nvSpPr>
        <p:spPr>
          <a:xfrm>
            <a:off x="3048000" y="5219700"/>
            <a:ext cx="2552700" cy="685800"/>
          </a:xfrm>
          <a:prstGeom prst="rect">
            <a:avLst/>
          </a:prstGeom>
          <a:solidFill>
            <a:srgbClr val="FFFFFF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41" name="T09/node:step-5:heading-rule"/>
          <p:cNvSpPr/>
          <p:nvPr/>
        </p:nvSpPr>
        <p:spPr>
          <a:xfrm>
            <a:off x="3048000" y="5219700"/>
            <a:ext cx="2552700" cy="0"/>
          </a:xfrm>
          <a:prstGeom prst="line">
            <a:avLst/>
          </a:prstGeom>
          <a:noFill/>
          <a:ln w="19050">
            <a:solidFill>
              <a:srgbClr val="173C70"/>
            </a:solidFill>
            <a:prstDash val="solid"/>
          </a:ln>
        </p:spPr>
      </p:sp>
      <p:sp>
        <p:nvSpPr>
          <p:cNvPr id="42" name="T09/node:step-5:label"/>
          <p:cNvSpPr/>
          <p:nvPr/>
        </p:nvSpPr>
        <p:spPr>
          <a:xfrm>
            <a:off x="3162300" y="5429250"/>
            <a:ext cx="23241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输出核验</a:t>
            </a:r>
            <a:endParaRPr lang="zh-CN" sz="1800" dirty="0"/>
          </a:p>
        </p:txBody>
      </p:sp>
      <p:sp>
        <p:nvSpPr>
          <p:cNvPr id="43" name="T09/card/region-1/frame"/>
          <p:cNvSpPr/>
          <p:nvPr/>
        </p:nvSpPr>
        <p:spPr>
          <a:xfrm>
            <a:off x="8648700" y="1371600"/>
            <a:ext cx="3086100" cy="2057400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44" name="T09/card/region-1/heading-fill"/>
          <p:cNvSpPr/>
          <p:nvPr/>
        </p:nvSpPr>
        <p:spPr>
          <a:xfrm>
            <a:off x="8658225" y="1381125"/>
            <a:ext cx="3067050" cy="371475"/>
          </a:xfrm>
          <a:prstGeom prst="rect">
            <a:avLst/>
          </a:prstGeom>
          <a:solidFill>
            <a:srgbClr val="EEF3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09/card/region-1/heading-rule"/>
          <p:cNvSpPr/>
          <p:nvPr/>
        </p:nvSpPr>
        <p:spPr>
          <a:xfrm>
            <a:off x="8648700" y="1752600"/>
            <a:ext cx="30861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46" name="T09/card/region-1/title"/>
          <p:cNvSpPr/>
          <p:nvPr/>
        </p:nvSpPr>
        <p:spPr>
          <a:xfrm>
            <a:off x="8772525" y="1428750"/>
            <a:ext cx="283845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路由依据</a:t>
            </a:r>
            <a:endParaRPr lang="zh-CN" sz="1800" dirty="0"/>
          </a:p>
        </p:txBody>
      </p:sp>
      <p:sp>
        <p:nvSpPr>
          <p:cNvPr id="47" name="T09/card/region-1/body"/>
          <p:cNvSpPr/>
          <p:nvPr/>
        </p:nvSpPr>
        <p:spPr>
          <a:xfrm>
            <a:off x="8782050" y="1866900"/>
            <a:ext cx="2819400" cy="146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任务类型如何匹配工具能力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工具选择是否使用相同的信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息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缺少工具时应明确退出或求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助</a:t>
            </a:r>
            <a:endParaRPr lang="zh-CN" sz="1725" dirty="0"/>
          </a:p>
        </p:txBody>
      </p:sp>
      <p:sp>
        <p:nvSpPr>
          <p:cNvPr id="48" name="T09/card/region-2/frame"/>
          <p:cNvSpPr/>
          <p:nvPr/>
        </p:nvSpPr>
        <p:spPr>
          <a:xfrm>
            <a:off x="8648700" y="3829050"/>
            <a:ext cx="3086100" cy="2171700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49" name="T09/card/region-2/tab"/>
          <p:cNvSpPr/>
          <p:nvPr/>
        </p:nvSpPr>
        <p:spPr>
          <a:xfrm>
            <a:off x="8763000" y="3714750"/>
            <a:ext cx="1638300" cy="32004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09/card/region-2/title"/>
          <p:cNvSpPr/>
          <p:nvPr/>
        </p:nvSpPr>
        <p:spPr>
          <a:xfrm>
            <a:off x="8867775" y="3743325"/>
            <a:ext cx="1428750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工具覆盖范围</a:t>
            </a:r>
            <a:endParaRPr lang="zh-CN" sz="1800" dirty="0"/>
          </a:p>
        </p:txBody>
      </p:sp>
      <p:sp>
        <p:nvSpPr>
          <p:cNvPr id="51" name="T09/card/region-2/body"/>
          <p:cNvSpPr/>
          <p:nvPr/>
        </p:nvSpPr>
        <p:spPr>
          <a:xfrm>
            <a:off x="8782050" y="4177665"/>
            <a:ext cx="2819400" cy="1727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列出工具能处理的对象和输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标注分布外样本与失败类别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解释工具更新后需重做哪些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</a:t>
            </a:r>
            <a:endParaRPr lang="zh-CN" sz="1725" dirty="0"/>
          </a:p>
        </p:txBody>
      </p:sp>
      <p:sp>
        <p:nvSpPr>
          <p:cNvPr id="52" name="T09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待替换</a:t>
            </a:r>
            <a:endParaRPr lang="zh-CN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0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10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/ 06</a:t>
            </a:r>
            <a:endParaRPr lang="zh-CN" sz="1050" dirty="0"/>
          </a:p>
        </p:txBody>
      </p:sp>
      <p:sp>
        <p:nvSpPr>
          <p:cNvPr id="4" name="T10/kicker"/>
          <p:cNvSpPr/>
          <p:nvPr/>
        </p:nvSpPr>
        <p:spPr>
          <a:xfrm>
            <a:off x="457200" y="152400"/>
            <a:ext cx="11277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zh-CN" altLang="en-US" sz="120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结构模板 / 占位说明与合成数据</a:t>
            </a:r>
            <a:endParaRPr lang="zh-CN" sz="1200" dirty="0"/>
          </a:p>
        </p:txBody>
      </p:sp>
      <p:sp>
        <p:nvSpPr>
          <p:cNvPr id="5" name="T10/title"/>
          <p:cNvSpPr/>
          <p:nvPr/>
        </p:nvSpPr>
        <p:spPr>
          <a:xfrm>
            <a:off x="457200" y="381000"/>
            <a:ext cx="112776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6"/>
              </a:lnSpc>
              <a:buNone/>
            </a:pPr>
            <a:r>
              <a:rPr lang="zh-CN" altLang="en-US" sz="255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机理模型与优化器耦合</a:t>
            </a:r>
            <a:endParaRPr lang="zh-CN" sz="2550" dirty="0"/>
          </a:p>
        </p:txBody>
      </p:sp>
      <p:sp>
        <p:nvSpPr>
          <p:cNvPr id="6" name="T10/header-rule"/>
          <p:cNvSpPr/>
          <p:nvPr/>
        </p:nvSpPr>
        <p:spPr>
          <a:xfrm>
            <a:off x="457200" y="876300"/>
            <a:ext cx="11277600" cy="0"/>
          </a:xfrm>
          <a:prstGeom prst="line">
            <a:avLst/>
          </a:prstGeom>
          <a:noFill/>
          <a:ln w="11430">
            <a:solidFill>
              <a:srgbClr val="173C70"/>
            </a:solidFill>
            <a:prstDash val="solid"/>
          </a:ln>
        </p:spPr>
      </p:sp>
      <p:sp>
        <p:nvSpPr>
          <p:cNvPr id="7" name="T10/panel:0:frame"/>
          <p:cNvSpPr/>
          <p:nvPr/>
        </p:nvSpPr>
        <p:spPr>
          <a:xfrm>
            <a:off x="457200" y="1352550"/>
            <a:ext cx="11277600" cy="1809750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8" name="T10/panel:0:heading-fill"/>
          <p:cNvSpPr/>
          <p:nvPr/>
        </p:nvSpPr>
        <p:spPr>
          <a:xfrm>
            <a:off x="466725" y="1362075"/>
            <a:ext cx="11258550" cy="381000"/>
          </a:xfrm>
          <a:prstGeom prst="rect">
            <a:avLst/>
          </a:prstGeom>
          <a:solidFill>
            <a:srgbClr val="EEF3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10/panel:0:heading-rule"/>
          <p:cNvSpPr/>
          <p:nvPr/>
        </p:nvSpPr>
        <p:spPr>
          <a:xfrm>
            <a:off x="457200" y="1743075"/>
            <a:ext cx="112776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0" name="T10/panel:0:title"/>
          <p:cNvSpPr/>
          <p:nvPr/>
        </p:nvSpPr>
        <p:spPr>
          <a:xfrm>
            <a:off x="581025" y="1409700"/>
            <a:ext cx="110299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耦合计算链</a:t>
            </a:r>
            <a:endParaRPr lang="zh-CN" sz="1800" dirty="0"/>
          </a:p>
        </p:txBody>
      </p:sp>
      <p:sp>
        <p:nvSpPr>
          <p:cNvPr id="11" name="T10/edge:0"/>
          <p:cNvSpPr/>
          <p:nvPr/>
        </p:nvSpPr>
        <p:spPr>
          <a:xfrm>
            <a:off x="2762250" y="2419350"/>
            <a:ext cx="72390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2" name="T10/edge:1"/>
          <p:cNvSpPr/>
          <p:nvPr/>
        </p:nvSpPr>
        <p:spPr>
          <a:xfrm>
            <a:off x="5638800" y="2419350"/>
            <a:ext cx="74295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3" name="T10/edge:2"/>
          <p:cNvSpPr/>
          <p:nvPr/>
        </p:nvSpPr>
        <p:spPr>
          <a:xfrm>
            <a:off x="8534400" y="2419350"/>
            <a:ext cx="74295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4" name="T10/node:step-1:frame"/>
          <p:cNvSpPr/>
          <p:nvPr/>
        </p:nvSpPr>
        <p:spPr>
          <a:xfrm>
            <a:off x="609600" y="1866900"/>
            <a:ext cx="2152650" cy="1104900"/>
          </a:xfrm>
          <a:prstGeom prst="rect">
            <a:avLst/>
          </a:prstGeom>
          <a:solidFill>
            <a:srgbClr val="FFFFFF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5" name="T10/node:step-1:heading-rule"/>
          <p:cNvSpPr/>
          <p:nvPr/>
        </p:nvSpPr>
        <p:spPr>
          <a:xfrm>
            <a:off x="609600" y="1866900"/>
            <a:ext cx="2152650" cy="0"/>
          </a:xfrm>
          <a:prstGeom prst="line">
            <a:avLst/>
          </a:prstGeom>
          <a:noFill/>
          <a:ln w="19050">
            <a:solidFill>
              <a:srgbClr val="173C70"/>
            </a:solidFill>
            <a:prstDash val="solid"/>
          </a:ln>
        </p:spPr>
      </p:sp>
      <p:sp>
        <p:nvSpPr>
          <p:cNvPr id="16" name="T10/node:step-1:label"/>
          <p:cNvSpPr/>
          <p:nvPr/>
        </p:nvSpPr>
        <p:spPr>
          <a:xfrm>
            <a:off x="723900" y="1962150"/>
            <a:ext cx="19240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环境与管理输入</a:t>
            </a:r>
            <a:endParaRPr lang="zh-CN" sz="1800" dirty="0"/>
          </a:p>
        </p:txBody>
      </p:sp>
      <p:sp>
        <p:nvSpPr>
          <p:cNvPr id="17" name="T10/node:step-1:detail"/>
          <p:cNvSpPr/>
          <p:nvPr/>
        </p:nvSpPr>
        <p:spPr>
          <a:xfrm>
            <a:off x="723900" y="2276475"/>
            <a:ext cx="192405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填写接口与条件</a:t>
            </a:r>
            <a:endParaRPr lang="zh-CN" sz="1650" dirty="0"/>
          </a:p>
        </p:txBody>
      </p:sp>
      <p:sp>
        <p:nvSpPr>
          <p:cNvPr id="18" name="T10/node:step-2:frame"/>
          <p:cNvSpPr/>
          <p:nvPr/>
        </p:nvSpPr>
        <p:spPr>
          <a:xfrm>
            <a:off x="3486150" y="1866900"/>
            <a:ext cx="2152650" cy="1104900"/>
          </a:xfrm>
          <a:prstGeom prst="rect">
            <a:avLst/>
          </a:prstGeom>
          <a:solidFill>
            <a:srgbClr val="FFFFFF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9" name="T10/node:step-2:heading-rule"/>
          <p:cNvSpPr/>
          <p:nvPr/>
        </p:nvSpPr>
        <p:spPr>
          <a:xfrm>
            <a:off x="3486150" y="1866900"/>
            <a:ext cx="2152650" cy="0"/>
          </a:xfrm>
          <a:prstGeom prst="line">
            <a:avLst/>
          </a:prstGeom>
          <a:noFill/>
          <a:ln w="19050">
            <a:solidFill>
              <a:srgbClr val="173C70"/>
            </a:solidFill>
            <a:prstDash val="solid"/>
          </a:ln>
        </p:spPr>
      </p:sp>
      <p:sp>
        <p:nvSpPr>
          <p:cNvPr id="20" name="T10/node:step-2:label"/>
          <p:cNvSpPr/>
          <p:nvPr/>
        </p:nvSpPr>
        <p:spPr>
          <a:xfrm>
            <a:off x="3600450" y="1962150"/>
            <a:ext cx="19240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机理模型</a:t>
            </a:r>
            <a:endParaRPr lang="zh-CN" sz="1800" dirty="0"/>
          </a:p>
        </p:txBody>
      </p:sp>
      <p:sp>
        <p:nvSpPr>
          <p:cNvPr id="21" name="T10/node:step-2:detail"/>
          <p:cNvSpPr/>
          <p:nvPr/>
        </p:nvSpPr>
        <p:spPr>
          <a:xfrm>
            <a:off x="3600450" y="2276475"/>
            <a:ext cx="192405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填写接口与条件</a:t>
            </a:r>
            <a:endParaRPr lang="zh-CN" sz="1650" dirty="0"/>
          </a:p>
        </p:txBody>
      </p:sp>
      <p:sp>
        <p:nvSpPr>
          <p:cNvPr id="22" name="T10/node:step-3:frame"/>
          <p:cNvSpPr/>
          <p:nvPr/>
        </p:nvSpPr>
        <p:spPr>
          <a:xfrm>
            <a:off x="6381750" y="1866900"/>
            <a:ext cx="2152650" cy="1104900"/>
          </a:xfrm>
          <a:prstGeom prst="rect">
            <a:avLst/>
          </a:prstGeom>
          <a:solidFill>
            <a:srgbClr val="FFFFFF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3" name="T10/node:step-3:heading-rule"/>
          <p:cNvSpPr/>
          <p:nvPr/>
        </p:nvSpPr>
        <p:spPr>
          <a:xfrm>
            <a:off x="6381750" y="1866900"/>
            <a:ext cx="2152650" cy="0"/>
          </a:xfrm>
          <a:prstGeom prst="line">
            <a:avLst/>
          </a:prstGeom>
          <a:noFill/>
          <a:ln w="19050">
            <a:solidFill>
              <a:srgbClr val="173C70"/>
            </a:solidFill>
            <a:prstDash val="solid"/>
          </a:ln>
        </p:spPr>
      </p:sp>
      <p:sp>
        <p:nvSpPr>
          <p:cNvPr id="24" name="T10/node:step-3:label"/>
          <p:cNvSpPr/>
          <p:nvPr/>
        </p:nvSpPr>
        <p:spPr>
          <a:xfrm>
            <a:off x="6496050" y="1962150"/>
            <a:ext cx="19240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目标与约束计算</a:t>
            </a:r>
            <a:endParaRPr lang="zh-CN" sz="1800" dirty="0"/>
          </a:p>
        </p:txBody>
      </p:sp>
      <p:sp>
        <p:nvSpPr>
          <p:cNvPr id="25" name="T10/node:step-3:detail"/>
          <p:cNvSpPr/>
          <p:nvPr/>
        </p:nvSpPr>
        <p:spPr>
          <a:xfrm>
            <a:off x="6496050" y="2276475"/>
            <a:ext cx="192405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填写接口与条件</a:t>
            </a:r>
            <a:endParaRPr lang="zh-CN" sz="1650" dirty="0"/>
          </a:p>
        </p:txBody>
      </p:sp>
      <p:sp>
        <p:nvSpPr>
          <p:cNvPr id="26" name="T10/node:step-4:frame"/>
          <p:cNvSpPr/>
          <p:nvPr/>
        </p:nvSpPr>
        <p:spPr>
          <a:xfrm>
            <a:off x="9277350" y="1866900"/>
            <a:ext cx="2305050" cy="1104900"/>
          </a:xfrm>
          <a:prstGeom prst="rect">
            <a:avLst/>
          </a:prstGeom>
          <a:solidFill>
            <a:srgbClr val="FFFFFF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7" name="T10/node:step-4:heading-rule"/>
          <p:cNvSpPr/>
          <p:nvPr/>
        </p:nvSpPr>
        <p:spPr>
          <a:xfrm>
            <a:off x="9277350" y="1866900"/>
            <a:ext cx="2305050" cy="0"/>
          </a:xfrm>
          <a:prstGeom prst="line">
            <a:avLst/>
          </a:prstGeom>
          <a:noFill/>
          <a:ln w="19050">
            <a:solidFill>
              <a:srgbClr val="173C70"/>
            </a:solidFill>
            <a:prstDash val="solid"/>
          </a:ln>
        </p:spPr>
      </p:sp>
      <p:sp>
        <p:nvSpPr>
          <p:cNvPr id="28" name="T10/node:step-4:label"/>
          <p:cNvSpPr/>
          <p:nvPr/>
        </p:nvSpPr>
        <p:spPr>
          <a:xfrm>
            <a:off x="9391650" y="1962150"/>
            <a:ext cx="20764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优化或策略更新</a:t>
            </a:r>
            <a:endParaRPr lang="zh-CN" sz="1800" dirty="0"/>
          </a:p>
        </p:txBody>
      </p:sp>
      <p:sp>
        <p:nvSpPr>
          <p:cNvPr id="29" name="T10/node:step-4:detail"/>
          <p:cNvSpPr/>
          <p:nvPr/>
        </p:nvSpPr>
        <p:spPr>
          <a:xfrm>
            <a:off x="9391650" y="2276475"/>
            <a:ext cx="207645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填写接口与条件</a:t>
            </a:r>
            <a:endParaRPr lang="zh-CN" sz="1650" dirty="0"/>
          </a:p>
        </p:txBody>
      </p:sp>
      <p:sp>
        <p:nvSpPr>
          <p:cNvPr id="30" name="T10/card/region-1/base-rule"/>
          <p:cNvSpPr/>
          <p:nvPr/>
        </p:nvSpPr>
        <p:spPr>
          <a:xfrm>
            <a:off x="457200" y="5962650"/>
            <a:ext cx="348615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31" name="T10/card/region-1/side-mark"/>
          <p:cNvSpPr/>
          <p:nvPr/>
        </p:nvSpPr>
        <p:spPr>
          <a:xfrm>
            <a:off x="457200" y="3581400"/>
            <a:ext cx="47625" cy="295275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10/card/region-1/title"/>
          <p:cNvSpPr/>
          <p:nvPr/>
        </p:nvSpPr>
        <p:spPr>
          <a:xfrm>
            <a:off x="609600" y="3581400"/>
            <a:ext cx="33337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输入与单位</a:t>
            </a:r>
            <a:endParaRPr lang="zh-CN" sz="1800" dirty="0"/>
          </a:p>
        </p:txBody>
      </p:sp>
      <p:sp>
        <p:nvSpPr>
          <p:cNvPr id="33" name="T10/card/region-1/body"/>
          <p:cNvSpPr/>
          <p:nvPr/>
        </p:nvSpPr>
        <p:spPr>
          <a:xfrm>
            <a:off x="609600" y="4000500"/>
            <a:ext cx="3333750" cy="1866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同化观测、气象与管理输入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逐项保留物理量单位和时间步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说明缺失或预测数据的来源</a:t>
            </a:r>
            <a:endParaRPr lang="zh-CN" sz="1725" dirty="0"/>
          </a:p>
        </p:txBody>
      </p:sp>
      <p:sp>
        <p:nvSpPr>
          <p:cNvPr id="34" name="T10/card/region-2/frame"/>
          <p:cNvSpPr/>
          <p:nvPr/>
        </p:nvSpPr>
        <p:spPr>
          <a:xfrm>
            <a:off x="4210050" y="3562350"/>
            <a:ext cx="3505200" cy="2400300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35" name="T10/card/region-2/heading-fill"/>
          <p:cNvSpPr/>
          <p:nvPr/>
        </p:nvSpPr>
        <p:spPr>
          <a:xfrm>
            <a:off x="4219575" y="3571875"/>
            <a:ext cx="3486150" cy="371475"/>
          </a:xfrm>
          <a:prstGeom prst="rect">
            <a:avLst/>
          </a:prstGeom>
          <a:solidFill>
            <a:srgbClr val="EEF3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10/card/region-2/heading-rule"/>
          <p:cNvSpPr/>
          <p:nvPr/>
        </p:nvSpPr>
        <p:spPr>
          <a:xfrm>
            <a:off x="4210050" y="3943350"/>
            <a:ext cx="35052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37" name="T10/card/region-2/title"/>
          <p:cNvSpPr/>
          <p:nvPr/>
        </p:nvSpPr>
        <p:spPr>
          <a:xfrm>
            <a:off x="4333875" y="3619500"/>
            <a:ext cx="325755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校准与验证</a:t>
            </a:r>
            <a:endParaRPr lang="zh-CN" sz="1800" dirty="0"/>
          </a:p>
        </p:txBody>
      </p:sp>
      <p:sp>
        <p:nvSpPr>
          <p:cNvPr id="38" name="T10/card/region-2/body"/>
          <p:cNvSpPr/>
          <p:nvPr/>
        </p:nvSpPr>
        <p:spPr>
          <a:xfrm>
            <a:off x="4343400" y="4057650"/>
            <a:ext cx="3238500" cy="1809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区分参数校准与独立验证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报告校准范围与留出环境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与观测比较误差而非只看拟合</a:t>
            </a:r>
            <a:endParaRPr lang="zh-CN" sz="1725" dirty="0"/>
          </a:p>
        </p:txBody>
      </p:sp>
      <p:sp>
        <p:nvSpPr>
          <p:cNvPr id="39" name="T10/card/region-3/frame"/>
          <p:cNvSpPr/>
          <p:nvPr/>
        </p:nvSpPr>
        <p:spPr>
          <a:xfrm>
            <a:off x="7981950" y="3676650"/>
            <a:ext cx="3752850" cy="2286000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40" name="T10/card/region-3/tab"/>
          <p:cNvSpPr/>
          <p:nvPr/>
        </p:nvSpPr>
        <p:spPr>
          <a:xfrm>
            <a:off x="8096250" y="3562350"/>
            <a:ext cx="1181100" cy="32004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10/card/region-3/title"/>
          <p:cNvSpPr/>
          <p:nvPr/>
        </p:nvSpPr>
        <p:spPr>
          <a:xfrm>
            <a:off x="8201025" y="3590925"/>
            <a:ext cx="971550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模型失配</a:t>
            </a:r>
            <a:endParaRPr lang="zh-CN" sz="1800" dirty="0"/>
          </a:p>
        </p:txBody>
      </p:sp>
      <p:sp>
        <p:nvSpPr>
          <p:cNvPr id="42" name="T10/card/region-3/body"/>
          <p:cNvSpPr/>
          <p:nvPr/>
        </p:nvSpPr>
        <p:spPr>
          <a:xfrm>
            <a:off x="8115300" y="4025265"/>
            <a:ext cx="3486150" cy="1842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列出结构误差与参数不确定性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说明误差如何影响优化或策略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补充越界状态的处理规则</a:t>
            </a:r>
            <a:endParaRPr lang="zh-CN" sz="1725" dirty="0"/>
          </a:p>
        </p:txBody>
      </p:sp>
      <p:sp>
        <p:nvSpPr>
          <p:cNvPr id="43" name="T10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待替换</a:t>
            </a:r>
            <a:endParaRPr lang="zh-CN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1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11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/ 06</a:t>
            </a:r>
            <a:endParaRPr lang="zh-CN" sz="1050" dirty="0"/>
          </a:p>
        </p:txBody>
      </p:sp>
      <p:sp>
        <p:nvSpPr>
          <p:cNvPr id="4" name="T11/kicker"/>
          <p:cNvSpPr/>
          <p:nvPr/>
        </p:nvSpPr>
        <p:spPr>
          <a:xfrm>
            <a:off x="457200" y="152400"/>
            <a:ext cx="11277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zh-CN" altLang="en-US" sz="120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结构模板 / 占位说明与合成数据</a:t>
            </a:r>
            <a:endParaRPr lang="zh-CN" sz="1200" dirty="0"/>
          </a:p>
        </p:txBody>
      </p:sp>
      <p:sp>
        <p:nvSpPr>
          <p:cNvPr id="5" name="T11/title"/>
          <p:cNvSpPr/>
          <p:nvPr/>
        </p:nvSpPr>
        <p:spPr>
          <a:xfrm>
            <a:off x="457200" y="381000"/>
            <a:ext cx="112776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6"/>
              </a:lnSpc>
              <a:buNone/>
            </a:pPr>
            <a:r>
              <a:rPr lang="zh-CN" altLang="en-US" sz="255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算法步骤与关键假设</a:t>
            </a:r>
            <a:endParaRPr lang="zh-CN" sz="2550" dirty="0"/>
          </a:p>
        </p:txBody>
      </p:sp>
      <p:sp>
        <p:nvSpPr>
          <p:cNvPr id="6" name="T11/header-rule"/>
          <p:cNvSpPr/>
          <p:nvPr/>
        </p:nvSpPr>
        <p:spPr>
          <a:xfrm>
            <a:off x="457200" y="876300"/>
            <a:ext cx="11277600" cy="0"/>
          </a:xfrm>
          <a:prstGeom prst="line">
            <a:avLst/>
          </a:prstGeom>
          <a:noFill/>
          <a:ln w="11430">
            <a:solidFill>
              <a:srgbClr val="173C70"/>
            </a:solidFill>
            <a:prstDash val="solid"/>
          </a:ln>
        </p:spPr>
      </p:sp>
      <p:sp>
        <p:nvSpPr>
          <p:cNvPr id="7" name="T11/edge:0"/>
          <p:cNvSpPr/>
          <p:nvPr/>
        </p:nvSpPr>
        <p:spPr>
          <a:xfrm>
            <a:off x="2228850" y="2057400"/>
            <a:ext cx="0" cy="26670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8" name="T11/edge:1"/>
          <p:cNvSpPr/>
          <p:nvPr/>
        </p:nvSpPr>
        <p:spPr>
          <a:xfrm>
            <a:off x="2228850" y="3048000"/>
            <a:ext cx="0" cy="26670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9" name="T11/edge:2"/>
          <p:cNvSpPr/>
          <p:nvPr/>
        </p:nvSpPr>
        <p:spPr>
          <a:xfrm>
            <a:off x="2228850" y="4038600"/>
            <a:ext cx="0" cy="26670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0" name="T11/edge:3"/>
          <p:cNvSpPr/>
          <p:nvPr/>
        </p:nvSpPr>
        <p:spPr>
          <a:xfrm>
            <a:off x="2228850" y="5029200"/>
            <a:ext cx="0" cy="26670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1" name="T11/node:step-1:frame"/>
          <p:cNvSpPr/>
          <p:nvPr/>
        </p:nvSpPr>
        <p:spPr>
          <a:xfrm>
            <a:off x="590550" y="1333500"/>
            <a:ext cx="3276600" cy="723900"/>
          </a:xfrm>
          <a:prstGeom prst="rect">
            <a:avLst/>
          </a:prstGeom>
          <a:solidFill>
            <a:srgbClr val="FFFFFF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2" name="T11/node:step-1:heading-rule"/>
          <p:cNvSpPr/>
          <p:nvPr/>
        </p:nvSpPr>
        <p:spPr>
          <a:xfrm>
            <a:off x="590550" y="1333500"/>
            <a:ext cx="3276600" cy="0"/>
          </a:xfrm>
          <a:prstGeom prst="line">
            <a:avLst/>
          </a:prstGeom>
          <a:noFill/>
          <a:ln w="19050">
            <a:solidFill>
              <a:srgbClr val="173C70"/>
            </a:solidFill>
            <a:prstDash val="solid"/>
          </a:ln>
        </p:spPr>
      </p:sp>
      <p:sp>
        <p:nvSpPr>
          <p:cNvPr id="13" name="T11/node:step-1:label"/>
          <p:cNvSpPr/>
          <p:nvPr/>
        </p:nvSpPr>
        <p:spPr>
          <a:xfrm>
            <a:off x="704850" y="1562100"/>
            <a:ext cx="3048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输入与初始化</a:t>
            </a:r>
            <a:endParaRPr lang="zh-CN" sz="1800" dirty="0"/>
          </a:p>
        </p:txBody>
      </p:sp>
      <p:sp>
        <p:nvSpPr>
          <p:cNvPr id="14" name="T11/node:step-2:frame"/>
          <p:cNvSpPr/>
          <p:nvPr/>
        </p:nvSpPr>
        <p:spPr>
          <a:xfrm>
            <a:off x="590550" y="2324100"/>
            <a:ext cx="3276600" cy="723900"/>
          </a:xfrm>
          <a:prstGeom prst="rect">
            <a:avLst/>
          </a:prstGeom>
          <a:solidFill>
            <a:srgbClr val="FFFFFF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5" name="T11/node:step-2:heading-rule"/>
          <p:cNvSpPr/>
          <p:nvPr/>
        </p:nvSpPr>
        <p:spPr>
          <a:xfrm>
            <a:off x="590550" y="2324100"/>
            <a:ext cx="3276600" cy="0"/>
          </a:xfrm>
          <a:prstGeom prst="line">
            <a:avLst/>
          </a:prstGeom>
          <a:noFill/>
          <a:ln w="19050">
            <a:solidFill>
              <a:srgbClr val="173C70"/>
            </a:solidFill>
            <a:prstDash val="solid"/>
          </a:ln>
        </p:spPr>
      </p:sp>
      <p:sp>
        <p:nvSpPr>
          <p:cNvPr id="16" name="T11/node:step-2:label"/>
          <p:cNvSpPr/>
          <p:nvPr/>
        </p:nvSpPr>
        <p:spPr>
          <a:xfrm>
            <a:off x="704850" y="2552700"/>
            <a:ext cx="3048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构造候选</a:t>
            </a:r>
            <a:endParaRPr lang="zh-CN" sz="1800" dirty="0"/>
          </a:p>
        </p:txBody>
      </p:sp>
      <p:sp>
        <p:nvSpPr>
          <p:cNvPr id="17" name="T11/node:step-3:frame"/>
          <p:cNvSpPr/>
          <p:nvPr/>
        </p:nvSpPr>
        <p:spPr>
          <a:xfrm>
            <a:off x="590550" y="3314700"/>
            <a:ext cx="3276600" cy="723900"/>
          </a:xfrm>
          <a:prstGeom prst="rect">
            <a:avLst/>
          </a:prstGeom>
          <a:solidFill>
            <a:srgbClr val="FFFFFF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8" name="T11/node:step-3:heading-rule"/>
          <p:cNvSpPr/>
          <p:nvPr/>
        </p:nvSpPr>
        <p:spPr>
          <a:xfrm>
            <a:off x="590550" y="3314700"/>
            <a:ext cx="3276600" cy="0"/>
          </a:xfrm>
          <a:prstGeom prst="line">
            <a:avLst/>
          </a:prstGeom>
          <a:noFill/>
          <a:ln w="19050">
            <a:solidFill>
              <a:srgbClr val="173C70"/>
            </a:solidFill>
            <a:prstDash val="solid"/>
          </a:ln>
        </p:spPr>
      </p:sp>
      <p:sp>
        <p:nvSpPr>
          <p:cNvPr id="19" name="T11/node:step-3:label"/>
          <p:cNvSpPr/>
          <p:nvPr/>
        </p:nvSpPr>
        <p:spPr>
          <a:xfrm>
            <a:off x="704850" y="3543300"/>
            <a:ext cx="3048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计算目标</a:t>
            </a:r>
            <a:endParaRPr lang="zh-CN" sz="1800" dirty="0"/>
          </a:p>
        </p:txBody>
      </p:sp>
      <p:sp>
        <p:nvSpPr>
          <p:cNvPr id="20" name="T11/node:step-4:frame"/>
          <p:cNvSpPr/>
          <p:nvPr/>
        </p:nvSpPr>
        <p:spPr>
          <a:xfrm>
            <a:off x="590550" y="4305300"/>
            <a:ext cx="3276600" cy="723900"/>
          </a:xfrm>
          <a:prstGeom prst="rect">
            <a:avLst/>
          </a:prstGeom>
          <a:solidFill>
            <a:srgbClr val="FFFFFF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1" name="T11/node:step-4:heading-rule"/>
          <p:cNvSpPr/>
          <p:nvPr/>
        </p:nvSpPr>
        <p:spPr>
          <a:xfrm>
            <a:off x="590550" y="4305300"/>
            <a:ext cx="3276600" cy="0"/>
          </a:xfrm>
          <a:prstGeom prst="line">
            <a:avLst/>
          </a:prstGeom>
          <a:noFill/>
          <a:ln w="19050">
            <a:solidFill>
              <a:srgbClr val="173C70"/>
            </a:solidFill>
            <a:prstDash val="solid"/>
          </a:ln>
        </p:spPr>
      </p:sp>
      <p:sp>
        <p:nvSpPr>
          <p:cNvPr id="22" name="T11/node:step-4:label"/>
          <p:cNvSpPr/>
          <p:nvPr/>
        </p:nvSpPr>
        <p:spPr>
          <a:xfrm>
            <a:off x="704850" y="4533900"/>
            <a:ext cx="3048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更新参数</a:t>
            </a:r>
            <a:endParaRPr lang="zh-CN" sz="1800" dirty="0"/>
          </a:p>
        </p:txBody>
      </p:sp>
      <p:sp>
        <p:nvSpPr>
          <p:cNvPr id="23" name="T11/node:step-5:frame"/>
          <p:cNvSpPr/>
          <p:nvPr/>
        </p:nvSpPr>
        <p:spPr>
          <a:xfrm>
            <a:off x="590550" y="5295900"/>
            <a:ext cx="3276600" cy="723900"/>
          </a:xfrm>
          <a:prstGeom prst="rect">
            <a:avLst/>
          </a:prstGeom>
          <a:solidFill>
            <a:srgbClr val="FFFFFF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4" name="T11/node:step-5:heading-rule"/>
          <p:cNvSpPr/>
          <p:nvPr/>
        </p:nvSpPr>
        <p:spPr>
          <a:xfrm>
            <a:off x="590550" y="5295900"/>
            <a:ext cx="3276600" cy="0"/>
          </a:xfrm>
          <a:prstGeom prst="line">
            <a:avLst/>
          </a:prstGeom>
          <a:noFill/>
          <a:ln w="19050">
            <a:solidFill>
              <a:srgbClr val="173C70"/>
            </a:solidFill>
            <a:prstDash val="solid"/>
          </a:ln>
        </p:spPr>
      </p:sp>
      <p:sp>
        <p:nvSpPr>
          <p:cNvPr id="25" name="T11/node:step-5:label"/>
          <p:cNvSpPr/>
          <p:nvPr/>
        </p:nvSpPr>
        <p:spPr>
          <a:xfrm>
            <a:off x="704850" y="5524500"/>
            <a:ext cx="3048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停止与输出</a:t>
            </a:r>
            <a:endParaRPr lang="zh-CN" sz="1800" dirty="0"/>
          </a:p>
        </p:txBody>
      </p:sp>
      <p:sp>
        <p:nvSpPr>
          <p:cNvPr id="26" name="T11/card/region-1/frame"/>
          <p:cNvSpPr/>
          <p:nvPr/>
        </p:nvSpPr>
        <p:spPr>
          <a:xfrm>
            <a:off x="4305300" y="1352550"/>
            <a:ext cx="7429500" cy="1447800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27" name="T11/card/region-1/heading-fill"/>
          <p:cNvSpPr/>
          <p:nvPr/>
        </p:nvSpPr>
        <p:spPr>
          <a:xfrm>
            <a:off x="4314825" y="1362075"/>
            <a:ext cx="7410450" cy="371475"/>
          </a:xfrm>
          <a:prstGeom prst="rect">
            <a:avLst/>
          </a:prstGeom>
          <a:solidFill>
            <a:srgbClr val="EEF3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11/card/region-1/heading-rule"/>
          <p:cNvSpPr/>
          <p:nvPr/>
        </p:nvSpPr>
        <p:spPr>
          <a:xfrm>
            <a:off x="4305300" y="1733550"/>
            <a:ext cx="74295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29" name="T11/card/region-1/title"/>
          <p:cNvSpPr/>
          <p:nvPr/>
        </p:nvSpPr>
        <p:spPr>
          <a:xfrm>
            <a:off x="4429125" y="1409700"/>
            <a:ext cx="718185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关键运算</a:t>
            </a:r>
            <a:endParaRPr lang="zh-CN" sz="1800" dirty="0"/>
          </a:p>
        </p:txBody>
      </p:sp>
      <p:sp>
        <p:nvSpPr>
          <p:cNvPr id="30" name="T11/card/region-1/body"/>
          <p:cNvSpPr/>
          <p:nvPr/>
        </p:nvSpPr>
        <p:spPr>
          <a:xfrm>
            <a:off x="4438650" y="1847850"/>
            <a:ext cx="7162800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写清关键更新或目标计算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保留输入维度、输出与复杂度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避免只写算法名而省略机制</a:t>
            </a:r>
            <a:endParaRPr lang="zh-CN" sz="1725" dirty="0"/>
          </a:p>
        </p:txBody>
      </p:sp>
      <p:sp>
        <p:nvSpPr>
          <p:cNvPr id="31" name="T11/card/region-2/heading-rule"/>
          <p:cNvSpPr/>
          <p:nvPr/>
        </p:nvSpPr>
        <p:spPr>
          <a:xfrm>
            <a:off x="4305300" y="3352800"/>
            <a:ext cx="74295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32" name="T11/card/region-2/heading-mark"/>
          <p:cNvSpPr/>
          <p:nvPr/>
        </p:nvSpPr>
        <p:spPr>
          <a:xfrm>
            <a:off x="4305300" y="3352800"/>
            <a:ext cx="342900" cy="0"/>
          </a:xfrm>
          <a:prstGeom prst="line">
            <a:avLst/>
          </a:prstGeom>
          <a:noFill/>
          <a:ln w="17145">
            <a:solidFill>
              <a:srgbClr val="173C70"/>
            </a:solidFill>
            <a:prstDash val="solid"/>
          </a:ln>
        </p:spPr>
      </p:sp>
      <p:sp>
        <p:nvSpPr>
          <p:cNvPr id="33" name="T11/card/region-2/title"/>
          <p:cNvSpPr/>
          <p:nvPr/>
        </p:nvSpPr>
        <p:spPr>
          <a:xfrm>
            <a:off x="4305300" y="3009900"/>
            <a:ext cx="74295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6"/>
              </a:lnSpc>
              <a:buNone/>
            </a:pPr>
            <a:r>
              <a:rPr lang="zh-CN" altLang="en-US" sz="1875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更新规则</a:t>
            </a:r>
            <a:endParaRPr lang="zh-CN" sz="1875" dirty="0"/>
          </a:p>
        </p:txBody>
      </p:sp>
      <p:sp>
        <p:nvSpPr>
          <p:cNvPr id="34" name="T11/card/region-2/body"/>
          <p:cNvSpPr/>
          <p:nvPr/>
        </p:nvSpPr>
        <p:spPr>
          <a:xfrm>
            <a:off x="4305300" y="3486150"/>
            <a:ext cx="7429500" cy="876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说明批次、频率与停止条件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区分训练更新和测试时的行为</a:t>
            </a:r>
            <a:endParaRPr lang="zh-CN" sz="1800" dirty="0"/>
          </a:p>
        </p:txBody>
      </p:sp>
      <p:sp>
        <p:nvSpPr>
          <p:cNvPr id="35" name="T11/card/region-3/frame"/>
          <p:cNvSpPr/>
          <p:nvPr/>
        </p:nvSpPr>
        <p:spPr>
          <a:xfrm>
            <a:off x="4305300" y="4724400"/>
            <a:ext cx="7429500" cy="1295400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36" name="T11/card/region-3/tab"/>
          <p:cNvSpPr/>
          <p:nvPr/>
        </p:nvSpPr>
        <p:spPr>
          <a:xfrm>
            <a:off x="4419600" y="4610100"/>
            <a:ext cx="1866900" cy="320040"/>
          </a:xfrm>
          <a:prstGeom prst="rect">
            <a:avLst/>
          </a:prstGeom>
          <a:solidFill>
            <a:srgbClr val="355D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11/card/region-3/title"/>
          <p:cNvSpPr/>
          <p:nvPr/>
        </p:nvSpPr>
        <p:spPr>
          <a:xfrm>
            <a:off x="4524375" y="4638675"/>
            <a:ext cx="1657350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假设与计算条件</a:t>
            </a:r>
            <a:endParaRPr lang="zh-CN" sz="1800" dirty="0"/>
          </a:p>
        </p:txBody>
      </p:sp>
      <p:sp>
        <p:nvSpPr>
          <p:cNvPr id="38" name="T11/card/region-3/body"/>
          <p:cNvSpPr/>
          <p:nvPr/>
        </p:nvSpPr>
        <p:spPr>
          <a:xfrm>
            <a:off x="4438650" y="5073015"/>
            <a:ext cx="7162800" cy="851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列出独立性、可观测性与稳定性假设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报告超参数、随机种子和预算</a:t>
            </a:r>
            <a:endParaRPr lang="zh-CN" sz="1725" dirty="0"/>
          </a:p>
        </p:txBody>
      </p:sp>
      <p:sp>
        <p:nvSpPr>
          <p:cNvPr id="39" name="T11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待替换</a:t>
            </a:r>
            <a:endParaRPr lang="zh-CN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2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12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/ 06</a:t>
            </a:r>
            <a:endParaRPr lang="zh-CN" sz="1050" dirty="0"/>
          </a:p>
        </p:txBody>
      </p:sp>
      <p:sp>
        <p:nvSpPr>
          <p:cNvPr id="4" name="T12/kicker"/>
          <p:cNvSpPr/>
          <p:nvPr/>
        </p:nvSpPr>
        <p:spPr>
          <a:xfrm>
            <a:off x="457200" y="152400"/>
            <a:ext cx="11277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zh-CN" altLang="en-US" sz="120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结构模板 / 占位说明与合成数据</a:t>
            </a:r>
            <a:endParaRPr lang="zh-CN" sz="1200" dirty="0"/>
          </a:p>
        </p:txBody>
      </p:sp>
      <p:sp>
        <p:nvSpPr>
          <p:cNvPr id="5" name="T12/title"/>
          <p:cNvSpPr/>
          <p:nvPr/>
        </p:nvSpPr>
        <p:spPr>
          <a:xfrm>
            <a:off x="457200" y="381000"/>
            <a:ext cx="112776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6"/>
              </a:lnSpc>
              <a:buNone/>
            </a:pPr>
            <a:r>
              <a:rPr lang="zh-CN" altLang="en-US" sz="255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目标函数与约束分解</a:t>
            </a:r>
            <a:endParaRPr lang="zh-CN" sz="2550" dirty="0"/>
          </a:p>
        </p:txBody>
      </p:sp>
      <p:sp>
        <p:nvSpPr>
          <p:cNvPr id="6" name="T12/header-rule"/>
          <p:cNvSpPr/>
          <p:nvPr/>
        </p:nvSpPr>
        <p:spPr>
          <a:xfrm>
            <a:off x="457200" y="876300"/>
            <a:ext cx="11277600" cy="0"/>
          </a:xfrm>
          <a:prstGeom prst="line">
            <a:avLst/>
          </a:prstGeom>
          <a:noFill/>
          <a:ln w="11430">
            <a:solidFill>
              <a:srgbClr val="173C70"/>
            </a:solidFill>
            <a:prstDash val="solid"/>
          </a:ln>
        </p:spPr>
      </p:sp>
      <p:sp>
        <p:nvSpPr>
          <p:cNvPr id="7" name="T12/card/region-1/frame"/>
          <p:cNvSpPr/>
          <p:nvPr/>
        </p:nvSpPr>
        <p:spPr>
          <a:xfrm>
            <a:off x="457200" y="1352550"/>
            <a:ext cx="7296150" cy="1466850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8" name="T12/card/region-1/heading-fill"/>
          <p:cNvSpPr/>
          <p:nvPr/>
        </p:nvSpPr>
        <p:spPr>
          <a:xfrm>
            <a:off x="466725" y="1362075"/>
            <a:ext cx="7277100" cy="371475"/>
          </a:xfrm>
          <a:prstGeom prst="rect">
            <a:avLst/>
          </a:prstGeom>
          <a:solidFill>
            <a:srgbClr val="EEF3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12/card/region-1/heading-rule"/>
          <p:cNvSpPr/>
          <p:nvPr/>
        </p:nvSpPr>
        <p:spPr>
          <a:xfrm>
            <a:off x="457200" y="1733550"/>
            <a:ext cx="72961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0" name="T12/card/region-1/title"/>
          <p:cNvSpPr/>
          <p:nvPr/>
        </p:nvSpPr>
        <p:spPr>
          <a:xfrm>
            <a:off x="581025" y="1409700"/>
            <a:ext cx="70485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优化目标</a:t>
            </a:r>
            <a:endParaRPr lang="zh-CN" sz="1800" dirty="0"/>
          </a:p>
        </p:txBody>
      </p:sp>
      <p:sp>
        <p:nvSpPr>
          <p:cNvPr id="11" name="T12/card/region-1/body"/>
          <p:cNvSpPr/>
          <p:nvPr/>
        </p:nvSpPr>
        <p:spPr>
          <a:xfrm>
            <a:off x="590550" y="1847850"/>
            <a:ext cx="7029450" cy="876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示例：min L = Ldata + λ Lregularizer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替换为原论文公式并解释每一项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确认优化目标与评价指标的关系</a:t>
            </a:r>
            <a:endParaRPr lang="zh-CN" sz="1725" dirty="0"/>
          </a:p>
        </p:txBody>
      </p:sp>
      <p:sp>
        <p:nvSpPr>
          <p:cNvPr id="12" name="T12/card/region-2/heading-rule"/>
          <p:cNvSpPr/>
          <p:nvPr/>
        </p:nvSpPr>
        <p:spPr>
          <a:xfrm>
            <a:off x="457200" y="3390900"/>
            <a:ext cx="72961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3" name="T12/card/region-2/heading-mark"/>
          <p:cNvSpPr/>
          <p:nvPr/>
        </p:nvSpPr>
        <p:spPr>
          <a:xfrm>
            <a:off x="457200" y="3390900"/>
            <a:ext cx="342900" cy="0"/>
          </a:xfrm>
          <a:prstGeom prst="line">
            <a:avLst/>
          </a:prstGeom>
          <a:noFill/>
          <a:ln w="17145">
            <a:solidFill>
              <a:srgbClr val="173C70"/>
            </a:solidFill>
            <a:prstDash val="solid"/>
          </a:ln>
        </p:spPr>
      </p:sp>
      <p:sp>
        <p:nvSpPr>
          <p:cNvPr id="14" name="T12/card/region-2/title"/>
          <p:cNvSpPr/>
          <p:nvPr/>
        </p:nvSpPr>
        <p:spPr>
          <a:xfrm>
            <a:off x="457200" y="3048000"/>
            <a:ext cx="72961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6"/>
              </a:lnSpc>
              <a:buNone/>
            </a:pPr>
            <a:r>
              <a:rPr lang="zh-CN" altLang="en-US" sz="1875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约束集合</a:t>
            </a:r>
            <a:endParaRPr lang="zh-CN" sz="1875" dirty="0"/>
          </a:p>
        </p:txBody>
      </p:sp>
      <p:sp>
        <p:nvSpPr>
          <p:cNvPr id="15" name="T12/card/region-2/body"/>
          <p:cNvSpPr/>
          <p:nvPr/>
        </p:nvSpPr>
        <p:spPr>
          <a:xfrm>
            <a:off x="457200" y="3524250"/>
            <a:ext cx="729615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示例：g(x) ≤ 0，a_t ∈ A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说明约束作用对象与违反代价</a:t>
            </a:r>
            <a:endParaRPr lang="zh-CN" sz="1800" dirty="0"/>
          </a:p>
        </p:txBody>
      </p:sp>
      <p:sp>
        <p:nvSpPr>
          <p:cNvPr id="16" name="T12/card/region-3/title"/>
          <p:cNvSpPr/>
          <p:nvPr/>
        </p:nvSpPr>
        <p:spPr>
          <a:xfrm>
            <a:off x="457200" y="4552950"/>
            <a:ext cx="72961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6"/>
              </a:lnSpc>
              <a:buNone/>
            </a:pPr>
            <a:r>
              <a:rPr lang="zh-CN" altLang="en-US" sz="1875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求解与评价</a:t>
            </a:r>
            <a:endParaRPr lang="zh-CN" sz="1875" dirty="0"/>
          </a:p>
        </p:txBody>
      </p:sp>
      <p:sp>
        <p:nvSpPr>
          <p:cNvPr id="17" name="T12/card/region-3/body"/>
          <p:cNvSpPr/>
          <p:nvPr/>
        </p:nvSpPr>
        <p:spPr>
          <a:xfrm>
            <a:off x="457200" y="5000625"/>
            <a:ext cx="7296150" cy="1019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求解器负责怎样的搜索或更新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独立测试怎样估计结果与不确定性</a:t>
            </a:r>
            <a:endParaRPr lang="zh-CN" sz="1800" dirty="0"/>
          </a:p>
        </p:txBody>
      </p:sp>
      <p:sp>
        <p:nvSpPr>
          <p:cNvPr id="18" name="T12/card/region-4/base-rule"/>
          <p:cNvSpPr/>
          <p:nvPr/>
        </p:nvSpPr>
        <p:spPr>
          <a:xfrm>
            <a:off x="8096250" y="3600450"/>
            <a:ext cx="363855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19" name="T12/card/region-4/side-mark"/>
          <p:cNvSpPr/>
          <p:nvPr/>
        </p:nvSpPr>
        <p:spPr>
          <a:xfrm>
            <a:off x="8096250" y="1371600"/>
            <a:ext cx="47625" cy="295275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12/card/region-4/title"/>
          <p:cNvSpPr/>
          <p:nvPr/>
        </p:nvSpPr>
        <p:spPr>
          <a:xfrm>
            <a:off x="8248650" y="1371600"/>
            <a:ext cx="34861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zh-CN" altLang="en-US" sz="180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符号与单位</a:t>
            </a:r>
            <a:endParaRPr lang="zh-CN" sz="1800" dirty="0"/>
          </a:p>
        </p:txBody>
      </p:sp>
      <p:sp>
        <p:nvSpPr>
          <p:cNvPr id="21" name="T12/card/region-4/body"/>
          <p:cNvSpPr/>
          <p:nvPr/>
        </p:nvSpPr>
        <p:spPr>
          <a:xfrm>
            <a:off x="8248650" y="1790700"/>
            <a:ext cx="3486150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统一状态、动作、参数与损失符号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所有数值项保留量纲与归一化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避免同一符号代表不同物理量</a:t>
            </a:r>
            <a:endParaRPr lang="zh-CN" sz="1725" dirty="0"/>
          </a:p>
        </p:txBody>
      </p:sp>
      <p:sp>
        <p:nvSpPr>
          <p:cNvPr id="22" name="T12/card/region-5/frame"/>
          <p:cNvSpPr/>
          <p:nvPr/>
        </p:nvSpPr>
        <p:spPr>
          <a:xfrm>
            <a:off x="8096250" y="3943350"/>
            <a:ext cx="3638550" cy="2114550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23" name="T12/card/region-5/tab"/>
          <p:cNvSpPr/>
          <p:nvPr/>
        </p:nvSpPr>
        <p:spPr>
          <a:xfrm>
            <a:off x="8210550" y="3829050"/>
            <a:ext cx="1638300" cy="320040"/>
          </a:xfrm>
          <a:prstGeom prst="rect">
            <a:avLst/>
          </a:prstGeom>
          <a:solidFill>
            <a:srgbClr val="355D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12/card/region-5/title"/>
          <p:cNvSpPr/>
          <p:nvPr/>
        </p:nvSpPr>
        <p:spPr>
          <a:xfrm>
            <a:off x="8315325" y="3857625"/>
            <a:ext cx="1428750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可识别性假设</a:t>
            </a:r>
            <a:endParaRPr lang="zh-CN" sz="1800" dirty="0"/>
          </a:p>
        </p:txBody>
      </p:sp>
      <p:sp>
        <p:nvSpPr>
          <p:cNvPr id="25" name="T12/card/region-5/body"/>
          <p:cNvSpPr/>
          <p:nvPr/>
        </p:nvSpPr>
        <p:spPr>
          <a:xfrm>
            <a:off x="8229600" y="4291965"/>
            <a:ext cx="3371850" cy="1670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解释哪些参数能由观测识别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列出需要固定或外部提供的条件</a:t>
            </a:r>
            <a:endParaRPr lang="zh-CN" sz="1725" dirty="0"/>
          </a:p>
          <a:p>
            <a:pPr algn="l" indent="0" marL="0">
              <a:lnSpc>
                <a:spcPts val="2139"/>
              </a:lnSpc>
              <a:buNone/>
            </a:pPr>
            <a:r>
              <a:rPr lang="zh-CN" altLang="en-US" sz="1725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用消融或敏感性分析检查解释</a:t>
            </a:r>
            <a:endParaRPr lang="zh-CN" sz="1725" dirty="0"/>
          </a:p>
        </p:txBody>
      </p:sp>
      <p:sp>
        <p:nvSpPr>
          <p:cNvPr id="26" name="T12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待替换</a:t>
            </a:r>
            <a:endParaRPr lang="zh-CN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方法与机制学术模板</dc:title>
  <dc:subject>原创学术版式、结构化填充指引与合成科学图</dc:subject>
  <dc:creator>DSH Academic PPT</dc:creator>
  <cp:lastModifiedBy>DSH Academic PPT</cp:lastModifiedBy>
  <cp:revision>1</cp:revision>
  <dcterms:created xsi:type="dcterms:W3CDTF">2026-10-20T04:29:15Z</dcterms:created>
  <dcterms:modified xsi:type="dcterms:W3CDTF">2026-10-20T04:29:15Z</dcterms:modified>
</cp:coreProperties>
</file>