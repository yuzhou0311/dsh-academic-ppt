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method-agent-loop。六节点闭环说明规划、执行与核验，右侧保留接口和失败处理。
全部文本为填写指引，图表值是合成演示值，不是任何研究结果。使用前替换论文、数据、原图与来源。
内容职责：系统接口；核验与失败处理。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method-rl-interface。环境与策略构成闭环，右侧将状态、动作、奖励、约束分别定义。
全部文本为填写指引，图表值是合成演示值，不是任何研究结果。使用前替换论文、数据、原图与来源。
内容职责：状态 s_t；动作 a_t；奖励 r_t；安全约束。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method-tool-routing。纵向任务入口分流到三类工具，再汇总到核验节点。
全部文本为填写指引，图表值是合成演示值，不是任何研究结果。使用前替换论文、数据、原图与来源。
内容职责：路由依据；工具覆盖范围。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method-model-coupling。耦合链横向展开，下面交代接口、校准和模型失配。
全部文本为填写指引，图表值是合成演示值，不是任何研究结果。使用前替换论文、数据、原图与来源。
内容职责：输入与单位；校准与验证；模型失配。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method-algorithm-steps。左列给出紧凑有序步骤，右侧给出核心算子与必要假设。
全部文本为填写指引，图表值是合成演示值，不是任何研究结果。使用前替换论文、数据、原图与来源。
内容职责：关键运算；更新规则；假设与计算条件。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本页为原创学术版式模板，ID method-objective-constraints。将目标函数、约束和变量定义并置，底部给出求解和评价分工。
全部文本为填写指引，图表值是合成演示值，不是任何研究结果。使用前替换论文、数据、原图与来源。
内容职责：优化目标；约束集合；求解与评价；符号与单位；可识别性假设。
建议讲述时间只是排练起点，按实际内容调整。
参考文献（完整题名）
T1 · Full article title: connecting decision models, experimental evidence and independent validation in crop cultivation · 期刊与卷页（替换） · 2026 · 书目占位；图表均为合成示例 · 书目占位，非真实文献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7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7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 / 06</a:t>
            </a:r>
            <a:endParaRPr lang="zh-CN" sz="1050" dirty="0"/>
          </a:p>
        </p:txBody>
      </p:sp>
      <p:sp>
        <p:nvSpPr>
          <p:cNvPr id="4" name="T07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智能体执行与反馈</a:t>
            </a:r>
            <a:endParaRPr lang="zh-CN" sz="3000" dirty="0"/>
          </a:p>
        </p:txBody>
      </p:sp>
      <p:sp>
        <p:nvSpPr>
          <p:cNvPr id="5" name="T07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07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07/panel:0:frame"/>
          <p:cNvSpPr/>
          <p:nvPr/>
        </p:nvSpPr>
        <p:spPr>
          <a:xfrm>
            <a:off x="457200" y="1147381"/>
            <a:ext cx="7829550" cy="4352163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7/panel:0:heading-fill"/>
          <p:cNvSpPr/>
          <p:nvPr/>
        </p:nvSpPr>
        <p:spPr>
          <a:xfrm>
            <a:off x="466725" y="1156907"/>
            <a:ext cx="781050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7/panel:0:heading-rule"/>
          <p:cNvSpPr/>
          <p:nvPr/>
        </p:nvSpPr>
        <p:spPr>
          <a:xfrm>
            <a:off x="457200" y="1537906"/>
            <a:ext cx="78295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07/panel:0:title"/>
          <p:cNvSpPr/>
          <p:nvPr/>
        </p:nvSpPr>
        <p:spPr>
          <a:xfrm>
            <a:off x="581025" y="1195007"/>
            <a:ext cx="75819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任务驱动的执行闭环</a:t>
            </a:r>
            <a:endParaRPr lang="zh-CN" sz="1950" dirty="0"/>
          </a:p>
        </p:txBody>
      </p:sp>
      <p:sp>
        <p:nvSpPr>
          <p:cNvPr id="11" name="T07/takeaway"/>
          <p:cNvSpPr/>
          <p:nvPr/>
        </p:nvSpPr>
        <p:spPr>
          <a:xfrm>
            <a:off x="457200" y="5657850"/>
            <a:ext cx="7829550" cy="356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zh-CN" altLang="en-US" sz="1800" b="1" dirty="0">
                <a:solidFill>
                  <a:srgbClr val="173C7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解释必须由本页证据支持，并保留样本、对照与适用条件。</a:t>
            </a:r>
            <a:endParaRPr lang="zh-CN" sz="1800" dirty="0"/>
          </a:p>
        </p:txBody>
      </p:sp>
      <p:sp>
        <p:nvSpPr>
          <p:cNvPr id="12" name="T07/edge:0"/>
          <p:cNvSpPr/>
          <p:nvPr/>
        </p:nvSpPr>
        <p:spPr>
          <a:xfrm>
            <a:off x="2762250" y="2265093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7/edge:1"/>
          <p:cNvSpPr/>
          <p:nvPr/>
        </p:nvSpPr>
        <p:spPr>
          <a:xfrm>
            <a:off x="5391150" y="2265093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07/edge:2"/>
          <p:cNvSpPr/>
          <p:nvPr/>
        </p:nvSpPr>
        <p:spPr>
          <a:xfrm>
            <a:off x="6943725" y="2809113"/>
            <a:ext cx="0" cy="1246346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5" name="T07/edge:3"/>
          <p:cNvSpPr/>
          <p:nvPr/>
        </p:nvSpPr>
        <p:spPr>
          <a:xfrm flipH="1">
            <a:off x="5391150" y="4599480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07/edge:4"/>
          <p:cNvSpPr/>
          <p:nvPr/>
        </p:nvSpPr>
        <p:spPr>
          <a:xfrm flipH="1">
            <a:off x="2762250" y="4599480"/>
            <a:ext cx="4762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7" name="T07/edge:5:segment:0"/>
          <p:cNvSpPr/>
          <p:nvPr/>
        </p:nvSpPr>
        <p:spPr>
          <a:xfrm flipH="1">
            <a:off x="466725" y="4599480"/>
            <a:ext cx="1428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07/edge:5:segment:1"/>
          <p:cNvSpPr/>
          <p:nvPr/>
        </p:nvSpPr>
        <p:spPr>
          <a:xfrm flipV="1">
            <a:off x="466725" y="2265093"/>
            <a:ext cx="0" cy="2334387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9" name="T07/edge:5:segment:2"/>
          <p:cNvSpPr/>
          <p:nvPr/>
        </p:nvSpPr>
        <p:spPr>
          <a:xfrm>
            <a:off x="466725" y="2265093"/>
            <a:ext cx="1428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0" name="T07/node:step-1:frame"/>
          <p:cNvSpPr/>
          <p:nvPr/>
        </p:nvSpPr>
        <p:spPr>
          <a:xfrm>
            <a:off x="609600" y="1721072"/>
            <a:ext cx="2152650" cy="1088041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1" name="T07/node:step-1:heading-rule"/>
          <p:cNvSpPr/>
          <p:nvPr/>
        </p:nvSpPr>
        <p:spPr>
          <a:xfrm>
            <a:off x="609600" y="1721072"/>
            <a:ext cx="215265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22" name="T07/node:step-1:label"/>
          <p:cNvSpPr/>
          <p:nvPr/>
        </p:nvSpPr>
        <p:spPr>
          <a:xfrm>
            <a:off x="723900" y="1816322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任务与观测</a:t>
            </a:r>
            <a:endParaRPr lang="zh-CN" sz="1800" dirty="0"/>
          </a:p>
        </p:txBody>
      </p:sp>
      <p:sp>
        <p:nvSpPr>
          <p:cNvPr id="23" name="T07/node:step-1:detail"/>
          <p:cNvSpPr/>
          <p:nvPr/>
        </p:nvSpPr>
        <p:spPr>
          <a:xfrm>
            <a:off x="723900" y="2130647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目标与可用数据</a:t>
            </a:r>
            <a:endParaRPr lang="zh-CN" sz="1650" dirty="0"/>
          </a:p>
        </p:txBody>
      </p:sp>
      <p:sp>
        <p:nvSpPr>
          <p:cNvPr id="24" name="T07/node:step-2:frame"/>
          <p:cNvSpPr/>
          <p:nvPr/>
        </p:nvSpPr>
        <p:spPr>
          <a:xfrm>
            <a:off x="3238500" y="1721072"/>
            <a:ext cx="215265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5" name="T07/node:step-2:heading-rule"/>
          <p:cNvSpPr/>
          <p:nvPr/>
        </p:nvSpPr>
        <p:spPr>
          <a:xfrm>
            <a:off x="3238500" y="1721072"/>
            <a:ext cx="21526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6" name="T07/node:step-2:label"/>
          <p:cNvSpPr/>
          <p:nvPr/>
        </p:nvSpPr>
        <p:spPr>
          <a:xfrm>
            <a:off x="3352800" y="1816322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计划与工具</a:t>
            </a:r>
            <a:endParaRPr lang="zh-CN" sz="1800" dirty="0"/>
          </a:p>
        </p:txBody>
      </p:sp>
      <p:sp>
        <p:nvSpPr>
          <p:cNvPr id="27" name="T07/node:step-2:detail"/>
          <p:cNvSpPr/>
          <p:nvPr/>
        </p:nvSpPr>
        <p:spPr>
          <a:xfrm>
            <a:off x="3352800" y="2130647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工具与调用顺序</a:t>
            </a:r>
            <a:endParaRPr lang="zh-CN" sz="1650" dirty="0"/>
          </a:p>
        </p:txBody>
      </p:sp>
      <p:sp>
        <p:nvSpPr>
          <p:cNvPr id="28" name="T07/node:step-3:frame"/>
          <p:cNvSpPr/>
          <p:nvPr/>
        </p:nvSpPr>
        <p:spPr>
          <a:xfrm>
            <a:off x="5867400" y="1721072"/>
            <a:ext cx="215265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9" name="T07/node:step-3:heading-rule"/>
          <p:cNvSpPr/>
          <p:nvPr/>
        </p:nvSpPr>
        <p:spPr>
          <a:xfrm>
            <a:off x="5867400" y="1721072"/>
            <a:ext cx="21526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0" name="T07/node:step-3:label"/>
          <p:cNvSpPr/>
          <p:nvPr/>
        </p:nvSpPr>
        <p:spPr>
          <a:xfrm>
            <a:off x="5981700" y="1816322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执行与记录</a:t>
            </a:r>
            <a:endParaRPr lang="zh-CN" sz="1800" dirty="0"/>
          </a:p>
        </p:txBody>
      </p:sp>
      <p:sp>
        <p:nvSpPr>
          <p:cNvPr id="31" name="T07/node:step-3:detail"/>
          <p:cNvSpPr/>
          <p:nvPr/>
        </p:nvSpPr>
        <p:spPr>
          <a:xfrm>
            <a:off x="5981700" y="2130647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输入、参数和日志</a:t>
            </a:r>
            <a:endParaRPr lang="zh-CN" sz="1650" dirty="0"/>
          </a:p>
        </p:txBody>
      </p:sp>
      <p:sp>
        <p:nvSpPr>
          <p:cNvPr id="32" name="T07/node:step-4:frame"/>
          <p:cNvSpPr/>
          <p:nvPr/>
        </p:nvSpPr>
        <p:spPr>
          <a:xfrm>
            <a:off x="5867400" y="4055459"/>
            <a:ext cx="2152650" cy="1088041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3" name="T07/node:step-4:heading-rule"/>
          <p:cNvSpPr/>
          <p:nvPr/>
        </p:nvSpPr>
        <p:spPr>
          <a:xfrm>
            <a:off x="5867400" y="4055459"/>
            <a:ext cx="215265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34" name="T07/node:step-4:label"/>
          <p:cNvSpPr/>
          <p:nvPr/>
        </p:nvSpPr>
        <p:spPr>
          <a:xfrm>
            <a:off x="5981700" y="4150709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结果检验</a:t>
            </a:r>
            <a:endParaRPr lang="zh-CN" sz="1800" dirty="0"/>
          </a:p>
        </p:txBody>
      </p:sp>
      <p:sp>
        <p:nvSpPr>
          <p:cNvPr id="35" name="T07/node:step-4:detail"/>
          <p:cNvSpPr/>
          <p:nvPr/>
        </p:nvSpPr>
        <p:spPr>
          <a:xfrm>
            <a:off x="5981700" y="4465034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结果与来源一致</a:t>
            </a:r>
            <a:endParaRPr lang="zh-CN" sz="1650" dirty="0"/>
          </a:p>
        </p:txBody>
      </p:sp>
      <p:sp>
        <p:nvSpPr>
          <p:cNvPr id="36" name="T07/node:step-5:frame"/>
          <p:cNvSpPr/>
          <p:nvPr/>
        </p:nvSpPr>
        <p:spPr>
          <a:xfrm>
            <a:off x="3238500" y="4055459"/>
            <a:ext cx="215265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7" name="T07/node:step-5:heading-rule"/>
          <p:cNvSpPr/>
          <p:nvPr/>
        </p:nvSpPr>
        <p:spPr>
          <a:xfrm>
            <a:off x="3238500" y="4055459"/>
            <a:ext cx="21526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8" name="T07/node:step-5:label"/>
          <p:cNvSpPr/>
          <p:nvPr/>
        </p:nvSpPr>
        <p:spPr>
          <a:xfrm>
            <a:off x="3352800" y="4150709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状态更新</a:t>
            </a:r>
            <a:endParaRPr lang="zh-CN" sz="1800" dirty="0"/>
          </a:p>
        </p:txBody>
      </p:sp>
      <p:sp>
        <p:nvSpPr>
          <p:cNvPr id="39" name="T07/node:step-5:detail"/>
          <p:cNvSpPr/>
          <p:nvPr/>
        </p:nvSpPr>
        <p:spPr>
          <a:xfrm>
            <a:off x="3352800" y="4465034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中间状态与证据</a:t>
            </a:r>
            <a:endParaRPr lang="zh-CN" sz="1650" dirty="0"/>
          </a:p>
        </p:txBody>
      </p:sp>
      <p:sp>
        <p:nvSpPr>
          <p:cNvPr id="40" name="T07/node:step-6:frame"/>
          <p:cNvSpPr/>
          <p:nvPr/>
        </p:nvSpPr>
        <p:spPr>
          <a:xfrm>
            <a:off x="609600" y="4055459"/>
            <a:ext cx="215265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41" name="T07/node:step-6:heading-rule"/>
          <p:cNvSpPr/>
          <p:nvPr/>
        </p:nvSpPr>
        <p:spPr>
          <a:xfrm>
            <a:off x="609600" y="4055459"/>
            <a:ext cx="21526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42" name="T07/node:step-6:label"/>
          <p:cNvSpPr/>
          <p:nvPr/>
        </p:nvSpPr>
        <p:spPr>
          <a:xfrm>
            <a:off x="723900" y="4150709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后续任务</a:t>
            </a:r>
            <a:endParaRPr lang="zh-CN" sz="1800" dirty="0"/>
          </a:p>
        </p:txBody>
      </p:sp>
      <p:sp>
        <p:nvSpPr>
          <p:cNvPr id="43" name="T07/node:step-6:detail"/>
          <p:cNvSpPr/>
          <p:nvPr/>
        </p:nvSpPr>
        <p:spPr>
          <a:xfrm>
            <a:off x="723900" y="4465034"/>
            <a:ext cx="1924050" cy="5927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继续或退出</a:t>
            </a:r>
            <a:endParaRPr lang="zh-CN" sz="1650" dirty="0"/>
          </a:p>
        </p:txBody>
      </p:sp>
      <p:sp>
        <p:nvSpPr>
          <p:cNvPr id="44" name="T07/card/region-1/base-rule"/>
          <p:cNvSpPr/>
          <p:nvPr/>
        </p:nvSpPr>
        <p:spPr>
          <a:xfrm>
            <a:off x="8629650" y="3402616"/>
            <a:ext cx="3105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45" name="T07/card/region-1/side-mark"/>
          <p:cNvSpPr/>
          <p:nvPr/>
        </p:nvSpPr>
        <p:spPr>
          <a:xfrm>
            <a:off x="8629650" y="1225772"/>
            <a:ext cx="47625" cy="295275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07/card/region-1/title"/>
          <p:cNvSpPr/>
          <p:nvPr/>
        </p:nvSpPr>
        <p:spPr>
          <a:xfrm>
            <a:off x="8782050" y="1225772"/>
            <a:ext cx="2952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系统接口</a:t>
            </a:r>
            <a:endParaRPr lang="zh-CN" sz="1950" dirty="0"/>
          </a:p>
        </p:txBody>
      </p:sp>
      <p:sp>
        <p:nvSpPr>
          <p:cNvPr id="47" name="T07/card/region-1/body"/>
          <p:cNvSpPr/>
          <p:nvPr/>
        </p:nvSpPr>
        <p:spPr>
          <a:xfrm>
            <a:off x="8782050" y="1644872"/>
            <a:ext cx="2952750" cy="16624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标出各步骤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、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和记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区分模型决策与确定性工具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用箭头说明状态由谁更新</a:t>
            </a:r>
            <a:endParaRPr lang="zh-CN" sz="1800" dirty="0"/>
          </a:p>
        </p:txBody>
      </p:sp>
      <p:sp>
        <p:nvSpPr>
          <p:cNvPr id="48" name="T07/card/region-2/frame"/>
          <p:cNvSpPr/>
          <p:nvPr/>
        </p:nvSpPr>
        <p:spPr>
          <a:xfrm>
            <a:off x="8629650" y="3754279"/>
            <a:ext cx="3105150" cy="222008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9" name="T07/card/region-2/tab"/>
          <p:cNvSpPr/>
          <p:nvPr/>
        </p:nvSpPr>
        <p:spPr>
          <a:xfrm>
            <a:off x="8743950" y="3639979"/>
            <a:ext cx="2000250" cy="342900"/>
          </a:xfrm>
          <a:prstGeom prst="rect">
            <a:avLst/>
          </a:prstGeom>
          <a:solidFill>
            <a:srgbClr val="A2473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07/card/region-2/title"/>
          <p:cNvSpPr/>
          <p:nvPr/>
        </p:nvSpPr>
        <p:spPr>
          <a:xfrm>
            <a:off x="8848725" y="3668554"/>
            <a:ext cx="17907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核验与失败处理</a:t>
            </a:r>
            <a:endParaRPr lang="zh-CN" sz="1950" dirty="0"/>
          </a:p>
        </p:txBody>
      </p:sp>
      <p:sp>
        <p:nvSpPr>
          <p:cNvPr id="51" name="T07/card/region-2/body"/>
          <p:cNvSpPr/>
          <p:nvPr/>
        </p:nvSpPr>
        <p:spPr>
          <a:xfrm>
            <a:off x="8763000" y="4125754"/>
            <a:ext cx="2838450" cy="17533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列出错误触发与返回机制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保存工具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、引用和重试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核验模块的成本也需要评价</a:t>
            </a:r>
            <a:endParaRPr lang="zh-CN" sz="1800" dirty="0"/>
          </a:p>
        </p:txBody>
      </p:sp>
      <p:sp>
        <p:nvSpPr>
          <p:cNvPr id="52" name="T07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8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8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 / 06</a:t>
            </a:r>
            <a:endParaRPr lang="zh-CN" sz="1050" dirty="0"/>
          </a:p>
        </p:txBody>
      </p:sp>
      <p:sp>
        <p:nvSpPr>
          <p:cNvPr id="4" name="T08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强化学习的状态动作奖励</a:t>
            </a:r>
            <a:endParaRPr lang="zh-CN" sz="3000" dirty="0"/>
          </a:p>
        </p:txBody>
      </p:sp>
      <p:sp>
        <p:nvSpPr>
          <p:cNvPr id="5" name="T08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08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08/edge:0"/>
          <p:cNvSpPr/>
          <p:nvPr/>
        </p:nvSpPr>
        <p:spPr>
          <a:xfrm>
            <a:off x="3333750" y="2215610"/>
            <a:ext cx="990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08/edge:1"/>
          <p:cNvSpPr/>
          <p:nvPr/>
        </p:nvSpPr>
        <p:spPr>
          <a:xfrm>
            <a:off x="5676900" y="2848642"/>
            <a:ext cx="0" cy="1107853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08/edge:2"/>
          <p:cNvSpPr/>
          <p:nvPr/>
        </p:nvSpPr>
        <p:spPr>
          <a:xfrm flipH="1">
            <a:off x="3333750" y="4589526"/>
            <a:ext cx="9906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08/edge:3:segment:0"/>
          <p:cNvSpPr/>
          <p:nvPr/>
        </p:nvSpPr>
        <p:spPr>
          <a:xfrm flipH="1">
            <a:off x="466725" y="4589526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08/edge:3:segment:1"/>
          <p:cNvSpPr/>
          <p:nvPr/>
        </p:nvSpPr>
        <p:spPr>
          <a:xfrm flipV="1">
            <a:off x="466725" y="2215610"/>
            <a:ext cx="0" cy="2373916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08/edge:3:segment:2"/>
          <p:cNvSpPr/>
          <p:nvPr/>
        </p:nvSpPr>
        <p:spPr>
          <a:xfrm>
            <a:off x="466725" y="2215610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8/node:step-1:frame"/>
          <p:cNvSpPr/>
          <p:nvPr/>
        </p:nvSpPr>
        <p:spPr>
          <a:xfrm>
            <a:off x="628650" y="1582579"/>
            <a:ext cx="2705100" cy="1266063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4" name="T08/node:step-1:heading-rule"/>
          <p:cNvSpPr/>
          <p:nvPr/>
        </p:nvSpPr>
        <p:spPr>
          <a:xfrm>
            <a:off x="628650" y="1582579"/>
            <a:ext cx="270510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15" name="T08/node:step-1:label"/>
          <p:cNvSpPr/>
          <p:nvPr/>
        </p:nvSpPr>
        <p:spPr>
          <a:xfrm>
            <a:off x="742950" y="1677829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观测与状态估计</a:t>
            </a:r>
            <a:endParaRPr lang="zh-CN" sz="1800" dirty="0"/>
          </a:p>
        </p:txBody>
      </p:sp>
      <p:sp>
        <p:nvSpPr>
          <p:cNvPr id="16" name="T08/node:step-1:detail"/>
          <p:cNvSpPr/>
          <p:nvPr/>
        </p:nvSpPr>
        <p:spPr>
          <a:xfrm>
            <a:off x="742950" y="1992154"/>
            <a:ext cx="2476500" cy="770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传感、气象与历史</a:t>
            </a:r>
            <a:endParaRPr lang="zh-CN" sz="1650" dirty="0"/>
          </a:p>
        </p:txBody>
      </p:sp>
      <p:sp>
        <p:nvSpPr>
          <p:cNvPr id="17" name="T08/node:step-2:frame"/>
          <p:cNvSpPr/>
          <p:nvPr/>
        </p:nvSpPr>
        <p:spPr>
          <a:xfrm>
            <a:off x="4324350" y="1582579"/>
            <a:ext cx="2705100" cy="126606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8" name="T08/node:step-2:heading-rule"/>
          <p:cNvSpPr/>
          <p:nvPr/>
        </p:nvSpPr>
        <p:spPr>
          <a:xfrm>
            <a:off x="4324350" y="1582579"/>
            <a:ext cx="27051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19" name="T08/node:step-2:label"/>
          <p:cNvSpPr/>
          <p:nvPr/>
        </p:nvSpPr>
        <p:spPr>
          <a:xfrm>
            <a:off x="4438650" y="1677829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策略决策</a:t>
            </a:r>
            <a:endParaRPr lang="zh-CN" sz="1800" dirty="0"/>
          </a:p>
        </p:txBody>
      </p:sp>
      <p:sp>
        <p:nvSpPr>
          <p:cNvPr id="20" name="T08/node:step-2:detail"/>
          <p:cNvSpPr/>
          <p:nvPr/>
        </p:nvSpPr>
        <p:spPr>
          <a:xfrm>
            <a:off x="4438650" y="1992154"/>
            <a:ext cx="2476500" cy="770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状态映射到动作</a:t>
            </a:r>
            <a:endParaRPr lang="zh-CN" sz="1650" dirty="0"/>
          </a:p>
        </p:txBody>
      </p:sp>
      <p:sp>
        <p:nvSpPr>
          <p:cNvPr id="21" name="T08/node:step-3:frame"/>
          <p:cNvSpPr/>
          <p:nvPr/>
        </p:nvSpPr>
        <p:spPr>
          <a:xfrm>
            <a:off x="4324350" y="3956495"/>
            <a:ext cx="2705100" cy="126606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2" name="T08/node:step-3:heading-rule"/>
          <p:cNvSpPr/>
          <p:nvPr/>
        </p:nvSpPr>
        <p:spPr>
          <a:xfrm>
            <a:off x="4324350" y="3956495"/>
            <a:ext cx="27051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3" name="T08/node:step-3:label"/>
          <p:cNvSpPr/>
          <p:nvPr/>
        </p:nvSpPr>
        <p:spPr>
          <a:xfrm>
            <a:off x="4438650" y="4051744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环境与执行器</a:t>
            </a:r>
            <a:endParaRPr lang="zh-CN" sz="1800" dirty="0"/>
          </a:p>
        </p:txBody>
      </p:sp>
      <p:sp>
        <p:nvSpPr>
          <p:cNvPr id="24" name="T08/node:step-3:detail"/>
          <p:cNvSpPr/>
          <p:nvPr/>
        </p:nvSpPr>
        <p:spPr>
          <a:xfrm>
            <a:off x="4438650" y="4366070"/>
            <a:ext cx="2476500" cy="770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执行实际管理</a:t>
            </a:r>
            <a:endParaRPr lang="zh-CN" sz="1650" dirty="0"/>
          </a:p>
        </p:txBody>
      </p:sp>
      <p:sp>
        <p:nvSpPr>
          <p:cNvPr id="25" name="T08/node:step-4:frame"/>
          <p:cNvSpPr/>
          <p:nvPr/>
        </p:nvSpPr>
        <p:spPr>
          <a:xfrm>
            <a:off x="628650" y="3956495"/>
            <a:ext cx="2705100" cy="1266063"/>
          </a:xfrm>
          <a:prstGeom prst="rect">
            <a:avLst/>
          </a:prstGeom>
          <a:solidFill>
            <a:srgbClr val="FAEEE8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6" name="T08/node:step-4:heading-rule"/>
          <p:cNvSpPr/>
          <p:nvPr/>
        </p:nvSpPr>
        <p:spPr>
          <a:xfrm>
            <a:off x="628650" y="3956495"/>
            <a:ext cx="2705100" cy="0"/>
          </a:xfrm>
          <a:prstGeom prst="line">
            <a:avLst/>
          </a:prstGeom>
          <a:noFill/>
          <a:ln w="19050">
            <a:solidFill>
              <a:srgbClr val="A24736"/>
            </a:solidFill>
            <a:prstDash val="solid"/>
          </a:ln>
        </p:spPr>
      </p:sp>
      <p:sp>
        <p:nvSpPr>
          <p:cNvPr id="27" name="T08/node:step-4:label"/>
          <p:cNvSpPr/>
          <p:nvPr/>
        </p:nvSpPr>
        <p:spPr>
          <a:xfrm>
            <a:off x="742950" y="4051744"/>
            <a:ext cx="24765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反馈与终止条件</a:t>
            </a:r>
            <a:endParaRPr lang="zh-CN" sz="1800" dirty="0"/>
          </a:p>
        </p:txBody>
      </p:sp>
      <p:sp>
        <p:nvSpPr>
          <p:cNvPr id="28" name="T08/node:step-4:detail"/>
          <p:cNvSpPr/>
          <p:nvPr/>
        </p:nvSpPr>
        <p:spPr>
          <a:xfrm>
            <a:off x="742950" y="4366070"/>
            <a:ext cx="2476500" cy="770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奖励与约束检查</a:t>
            </a:r>
            <a:endParaRPr lang="zh-CN" sz="1650" dirty="0"/>
          </a:p>
        </p:txBody>
      </p:sp>
      <p:sp>
        <p:nvSpPr>
          <p:cNvPr id="29" name="T08/card/region-1/title"/>
          <p:cNvSpPr/>
          <p:nvPr/>
        </p:nvSpPr>
        <p:spPr>
          <a:xfrm>
            <a:off x="7924800" y="1186244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状态 s_t</a:t>
            </a:r>
            <a:endParaRPr lang="zh-CN" sz="1950" dirty="0"/>
          </a:p>
        </p:txBody>
      </p:sp>
      <p:sp>
        <p:nvSpPr>
          <p:cNvPr id="30" name="T08/card/region-1/body"/>
          <p:cNvSpPr/>
          <p:nvPr/>
        </p:nvSpPr>
        <p:spPr>
          <a:xfrm>
            <a:off x="7924800" y="1567244"/>
            <a:ext cx="3810000" cy="66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观测变量、历史和缺失值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单位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、采样频率与可得时间</a:t>
            </a:r>
            <a:endParaRPr lang="zh-CN" sz="1800" dirty="0"/>
          </a:p>
        </p:txBody>
      </p:sp>
      <p:sp>
        <p:nvSpPr>
          <p:cNvPr id="31" name="T08/card/region-2/title"/>
          <p:cNvSpPr/>
          <p:nvPr/>
        </p:nvSpPr>
        <p:spPr>
          <a:xfrm>
            <a:off x="7924800" y="2452307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动作 a_t</a:t>
            </a:r>
            <a:endParaRPr lang="zh-CN" sz="1950" dirty="0"/>
          </a:p>
        </p:txBody>
      </p:sp>
      <p:sp>
        <p:nvSpPr>
          <p:cNvPr id="32" name="T08/card/region-2/body"/>
          <p:cNvSpPr/>
          <p:nvPr/>
        </p:nvSpPr>
        <p:spPr>
          <a:xfrm>
            <a:off x="7924800" y="2833307"/>
            <a:ext cx="3810000" cy="66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管理对象、离散或连续范围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说明执行频率和现实约束</a:t>
            </a:r>
            <a:endParaRPr lang="zh-CN" sz="1800" dirty="0"/>
          </a:p>
        </p:txBody>
      </p:sp>
      <p:sp>
        <p:nvSpPr>
          <p:cNvPr id="33" name="T08/card/region-3/title"/>
          <p:cNvSpPr/>
          <p:nvPr/>
        </p:nvSpPr>
        <p:spPr>
          <a:xfrm>
            <a:off x="7924800" y="3718370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奖励 r_t</a:t>
            </a:r>
            <a:endParaRPr lang="zh-CN" sz="1950" dirty="0"/>
          </a:p>
        </p:txBody>
      </p:sp>
      <p:sp>
        <p:nvSpPr>
          <p:cNvPr id="34" name="T08/card/region-3/body"/>
          <p:cNvSpPr/>
          <p:nvPr/>
        </p:nvSpPr>
        <p:spPr>
          <a:xfrm>
            <a:off x="7924800" y="4099370"/>
            <a:ext cx="3810000" cy="66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写出奖励组成与归一化方法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区分即时奖励和最终目标</a:t>
            </a:r>
            <a:endParaRPr lang="zh-CN" sz="1800" dirty="0"/>
          </a:p>
        </p:txBody>
      </p:sp>
      <p:sp>
        <p:nvSpPr>
          <p:cNvPr id="35" name="T08/card/region-4/title"/>
          <p:cNvSpPr/>
          <p:nvPr/>
        </p:nvSpPr>
        <p:spPr>
          <a:xfrm>
            <a:off x="7924800" y="4984528"/>
            <a:ext cx="38100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安全约束</a:t>
            </a:r>
            <a:endParaRPr lang="zh-CN" sz="1950" dirty="0"/>
          </a:p>
        </p:txBody>
      </p:sp>
      <p:sp>
        <p:nvSpPr>
          <p:cNvPr id="36" name="T08/card/region-4/body"/>
          <p:cNvSpPr/>
          <p:nvPr/>
        </p:nvSpPr>
        <p:spPr>
          <a:xfrm>
            <a:off x="7924800" y="5365528"/>
            <a:ext cx="3810000" cy="6697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硬边界、软惩罚与终止条件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单独报告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约束违反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情况</a:t>
            </a:r>
            <a:endParaRPr lang="zh-CN" sz="1800" dirty="0"/>
          </a:p>
        </p:txBody>
      </p:sp>
      <p:sp>
        <p:nvSpPr>
          <p:cNvPr id="37" name="T08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09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09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 / 06</a:t>
            </a:r>
            <a:endParaRPr lang="zh-CN" sz="1050" dirty="0"/>
          </a:p>
        </p:txBody>
      </p:sp>
      <p:sp>
        <p:nvSpPr>
          <p:cNvPr id="4" name="T09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工具路由与能力边界</a:t>
            </a:r>
            <a:endParaRPr lang="zh-CN" sz="3000" dirty="0"/>
          </a:p>
        </p:txBody>
      </p:sp>
      <p:sp>
        <p:nvSpPr>
          <p:cNvPr id="5" name="T09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09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09/panel:0:frame"/>
          <p:cNvSpPr/>
          <p:nvPr/>
        </p:nvSpPr>
        <p:spPr>
          <a:xfrm>
            <a:off x="457200" y="1241870"/>
            <a:ext cx="7905750" cy="479183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09/panel:0:tab"/>
          <p:cNvSpPr/>
          <p:nvPr/>
        </p:nvSpPr>
        <p:spPr>
          <a:xfrm>
            <a:off x="571500" y="1127570"/>
            <a:ext cx="2343150" cy="342900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09/panel:0:title"/>
          <p:cNvSpPr/>
          <p:nvPr/>
        </p:nvSpPr>
        <p:spPr>
          <a:xfrm>
            <a:off x="676275" y="1156145"/>
            <a:ext cx="213360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任务、工具与输出</a:t>
            </a:r>
            <a:endParaRPr lang="zh-CN" sz="1950" dirty="0"/>
          </a:p>
        </p:txBody>
      </p:sp>
      <p:sp>
        <p:nvSpPr>
          <p:cNvPr id="10" name="T09/edge:0:segment:0"/>
          <p:cNvSpPr/>
          <p:nvPr/>
        </p:nvSpPr>
        <p:spPr>
          <a:xfrm>
            <a:off x="4324350" y="2413445"/>
            <a:ext cx="0" cy="375904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1" name="T09/edge:0:segment:1"/>
          <p:cNvSpPr/>
          <p:nvPr/>
        </p:nvSpPr>
        <p:spPr>
          <a:xfrm flipH="1">
            <a:off x="1704975" y="2789349"/>
            <a:ext cx="261937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2" name="T09/edge:0:segment:2"/>
          <p:cNvSpPr/>
          <p:nvPr/>
        </p:nvSpPr>
        <p:spPr>
          <a:xfrm>
            <a:off x="1704975" y="2789349"/>
            <a:ext cx="0" cy="375904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09/edge:1:segment:0"/>
          <p:cNvSpPr/>
          <p:nvPr/>
        </p:nvSpPr>
        <p:spPr>
          <a:xfrm>
            <a:off x="4324350" y="2413445"/>
            <a:ext cx="0" cy="375904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4" name="T09/edge:1:segment:1"/>
          <p:cNvSpPr/>
          <p:nvPr/>
        </p:nvSpPr>
        <p:spPr>
          <a:xfrm>
            <a:off x="4324350" y="2789349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5" name="T09/edge:1:segment:2"/>
          <p:cNvSpPr/>
          <p:nvPr/>
        </p:nvSpPr>
        <p:spPr>
          <a:xfrm>
            <a:off x="4486275" y="2789349"/>
            <a:ext cx="0" cy="375904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6" name="T09/edge:2:segment:0"/>
          <p:cNvSpPr/>
          <p:nvPr/>
        </p:nvSpPr>
        <p:spPr>
          <a:xfrm>
            <a:off x="5600700" y="2027682"/>
            <a:ext cx="276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7" name="T09/edge:2:segment:1"/>
          <p:cNvSpPr/>
          <p:nvPr/>
        </p:nvSpPr>
        <p:spPr>
          <a:xfrm>
            <a:off x="5876925" y="2027682"/>
            <a:ext cx="0" cy="1681591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18" name="T09/edge:2:segment:2"/>
          <p:cNvSpPr/>
          <p:nvPr/>
        </p:nvSpPr>
        <p:spPr>
          <a:xfrm>
            <a:off x="5876925" y="3709273"/>
            <a:ext cx="2762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9" name="T09/edge:3:segment:0"/>
          <p:cNvSpPr/>
          <p:nvPr/>
        </p:nvSpPr>
        <p:spPr>
          <a:xfrm>
            <a:off x="2800350" y="3709273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0" name="T09/edge:3:segment:1"/>
          <p:cNvSpPr/>
          <p:nvPr/>
        </p:nvSpPr>
        <p:spPr>
          <a:xfrm>
            <a:off x="2924175" y="3709273"/>
            <a:ext cx="0" cy="1829848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1" name="T09/edge:3:segment:2"/>
          <p:cNvSpPr/>
          <p:nvPr/>
        </p:nvSpPr>
        <p:spPr>
          <a:xfrm>
            <a:off x="2924175" y="5539121"/>
            <a:ext cx="1238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2" name="T09/edge:4:segment:0"/>
          <p:cNvSpPr/>
          <p:nvPr/>
        </p:nvSpPr>
        <p:spPr>
          <a:xfrm>
            <a:off x="4486275" y="4253294"/>
            <a:ext cx="0" cy="464868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3" name="T09/edge:4:segment:1"/>
          <p:cNvSpPr/>
          <p:nvPr/>
        </p:nvSpPr>
        <p:spPr>
          <a:xfrm flipH="1">
            <a:off x="4324350" y="4718161"/>
            <a:ext cx="161925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4" name="T09/edge:4:segment:2"/>
          <p:cNvSpPr/>
          <p:nvPr/>
        </p:nvSpPr>
        <p:spPr>
          <a:xfrm>
            <a:off x="4324350" y="4718161"/>
            <a:ext cx="0" cy="464868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5" name="T09/edge:5:segment:0"/>
          <p:cNvSpPr/>
          <p:nvPr/>
        </p:nvSpPr>
        <p:spPr>
          <a:xfrm>
            <a:off x="7181850" y="4253294"/>
            <a:ext cx="0" cy="464868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6" name="T09/edge:5:segment:1"/>
          <p:cNvSpPr/>
          <p:nvPr/>
        </p:nvSpPr>
        <p:spPr>
          <a:xfrm flipH="1">
            <a:off x="4324350" y="4718161"/>
            <a:ext cx="28575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</a:ln>
        </p:spPr>
      </p:sp>
      <p:sp>
        <p:nvSpPr>
          <p:cNvPr id="27" name="T09/edge:5:segment:2"/>
          <p:cNvSpPr/>
          <p:nvPr/>
        </p:nvSpPr>
        <p:spPr>
          <a:xfrm>
            <a:off x="4324350" y="4718161"/>
            <a:ext cx="0" cy="464868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28" name="T09/node:step-1:frame"/>
          <p:cNvSpPr/>
          <p:nvPr/>
        </p:nvSpPr>
        <p:spPr>
          <a:xfrm>
            <a:off x="3048000" y="1641920"/>
            <a:ext cx="2552700" cy="771525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9" name="T09/node:step-1:heading-rule"/>
          <p:cNvSpPr/>
          <p:nvPr/>
        </p:nvSpPr>
        <p:spPr>
          <a:xfrm>
            <a:off x="3048000" y="1641920"/>
            <a:ext cx="25527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0" name="T09/node:step-1:label"/>
          <p:cNvSpPr/>
          <p:nvPr/>
        </p:nvSpPr>
        <p:spPr>
          <a:xfrm>
            <a:off x="3162300" y="1894332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任务解析</a:t>
            </a:r>
            <a:endParaRPr lang="zh-CN" sz="1800" dirty="0"/>
          </a:p>
        </p:txBody>
      </p:sp>
      <p:sp>
        <p:nvSpPr>
          <p:cNvPr id="31" name="T09/node:step-2:frame"/>
          <p:cNvSpPr/>
          <p:nvPr/>
        </p:nvSpPr>
        <p:spPr>
          <a:xfrm>
            <a:off x="609600" y="3165253"/>
            <a:ext cx="219075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2" name="T09/node:step-2:heading-rule"/>
          <p:cNvSpPr/>
          <p:nvPr/>
        </p:nvSpPr>
        <p:spPr>
          <a:xfrm>
            <a:off x="609600" y="3165253"/>
            <a:ext cx="21907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3" name="T09/node:step-2:label"/>
          <p:cNvSpPr/>
          <p:nvPr/>
        </p:nvSpPr>
        <p:spPr>
          <a:xfrm>
            <a:off x="723900" y="3575923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感知模型</a:t>
            </a:r>
            <a:endParaRPr lang="zh-CN" sz="1800" dirty="0"/>
          </a:p>
        </p:txBody>
      </p:sp>
      <p:sp>
        <p:nvSpPr>
          <p:cNvPr id="34" name="T09/node:step-3:frame"/>
          <p:cNvSpPr/>
          <p:nvPr/>
        </p:nvSpPr>
        <p:spPr>
          <a:xfrm>
            <a:off x="3390900" y="3165253"/>
            <a:ext cx="2190750" cy="1088041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5" name="T09/node:step-3:heading-rule"/>
          <p:cNvSpPr/>
          <p:nvPr/>
        </p:nvSpPr>
        <p:spPr>
          <a:xfrm>
            <a:off x="3390900" y="3165253"/>
            <a:ext cx="219075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36" name="T09/node:step-3:label"/>
          <p:cNvSpPr/>
          <p:nvPr/>
        </p:nvSpPr>
        <p:spPr>
          <a:xfrm>
            <a:off x="3505200" y="3575923"/>
            <a:ext cx="19621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数据与统计工具</a:t>
            </a:r>
            <a:endParaRPr lang="zh-CN" sz="1800" dirty="0"/>
          </a:p>
        </p:txBody>
      </p:sp>
      <p:sp>
        <p:nvSpPr>
          <p:cNvPr id="37" name="T09/node:step-4:frame"/>
          <p:cNvSpPr/>
          <p:nvPr/>
        </p:nvSpPr>
        <p:spPr>
          <a:xfrm>
            <a:off x="6153150" y="3165253"/>
            <a:ext cx="2057400" cy="108804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38" name="T09/node:step-4:heading-rule"/>
          <p:cNvSpPr/>
          <p:nvPr/>
        </p:nvSpPr>
        <p:spPr>
          <a:xfrm>
            <a:off x="6153150" y="3165253"/>
            <a:ext cx="20574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39" name="T09/node:step-4:label"/>
          <p:cNvSpPr/>
          <p:nvPr/>
        </p:nvSpPr>
        <p:spPr>
          <a:xfrm>
            <a:off x="6267450" y="3575923"/>
            <a:ext cx="18288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知识检索</a:t>
            </a:r>
            <a:endParaRPr lang="zh-CN" sz="1800" dirty="0"/>
          </a:p>
        </p:txBody>
      </p:sp>
      <p:sp>
        <p:nvSpPr>
          <p:cNvPr id="40" name="T09/node:step-5:frame"/>
          <p:cNvSpPr/>
          <p:nvPr/>
        </p:nvSpPr>
        <p:spPr>
          <a:xfrm>
            <a:off x="3048000" y="5183029"/>
            <a:ext cx="2552700" cy="712184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41" name="T09/node:step-5:heading-rule"/>
          <p:cNvSpPr/>
          <p:nvPr/>
        </p:nvSpPr>
        <p:spPr>
          <a:xfrm>
            <a:off x="3048000" y="5183029"/>
            <a:ext cx="255270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42" name="T09/node:step-5:label"/>
          <p:cNvSpPr/>
          <p:nvPr/>
        </p:nvSpPr>
        <p:spPr>
          <a:xfrm>
            <a:off x="3162300" y="5405771"/>
            <a:ext cx="23241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输出核验</a:t>
            </a:r>
            <a:endParaRPr lang="zh-CN" sz="1800" dirty="0"/>
          </a:p>
        </p:txBody>
      </p:sp>
      <p:sp>
        <p:nvSpPr>
          <p:cNvPr id="43" name="T09/card/region-1/frame"/>
          <p:cNvSpPr/>
          <p:nvPr/>
        </p:nvSpPr>
        <p:spPr>
          <a:xfrm>
            <a:off x="8648700" y="1187006"/>
            <a:ext cx="3086100" cy="2136553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4" name="T09/card/region-1/heading-fill"/>
          <p:cNvSpPr/>
          <p:nvPr/>
        </p:nvSpPr>
        <p:spPr>
          <a:xfrm>
            <a:off x="8658225" y="1196531"/>
            <a:ext cx="306705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09/card/region-1/heading-rule"/>
          <p:cNvSpPr/>
          <p:nvPr/>
        </p:nvSpPr>
        <p:spPr>
          <a:xfrm>
            <a:off x="8648700" y="1568006"/>
            <a:ext cx="30861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46" name="T09/card/region-1/title"/>
          <p:cNvSpPr/>
          <p:nvPr/>
        </p:nvSpPr>
        <p:spPr>
          <a:xfrm>
            <a:off x="8772525" y="1234631"/>
            <a:ext cx="28384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路由依据</a:t>
            </a:r>
            <a:endParaRPr lang="zh-CN" sz="1950" dirty="0"/>
          </a:p>
        </p:txBody>
      </p:sp>
      <p:sp>
        <p:nvSpPr>
          <p:cNvPr id="47" name="T09/card/region-1/body"/>
          <p:cNvSpPr/>
          <p:nvPr/>
        </p:nvSpPr>
        <p:spPr>
          <a:xfrm>
            <a:off x="8782050" y="1672781"/>
            <a:ext cx="2819400" cy="15555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任务类型如何匹配工具能力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工具选择是否使用相同的信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息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缺少工具时应明确退出或求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助</a:t>
            </a:r>
            <a:endParaRPr lang="zh-CN" sz="1800" dirty="0"/>
          </a:p>
        </p:txBody>
      </p:sp>
      <p:sp>
        <p:nvSpPr>
          <p:cNvPr id="48" name="T09/card/region-2/frame"/>
          <p:cNvSpPr/>
          <p:nvPr/>
        </p:nvSpPr>
        <p:spPr>
          <a:xfrm>
            <a:off x="8648700" y="3734562"/>
            <a:ext cx="3086100" cy="2259616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9" name="T09/card/region-2/tab"/>
          <p:cNvSpPr/>
          <p:nvPr/>
        </p:nvSpPr>
        <p:spPr>
          <a:xfrm>
            <a:off x="8763000" y="3620262"/>
            <a:ext cx="1752600" cy="342900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09/card/region-2/title"/>
          <p:cNvSpPr/>
          <p:nvPr/>
        </p:nvSpPr>
        <p:spPr>
          <a:xfrm>
            <a:off x="8867775" y="3648837"/>
            <a:ext cx="15430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工具覆盖范围</a:t>
            </a:r>
            <a:endParaRPr lang="zh-CN" sz="1950" dirty="0"/>
          </a:p>
        </p:txBody>
      </p:sp>
      <p:sp>
        <p:nvSpPr>
          <p:cNvPr id="51" name="T09/card/region-2/body"/>
          <p:cNvSpPr/>
          <p:nvPr/>
        </p:nvSpPr>
        <p:spPr>
          <a:xfrm>
            <a:off x="8782050" y="4106037"/>
            <a:ext cx="2819400" cy="17928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列出工具能处理的对象和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入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标注分布外样本与失败类别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解释工具更新后需重做哪些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验证</a:t>
            </a:r>
            <a:endParaRPr lang="zh-CN" sz="1800" dirty="0"/>
          </a:p>
        </p:txBody>
      </p:sp>
      <p:sp>
        <p:nvSpPr>
          <p:cNvPr id="52" name="T09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0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0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 / 06</a:t>
            </a:r>
            <a:endParaRPr lang="zh-CN" sz="1050" dirty="0"/>
          </a:p>
        </p:txBody>
      </p:sp>
      <p:sp>
        <p:nvSpPr>
          <p:cNvPr id="4" name="T10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机理模型与优化器耦合</a:t>
            </a:r>
            <a:endParaRPr lang="zh-CN" sz="3000" dirty="0"/>
          </a:p>
        </p:txBody>
      </p:sp>
      <p:sp>
        <p:nvSpPr>
          <p:cNvPr id="5" name="T10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0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0/panel:0:frame"/>
          <p:cNvSpPr/>
          <p:nvPr/>
        </p:nvSpPr>
        <p:spPr>
          <a:xfrm>
            <a:off x="457200" y="1167194"/>
            <a:ext cx="11277600" cy="187937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0/panel:0:heading-fill"/>
          <p:cNvSpPr/>
          <p:nvPr/>
        </p:nvSpPr>
        <p:spPr>
          <a:xfrm>
            <a:off x="466725" y="1176719"/>
            <a:ext cx="11258550" cy="381000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0/panel:0:heading-rule"/>
          <p:cNvSpPr/>
          <p:nvPr/>
        </p:nvSpPr>
        <p:spPr>
          <a:xfrm>
            <a:off x="457200" y="1557719"/>
            <a:ext cx="112776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0/panel:0:title"/>
          <p:cNvSpPr/>
          <p:nvPr/>
        </p:nvSpPr>
        <p:spPr>
          <a:xfrm>
            <a:off x="581025" y="1214819"/>
            <a:ext cx="110299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耦合计算链</a:t>
            </a:r>
            <a:endParaRPr lang="zh-CN" sz="1950" dirty="0"/>
          </a:p>
        </p:txBody>
      </p:sp>
      <p:sp>
        <p:nvSpPr>
          <p:cNvPr id="11" name="T10/edge:0"/>
          <p:cNvSpPr/>
          <p:nvPr/>
        </p:nvSpPr>
        <p:spPr>
          <a:xfrm>
            <a:off x="2762250" y="2275046"/>
            <a:ext cx="72390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2" name="T10/edge:1"/>
          <p:cNvSpPr/>
          <p:nvPr/>
        </p:nvSpPr>
        <p:spPr>
          <a:xfrm>
            <a:off x="5638800" y="2275046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3" name="T10/edge:2"/>
          <p:cNvSpPr/>
          <p:nvPr/>
        </p:nvSpPr>
        <p:spPr>
          <a:xfrm>
            <a:off x="8534400" y="2275046"/>
            <a:ext cx="742950" cy="0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4" name="T10/node:step-1:frame"/>
          <p:cNvSpPr/>
          <p:nvPr/>
        </p:nvSpPr>
        <p:spPr>
          <a:xfrm>
            <a:off x="609600" y="1701356"/>
            <a:ext cx="2152650" cy="1147381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0/node:step-1:heading-rule"/>
          <p:cNvSpPr/>
          <p:nvPr/>
        </p:nvSpPr>
        <p:spPr>
          <a:xfrm>
            <a:off x="609600" y="1701356"/>
            <a:ext cx="215265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16" name="T10/node:step-1:label"/>
          <p:cNvSpPr/>
          <p:nvPr/>
        </p:nvSpPr>
        <p:spPr>
          <a:xfrm>
            <a:off x="723900" y="1796606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环境与管理输入</a:t>
            </a:r>
            <a:endParaRPr lang="zh-CN" sz="1800" dirty="0"/>
          </a:p>
        </p:txBody>
      </p:sp>
      <p:sp>
        <p:nvSpPr>
          <p:cNvPr id="17" name="T10/node:step-1:detail"/>
          <p:cNvSpPr/>
          <p:nvPr/>
        </p:nvSpPr>
        <p:spPr>
          <a:xfrm>
            <a:off x="723900" y="2110931"/>
            <a:ext cx="1924050" cy="65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同一时间步和物理量</a:t>
            </a:r>
            <a:endParaRPr lang="zh-CN" sz="1650" dirty="0"/>
          </a:p>
        </p:txBody>
      </p:sp>
      <p:sp>
        <p:nvSpPr>
          <p:cNvPr id="18" name="T10/node:step-2:frame"/>
          <p:cNvSpPr/>
          <p:nvPr/>
        </p:nvSpPr>
        <p:spPr>
          <a:xfrm>
            <a:off x="3486150" y="1701356"/>
            <a:ext cx="2152650" cy="114738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9" name="T10/node:step-2:heading-rule"/>
          <p:cNvSpPr/>
          <p:nvPr/>
        </p:nvSpPr>
        <p:spPr>
          <a:xfrm>
            <a:off x="3486150" y="1701356"/>
            <a:ext cx="21526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0" name="T10/node:step-2:label"/>
          <p:cNvSpPr/>
          <p:nvPr/>
        </p:nvSpPr>
        <p:spPr>
          <a:xfrm>
            <a:off x="3600450" y="1796606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机理模型</a:t>
            </a:r>
            <a:endParaRPr lang="zh-CN" sz="1800" dirty="0"/>
          </a:p>
        </p:txBody>
      </p:sp>
      <p:sp>
        <p:nvSpPr>
          <p:cNvPr id="21" name="T10/node:step-2:detail"/>
          <p:cNvSpPr/>
          <p:nvPr/>
        </p:nvSpPr>
        <p:spPr>
          <a:xfrm>
            <a:off x="3600450" y="2110931"/>
            <a:ext cx="1924050" cy="65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参数与状态演化</a:t>
            </a:r>
            <a:endParaRPr lang="zh-CN" sz="1650" dirty="0"/>
          </a:p>
        </p:txBody>
      </p:sp>
      <p:sp>
        <p:nvSpPr>
          <p:cNvPr id="22" name="T10/node:step-3:frame"/>
          <p:cNvSpPr/>
          <p:nvPr/>
        </p:nvSpPr>
        <p:spPr>
          <a:xfrm>
            <a:off x="6381750" y="1701356"/>
            <a:ext cx="2152650" cy="1147381"/>
          </a:xfrm>
          <a:prstGeom prst="rect">
            <a:avLst/>
          </a:prstGeom>
          <a:solidFill>
            <a:srgbClr val="FAEEE8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3" name="T10/node:step-3:heading-rule"/>
          <p:cNvSpPr/>
          <p:nvPr/>
        </p:nvSpPr>
        <p:spPr>
          <a:xfrm>
            <a:off x="6381750" y="1701356"/>
            <a:ext cx="2152650" cy="0"/>
          </a:xfrm>
          <a:prstGeom prst="line">
            <a:avLst/>
          </a:prstGeom>
          <a:noFill/>
          <a:ln w="19050">
            <a:solidFill>
              <a:srgbClr val="A24736"/>
            </a:solidFill>
            <a:prstDash val="solid"/>
          </a:ln>
        </p:spPr>
      </p:sp>
      <p:sp>
        <p:nvSpPr>
          <p:cNvPr id="24" name="T10/node:step-3:label"/>
          <p:cNvSpPr/>
          <p:nvPr/>
        </p:nvSpPr>
        <p:spPr>
          <a:xfrm>
            <a:off x="6496050" y="1796606"/>
            <a:ext cx="19240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目标与约束计算</a:t>
            </a:r>
            <a:endParaRPr lang="zh-CN" sz="1800" dirty="0"/>
          </a:p>
        </p:txBody>
      </p:sp>
      <p:sp>
        <p:nvSpPr>
          <p:cNvPr id="25" name="T10/node:step-3:detail"/>
          <p:cNvSpPr/>
          <p:nvPr/>
        </p:nvSpPr>
        <p:spPr>
          <a:xfrm>
            <a:off x="6496050" y="2110931"/>
            <a:ext cx="1924050" cy="65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效应、损失和边界</a:t>
            </a:r>
            <a:endParaRPr lang="zh-CN" sz="1650" dirty="0"/>
          </a:p>
        </p:txBody>
      </p:sp>
      <p:sp>
        <p:nvSpPr>
          <p:cNvPr id="26" name="T10/node:step-4:frame"/>
          <p:cNvSpPr/>
          <p:nvPr/>
        </p:nvSpPr>
        <p:spPr>
          <a:xfrm>
            <a:off x="9277350" y="1701356"/>
            <a:ext cx="2305050" cy="1147381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7" name="T10/node:step-4:heading-rule"/>
          <p:cNvSpPr/>
          <p:nvPr/>
        </p:nvSpPr>
        <p:spPr>
          <a:xfrm>
            <a:off x="9277350" y="1701356"/>
            <a:ext cx="230505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8" name="T10/node:step-4:label"/>
          <p:cNvSpPr/>
          <p:nvPr/>
        </p:nvSpPr>
        <p:spPr>
          <a:xfrm>
            <a:off x="9391650" y="1796606"/>
            <a:ext cx="207645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优化或策略更新</a:t>
            </a:r>
            <a:endParaRPr lang="zh-CN" sz="1800" dirty="0"/>
          </a:p>
        </p:txBody>
      </p:sp>
      <p:sp>
        <p:nvSpPr>
          <p:cNvPr id="29" name="T10/node:step-4:detail"/>
          <p:cNvSpPr/>
          <p:nvPr/>
        </p:nvSpPr>
        <p:spPr>
          <a:xfrm>
            <a:off x="9391650" y="2110931"/>
            <a:ext cx="2076450" cy="6520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1947"/>
              </a:lnSpc>
              <a:buNone/>
            </a:pPr>
            <a:r>
              <a:rPr lang="zh-CN" altLang="en-US" sz="165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反馈到下一轮</a:t>
            </a:r>
            <a:endParaRPr lang="zh-CN" sz="1650" dirty="0"/>
          </a:p>
        </p:txBody>
      </p:sp>
      <p:sp>
        <p:nvSpPr>
          <p:cNvPr id="30" name="T10/card/region-1/frame"/>
          <p:cNvSpPr/>
          <p:nvPr/>
        </p:nvSpPr>
        <p:spPr>
          <a:xfrm>
            <a:off x="457200" y="3461956"/>
            <a:ext cx="3486150" cy="2492597"/>
          </a:xfrm>
          <a:prstGeom prst="rect">
            <a:avLst/>
          </a:prstGeom>
          <a:solidFill>
            <a:srgbClr val="FFFFFF"/>
          </a:solidFill>
          <a:ln w="9525">
            <a:solidFill>
              <a:srgbClr val="BEC8D4"/>
            </a:solidFill>
            <a:prstDash val="solid"/>
          </a:ln>
        </p:spPr>
      </p:sp>
      <p:sp>
        <p:nvSpPr>
          <p:cNvPr id="31" name="T10/card/region-1/label"/>
          <p:cNvSpPr/>
          <p:nvPr/>
        </p:nvSpPr>
        <p:spPr>
          <a:xfrm>
            <a:off x="457200" y="3461956"/>
            <a:ext cx="1010983" cy="2492597"/>
          </a:xfrm>
          <a:prstGeom prst="rect">
            <a:avLst/>
          </a:prstGeom>
          <a:solidFill>
            <a:srgbClr val="F0F3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10/card/region-1/split"/>
          <p:cNvSpPr/>
          <p:nvPr/>
        </p:nvSpPr>
        <p:spPr>
          <a:xfrm>
            <a:off x="1468183" y="3633406"/>
            <a:ext cx="0" cy="2149697"/>
          </a:xfrm>
          <a:prstGeom prst="line">
            <a:avLst/>
          </a:prstGeom>
          <a:noFill/>
          <a:ln w="13335">
            <a:solidFill>
              <a:srgbClr val="536A7A"/>
            </a:solidFill>
            <a:prstDash val="solid"/>
          </a:ln>
        </p:spPr>
      </p:sp>
      <p:sp>
        <p:nvSpPr>
          <p:cNvPr id="33" name="T10/card/region-1/title"/>
          <p:cNvSpPr/>
          <p:nvPr/>
        </p:nvSpPr>
        <p:spPr>
          <a:xfrm>
            <a:off x="600075" y="3652457"/>
            <a:ext cx="725233" cy="20925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zh-CN" sz="1950" dirty="0"/>
          </a:p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单位</a:t>
            </a:r>
            <a:endParaRPr lang="zh-CN" sz="1950" dirty="0"/>
          </a:p>
        </p:txBody>
      </p:sp>
      <p:sp>
        <p:nvSpPr>
          <p:cNvPr id="34" name="T10/card/region-1/body"/>
          <p:cNvSpPr/>
          <p:nvPr/>
        </p:nvSpPr>
        <p:spPr>
          <a:xfrm>
            <a:off x="1639633" y="3642932"/>
            <a:ext cx="2141792" cy="21211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列出观测与管理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核对物理量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单位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间步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保留缺失或预测数据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的来源</a:t>
            </a:r>
            <a:endParaRPr lang="zh-CN" sz="1800" dirty="0"/>
          </a:p>
        </p:txBody>
      </p:sp>
      <p:sp>
        <p:nvSpPr>
          <p:cNvPr id="35" name="T10/card/region-2/frame"/>
          <p:cNvSpPr/>
          <p:nvPr/>
        </p:nvSpPr>
        <p:spPr>
          <a:xfrm>
            <a:off x="4210050" y="3461956"/>
            <a:ext cx="3505200" cy="249259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6" name="T10/card/region-2/heading-fill"/>
          <p:cNvSpPr/>
          <p:nvPr/>
        </p:nvSpPr>
        <p:spPr>
          <a:xfrm>
            <a:off x="4219575" y="3471482"/>
            <a:ext cx="348615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10/card/region-2/heading-rule"/>
          <p:cNvSpPr/>
          <p:nvPr/>
        </p:nvSpPr>
        <p:spPr>
          <a:xfrm>
            <a:off x="4210050" y="3842956"/>
            <a:ext cx="35052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8" name="T10/card/region-2/title"/>
          <p:cNvSpPr/>
          <p:nvPr/>
        </p:nvSpPr>
        <p:spPr>
          <a:xfrm>
            <a:off x="4333875" y="3509582"/>
            <a:ext cx="32575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校准与验证</a:t>
            </a:r>
            <a:endParaRPr lang="zh-CN" sz="1950" dirty="0"/>
          </a:p>
        </p:txBody>
      </p:sp>
      <p:sp>
        <p:nvSpPr>
          <p:cNvPr id="39" name="T10/card/region-2/body"/>
          <p:cNvSpPr/>
          <p:nvPr/>
        </p:nvSpPr>
        <p:spPr>
          <a:xfrm>
            <a:off x="4343400" y="3947732"/>
            <a:ext cx="3238500" cy="1911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区分参数校准与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独立验证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报告校准范围与留出环境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与观测比较误差而非只看拟合</a:t>
            </a:r>
            <a:endParaRPr lang="zh-CN" sz="1800" dirty="0"/>
          </a:p>
        </p:txBody>
      </p:sp>
      <p:sp>
        <p:nvSpPr>
          <p:cNvPr id="40" name="T10/card/region-3/frame"/>
          <p:cNvSpPr/>
          <p:nvPr/>
        </p:nvSpPr>
        <p:spPr>
          <a:xfrm>
            <a:off x="7981950" y="3576256"/>
            <a:ext cx="3752850" cy="237829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41" name="T10/card/region-3/tab"/>
          <p:cNvSpPr/>
          <p:nvPr/>
        </p:nvSpPr>
        <p:spPr>
          <a:xfrm>
            <a:off x="8096250" y="3461956"/>
            <a:ext cx="1257300" cy="342900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10/card/region-3/title"/>
          <p:cNvSpPr/>
          <p:nvPr/>
        </p:nvSpPr>
        <p:spPr>
          <a:xfrm>
            <a:off x="8201025" y="3490531"/>
            <a:ext cx="1047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模型失配</a:t>
            </a:r>
            <a:endParaRPr lang="zh-CN" sz="1950" dirty="0"/>
          </a:p>
        </p:txBody>
      </p:sp>
      <p:sp>
        <p:nvSpPr>
          <p:cNvPr id="43" name="T10/card/region-3/body"/>
          <p:cNvSpPr/>
          <p:nvPr/>
        </p:nvSpPr>
        <p:spPr>
          <a:xfrm>
            <a:off x="8115300" y="3947732"/>
            <a:ext cx="3486150" cy="19115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列出结构误差与参数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不确定性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说明误差如何影响优化或策略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补充越界状态的处理规则</a:t>
            </a:r>
            <a:endParaRPr lang="zh-CN" sz="1800" dirty="0"/>
          </a:p>
        </p:txBody>
      </p:sp>
      <p:sp>
        <p:nvSpPr>
          <p:cNvPr id="44" name="T10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1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05 / 06</a:t>
            </a:r>
            <a:endParaRPr lang="zh-CN" sz="1050" dirty="0"/>
          </a:p>
        </p:txBody>
      </p:sp>
      <p:sp>
        <p:nvSpPr>
          <p:cNvPr id="4" name="T11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算法步骤与关键假设</a:t>
            </a:r>
            <a:endParaRPr lang="zh-CN" sz="3000" dirty="0"/>
          </a:p>
        </p:txBody>
      </p:sp>
      <p:sp>
        <p:nvSpPr>
          <p:cNvPr id="5" name="T11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1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1/edge:0"/>
          <p:cNvSpPr/>
          <p:nvPr/>
        </p:nvSpPr>
        <p:spPr>
          <a:xfrm>
            <a:off x="2228850" y="1899094"/>
            <a:ext cx="0" cy="276987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8" name="T11/edge:1"/>
          <p:cNvSpPr/>
          <p:nvPr/>
        </p:nvSpPr>
        <p:spPr>
          <a:xfrm>
            <a:off x="2228850" y="2927795"/>
            <a:ext cx="0" cy="276987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9" name="T11/edge:2"/>
          <p:cNvSpPr/>
          <p:nvPr/>
        </p:nvSpPr>
        <p:spPr>
          <a:xfrm>
            <a:off x="2228850" y="3956495"/>
            <a:ext cx="0" cy="276987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0" name="T11/edge:3"/>
          <p:cNvSpPr/>
          <p:nvPr/>
        </p:nvSpPr>
        <p:spPr>
          <a:xfrm>
            <a:off x="2228850" y="4985195"/>
            <a:ext cx="0" cy="276987"/>
          </a:xfrm>
          <a:prstGeom prst="line">
            <a:avLst/>
          </a:prstGeom>
          <a:noFill/>
          <a:ln w="15240">
            <a:solidFill>
              <a:srgbClr val="355D88"/>
            </a:solidFill>
            <a:prstDash val="solid"/>
            <a:tailEnd type="triangle"/>
          </a:ln>
        </p:spPr>
      </p:sp>
      <p:sp>
        <p:nvSpPr>
          <p:cNvPr id="11" name="T11/node:step-1:frame"/>
          <p:cNvSpPr/>
          <p:nvPr/>
        </p:nvSpPr>
        <p:spPr>
          <a:xfrm>
            <a:off x="590550" y="1147381"/>
            <a:ext cx="3276600" cy="751713"/>
          </a:xfrm>
          <a:prstGeom prst="rect">
            <a:avLst/>
          </a:prstGeom>
          <a:solidFill>
            <a:srgbClr val="F0F3F6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2" name="T11/node:step-1:heading-rule"/>
          <p:cNvSpPr/>
          <p:nvPr/>
        </p:nvSpPr>
        <p:spPr>
          <a:xfrm>
            <a:off x="590550" y="1147381"/>
            <a:ext cx="3276600" cy="0"/>
          </a:xfrm>
          <a:prstGeom prst="line">
            <a:avLst/>
          </a:prstGeom>
          <a:noFill/>
          <a:ln w="19050">
            <a:solidFill>
              <a:srgbClr val="536A7A"/>
            </a:solidFill>
            <a:prstDash val="solid"/>
          </a:ln>
        </p:spPr>
      </p:sp>
      <p:sp>
        <p:nvSpPr>
          <p:cNvPr id="13" name="T11/node:step-1:label"/>
          <p:cNvSpPr/>
          <p:nvPr/>
        </p:nvSpPr>
        <p:spPr>
          <a:xfrm>
            <a:off x="704850" y="1389888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输入与初始化</a:t>
            </a:r>
            <a:endParaRPr lang="zh-CN" sz="1800" dirty="0"/>
          </a:p>
        </p:txBody>
      </p:sp>
      <p:sp>
        <p:nvSpPr>
          <p:cNvPr id="14" name="T11/node:step-2:frame"/>
          <p:cNvSpPr/>
          <p:nvPr/>
        </p:nvSpPr>
        <p:spPr>
          <a:xfrm>
            <a:off x="590550" y="2176082"/>
            <a:ext cx="3276600" cy="75171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5" name="T11/node:step-2:heading-rule"/>
          <p:cNvSpPr/>
          <p:nvPr/>
        </p:nvSpPr>
        <p:spPr>
          <a:xfrm>
            <a:off x="590550" y="2176082"/>
            <a:ext cx="32766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16" name="T11/node:step-2:label"/>
          <p:cNvSpPr/>
          <p:nvPr/>
        </p:nvSpPr>
        <p:spPr>
          <a:xfrm>
            <a:off x="704850" y="2418588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构造候选</a:t>
            </a:r>
            <a:endParaRPr lang="zh-CN" sz="1800" dirty="0"/>
          </a:p>
        </p:txBody>
      </p:sp>
      <p:sp>
        <p:nvSpPr>
          <p:cNvPr id="17" name="T11/node:step-3:frame"/>
          <p:cNvSpPr/>
          <p:nvPr/>
        </p:nvSpPr>
        <p:spPr>
          <a:xfrm>
            <a:off x="590550" y="3204781"/>
            <a:ext cx="3276600" cy="75171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18" name="T11/node:step-3:heading-rule"/>
          <p:cNvSpPr/>
          <p:nvPr/>
        </p:nvSpPr>
        <p:spPr>
          <a:xfrm>
            <a:off x="590550" y="3204781"/>
            <a:ext cx="32766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19" name="T11/node:step-3:label"/>
          <p:cNvSpPr/>
          <p:nvPr/>
        </p:nvSpPr>
        <p:spPr>
          <a:xfrm>
            <a:off x="704850" y="3447288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计算目标</a:t>
            </a:r>
            <a:endParaRPr lang="zh-CN" sz="1800" dirty="0"/>
          </a:p>
        </p:txBody>
      </p:sp>
      <p:sp>
        <p:nvSpPr>
          <p:cNvPr id="20" name="T11/node:step-4:frame"/>
          <p:cNvSpPr/>
          <p:nvPr/>
        </p:nvSpPr>
        <p:spPr>
          <a:xfrm>
            <a:off x="590550" y="4233482"/>
            <a:ext cx="3276600" cy="751713"/>
          </a:xfrm>
          <a:prstGeom prst="rect">
            <a:avLst/>
          </a:prstGeom>
          <a:solidFill>
            <a:srgbClr val="EAF2FA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1" name="T11/node:step-4:heading-rule"/>
          <p:cNvSpPr/>
          <p:nvPr/>
        </p:nvSpPr>
        <p:spPr>
          <a:xfrm>
            <a:off x="590550" y="4233482"/>
            <a:ext cx="3276600" cy="0"/>
          </a:xfrm>
          <a:prstGeom prst="line">
            <a:avLst/>
          </a:prstGeom>
          <a:noFill/>
          <a:ln w="19050">
            <a:solidFill>
              <a:srgbClr val="235E96"/>
            </a:solidFill>
            <a:prstDash val="solid"/>
          </a:ln>
        </p:spPr>
      </p:sp>
      <p:sp>
        <p:nvSpPr>
          <p:cNvPr id="22" name="T11/node:step-4:label"/>
          <p:cNvSpPr/>
          <p:nvPr/>
        </p:nvSpPr>
        <p:spPr>
          <a:xfrm>
            <a:off x="704850" y="4475988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更新参数</a:t>
            </a:r>
            <a:endParaRPr lang="zh-CN" sz="1800" dirty="0"/>
          </a:p>
        </p:txBody>
      </p:sp>
      <p:sp>
        <p:nvSpPr>
          <p:cNvPr id="23" name="T11/node:step-5:frame"/>
          <p:cNvSpPr/>
          <p:nvPr/>
        </p:nvSpPr>
        <p:spPr>
          <a:xfrm>
            <a:off x="590550" y="5262182"/>
            <a:ext cx="3276600" cy="751713"/>
          </a:xfrm>
          <a:prstGeom prst="rect">
            <a:avLst/>
          </a:prstGeom>
          <a:solidFill>
            <a:srgbClr val="E9F4F0"/>
          </a:solidFill>
          <a:ln w="11430">
            <a:solidFill>
              <a:srgbClr val="BEC8D4"/>
            </a:solidFill>
            <a:prstDash val="solid"/>
          </a:ln>
        </p:spPr>
      </p:sp>
      <p:sp>
        <p:nvSpPr>
          <p:cNvPr id="24" name="T11/node:step-5:heading-rule"/>
          <p:cNvSpPr/>
          <p:nvPr/>
        </p:nvSpPr>
        <p:spPr>
          <a:xfrm>
            <a:off x="590550" y="5262182"/>
            <a:ext cx="3276600" cy="0"/>
          </a:xfrm>
          <a:prstGeom prst="line">
            <a:avLst/>
          </a:prstGeom>
          <a:noFill/>
          <a:ln w="19050">
            <a:solidFill>
              <a:srgbClr val="146C63"/>
            </a:solidFill>
            <a:prstDash val="solid"/>
          </a:ln>
        </p:spPr>
      </p:sp>
      <p:sp>
        <p:nvSpPr>
          <p:cNvPr id="25" name="T11/node:step-5:label"/>
          <p:cNvSpPr/>
          <p:nvPr/>
        </p:nvSpPr>
        <p:spPr>
          <a:xfrm>
            <a:off x="704850" y="5504688"/>
            <a:ext cx="3048000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ts val="2088"/>
              </a:lnSpc>
              <a:buNone/>
            </a:pPr>
            <a:r>
              <a:rPr lang="zh-CN" altLang="en-US" sz="1800" b="1" dirty="0">
                <a:solidFill>
                  <a:srgbClr val="146C63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停止与输出</a:t>
            </a:r>
            <a:endParaRPr lang="zh-CN" sz="1800" dirty="0"/>
          </a:p>
        </p:txBody>
      </p:sp>
      <p:sp>
        <p:nvSpPr>
          <p:cNvPr id="26" name="T11/card/region-1/frame"/>
          <p:cNvSpPr/>
          <p:nvPr/>
        </p:nvSpPr>
        <p:spPr>
          <a:xfrm>
            <a:off x="4305300" y="1167194"/>
            <a:ext cx="7429500" cy="1503521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7" name="T11/card/region-1/heading-fill"/>
          <p:cNvSpPr/>
          <p:nvPr/>
        </p:nvSpPr>
        <p:spPr>
          <a:xfrm>
            <a:off x="4314825" y="1176719"/>
            <a:ext cx="741045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11/card/region-1/heading-rule"/>
          <p:cNvSpPr/>
          <p:nvPr/>
        </p:nvSpPr>
        <p:spPr>
          <a:xfrm>
            <a:off x="4305300" y="1548194"/>
            <a:ext cx="7429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29" name="T11/card/region-1/title"/>
          <p:cNvSpPr/>
          <p:nvPr/>
        </p:nvSpPr>
        <p:spPr>
          <a:xfrm>
            <a:off x="4429125" y="1214819"/>
            <a:ext cx="718185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关键运算</a:t>
            </a:r>
            <a:endParaRPr lang="zh-CN" sz="1950" dirty="0"/>
          </a:p>
        </p:txBody>
      </p:sp>
      <p:sp>
        <p:nvSpPr>
          <p:cNvPr id="30" name="T11/card/region-1/body"/>
          <p:cNvSpPr/>
          <p:nvPr/>
        </p:nvSpPr>
        <p:spPr>
          <a:xfrm>
            <a:off x="4438650" y="1652969"/>
            <a:ext cx="7162800" cy="9224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写清关键更新或目标计算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保留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输入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维度、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输出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与复杂度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避免只写算法名而省略机制</a:t>
            </a:r>
            <a:endParaRPr lang="zh-CN" sz="1800" dirty="0"/>
          </a:p>
        </p:txBody>
      </p:sp>
      <p:sp>
        <p:nvSpPr>
          <p:cNvPr id="31" name="T11/card/region-2/heading-rule"/>
          <p:cNvSpPr/>
          <p:nvPr/>
        </p:nvSpPr>
        <p:spPr>
          <a:xfrm>
            <a:off x="4305300" y="3230404"/>
            <a:ext cx="742950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32" name="T11/card/region-2/heading-mark"/>
          <p:cNvSpPr/>
          <p:nvPr/>
        </p:nvSpPr>
        <p:spPr>
          <a:xfrm>
            <a:off x="4305300" y="3230404"/>
            <a:ext cx="342900" cy="0"/>
          </a:xfrm>
          <a:prstGeom prst="line">
            <a:avLst/>
          </a:prstGeom>
          <a:noFill/>
          <a:ln w="17145">
            <a:solidFill>
              <a:srgbClr val="235E96"/>
            </a:solidFill>
            <a:prstDash val="solid"/>
          </a:ln>
        </p:spPr>
      </p:sp>
      <p:sp>
        <p:nvSpPr>
          <p:cNvPr id="33" name="T11/card/region-2/title"/>
          <p:cNvSpPr/>
          <p:nvPr/>
        </p:nvSpPr>
        <p:spPr>
          <a:xfrm>
            <a:off x="4305300" y="2887504"/>
            <a:ext cx="742950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更新规则</a:t>
            </a:r>
            <a:endParaRPr lang="zh-CN" sz="1950" dirty="0"/>
          </a:p>
        </p:txBody>
      </p:sp>
      <p:sp>
        <p:nvSpPr>
          <p:cNvPr id="34" name="T11/card/region-2/body"/>
          <p:cNvSpPr/>
          <p:nvPr/>
        </p:nvSpPr>
        <p:spPr>
          <a:xfrm>
            <a:off x="4305300" y="3363754"/>
            <a:ext cx="7429500" cy="9304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说明批次、频率与停止条件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区分训练更新和测试时的行为</a:t>
            </a:r>
            <a:endParaRPr lang="zh-CN" sz="1800" dirty="0"/>
          </a:p>
        </p:txBody>
      </p:sp>
      <p:sp>
        <p:nvSpPr>
          <p:cNvPr id="35" name="T11/card/region-3/frame"/>
          <p:cNvSpPr/>
          <p:nvPr/>
        </p:nvSpPr>
        <p:spPr>
          <a:xfrm>
            <a:off x="4305300" y="4664297"/>
            <a:ext cx="7429500" cy="1349597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36" name="T11/card/region-3/tab"/>
          <p:cNvSpPr/>
          <p:nvPr/>
        </p:nvSpPr>
        <p:spPr>
          <a:xfrm>
            <a:off x="4419600" y="4549997"/>
            <a:ext cx="1257300" cy="342900"/>
          </a:xfrm>
          <a:prstGeom prst="rect">
            <a:avLst/>
          </a:prstGeom>
          <a:solidFill>
            <a:srgbClr val="6C528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11/card/region-3/title"/>
          <p:cNvSpPr/>
          <p:nvPr/>
        </p:nvSpPr>
        <p:spPr>
          <a:xfrm>
            <a:off x="4524375" y="4578572"/>
            <a:ext cx="10477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计算假设</a:t>
            </a:r>
            <a:endParaRPr lang="zh-CN" sz="1950" dirty="0"/>
          </a:p>
        </p:txBody>
      </p:sp>
      <p:sp>
        <p:nvSpPr>
          <p:cNvPr id="38" name="T11/card/region-3/body"/>
          <p:cNvSpPr/>
          <p:nvPr/>
        </p:nvSpPr>
        <p:spPr>
          <a:xfrm>
            <a:off x="4438650" y="5035772"/>
            <a:ext cx="7162800" cy="8828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列出独立性、可观测性与稳定性假设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报告超参数、随机种子和预算</a:t>
            </a:r>
            <a:endParaRPr lang="zh-CN" sz="1800" dirty="0"/>
          </a:p>
        </p:txBody>
      </p:sp>
      <p:sp>
        <p:nvSpPr>
          <p:cNvPr id="39" name="T11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2/top-rule"/>
          <p:cNvSpPr/>
          <p:nvPr/>
        </p:nvSpPr>
        <p:spPr>
          <a:xfrm>
            <a:off x="0" y="0"/>
            <a:ext cx="12192000" cy="19050"/>
          </a:xfrm>
          <a:prstGeom prst="rect">
            <a:avLst/>
          </a:prstGeom>
          <a:solidFill>
            <a:srgbClr val="173C7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12/page-number"/>
          <p:cNvSpPr/>
          <p:nvPr/>
        </p:nvSpPr>
        <p:spPr>
          <a:xfrm>
            <a:off x="10744200" y="6534150"/>
            <a:ext cx="990600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lnSpc>
                <a:spcPts val="1344"/>
              </a:lnSpc>
              <a:buNone/>
            </a:pPr>
            <a:r>
              <a:rPr lang="zh-CN" altLang="en-US" sz="1050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06 / 06</a:t>
            </a:r>
            <a:endParaRPr lang="zh-CN" sz="1050" dirty="0"/>
          </a:p>
        </p:txBody>
      </p:sp>
      <p:sp>
        <p:nvSpPr>
          <p:cNvPr id="4" name="T12/title"/>
          <p:cNvSpPr/>
          <p:nvPr/>
        </p:nvSpPr>
        <p:spPr>
          <a:xfrm>
            <a:off x="457200" y="209550"/>
            <a:ext cx="11277600" cy="4381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zh-CN" altLang="en-US" sz="3000" b="1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目标函数与约束分解</a:t>
            </a:r>
            <a:endParaRPr lang="zh-CN" sz="3000" dirty="0"/>
          </a:p>
        </p:txBody>
      </p:sp>
      <p:sp>
        <p:nvSpPr>
          <p:cNvPr id="5" name="T12/header-rule"/>
          <p:cNvSpPr/>
          <p:nvPr/>
        </p:nvSpPr>
        <p:spPr>
          <a:xfrm>
            <a:off x="457200" y="752475"/>
            <a:ext cx="1127760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6" name="T12/header-accent"/>
          <p:cNvSpPr/>
          <p:nvPr/>
        </p:nvSpPr>
        <p:spPr>
          <a:xfrm>
            <a:off x="457200" y="752475"/>
            <a:ext cx="704850" cy="0"/>
          </a:xfrm>
          <a:prstGeom prst="line">
            <a:avLst/>
          </a:prstGeom>
          <a:noFill/>
          <a:ln w="28575">
            <a:solidFill>
              <a:srgbClr val="173C70"/>
            </a:solidFill>
            <a:prstDash val="solid"/>
          </a:ln>
        </p:spPr>
      </p:sp>
      <p:sp>
        <p:nvSpPr>
          <p:cNvPr id="7" name="T12/card/region-1/frame"/>
          <p:cNvSpPr/>
          <p:nvPr/>
        </p:nvSpPr>
        <p:spPr>
          <a:xfrm>
            <a:off x="457200" y="1167194"/>
            <a:ext cx="7296150" cy="1523238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8" name="T12/card/region-1/heading-fill"/>
          <p:cNvSpPr/>
          <p:nvPr/>
        </p:nvSpPr>
        <p:spPr>
          <a:xfrm>
            <a:off x="466725" y="1176719"/>
            <a:ext cx="7277100" cy="371475"/>
          </a:xfrm>
          <a:prstGeom prst="rect">
            <a:avLst/>
          </a:prstGeom>
          <a:solidFill>
            <a:srgbClr val="EAF2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12/card/region-1/heading-rule"/>
          <p:cNvSpPr/>
          <p:nvPr/>
        </p:nvSpPr>
        <p:spPr>
          <a:xfrm>
            <a:off x="457200" y="1548194"/>
            <a:ext cx="7296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0" name="T12/card/region-1/title"/>
          <p:cNvSpPr/>
          <p:nvPr/>
        </p:nvSpPr>
        <p:spPr>
          <a:xfrm>
            <a:off x="581025" y="1214819"/>
            <a:ext cx="7048500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优化目标</a:t>
            </a:r>
            <a:endParaRPr lang="zh-CN" sz="1950" dirty="0"/>
          </a:p>
        </p:txBody>
      </p:sp>
      <p:sp>
        <p:nvSpPr>
          <p:cNvPr id="11" name="T12/card/region-1/body"/>
          <p:cNvSpPr/>
          <p:nvPr/>
        </p:nvSpPr>
        <p:spPr>
          <a:xfrm>
            <a:off x="590550" y="1652969"/>
            <a:ext cx="7029450" cy="9422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示例：min L = Ldata + λ Lregularizer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替换为原论文公式并解释每一项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确认优化目标与评价指标的关系</a:t>
            </a:r>
            <a:endParaRPr lang="zh-CN" sz="1800" dirty="0"/>
          </a:p>
        </p:txBody>
      </p:sp>
      <p:sp>
        <p:nvSpPr>
          <p:cNvPr id="12" name="T12/card/region-2/heading-rule"/>
          <p:cNvSpPr/>
          <p:nvPr/>
        </p:nvSpPr>
        <p:spPr>
          <a:xfrm>
            <a:off x="457200" y="3270028"/>
            <a:ext cx="7296150" cy="0"/>
          </a:xfrm>
          <a:prstGeom prst="line">
            <a:avLst/>
          </a:prstGeom>
          <a:noFill/>
          <a:ln w="9525">
            <a:solidFill>
              <a:srgbClr val="BEC8D4"/>
            </a:solidFill>
            <a:prstDash val="solid"/>
          </a:ln>
        </p:spPr>
      </p:sp>
      <p:sp>
        <p:nvSpPr>
          <p:cNvPr id="13" name="T12/card/region-2/heading-mark"/>
          <p:cNvSpPr/>
          <p:nvPr/>
        </p:nvSpPr>
        <p:spPr>
          <a:xfrm>
            <a:off x="457200" y="3270028"/>
            <a:ext cx="342900" cy="0"/>
          </a:xfrm>
          <a:prstGeom prst="line">
            <a:avLst/>
          </a:prstGeom>
          <a:noFill/>
          <a:ln w="17145">
            <a:solidFill>
              <a:srgbClr val="A24736"/>
            </a:solidFill>
            <a:prstDash val="solid"/>
          </a:ln>
        </p:spPr>
      </p:sp>
      <p:sp>
        <p:nvSpPr>
          <p:cNvPr id="14" name="T12/card/region-2/title"/>
          <p:cNvSpPr/>
          <p:nvPr/>
        </p:nvSpPr>
        <p:spPr>
          <a:xfrm>
            <a:off x="457200" y="2927128"/>
            <a:ext cx="729615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A2473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约束集合</a:t>
            </a:r>
            <a:endParaRPr lang="zh-CN" sz="1950" dirty="0"/>
          </a:p>
        </p:txBody>
      </p:sp>
      <p:sp>
        <p:nvSpPr>
          <p:cNvPr id="15" name="T12/card/region-2/body"/>
          <p:cNvSpPr/>
          <p:nvPr/>
        </p:nvSpPr>
        <p:spPr>
          <a:xfrm>
            <a:off x="457200" y="3403378"/>
            <a:ext cx="7296150" cy="8118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示例：g(x) ≤ 0，a_t ∈ A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说明约束作用对象与违反代价</a:t>
            </a:r>
            <a:endParaRPr lang="zh-CN" sz="1800" dirty="0"/>
          </a:p>
        </p:txBody>
      </p:sp>
      <p:sp>
        <p:nvSpPr>
          <p:cNvPr id="16" name="T12/card/region-3/base-rule"/>
          <p:cNvSpPr/>
          <p:nvPr/>
        </p:nvSpPr>
        <p:spPr>
          <a:xfrm>
            <a:off x="457200" y="6053423"/>
            <a:ext cx="7296150" cy="0"/>
          </a:xfrm>
          <a:prstGeom prst="line">
            <a:avLst/>
          </a:prstGeom>
          <a:noFill/>
          <a:ln w="10478">
            <a:solidFill>
              <a:srgbClr val="BEC8D4"/>
            </a:solidFill>
            <a:prstDash val="solid"/>
          </a:ln>
        </p:spPr>
      </p:sp>
      <p:sp>
        <p:nvSpPr>
          <p:cNvPr id="17" name="T12/card/region-3/side-mark"/>
          <p:cNvSpPr/>
          <p:nvPr/>
        </p:nvSpPr>
        <p:spPr>
          <a:xfrm>
            <a:off x="457200" y="4489895"/>
            <a:ext cx="47625" cy="295275"/>
          </a:xfrm>
          <a:prstGeom prst="rect">
            <a:avLst/>
          </a:prstGeom>
          <a:solidFill>
            <a:srgbClr val="235E9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12/card/region-3/title"/>
          <p:cNvSpPr/>
          <p:nvPr/>
        </p:nvSpPr>
        <p:spPr>
          <a:xfrm>
            <a:off x="609600" y="4489895"/>
            <a:ext cx="71437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求解与评价</a:t>
            </a:r>
            <a:endParaRPr lang="zh-CN" sz="1950" dirty="0"/>
          </a:p>
        </p:txBody>
      </p:sp>
      <p:sp>
        <p:nvSpPr>
          <p:cNvPr id="19" name="T12/card/region-3/body"/>
          <p:cNvSpPr/>
          <p:nvPr/>
        </p:nvSpPr>
        <p:spPr>
          <a:xfrm>
            <a:off x="609600" y="4908995"/>
            <a:ext cx="7143750" cy="104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求解器负责怎样的搜索或更新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独立测试怎样估计结果与</a:t>
            </a:r>
            <a:pPr algn="l" indent="0" marL="0">
              <a:lnSpc>
                <a:spcPts val="2232"/>
              </a:lnSpc>
              <a:buNone/>
            </a:pPr>
            <a:r>
              <a:rPr lang="zh-CN" altLang="en-US" sz="1800" b="1" dirty="0">
                <a:solidFill>
                  <a:srgbClr val="235E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不确定性</a:t>
            </a:r>
            <a:endParaRPr lang="zh-CN" sz="1800" dirty="0"/>
          </a:p>
        </p:txBody>
      </p:sp>
      <p:sp>
        <p:nvSpPr>
          <p:cNvPr id="20" name="T12/card/region-4/frame"/>
          <p:cNvSpPr/>
          <p:nvPr/>
        </p:nvSpPr>
        <p:spPr>
          <a:xfrm>
            <a:off x="8096250" y="1167194"/>
            <a:ext cx="3638550" cy="2334387"/>
          </a:xfrm>
          <a:prstGeom prst="rect">
            <a:avLst/>
          </a:prstGeom>
          <a:solidFill>
            <a:srgbClr val="FFFFFF"/>
          </a:solidFill>
          <a:ln w="9525">
            <a:solidFill>
              <a:srgbClr val="BEC8D4"/>
            </a:solidFill>
            <a:prstDash val="solid"/>
          </a:ln>
        </p:spPr>
      </p:sp>
      <p:sp>
        <p:nvSpPr>
          <p:cNvPr id="21" name="T12/card/region-4/ledger-accent"/>
          <p:cNvSpPr/>
          <p:nvPr/>
        </p:nvSpPr>
        <p:spPr>
          <a:xfrm>
            <a:off x="8096250" y="1167194"/>
            <a:ext cx="57150" cy="2334387"/>
          </a:xfrm>
          <a:prstGeom prst="rect">
            <a:avLst/>
          </a:prstGeom>
          <a:solidFill>
            <a:srgbClr val="536A7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12/card/region-4/ledger-rule"/>
          <p:cNvSpPr/>
          <p:nvPr/>
        </p:nvSpPr>
        <p:spPr>
          <a:xfrm>
            <a:off x="8286750" y="1710119"/>
            <a:ext cx="3257550" cy="0"/>
          </a:xfrm>
          <a:prstGeom prst="line">
            <a:avLst/>
          </a:prstGeom>
          <a:noFill/>
          <a:ln w="13335">
            <a:solidFill>
              <a:srgbClr val="BEC8D4"/>
            </a:solidFill>
            <a:prstDash val="solid"/>
          </a:ln>
        </p:spPr>
      </p:sp>
      <p:sp>
        <p:nvSpPr>
          <p:cNvPr id="23" name="T12/card/region-4/title"/>
          <p:cNvSpPr/>
          <p:nvPr/>
        </p:nvSpPr>
        <p:spPr>
          <a:xfrm>
            <a:off x="8286750" y="1329119"/>
            <a:ext cx="3257550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536A7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符号与单位</a:t>
            </a:r>
            <a:endParaRPr lang="zh-CN" sz="1950" dirty="0"/>
          </a:p>
        </p:txBody>
      </p:sp>
      <p:sp>
        <p:nvSpPr>
          <p:cNvPr id="24" name="T12/card/region-4/body"/>
          <p:cNvSpPr/>
          <p:nvPr/>
        </p:nvSpPr>
        <p:spPr>
          <a:xfrm>
            <a:off x="8286750" y="1852994"/>
            <a:ext cx="3257550" cy="14580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统一状态、动作、参数与损失符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号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所有数值项保留量纲与归一化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避免同一符号代表不同物理量</a:t>
            </a:r>
            <a:endParaRPr lang="zh-CN" sz="1800" dirty="0"/>
          </a:p>
        </p:txBody>
      </p:sp>
      <p:sp>
        <p:nvSpPr>
          <p:cNvPr id="25" name="T12/card/region-5/frame"/>
          <p:cNvSpPr/>
          <p:nvPr/>
        </p:nvSpPr>
        <p:spPr>
          <a:xfrm>
            <a:off x="8096250" y="3853244"/>
            <a:ext cx="3638550" cy="2200275"/>
          </a:xfrm>
          <a:prstGeom prst="rect">
            <a:avLst/>
          </a:prstGeom>
          <a:solidFill>
            <a:srgbClr val="FFFFFF"/>
          </a:solidFill>
          <a:ln w="10478">
            <a:solidFill>
              <a:srgbClr val="BEC8D4"/>
            </a:solidFill>
            <a:prstDash val="solid"/>
          </a:ln>
        </p:spPr>
      </p:sp>
      <p:sp>
        <p:nvSpPr>
          <p:cNvPr id="26" name="T12/card/region-5/tab"/>
          <p:cNvSpPr/>
          <p:nvPr/>
        </p:nvSpPr>
        <p:spPr>
          <a:xfrm>
            <a:off x="8210550" y="3738944"/>
            <a:ext cx="1752600" cy="342900"/>
          </a:xfrm>
          <a:prstGeom prst="rect">
            <a:avLst/>
          </a:prstGeom>
          <a:solidFill>
            <a:srgbClr val="6C528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12/card/region-5/title"/>
          <p:cNvSpPr/>
          <p:nvPr/>
        </p:nvSpPr>
        <p:spPr>
          <a:xfrm>
            <a:off x="8315325" y="3767519"/>
            <a:ext cx="15430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2"/>
              </a:lnSpc>
              <a:buNone/>
            </a:pPr>
            <a:r>
              <a:rPr lang="zh-CN" altLang="en-US" sz="19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可识别性假设</a:t>
            </a:r>
            <a:endParaRPr lang="zh-CN" sz="1950" dirty="0"/>
          </a:p>
        </p:txBody>
      </p:sp>
      <p:sp>
        <p:nvSpPr>
          <p:cNvPr id="28" name="T12/card/region-5/body"/>
          <p:cNvSpPr/>
          <p:nvPr/>
        </p:nvSpPr>
        <p:spPr>
          <a:xfrm>
            <a:off x="8229600" y="4224719"/>
            <a:ext cx="3371850" cy="17335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解释哪些参数能由观测识别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列出需要固定或外部提供的条件</a:t>
            </a:r>
            <a:endParaRPr lang="zh-CN" sz="1800" dirty="0"/>
          </a:p>
          <a:p>
            <a:pPr algn="l" indent="0" marL="0">
              <a:lnSpc>
                <a:spcPts val="2232"/>
              </a:lnSpc>
              <a:buNone/>
            </a:pPr>
            <a:r>
              <a:rPr lang="zh-CN" altLang="en-US" sz="1800" dirty="0">
                <a:solidFill>
                  <a:srgbClr val="1C243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用消融或敏感性分析检查解释</a:t>
            </a:r>
            <a:endParaRPr lang="zh-CN" sz="1800" dirty="0"/>
          </a:p>
        </p:txBody>
      </p:sp>
      <p:sp>
        <p:nvSpPr>
          <p:cNvPr id="29" name="T12/sources"/>
          <p:cNvSpPr/>
          <p:nvPr/>
        </p:nvSpPr>
        <p:spPr>
          <a:xfrm>
            <a:off x="457200" y="6286500"/>
            <a:ext cx="112776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283"/>
              </a:lnSpc>
              <a:buNone/>
            </a:pPr>
            <a:r>
              <a:rPr lang="zh-CN" altLang="en-US" sz="1125" dirty="0">
                <a:solidFill>
                  <a:srgbClr val="515B68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T1 · 2026 · 书目占位；图表均为合成示例</a:t>
            </a:r>
            <a:endParaRPr lang="zh-CN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方法与机制学术模板</dc:title>
  <dc:subject>原创学术版式、结构化填充指引与合成科学图</dc:subject>
  <dc:creator>DSH Academic PPT</dc:creator>
  <cp:lastModifiedBy>DSH Academic PPT</cp:lastModifiedBy>
  <cp:revision>1</cp:revision>
  <dcterms:created xsi:type="dcterms:W3CDTF">2026-10-20T05:39:56Z</dcterms:created>
  <dcterms:modified xsi:type="dcterms:W3CDTF">2026-10-20T05:39:56Z</dcterms:modified>
</cp:coreProperties>
</file>