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本页为原创学术版式模板，ID figure-wide-annotated。完整宽幅原图置于上方，下面按图中元素组织读图说明。
全部文本为填写指引，图表值是合成演示值，不是任何研究结果。使用前替换论文、数据、原图与来源。
内容职责：图例与处理；主要趋势；必要限定。
建议讲述时间只是排练起点，按实际内容调整。
参考文献（完整题名）
T1 · Full article title: connecting decision models, experimental evidence and independent validation in crop cultivation · 期刊与卷页（替换） · 2026 · 待替换 · 书目占位，非真实文献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本页为原创学术版式模板，ID figure-two-panels。两面板共享高度，每幅图的解释直接放在对应面板下面。
全部文本为填写指引，图表值是合成演示值，不是任何研究结果。使用前替换论文、数据、原图与来源。
内容职责：面板 A；面板 B。
建议讲述时间只是排练起点，按实际内容调整。
参考文献（完整题名）
T1 · Full article title: connecting decision models, experimental evidence and independent validation in crop cultivation · 期刊与卷页（替换） · 2026 · 待替换 · 书目占位，非真实文献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本页为原创学术版式模板，ID figure-three-panels。三图解释不同证据环节，结论限定沿底部展开。
全部文本为填写指引，图表值是合成演示值，不是任何研究结果。使用前替换论文、数据、原图与来源。
内容职责：证据 A；证据 B；证据 C。
建议讲述时间只是排练起点，按实际内容调整。
参考文献（完整题名）
T1 · Full article title: connecting decision models, experimental evidence and independent validation in crop cultivation · 期刊与卷页（替换） · 2026 · 待替换 · 书目占位，非真实文献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本页为原创学术版式模板，ID figure-detail-window。全图与细节分别保留为独立图像，附面板位置和放大范围说明。
全部文本为填写指引，图表值是合成演示值，不是任何研究结果。使用前替换论文、数据、原图与来源。
内容职责：全图定位；局部读数与上下文。
建议讲述时间只是排练起点，按实际内容调整。
参考文献（完整题名）
T1 · Full article title: connecting decision models, experimental evidence and independent validation in crop cultivation · 期刊与卷页（替换） · 2026 · 待替换 · 书目占位，非真实文献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本页为原创学术版式模板，ID figure-portrait-reading。竖图使用整列高度，右侧先解释流程，再记录关键证据和局限。
全部文本为填写指引，图表值是合成演示值，不是任何研究结果。使用前替换论文、数据、原图与来源。
内容职责：阅读顺序；关键证据；局限与外推。
建议讲述时间只是排练起点，按实际内容调整。
参考文献（完整题名）
T1 · Full article title: connecting decision models, experimental evidence and independent validation in crop cultivation · 期刊与卷页（替换） · 2026 · 待替换 · 书目占位，非真实文献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本页为原创学术版式模板，ID figure-legend-first。原图在右，左列明确变量、颜色和判读规则。
全部文本为填写指引，图表值是合成演示值，不是任何研究结果。使用前替换论文、数据、原图与来源。
内容职责：坐标与变量；颜色与处理；判读规则。
建议讲述时间只是排练起点，按实际内容调整。
参考文献（完整题名）
T1 · Full article title: connecting decision models, experimental evidence and independent validation in crop cultivation · 期刊与卷页（替换） · 2026 · 待替换 · 书目占位，非真实文献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5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25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 / 06</a:t>
            </a:r>
            <a:endParaRPr lang="zh-CN" sz="1050" dirty="0"/>
          </a:p>
        </p:txBody>
      </p:sp>
      <p:sp>
        <p:nvSpPr>
          <p:cNvPr id="4" name="T25/kicker"/>
          <p:cNvSpPr/>
          <p:nvPr/>
        </p:nvSpPr>
        <p:spPr>
          <a:xfrm>
            <a:off x="457200" y="152400"/>
            <a:ext cx="112776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zh-CN" altLang="en-US" sz="120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结构模板 / 占位说明与合成数据</a:t>
            </a:r>
            <a:endParaRPr lang="zh-CN" sz="1200" dirty="0"/>
          </a:p>
        </p:txBody>
      </p:sp>
      <p:sp>
        <p:nvSpPr>
          <p:cNvPr id="5" name="T25/title"/>
          <p:cNvSpPr/>
          <p:nvPr/>
        </p:nvSpPr>
        <p:spPr>
          <a:xfrm>
            <a:off x="457200" y="381000"/>
            <a:ext cx="112776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6"/>
              </a:lnSpc>
              <a:buNone/>
            </a:pPr>
            <a:r>
              <a:rPr lang="zh-CN" altLang="en-US" sz="255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宽幅原图与读图说明</a:t>
            </a:r>
            <a:endParaRPr lang="zh-CN" sz="2550" dirty="0"/>
          </a:p>
        </p:txBody>
      </p:sp>
      <p:sp>
        <p:nvSpPr>
          <p:cNvPr id="6" name="T25/header-rule"/>
          <p:cNvSpPr/>
          <p:nvPr/>
        </p:nvSpPr>
        <p:spPr>
          <a:xfrm>
            <a:off x="457200" y="876300"/>
            <a:ext cx="11277600" cy="0"/>
          </a:xfrm>
          <a:prstGeom prst="line">
            <a:avLst/>
          </a:prstGeom>
          <a:noFill/>
          <a:ln w="11430">
            <a:solidFill>
              <a:srgbClr val="173C70"/>
            </a:solidFill>
            <a:prstDash val="solid"/>
          </a:ln>
        </p:spPr>
      </p:sp>
      <p:sp>
        <p:nvSpPr>
          <p:cNvPr id="7" name="T25/panel:0:frame"/>
          <p:cNvSpPr/>
          <p:nvPr/>
        </p:nvSpPr>
        <p:spPr>
          <a:xfrm>
            <a:off x="457200" y="1390650"/>
            <a:ext cx="11277600" cy="3124200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8" name="T25/panel:0:tab"/>
          <p:cNvSpPr/>
          <p:nvPr/>
        </p:nvSpPr>
        <p:spPr>
          <a:xfrm>
            <a:off x="571500" y="1276350"/>
            <a:ext cx="2095500" cy="3238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25/panel:0:title"/>
          <p:cNvSpPr/>
          <p:nvPr/>
        </p:nvSpPr>
        <p:spPr>
          <a:xfrm>
            <a:off x="676275" y="1304925"/>
            <a:ext cx="188595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证据图与面板顺序</a:t>
            </a:r>
            <a:endParaRPr lang="zh-CN" sz="1800" dirty="0"/>
          </a:p>
        </p:txBody>
      </p:sp>
      <p:sp>
        <p:nvSpPr>
          <p:cNvPr id="10" name="T25/figure:0:paper"/>
          <p:cNvSpPr/>
          <p:nvPr/>
        </p:nvSpPr>
        <p:spPr>
          <a:xfrm>
            <a:off x="590550" y="1714500"/>
            <a:ext cx="11010900" cy="26479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1" name="T25/figure:0:image" descr="T1 · 示例图 · 宽幅面板示例；合成演示值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3263" y="1714500"/>
            <a:ext cx="9705474" cy="2305050"/>
          </a:xfrm>
          <a:prstGeom prst="rect">
            <a:avLst/>
          </a:prstGeom>
        </p:spPr>
      </p:pic>
      <p:sp>
        <p:nvSpPr>
          <p:cNvPr id="12" name="T25/figure:0:caption"/>
          <p:cNvSpPr/>
          <p:nvPr/>
        </p:nvSpPr>
        <p:spPr>
          <a:xfrm>
            <a:off x="590550" y="4105275"/>
            <a:ext cx="110109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示例图 · 宽幅面板示例；合成演示值</a:t>
            </a:r>
            <a:endParaRPr lang="zh-CN" sz="1350" dirty="0"/>
          </a:p>
        </p:txBody>
      </p:sp>
      <p:sp>
        <p:nvSpPr>
          <p:cNvPr id="13" name="T25/card/region-1/base-rule"/>
          <p:cNvSpPr/>
          <p:nvPr/>
        </p:nvSpPr>
        <p:spPr>
          <a:xfrm>
            <a:off x="457200" y="6019800"/>
            <a:ext cx="346710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14" name="T25/card/region-1/side-mark"/>
          <p:cNvSpPr/>
          <p:nvPr/>
        </p:nvSpPr>
        <p:spPr>
          <a:xfrm>
            <a:off x="457200" y="4743450"/>
            <a:ext cx="47625" cy="295275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25/card/region-1/title"/>
          <p:cNvSpPr/>
          <p:nvPr/>
        </p:nvSpPr>
        <p:spPr>
          <a:xfrm>
            <a:off x="609600" y="4743450"/>
            <a:ext cx="33147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zh-CN" altLang="en-US" sz="180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图例与处理</a:t>
            </a:r>
            <a:endParaRPr lang="zh-CN" sz="1800" dirty="0"/>
          </a:p>
        </p:txBody>
      </p:sp>
      <p:sp>
        <p:nvSpPr>
          <p:cNvPr id="16" name="T25/card/region-1/body"/>
          <p:cNvSpPr/>
          <p:nvPr/>
        </p:nvSpPr>
        <p:spPr>
          <a:xfrm>
            <a:off x="609600" y="5162550"/>
            <a:ext cx="33147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解释颜色、线型与实验条件</a:t>
            </a:r>
            <a:endParaRPr lang="zh-CN" sz="1725" dirty="0"/>
          </a:p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读图前先明确比较对象</a:t>
            </a:r>
            <a:endParaRPr lang="zh-CN" sz="1725" dirty="0"/>
          </a:p>
        </p:txBody>
      </p:sp>
      <p:sp>
        <p:nvSpPr>
          <p:cNvPr id="17" name="T25/card/region-2/heading-rule"/>
          <p:cNvSpPr/>
          <p:nvPr/>
        </p:nvSpPr>
        <p:spPr>
          <a:xfrm>
            <a:off x="4210050" y="5086350"/>
            <a:ext cx="346710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18" name="T25/card/region-2/heading-mark"/>
          <p:cNvSpPr/>
          <p:nvPr/>
        </p:nvSpPr>
        <p:spPr>
          <a:xfrm>
            <a:off x="4210050" y="5086350"/>
            <a:ext cx="342900" cy="0"/>
          </a:xfrm>
          <a:prstGeom prst="line">
            <a:avLst/>
          </a:prstGeom>
          <a:noFill/>
          <a:ln w="17145">
            <a:solidFill>
              <a:srgbClr val="173C70"/>
            </a:solidFill>
            <a:prstDash val="solid"/>
          </a:ln>
        </p:spPr>
      </p:sp>
      <p:sp>
        <p:nvSpPr>
          <p:cNvPr id="19" name="T25/card/region-2/title"/>
          <p:cNvSpPr/>
          <p:nvPr/>
        </p:nvSpPr>
        <p:spPr>
          <a:xfrm>
            <a:off x="4210050" y="4743450"/>
            <a:ext cx="346710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6"/>
              </a:lnSpc>
              <a:buNone/>
            </a:pPr>
            <a:r>
              <a:rPr lang="zh-CN" altLang="en-US" sz="1875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主要趋势</a:t>
            </a:r>
            <a:endParaRPr lang="zh-CN" sz="1875" dirty="0"/>
          </a:p>
        </p:txBody>
      </p:sp>
      <p:sp>
        <p:nvSpPr>
          <p:cNvPr id="20" name="T25/card/region-2/body"/>
          <p:cNvSpPr/>
          <p:nvPr/>
        </p:nvSpPr>
        <p:spPr>
          <a:xfrm>
            <a:off x="4210050" y="5219700"/>
            <a:ext cx="34671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指出具体面板和变化方向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对照图注与原始数据核对数值</a:t>
            </a:r>
            <a:endParaRPr lang="zh-CN" sz="1800" dirty="0"/>
          </a:p>
        </p:txBody>
      </p:sp>
      <p:sp>
        <p:nvSpPr>
          <p:cNvPr id="21" name="T25/card/region-3/frame"/>
          <p:cNvSpPr/>
          <p:nvPr/>
        </p:nvSpPr>
        <p:spPr>
          <a:xfrm>
            <a:off x="7962900" y="4838700"/>
            <a:ext cx="3771900" cy="1181100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22" name="T25/card/region-3/tab"/>
          <p:cNvSpPr/>
          <p:nvPr/>
        </p:nvSpPr>
        <p:spPr>
          <a:xfrm>
            <a:off x="8077200" y="4724400"/>
            <a:ext cx="1181100" cy="32004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25/card/region-3/title"/>
          <p:cNvSpPr/>
          <p:nvPr/>
        </p:nvSpPr>
        <p:spPr>
          <a:xfrm>
            <a:off x="8181975" y="4752975"/>
            <a:ext cx="971550" cy="262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必要限定</a:t>
            </a:r>
            <a:endParaRPr lang="zh-CN" sz="1800" dirty="0"/>
          </a:p>
        </p:txBody>
      </p:sp>
      <p:sp>
        <p:nvSpPr>
          <p:cNvPr id="24" name="T25/card/region-3/body"/>
          <p:cNvSpPr/>
          <p:nvPr/>
        </p:nvSpPr>
        <p:spPr>
          <a:xfrm>
            <a:off x="8096250" y="5187315"/>
            <a:ext cx="3505200" cy="737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保留样本、误差与实验范围</a:t>
            </a:r>
            <a:endParaRPr lang="zh-CN" sz="1725" dirty="0"/>
          </a:p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不从示意图推导真实研究结论</a:t>
            </a:r>
            <a:endParaRPr lang="zh-CN" sz="1725" dirty="0"/>
          </a:p>
        </p:txBody>
      </p:sp>
      <p:sp>
        <p:nvSpPr>
          <p:cNvPr id="25" name="T25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2026 · 待替换</a:t>
            </a:r>
            <a:endParaRPr lang="zh-CN" sz="11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6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26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 / 06</a:t>
            </a:r>
            <a:endParaRPr lang="zh-CN" sz="1050" dirty="0"/>
          </a:p>
        </p:txBody>
      </p:sp>
      <p:sp>
        <p:nvSpPr>
          <p:cNvPr id="4" name="T26/kicker"/>
          <p:cNvSpPr/>
          <p:nvPr/>
        </p:nvSpPr>
        <p:spPr>
          <a:xfrm>
            <a:off x="457200" y="152400"/>
            <a:ext cx="112776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zh-CN" altLang="en-US" sz="120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结构模板 / 占位说明与合成数据</a:t>
            </a:r>
            <a:endParaRPr lang="zh-CN" sz="1200" dirty="0"/>
          </a:p>
        </p:txBody>
      </p:sp>
      <p:sp>
        <p:nvSpPr>
          <p:cNvPr id="5" name="T26/title"/>
          <p:cNvSpPr/>
          <p:nvPr/>
        </p:nvSpPr>
        <p:spPr>
          <a:xfrm>
            <a:off x="457200" y="381000"/>
            <a:ext cx="112776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6"/>
              </a:lnSpc>
              <a:buNone/>
            </a:pPr>
            <a:r>
              <a:rPr lang="zh-CN" altLang="en-US" sz="255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双面板对照解读</a:t>
            </a:r>
            <a:endParaRPr lang="zh-CN" sz="2550" dirty="0"/>
          </a:p>
        </p:txBody>
      </p:sp>
      <p:sp>
        <p:nvSpPr>
          <p:cNvPr id="6" name="T26/header-rule"/>
          <p:cNvSpPr/>
          <p:nvPr/>
        </p:nvSpPr>
        <p:spPr>
          <a:xfrm>
            <a:off x="457200" y="876300"/>
            <a:ext cx="11277600" cy="0"/>
          </a:xfrm>
          <a:prstGeom prst="line">
            <a:avLst/>
          </a:prstGeom>
          <a:noFill/>
          <a:ln w="11430">
            <a:solidFill>
              <a:srgbClr val="173C70"/>
            </a:solidFill>
            <a:prstDash val="solid"/>
          </a:ln>
        </p:spPr>
      </p:sp>
      <p:sp>
        <p:nvSpPr>
          <p:cNvPr id="7" name="T26/panel:0:frame"/>
          <p:cNvSpPr/>
          <p:nvPr/>
        </p:nvSpPr>
        <p:spPr>
          <a:xfrm>
            <a:off x="457200" y="1314450"/>
            <a:ext cx="5467350" cy="4724400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8" name="T26/panel:0:heading-fill"/>
          <p:cNvSpPr/>
          <p:nvPr/>
        </p:nvSpPr>
        <p:spPr>
          <a:xfrm>
            <a:off x="466725" y="1323975"/>
            <a:ext cx="5448300" cy="381000"/>
          </a:xfrm>
          <a:prstGeom prst="rect">
            <a:avLst/>
          </a:prstGeom>
          <a:solidFill>
            <a:srgbClr val="EEF3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26/panel:0:heading-rule"/>
          <p:cNvSpPr/>
          <p:nvPr/>
        </p:nvSpPr>
        <p:spPr>
          <a:xfrm>
            <a:off x="457200" y="1704975"/>
            <a:ext cx="546735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10" name="T26/panel:0:title"/>
          <p:cNvSpPr/>
          <p:nvPr/>
        </p:nvSpPr>
        <p:spPr>
          <a:xfrm>
            <a:off x="581025" y="1371600"/>
            <a:ext cx="521970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zh-CN" altLang="en-US" sz="180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  面板及对应解读</a:t>
            </a:r>
            <a:endParaRPr lang="zh-CN" sz="1800" dirty="0"/>
          </a:p>
        </p:txBody>
      </p:sp>
      <p:sp>
        <p:nvSpPr>
          <p:cNvPr id="11" name="T26/panel:1:frame"/>
          <p:cNvSpPr/>
          <p:nvPr/>
        </p:nvSpPr>
        <p:spPr>
          <a:xfrm>
            <a:off x="6248400" y="1314450"/>
            <a:ext cx="5486400" cy="4724400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12" name="T26/panel:1:heading-fill"/>
          <p:cNvSpPr/>
          <p:nvPr/>
        </p:nvSpPr>
        <p:spPr>
          <a:xfrm>
            <a:off x="6257925" y="1323975"/>
            <a:ext cx="5467350" cy="381000"/>
          </a:xfrm>
          <a:prstGeom prst="rect">
            <a:avLst/>
          </a:prstGeom>
          <a:solidFill>
            <a:srgbClr val="EEF3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26/panel:1:heading-rule"/>
          <p:cNvSpPr/>
          <p:nvPr/>
        </p:nvSpPr>
        <p:spPr>
          <a:xfrm>
            <a:off x="6248400" y="1704975"/>
            <a:ext cx="548640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14" name="T26/panel:1:title"/>
          <p:cNvSpPr/>
          <p:nvPr/>
        </p:nvSpPr>
        <p:spPr>
          <a:xfrm>
            <a:off x="6372225" y="1371600"/>
            <a:ext cx="523875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zh-CN" altLang="en-US" sz="180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  面板及对应解读</a:t>
            </a:r>
            <a:endParaRPr lang="zh-CN" sz="1800" dirty="0"/>
          </a:p>
        </p:txBody>
      </p:sp>
      <p:sp>
        <p:nvSpPr>
          <p:cNvPr id="15" name="T26/figure:0:paper"/>
          <p:cNvSpPr/>
          <p:nvPr/>
        </p:nvSpPr>
        <p:spPr>
          <a:xfrm>
            <a:off x="590550" y="1790700"/>
            <a:ext cx="5200650" cy="26098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6" name="T26/figure:0:image" descr="T1 · 示例图 · 响应曲线；合成演示值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1750" y="1790700"/>
            <a:ext cx="3778250" cy="2266950"/>
          </a:xfrm>
          <a:prstGeom prst="rect">
            <a:avLst/>
          </a:prstGeom>
        </p:spPr>
      </p:pic>
      <p:sp>
        <p:nvSpPr>
          <p:cNvPr id="17" name="T26/figure:0:caption"/>
          <p:cNvSpPr/>
          <p:nvPr/>
        </p:nvSpPr>
        <p:spPr>
          <a:xfrm>
            <a:off x="590550" y="4143375"/>
            <a:ext cx="52006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示例图 · 响应曲线；合成演示值</a:t>
            </a:r>
            <a:endParaRPr lang="zh-CN" sz="1350" dirty="0"/>
          </a:p>
        </p:txBody>
      </p:sp>
      <p:sp>
        <p:nvSpPr>
          <p:cNvPr id="18" name="T26/figure:1:paper"/>
          <p:cNvSpPr/>
          <p:nvPr/>
        </p:nvSpPr>
        <p:spPr>
          <a:xfrm>
            <a:off x="6381750" y="1790700"/>
            <a:ext cx="5219700" cy="26098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9" name="T26/figure:1:image" descr="T1 · 示例图 · 效应与区间；合成演示值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2475" y="1790700"/>
            <a:ext cx="3778250" cy="2266950"/>
          </a:xfrm>
          <a:prstGeom prst="rect">
            <a:avLst/>
          </a:prstGeom>
        </p:spPr>
      </p:pic>
      <p:sp>
        <p:nvSpPr>
          <p:cNvPr id="20" name="T26/figure:1:caption"/>
          <p:cNvSpPr/>
          <p:nvPr/>
        </p:nvSpPr>
        <p:spPr>
          <a:xfrm>
            <a:off x="6381750" y="4143375"/>
            <a:ext cx="52197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示例图 · 效应与区间；合成演示值</a:t>
            </a:r>
            <a:endParaRPr lang="zh-CN" sz="1350" dirty="0"/>
          </a:p>
        </p:txBody>
      </p:sp>
      <p:sp>
        <p:nvSpPr>
          <p:cNvPr id="21" name="T26/card/region-1/title"/>
          <p:cNvSpPr/>
          <p:nvPr/>
        </p:nvSpPr>
        <p:spPr>
          <a:xfrm>
            <a:off x="590550" y="4705350"/>
            <a:ext cx="520065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6"/>
              </a:lnSpc>
              <a:buNone/>
            </a:pPr>
            <a:r>
              <a:rPr lang="zh-CN" altLang="en-US" sz="1875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面板 A</a:t>
            </a:r>
            <a:endParaRPr lang="zh-CN" sz="1875" dirty="0"/>
          </a:p>
        </p:txBody>
      </p:sp>
      <p:sp>
        <p:nvSpPr>
          <p:cNvPr id="22" name="T26/card/region-1/body"/>
          <p:cNvSpPr/>
          <p:nvPr/>
        </p:nvSpPr>
        <p:spPr>
          <a:xfrm>
            <a:off x="590550" y="5086350"/>
            <a:ext cx="5200650" cy="781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解释该面板的变量和处理</a:t>
            </a:r>
            <a:endParaRPr lang="zh-CN" sz="1725" dirty="0"/>
          </a:p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对应的图注与样本条件独立保留</a:t>
            </a:r>
            <a:endParaRPr lang="zh-CN" sz="1725" dirty="0"/>
          </a:p>
        </p:txBody>
      </p:sp>
      <p:sp>
        <p:nvSpPr>
          <p:cNvPr id="23" name="T26/card/region-2/title"/>
          <p:cNvSpPr/>
          <p:nvPr/>
        </p:nvSpPr>
        <p:spPr>
          <a:xfrm>
            <a:off x="6381750" y="4705350"/>
            <a:ext cx="521970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6"/>
              </a:lnSpc>
              <a:buNone/>
            </a:pPr>
            <a:r>
              <a:rPr lang="zh-CN" altLang="en-US" sz="1875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面板 B</a:t>
            </a:r>
            <a:endParaRPr lang="zh-CN" sz="1875" dirty="0"/>
          </a:p>
        </p:txBody>
      </p:sp>
      <p:sp>
        <p:nvSpPr>
          <p:cNvPr id="24" name="T26/card/region-2/body"/>
          <p:cNvSpPr/>
          <p:nvPr/>
        </p:nvSpPr>
        <p:spPr>
          <a:xfrm>
            <a:off x="6381750" y="5086350"/>
            <a:ext cx="5219700" cy="781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说明它如何补充前一面板</a:t>
            </a:r>
            <a:endParaRPr lang="zh-CN" sz="1725" dirty="0"/>
          </a:p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确认两图尺度是否可以直接比较</a:t>
            </a:r>
            <a:endParaRPr lang="zh-CN" sz="1725" dirty="0"/>
          </a:p>
        </p:txBody>
      </p:sp>
      <p:sp>
        <p:nvSpPr>
          <p:cNvPr id="25" name="T26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2026 · 待替换</a:t>
            </a:r>
            <a:endParaRPr lang="zh-CN" sz="11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7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27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 / 06</a:t>
            </a:r>
            <a:endParaRPr lang="zh-CN" sz="1050" dirty="0"/>
          </a:p>
        </p:txBody>
      </p:sp>
      <p:sp>
        <p:nvSpPr>
          <p:cNvPr id="4" name="T27/kicker"/>
          <p:cNvSpPr/>
          <p:nvPr/>
        </p:nvSpPr>
        <p:spPr>
          <a:xfrm>
            <a:off x="457200" y="152400"/>
            <a:ext cx="112776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zh-CN" altLang="en-US" sz="120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结构模板 / 占位说明与合成数据</a:t>
            </a:r>
            <a:endParaRPr lang="zh-CN" sz="1200" dirty="0"/>
          </a:p>
        </p:txBody>
      </p:sp>
      <p:sp>
        <p:nvSpPr>
          <p:cNvPr id="5" name="T27/title"/>
          <p:cNvSpPr/>
          <p:nvPr/>
        </p:nvSpPr>
        <p:spPr>
          <a:xfrm>
            <a:off x="457200" y="381000"/>
            <a:ext cx="112776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6"/>
              </a:lnSpc>
              <a:buNone/>
            </a:pPr>
            <a:r>
              <a:rPr lang="zh-CN" altLang="en-US" sz="255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三项互补证据</a:t>
            </a:r>
            <a:endParaRPr lang="zh-CN" sz="2550" dirty="0"/>
          </a:p>
        </p:txBody>
      </p:sp>
      <p:sp>
        <p:nvSpPr>
          <p:cNvPr id="6" name="T27/header-rule"/>
          <p:cNvSpPr/>
          <p:nvPr/>
        </p:nvSpPr>
        <p:spPr>
          <a:xfrm>
            <a:off x="457200" y="876300"/>
            <a:ext cx="11277600" cy="0"/>
          </a:xfrm>
          <a:prstGeom prst="line">
            <a:avLst/>
          </a:prstGeom>
          <a:noFill/>
          <a:ln w="11430">
            <a:solidFill>
              <a:srgbClr val="173C70"/>
            </a:solidFill>
            <a:prstDash val="solid"/>
          </a:ln>
        </p:spPr>
      </p:sp>
      <p:sp>
        <p:nvSpPr>
          <p:cNvPr id="7" name="T27/panel:0:frame"/>
          <p:cNvSpPr/>
          <p:nvPr/>
        </p:nvSpPr>
        <p:spPr>
          <a:xfrm>
            <a:off x="457200" y="1333500"/>
            <a:ext cx="3524250" cy="4724400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8" name="T27/panel:0:heading-fill"/>
          <p:cNvSpPr/>
          <p:nvPr/>
        </p:nvSpPr>
        <p:spPr>
          <a:xfrm>
            <a:off x="466725" y="1343025"/>
            <a:ext cx="3505200" cy="381000"/>
          </a:xfrm>
          <a:prstGeom prst="rect">
            <a:avLst/>
          </a:prstGeom>
          <a:solidFill>
            <a:srgbClr val="EEF3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27/panel:0:heading-rule"/>
          <p:cNvSpPr/>
          <p:nvPr/>
        </p:nvSpPr>
        <p:spPr>
          <a:xfrm>
            <a:off x="457200" y="1724025"/>
            <a:ext cx="352425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10" name="T27/panel:0:title"/>
          <p:cNvSpPr/>
          <p:nvPr/>
        </p:nvSpPr>
        <p:spPr>
          <a:xfrm>
            <a:off x="581025" y="1390650"/>
            <a:ext cx="327660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zh-CN" altLang="en-US" sz="180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  对应证据</a:t>
            </a:r>
            <a:endParaRPr lang="zh-CN" sz="1800" dirty="0"/>
          </a:p>
        </p:txBody>
      </p:sp>
      <p:sp>
        <p:nvSpPr>
          <p:cNvPr id="11" name="T27/panel:1:frame"/>
          <p:cNvSpPr/>
          <p:nvPr/>
        </p:nvSpPr>
        <p:spPr>
          <a:xfrm>
            <a:off x="4267200" y="1333500"/>
            <a:ext cx="3524250" cy="4724400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12" name="T27/panel:1:heading-fill"/>
          <p:cNvSpPr/>
          <p:nvPr/>
        </p:nvSpPr>
        <p:spPr>
          <a:xfrm>
            <a:off x="4276725" y="1343025"/>
            <a:ext cx="3505200" cy="381000"/>
          </a:xfrm>
          <a:prstGeom prst="rect">
            <a:avLst/>
          </a:prstGeom>
          <a:solidFill>
            <a:srgbClr val="EEF3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27/panel:1:heading-rule"/>
          <p:cNvSpPr/>
          <p:nvPr/>
        </p:nvSpPr>
        <p:spPr>
          <a:xfrm>
            <a:off x="4267200" y="1724025"/>
            <a:ext cx="352425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14" name="T27/panel:1:title"/>
          <p:cNvSpPr/>
          <p:nvPr/>
        </p:nvSpPr>
        <p:spPr>
          <a:xfrm>
            <a:off x="4391025" y="1390650"/>
            <a:ext cx="327660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zh-CN" altLang="en-US" sz="180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  对应证据</a:t>
            </a:r>
            <a:endParaRPr lang="zh-CN" sz="1800" dirty="0"/>
          </a:p>
        </p:txBody>
      </p:sp>
      <p:sp>
        <p:nvSpPr>
          <p:cNvPr id="15" name="T27/panel:2:frame"/>
          <p:cNvSpPr/>
          <p:nvPr/>
        </p:nvSpPr>
        <p:spPr>
          <a:xfrm>
            <a:off x="8077200" y="1333500"/>
            <a:ext cx="3657600" cy="4724400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16" name="T27/panel:2:heading-fill"/>
          <p:cNvSpPr/>
          <p:nvPr/>
        </p:nvSpPr>
        <p:spPr>
          <a:xfrm>
            <a:off x="8086725" y="1343025"/>
            <a:ext cx="3638550" cy="381000"/>
          </a:xfrm>
          <a:prstGeom prst="rect">
            <a:avLst/>
          </a:prstGeom>
          <a:solidFill>
            <a:srgbClr val="EEF3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27/panel:2:heading-rule"/>
          <p:cNvSpPr/>
          <p:nvPr/>
        </p:nvSpPr>
        <p:spPr>
          <a:xfrm>
            <a:off x="8077200" y="1724025"/>
            <a:ext cx="365760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18" name="T27/panel:2:title"/>
          <p:cNvSpPr/>
          <p:nvPr/>
        </p:nvSpPr>
        <p:spPr>
          <a:xfrm>
            <a:off x="8201025" y="1390650"/>
            <a:ext cx="340995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zh-CN" altLang="en-US" sz="180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  对应证据</a:t>
            </a:r>
            <a:endParaRPr lang="zh-CN" sz="1800" dirty="0"/>
          </a:p>
        </p:txBody>
      </p:sp>
      <p:sp>
        <p:nvSpPr>
          <p:cNvPr id="19" name="T27/figure:0:paper"/>
          <p:cNvSpPr/>
          <p:nvPr/>
        </p:nvSpPr>
        <p:spPr>
          <a:xfrm>
            <a:off x="590550" y="1828800"/>
            <a:ext cx="3257550" cy="25527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0" name="T27/figure:0:image" descr="T1 · 示例图 · 响应曲线；合成演示值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550" y="1956435"/>
            <a:ext cx="3257550" cy="1954530"/>
          </a:xfrm>
          <a:prstGeom prst="rect">
            <a:avLst/>
          </a:prstGeom>
        </p:spPr>
      </p:pic>
      <p:sp>
        <p:nvSpPr>
          <p:cNvPr id="21" name="T27/figure:0:caption"/>
          <p:cNvSpPr/>
          <p:nvPr/>
        </p:nvSpPr>
        <p:spPr>
          <a:xfrm>
            <a:off x="590550" y="4124325"/>
            <a:ext cx="32575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示例图 · 响应曲线；合成演示值</a:t>
            </a:r>
            <a:endParaRPr lang="zh-CN" sz="1350" dirty="0"/>
          </a:p>
        </p:txBody>
      </p:sp>
      <p:sp>
        <p:nvSpPr>
          <p:cNvPr id="22" name="T27/figure:1:paper"/>
          <p:cNvSpPr/>
          <p:nvPr/>
        </p:nvSpPr>
        <p:spPr>
          <a:xfrm>
            <a:off x="4400550" y="1828800"/>
            <a:ext cx="3257550" cy="25527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3" name="T27/figure:1:image" descr="T1 · 示例图 · 效应与区间；合成演示值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0550" y="1956435"/>
            <a:ext cx="3257550" cy="1954530"/>
          </a:xfrm>
          <a:prstGeom prst="rect">
            <a:avLst/>
          </a:prstGeom>
        </p:spPr>
      </p:pic>
      <p:sp>
        <p:nvSpPr>
          <p:cNvPr id="24" name="T27/figure:1:caption"/>
          <p:cNvSpPr/>
          <p:nvPr/>
        </p:nvSpPr>
        <p:spPr>
          <a:xfrm>
            <a:off x="4400550" y="4124325"/>
            <a:ext cx="32575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示例图 · 效应与区间；合成演示值</a:t>
            </a:r>
            <a:endParaRPr lang="zh-CN" sz="1350" dirty="0"/>
          </a:p>
        </p:txBody>
      </p:sp>
      <p:sp>
        <p:nvSpPr>
          <p:cNvPr id="25" name="T27/figure:2:paper"/>
          <p:cNvSpPr/>
          <p:nvPr/>
        </p:nvSpPr>
        <p:spPr>
          <a:xfrm>
            <a:off x="8210550" y="1828800"/>
            <a:ext cx="3390900" cy="25527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6" name="T27/figure:2:image" descr="T1 · 示例图 · 跨环境矩阵；合成演示值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0550" y="1916430"/>
            <a:ext cx="3390900" cy="2034540"/>
          </a:xfrm>
          <a:prstGeom prst="rect">
            <a:avLst/>
          </a:prstGeom>
        </p:spPr>
      </p:pic>
      <p:sp>
        <p:nvSpPr>
          <p:cNvPr id="27" name="T27/figure:2:caption"/>
          <p:cNvSpPr/>
          <p:nvPr/>
        </p:nvSpPr>
        <p:spPr>
          <a:xfrm>
            <a:off x="8210550" y="4124325"/>
            <a:ext cx="33909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示例图 · 跨环境矩阵；合成演示值</a:t>
            </a:r>
            <a:endParaRPr lang="zh-CN" sz="1350" dirty="0"/>
          </a:p>
        </p:txBody>
      </p:sp>
      <p:sp>
        <p:nvSpPr>
          <p:cNvPr id="28" name="T27/card/region-1/title"/>
          <p:cNvSpPr/>
          <p:nvPr/>
        </p:nvSpPr>
        <p:spPr>
          <a:xfrm>
            <a:off x="590550" y="4648200"/>
            <a:ext cx="325755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6"/>
              </a:lnSpc>
              <a:buNone/>
            </a:pPr>
            <a:r>
              <a:rPr lang="zh-CN" altLang="en-US" sz="1875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证据 A</a:t>
            </a:r>
            <a:endParaRPr lang="zh-CN" sz="1875" dirty="0"/>
          </a:p>
        </p:txBody>
      </p:sp>
      <p:sp>
        <p:nvSpPr>
          <p:cNvPr id="29" name="T27/card/region-1/body"/>
          <p:cNvSpPr/>
          <p:nvPr/>
        </p:nvSpPr>
        <p:spPr>
          <a:xfrm>
            <a:off x="590550" y="5029200"/>
            <a:ext cx="3257550" cy="857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变量、样本和关键趋势</a:t>
            </a:r>
            <a:endParaRPr lang="zh-CN" sz="1725" dirty="0"/>
          </a:p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对应来源面板及读图规则</a:t>
            </a:r>
            <a:endParaRPr lang="zh-CN" sz="1725" dirty="0"/>
          </a:p>
        </p:txBody>
      </p:sp>
      <p:sp>
        <p:nvSpPr>
          <p:cNvPr id="30" name="T27/card/region-2/title"/>
          <p:cNvSpPr/>
          <p:nvPr/>
        </p:nvSpPr>
        <p:spPr>
          <a:xfrm>
            <a:off x="4400550" y="4648200"/>
            <a:ext cx="325755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6"/>
              </a:lnSpc>
              <a:buNone/>
            </a:pPr>
            <a:r>
              <a:rPr lang="zh-CN" altLang="en-US" sz="1875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证据 B</a:t>
            </a:r>
            <a:endParaRPr lang="zh-CN" sz="1875" dirty="0"/>
          </a:p>
        </p:txBody>
      </p:sp>
      <p:sp>
        <p:nvSpPr>
          <p:cNvPr id="31" name="T27/card/region-2/body"/>
          <p:cNvSpPr/>
          <p:nvPr/>
        </p:nvSpPr>
        <p:spPr>
          <a:xfrm>
            <a:off x="4400550" y="5029200"/>
            <a:ext cx="3257550" cy="857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使用不同观测检查同一解释</a:t>
            </a:r>
            <a:endParaRPr lang="zh-CN" sz="1725" dirty="0"/>
          </a:p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保留自身单位与统计口径</a:t>
            </a:r>
            <a:endParaRPr lang="zh-CN" sz="1725" dirty="0"/>
          </a:p>
        </p:txBody>
      </p:sp>
      <p:sp>
        <p:nvSpPr>
          <p:cNvPr id="32" name="T27/card/region-3/title"/>
          <p:cNvSpPr/>
          <p:nvPr/>
        </p:nvSpPr>
        <p:spPr>
          <a:xfrm>
            <a:off x="8210550" y="4648200"/>
            <a:ext cx="339090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6"/>
              </a:lnSpc>
              <a:buNone/>
            </a:pPr>
            <a:r>
              <a:rPr lang="zh-CN" altLang="en-US" sz="1875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证据 C</a:t>
            </a:r>
            <a:endParaRPr lang="zh-CN" sz="1875" dirty="0"/>
          </a:p>
        </p:txBody>
      </p:sp>
      <p:sp>
        <p:nvSpPr>
          <p:cNvPr id="33" name="T27/card/region-3/body"/>
          <p:cNvSpPr/>
          <p:nvPr/>
        </p:nvSpPr>
        <p:spPr>
          <a:xfrm>
            <a:off x="8210550" y="5029200"/>
            <a:ext cx="3390900" cy="857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补充机制或边界证据</a:t>
            </a:r>
            <a:endParaRPr lang="zh-CN" sz="1725" dirty="0"/>
          </a:p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不要把相关性作为因果结论</a:t>
            </a:r>
            <a:endParaRPr lang="zh-CN" sz="1725" dirty="0"/>
          </a:p>
        </p:txBody>
      </p:sp>
      <p:sp>
        <p:nvSpPr>
          <p:cNvPr id="34" name="T27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2026 · 待替换</a:t>
            </a:r>
            <a:endParaRPr lang="zh-CN" sz="11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8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28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 / 06</a:t>
            </a:r>
            <a:endParaRPr lang="zh-CN" sz="1050" dirty="0"/>
          </a:p>
        </p:txBody>
      </p:sp>
      <p:sp>
        <p:nvSpPr>
          <p:cNvPr id="4" name="T28/kicker"/>
          <p:cNvSpPr/>
          <p:nvPr/>
        </p:nvSpPr>
        <p:spPr>
          <a:xfrm>
            <a:off x="457200" y="152400"/>
            <a:ext cx="112776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zh-CN" altLang="en-US" sz="120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结构模板 / 占位说明与合成数据</a:t>
            </a:r>
            <a:endParaRPr lang="zh-CN" sz="1200" dirty="0"/>
          </a:p>
        </p:txBody>
      </p:sp>
      <p:sp>
        <p:nvSpPr>
          <p:cNvPr id="5" name="T28/title"/>
          <p:cNvSpPr/>
          <p:nvPr/>
        </p:nvSpPr>
        <p:spPr>
          <a:xfrm>
            <a:off x="457200" y="381000"/>
            <a:ext cx="112776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6"/>
              </a:lnSpc>
              <a:buNone/>
            </a:pPr>
            <a:r>
              <a:rPr lang="zh-CN" altLang="en-US" sz="255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全图定位与局部放大</a:t>
            </a:r>
            <a:endParaRPr lang="zh-CN" sz="2550" dirty="0"/>
          </a:p>
        </p:txBody>
      </p:sp>
      <p:sp>
        <p:nvSpPr>
          <p:cNvPr id="6" name="T28/header-rule"/>
          <p:cNvSpPr/>
          <p:nvPr/>
        </p:nvSpPr>
        <p:spPr>
          <a:xfrm>
            <a:off x="457200" y="876300"/>
            <a:ext cx="11277600" cy="0"/>
          </a:xfrm>
          <a:prstGeom prst="line">
            <a:avLst/>
          </a:prstGeom>
          <a:noFill/>
          <a:ln w="11430">
            <a:solidFill>
              <a:srgbClr val="173C70"/>
            </a:solidFill>
            <a:prstDash val="solid"/>
          </a:ln>
        </p:spPr>
      </p:sp>
      <p:sp>
        <p:nvSpPr>
          <p:cNvPr id="7" name="T28/figure:0:paper"/>
          <p:cNvSpPr/>
          <p:nvPr/>
        </p:nvSpPr>
        <p:spPr>
          <a:xfrm>
            <a:off x="457200" y="1371600"/>
            <a:ext cx="4267200" cy="3638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T28/figure:0:image" descr="T1 · 示例图 · 多面板科学图；合成演示值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39265"/>
            <a:ext cx="4267200" cy="2560320"/>
          </a:xfrm>
          <a:prstGeom prst="rect">
            <a:avLst/>
          </a:prstGeom>
        </p:spPr>
      </p:pic>
      <p:sp>
        <p:nvSpPr>
          <p:cNvPr id="9" name="T28/figure:0:caption"/>
          <p:cNvSpPr/>
          <p:nvPr/>
        </p:nvSpPr>
        <p:spPr>
          <a:xfrm>
            <a:off x="457200" y="4752975"/>
            <a:ext cx="42672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示例图 · 多面板科学图；合成演示值</a:t>
            </a:r>
            <a:endParaRPr lang="zh-CN" sz="1350" dirty="0"/>
          </a:p>
        </p:txBody>
      </p:sp>
      <p:sp>
        <p:nvSpPr>
          <p:cNvPr id="10" name="T28/figure:1:paper"/>
          <p:cNvSpPr/>
          <p:nvPr/>
        </p:nvSpPr>
        <p:spPr>
          <a:xfrm>
            <a:off x="5029200" y="1371600"/>
            <a:ext cx="6705600" cy="3638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1" name="T28/figure:1:image" descr="T1 · 示例图 · 合成图面板 A 的局部视窗">    </p:cNvPr>
          <p:cNvPicPr>
            <a:picLocks noChangeAspect="1"/>
          </p:cNvPicPr>
          <p:nvPr/>
        </p:nvPicPr>
        <p:blipFill>
          <a:blip r:embed="rId2"/>
          <a:srcRect l="1500" r="49000" t="2500" b="48500"/>
          <a:stretch/>
        </p:blipFill>
        <p:spPr>
          <a:xfrm>
            <a:off x="5607601" y="1371600"/>
            <a:ext cx="5548798" cy="3295650"/>
          </a:xfrm>
          <a:prstGeom prst="rect">
            <a:avLst/>
          </a:prstGeom>
        </p:spPr>
      </p:pic>
      <p:sp>
        <p:nvSpPr>
          <p:cNvPr id="12" name="T28/figure:1:caption"/>
          <p:cNvSpPr/>
          <p:nvPr/>
        </p:nvSpPr>
        <p:spPr>
          <a:xfrm>
            <a:off x="5029200" y="4752975"/>
            <a:ext cx="67056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示例图 · 合成图面板 A 的局部视窗</a:t>
            </a:r>
            <a:endParaRPr lang="zh-CN" sz="1350" dirty="0"/>
          </a:p>
        </p:txBody>
      </p:sp>
      <p:sp>
        <p:nvSpPr>
          <p:cNvPr id="13" name="T28/card/region-1/title"/>
          <p:cNvSpPr/>
          <p:nvPr/>
        </p:nvSpPr>
        <p:spPr>
          <a:xfrm>
            <a:off x="457200" y="5257800"/>
            <a:ext cx="426720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6"/>
              </a:lnSpc>
              <a:buNone/>
            </a:pPr>
            <a:r>
              <a:rPr lang="zh-CN" altLang="en-US" sz="1875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全图定位</a:t>
            </a:r>
            <a:endParaRPr lang="zh-CN" sz="1875" dirty="0"/>
          </a:p>
        </p:txBody>
      </p:sp>
      <p:sp>
        <p:nvSpPr>
          <p:cNvPr id="14" name="T28/card/region-1/body"/>
          <p:cNvSpPr/>
          <p:nvPr/>
        </p:nvSpPr>
        <p:spPr>
          <a:xfrm>
            <a:off x="457200" y="5638800"/>
            <a:ext cx="42672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保留图号和细节区域的位置</a:t>
            </a:r>
            <a:endParaRPr lang="zh-CN" sz="1725" dirty="0"/>
          </a:p>
        </p:txBody>
      </p:sp>
      <p:sp>
        <p:nvSpPr>
          <p:cNvPr id="15" name="T28/card/region-2/title"/>
          <p:cNvSpPr/>
          <p:nvPr/>
        </p:nvSpPr>
        <p:spPr>
          <a:xfrm>
            <a:off x="5029200" y="5257800"/>
            <a:ext cx="670560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6"/>
              </a:lnSpc>
              <a:buNone/>
            </a:pPr>
            <a:r>
              <a:rPr lang="zh-CN" altLang="en-US" sz="1875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局部读数与上下文</a:t>
            </a:r>
            <a:endParaRPr lang="zh-CN" sz="1875" dirty="0"/>
          </a:p>
        </p:txBody>
      </p:sp>
      <p:sp>
        <p:nvSpPr>
          <p:cNvPr id="16" name="T28/card/region-2/body"/>
          <p:cNvSpPr/>
          <p:nvPr/>
        </p:nvSpPr>
        <p:spPr>
          <a:xfrm>
            <a:off x="5029200" y="5638800"/>
            <a:ext cx="67056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放大指定面板，保留坐标、单位和邻近图例</a:t>
            </a:r>
            <a:endParaRPr lang="zh-CN" sz="1725" dirty="0"/>
          </a:p>
        </p:txBody>
      </p:sp>
      <p:sp>
        <p:nvSpPr>
          <p:cNvPr id="17" name="T28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2026 · 待替换</a:t>
            </a:r>
            <a:endParaRPr lang="zh-CN" sz="11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9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29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 / 06</a:t>
            </a:r>
            <a:endParaRPr lang="zh-CN" sz="1050" dirty="0"/>
          </a:p>
        </p:txBody>
      </p:sp>
      <p:sp>
        <p:nvSpPr>
          <p:cNvPr id="4" name="T29/kicker"/>
          <p:cNvSpPr/>
          <p:nvPr/>
        </p:nvSpPr>
        <p:spPr>
          <a:xfrm>
            <a:off x="457200" y="152400"/>
            <a:ext cx="112776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zh-CN" altLang="en-US" sz="120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结构模板 / 占位说明与合成数据</a:t>
            </a:r>
            <a:endParaRPr lang="zh-CN" sz="1200" dirty="0"/>
          </a:p>
        </p:txBody>
      </p:sp>
      <p:sp>
        <p:nvSpPr>
          <p:cNvPr id="5" name="T29/title"/>
          <p:cNvSpPr/>
          <p:nvPr/>
        </p:nvSpPr>
        <p:spPr>
          <a:xfrm>
            <a:off x="457200" y="381000"/>
            <a:ext cx="112776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6"/>
              </a:lnSpc>
              <a:buNone/>
            </a:pPr>
            <a:r>
              <a:rPr lang="zh-CN" altLang="en-US" sz="255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竖向原图与分步解读</a:t>
            </a:r>
            <a:endParaRPr lang="zh-CN" sz="2550" dirty="0"/>
          </a:p>
        </p:txBody>
      </p:sp>
      <p:sp>
        <p:nvSpPr>
          <p:cNvPr id="6" name="T29/header-rule"/>
          <p:cNvSpPr/>
          <p:nvPr/>
        </p:nvSpPr>
        <p:spPr>
          <a:xfrm>
            <a:off x="457200" y="876300"/>
            <a:ext cx="11277600" cy="0"/>
          </a:xfrm>
          <a:prstGeom prst="line">
            <a:avLst/>
          </a:prstGeom>
          <a:noFill/>
          <a:ln w="11430">
            <a:solidFill>
              <a:srgbClr val="173C70"/>
            </a:solidFill>
            <a:prstDash val="solid"/>
          </a:ln>
        </p:spPr>
      </p:sp>
      <p:sp>
        <p:nvSpPr>
          <p:cNvPr id="7" name="T29/panel:0:frame"/>
          <p:cNvSpPr/>
          <p:nvPr/>
        </p:nvSpPr>
        <p:spPr>
          <a:xfrm>
            <a:off x="457200" y="1409700"/>
            <a:ext cx="4514850" cy="4667250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8" name="T29/panel:0:tab"/>
          <p:cNvSpPr/>
          <p:nvPr/>
        </p:nvSpPr>
        <p:spPr>
          <a:xfrm>
            <a:off x="571500" y="1295400"/>
            <a:ext cx="1409700" cy="3238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29/panel:0:title"/>
          <p:cNvSpPr/>
          <p:nvPr/>
        </p:nvSpPr>
        <p:spPr>
          <a:xfrm>
            <a:off x="676275" y="1323975"/>
            <a:ext cx="120015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竖向证据图</a:t>
            </a:r>
            <a:endParaRPr lang="zh-CN" sz="1800" dirty="0"/>
          </a:p>
        </p:txBody>
      </p:sp>
      <p:sp>
        <p:nvSpPr>
          <p:cNvPr id="10" name="T29/figure:0:paper"/>
          <p:cNvSpPr/>
          <p:nvPr/>
        </p:nvSpPr>
        <p:spPr>
          <a:xfrm>
            <a:off x="590550" y="1733550"/>
            <a:ext cx="4248150" cy="419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1" name="T29/figure:0:image" descr="T1 · 示例图 · 竖向面板示例；合成演示值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6632" y="1733550"/>
            <a:ext cx="2315986" cy="3848100"/>
          </a:xfrm>
          <a:prstGeom prst="rect">
            <a:avLst/>
          </a:prstGeom>
        </p:spPr>
      </p:pic>
      <p:sp>
        <p:nvSpPr>
          <p:cNvPr id="12" name="T29/figure:0:caption"/>
          <p:cNvSpPr/>
          <p:nvPr/>
        </p:nvSpPr>
        <p:spPr>
          <a:xfrm>
            <a:off x="590550" y="5667375"/>
            <a:ext cx="42481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示例图 · 竖向面板示例；合成演示值</a:t>
            </a:r>
            <a:endParaRPr lang="zh-CN" sz="1350" dirty="0"/>
          </a:p>
        </p:txBody>
      </p:sp>
      <p:sp>
        <p:nvSpPr>
          <p:cNvPr id="13" name="T29/card/region-1/base-rule"/>
          <p:cNvSpPr/>
          <p:nvPr/>
        </p:nvSpPr>
        <p:spPr>
          <a:xfrm>
            <a:off x="5314950" y="2705100"/>
            <a:ext cx="641985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14" name="T29/card/region-1/side-mark"/>
          <p:cNvSpPr/>
          <p:nvPr/>
        </p:nvSpPr>
        <p:spPr>
          <a:xfrm>
            <a:off x="5314950" y="1352550"/>
            <a:ext cx="47625" cy="295275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29/card/region-1/title"/>
          <p:cNvSpPr/>
          <p:nvPr/>
        </p:nvSpPr>
        <p:spPr>
          <a:xfrm>
            <a:off x="5467350" y="1352550"/>
            <a:ext cx="626745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zh-CN" altLang="en-US" sz="180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阅读顺序</a:t>
            </a:r>
            <a:endParaRPr lang="zh-CN" sz="1800" dirty="0"/>
          </a:p>
        </p:txBody>
      </p:sp>
      <p:sp>
        <p:nvSpPr>
          <p:cNvPr id="16" name="T29/card/region-1/body"/>
          <p:cNvSpPr/>
          <p:nvPr/>
        </p:nvSpPr>
        <p:spPr>
          <a:xfrm>
            <a:off x="5467350" y="1771650"/>
            <a:ext cx="6267450" cy="838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按面板和变量解释竖向图</a:t>
            </a:r>
            <a:endParaRPr lang="zh-CN" sz="1725" dirty="0"/>
          </a:p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先识别输入、过程与输出</a:t>
            </a:r>
            <a:endParaRPr lang="zh-CN" sz="1725" dirty="0"/>
          </a:p>
        </p:txBody>
      </p:sp>
      <p:sp>
        <p:nvSpPr>
          <p:cNvPr id="17" name="T29/card/region-2/frame"/>
          <p:cNvSpPr/>
          <p:nvPr/>
        </p:nvSpPr>
        <p:spPr>
          <a:xfrm>
            <a:off x="5314950" y="2933700"/>
            <a:ext cx="6419850" cy="1371600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18" name="T29/card/region-2/heading-fill"/>
          <p:cNvSpPr/>
          <p:nvPr/>
        </p:nvSpPr>
        <p:spPr>
          <a:xfrm>
            <a:off x="5324475" y="2943225"/>
            <a:ext cx="6400800" cy="371475"/>
          </a:xfrm>
          <a:prstGeom prst="rect">
            <a:avLst/>
          </a:prstGeom>
          <a:solidFill>
            <a:srgbClr val="EEF3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29/card/region-2/heading-rule"/>
          <p:cNvSpPr/>
          <p:nvPr/>
        </p:nvSpPr>
        <p:spPr>
          <a:xfrm>
            <a:off x="5314950" y="3314700"/>
            <a:ext cx="641985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20" name="T29/card/region-2/title"/>
          <p:cNvSpPr/>
          <p:nvPr/>
        </p:nvSpPr>
        <p:spPr>
          <a:xfrm>
            <a:off x="5438775" y="2990850"/>
            <a:ext cx="617220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zh-CN" altLang="en-US" sz="180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关键证据</a:t>
            </a:r>
            <a:endParaRPr lang="zh-CN" sz="1800" dirty="0"/>
          </a:p>
        </p:txBody>
      </p:sp>
      <p:sp>
        <p:nvSpPr>
          <p:cNvPr id="21" name="T29/card/region-2/body"/>
          <p:cNvSpPr/>
          <p:nvPr/>
        </p:nvSpPr>
        <p:spPr>
          <a:xfrm>
            <a:off x="5448300" y="3429000"/>
            <a:ext cx="6153150" cy="781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指出哪个面板支持具体论点</a:t>
            </a:r>
            <a:endParaRPr lang="zh-CN" sz="1725" dirty="0"/>
          </a:p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把精确读数与正文或源数据对照</a:t>
            </a:r>
            <a:endParaRPr lang="zh-CN" sz="1725" dirty="0"/>
          </a:p>
        </p:txBody>
      </p:sp>
      <p:sp>
        <p:nvSpPr>
          <p:cNvPr id="22" name="T29/card/region-3/frame"/>
          <p:cNvSpPr/>
          <p:nvPr/>
        </p:nvSpPr>
        <p:spPr>
          <a:xfrm>
            <a:off x="5314950" y="4667250"/>
            <a:ext cx="6419850" cy="1352550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23" name="T29/card/region-3/tab"/>
          <p:cNvSpPr/>
          <p:nvPr/>
        </p:nvSpPr>
        <p:spPr>
          <a:xfrm>
            <a:off x="5429250" y="4552950"/>
            <a:ext cx="1409700" cy="320040"/>
          </a:xfrm>
          <a:prstGeom prst="rect">
            <a:avLst/>
          </a:prstGeom>
          <a:solidFill>
            <a:srgbClr val="90354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29/card/region-3/title"/>
          <p:cNvSpPr/>
          <p:nvPr/>
        </p:nvSpPr>
        <p:spPr>
          <a:xfrm>
            <a:off x="5534025" y="4581525"/>
            <a:ext cx="1200150" cy="262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局限与外推</a:t>
            </a:r>
            <a:endParaRPr lang="zh-CN" sz="1800" dirty="0"/>
          </a:p>
        </p:txBody>
      </p:sp>
      <p:sp>
        <p:nvSpPr>
          <p:cNvPr id="25" name="T29/card/region-3/body"/>
          <p:cNvSpPr/>
          <p:nvPr/>
        </p:nvSpPr>
        <p:spPr>
          <a:xfrm>
            <a:off x="5448300" y="5015865"/>
            <a:ext cx="6153150" cy="908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保留图中未覆盖的条件</a:t>
            </a:r>
            <a:endParaRPr lang="zh-CN" sz="1725" dirty="0"/>
          </a:p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放大原图不改变其证据范围</a:t>
            </a:r>
            <a:endParaRPr lang="zh-CN" sz="1725" dirty="0"/>
          </a:p>
        </p:txBody>
      </p:sp>
      <p:sp>
        <p:nvSpPr>
          <p:cNvPr id="26" name="T29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2026 · 待替换</a:t>
            </a:r>
            <a:endParaRPr lang="zh-CN" sz="11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30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30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 / 06</a:t>
            </a:r>
            <a:endParaRPr lang="zh-CN" sz="1050" dirty="0"/>
          </a:p>
        </p:txBody>
      </p:sp>
      <p:sp>
        <p:nvSpPr>
          <p:cNvPr id="4" name="T30/kicker"/>
          <p:cNvSpPr/>
          <p:nvPr/>
        </p:nvSpPr>
        <p:spPr>
          <a:xfrm>
            <a:off x="457200" y="152400"/>
            <a:ext cx="112776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zh-CN" altLang="en-US" sz="120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结构模板 / 占位说明与合成数据</a:t>
            </a:r>
            <a:endParaRPr lang="zh-CN" sz="1200" dirty="0"/>
          </a:p>
        </p:txBody>
      </p:sp>
      <p:sp>
        <p:nvSpPr>
          <p:cNvPr id="5" name="T30/title"/>
          <p:cNvSpPr/>
          <p:nvPr/>
        </p:nvSpPr>
        <p:spPr>
          <a:xfrm>
            <a:off x="457200" y="381000"/>
            <a:ext cx="112776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6"/>
              </a:lnSpc>
              <a:buNone/>
            </a:pPr>
            <a:r>
              <a:rPr lang="zh-CN" altLang="en-US" sz="255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图例变量与结果判读</a:t>
            </a:r>
            <a:endParaRPr lang="zh-CN" sz="2550" dirty="0"/>
          </a:p>
        </p:txBody>
      </p:sp>
      <p:sp>
        <p:nvSpPr>
          <p:cNvPr id="6" name="T30/header-rule"/>
          <p:cNvSpPr/>
          <p:nvPr/>
        </p:nvSpPr>
        <p:spPr>
          <a:xfrm>
            <a:off x="457200" y="876300"/>
            <a:ext cx="11277600" cy="0"/>
          </a:xfrm>
          <a:prstGeom prst="line">
            <a:avLst/>
          </a:prstGeom>
          <a:noFill/>
          <a:ln w="11430">
            <a:solidFill>
              <a:srgbClr val="173C70"/>
            </a:solidFill>
            <a:prstDash val="solid"/>
          </a:ln>
        </p:spPr>
      </p:sp>
      <p:sp>
        <p:nvSpPr>
          <p:cNvPr id="7" name="T30/panel:0:frame"/>
          <p:cNvSpPr/>
          <p:nvPr/>
        </p:nvSpPr>
        <p:spPr>
          <a:xfrm>
            <a:off x="4629150" y="1352550"/>
            <a:ext cx="7105650" cy="4629150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8" name="T30/panel:0:heading-fill"/>
          <p:cNvSpPr/>
          <p:nvPr/>
        </p:nvSpPr>
        <p:spPr>
          <a:xfrm>
            <a:off x="4638675" y="1362075"/>
            <a:ext cx="7086600" cy="381000"/>
          </a:xfrm>
          <a:prstGeom prst="rect">
            <a:avLst/>
          </a:prstGeom>
          <a:solidFill>
            <a:srgbClr val="EEF3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30/panel:0:heading-rule"/>
          <p:cNvSpPr/>
          <p:nvPr/>
        </p:nvSpPr>
        <p:spPr>
          <a:xfrm>
            <a:off x="4629150" y="1743075"/>
            <a:ext cx="710565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10" name="T30/panel:0:title"/>
          <p:cNvSpPr/>
          <p:nvPr/>
        </p:nvSpPr>
        <p:spPr>
          <a:xfrm>
            <a:off x="4752975" y="1409700"/>
            <a:ext cx="685800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zh-CN" altLang="en-US" sz="180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图像与图例</a:t>
            </a:r>
            <a:endParaRPr lang="zh-CN" sz="1800" dirty="0"/>
          </a:p>
        </p:txBody>
      </p:sp>
      <p:sp>
        <p:nvSpPr>
          <p:cNvPr id="11" name="T30/figure:0:paper"/>
          <p:cNvSpPr/>
          <p:nvPr/>
        </p:nvSpPr>
        <p:spPr>
          <a:xfrm>
            <a:off x="4762500" y="1847850"/>
            <a:ext cx="6838950" cy="39814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T30/figure:0:image" descr="T1 · 示例图 · 响应曲线；合成演示值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9850" y="1847850"/>
            <a:ext cx="6064250" cy="3638550"/>
          </a:xfrm>
          <a:prstGeom prst="rect">
            <a:avLst/>
          </a:prstGeom>
        </p:spPr>
      </p:pic>
      <p:sp>
        <p:nvSpPr>
          <p:cNvPr id="13" name="T30/figure:0:caption"/>
          <p:cNvSpPr/>
          <p:nvPr/>
        </p:nvSpPr>
        <p:spPr>
          <a:xfrm>
            <a:off x="4762500" y="5572125"/>
            <a:ext cx="68389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示例图 · 响应曲线；合成演示值</a:t>
            </a:r>
            <a:endParaRPr lang="zh-CN" sz="1350" dirty="0"/>
          </a:p>
        </p:txBody>
      </p:sp>
      <p:sp>
        <p:nvSpPr>
          <p:cNvPr id="14" name="T30/card/region-1/base-rule"/>
          <p:cNvSpPr/>
          <p:nvPr/>
        </p:nvSpPr>
        <p:spPr>
          <a:xfrm>
            <a:off x="457200" y="2743200"/>
            <a:ext cx="382905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15" name="T30/card/region-1/side-mark"/>
          <p:cNvSpPr/>
          <p:nvPr/>
        </p:nvSpPr>
        <p:spPr>
          <a:xfrm>
            <a:off x="457200" y="1409700"/>
            <a:ext cx="47625" cy="295275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30/card/region-1/title"/>
          <p:cNvSpPr/>
          <p:nvPr/>
        </p:nvSpPr>
        <p:spPr>
          <a:xfrm>
            <a:off x="609600" y="1409700"/>
            <a:ext cx="367665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zh-CN" altLang="en-US" sz="180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坐标与变量</a:t>
            </a:r>
            <a:endParaRPr lang="zh-CN" sz="1800" dirty="0"/>
          </a:p>
        </p:txBody>
      </p:sp>
      <p:sp>
        <p:nvSpPr>
          <p:cNvPr id="17" name="T30/card/region-1/body"/>
          <p:cNvSpPr/>
          <p:nvPr/>
        </p:nvSpPr>
        <p:spPr>
          <a:xfrm>
            <a:off x="609600" y="1828800"/>
            <a:ext cx="3676650" cy="819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解释横纵轴、量纲与归一化</a:t>
            </a:r>
            <a:endParaRPr lang="zh-CN" sz="1725" dirty="0"/>
          </a:p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注明对数刻度或截断范围</a:t>
            </a:r>
            <a:endParaRPr lang="zh-CN" sz="1725" dirty="0"/>
          </a:p>
        </p:txBody>
      </p:sp>
      <p:sp>
        <p:nvSpPr>
          <p:cNvPr id="18" name="T30/card/region-2/heading-rule"/>
          <p:cNvSpPr/>
          <p:nvPr/>
        </p:nvSpPr>
        <p:spPr>
          <a:xfrm>
            <a:off x="457200" y="3371850"/>
            <a:ext cx="382905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19" name="T30/card/region-2/heading-mark"/>
          <p:cNvSpPr/>
          <p:nvPr/>
        </p:nvSpPr>
        <p:spPr>
          <a:xfrm>
            <a:off x="457200" y="3371850"/>
            <a:ext cx="342900" cy="0"/>
          </a:xfrm>
          <a:prstGeom prst="line">
            <a:avLst/>
          </a:prstGeom>
          <a:noFill/>
          <a:ln w="17145">
            <a:solidFill>
              <a:srgbClr val="173C70"/>
            </a:solidFill>
            <a:prstDash val="solid"/>
          </a:ln>
        </p:spPr>
      </p:sp>
      <p:sp>
        <p:nvSpPr>
          <p:cNvPr id="20" name="T30/card/region-2/title"/>
          <p:cNvSpPr/>
          <p:nvPr/>
        </p:nvSpPr>
        <p:spPr>
          <a:xfrm>
            <a:off x="457200" y="3028950"/>
            <a:ext cx="382905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6"/>
              </a:lnSpc>
              <a:buNone/>
            </a:pPr>
            <a:r>
              <a:rPr lang="zh-CN" altLang="en-US" sz="1875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颜色与处理</a:t>
            </a:r>
            <a:endParaRPr lang="zh-CN" sz="1875" dirty="0"/>
          </a:p>
        </p:txBody>
      </p:sp>
      <p:sp>
        <p:nvSpPr>
          <p:cNvPr id="21" name="T30/card/region-2/body"/>
          <p:cNvSpPr/>
          <p:nvPr/>
        </p:nvSpPr>
        <p:spPr>
          <a:xfrm>
            <a:off x="457200" y="3505200"/>
            <a:ext cx="3829050" cy="838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颜色只编码条件或类别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线型和符号也应能区分</a:t>
            </a:r>
            <a:endParaRPr lang="zh-CN" sz="1800" dirty="0"/>
          </a:p>
        </p:txBody>
      </p:sp>
      <p:sp>
        <p:nvSpPr>
          <p:cNvPr id="22" name="T30/card/region-3/title"/>
          <p:cNvSpPr/>
          <p:nvPr/>
        </p:nvSpPr>
        <p:spPr>
          <a:xfrm>
            <a:off x="457200" y="4648200"/>
            <a:ext cx="382905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6"/>
              </a:lnSpc>
              <a:buNone/>
            </a:pPr>
            <a:r>
              <a:rPr lang="zh-CN" altLang="en-US" sz="1875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判读规则</a:t>
            </a:r>
            <a:endParaRPr lang="zh-CN" sz="1875" dirty="0"/>
          </a:p>
        </p:txBody>
      </p:sp>
      <p:sp>
        <p:nvSpPr>
          <p:cNvPr id="23" name="T30/card/region-3/body"/>
          <p:cNvSpPr/>
          <p:nvPr/>
        </p:nvSpPr>
        <p:spPr>
          <a:xfrm>
            <a:off x="457200" y="5095875"/>
            <a:ext cx="3829050" cy="866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说明点、带和误差条代表什么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依据实验设计解释比较关系</a:t>
            </a:r>
            <a:endParaRPr lang="zh-CN" sz="1800" dirty="0"/>
          </a:p>
        </p:txBody>
      </p:sp>
      <p:sp>
        <p:nvSpPr>
          <p:cNvPr id="24" name="T30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2026 · 待替换</a:t>
            </a:r>
            <a:endParaRPr lang="zh-CN" sz="11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原图解读学术模板</dc:title>
  <dc:subject>原创学术版式、结构化填充指引与合成科学图</dc:subject>
  <dc:creator>DSH Academic PPT</dc:creator>
  <cp:lastModifiedBy>DSH Academic PPT</cp:lastModifiedBy>
  <cp:revision>1</cp:revision>
  <dcterms:created xsi:type="dcterms:W3CDTF">2026-10-20T04:29:15Z</dcterms:created>
  <dcterms:modified xsi:type="dcterms:W3CDTF">2026-10-20T04:29:15Z</dcterms:modified>
</cp:coreProperties>
</file>