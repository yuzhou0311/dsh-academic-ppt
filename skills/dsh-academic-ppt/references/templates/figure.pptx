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figure-wide-annotated。完整宽幅原图置于上方，下面按图中元素组织读图说明。
全部文本为填写指引，图表值是合成演示值，不是任何研究结果。使用前替换论文、数据、原图与来源。
内容职责：图例与处理；主要趋势；必要限定。
建议讲述时间只是排练起点，按实际内容调整。
原图来源：T1
示例图
宽幅面板示例；合成演示值
https://github.com/YuZhou0311/dsh-academic-ppt
原创排版教学示例 v0.3.0
MIT; all plotted values are synthetic
完整原图，无裁切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figure-two-panels。两面板共享高度，每幅图的解释直接放在对应面板下面。
全部文本为填写指引，图表值是合成演示值，不是任何研究结果。使用前替换论文、数据、原图与来源。
内容职责：面板 A；面板 B。
建议讲述时间只是排练起点，按实际内容调整。
原图来源：T1
示例图
响应曲线；合成演示值
https://github.com/YuZhou0311/dsh-academic-ppt
原创排版教学示例 v0.3.0
MIT; all plotted values are synthetic
完整原图，无裁切
原图来源：T1
示例图
效应与区间；合成演示值
https://github.com/YuZhou0311/dsh-academic-ppt
原创排版教学示例 v0.3.0
MIT; all plotted values are synthetic
完整原图，无裁切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figure-three-panels。三图解释不同证据环节，结论限定沿底部展开。
全部文本为填写指引，图表值是合成演示值，不是任何研究结果。使用前替换论文、数据、原图与来源。
内容职责：证据 A；证据 B；证据 C。
建议讲述时间只是排练起点，按实际内容调整。
原图来源：T1
示例图
响应曲线；合成演示值
https://github.com/YuZhou0311/dsh-academic-ppt
原创排版教学示例 v0.3.0
MIT; all plotted values are synthetic
完整原图，无裁切
原图来源：T1
示例图
效应与区间；合成演示值
https://github.com/YuZhou0311/dsh-academic-ppt
原创排版教学示例 v0.3.0
MIT; all plotted values are synthetic
完整原图，无裁切
原图来源：T1
示例图
跨环境矩阵；合成演示值
https://github.com/YuZhou0311/dsh-academic-ppt
原创排版教学示例 v0.3.0
MIT; all plotted values are synthetic
完整原图，无裁切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figure-detail-window。主面板占左侧主要面积，右上展开补充面板、右下解释两者关系；两图都承担可读的证据任务。
全部文本为填写指引，图表值是合成演示值，不是任何研究结果。使用前替换论文、数据、原图与来源。
内容职责：主面板的读图结论；补充证据与限定。
建议讲述时间只是排练起点，按实际内容调整。
原图来源：T1
示例图
合成图面板 A 的局部视窗
https://github.com/YuZhou0311/dsh-academic-ppt
原创排版教学示例 v0.3.0
MIT; all plotted values are synthetic
视窗 x=.015,y=.025,w=.495,h=.49；包含面板标题、坐标、图例及单位，原始图像完整保留
原图来源：T1
示例图
效应与区间；合成演示值
https://github.com/YuZhou0311/dsh-academic-ppt
原创排版教学示例 v0.3.0
MIT; all plotted values are synthetic
完整原图，无裁切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figure-portrait-reading。从竖长多面板原图选择当前论点所需的独立面板，占主要区域；保留轴与图例，其他面板按论证另页展开。
全部文本为填写指引，图表值是合成演示值，不是任何研究结果。使用前替换论文、数据、原图与来源。
内容职责：所选面板的范围；关键证据；局限与外推。
建议讲述时间只是排练起点，按实际内容调整。
原图来源：T1
示例图
竖长合成图中的面板 A
https://github.com/YuZhou0311/dsh-academic-ppt
原创排版教学示例 v0.3.0
MIT; all plotted values are synthetic
视窗 x=.035,y=.008,w=.95,h=.315；保留顶部面板的完整标题、两条件图例、坐标及单位。未把总图缩略图当作证据。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figure-legend-first。原图在右，左列明确变量、颜色和判读规则。
全部文本为填写指引，图表值是合成演示值，不是任何研究结果。使用前替换论文、数据、原图与来源。
内容职责：坐标与变量；颜色与处理；判读规则。
建议讲述时间只是排练起点，按实际内容调整。
原图来源：T1
示例图
响应曲线；合成演示值
https://github.com/YuZhou0311/dsh-academic-ppt
原创排版教学示例 v0.3.0
MIT; all plotted values are synthetic
完整原图，无裁切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5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5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25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宽幅原图与读图说明</a:t>
            </a:r>
            <a:endParaRPr lang="zh-CN" sz="3000" dirty="0"/>
          </a:p>
        </p:txBody>
      </p:sp>
      <p:sp>
        <p:nvSpPr>
          <p:cNvPr id="5" name="T25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25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25/panel:0:frame"/>
          <p:cNvSpPr/>
          <p:nvPr/>
        </p:nvSpPr>
        <p:spPr>
          <a:xfrm>
            <a:off x="457200" y="1202341"/>
            <a:ext cx="11277600" cy="3446621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5/panel:0:tab"/>
          <p:cNvSpPr/>
          <p:nvPr/>
        </p:nvSpPr>
        <p:spPr>
          <a:xfrm>
            <a:off x="571500" y="1088041"/>
            <a:ext cx="2343150" cy="342900"/>
          </a:xfrm>
          <a:prstGeom prst="rect">
            <a:avLst/>
          </a:prstGeom>
          <a:solidFill>
            <a:srgbClr val="146C6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5/panel:0:title"/>
          <p:cNvSpPr/>
          <p:nvPr/>
        </p:nvSpPr>
        <p:spPr>
          <a:xfrm>
            <a:off x="676275" y="1116616"/>
            <a:ext cx="2133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证据图与面板顺序</a:t>
            </a:r>
            <a:endParaRPr lang="zh-CN" sz="1950" dirty="0"/>
          </a:p>
        </p:txBody>
      </p:sp>
      <p:sp>
        <p:nvSpPr>
          <p:cNvPr id="10" name="T25/figure:0:paper"/>
          <p:cNvSpPr/>
          <p:nvPr/>
        </p:nvSpPr>
        <p:spPr>
          <a:xfrm>
            <a:off x="1048512" y="1562100"/>
            <a:ext cx="10094976" cy="2566607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1" name="T25/figure:0:image" descr="A/B 为条件；所有数值为合成示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087" y="1590675"/>
            <a:ext cx="10037826" cy="2509457"/>
          </a:xfrm>
          <a:prstGeom prst="rect">
            <a:avLst/>
          </a:prstGeom>
        </p:spPr>
      </p:pic>
      <p:sp>
        <p:nvSpPr>
          <p:cNvPr id="12" name="T25/figure:0:caption"/>
          <p:cNvSpPr/>
          <p:nvPr/>
        </p:nvSpPr>
        <p:spPr>
          <a:xfrm>
            <a:off x="590550" y="4233482"/>
            <a:ext cx="11010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A/B 为条件；所有数值为合成示例</a:t>
            </a:r>
            <a:endParaRPr lang="zh-CN" sz="1350" dirty="0"/>
          </a:p>
        </p:txBody>
      </p:sp>
      <p:sp>
        <p:nvSpPr>
          <p:cNvPr id="13" name="T25/card/region-1/base-rule"/>
          <p:cNvSpPr/>
          <p:nvPr/>
        </p:nvSpPr>
        <p:spPr>
          <a:xfrm>
            <a:off x="457200" y="6073331"/>
            <a:ext cx="34671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4" name="T25/card/region-1/side-mark"/>
          <p:cNvSpPr/>
          <p:nvPr/>
        </p:nvSpPr>
        <p:spPr>
          <a:xfrm>
            <a:off x="457200" y="4846034"/>
            <a:ext cx="47625" cy="295275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5/card/region-1/title"/>
          <p:cNvSpPr/>
          <p:nvPr/>
        </p:nvSpPr>
        <p:spPr>
          <a:xfrm>
            <a:off x="609600" y="4846034"/>
            <a:ext cx="3314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图例与处理</a:t>
            </a:r>
            <a:endParaRPr lang="zh-CN" sz="1950" dirty="0"/>
          </a:p>
        </p:txBody>
      </p:sp>
      <p:sp>
        <p:nvSpPr>
          <p:cNvPr id="16" name="T25/card/region-1/body"/>
          <p:cNvSpPr/>
          <p:nvPr/>
        </p:nvSpPr>
        <p:spPr>
          <a:xfrm>
            <a:off x="609600" y="5265134"/>
            <a:ext cx="3314700" cy="71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解释颜色、线型与实验条件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读图前先明确比较对象</a:t>
            </a:r>
            <a:endParaRPr lang="zh-CN" sz="1800" dirty="0"/>
          </a:p>
        </p:txBody>
      </p:sp>
      <p:sp>
        <p:nvSpPr>
          <p:cNvPr id="17" name="T25/card/region-2/heading-rule"/>
          <p:cNvSpPr/>
          <p:nvPr/>
        </p:nvSpPr>
        <p:spPr>
          <a:xfrm>
            <a:off x="4210050" y="5188934"/>
            <a:ext cx="3467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5/card/region-2/heading-mark"/>
          <p:cNvSpPr/>
          <p:nvPr/>
        </p:nvSpPr>
        <p:spPr>
          <a:xfrm>
            <a:off x="4210050" y="5188934"/>
            <a:ext cx="342900" cy="0"/>
          </a:xfrm>
          <a:prstGeom prst="line">
            <a:avLst/>
          </a:prstGeom>
          <a:noFill/>
          <a:ln w="17145">
            <a:solidFill>
              <a:srgbClr val="146C63"/>
            </a:solidFill>
            <a:prstDash val="solid"/>
          </a:ln>
        </p:spPr>
      </p:sp>
      <p:sp>
        <p:nvSpPr>
          <p:cNvPr id="19" name="T25/card/region-2/title"/>
          <p:cNvSpPr/>
          <p:nvPr/>
        </p:nvSpPr>
        <p:spPr>
          <a:xfrm>
            <a:off x="4210050" y="4846034"/>
            <a:ext cx="34671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主要趋势</a:t>
            </a:r>
            <a:endParaRPr lang="zh-CN" sz="1950" dirty="0"/>
          </a:p>
        </p:txBody>
      </p:sp>
      <p:sp>
        <p:nvSpPr>
          <p:cNvPr id="20" name="T25/card/region-2/body"/>
          <p:cNvSpPr/>
          <p:nvPr/>
        </p:nvSpPr>
        <p:spPr>
          <a:xfrm>
            <a:off x="4210050" y="5322284"/>
            <a:ext cx="3467100" cy="71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指出具体面板和变化方向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图注与原始数据核对数值</a:t>
            </a:r>
            <a:endParaRPr lang="zh-CN" sz="1800" dirty="0"/>
          </a:p>
        </p:txBody>
      </p:sp>
      <p:sp>
        <p:nvSpPr>
          <p:cNvPr id="21" name="T25/card/region-3/frame"/>
          <p:cNvSpPr/>
          <p:nvPr/>
        </p:nvSpPr>
        <p:spPr>
          <a:xfrm>
            <a:off x="7962900" y="4941284"/>
            <a:ext cx="3771900" cy="1132046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2" name="T25/card/region-3/tab"/>
          <p:cNvSpPr/>
          <p:nvPr/>
        </p:nvSpPr>
        <p:spPr>
          <a:xfrm>
            <a:off x="8077200" y="4826984"/>
            <a:ext cx="1257300" cy="342900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25/card/region-3/title"/>
          <p:cNvSpPr/>
          <p:nvPr/>
        </p:nvSpPr>
        <p:spPr>
          <a:xfrm>
            <a:off x="8181975" y="4855559"/>
            <a:ext cx="1047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必要限定</a:t>
            </a:r>
            <a:endParaRPr lang="zh-CN" sz="1950" dirty="0"/>
          </a:p>
        </p:txBody>
      </p:sp>
      <p:sp>
        <p:nvSpPr>
          <p:cNvPr id="24" name="T25/card/region-3/body"/>
          <p:cNvSpPr/>
          <p:nvPr/>
        </p:nvSpPr>
        <p:spPr>
          <a:xfrm>
            <a:off x="8096250" y="5312759"/>
            <a:ext cx="3505200" cy="665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保留样本、误差与实验范围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不从示意图推导真实研究结论</a:t>
            </a:r>
            <a:endParaRPr lang="zh-CN" sz="1800" dirty="0"/>
          </a:p>
        </p:txBody>
      </p:sp>
      <p:sp>
        <p:nvSpPr>
          <p:cNvPr id="25" name="T25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6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6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26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双面板对照解读</a:t>
            </a:r>
            <a:endParaRPr lang="zh-CN" sz="3000" dirty="0"/>
          </a:p>
        </p:txBody>
      </p:sp>
      <p:sp>
        <p:nvSpPr>
          <p:cNvPr id="5" name="T26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26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26/panel:0:frame"/>
          <p:cNvSpPr/>
          <p:nvPr/>
        </p:nvSpPr>
        <p:spPr>
          <a:xfrm>
            <a:off x="457200" y="1127570"/>
            <a:ext cx="5467350" cy="496547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6/panel:0:heading-fill"/>
          <p:cNvSpPr/>
          <p:nvPr/>
        </p:nvSpPr>
        <p:spPr>
          <a:xfrm>
            <a:off x="466725" y="1137095"/>
            <a:ext cx="544830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6/panel:0:heading-rule"/>
          <p:cNvSpPr/>
          <p:nvPr/>
        </p:nvSpPr>
        <p:spPr>
          <a:xfrm>
            <a:off x="457200" y="1518095"/>
            <a:ext cx="54673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6/panel:0:title"/>
          <p:cNvSpPr/>
          <p:nvPr/>
        </p:nvSpPr>
        <p:spPr>
          <a:xfrm>
            <a:off x="581025" y="1175195"/>
            <a:ext cx="52197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面板及对应解读</a:t>
            </a:r>
            <a:endParaRPr lang="zh-CN" sz="1950" dirty="0"/>
          </a:p>
        </p:txBody>
      </p:sp>
      <p:sp>
        <p:nvSpPr>
          <p:cNvPr id="11" name="T26/panel:1:frame"/>
          <p:cNvSpPr/>
          <p:nvPr/>
        </p:nvSpPr>
        <p:spPr>
          <a:xfrm>
            <a:off x="6248400" y="1127570"/>
            <a:ext cx="5486400" cy="496547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6/panel:1:heading-fill"/>
          <p:cNvSpPr/>
          <p:nvPr/>
        </p:nvSpPr>
        <p:spPr>
          <a:xfrm>
            <a:off x="6257925" y="1137095"/>
            <a:ext cx="546735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6/panel:1:heading-rule"/>
          <p:cNvSpPr/>
          <p:nvPr/>
        </p:nvSpPr>
        <p:spPr>
          <a:xfrm>
            <a:off x="6248400" y="1518095"/>
            <a:ext cx="54864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6/panel:1:title"/>
          <p:cNvSpPr/>
          <p:nvPr/>
        </p:nvSpPr>
        <p:spPr>
          <a:xfrm>
            <a:off x="6372225" y="1175195"/>
            <a:ext cx="5238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  面板及对应解读</a:t>
            </a:r>
            <a:endParaRPr lang="zh-CN" sz="1950" dirty="0"/>
          </a:p>
        </p:txBody>
      </p:sp>
      <p:sp>
        <p:nvSpPr>
          <p:cNvPr id="15" name="T26/figure:0:paper"/>
          <p:cNvSpPr/>
          <p:nvPr/>
        </p:nvSpPr>
        <p:spPr>
          <a:xfrm>
            <a:off x="1217788" y="1641253"/>
            <a:ext cx="3946173" cy="2922746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6" name="T26/figure:0:image" descr="A/B 为条件；合成数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6363" y="1669828"/>
            <a:ext cx="3889023" cy="2865596"/>
          </a:xfrm>
          <a:prstGeom prst="rect">
            <a:avLst/>
          </a:prstGeom>
        </p:spPr>
      </p:pic>
      <p:sp>
        <p:nvSpPr>
          <p:cNvPr id="17" name="T26/figure:0:caption"/>
          <p:cNvSpPr/>
          <p:nvPr/>
        </p:nvSpPr>
        <p:spPr>
          <a:xfrm>
            <a:off x="590550" y="4668774"/>
            <a:ext cx="52006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A/B 为条件；合成数据</a:t>
            </a:r>
            <a:endParaRPr lang="zh-CN" sz="1350" dirty="0"/>
          </a:p>
        </p:txBody>
      </p:sp>
      <p:sp>
        <p:nvSpPr>
          <p:cNvPr id="18" name="T26/figure:1:paper"/>
          <p:cNvSpPr/>
          <p:nvPr/>
        </p:nvSpPr>
        <p:spPr>
          <a:xfrm>
            <a:off x="7018513" y="1641253"/>
            <a:ext cx="3946173" cy="2922746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9" name="T26/figure:1:image" descr="Ref. 为参考，V1–V3 为变体；合成数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088" y="1669828"/>
            <a:ext cx="3889023" cy="2865596"/>
          </a:xfrm>
          <a:prstGeom prst="rect">
            <a:avLst/>
          </a:prstGeom>
        </p:spPr>
      </p:pic>
      <p:sp>
        <p:nvSpPr>
          <p:cNvPr id="20" name="T26/figure:1:caption"/>
          <p:cNvSpPr/>
          <p:nvPr/>
        </p:nvSpPr>
        <p:spPr>
          <a:xfrm>
            <a:off x="6381750" y="4668774"/>
            <a:ext cx="5219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Ref. 为参考，V1–V3 为变体；合成数据</a:t>
            </a:r>
            <a:endParaRPr lang="zh-CN" sz="1350" dirty="0"/>
          </a:p>
        </p:txBody>
      </p:sp>
      <p:sp>
        <p:nvSpPr>
          <p:cNvPr id="21" name="T26/card/region-1/title"/>
          <p:cNvSpPr/>
          <p:nvPr/>
        </p:nvSpPr>
        <p:spPr>
          <a:xfrm>
            <a:off x="590550" y="5103209"/>
            <a:ext cx="52006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A</a:t>
            </a:r>
            <a:endParaRPr lang="zh-CN" sz="1950" dirty="0"/>
          </a:p>
        </p:txBody>
      </p:sp>
      <p:sp>
        <p:nvSpPr>
          <p:cNvPr id="22" name="T26/card/region-1/body"/>
          <p:cNvSpPr/>
          <p:nvPr/>
        </p:nvSpPr>
        <p:spPr>
          <a:xfrm>
            <a:off x="590550" y="5484209"/>
            <a:ext cx="5200650" cy="511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解释该面板的变量和处理</a:t>
            </a:r>
            <a:endParaRPr lang="zh-CN" sz="1800" dirty="0"/>
          </a:p>
        </p:txBody>
      </p:sp>
      <p:sp>
        <p:nvSpPr>
          <p:cNvPr id="23" name="T26/card/region-2/title"/>
          <p:cNvSpPr/>
          <p:nvPr/>
        </p:nvSpPr>
        <p:spPr>
          <a:xfrm>
            <a:off x="6381750" y="5103209"/>
            <a:ext cx="52197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B</a:t>
            </a:r>
            <a:endParaRPr lang="zh-CN" sz="1950" dirty="0"/>
          </a:p>
        </p:txBody>
      </p:sp>
      <p:sp>
        <p:nvSpPr>
          <p:cNvPr id="24" name="T26/card/region-2/body"/>
          <p:cNvSpPr/>
          <p:nvPr/>
        </p:nvSpPr>
        <p:spPr>
          <a:xfrm>
            <a:off x="6381750" y="5484209"/>
            <a:ext cx="5219700" cy="511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说明它如何补充前一面板</a:t>
            </a:r>
            <a:endParaRPr lang="zh-CN" sz="1800" dirty="0"/>
          </a:p>
        </p:txBody>
      </p:sp>
      <p:sp>
        <p:nvSpPr>
          <p:cNvPr id="25" name="T26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27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三项互补证据</a:t>
            </a:r>
            <a:endParaRPr lang="zh-CN" sz="3000" dirty="0"/>
          </a:p>
        </p:txBody>
      </p:sp>
      <p:sp>
        <p:nvSpPr>
          <p:cNvPr id="5" name="T27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27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27/panel:0:frame"/>
          <p:cNvSpPr/>
          <p:nvPr/>
        </p:nvSpPr>
        <p:spPr>
          <a:xfrm>
            <a:off x="457200" y="1147381"/>
            <a:ext cx="3638550" cy="490613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7/panel:0:heading-fill"/>
          <p:cNvSpPr/>
          <p:nvPr/>
        </p:nvSpPr>
        <p:spPr>
          <a:xfrm>
            <a:off x="466725" y="1156907"/>
            <a:ext cx="3619500" cy="381000"/>
          </a:xfrm>
          <a:prstGeom prst="rect">
            <a:avLst/>
          </a:prstGeom>
          <a:solidFill>
            <a:srgbClr val="E9F4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7/panel:0:heading-rule"/>
          <p:cNvSpPr/>
          <p:nvPr/>
        </p:nvSpPr>
        <p:spPr>
          <a:xfrm>
            <a:off x="457200" y="1537906"/>
            <a:ext cx="3638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27/panel:0:title"/>
          <p:cNvSpPr/>
          <p:nvPr/>
        </p:nvSpPr>
        <p:spPr>
          <a:xfrm>
            <a:off x="581025" y="1195007"/>
            <a:ext cx="33909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  对应证据</a:t>
            </a:r>
            <a:endParaRPr lang="zh-CN" sz="1950" dirty="0"/>
          </a:p>
        </p:txBody>
      </p:sp>
      <p:sp>
        <p:nvSpPr>
          <p:cNvPr id="11" name="T27/panel:1:frame"/>
          <p:cNvSpPr/>
          <p:nvPr/>
        </p:nvSpPr>
        <p:spPr>
          <a:xfrm>
            <a:off x="4276725" y="1147381"/>
            <a:ext cx="3638550" cy="490613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2" name="T27/panel:1:heading-fill"/>
          <p:cNvSpPr/>
          <p:nvPr/>
        </p:nvSpPr>
        <p:spPr>
          <a:xfrm>
            <a:off x="4286250" y="1156907"/>
            <a:ext cx="3619500" cy="381000"/>
          </a:xfrm>
          <a:prstGeom prst="rect">
            <a:avLst/>
          </a:prstGeom>
          <a:solidFill>
            <a:srgbClr val="E9F4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27/panel:1:heading-rule"/>
          <p:cNvSpPr/>
          <p:nvPr/>
        </p:nvSpPr>
        <p:spPr>
          <a:xfrm>
            <a:off x="4276725" y="1537906"/>
            <a:ext cx="3638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4" name="T27/panel:1:title"/>
          <p:cNvSpPr/>
          <p:nvPr/>
        </p:nvSpPr>
        <p:spPr>
          <a:xfrm>
            <a:off x="4400550" y="1195007"/>
            <a:ext cx="33909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  对应证据</a:t>
            </a:r>
            <a:endParaRPr lang="zh-CN" sz="1950" dirty="0"/>
          </a:p>
        </p:txBody>
      </p:sp>
      <p:sp>
        <p:nvSpPr>
          <p:cNvPr id="15" name="T27/panel:2:frame"/>
          <p:cNvSpPr/>
          <p:nvPr/>
        </p:nvSpPr>
        <p:spPr>
          <a:xfrm>
            <a:off x="8096250" y="1147381"/>
            <a:ext cx="3638550" cy="490613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6" name="T27/panel:2:heading-fill"/>
          <p:cNvSpPr/>
          <p:nvPr/>
        </p:nvSpPr>
        <p:spPr>
          <a:xfrm>
            <a:off x="8105775" y="1156907"/>
            <a:ext cx="3619500" cy="381000"/>
          </a:xfrm>
          <a:prstGeom prst="rect">
            <a:avLst/>
          </a:prstGeom>
          <a:solidFill>
            <a:srgbClr val="E9F4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27/panel:2:heading-rule"/>
          <p:cNvSpPr/>
          <p:nvPr/>
        </p:nvSpPr>
        <p:spPr>
          <a:xfrm>
            <a:off x="8096250" y="1537906"/>
            <a:ext cx="3638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8" name="T27/panel:2:title"/>
          <p:cNvSpPr/>
          <p:nvPr/>
        </p:nvSpPr>
        <p:spPr>
          <a:xfrm>
            <a:off x="8220075" y="1195007"/>
            <a:ext cx="33909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  对应证据</a:t>
            </a:r>
            <a:endParaRPr lang="zh-CN" sz="1950" dirty="0"/>
          </a:p>
        </p:txBody>
      </p:sp>
      <p:sp>
        <p:nvSpPr>
          <p:cNvPr id="19" name="T27/figure:0:paper"/>
          <p:cNvSpPr/>
          <p:nvPr/>
        </p:nvSpPr>
        <p:spPr>
          <a:xfrm>
            <a:off x="609600" y="1738247"/>
            <a:ext cx="3333750" cy="2471487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20" name="T27/figure:0:image" descr="A/B 为条件；合成数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175" y="1766822"/>
            <a:ext cx="3276600" cy="2414337"/>
          </a:xfrm>
          <a:prstGeom prst="rect">
            <a:avLst/>
          </a:prstGeom>
        </p:spPr>
      </p:pic>
      <p:sp>
        <p:nvSpPr>
          <p:cNvPr id="21" name="T27/figure:0:caption"/>
          <p:cNvSpPr/>
          <p:nvPr/>
        </p:nvSpPr>
        <p:spPr>
          <a:xfrm>
            <a:off x="590550" y="4371975"/>
            <a:ext cx="3371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A/B 为条件；合成数据</a:t>
            </a:r>
            <a:endParaRPr lang="zh-CN" sz="1350" dirty="0"/>
          </a:p>
        </p:txBody>
      </p:sp>
      <p:sp>
        <p:nvSpPr>
          <p:cNvPr id="22" name="T27/figure:1:paper"/>
          <p:cNvSpPr/>
          <p:nvPr/>
        </p:nvSpPr>
        <p:spPr>
          <a:xfrm>
            <a:off x="4429125" y="1738247"/>
            <a:ext cx="3333750" cy="2471487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23" name="T27/figure:1:image" descr="Ref. 为参考，V1–V3 为变体；合成数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66822"/>
            <a:ext cx="3276600" cy="2414337"/>
          </a:xfrm>
          <a:prstGeom prst="rect">
            <a:avLst/>
          </a:prstGeom>
        </p:spPr>
      </p:pic>
      <p:sp>
        <p:nvSpPr>
          <p:cNvPr id="24" name="T27/figure:1:caption"/>
          <p:cNvSpPr/>
          <p:nvPr/>
        </p:nvSpPr>
        <p:spPr>
          <a:xfrm>
            <a:off x="4410075" y="4371975"/>
            <a:ext cx="3371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Ref. 为参考，V1–V3 为变体；合成数据</a:t>
            </a:r>
            <a:endParaRPr lang="zh-CN" sz="1350" dirty="0"/>
          </a:p>
        </p:txBody>
      </p:sp>
      <p:sp>
        <p:nvSpPr>
          <p:cNvPr id="25" name="T27/figure:2:paper"/>
          <p:cNvSpPr/>
          <p:nvPr/>
        </p:nvSpPr>
        <p:spPr>
          <a:xfrm>
            <a:off x="8248650" y="1738247"/>
            <a:ext cx="3333750" cy="2471487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26" name="T27/figure:2:image" descr="跨环境矩阵；合成数据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225" y="1766822"/>
            <a:ext cx="3276600" cy="2414337"/>
          </a:xfrm>
          <a:prstGeom prst="rect">
            <a:avLst/>
          </a:prstGeom>
        </p:spPr>
      </p:pic>
      <p:sp>
        <p:nvSpPr>
          <p:cNvPr id="27" name="T27/figure:2:caption"/>
          <p:cNvSpPr/>
          <p:nvPr/>
        </p:nvSpPr>
        <p:spPr>
          <a:xfrm>
            <a:off x="8229600" y="4371975"/>
            <a:ext cx="3371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跨环境矩阵；合成数据</a:t>
            </a:r>
            <a:endParaRPr lang="zh-CN" sz="1350" dirty="0"/>
          </a:p>
        </p:txBody>
      </p:sp>
      <p:sp>
        <p:nvSpPr>
          <p:cNvPr id="28" name="T27/card/region-1/title"/>
          <p:cNvSpPr/>
          <p:nvPr/>
        </p:nvSpPr>
        <p:spPr>
          <a:xfrm>
            <a:off x="590550" y="4766882"/>
            <a:ext cx="33718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A</a:t>
            </a:r>
            <a:endParaRPr lang="zh-CN" sz="1950" dirty="0"/>
          </a:p>
        </p:txBody>
      </p:sp>
      <p:sp>
        <p:nvSpPr>
          <p:cNvPr id="29" name="T27/card/region-1/body"/>
          <p:cNvSpPr/>
          <p:nvPr/>
        </p:nvSpPr>
        <p:spPr>
          <a:xfrm>
            <a:off x="590550" y="5147882"/>
            <a:ext cx="3371850" cy="78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变量、样本和关键趋势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对应来源面板及读图规则</a:t>
            </a:r>
            <a:endParaRPr lang="zh-CN" sz="1800" dirty="0"/>
          </a:p>
        </p:txBody>
      </p:sp>
      <p:sp>
        <p:nvSpPr>
          <p:cNvPr id="30" name="T27/card/region-2/title"/>
          <p:cNvSpPr/>
          <p:nvPr/>
        </p:nvSpPr>
        <p:spPr>
          <a:xfrm>
            <a:off x="4410075" y="4766882"/>
            <a:ext cx="33718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B</a:t>
            </a:r>
            <a:endParaRPr lang="zh-CN" sz="1950" dirty="0"/>
          </a:p>
        </p:txBody>
      </p:sp>
      <p:sp>
        <p:nvSpPr>
          <p:cNvPr id="31" name="T27/card/region-2/body"/>
          <p:cNvSpPr/>
          <p:nvPr/>
        </p:nvSpPr>
        <p:spPr>
          <a:xfrm>
            <a:off x="4410075" y="5147882"/>
            <a:ext cx="3371850" cy="78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使用不同观测检查同一解释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保留自身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单位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与统计口径</a:t>
            </a:r>
            <a:endParaRPr lang="zh-CN" sz="1800" dirty="0"/>
          </a:p>
        </p:txBody>
      </p:sp>
      <p:sp>
        <p:nvSpPr>
          <p:cNvPr id="32" name="T27/card/region-3/title"/>
          <p:cNvSpPr/>
          <p:nvPr/>
        </p:nvSpPr>
        <p:spPr>
          <a:xfrm>
            <a:off x="8229600" y="4766882"/>
            <a:ext cx="33718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 C</a:t>
            </a:r>
            <a:endParaRPr lang="zh-CN" sz="1950" dirty="0"/>
          </a:p>
        </p:txBody>
      </p:sp>
      <p:sp>
        <p:nvSpPr>
          <p:cNvPr id="33" name="T27/card/region-3/body"/>
          <p:cNvSpPr/>
          <p:nvPr/>
        </p:nvSpPr>
        <p:spPr>
          <a:xfrm>
            <a:off x="8229600" y="5147882"/>
            <a:ext cx="3371850" cy="788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补充机制或边界证据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不要把相关性作为因果结论</a:t>
            </a:r>
            <a:endParaRPr lang="zh-CN" sz="1800" dirty="0"/>
          </a:p>
        </p:txBody>
      </p:sp>
      <p:sp>
        <p:nvSpPr>
          <p:cNvPr id="34" name="T2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28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主证据与补充面板</a:t>
            </a:r>
            <a:endParaRPr lang="zh-CN" sz="3000" dirty="0"/>
          </a:p>
        </p:txBody>
      </p:sp>
      <p:sp>
        <p:nvSpPr>
          <p:cNvPr id="5" name="T28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28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28/figure:0:paper"/>
          <p:cNvSpPr/>
          <p:nvPr/>
        </p:nvSpPr>
        <p:spPr>
          <a:xfrm>
            <a:off x="1668062" y="1166432"/>
            <a:ext cx="4779177" cy="3516154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8" name="T28/figure:0:image" descr="面板 A；A/B 为条件；合成数据">    </p:cNvPr>
          <p:cNvPicPr>
            <a:picLocks noChangeAspect="1"/>
          </p:cNvPicPr>
          <p:nvPr/>
        </p:nvPicPr>
        <p:blipFill>
          <a:blip r:embed="rId1"/>
          <a:srcRect l="1500" r="49000" t="2500" b="48500"/>
          <a:stretch/>
        </p:blipFill>
        <p:spPr>
          <a:xfrm>
            <a:off x="1696637" y="1195007"/>
            <a:ext cx="4722027" cy="3459004"/>
          </a:xfrm>
          <a:prstGeom prst="rect">
            <a:avLst/>
          </a:prstGeom>
        </p:spPr>
      </p:pic>
      <p:sp>
        <p:nvSpPr>
          <p:cNvPr id="9" name="T28/figure:0:caption"/>
          <p:cNvSpPr/>
          <p:nvPr/>
        </p:nvSpPr>
        <p:spPr>
          <a:xfrm>
            <a:off x="457200" y="4787360"/>
            <a:ext cx="72009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A；A/B 为条件；合成数据</a:t>
            </a:r>
            <a:endParaRPr lang="zh-CN" sz="1350" dirty="0"/>
          </a:p>
        </p:txBody>
      </p:sp>
      <p:sp>
        <p:nvSpPr>
          <p:cNvPr id="10" name="T28/figure:1:paper"/>
          <p:cNvSpPr/>
          <p:nvPr/>
        </p:nvSpPr>
        <p:spPr>
          <a:xfrm>
            <a:off x="8113511" y="1166432"/>
            <a:ext cx="3489729" cy="2586419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1" name="T28/figure:1:image" descr="Ref. 为参考，V1–V3 为变体；合成数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2086" y="1195007"/>
            <a:ext cx="3432579" cy="2529269"/>
          </a:xfrm>
          <a:prstGeom prst="rect">
            <a:avLst/>
          </a:prstGeom>
        </p:spPr>
      </p:pic>
      <p:sp>
        <p:nvSpPr>
          <p:cNvPr id="12" name="T28/figure:1:caption"/>
          <p:cNvSpPr/>
          <p:nvPr/>
        </p:nvSpPr>
        <p:spPr>
          <a:xfrm>
            <a:off x="7981950" y="3857625"/>
            <a:ext cx="37528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Ref. 为参考，V1–V3 为变体；合成数据</a:t>
            </a:r>
            <a:endParaRPr lang="zh-CN" sz="1350" dirty="0"/>
          </a:p>
        </p:txBody>
      </p:sp>
      <p:sp>
        <p:nvSpPr>
          <p:cNvPr id="13" name="T28/card/region-1/title"/>
          <p:cNvSpPr/>
          <p:nvPr/>
        </p:nvSpPr>
        <p:spPr>
          <a:xfrm>
            <a:off x="457200" y="5202079"/>
            <a:ext cx="72009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主面板结论</a:t>
            </a:r>
            <a:endParaRPr lang="zh-CN" sz="1950" dirty="0"/>
          </a:p>
        </p:txBody>
      </p:sp>
      <p:sp>
        <p:nvSpPr>
          <p:cNvPr id="14" name="T28/card/region-1/body"/>
          <p:cNvSpPr/>
          <p:nvPr/>
        </p:nvSpPr>
        <p:spPr>
          <a:xfrm>
            <a:off x="457200" y="5583079"/>
            <a:ext cx="7200900" cy="511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两个条件的差异随时间展开</a:t>
            </a:r>
            <a:endParaRPr lang="zh-CN" sz="1800" dirty="0"/>
          </a:p>
        </p:txBody>
      </p:sp>
      <p:sp>
        <p:nvSpPr>
          <p:cNvPr id="15" name="T28/card/region-2/frame"/>
          <p:cNvSpPr/>
          <p:nvPr/>
        </p:nvSpPr>
        <p:spPr>
          <a:xfrm>
            <a:off x="7981950" y="4494371"/>
            <a:ext cx="3752850" cy="1578959"/>
          </a:xfrm>
          <a:prstGeom prst="rect">
            <a:avLst/>
          </a:prstGeom>
          <a:solidFill>
            <a:srgbClr val="FFFFFF"/>
          </a:solidFill>
          <a:ln w="14288">
            <a:solidFill>
              <a:srgbClr val="146C63"/>
            </a:solidFill>
            <a:prstDash val="solid"/>
          </a:ln>
        </p:spPr>
      </p:sp>
      <p:sp>
        <p:nvSpPr>
          <p:cNvPr id="16" name="T28/card/region-2/title-cutout"/>
          <p:cNvSpPr/>
          <p:nvPr/>
        </p:nvSpPr>
        <p:spPr>
          <a:xfrm>
            <a:off x="8115300" y="4341971"/>
            <a:ext cx="1743075" cy="3238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28/card/region-2/base-rule"/>
          <p:cNvSpPr/>
          <p:nvPr/>
        </p:nvSpPr>
        <p:spPr>
          <a:xfrm>
            <a:off x="8172450" y="5920931"/>
            <a:ext cx="333375" cy="0"/>
          </a:xfrm>
          <a:prstGeom prst="line">
            <a:avLst/>
          </a:prstGeom>
          <a:noFill/>
          <a:ln w="28575">
            <a:solidFill>
              <a:srgbClr val="146C63"/>
            </a:solidFill>
            <a:prstDash val="solid"/>
          </a:ln>
        </p:spPr>
      </p:sp>
      <p:sp>
        <p:nvSpPr>
          <p:cNvPr id="18" name="T28/card/region-2/title"/>
          <p:cNvSpPr/>
          <p:nvPr/>
        </p:nvSpPr>
        <p:spPr>
          <a:xfrm>
            <a:off x="8172450" y="4351496"/>
            <a:ext cx="33718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补充证据与限定</a:t>
            </a:r>
            <a:endParaRPr lang="zh-CN" sz="1950" dirty="0"/>
          </a:p>
        </p:txBody>
      </p:sp>
      <p:sp>
        <p:nvSpPr>
          <p:cNvPr id="19" name="T28/card/region-2/body"/>
          <p:cNvSpPr/>
          <p:nvPr/>
        </p:nvSpPr>
        <p:spPr>
          <a:xfrm>
            <a:off x="8172450" y="4884896"/>
            <a:ext cx="3371850" cy="997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效应区间补充趋势图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两图都保留坐标与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合成示例不支持研究结论</a:t>
            </a:r>
            <a:endParaRPr lang="zh-CN" sz="1800" dirty="0"/>
          </a:p>
        </p:txBody>
      </p:sp>
      <p:sp>
        <p:nvSpPr>
          <p:cNvPr id="20" name="T2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2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29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竖长原图的独立面板</a:t>
            </a:r>
            <a:endParaRPr lang="zh-CN" sz="3000" dirty="0"/>
          </a:p>
        </p:txBody>
      </p:sp>
      <p:sp>
        <p:nvSpPr>
          <p:cNvPr id="5" name="T29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29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29/panel:0:frame"/>
          <p:cNvSpPr/>
          <p:nvPr/>
        </p:nvSpPr>
        <p:spPr>
          <a:xfrm>
            <a:off x="457200" y="1222153"/>
            <a:ext cx="7334250" cy="485117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29/panel:0:tab"/>
          <p:cNvSpPr/>
          <p:nvPr/>
        </p:nvSpPr>
        <p:spPr>
          <a:xfrm>
            <a:off x="571500" y="1107853"/>
            <a:ext cx="2590800" cy="342900"/>
          </a:xfrm>
          <a:prstGeom prst="rect">
            <a:avLst/>
          </a:prstGeom>
          <a:solidFill>
            <a:srgbClr val="146C6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29/panel:0:title"/>
          <p:cNvSpPr/>
          <p:nvPr/>
        </p:nvSpPr>
        <p:spPr>
          <a:xfrm>
            <a:off x="676275" y="1136428"/>
            <a:ext cx="23812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 A：独立证据</a:t>
            </a:r>
            <a:endParaRPr lang="zh-CN" sz="1950" dirty="0"/>
          </a:p>
        </p:txBody>
      </p:sp>
      <p:sp>
        <p:nvSpPr>
          <p:cNvPr id="10" name="T29/figure:0:paper"/>
          <p:cNvSpPr/>
          <p:nvPr/>
        </p:nvSpPr>
        <p:spPr>
          <a:xfrm>
            <a:off x="609600" y="1628148"/>
            <a:ext cx="7029450" cy="3898407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1" name="T29/figure:0:image" descr="竖图面板 A；其余面板另页；合成数据">    </p:cNvPr>
          <p:cNvPicPr>
            <a:picLocks noChangeAspect="1"/>
          </p:cNvPicPr>
          <p:nvPr/>
        </p:nvPicPr>
        <p:blipFill>
          <a:blip r:embed="rId1"/>
          <a:srcRect l="3500" r="1500" t="800" b="67700"/>
          <a:stretch/>
        </p:blipFill>
        <p:spPr>
          <a:xfrm>
            <a:off x="638175" y="1656723"/>
            <a:ext cx="6972300" cy="3841257"/>
          </a:xfrm>
          <a:prstGeom prst="rect">
            <a:avLst/>
          </a:prstGeom>
        </p:spPr>
      </p:pic>
      <p:sp>
        <p:nvSpPr>
          <p:cNvPr id="12" name="T29/figure:0:caption"/>
          <p:cNvSpPr/>
          <p:nvPr/>
        </p:nvSpPr>
        <p:spPr>
          <a:xfrm>
            <a:off x="590550" y="5657850"/>
            <a:ext cx="70675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竖图面板 A；其余面板另页；合成数据</a:t>
            </a:r>
            <a:endParaRPr lang="zh-CN" sz="1350" dirty="0"/>
          </a:p>
        </p:txBody>
      </p:sp>
      <p:sp>
        <p:nvSpPr>
          <p:cNvPr id="13" name="T29/card/region-1/base-rule"/>
          <p:cNvSpPr/>
          <p:nvPr/>
        </p:nvSpPr>
        <p:spPr>
          <a:xfrm>
            <a:off x="8134350" y="2571750"/>
            <a:ext cx="36004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4" name="T29/card/region-1/side-mark"/>
          <p:cNvSpPr/>
          <p:nvPr/>
        </p:nvSpPr>
        <p:spPr>
          <a:xfrm>
            <a:off x="8134350" y="1186244"/>
            <a:ext cx="47625" cy="295275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29/card/region-1/title"/>
          <p:cNvSpPr/>
          <p:nvPr/>
        </p:nvSpPr>
        <p:spPr>
          <a:xfrm>
            <a:off x="8286750" y="1186244"/>
            <a:ext cx="3448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面板范围</a:t>
            </a:r>
            <a:endParaRPr lang="zh-CN" sz="1950" dirty="0"/>
          </a:p>
        </p:txBody>
      </p:sp>
      <p:sp>
        <p:nvSpPr>
          <p:cNvPr id="16" name="T29/card/region-1/body"/>
          <p:cNvSpPr/>
          <p:nvPr/>
        </p:nvSpPr>
        <p:spPr>
          <a:xfrm>
            <a:off x="8286750" y="1605344"/>
            <a:ext cx="3448050" cy="871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本页只展开面板 A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保留条件、坐标和误差带</a:t>
            </a:r>
            <a:endParaRPr lang="zh-CN" sz="1800" dirty="0"/>
          </a:p>
        </p:txBody>
      </p:sp>
      <p:sp>
        <p:nvSpPr>
          <p:cNvPr id="17" name="T29/card/region-2/frame"/>
          <p:cNvSpPr/>
          <p:nvPr/>
        </p:nvSpPr>
        <p:spPr>
          <a:xfrm>
            <a:off x="8134350" y="2828925"/>
            <a:ext cx="3600450" cy="140455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8" name="T29/card/region-2/heading-fill"/>
          <p:cNvSpPr/>
          <p:nvPr/>
        </p:nvSpPr>
        <p:spPr>
          <a:xfrm>
            <a:off x="8143875" y="2838450"/>
            <a:ext cx="3581400" cy="371475"/>
          </a:xfrm>
          <a:prstGeom prst="rect">
            <a:avLst/>
          </a:prstGeom>
          <a:solidFill>
            <a:srgbClr val="E9F4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29/card/region-2/heading-rule"/>
          <p:cNvSpPr/>
          <p:nvPr/>
        </p:nvSpPr>
        <p:spPr>
          <a:xfrm>
            <a:off x="8134350" y="3209925"/>
            <a:ext cx="36004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29/card/region-2/title"/>
          <p:cNvSpPr/>
          <p:nvPr/>
        </p:nvSpPr>
        <p:spPr>
          <a:xfrm>
            <a:off x="8258175" y="2876550"/>
            <a:ext cx="33528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关键证据</a:t>
            </a:r>
            <a:endParaRPr lang="zh-CN" sz="1950" dirty="0"/>
          </a:p>
        </p:txBody>
      </p:sp>
      <p:sp>
        <p:nvSpPr>
          <p:cNvPr id="21" name="T29/card/region-2/body"/>
          <p:cNvSpPr/>
          <p:nvPr/>
        </p:nvSpPr>
        <p:spPr>
          <a:xfrm>
            <a:off x="8267700" y="3314700"/>
            <a:ext cx="3333750" cy="823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指出哪个面板支持具体论点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把精确读数与正文或源数据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</a:t>
            </a:r>
            <a:endParaRPr lang="zh-CN" sz="1800" dirty="0"/>
          </a:p>
        </p:txBody>
      </p:sp>
      <p:sp>
        <p:nvSpPr>
          <p:cNvPr id="22" name="T29/card/region-3/frame"/>
          <p:cNvSpPr/>
          <p:nvPr/>
        </p:nvSpPr>
        <p:spPr>
          <a:xfrm>
            <a:off x="8134350" y="4604957"/>
            <a:ext cx="3600450" cy="1468279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3" name="T29/card/region-3/tab"/>
          <p:cNvSpPr/>
          <p:nvPr/>
        </p:nvSpPr>
        <p:spPr>
          <a:xfrm>
            <a:off x="8248650" y="4490657"/>
            <a:ext cx="1504950" cy="342900"/>
          </a:xfrm>
          <a:prstGeom prst="rect">
            <a:avLst/>
          </a:prstGeom>
          <a:solidFill>
            <a:srgbClr val="A247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29/card/region-3/title"/>
          <p:cNvSpPr/>
          <p:nvPr/>
        </p:nvSpPr>
        <p:spPr>
          <a:xfrm>
            <a:off x="8353425" y="4519232"/>
            <a:ext cx="12954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局限与外推</a:t>
            </a:r>
            <a:endParaRPr lang="zh-CN" sz="1950" dirty="0"/>
          </a:p>
        </p:txBody>
      </p:sp>
      <p:sp>
        <p:nvSpPr>
          <p:cNvPr id="25" name="T29/card/region-3/body"/>
          <p:cNvSpPr/>
          <p:nvPr/>
        </p:nvSpPr>
        <p:spPr>
          <a:xfrm>
            <a:off x="8267700" y="4976432"/>
            <a:ext cx="3333750" cy="10015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保留图中未覆盖的条件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放大原图不改变其证据范围</a:t>
            </a:r>
            <a:endParaRPr lang="zh-CN" sz="1800" dirty="0"/>
          </a:p>
        </p:txBody>
      </p:sp>
      <p:sp>
        <p:nvSpPr>
          <p:cNvPr id="26" name="T2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3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3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30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图例变量与结果判读</a:t>
            </a:r>
            <a:endParaRPr lang="zh-CN" sz="3000" dirty="0"/>
          </a:p>
        </p:txBody>
      </p:sp>
      <p:sp>
        <p:nvSpPr>
          <p:cNvPr id="5" name="T30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30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30/panel:0:frame"/>
          <p:cNvSpPr/>
          <p:nvPr/>
        </p:nvSpPr>
        <p:spPr>
          <a:xfrm>
            <a:off x="4629150" y="1167194"/>
            <a:ext cx="7105650" cy="4807172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30/panel:0:heading-fill"/>
          <p:cNvSpPr/>
          <p:nvPr/>
        </p:nvSpPr>
        <p:spPr>
          <a:xfrm>
            <a:off x="4638675" y="1176719"/>
            <a:ext cx="708660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30/panel:0:heading-rule"/>
          <p:cNvSpPr/>
          <p:nvPr/>
        </p:nvSpPr>
        <p:spPr>
          <a:xfrm>
            <a:off x="4629150" y="1557719"/>
            <a:ext cx="71056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30/panel:0:title"/>
          <p:cNvSpPr/>
          <p:nvPr/>
        </p:nvSpPr>
        <p:spPr>
          <a:xfrm>
            <a:off x="4752975" y="1214819"/>
            <a:ext cx="685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图像与图例</a:t>
            </a:r>
            <a:endParaRPr lang="zh-CN" sz="1950" dirty="0"/>
          </a:p>
        </p:txBody>
      </p:sp>
      <p:sp>
        <p:nvSpPr>
          <p:cNvPr id="11" name="T30/figure:0:paper"/>
          <p:cNvSpPr/>
          <p:nvPr/>
        </p:nvSpPr>
        <p:spPr>
          <a:xfrm>
            <a:off x="5645087" y="1700593"/>
            <a:ext cx="5073777" cy="3753612"/>
          </a:xfrm>
          <a:prstGeom prst="rect">
            <a:avLst/>
          </a:prstGeom>
          <a:solidFill>
            <a:srgbClr val="FFFFFF"/>
          </a:solidFill>
          <a:ln w="7620">
            <a:solidFill>
              <a:srgbClr val="CCD4DD"/>
            </a:solidFill>
            <a:prstDash val="solid"/>
          </a:ln>
          <a:effectLst>
            <a:outerShdw sx="100000" sy="100000" kx="0" ky="0" algn="bl" rotWithShape="0" blurRad="28575" dist="19050" dir="5400000">
              <a:srgbClr val="263B50">
                <a:alpha val="12000"/>
              </a:srgbClr>
            </a:outerShdw>
          </a:effectLst>
        </p:spPr>
      </p:sp>
      <p:pic>
        <p:nvPicPr>
          <p:cNvPr id="12" name="T30/figure:0:image" descr="A/B 为条件；合成数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3662" y="1729168"/>
            <a:ext cx="5016627" cy="3696462"/>
          </a:xfrm>
          <a:prstGeom prst="rect">
            <a:avLst/>
          </a:prstGeom>
        </p:spPr>
      </p:pic>
      <p:sp>
        <p:nvSpPr>
          <p:cNvPr id="13" name="T30/figure:0:caption"/>
          <p:cNvSpPr/>
          <p:nvPr/>
        </p:nvSpPr>
        <p:spPr>
          <a:xfrm>
            <a:off x="4762500" y="5558981"/>
            <a:ext cx="6838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74"/>
              </a:lnSpc>
              <a:buNone/>
            </a:pPr>
            <a:r>
              <a:rPr lang="zh-CN" altLang="en-US" sz="13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A/B 为条件；合成数据</a:t>
            </a:r>
            <a:endParaRPr lang="zh-CN" sz="1350" dirty="0"/>
          </a:p>
        </p:txBody>
      </p:sp>
      <p:sp>
        <p:nvSpPr>
          <p:cNvPr id="14" name="T30/card/region-1/frame"/>
          <p:cNvSpPr/>
          <p:nvPr/>
        </p:nvSpPr>
        <p:spPr>
          <a:xfrm>
            <a:off x="457200" y="1206722"/>
            <a:ext cx="3829050" cy="140455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15" name="T30/card/region-1/heading-fill"/>
          <p:cNvSpPr/>
          <p:nvPr/>
        </p:nvSpPr>
        <p:spPr>
          <a:xfrm>
            <a:off x="466725" y="1216247"/>
            <a:ext cx="3810000" cy="371475"/>
          </a:xfrm>
          <a:prstGeom prst="rect">
            <a:avLst/>
          </a:prstGeom>
          <a:solidFill>
            <a:srgbClr val="F0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30/card/region-1/heading-rule"/>
          <p:cNvSpPr/>
          <p:nvPr/>
        </p:nvSpPr>
        <p:spPr>
          <a:xfrm>
            <a:off x="457200" y="1587722"/>
            <a:ext cx="3829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7" name="T30/card/region-1/title"/>
          <p:cNvSpPr/>
          <p:nvPr/>
        </p:nvSpPr>
        <p:spPr>
          <a:xfrm>
            <a:off x="581025" y="1254347"/>
            <a:ext cx="35814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坐标与变量</a:t>
            </a:r>
            <a:endParaRPr lang="zh-CN" sz="1950" dirty="0"/>
          </a:p>
        </p:txBody>
      </p:sp>
      <p:sp>
        <p:nvSpPr>
          <p:cNvPr id="18" name="T30/card/region-1/body"/>
          <p:cNvSpPr/>
          <p:nvPr/>
        </p:nvSpPr>
        <p:spPr>
          <a:xfrm>
            <a:off x="590550" y="1692497"/>
            <a:ext cx="3562350" cy="8235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解释横纵轴、量纲与归一化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注明对数刻度或截断范围</a:t>
            </a:r>
            <a:endParaRPr lang="zh-CN" sz="1800" dirty="0"/>
          </a:p>
        </p:txBody>
      </p:sp>
      <p:sp>
        <p:nvSpPr>
          <p:cNvPr id="19" name="T30/card/region-2/heading-rule"/>
          <p:cNvSpPr/>
          <p:nvPr/>
        </p:nvSpPr>
        <p:spPr>
          <a:xfrm>
            <a:off x="457200" y="3250216"/>
            <a:ext cx="38290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0" name="T30/card/region-2/heading-mark"/>
          <p:cNvSpPr/>
          <p:nvPr/>
        </p:nvSpPr>
        <p:spPr>
          <a:xfrm>
            <a:off x="457200" y="3250216"/>
            <a:ext cx="342900" cy="0"/>
          </a:xfrm>
          <a:prstGeom prst="line">
            <a:avLst/>
          </a:prstGeom>
          <a:noFill/>
          <a:ln w="17145">
            <a:solidFill>
              <a:srgbClr val="235E96"/>
            </a:solidFill>
            <a:prstDash val="solid"/>
          </a:ln>
        </p:spPr>
      </p:sp>
      <p:sp>
        <p:nvSpPr>
          <p:cNvPr id="21" name="T30/card/region-2/title"/>
          <p:cNvSpPr/>
          <p:nvPr/>
        </p:nvSpPr>
        <p:spPr>
          <a:xfrm>
            <a:off x="457200" y="2907316"/>
            <a:ext cx="38290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颜色与处理</a:t>
            </a:r>
            <a:endParaRPr lang="zh-CN" sz="1950" dirty="0"/>
          </a:p>
        </p:txBody>
      </p:sp>
      <p:sp>
        <p:nvSpPr>
          <p:cNvPr id="22" name="T30/card/region-2/body"/>
          <p:cNvSpPr/>
          <p:nvPr/>
        </p:nvSpPr>
        <p:spPr>
          <a:xfrm>
            <a:off x="457200" y="3383566"/>
            <a:ext cx="3829050" cy="890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颜色只编码条件或类别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线型和符号也应能区分</a:t>
            </a:r>
            <a:endParaRPr lang="zh-CN" sz="1800" dirty="0"/>
          </a:p>
        </p:txBody>
      </p:sp>
      <p:sp>
        <p:nvSpPr>
          <p:cNvPr id="23" name="T30/card/region-3/base-rule"/>
          <p:cNvSpPr/>
          <p:nvPr/>
        </p:nvSpPr>
        <p:spPr>
          <a:xfrm>
            <a:off x="457200" y="5994178"/>
            <a:ext cx="38290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24" name="T30/card/region-3/side-mark"/>
          <p:cNvSpPr/>
          <p:nvPr/>
        </p:nvSpPr>
        <p:spPr>
          <a:xfrm>
            <a:off x="457200" y="4588859"/>
            <a:ext cx="47625" cy="295275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30/card/region-3/title"/>
          <p:cNvSpPr/>
          <p:nvPr/>
        </p:nvSpPr>
        <p:spPr>
          <a:xfrm>
            <a:off x="609600" y="4588859"/>
            <a:ext cx="36766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判读规则</a:t>
            </a:r>
            <a:endParaRPr lang="zh-CN" sz="1950" dirty="0"/>
          </a:p>
        </p:txBody>
      </p:sp>
      <p:sp>
        <p:nvSpPr>
          <p:cNvPr id="26" name="T30/card/region-3/body"/>
          <p:cNvSpPr/>
          <p:nvPr/>
        </p:nvSpPr>
        <p:spPr>
          <a:xfrm>
            <a:off x="609600" y="5007959"/>
            <a:ext cx="3676650" cy="890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说明点、带和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误差条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代表什么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依据实验设计解释比较关系</a:t>
            </a:r>
            <a:endParaRPr lang="zh-CN" sz="1800" dirty="0"/>
          </a:p>
        </p:txBody>
      </p:sp>
      <p:sp>
        <p:nvSpPr>
          <p:cNvPr id="27" name="T3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原图解读学术模板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2026-10-20T05:39:56Z</dcterms:created>
  <dcterms:modified xsi:type="dcterms:W3CDTF">2026-10-20T05:39:56Z</dcterms:modified>
</cp:coreProperties>
</file>