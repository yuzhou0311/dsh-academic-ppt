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synthesis-mechanism-map。以共有接口连接不同方法，下面说明差异来自哪里。
全部文本为填写指引，图表值是合成演示值，不是任何研究结果。使用前替换论文、数据、原图与来源。
内容职责：共同机制；关键差异。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synthesis-evidence-ladder。四类证据按验证层级展开，侧栏解释可支持的结论。
全部文本为填写指引，图表值是合成演示值，不是任何研究结果。使用前替换论文、数据、原图与来源。
内容职责：离线与模拟；受控实验；独立环境验证；真实部署；共同评价对象；外推边界。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synthesis-method-comparison。表格只比较输入、接口与验证范围，右侧解释不可比的数字。
全部文本为填写指引，图表值是合成演示值，不是任何研究结果。使用前替换论文、数据、原图与来源。
内容职责：比较维度；不可比条件。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synthesis-timeline。时间节点上方对应技术变化，下方集中说明评价方式的变化。
全部文本为填写指引，图表值是合成演示值，不是任何研究结果。使用前替换论文、数据、原图与来源。
内容职责：方法演化；评价演化；仍然缺少的验证。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synthesis-agreement-conflict。并列证据图后将一致结论、冲突来源与可能解释明确区分。
全部文本为填写指引，图表值是合成演示值，不是任何研究结果。使用前替换论文、数据、原图与来源。
内容职责：一致发现；冲突来源；可区分的解释。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synthesis-open-questions。左列归纳已知证据，右侧提出对应问题，底部说明检验优先级。
全部文本为填写指引，图表值是合成演示值，不是任何研究结果。使用前替换论文、数据、原图与来源。
内容职责：已知证据一；对应研究问题一；已知证据二；对应研究问题二；下一步检验条件。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1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31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 / 06</a:t>
            </a:r>
            <a:endParaRPr lang="zh-CN" sz="1050" dirty="0"/>
          </a:p>
        </p:txBody>
      </p:sp>
      <p:sp>
        <p:nvSpPr>
          <p:cNvPr id="4" name="T31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31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多篇方法的接口对应</a:t>
            </a:r>
            <a:endParaRPr lang="zh-CN" sz="2550" dirty="0"/>
          </a:p>
        </p:txBody>
      </p:sp>
      <p:sp>
        <p:nvSpPr>
          <p:cNvPr id="6" name="T31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31/panel:0:frame"/>
          <p:cNvSpPr/>
          <p:nvPr/>
        </p:nvSpPr>
        <p:spPr>
          <a:xfrm>
            <a:off x="457200" y="1371600"/>
            <a:ext cx="11277600" cy="23241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31/panel:0:heading-fill"/>
          <p:cNvSpPr/>
          <p:nvPr/>
        </p:nvSpPr>
        <p:spPr>
          <a:xfrm>
            <a:off x="466725" y="1381125"/>
            <a:ext cx="1125855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31/panel:0:heading-rule"/>
          <p:cNvSpPr/>
          <p:nvPr/>
        </p:nvSpPr>
        <p:spPr>
          <a:xfrm>
            <a:off x="457200" y="1762125"/>
            <a:ext cx="112776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31/panel:0:title"/>
          <p:cNvSpPr/>
          <p:nvPr/>
        </p:nvSpPr>
        <p:spPr>
          <a:xfrm>
            <a:off x="581025" y="1428750"/>
            <a:ext cx="1102995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在同一接口层级比较</a:t>
            </a:r>
            <a:endParaRPr lang="zh-CN" sz="1800" dirty="0"/>
          </a:p>
        </p:txBody>
      </p:sp>
      <p:sp>
        <p:nvSpPr>
          <p:cNvPr id="11" name="T31/edge:0"/>
          <p:cNvSpPr/>
          <p:nvPr/>
        </p:nvSpPr>
        <p:spPr>
          <a:xfrm>
            <a:off x="2762250" y="2695575"/>
            <a:ext cx="7239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2" name="T31/edge:1"/>
          <p:cNvSpPr/>
          <p:nvPr/>
        </p:nvSpPr>
        <p:spPr>
          <a:xfrm>
            <a:off x="5638800" y="2695575"/>
            <a:ext cx="7429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3" name="T31/edge:2"/>
          <p:cNvSpPr/>
          <p:nvPr/>
        </p:nvSpPr>
        <p:spPr>
          <a:xfrm>
            <a:off x="8534400" y="2695575"/>
            <a:ext cx="7429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4" name="T31/node:step-1:frame"/>
          <p:cNvSpPr/>
          <p:nvPr/>
        </p:nvSpPr>
        <p:spPr>
          <a:xfrm>
            <a:off x="609600" y="2019300"/>
            <a:ext cx="2152650" cy="13525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5" name="T31/node:step-1:heading-rule"/>
          <p:cNvSpPr/>
          <p:nvPr/>
        </p:nvSpPr>
        <p:spPr>
          <a:xfrm>
            <a:off x="609600" y="201930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6" name="T31/node:step-1:label"/>
          <p:cNvSpPr/>
          <p:nvPr/>
        </p:nvSpPr>
        <p:spPr>
          <a:xfrm>
            <a:off x="723900" y="2114550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共同输入</a:t>
            </a:r>
            <a:endParaRPr lang="zh-CN" sz="1800" dirty="0"/>
          </a:p>
        </p:txBody>
      </p:sp>
      <p:sp>
        <p:nvSpPr>
          <p:cNvPr id="17" name="T31/node:step-1:detail"/>
          <p:cNvSpPr/>
          <p:nvPr/>
        </p:nvSpPr>
        <p:spPr>
          <a:xfrm>
            <a:off x="723900" y="2428875"/>
            <a:ext cx="192405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8" name="T31/node:step-2:frame"/>
          <p:cNvSpPr/>
          <p:nvPr/>
        </p:nvSpPr>
        <p:spPr>
          <a:xfrm>
            <a:off x="3486150" y="2019300"/>
            <a:ext cx="2152650" cy="13525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9" name="T31/node:step-2:heading-rule"/>
          <p:cNvSpPr/>
          <p:nvPr/>
        </p:nvSpPr>
        <p:spPr>
          <a:xfrm>
            <a:off x="3486150" y="201930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0" name="T31/node:step-2:label"/>
          <p:cNvSpPr/>
          <p:nvPr/>
        </p:nvSpPr>
        <p:spPr>
          <a:xfrm>
            <a:off x="3600450" y="2114550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知识接入</a:t>
            </a:r>
            <a:endParaRPr lang="zh-CN" sz="1800" dirty="0"/>
          </a:p>
        </p:txBody>
      </p:sp>
      <p:sp>
        <p:nvSpPr>
          <p:cNvPr id="21" name="T31/node:step-2:detail"/>
          <p:cNvSpPr/>
          <p:nvPr/>
        </p:nvSpPr>
        <p:spPr>
          <a:xfrm>
            <a:off x="3600450" y="2428875"/>
            <a:ext cx="192405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2" name="T31/node:step-3:frame"/>
          <p:cNvSpPr/>
          <p:nvPr/>
        </p:nvSpPr>
        <p:spPr>
          <a:xfrm>
            <a:off x="6381750" y="2019300"/>
            <a:ext cx="2152650" cy="13525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3" name="T31/node:step-3:heading-rule"/>
          <p:cNvSpPr/>
          <p:nvPr/>
        </p:nvSpPr>
        <p:spPr>
          <a:xfrm>
            <a:off x="6381750" y="201930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4" name="T31/node:step-3:label"/>
          <p:cNvSpPr/>
          <p:nvPr/>
        </p:nvSpPr>
        <p:spPr>
          <a:xfrm>
            <a:off x="6496050" y="2114550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决策接口</a:t>
            </a:r>
            <a:endParaRPr lang="zh-CN" sz="1800" dirty="0"/>
          </a:p>
        </p:txBody>
      </p:sp>
      <p:sp>
        <p:nvSpPr>
          <p:cNvPr id="25" name="T31/node:step-3:detail"/>
          <p:cNvSpPr/>
          <p:nvPr/>
        </p:nvSpPr>
        <p:spPr>
          <a:xfrm>
            <a:off x="6496050" y="2428875"/>
            <a:ext cx="192405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6" name="T31/node:step-4:frame"/>
          <p:cNvSpPr/>
          <p:nvPr/>
        </p:nvSpPr>
        <p:spPr>
          <a:xfrm>
            <a:off x="9277350" y="2019300"/>
            <a:ext cx="2305050" cy="13525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7" name="T31/node:step-4:heading-rule"/>
          <p:cNvSpPr/>
          <p:nvPr/>
        </p:nvSpPr>
        <p:spPr>
          <a:xfrm>
            <a:off x="9277350" y="2019300"/>
            <a:ext cx="23050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8" name="T31/node:step-4:label"/>
          <p:cNvSpPr/>
          <p:nvPr/>
        </p:nvSpPr>
        <p:spPr>
          <a:xfrm>
            <a:off x="9391650" y="2114550"/>
            <a:ext cx="2076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执行与反馈</a:t>
            </a:r>
            <a:endParaRPr lang="zh-CN" sz="1800" dirty="0"/>
          </a:p>
        </p:txBody>
      </p:sp>
      <p:sp>
        <p:nvSpPr>
          <p:cNvPr id="29" name="T31/node:step-4:detail"/>
          <p:cNvSpPr/>
          <p:nvPr/>
        </p:nvSpPr>
        <p:spPr>
          <a:xfrm>
            <a:off x="9391650" y="2428875"/>
            <a:ext cx="207645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30" name="T31/card/region-1/frame"/>
          <p:cNvSpPr/>
          <p:nvPr/>
        </p:nvSpPr>
        <p:spPr>
          <a:xfrm>
            <a:off x="457200" y="4152900"/>
            <a:ext cx="5486400" cy="18669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1" name="T31/card/region-1/heading-fill"/>
          <p:cNvSpPr/>
          <p:nvPr/>
        </p:nvSpPr>
        <p:spPr>
          <a:xfrm>
            <a:off x="466725" y="4162425"/>
            <a:ext cx="54673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31/card/region-1/heading-rule"/>
          <p:cNvSpPr/>
          <p:nvPr/>
        </p:nvSpPr>
        <p:spPr>
          <a:xfrm>
            <a:off x="457200" y="4533900"/>
            <a:ext cx="54864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3" name="T31/card/region-1/title"/>
          <p:cNvSpPr/>
          <p:nvPr/>
        </p:nvSpPr>
        <p:spPr>
          <a:xfrm>
            <a:off x="581025" y="4210050"/>
            <a:ext cx="52387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共同机制</a:t>
            </a:r>
            <a:endParaRPr lang="zh-CN" sz="1800" dirty="0"/>
          </a:p>
        </p:txBody>
      </p:sp>
      <p:sp>
        <p:nvSpPr>
          <p:cNvPr id="34" name="T31/card/region-1/body"/>
          <p:cNvSpPr/>
          <p:nvPr/>
        </p:nvSpPr>
        <p:spPr>
          <a:xfrm>
            <a:off x="590550" y="4648200"/>
            <a:ext cx="5219700" cy="1276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比较共同输入、动作和反馈的接口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把机制相同与实现相同分开</a:t>
            </a:r>
            <a:endParaRPr lang="zh-CN" sz="1725" dirty="0"/>
          </a:p>
        </p:txBody>
      </p:sp>
      <p:sp>
        <p:nvSpPr>
          <p:cNvPr id="35" name="T31/card/region-2/frame"/>
          <p:cNvSpPr/>
          <p:nvPr/>
        </p:nvSpPr>
        <p:spPr>
          <a:xfrm>
            <a:off x="6248400" y="4267200"/>
            <a:ext cx="5486400" cy="17526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6" name="T31/card/region-2/tab"/>
          <p:cNvSpPr/>
          <p:nvPr/>
        </p:nvSpPr>
        <p:spPr>
          <a:xfrm>
            <a:off x="6362700" y="415290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31/card/region-2/title"/>
          <p:cNvSpPr/>
          <p:nvPr/>
        </p:nvSpPr>
        <p:spPr>
          <a:xfrm>
            <a:off x="6467475" y="418147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关键差异</a:t>
            </a:r>
            <a:endParaRPr lang="zh-CN" sz="1800" dirty="0"/>
          </a:p>
        </p:txBody>
      </p:sp>
      <p:sp>
        <p:nvSpPr>
          <p:cNvPr id="38" name="T31/card/region-2/body"/>
          <p:cNvSpPr/>
          <p:nvPr/>
        </p:nvSpPr>
        <p:spPr>
          <a:xfrm>
            <a:off x="6381750" y="4615815"/>
            <a:ext cx="5219700" cy="13087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额外知识、模型和控制权进入何处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不同环境的数值不直接排序</a:t>
            </a:r>
            <a:endParaRPr lang="zh-CN" sz="1725" dirty="0"/>
          </a:p>
        </p:txBody>
      </p:sp>
      <p:sp>
        <p:nvSpPr>
          <p:cNvPr id="39" name="T31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2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32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/ 06</a:t>
            </a:r>
            <a:endParaRPr lang="zh-CN" sz="1050" dirty="0"/>
          </a:p>
        </p:txBody>
      </p:sp>
      <p:sp>
        <p:nvSpPr>
          <p:cNvPr id="4" name="T32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32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证据等级与外推距离</a:t>
            </a:r>
            <a:endParaRPr lang="zh-CN" sz="2550" dirty="0"/>
          </a:p>
        </p:txBody>
      </p:sp>
      <p:sp>
        <p:nvSpPr>
          <p:cNvPr id="6" name="T32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32/card/region-1/frame"/>
          <p:cNvSpPr/>
          <p:nvPr/>
        </p:nvSpPr>
        <p:spPr>
          <a:xfrm>
            <a:off x="457200" y="1409700"/>
            <a:ext cx="7620000" cy="11049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32/card/region-1/heading-fill"/>
          <p:cNvSpPr/>
          <p:nvPr/>
        </p:nvSpPr>
        <p:spPr>
          <a:xfrm>
            <a:off x="466725" y="1419225"/>
            <a:ext cx="76009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32/card/region-1/heading-rule"/>
          <p:cNvSpPr/>
          <p:nvPr/>
        </p:nvSpPr>
        <p:spPr>
          <a:xfrm>
            <a:off x="457200" y="1790700"/>
            <a:ext cx="76200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32/card/region-1/title"/>
          <p:cNvSpPr/>
          <p:nvPr/>
        </p:nvSpPr>
        <p:spPr>
          <a:xfrm>
            <a:off x="581025" y="1466850"/>
            <a:ext cx="73723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离线与模拟</a:t>
            </a:r>
            <a:endParaRPr lang="zh-CN" sz="1800" dirty="0"/>
          </a:p>
        </p:txBody>
      </p:sp>
      <p:sp>
        <p:nvSpPr>
          <p:cNvPr id="11" name="T32/card/region-1/body"/>
          <p:cNvSpPr/>
          <p:nvPr/>
        </p:nvSpPr>
        <p:spPr>
          <a:xfrm>
            <a:off x="590550" y="1905000"/>
            <a:ext cx="735330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明确模拟器和状态空间</a:t>
            </a:r>
            <a:endParaRPr lang="zh-CN" sz="1725" dirty="0"/>
          </a:p>
        </p:txBody>
      </p:sp>
      <p:sp>
        <p:nvSpPr>
          <p:cNvPr id="12" name="T32/card/region-2/frame"/>
          <p:cNvSpPr/>
          <p:nvPr/>
        </p:nvSpPr>
        <p:spPr>
          <a:xfrm>
            <a:off x="1028700" y="2609850"/>
            <a:ext cx="7048500" cy="11049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3" name="T32/card/region-2/heading-fill"/>
          <p:cNvSpPr/>
          <p:nvPr/>
        </p:nvSpPr>
        <p:spPr>
          <a:xfrm>
            <a:off x="1038225" y="2619375"/>
            <a:ext cx="70294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32/card/region-2/heading-rule"/>
          <p:cNvSpPr/>
          <p:nvPr/>
        </p:nvSpPr>
        <p:spPr>
          <a:xfrm>
            <a:off x="1028700" y="2990850"/>
            <a:ext cx="70485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5" name="T32/card/region-2/title"/>
          <p:cNvSpPr/>
          <p:nvPr/>
        </p:nvSpPr>
        <p:spPr>
          <a:xfrm>
            <a:off x="1152525" y="2667000"/>
            <a:ext cx="68008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受控实验</a:t>
            </a:r>
            <a:endParaRPr lang="zh-CN" sz="1800" dirty="0"/>
          </a:p>
        </p:txBody>
      </p:sp>
      <p:sp>
        <p:nvSpPr>
          <p:cNvPr id="16" name="T32/card/region-2/body"/>
          <p:cNvSpPr/>
          <p:nvPr/>
        </p:nvSpPr>
        <p:spPr>
          <a:xfrm>
            <a:off x="1162050" y="3105150"/>
            <a:ext cx="678180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说明受控条件与独立重复</a:t>
            </a:r>
            <a:endParaRPr lang="zh-CN" sz="1725" dirty="0"/>
          </a:p>
        </p:txBody>
      </p:sp>
      <p:sp>
        <p:nvSpPr>
          <p:cNvPr id="17" name="T32/card/region-3/frame"/>
          <p:cNvSpPr/>
          <p:nvPr/>
        </p:nvSpPr>
        <p:spPr>
          <a:xfrm>
            <a:off x="1600200" y="3810000"/>
            <a:ext cx="6477000" cy="11049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8" name="T32/card/region-3/heading-fill"/>
          <p:cNvSpPr/>
          <p:nvPr/>
        </p:nvSpPr>
        <p:spPr>
          <a:xfrm>
            <a:off x="1609725" y="3819525"/>
            <a:ext cx="64579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32/card/region-3/heading-rule"/>
          <p:cNvSpPr/>
          <p:nvPr/>
        </p:nvSpPr>
        <p:spPr>
          <a:xfrm>
            <a:off x="1600200" y="4191000"/>
            <a:ext cx="64770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0" name="T32/card/region-3/title"/>
          <p:cNvSpPr/>
          <p:nvPr/>
        </p:nvSpPr>
        <p:spPr>
          <a:xfrm>
            <a:off x="1724025" y="3867150"/>
            <a:ext cx="62293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独立环境验证</a:t>
            </a:r>
            <a:endParaRPr lang="zh-CN" sz="1800" dirty="0"/>
          </a:p>
        </p:txBody>
      </p:sp>
      <p:sp>
        <p:nvSpPr>
          <p:cNvPr id="21" name="T32/card/region-3/body"/>
          <p:cNvSpPr/>
          <p:nvPr/>
        </p:nvSpPr>
        <p:spPr>
          <a:xfrm>
            <a:off x="1733550" y="4305300"/>
            <a:ext cx="621030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报告年份、地点或对象留出</a:t>
            </a:r>
            <a:endParaRPr lang="zh-CN" sz="1725" dirty="0"/>
          </a:p>
        </p:txBody>
      </p:sp>
      <p:sp>
        <p:nvSpPr>
          <p:cNvPr id="22" name="T32/card/region-4/frame"/>
          <p:cNvSpPr/>
          <p:nvPr/>
        </p:nvSpPr>
        <p:spPr>
          <a:xfrm>
            <a:off x="2171700" y="5010150"/>
            <a:ext cx="5905500" cy="11049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3" name="T32/card/region-4/heading-fill"/>
          <p:cNvSpPr/>
          <p:nvPr/>
        </p:nvSpPr>
        <p:spPr>
          <a:xfrm>
            <a:off x="2181225" y="5019675"/>
            <a:ext cx="58864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32/card/region-4/heading-rule"/>
          <p:cNvSpPr/>
          <p:nvPr/>
        </p:nvSpPr>
        <p:spPr>
          <a:xfrm>
            <a:off x="2171700" y="5391150"/>
            <a:ext cx="59055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5" name="T32/card/region-4/title"/>
          <p:cNvSpPr/>
          <p:nvPr/>
        </p:nvSpPr>
        <p:spPr>
          <a:xfrm>
            <a:off x="2295525" y="5067300"/>
            <a:ext cx="56578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真实部署</a:t>
            </a:r>
            <a:endParaRPr lang="zh-CN" sz="1800" dirty="0"/>
          </a:p>
        </p:txBody>
      </p:sp>
      <p:sp>
        <p:nvSpPr>
          <p:cNvPr id="26" name="T32/card/region-4/body"/>
          <p:cNvSpPr/>
          <p:nvPr/>
        </p:nvSpPr>
        <p:spPr>
          <a:xfrm>
            <a:off x="2305050" y="5505450"/>
            <a:ext cx="563880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交代部署时间与干预后果</a:t>
            </a:r>
            <a:endParaRPr lang="zh-CN" sz="1725" dirty="0"/>
          </a:p>
        </p:txBody>
      </p:sp>
      <p:sp>
        <p:nvSpPr>
          <p:cNvPr id="27" name="T32/card/region-5/base-rule"/>
          <p:cNvSpPr/>
          <p:nvPr/>
        </p:nvSpPr>
        <p:spPr>
          <a:xfrm>
            <a:off x="8515350" y="3467100"/>
            <a:ext cx="32194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28" name="T32/card/region-5/side-mark"/>
          <p:cNvSpPr/>
          <p:nvPr/>
        </p:nvSpPr>
        <p:spPr>
          <a:xfrm>
            <a:off x="8515350" y="14287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32/card/region-5/title"/>
          <p:cNvSpPr/>
          <p:nvPr/>
        </p:nvSpPr>
        <p:spPr>
          <a:xfrm>
            <a:off x="8667750" y="1428750"/>
            <a:ext cx="30670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共同评价对象</a:t>
            </a:r>
            <a:endParaRPr lang="zh-CN" sz="1800" dirty="0"/>
          </a:p>
        </p:txBody>
      </p:sp>
      <p:sp>
        <p:nvSpPr>
          <p:cNvPr id="30" name="T32/card/region-5/body"/>
          <p:cNvSpPr/>
          <p:nvPr/>
        </p:nvSpPr>
        <p:spPr>
          <a:xfrm>
            <a:off x="8667750" y="1847850"/>
            <a:ext cx="306705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先确定评价对象是否一致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任务完成、预测性能和农艺收益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分别比较</a:t>
            </a:r>
            <a:endParaRPr lang="zh-CN" sz="1725" dirty="0"/>
          </a:p>
        </p:txBody>
      </p:sp>
      <p:sp>
        <p:nvSpPr>
          <p:cNvPr id="31" name="T32/card/region-6/frame"/>
          <p:cNvSpPr/>
          <p:nvPr/>
        </p:nvSpPr>
        <p:spPr>
          <a:xfrm>
            <a:off x="8515350" y="3848100"/>
            <a:ext cx="3219450" cy="21526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2" name="T32/card/region-6/tab"/>
          <p:cNvSpPr/>
          <p:nvPr/>
        </p:nvSpPr>
        <p:spPr>
          <a:xfrm>
            <a:off x="8629650" y="3733800"/>
            <a:ext cx="11811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32/card/region-6/title"/>
          <p:cNvSpPr/>
          <p:nvPr/>
        </p:nvSpPr>
        <p:spPr>
          <a:xfrm>
            <a:off x="8734425" y="376237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外推边界</a:t>
            </a:r>
            <a:endParaRPr lang="zh-CN" sz="1800" dirty="0"/>
          </a:p>
        </p:txBody>
      </p:sp>
      <p:sp>
        <p:nvSpPr>
          <p:cNvPr id="34" name="T32/card/region-6/body"/>
          <p:cNvSpPr/>
          <p:nvPr/>
        </p:nvSpPr>
        <p:spPr>
          <a:xfrm>
            <a:off x="8648700" y="4196715"/>
            <a:ext cx="2952750" cy="17087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不同证据层级支持不同结论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指出升级验证还需要什么</a:t>
            </a:r>
            <a:endParaRPr lang="zh-CN" sz="1725" dirty="0"/>
          </a:p>
        </p:txBody>
      </p:sp>
      <p:sp>
        <p:nvSpPr>
          <p:cNvPr id="35" name="T32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3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33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/ 06</a:t>
            </a:r>
            <a:endParaRPr lang="zh-CN" sz="1050" dirty="0"/>
          </a:p>
        </p:txBody>
      </p:sp>
      <p:sp>
        <p:nvSpPr>
          <p:cNvPr id="4" name="T33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33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同维度方法比较</a:t>
            </a:r>
            <a:endParaRPr lang="zh-CN" sz="2550" dirty="0"/>
          </a:p>
        </p:txBody>
      </p:sp>
      <p:sp>
        <p:nvSpPr>
          <p:cNvPr id="6" name="T33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33/takeaway"/>
          <p:cNvSpPr/>
          <p:nvPr/>
        </p:nvSpPr>
        <p:spPr>
          <a:xfrm>
            <a:off x="457200" y="5791200"/>
            <a:ext cx="81534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统计口径、样本单位和适用条件需与原文一致</a:t>
            </a:r>
            <a:endParaRPr lang="zh-CN" sz="1800" dirty="0"/>
          </a:p>
        </p:txBody>
      </p:sp>
      <p:graphicFrame>
        <p:nvGraphicFramePr>
          <p:cNvPr id="4" name="T33/dat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09700"/>
          <a:ext cx="8153400" cy="3072194"/>
        </p:xfrm>
        <a:graphic>
          <a:graphicData uri="http://schemas.openxmlformats.org/drawingml/2006/table">
            <a:tbl>
              <a:tblPr/>
              <a:tblGrid>
                <a:gridCol w="2038350"/>
                <a:gridCol w="2038350"/>
                <a:gridCol w="2038350"/>
                <a:gridCol w="2038350"/>
              </a:tblGrid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研究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输入与知识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决策接口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验证范围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6678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论文 A（替换）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填写实际输入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策略更新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仿真或实体（填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写）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8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论文 B（替换）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填写新增信息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奖励或约束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独立留出（填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写）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8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论文 C（替换）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填写工具边界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计划与工具调用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任务评价（填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写）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8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共同问题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输入是否公平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机制能否区分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结论能外推到哪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里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33/table-caption"/>
          <p:cNvSpPr/>
          <p:nvPr/>
        </p:nvSpPr>
        <p:spPr>
          <a:xfrm>
            <a:off x="457200" y="4548569"/>
            <a:ext cx="81534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7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结构占位 / 合成数据，必须替换后才能用于学术结论</a:t>
            </a:r>
            <a:endParaRPr lang="zh-CN" sz="1350" dirty="0"/>
          </a:p>
        </p:txBody>
      </p:sp>
      <p:sp>
        <p:nvSpPr>
          <p:cNvPr id="10" name="T33/card/region-1/base-rule"/>
          <p:cNvSpPr/>
          <p:nvPr/>
        </p:nvSpPr>
        <p:spPr>
          <a:xfrm>
            <a:off x="8934450" y="3543300"/>
            <a:ext cx="28003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1" name="T33/card/region-1/side-mark"/>
          <p:cNvSpPr/>
          <p:nvPr/>
        </p:nvSpPr>
        <p:spPr>
          <a:xfrm>
            <a:off x="8934450" y="14287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33/card/region-1/title"/>
          <p:cNvSpPr/>
          <p:nvPr/>
        </p:nvSpPr>
        <p:spPr>
          <a:xfrm>
            <a:off x="9086850" y="1428750"/>
            <a:ext cx="26479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比较维度</a:t>
            </a:r>
            <a:endParaRPr lang="zh-CN" sz="1800" dirty="0"/>
          </a:p>
        </p:txBody>
      </p:sp>
      <p:sp>
        <p:nvSpPr>
          <p:cNvPr id="13" name="T33/card/region-1/body"/>
          <p:cNvSpPr/>
          <p:nvPr/>
        </p:nvSpPr>
        <p:spPr>
          <a:xfrm>
            <a:off x="9086850" y="1847850"/>
            <a:ext cx="264795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只比较含义一致的输入与接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口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数值比较须使用相同任务和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评价单位</a:t>
            </a:r>
            <a:endParaRPr lang="zh-CN" sz="1725" dirty="0"/>
          </a:p>
        </p:txBody>
      </p:sp>
      <p:sp>
        <p:nvSpPr>
          <p:cNvPr id="14" name="T33/card/region-2/frame"/>
          <p:cNvSpPr/>
          <p:nvPr/>
        </p:nvSpPr>
        <p:spPr>
          <a:xfrm>
            <a:off x="8934450" y="3905250"/>
            <a:ext cx="2800350" cy="20955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5" name="T33/card/region-2/tab"/>
          <p:cNvSpPr/>
          <p:nvPr/>
        </p:nvSpPr>
        <p:spPr>
          <a:xfrm>
            <a:off x="9048750" y="3790950"/>
            <a:ext cx="14097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33/card/region-2/title"/>
          <p:cNvSpPr/>
          <p:nvPr/>
        </p:nvSpPr>
        <p:spPr>
          <a:xfrm>
            <a:off x="9153525" y="3819525"/>
            <a:ext cx="12001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不可比条件</a:t>
            </a:r>
            <a:endParaRPr lang="zh-CN" sz="1800" dirty="0"/>
          </a:p>
        </p:txBody>
      </p:sp>
      <p:sp>
        <p:nvSpPr>
          <p:cNvPr id="17" name="T33/card/region-2/body"/>
          <p:cNvSpPr/>
          <p:nvPr/>
        </p:nvSpPr>
        <p:spPr>
          <a:xfrm>
            <a:off x="9067800" y="4253865"/>
            <a:ext cx="2533650" cy="1651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列出数据、预算和任务范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围的差异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报告不可比原因及需要补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充的对照</a:t>
            </a:r>
            <a:endParaRPr lang="zh-CN" sz="1725" dirty="0"/>
          </a:p>
        </p:txBody>
      </p:sp>
      <p:sp>
        <p:nvSpPr>
          <p:cNvPr id="18" name="T33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4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34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 / 06</a:t>
            </a:r>
            <a:endParaRPr lang="zh-CN" sz="1050" dirty="0"/>
          </a:p>
        </p:txBody>
      </p:sp>
      <p:sp>
        <p:nvSpPr>
          <p:cNvPr id="4" name="T34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34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研究进展与方法演化</a:t>
            </a:r>
            <a:endParaRPr lang="zh-CN" sz="2550" dirty="0"/>
          </a:p>
        </p:txBody>
      </p:sp>
      <p:sp>
        <p:nvSpPr>
          <p:cNvPr id="6" name="T34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34/edge:0"/>
          <p:cNvSpPr/>
          <p:nvPr/>
        </p:nvSpPr>
        <p:spPr>
          <a:xfrm>
            <a:off x="2762250" y="2114550"/>
            <a:ext cx="6858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8" name="T34/edge:1"/>
          <p:cNvSpPr/>
          <p:nvPr/>
        </p:nvSpPr>
        <p:spPr>
          <a:xfrm>
            <a:off x="5753100" y="2114550"/>
            <a:ext cx="6858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9" name="T34/edge:2"/>
          <p:cNvSpPr/>
          <p:nvPr/>
        </p:nvSpPr>
        <p:spPr>
          <a:xfrm>
            <a:off x="8743950" y="2114550"/>
            <a:ext cx="6858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0" name="T34/node:step-1:frame"/>
          <p:cNvSpPr/>
          <p:nvPr/>
        </p:nvSpPr>
        <p:spPr>
          <a:xfrm>
            <a:off x="457200" y="1504950"/>
            <a:ext cx="230505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1" name="T34/node:step-1:heading-rule"/>
          <p:cNvSpPr/>
          <p:nvPr/>
        </p:nvSpPr>
        <p:spPr>
          <a:xfrm>
            <a:off x="457200" y="1504950"/>
            <a:ext cx="23050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2" name="T34/node:step-1:label"/>
          <p:cNvSpPr/>
          <p:nvPr/>
        </p:nvSpPr>
        <p:spPr>
          <a:xfrm>
            <a:off x="571500" y="1600200"/>
            <a:ext cx="2076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阶段一</a:t>
            </a:r>
            <a:endParaRPr lang="zh-CN" sz="1800" dirty="0"/>
          </a:p>
        </p:txBody>
      </p:sp>
      <p:sp>
        <p:nvSpPr>
          <p:cNvPr id="13" name="T34/node:step-1:detail"/>
          <p:cNvSpPr/>
          <p:nvPr/>
        </p:nvSpPr>
        <p:spPr>
          <a:xfrm>
            <a:off x="571500" y="1914525"/>
            <a:ext cx="2076450" cy="723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4" name="T34/node:step-2:frame"/>
          <p:cNvSpPr/>
          <p:nvPr/>
        </p:nvSpPr>
        <p:spPr>
          <a:xfrm>
            <a:off x="3448050" y="1504950"/>
            <a:ext cx="230505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5" name="T34/node:step-2:heading-rule"/>
          <p:cNvSpPr/>
          <p:nvPr/>
        </p:nvSpPr>
        <p:spPr>
          <a:xfrm>
            <a:off x="3448050" y="1504950"/>
            <a:ext cx="23050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6" name="T34/node:step-2:label"/>
          <p:cNvSpPr/>
          <p:nvPr/>
        </p:nvSpPr>
        <p:spPr>
          <a:xfrm>
            <a:off x="3562350" y="1600200"/>
            <a:ext cx="2076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阶段二</a:t>
            </a:r>
            <a:endParaRPr lang="zh-CN" sz="1800" dirty="0"/>
          </a:p>
        </p:txBody>
      </p:sp>
      <p:sp>
        <p:nvSpPr>
          <p:cNvPr id="17" name="T34/node:step-2:detail"/>
          <p:cNvSpPr/>
          <p:nvPr/>
        </p:nvSpPr>
        <p:spPr>
          <a:xfrm>
            <a:off x="3562350" y="1914525"/>
            <a:ext cx="2076450" cy="723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8" name="T34/node:step-3:frame"/>
          <p:cNvSpPr/>
          <p:nvPr/>
        </p:nvSpPr>
        <p:spPr>
          <a:xfrm>
            <a:off x="6438900" y="1504950"/>
            <a:ext cx="230505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9" name="T34/node:step-3:heading-rule"/>
          <p:cNvSpPr/>
          <p:nvPr/>
        </p:nvSpPr>
        <p:spPr>
          <a:xfrm>
            <a:off x="6438900" y="1504950"/>
            <a:ext cx="23050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0" name="T34/node:step-3:label"/>
          <p:cNvSpPr/>
          <p:nvPr/>
        </p:nvSpPr>
        <p:spPr>
          <a:xfrm>
            <a:off x="6553200" y="1600200"/>
            <a:ext cx="2076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阶段三</a:t>
            </a:r>
            <a:endParaRPr lang="zh-CN" sz="1800" dirty="0"/>
          </a:p>
        </p:txBody>
      </p:sp>
      <p:sp>
        <p:nvSpPr>
          <p:cNvPr id="21" name="T34/node:step-3:detail"/>
          <p:cNvSpPr/>
          <p:nvPr/>
        </p:nvSpPr>
        <p:spPr>
          <a:xfrm>
            <a:off x="6553200" y="1914525"/>
            <a:ext cx="2076450" cy="723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2" name="T34/node:step-4:frame"/>
          <p:cNvSpPr/>
          <p:nvPr/>
        </p:nvSpPr>
        <p:spPr>
          <a:xfrm>
            <a:off x="9429750" y="1504950"/>
            <a:ext cx="230505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3" name="T34/node:step-4:heading-rule"/>
          <p:cNvSpPr/>
          <p:nvPr/>
        </p:nvSpPr>
        <p:spPr>
          <a:xfrm>
            <a:off x="9429750" y="1504950"/>
            <a:ext cx="23050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4" name="T34/node:step-4:label"/>
          <p:cNvSpPr/>
          <p:nvPr/>
        </p:nvSpPr>
        <p:spPr>
          <a:xfrm>
            <a:off x="9544050" y="1600200"/>
            <a:ext cx="2076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当前研究</a:t>
            </a:r>
            <a:endParaRPr lang="zh-CN" sz="1800" dirty="0"/>
          </a:p>
        </p:txBody>
      </p:sp>
      <p:sp>
        <p:nvSpPr>
          <p:cNvPr id="25" name="T34/node:step-4:detail"/>
          <p:cNvSpPr/>
          <p:nvPr/>
        </p:nvSpPr>
        <p:spPr>
          <a:xfrm>
            <a:off x="9544050" y="1914525"/>
            <a:ext cx="2076450" cy="723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6" name="T34/card/region-1/base-rule"/>
          <p:cNvSpPr/>
          <p:nvPr/>
        </p:nvSpPr>
        <p:spPr>
          <a:xfrm>
            <a:off x="457200" y="6019800"/>
            <a:ext cx="35242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27" name="T34/card/region-1/side-mark"/>
          <p:cNvSpPr/>
          <p:nvPr/>
        </p:nvSpPr>
        <p:spPr>
          <a:xfrm>
            <a:off x="457200" y="37147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34/card/region-1/title"/>
          <p:cNvSpPr/>
          <p:nvPr/>
        </p:nvSpPr>
        <p:spPr>
          <a:xfrm>
            <a:off x="609600" y="3714750"/>
            <a:ext cx="33718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方法演化</a:t>
            </a:r>
            <a:endParaRPr lang="zh-CN" sz="1800" dirty="0"/>
          </a:p>
        </p:txBody>
      </p:sp>
      <p:sp>
        <p:nvSpPr>
          <p:cNvPr id="29" name="T34/card/region-1/body"/>
          <p:cNvSpPr/>
          <p:nvPr/>
        </p:nvSpPr>
        <p:spPr>
          <a:xfrm>
            <a:off x="609600" y="4133850"/>
            <a:ext cx="3371850" cy="1790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记录新增的知识、工具或控制接口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用具体模块变化解释方法进展</a:t>
            </a:r>
            <a:endParaRPr lang="zh-CN" sz="1725" dirty="0"/>
          </a:p>
        </p:txBody>
      </p:sp>
      <p:sp>
        <p:nvSpPr>
          <p:cNvPr id="30" name="T34/card/region-2/heading-rule"/>
          <p:cNvSpPr/>
          <p:nvPr/>
        </p:nvSpPr>
        <p:spPr>
          <a:xfrm>
            <a:off x="4267200" y="4057650"/>
            <a:ext cx="35242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1" name="T34/card/region-2/heading-mark"/>
          <p:cNvSpPr/>
          <p:nvPr/>
        </p:nvSpPr>
        <p:spPr>
          <a:xfrm>
            <a:off x="4267200" y="405765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32" name="T34/card/region-2/title"/>
          <p:cNvSpPr/>
          <p:nvPr/>
        </p:nvSpPr>
        <p:spPr>
          <a:xfrm>
            <a:off x="4267200" y="3714750"/>
            <a:ext cx="35242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评价演化</a:t>
            </a:r>
            <a:endParaRPr lang="zh-CN" sz="1875" dirty="0"/>
          </a:p>
        </p:txBody>
      </p:sp>
      <p:sp>
        <p:nvSpPr>
          <p:cNvPr id="33" name="T34/card/region-2/body"/>
          <p:cNvSpPr/>
          <p:nvPr/>
        </p:nvSpPr>
        <p:spPr>
          <a:xfrm>
            <a:off x="4267200" y="4191000"/>
            <a:ext cx="3524250" cy="1790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区分离线指标、任务评价与现场收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益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每个阶段注明实际验证范围</a:t>
            </a:r>
            <a:endParaRPr lang="zh-CN" sz="1800" dirty="0"/>
          </a:p>
        </p:txBody>
      </p:sp>
      <p:sp>
        <p:nvSpPr>
          <p:cNvPr id="34" name="T34/card/region-3/frame"/>
          <p:cNvSpPr/>
          <p:nvPr/>
        </p:nvSpPr>
        <p:spPr>
          <a:xfrm>
            <a:off x="8077200" y="3810000"/>
            <a:ext cx="3657600" cy="22098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5" name="T34/card/region-3/tab"/>
          <p:cNvSpPr/>
          <p:nvPr/>
        </p:nvSpPr>
        <p:spPr>
          <a:xfrm>
            <a:off x="8191500" y="3695700"/>
            <a:ext cx="18669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34/card/region-3/title"/>
          <p:cNvSpPr/>
          <p:nvPr/>
        </p:nvSpPr>
        <p:spPr>
          <a:xfrm>
            <a:off x="8296275" y="3724275"/>
            <a:ext cx="16573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仍然缺少的验证</a:t>
            </a:r>
            <a:endParaRPr lang="zh-CN" sz="1800" dirty="0"/>
          </a:p>
        </p:txBody>
      </p:sp>
      <p:sp>
        <p:nvSpPr>
          <p:cNvPr id="37" name="T34/card/region-3/body"/>
          <p:cNvSpPr/>
          <p:nvPr/>
        </p:nvSpPr>
        <p:spPr>
          <a:xfrm>
            <a:off x="8210550" y="4158615"/>
            <a:ext cx="3390900" cy="17659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指出现有证据尚未覆盖的条件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提出升级验证需要的数据与对照</a:t>
            </a:r>
            <a:endParaRPr lang="zh-CN" sz="1725" dirty="0"/>
          </a:p>
        </p:txBody>
      </p:sp>
      <p:sp>
        <p:nvSpPr>
          <p:cNvPr id="38" name="T34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5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35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 / 06</a:t>
            </a:r>
            <a:endParaRPr lang="zh-CN" sz="1050" dirty="0"/>
          </a:p>
        </p:txBody>
      </p:sp>
      <p:sp>
        <p:nvSpPr>
          <p:cNvPr id="4" name="T35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35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一致发现与相互冲突</a:t>
            </a:r>
            <a:endParaRPr lang="zh-CN" sz="2550" dirty="0"/>
          </a:p>
        </p:txBody>
      </p:sp>
      <p:sp>
        <p:nvSpPr>
          <p:cNvPr id="6" name="T35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35/figure:0:paper"/>
          <p:cNvSpPr/>
          <p:nvPr/>
        </p:nvSpPr>
        <p:spPr>
          <a:xfrm>
            <a:off x="457200" y="1314450"/>
            <a:ext cx="5467350" cy="2476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T35/figure:0:image" descr="T1 · 示例图 · 响应曲线；合成演示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2875" y="1314450"/>
            <a:ext cx="3556000" cy="2133600"/>
          </a:xfrm>
          <a:prstGeom prst="rect">
            <a:avLst/>
          </a:prstGeom>
        </p:spPr>
      </p:pic>
      <p:sp>
        <p:nvSpPr>
          <p:cNvPr id="9" name="T35/figure:0:caption"/>
          <p:cNvSpPr/>
          <p:nvPr/>
        </p:nvSpPr>
        <p:spPr>
          <a:xfrm>
            <a:off x="457200" y="3533775"/>
            <a:ext cx="54673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响应曲线；合成演示值</a:t>
            </a:r>
            <a:endParaRPr lang="zh-CN" sz="1350" dirty="0"/>
          </a:p>
        </p:txBody>
      </p:sp>
      <p:sp>
        <p:nvSpPr>
          <p:cNvPr id="10" name="T35/figure:1:paper"/>
          <p:cNvSpPr/>
          <p:nvPr/>
        </p:nvSpPr>
        <p:spPr>
          <a:xfrm>
            <a:off x="6248400" y="1314450"/>
            <a:ext cx="5486400" cy="2476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T35/figure:1:image" descr="T1 · 示例图 · 效应与区间；合成演示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600" y="1314450"/>
            <a:ext cx="3556000" cy="2133600"/>
          </a:xfrm>
          <a:prstGeom prst="rect">
            <a:avLst/>
          </a:prstGeom>
        </p:spPr>
      </p:pic>
      <p:sp>
        <p:nvSpPr>
          <p:cNvPr id="12" name="T35/figure:1:caption"/>
          <p:cNvSpPr/>
          <p:nvPr/>
        </p:nvSpPr>
        <p:spPr>
          <a:xfrm>
            <a:off x="6248400" y="3533775"/>
            <a:ext cx="54864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效应与区间；合成演示值</a:t>
            </a:r>
            <a:endParaRPr lang="zh-CN" sz="1350" dirty="0"/>
          </a:p>
        </p:txBody>
      </p:sp>
      <p:sp>
        <p:nvSpPr>
          <p:cNvPr id="13" name="T35/card/region-1/frame"/>
          <p:cNvSpPr/>
          <p:nvPr/>
        </p:nvSpPr>
        <p:spPr>
          <a:xfrm>
            <a:off x="457200" y="4133850"/>
            <a:ext cx="3524250" cy="18669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4" name="T35/card/region-1/heading-fill"/>
          <p:cNvSpPr/>
          <p:nvPr/>
        </p:nvSpPr>
        <p:spPr>
          <a:xfrm>
            <a:off x="466725" y="4143375"/>
            <a:ext cx="35052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35/card/region-1/heading-rule"/>
          <p:cNvSpPr/>
          <p:nvPr/>
        </p:nvSpPr>
        <p:spPr>
          <a:xfrm>
            <a:off x="457200" y="4514850"/>
            <a:ext cx="35242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6" name="T35/card/region-1/title"/>
          <p:cNvSpPr/>
          <p:nvPr/>
        </p:nvSpPr>
        <p:spPr>
          <a:xfrm>
            <a:off x="581025" y="4191000"/>
            <a:ext cx="32766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一致发现</a:t>
            </a:r>
            <a:endParaRPr lang="zh-CN" sz="1800" dirty="0"/>
          </a:p>
        </p:txBody>
      </p:sp>
      <p:sp>
        <p:nvSpPr>
          <p:cNvPr id="17" name="T35/card/region-1/body"/>
          <p:cNvSpPr/>
          <p:nvPr/>
        </p:nvSpPr>
        <p:spPr>
          <a:xfrm>
            <a:off x="590550" y="4629150"/>
            <a:ext cx="3257550" cy="1276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汇总可被不同证据重复支持的关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系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保留各论文共享的实验条件</a:t>
            </a:r>
            <a:endParaRPr lang="zh-CN" sz="1725" dirty="0"/>
          </a:p>
        </p:txBody>
      </p:sp>
      <p:sp>
        <p:nvSpPr>
          <p:cNvPr id="18" name="T35/card/region-2/frame"/>
          <p:cNvSpPr/>
          <p:nvPr/>
        </p:nvSpPr>
        <p:spPr>
          <a:xfrm>
            <a:off x="4267200" y="4248150"/>
            <a:ext cx="3524250" cy="17526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9" name="T35/card/region-2/tab"/>
          <p:cNvSpPr/>
          <p:nvPr/>
        </p:nvSpPr>
        <p:spPr>
          <a:xfrm>
            <a:off x="4381500" y="413385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35/card/region-2/title"/>
          <p:cNvSpPr/>
          <p:nvPr/>
        </p:nvSpPr>
        <p:spPr>
          <a:xfrm>
            <a:off x="4486275" y="41624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冲突来源</a:t>
            </a:r>
            <a:endParaRPr lang="zh-CN" sz="1800" dirty="0"/>
          </a:p>
        </p:txBody>
      </p:sp>
      <p:sp>
        <p:nvSpPr>
          <p:cNvPr id="21" name="T35/card/region-2/body"/>
          <p:cNvSpPr/>
          <p:nvPr/>
        </p:nvSpPr>
        <p:spPr>
          <a:xfrm>
            <a:off x="4400550" y="4596765"/>
            <a:ext cx="3257550" cy="13087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先检查任务、样本和测量尺度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再分析机制解释是否相互排斥</a:t>
            </a:r>
            <a:endParaRPr lang="zh-CN" sz="1725" dirty="0"/>
          </a:p>
        </p:txBody>
      </p:sp>
      <p:sp>
        <p:nvSpPr>
          <p:cNvPr id="22" name="T35/card/region-3/heading-rule"/>
          <p:cNvSpPr/>
          <p:nvPr/>
        </p:nvSpPr>
        <p:spPr>
          <a:xfrm>
            <a:off x="8077200" y="4495800"/>
            <a:ext cx="36576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3" name="T35/card/region-3/heading-mark"/>
          <p:cNvSpPr/>
          <p:nvPr/>
        </p:nvSpPr>
        <p:spPr>
          <a:xfrm>
            <a:off x="8077200" y="44958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24" name="T35/card/region-3/title"/>
          <p:cNvSpPr/>
          <p:nvPr/>
        </p:nvSpPr>
        <p:spPr>
          <a:xfrm>
            <a:off x="8077200" y="4152900"/>
            <a:ext cx="36576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可区分的解释</a:t>
            </a:r>
            <a:endParaRPr lang="zh-CN" sz="1875" dirty="0"/>
          </a:p>
        </p:txBody>
      </p:sp>
      <p:sp>
        <p:nvSpPr>
          <p:cNvPr id="25" name="T35/card/region-3/body"/>
          <p:cNvSpPr/>
          <p:nvPr/>
        </p:nvSpPr>
        <p:spPr>
          <a:xfrm>
            <a:off x="8077200" y="4629150"/>
            <a:ext cx="3657600" cy="1333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列出能够解释分歧的具体条件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设计只改变该条件的公平比较</a:t>
            </a:r>
            <a:endParaRPr lang="zh-CN" sz="1800" dirty="0"/>
          </a:p>
        </p:txBody>
      </p:sp>
      <p:sp>
        <p:nvSpPr>
          <p:cNvPr id="26" name="T35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6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36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 / 06</a:t>
            </a:r>
            <a:endParaRPr lang="zh-CN" sz="1050" dirty="0"/>
          </a:p>
        </p:txBody>
      </p:sp>
      <p:sp>
        <p:nvSpPr>
          <p:cNvPr id="4" name="T36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36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证据缺口与研究问题</a:t>
            </a:r>
            <a:endParaRPr lang="zh-CN" sz="2550" dirty="0"/>
          </a:p>
        </p:txBody>
      </p:sp>
      <p:sp>
        <p:nvSpPr>
          <p:cNvPr id="6" name="T36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36/card/region-1/frame"/>
          <p:cNvSpPr/>
          <p:nvPr/>
        </p:nvSpPr>
        <p:spPr>
          <a:xfrm>
            <a:off x="457200" y="1409700"/>
            <a:ext cx="5124450" cy="16764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36/card/region-1/heading-fill"/>
          <p:cNvSpPr/>
          <p:nvPr/>
        </p:nvSpPr>
        <p:spPr>
          <a:xfrm>
            <a:off x="466725" y="1419225"/>
            <a:ext cx="51054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36/card/region-1/heading-rule"/>
          <p:cNvSpPr/>
          <p:nvPr/>
        </p:nvSpPr>
        <p:spPr>
          <a:xfrm>
            <a:off x="457200" y="1790700"/>
            <a:ext cx="51244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36/card/region-1/title"/>
          <p:cNvSpPr/>
          <p:nvPr/>
        </p:nvSpPr>
        <p:spPr>
          <a:xfrm>
            <a:off x="581025" y="1466850"/>
            <a:ext cx="48768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已知证据一</a:t>
            </a:r>
            <a:endParaRPr lang="zh-CN" sz="1800" dirty="0"/>
          </a:p>
        </p:txBody>
      </p:sp>
      <p:sp>
        <p:nvSpPr>
          <p:cNvPr id="11" name="T36/card/region-1/body"/>
          <p:cNvSpPr/>
          <p:nvPr/>
        </p:nvSpPr>
        <p:spPr>
          <a:xfrm>
            <a:off x="590550" y="1905000"/>
            <a:ext cx="4857750" cy="1085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汇总现有研究一致支持的发现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保留场景与测量条件</a:t>
            </a:r>
            <a:endParaRPr lang="zh-CN" sz="1725" dirty="0"/>
          </a:p>
        </p:txBody>
      </p:sp>
      <p:sp>
        <p:nvSpPr>
          <p:cNvPr id="12" name="T36/card/region-2/title"/>
          <p:cNvSpPr/>
          <p:nvPr/>
        </p:nvSpPr>
        <p:spPr>
          <a:xfrm>
            <a:off x="5924550" y="1428750"/>
            <a:ext cx="58102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355D8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对应研究问题一</a:t>
            </a:r>
            <a:endParaRPr lang="zh-CN" sz="1875" dirty="0"/>
          </a:p>
        </p:txBody>
      </p:sp>
      <p:sp>
        <p:nvSpPr>
          <p:cNvPr id="13" name="T36/card/region-2/body"/>
          <p:cNvSpPr/>
          <p:nvPr/>
        </p:nvSpPr>
        <p:spPr>
          <a:xfrm>
            <a:off x="5924550" y="1876425"/>
            <a:ext cx="5810250" cy="1171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新研究需要改变哪个接口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给出具体可测的目标</a:t>
            </a:r>
            <a:endParaRPr lang="zh-CN" sz="1800" dirty="0"/>
          </a:p>
        </p:txBody>
      </p:sp>
      <p:sp>
        <p:nvSpPr>
          <p:cNvPr id="14" name="T36/card/region-3/frame"/>
          <p:cNvSpPr/>
          <p:nvPr/>
        </p:nvSpPr>
        <p:spPr>
          <a:xfrm>
            <a:off x="457200" y="3371850"/>
            <a:ext cx="5124450" cy="16764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5" name="T36/card/region-3/heading-fill"/>
          <p:cNvSpPr/>
          <p:nvPr/>
        </p:nvSpPr>
        <p:spPr>
          <a:xfrm>
            <a:off x="466725" y="3381375"/>
            <a:ext cx="51054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36/card/region-3/heading-rule"/>
          <p:cNvSpPr/>
          <p:nvPr/>
        </p:nvSpPr>
        <p:spPr>
          <a:xfrm>
            <a:off x="457200" y="3752850"/>
            <a:ext cx="51244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7" name="T36/card/region-3/title"/>
          <p:cNvSpPr/>
          <p:nvPr/>
        </p:nvSpPr>
        <p:spPr>
          <a:xfrm>
            <a:off x="581025" y="3429000"/>
            <a:ext cx="48768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已知证据二</a:t>
            </a:r>
            <a:endParaRPr lang="zh-CN" sz="1800" dirty="0"/>
          </a:p>
        </p:txBody>
      </p:sp>
      <p:sp>
        <p:nvSpPr>
          <p:cNvPr id="18" name="T36/card/region-3/body"/>
          <p:cNvSpPr/>
          <p:nvPr/>
        </p:nvSpPr>
        <p:spPr>
          <a:xfrm>
            <a:off x="590550" y="3867150"/>
            <a:ext cx="4857750" cy="1085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记录已有失败与反例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说明信息是否足以解释</a:t>
            </a:r>
            <a:endParaRPr lang="zh-CN" sz="1725" dirty="0"/>
          </a:p>
        </p:txBody>
      </p:sp>
      <p:sp>
        <p:nvSpPr>
          <p:cNvPr id="19" name="T36/card/region-4/title"/>
          <p:cNvSpPr/>
          <p:nvPr/>
        </p:nvSpPr>
        <p:spPr>
          <a:xfrm>
            <a:off x="5924550" y="3390900"/>
            <a:ext cx="58102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355D8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对应研究问题二</a:t>
            </a:r>
            <a:endParaRPr lang="zh-CN" sz="1875" dirty="0"/>
          </a:p>
        </p:txBody>
      </p:sp>
      <p:sp>
        <p:nvSpPr>
          <p:cNvPr id="20" name="T36/card/region-4/body"/>
          <p:cNvSpPr/>
          <p:nvPr/>
        </p:nvSpPr>
        <p:spPr>
          <a:xfrm>
            <a:off x="5924550" y="3838575"/>
            <a:ext cx="5810250" cy="1171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设计能区分替代解释的比较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明确数据与预算</a:t>
            </a:r>
            <a:endParaRPr lang="zh-CN" sz="1800" dirty="0"/>
          </a:p>
        </p:txBody>
      </p:sp>
      <p:sp>
        <p:nvSpPr>
          <p:cNvPr id="21" name="T36/card/region-5/title"/>
          <p:cNvSpPr/>
          <p:nvPr/>
        </p:nvSpPr>
        <p:spPr>
          <a:xfrm>
            <a:off x="457200" y="5353050"/>
            <a:ext cx="112776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下一步检验条件</a:t>
            </a:r>
            <a:endParaRPr lang="zh-CN" sz="1875" dirty="0"/>
          </a:p>
        </p:txBody>
      </p:sp>
      <p:sp>
        <p:nvSpPr>
          <p:cNvPr id="22" name="T36/card/region-5/body"/>
          <p:cNvSpPr/>
          <p:nvPr/>
        </p:nvSpPr>
        <p:spPr>
          <a:xfrm>
            <a:off x="457200" y="5734050"/>
            <a:ext cx="112776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优先检验影响核心结论且能获得证据的问题</a:t>
            </a:r>
            <a:endParaRPr lang="zh-CN" sz="1725" dirty="0"/>
          </a:p>
        </p:txBody>
      </p:sp>
      <p:sp>
        <p:nvSpPr>
          <p:cNvPr id="23" name="T36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跨文献综合学术模板</dc:title>
  <dc:subject>原创学术版式、结构化填充指引与合成科学图</dc:subject>
  <dc:creator>DSH Academic PPT</dc:creator>
  <cp:lastModifiedBy>DSH Academic PPT</cp:lastModifiedBy>
  <cp:revision>1</cp:revision>
  <dcterms:created xsi:type="dcterms:W3CDTF">2026-10-20T04:29:15Z</dcterms:created>
  <dcterms:modified xsi:type="dcterms:W3CDTF">2026-10-20T04:29:15Z</dcterms:modified>
</cp:coreProperties>
</file>