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synthesis-mechanism-map。以共有接口连接不同方法，下面说明差异来自哪里。
全部文本为填写指引，图表值是合成演示值，不是任何研究结果。使用前替换论文、数据、原图与来源。
内容职责：共同机制；关键差异。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synthesis-evidence-ladder。四类证据按验证层级展开，侧栏解释可支持的结论。
全部文本为填写指引，图表值是合成演示值，不是任何研究结果。使用前替换论文、数据、原图与来源。
内容职责：离线与模拟；受控实验；独立环境验证；真实部署；共同评价对象；外推边界。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synthesis-method-comparison。表格只比较输入、接口与验证范围，右侧解释不可比的数字。
全部文本为填写指引，图表值是合成演示值，不是任何研究结果。使用前替换论文、数据、原图与来源。
内容职责：比较维度；不可比条件。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synthesis-timeline。时间节点上方对应技术变化，下方集中说明评价方式的变化。
全部文本为填写指引，图表值是合成演示值，不是任何研究结果。使用前替换论文、数据、原图与来源。
内容职责：方法演化；评价演化；仍然缺少的验证。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synthesis-agreement-conflict。并列证据图后将一致结论、冲突来源与可能解释明确区分。
全部文本为填写指引，图表值是合成演示值，不是任何研究结果。使用前替换论文、数据、原图与来源。
内容职责：一致发现；冲突来源；可区分的解释。
建议讲述时间只是排练起点，按实际内容调整。
原图来源：T1
示例图
响应曲线；合成演示值
https://github.com/YuZhou0311/dsh-academic-ppt
原创排版教学示例 v0.3.0
MIT; all plotted values are synthetic
完整原图，无裁切
原图来源：T1
示例图
效应与区间；合成演示值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synthesis-open-questions。左列归纳已知证据，右侧提出对应问题，底部说明检验优先级。
全部文本为填写指引，图表值是合成演示值，不是任何研究结果。使用前替换论文、数据、原图与来源。
内容职责：已知证据一；对应研究问题一；已知证据二；对应研究问题二；下一步检验条件。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06</a:t>
            </a:r>
            <a:endParaRPr lang="zh-CN" sz="1050" dirty="0"/>
          </a:p>
        </p:txBody>
      </p:sp>
      <p:sp>
        <p:nvSpPr>
          <p:cNvPr id="4" name="T3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多篇方法的接口对应</a:t>
            </a:r>
            <a:endParaRPr lang="zh-CN" sz="3000" dirty="0"/>
          </a:p>
        </p:txBody>
      </p:sp>
      <p:sp>
        <p:nvSpPr>
          <p:cNvPr id="5" name="T3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1/panel:0:frame"/>
          <p:cNvSpPr/>
          <p:nvPr/>
        </p:nvSpPr>
        <p:spPr>
          <a:xfrm>
            <a:off x="457200" y="1187006"/>
            <a:ext cx="11277600" cy="2413445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1/panel:0:heading-fill"/>
          <p:cNvSpPr/>
          <p:nvPr/>
        </p:nvSpPr>
        <p:spPr>
          <a:xfrm>
            <a:off x="466725" y="1196531"/>
            <a:ext cx="11258550" cy="38100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1/panel:0:heading-rule"/>
          <p:cNvSpPr/>
          <p:nvPr/>
        </p:nvSpPr>
        <p:spPr>
          <a:xfrm>
            <a:off x="457200" y="1577531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31/panel:0:title"/>
          <p:cNvSpPr/>
          <p:nvPr/>
        </p:nvSpPr>
        <p:spPr>
          <a:xfrm>
            <a:off x="581025" y="1234631"/>
            <a:ext cx="11029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在同一接口层级比较</a:t>
            </a:r>
            <a:endParaRPr lang="zh-CN" sz="1950" dirty="0"/>
          </a:p>
        </p:txBody>
      </p:sp>
      <p:sp>
        <p:nvSpPr>
          <p:cNvPr id="11" name="T31/edge:0"/>
          <p:cNvSpPr/>
          <p:nvPr/>
        </p:nvSpPr>
        <p:spPr>
          <a:xfrm>
            <a:off x="2762250" y="2561844"/>
            <a:ext cx="7239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2" name="T31/edge:1"/>
          <p:cNvSpPr/>
          <p:nvPr/>
        </p:nvSpPr>
        <p:spPr>
          <a:xfrm>
            <a:off x="5638800" y="2561844"/>
            <a:ext cx="7429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31/edge:2"/>
          <p:cNvSpPr/>
          <p:nvPr/>
        </p:nvSpPr>
        <p:spPr>
          <a:xfrm>
            <a:off x="8534400" y="2561844"/>
            <a:ext cx="7429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31/node:step-1:frame"/>
          <p:cNvSpPr/>
          <p:nvPr/>
        </p:nvSpPr>
        <p:spPr>
          <a:xfrm>
            <a:off x="609600" y="1859566"/>
            <a:ext cx="2152650" cy="1404557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31/node:step-1:heading-rule"/>
          <p:cNvSpPr/>
          <p:nvPr/>
        </p:nvSpPr>
        <p:spPr>
          <a:xfrm>
            <a:off x="609600" y="1859566"/>
            <a:ext cx="21526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6" name="T31/node:step-1:label"/>
          <p:cNvSpPr/>
          <p:nvPr/>
        </p:nvSpPr>
        <p:spPr>
          <a:xfrm>
            <a:off x="723900" y="195481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共同输入</a:t>
            </a:r>
            <a:endParaRPr lang="zh-CN" sz="1800" dirty="0"/>
          </a:p>
        </p:txBody>
      </p:sp>
      <p:sp>
        <p:nvSpPr>
          <p:cNvPr id="17" name="T31/node:step-1:detail"/>
          <p:cNvSpPr/>
          <p:nvPr/>
        </p:nvSpPr>
        <p:spPr>
          <a:xfrm>
            <a:off x="723900" y="2269141"/>
            <a:ext cx="1924050" cy="90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统一观测与单位</a:t>
            </a:r>
            <a:endParaRPr lang="zh-CN" sz="1650" dirty="0"/>
          </a:p>
        </p:txBody>
      </p:sp>
      <p:sp>
        <p:nvSpPr>
          <p:cNvPr id="18" name="T31/node:step-2:frame"/>
          <p:cNvSpPr/>
          <p:nvPr/>
        </p:nvSpPr>
        <p:spPr>
          <a:xfrm>
            <a:off x="3486150" y="1859566"/>
            <a:ext cx="2152650" cy="140455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31/node:step-2:heading-rule"/>
          <p:cNvSpPr/>
          <p:nvPr/>
        </p:nvSpPr>
        <p:spPr>
          <a:xfrm>
            <a:off x="3486150" y="1859566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0" name="T31/node:step-2:label"/>
          <p:cNvSpPr/>
          <p:nvPr/>
        </p:nvSpPr>
        <p:spPr>
          <a:xfrm>
            <a:off x="3600450" y="195481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知识接入</a:t>
            </a:r>
            <a:endParaRPr lang="zh-CN" sz="1800" dirty="0"/>
          </a:p>
        </p:txBody>
      </p:sp>
      <p:sp>
        <p:nvSpPr>
          <p:cNvPr id="21" name="T31/node:step-2:detail"/>
          <p:cNvSpPr/>
          <p:nvPr/>
        </p:nvSpPr>
        <p:spPr>
          <a:xfrm>
            <a:off x="3600450" y="2269141"/>
            <a:ext cx="1924050" cy="90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新增信息的来源</a:t>
            </a:r>
            <a:endParaRPr lang="zh-CN" sz="1650" dirty="0"/>
          </a:p>
        </p:txBody>
      </p:sp>
      <p:sp>
        <p:nvSpPr>
          <p:cNvPr id="22" name="T31/node:step-3:frame"/>
          <p:cNvSpPr/>
          <p:nvPr/>
        </p:nvSpPr>
        <p:spPr>
          <a:xfrm>
            <a:off x="6381750" y="1859566"/>
            <a:ext cx="2152650" cy="140455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31/node:step-3:heading-rule"/>
          <p:cNvSpPr/>
          <p:nvPr/>
        </p:nvSpPr>
        <p:spPr>
          <a:xfrm>
            <a:off x="6381750" y="1859566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T31/node:step-3:label"/>
          <p:cNvSpPr/>
          <p:nvPr/>
        </p:nvSpPr>
        <p:spPr>
          <a:xfrm>
            <a:off x="6496050" y="195481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决策接口</a:t>
            </a:r>
            <a:endParaRPr lang="zh-CN" sz="1800" dirty="0"/>
          </a:p>
        </p:txBody>
      </p:sp>
      <p:sp>
        <p:nvSpPr>
          <p:cNvPr id="25" name="T31/node:step-3:detail"/>
          <p:cNvSpPr/>
          <p:nvPr/>
        </p:nvSpPr>
        <p:spPr>
          <a:xfrm>
            <a:off x="6496050" y="2269141"/>
            <a:ext cx="1924050" cy="90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谁选择管理动作</a:t>
            </a:r>
            <a:endParaRPr lang="zh-CN" sz="1650" dirty="0"/>
          </a:p>
        </p:txBody>
      </p:sp>
      <p:sp>
        <p:nvSpPr>
          <p:cNvPr id="26" name="T31/node:step-4:frame"/>
          <p:cNvSpPr/>
          <p:nvPr/>
        </p:nvSpPr>
        <p:spPr>
          <a:xfrm>
            <a:off x="9277350" y="1859566"/>
            <a:ext cx="2305050" cy="140455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7" name="T31/node:step-4:heading-rule"/>
          <p:cNvSpPr/>
          <p:nvPr/>
        </p:nvSpPr>
        <p:spPr>
          <a:xfrm>
            <a:off x="9277350" y="1859566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8" name="T31/node:step-4:label"/>
          <p:cNvSpPr/>
          <p:nvPr/>
        </p:nvSpPr>
        <p:spPr>
          <a:xfrm>
            <a:off x="9391650" y="1954816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执行与反馈</a:t>
            </a:r>
            <a:endParaRPr lang="zh-CN" sz="1800" dirty="0"/>
          </a:p>
        </p:txBody>
      </p:sp>
      <p:sp>
        <p:nvSpPr>
          <p:cNvPr id="29" name="T31/node:step-4:detail"/>
          <p:cNvSpPr/>
          <p:nvPr/>
        </p:nvSpPr>
        <p:spPr>
          <a:xfrm>
            <a:off x="9391650" y="2269141"/>
            <a:ext cx="2076450" cy="90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如何检验输出</a:t>
            </a:r>
            <a:endParaRPr lang="zh-CN" sz="1650" dirty="0"/>
          </a:p>
        </p:txBody>
      </p:sp>
      <p:sp>
        <p:nvSpPr>
          <p:cNvPr id="30" name="T31/card/region-1/frame"/>
          <p:cNvSpPr/>
          <p:nvPr/>
        </p:nvSpPr>
        <p:spPr>
          <a:xfrm>
            <a:off x="457200" y="4075271"/>
            <a:ext cx="5486400" cy="193871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1" name="T31/card/region-1/heading-fill"/>
          <p:cNvSpPr/>
          <p:nvPr/>
        </p:nvSpPr>
        <p:spPr>
          <a:xfrm>
            <a:off x="466725" y="4084796"/>
            <a:ext cx="54673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31/card/region-1/heading-rule"/>
          <p:cNvSpPr/>
          <p:nvPr/>
        </p:nvSpPr>
        <p:spPr>
          <a:xfrm>
            <a:off x="457200" y="4456271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3" name="T31/card/region-1/title"/>
          <p:cNvSpPr/>
          <p:nvPr/>
        </p:nvSpPr>
        <p:spPr>
          <a:xfrm>
            <a:off x="581025" y="4122896"/>
            <a:ext cx="52387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共同机制</a:t>
            </a:r>
            <a:endParaRPr lang="zh-CN" sz="1950" dirty="0"/>
          </a:p>
        </p:txBody>
      </p:sp>
      <p:sp>
        <p:nvSpPr>
          <p:cNvPr id="34" name="T31/card/region-1/body"/>
          <p:cNvSpPr/>
          <p:nvPr/>
        </p:nvSpPr>
        <p:spPr>
          <a:xfrm>
            <a:off x="590550" y="4561046"/>
            <a:ext cx="5219700" cy="1357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比较共同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、动作和反馈的接口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把机制相同与实现相同分开</a:t>
            </a:r>
            <a:endParaRPr lang="zh-CN" sz="1800" dirty="0"/>
          </a:p>
        </p:txBody>
      </p:sp>
      <p:sp>
        <p:nvSpPr>
          <p:cNvPr id="35" name="T31/card/region-2/frame"/>
          <p:cNvSpPr/>
          <p:nvPr/>
        </p:nvSpPr>
        <p:spPr>
          <a:xfrm>
            <a:off x="6248400" y="4189571"/>
            <a:ext cx="5486400" cy="182441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6" name="T31/card/region-2/tab"/>
          <p:cNvSpPr/>
          <p:nvPr/>
        </p:nvSpPr>
        <p:spPr>
          <a:xfrm>
            <a:off x="6362700" y="4075271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31/card/region-2/title"/>
          <p:cNvSpPr/>
          <p:nvPr/>
        </p:nvSpPr>
        <p:spPr>
          <a:xfrm>
            <a:off x="6467475" y="4103846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关键差异</a:t>
            </a:r>
            <a:endParaRPr lang="zh-CN" sz="1950" dirty="0"/>
          </a:p>
        </p:txBody>
      </p:sp>
      <p:sp>
        <p:nvSpPr>
          <p:cNvPr id="38" name="T31/card/region-2/body"/>
          <p:cNvSpPr/>
          <p:nvPr/>
        </p:nvSpPr>
        <p:spPr>
          <a:xfrm>
            <a:off x="6381750" y="4561046"/>
            <a:ext cx="5219700" cy="1357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额外知识、模型和控制权进入何处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不同环境的数值不直接排序</a:t>
            </a:r>
            <a:endParaRPr lang="zh-CN" sz="1800" dirty="0"/>
          </a:p>
        </p:txBody>
      </p:sp>
      <p:sp>
        <p:nvSpPr>
          <p:cNvPr id="39" name="T3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06</a:t>
            </a:r>
            <a:endParaRPr lang="zh-CN" sz="1050" dirty="0"/>
          </a:p>
        </p:txBody>
      </p:sp>
      <p:sp>
        <p:nvSpPr>
          <p:cNvPr id="4" name="T3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证据等级与外推距离</a:t>
            </a:r>
            <a:endParaRPr lang="zh-CN" sz="3000" dirty="0"/>
          </a:p>
        </p:txBody>
      </p:sp>
      <p:sp>
        <p:nvSpPr>
          <p:cNvPr id="5" name="T3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2/card/region-1/frame"/>
          <p:cNvSpPr/>
          <p:nvPr/>
        </p:nvSpPr>
        <p:spPr>
          <a:xfrm>
            <a:off x="457200" y="1226534"/>
            <a:ext cx="7620000" cy="11473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2/card/region-1/heading-fill"/>
          <p:cNvSpPr/>
          <p:nvPr/>
        </p:nvSpPr>
        <p:spPr>
          <a:xfrm>
            <a:off x="466725" y="1236059"/>
            <a:ext cx="76009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2/card/region-1/heading-rule"/>
          <p:cNvSpPr/>
          <p:nvPr/>
        </p:nvSpPr>
        <p:spPr>
          <a:xfrm>
            <a:off x="457200" y="1607534"/>
            <a:ext cx="76200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32/card/region-1/title"/>
          <p:cNvSpPr/>
          <p:nvPr/>
        </p:nvSpPr>
        <p:spPr>
          <a:xfrm>
            <a:off x="581025" y="1274159"/>
            <a:ext cx="7372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离线与模拟</a:t>
            </a:r>
            <a:endParaRPr lang="zh-CN" sz="1950" dirty="0"/>
          </a:p>
        </p:txBody>
      </p:sp>
      <p:sp>
        <p:nvSpPr>
          <p:cNvPr id="11" name="T32/card/region-1/body"/>
          <p:cNvSpPr/>
          <p:nvPr/>
        </p:nvSpPr>
        <p:spPr>
          <a:xfrm>
            <a:off x="590550" y="1712309"/>
            <a:ext cx="7353300" cy="56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明确模拟器和状态空间</a:t>
            </a:r>
            <a:endParaRPr lang="zh-CN" sz="1800" dirty="0"/>
          </a:p>
        </p:txBody>
      </p:sp>
      <p:sp>
        <p:nvSpPr>
          <p:cNvPr id="12" name="T32/card/region-2/frame"/>
          <p:cNvSpPr/>
          <p:nvPr/>
        </p:nvSpPr>
        <p:spPr>
          <a:xfrm>
            <a:off x="1028700" y="2472881"/>
            <a:ext cx="7048500" cy="11473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3" name="T32/card/region-2/heading-fill"/>
          <p:cNvSpPr/>
          <p:nvPr/>
        </p:nvSpPr>
        <p:spPr>
          <a:xfrm>
            <a:off x="1038225" y="2482406"/>
            <a:ext cx="70294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32/card/region-2/heading-rule"/>
          <p:cNvSpPr/>
          <p:nvPr/>
        </p:nvSpPr>
        <p:spPr>
          <a:xfrm>
            <a:off x="1028700" y="2853881"/>
            <a:ext cx="70485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5" name="T32/card/region-2/title"/>
          <p:cNvSpPr/>
          <p:nvPr/>
        </p:nvSpPr>
        <p:spPr>
          <a:xfrm>
            <a:off x="1152525" y="2520506"/>
            <a:ext cx="68008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受控实验</a:t>
            </a:r>
            <a:endParaRPr lang="zh-CN" sz="1950" dirty="0"/>
          </a:p>
        </p:txBody>
      </p:sp>
      <p:sp>
        <p:nvSpPr>
          <p:cNvPr id="16" name="T32/card/region-2/body"/>
          <p:cNvSpPr/>
          <p:nvPr/>
        </p:nvSpPr>
        <p:spPr>
          <a:xfrm>
            <a:off x="1162050" y="2958656"/>
            <a:ext cx="6781800" cy="566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说明受控条件与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独立重复</a:t>
            </a:r>
            <a:endParaRPr lang="zh-CN" sz="1800" dirty="0"/>
          </a:p>
        </p:txBody>
      </p:sp>
      <p:sp>
        <p:nvSpPr>
          <p:cNvPr id="17" name="T32/card/region-3/frame"/>
          <p:cNvSpPr/>
          <p:nvPr/>
        </p:nvSpPr>
        <p:spPr>
          <a:xfrm>
            <a:off x="1600200" y="3719132"/>
            <a:ext cx="6477000" cy="11473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8" name="T32/card/region-3/heading-fill"/>
          <p:cNvSpPr/>
          <p:nvPr/>
        </p:nvSpPr>
        <p:spPr>
          <a:xfrm>
            <a:off x="1609725" y="3728656"/>
            <a:ext cx="64579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32/card/region-3/heading-rule"/>
          <p:cNvSpPr/>
          <p:nvPr/>
        </p:nvSpPr>
        <p:spPr>
          <a:xfrm>
            <a:off x="1600200" y="4100131"/>
            <a:ext cx="64770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0" name="T32/card/region-3/title"/>
          <p:cNvSpPr/>
          <p:nvPr/>
        </p:nvSpPr>
        <p:spPr>
          <a:xfrm>
            <a:off x="1724025" y="3766757"/>
            <a:ext cx="6229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独立环境验证</a:t>
            </a:r>
            <a:endParaRPr lang="zh-CN" sz="1950" dirty="0"/>
          </a:p>
        </p:txBody>
      </p:sp>
      <p:sp>
        <p:nvSpPr>
          <p:cNvPr id="21" name="T32/card/region-3/body"/>
          <p:cNvSpPr/>
          <p:nvPr/>
        </p:nvSpPr>
        <p:spPr>
          <a:xfrm>
            <a:off x="1733550" y="4204907"/>
            <a:ext cx="6210300" cy="566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报告年份、地点或对象留出</a:t>
            </a:r>
            <a:endParaRPr lang="zh-CN" sz="1800" dirty="0"/>
          </a:p>
        </p:txBody>
      </p:sp>
      <p:sp>
        <p:nvSpPr>
          <p:cNvPr id="22" name="T32/card/region-4/frame"/>
          <p:cNvSpPr/>
          <p:nvPr/>
        </p:nvSpPr>
        <p:spPr>
          <a:xfrm>
            <a:off x="2171700" y="4965478"/>
            <a:ext cx="5905500" cy="11473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3" name="T32/card/region-4/heading-fill"/>
          <p:cNvSpPr/>
          <p:nvPr/>
        </p:nvSpPr>
        <p:spPr>
          <a:xfrm>
            <a:off x="2181225" y="4975003"/>
            <a:ext cx="58864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32/card/region-4/heading-rule"/>
          <p:cNvSpPr/>
          <p:nvPr/>
        </p:nvSpPr>
        <p:spPr>
          <a:xfrm>
            <a:off x="2171700" y="5346478"/>
            <a:ext cx="59055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5" name="T32/card/region-4/title"/>
          <p:cNvSpPr/>
          <p:nvPr/>
        </p:nvSpPr>
        <p:spPr>
          <a:xfrm>
            <a:off x="2295525" y="5013103"/>
            <a:ext cx="56578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真实部署</a:t>
            </a:r>
            <a:endParaRPr lang="zh-CN" sz="1950" dirty="0"/>
          </a:p>
        </p:txBody>
      </p:sp>
      <p:sp>
        <p:nvSpPr>
          <p:cNvPr id="26" name="T32/card/region-4/body"/>
          <p:cNvSpPr/>
          <p:nvPr/>
        </p:nvSpPr>
        <p:spPr>
          <a:xfrm>
            <a:off x="2305050" y="5451253"/>
            <a:ext cx="5638800" cy="56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交代部署时间与干预后果</a:t>
            </a:r>
            <a:endParaRPr lang="zh-CN" sz="1800" dirty="0"/>
          </a:p>
        </p:txBody>
      </p:sp>
      <p:sp>
        <p:nvSpPr>
          <p:cNvPr id="27" name="T32/card/region-5/base-rule"/>
          <p:cNvSpPr/>
          <p:nvPr/>
        </p:nvSpPr>
        <p:spPr>
          <a:xfrm>
            <a:off x="8515350" y="3363087"/>
            <a:ext cx="32194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28" name="T32/card/region-5/side-mark"/>
          <p:cNvSpPr/>
          <p:nvPr/>
        </p:nvSpPr>
        <p:spPr>
          <a:xfrm>
            <a:off x="8515350" y="1245584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32/card/region-5/title"/>
          <p:cNvSpPr/>
          <p:nvPr/>
        </p:nvSpPr>
        <p:spPr>
          <a:xfrm>
            <a:off x="8667750" y="1245584"/>
            <a:ext cx="3067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共同评价对象</a:t>
            </a:r>
            <a:endParaRPr lang="zh-CN" sz="1950" dirty="0"/>
          </a:p>
        </p:txBody>
      </p:sp>
      <p:sp>
        <p:nvSpPr>
          <p:cNvPr id="30" name="T32/card/region-5/body"/>
          <p:cNvSpPr/>
          <p:nvPr/>
        </p:nvSpPr>
        <p:spPr>
          <a:xfrm>
            <a:off x="8667750" y="1664684"/>
            <a:ext cx="3067050" cy="1603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先确定评价对象是否一致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任务完成、预测性能和农艺收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益分别比较</a:t>
            </a:r>
            <a:endParaRPr lang="zh-CN" sz="1800" dirty="0"/>
          </a:p>
        </p:txBody>
      </p:sp>
      <p:sp>
        <p:nvSpPr>
          <p:cNvPr id="31" name="T32/card/region-6/frame"/>
          <p:cNvSpPr/>
          <p:nvPr/>
        </p:nvSpPr>
        <p:spPr>
          <a:xfrm>
            <a:off x="8515350" y="3754279"/>
            <a:ext cx="3219450" cy="223980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2" name="T32/card/region-6/tab"/>
          <p:cNvSpPr/>
          <p:nvPr/>
        </p:nvSpPr>
        <p:spPr>
          <a:xfrm>
            <a:off x="8629650" y="3639979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32/card/region-6/title"/>
          <p:cNvSpPr/>
          <p:nvPr/>
        </p:nvSpPr>
        <p:spPr>
          <a:xfrm>
            <a:off x="8734425" y="3668554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外推边界</a:t>
            </a:r>
            <a:endParaRPr lang="zh-CN" sz="1950" dirty="0"/>
          </a:p>
        </p:txBody>
      </p:sp>
      <p:sp>
        <p:nvSpPr>
          <p:cNvPr id="34" name="T32/card/region-6/body"/>
          <p:cNvSpPr/>
          <p:nvPr/>
        </p:nvSpPr>
        <p:spPr>
          <a:xfrm>
            <a:off x="8648700" y="4125754"/>
            <a:ext cx="2952750" cy="1773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不同证据层级支持不同结论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指出升级验证还需要什么</a:t>
            </a:r>
            <a:endParaRPr lang="zh-CN" sz="1800" dirty="0"/>
          </a:p>
        </p:txBody>
      </p:sp>
      <p:sp>
        <p:nvSpPr>
          <p:cNvPr id="35" name="T3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06</a:t>
            </a:r>
            <a:endParaRPr lang="zh-CN" sz="1050" dirty="0"/>
          </a:p>
        </p:txBody>
      </p:sp>
      <p:sp>
        <p:nvSpPr>
          <p:cNvPr id="4" name="T3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同维度方法比较</a:t>
            </a:r>
            <a:endParaRPr lang="zh-CN" sz="3000" dirty="0"/>
          </a:p>
        </p:txBody>
      </p:sp>
      <p:sp>
        <p:nvSpPr>
          <p:cNvPr id="5" name="T3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3/takeaway"/>
          <p:cNvSpPr/>
          <p:nvPr/>
        </p:nvSpPr>
        <p:spPr>
          <a:xfrm>
            <a:off x="457200" y="5776532"/>
            <a:ext cx="81534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graphicFrame>
        <p:nvGraphicFramePr>
          <p:cNvPr id="4" name="T33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6534"/>
          <a:ext cx="8153400" cy="3072194"/>
        </p:xfrm>
        <a:graphic>
          <a:graphicData uri="http://schemas.openxmlformats.org/drawingml/2006/table">
            <a:tbl>
              <a:tblPr/>
              <a:tblGrid>
                <a:gridCol w="2038350"/>
                <a:gridCol w="2038350"/>
                <a:gridCol w="2038350"/>
                <a:gridCol w="203835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研究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输入与知识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决策接口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验证范围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论文 A（替换）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填写实际输入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策略更新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仿真或实体（填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论文 B（替换）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填写新增信息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奖励或约束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独立留出（填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论文 C（替换）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填写工具边界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计划与工具调用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任务评价（填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共同问题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输入是否公平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机制能否区分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结论能外推到哪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里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33/table-caption"/>
          <p:cNvSpPr/>
          <p:nvPr/>
        </p:nvSpPr>
        <p:spPr>
          <a:xfrm>
            <a:off x="457200" y="4365403"/>
            <a:ext cx="8153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10" name="T33/card/region-1/base-rule"/>
          <p:cNvSpPr/>
          <p:nvPr/>
        </p:nvSpPr>
        <p:spPr>
          <a:xfrm>
            <a:off x="8934450" y="3442240"/>
            <a:ext cx="28003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1" name="T33/card/region-1/side-mark"/>
          <p:cNvSpPr/>
          <p:nvPr/>
        </p:nvSpPr>
        <p:spPr>
          <a:xfrm>
            <a:off x="8934450" y="1245584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33/card/region-1/title"/>
          <p:cNvSpPr/>
          <p:nvPr/>
        </p:nvSpPr>
        <p:spPr>
          <a:xfrm>
            <a:off x="9086850" y="1245584"/>
            <a:ext cx="2647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比较维度</a:t>
            </a:r>
            <a:endParaRPr lang="zh-CN" sz="1950" dirty="0"/>
          </a:p>
        </p:txBody>
      </p:sp>
      <p:sp>
        <p:nvSpPr>
          <p:cNvPr id="13" name="T33/card/region-1/body"/>
          <p:cNvSpPr/>
          <p:nvPr/>
        </p:nvSpPr>
        <p:spPr>
          <a:xfrm>
            <a:off x="9086850" y="1664684"/>
            <a:ext cx="2647950" cy="168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只比较含义一致的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数值比较须使用相同任务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和评价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endParaRPr lang="zh-CN" sz="1800" dirty="0"/>
          </a:p>
        </p:txBody>
      </p:sp>
      <p:sp>
        <p:nvSpPr>
          <p:cNvPr id="14" name="T33/card/region-2/frame"/>
          <p:cNvSpPr/>
          <p:nvPr/>
        </p:nvSpPr>
        <p:spPr>
          <a:xfrm>
            <a:off x="8934450" y="3813620"/>
            <a:ext cx="2800350" cy="218046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33/card/region-2/tab"/>
          <p:cNvSpPr/>
          <p:nvPr/>
        </p:nvSpPr>
        <p:spPr>
          <a:xfrm>
            <a:off x="9048750" y="3699320"/>
            <a:ext cx="150495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33/card/region-2/title"/>
          <p:cNvSpPr/>
          <p:nvPr/>
        </p:nvSpPr>
        <p:spPr>
          <a:xfrm>
            <a:off x="9153525" y="3727895"/>
            <a:ext cx="12954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不可比条件</a:t>
            </a:r>
            <a:endParaRPr lang="zh-CN" sz="1950" dirty="0"/>
          </a:p>
        </p:txBody>
      </p:sp>
      <p:sp>
        <p:nvSpPr>
          <p:cNvPr id="17" name="T33/card/region-2/body"/>
          <p:cNvSpPr/>
          <p:nvPr/>
        </p:nvSpPr>
        <p:spPr>
          <a:xfrm>
            <a:off x="9067800" y="4185095"/>
            <a:ext cx="2533650" cy="171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列出数据、预算和任务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范围的差异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报告不可比原因及需要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endParaRPr lang="zh-CN" sz="1800" dirty="0"/>
          </a:p>
        </p:txBody>
      </p:sp>
      <p:sp>
        <p:nvSpPr>
          <p:cNvPr id="18" name="T3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06</a:t>
            </a:r>
            <a:endParaRPr lang="zh-CN" sz="1050" dirty="0"/>
          </a:p>
        </p:txBody>
      </p:sp>
      <p:sp>
        <p:nvSpPr>
          <p:cNvPr id="4" name="T3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研究进展与方法演化</a:t>
            </a:r>
            <a:endParaRPr lang="zh-CN" sz="3000" dirty="0"/>
          </a:p>
        </p:txBody>
      </p:sp>
      <p:sp>
        <p:nvSpPr>
          <p:cNvPr id="5" name="T3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4/edge:0"/>
          <p:cNvSpPr/>
          <p:nvPr/>
        </p:nvSpPr>
        <p:spPr>
          <a:xfrm>
            <a:off x="2762250" y="1958435"/>
            <a:ext cx="6858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34/edge:1"/>
          <p:cNvSpPr/>
          <p:nvPr/>
        </p:nvSpPr>
        <p:spPr>
          <a:xfrm>
            <a:off x="5753100" y="1958435"/>
            <a:ext cx="6858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34/edge:2"/>
          <p:cNvSpPr/>
          <p:nvPr/>
        </p:nvSpPr>
        <p:spPr>
          <a:xfrm>
            <a:off x="8743950" y="1958435"/>
            <a:ext cx="6858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34/node:step-1:frame"/>
          <p:cNvSpPr/>
          <p:nvPr/>
        </p:nvSpPr>
        <p:spPr>
          <a:xfrm>
            <a:off x="457200" y="1325404"/>
            <a:ext cx="23050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1" name="T34/node:step-1:heading-rule"/>
          <p:cNvSpPr/>
          <p:nvPr/>
        </p:nvSpPr>
        <p:spPr>
          <a:xfrm>
            <a:off x="457200" y="1325404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2" name="T34/node:step-1:label"/>
          <p:cNvSpPr/>
          <p:nvPr/>
        </p:nvSpPr>
        <p:spPr>
          <a:xfrm>
            <a:off x="571500" y="1420654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</a:t>
            </a:r>
            <a:endParaRPr lang="zh-CN" sz="1800" dirty="0"/>
          </a:p>
        </p:txBody>
      </p:sp>
      <p:sp>
        <p:nvSpPr>
          <p:cNvPr id="13" name="T34/node:step-1:detail"/>
          <p:cNvSpPr/>
          <p:nvPr/>
        </p:nvSpPr>
        <p:spPr>
          <a:xfrm>
            <a:off x="571500" y="1734979"/>
            <a:ext cx="20764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定义输入与任务</a:t>
            </a:r>
            <a:endParaRPr lang="zh-CN" sz="1650" dirty="0"/>
          </a:p>
        </p:txBody>
      </p:sp>
      <p:sp>
        <p:nvSpPr>
          <p:cNvPr id="14" name="T34/node:step-2:frame"/>
          <p:cNvSpPr/>
          <p:nvPr/>
        </p:nvSpPr>
        <p:spPr>
          <a:xfrm>
            <a:off x="3448050" y="1325404"/>
            <a:ext cx="23050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34/node:step-2:heading-rule"/>
          <p:cNvSpPr/>
          <p:nvPr/>
        </p:nvSpPr>
        <p:spPr>
          <a:xfrm>
            <a:off x="3448050" y="1325404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6" name="T34/node:step-2:label"/>
          <p:cNvSpPr/>
          <p:nvPr/>
        </p:nvSpPr>
        <p:spPr>
          <a:xfrm>
            <a:off x="3562350" y="1420654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</a:t>
            </a:r>
            <a:endParaRPr lang="zh-CN" sz="1800" dirty="0"/>
          </a:p>
        </p:txBody>
      </p:sp>
      <p:sp>
        <p:nvSpPr>
          <p:cNvPr id="17" name="T34/node:step-2:detail"/>
          <p:cNvSpPr/>
          <p:nvPr/>
        </p:nvSpPr>
        <p:spPr>
          <a:xfrm>
            <a:off x="3562350" y="1734979"/>
            <a:ext cx="20764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定位新模块</a:t>
            </a:r>
            <a:endParaRPr lang="zh-CN" sz="1650" dirty="0"/>
          </a:p>
        </p:txBody>
      </p:sp>
      <p:sp>
        <p:nvSpPr>
          <p:cNvPr id="18" name="T34/node:step-3:frame"/>
          <p:cNvSpPr/>
          <p:nvPr/>
        </p:nvSpPr>
        <p:spPr>
          <a:xfrm>
            <a:off x="6438900" y="1325404"/>
            <a:ext cx="23050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34/node:step-3:heading-rule"/>
          <p:cNvSpPr/>
          <p:nvPr/>
        </p:nvSpPr>
        <p:spPr>
          <a:xfrm>
            <a:off x="6438900" y="1325404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0" name="T34/node:step-3:label"/>
          <p:cNvSpPr/>
          <p:nvPr/>
        </p:nvSpPr>
        <p:spPr>
          <a:xfrm>
            <a:off x="6553200" y="1420654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</a:t>
            </a:r>
            <a:endParaRPr lang="zh-CN" sz="1800" dirty="0"/>
          </a:p>
        </p:txBody>
      </p:sp>
      <p:sp>
        <p:nvSpPr>
          <p:cNvPr id="21" name="T34/node:step-3:detail"/>
          <p:cNvSpPr/>
          <p:nvPr/>
        </p:nvSpPr>
        <p:spPr>
          <a:xfrm>
            <a:off x="6553200" y="1734979"/>
            <a:ext cx="20764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检查验证范围</a:t>
            </a:r>
            <a:endParaRPr lang="zh-CN" sz="1650" dirty="0"/>
          </a:p>
        </p:txBody>
      </p:sp>
      <p:sp>
        <p:nvSpPr>
          <p:cNvPr id="22" name="T34/node:step-4:frame"/>
          <p:cNvSpPr/>
          <p:nvPr/>
        </p:nvSpPr>
        <p:spPr>
          <a:xfrm>
            <a:off x="9429750" y="1325404"/>
            <a:ext cx="23050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34/node:step-4:heading-rule"/>
          <p:cNvSpPr/>
          <p:nvPr/>
        </p:nvSpPr>
        <p:spPr>
          <a:xfrm>
            <a:off x="9429750" y="1325404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T34/node:step-4:label"/>
          <p:cNvSpPr/>
          <p:nvPr/>
        </p:nvSpPr>
        <p:spPr>
          <a:xfrm>
            <a:off x="9544050" y="1420654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当前研究</a:t>
            </a:r>
            <a:endParaRPr lang="zh-CN" sz="1800" dirty="0"/>
          </a:p>
        </p:txBody>
      </p:sp>
      <p:sp>
        <p:nvSpPr>
          <p:cNvPr id="25" name="T34/node:step-4:detail"/>
          <p:cNvSpPr/>
          <p:nvPr/>
        </p:nvSpPr>
        <p:spPr>
          <a:xfrm>
            <a:off x="9544050" y="1734979"/>
            <a:ext cx="20764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明确仍缺的证据</a:t>
            </a:r>
            <a:endParaRPr lang="zh-CN" sz="1650" dirty="0"/>
          </a:p>
        </p:txBody>
      </p:sp>
      <p:sp>
        <p:nvSpPr>
          <p:cNvPr id="26" name="T34/card/region-1/base-rule"/>
          <p:cNvSpPr/>
          <p:nvPr/>
        </p:nvSpPr>
        <p:spPr>
          <a:xfrm>
            <a:off x="457200" y="6013895"/>
            <a:ext cx="35242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27" name="T34/card/region-1/side-mark"/>
          <p:cNvSpPr/>
          <p:nvPr/>
        </p:nvSpPr>
        <p:spPr>
          <a:xfrm>
            <a:off x="457200" y="3619500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34/card/region-1/title"/>
          <p:cNvSpPr/>
          <p:nvPr/>
        </p:nvSpPr>
        <p:spPr>
          <a:xfrm>
            <a:off x="609600" y="3619500"/>
            <a:ext cx="33718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方法演化</a:t>
            </a:r>
            <a:endParaRPr lang="zh-CN" sz="1950" dirty="0"/>
          </a:p>
        </p:txBody>
      </p:sp>
      <p:sp>
        <p:nvSpPr>
          <p:cNvPr id="29" name="T34/card/region-1/body"/>
          <p:cNvSpPr/>
          <p:nvPr/>
        </p:nvSpPr>
        <p:spPr>
          <a:xfrm>
            <a:off x="609600" y="4038600"/>
            <a:ext cx="3371850" cy="188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记录新增的知识、工具或控制接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用具体模块变化解释方法进展</a:t>
            </a:r>
            <a:endParaRPr lang="zh-CN" sz="1800" dirty="0"/>
          </a:p>
        </p:txBody>
      </p:sp>
      <p:sp>
        <p:nvSpPr>
          <p:cNvPr id="30" name="T34/card/region-2/heading-rule"/>
          <p:cNvSpPr/>
          <p:nvPr/>
        </p:nvSpPr>
        <p:spPr>
          <a:xfrm>
            <a:off x="4267200" y="3962400"/>
            <a:ext cx="35242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1" name="T34/card/region-2/heading-mark"/>
          <p:cNvSpPr/>
          <p:nvPr/>
        </p:nvSpPr>
        <p:spPr>
          <a:xfrm>
            <a:off x="4267200" y="3962400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32" name="T34/card/region-2/title"/>
          <p:cNvSpPr/>
          <p:nvPr/>
        </p:nvSpPr>
        <p:spPr>
          <a:xfrm>
            <a:off x="4267200" y="3619500"/>
            <a:ext cx="3524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评价演化</a:t>
            </a:r>
            <a:endParaRPr lang="zh-CN" sz="1950" dirty="0"/>
          </a:p>
        </p:txBody>
      </p:sp>
      <p:sp>
        <p:nvSpPr>
          <p:cNvPr id="33" name="T34/card/region-2/body"/>
          <p:cNvSpPr/>
          <p:nvPr/>
        </p:nvSpPr>
        <p:spPr>
          <a:xfrm>
            <a:off x="4267200" y="4095750"/>
            <a:ext cx="3524250" cy="188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区分离线指标、任务评价与现场收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每个阶段注明实际验证范围</a:t>
            </a:r>
            <a:endParaRPr lang="zh-CN" sz="1800" dirty="0"/>
          </a:p>
        </p:txBody>
      </p:sp>
      <p:sp>
        <p:nvSpPr>
          <p:cNvPr id="34" name="T34/card/region-3/frame"/>
          <p:cNvSpPr/>
          <p:nvPr/>
        </p:nvSpPr>
        <p:spPr>
          <a:xfrm>
            <a:off x="8077200" y="3714750"/>
            <a:ext cx="3657600" cy="2299145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5" name="T34/card/region-3/tab"/>
          <p:cNvSpPr/>
          <p:nvPr/>
        </p:nvSpPr>
        <p:spPr>
          <a:xfrm>
            <a:off x="8191500" y="3600450"/>
            <a:ext cx="200025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34/card/region-3/title"/>
          <p:cNvSpPr/>
          <p:nvPr/>
        </p:nvSpPr>
        <p:spPr>
          <a:xfrm>
            <a:off x="8296275" y="3629025"/>
            <a:ext cx="1790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仍然缺少的验证</a:t>
            </a:r>
            <a:endParaRPr lang="zh-CN" sz="1950" dirty="0"/>
          </a:p>
        </p:txBody>
      </p:sp>
      <p:sp>
        <p:nvSpPr>
          <p:cNvPr id="37" name="T34/card/region-3/body"/>
          <p:cNvSpPr/>
          <p:nvPr/>
        </p:nvSpPr>
        <p:spPr>
          <a:xfrm>
            <a:off x="8210550" y="4086225"/>
            <a:ext cx="3390900" cy="183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指出现有证据尚未覆盖的条件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提出升级验证需要的数据与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endParaRPr lang="zh-CN" sz="1800" dirty="0"/>
          </a:p>
        </p:txBody>
      </p:sp>
      <p:sp>
        <p:nvSpPr>
          <p:cNvPr id="38" name="T3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06</a:t>
            </a:r>
            <a:endParaRPr lang="zh-CN" sz="1050" dirty="0"/>
          </a:p>
        </p:txBody>
      </p:sp>
      <p:sp>
        <p:nvSpPr>
          <p:cNvPr id="4" name="T3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一致发现与相互冲突</a:t>
            </a:r>
            <a:endParaRPr lang="zh-CN" sz="3000" dirty="0"/>
          </a:p>
        </p:txBody>
      </p:sp>
      <p:sp>
        <p:nvSpPr>
          <p:cNvPr id="5" name="T35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5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5/figure:0:paper"/>
          <p:cNvSpPr/>
          <p:nvPr/>
        </p:nvSpPr>
        <p:spPr>
          <a:xfrm>
            <a:off x="1446011" y="1146620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8" name="T35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586" y="1175195"/>
            <a:ext cx="3432579" cy="2529269"/>
          </a:xfrm>
          <a:prstGeom prst="rect">
            <a:avLst/>
          </a:prstGeom>
        </p:spPr>
      </p:pic>
      <p:sp>
        <p:nvSpPr>
          <p:cNvPr id="9" name="T35/figure:0:caption"/>
          <p:cNvSpPr/>
          <p:nvPr/>
        </p:nvSpPr>
        <p:spPr>
          <a:xfrm>
            <a:off x="457200" y="3837813"/>
            <a:ext cx="54673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0" name="T35/figure:1:paper"/>
          <p:cNvSpPr/>
          <p:nvPr/>
        </p:nvSpPr>
        <p:spPr>
          <a:xfrm>
            <a:off x="7246736" y="1146620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1" name="T35/figure:1:image" descr="Ref. 为参考，V1–V3 为变体；合成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311" y="1175195"/>
            <a:ext cx="3432579" cy="2529269"/>
          </a:xfrm>
          <a:prstGeom prst="rect">
            <a:avLst/>
          </a:prstGeom>
        </p:spPr>
      </p:pic>
      <p:sp>
        <p:nvSpPr>
          <p:cNvPr id="12" name="T35/figure:1:caption"/>
          <p:cNvSpPr/>
          <p:nvPr/>
        </p:nvSpPr>
        <p:spPr>
          <a:xfrm>
            <a:off x="6248400" y="3837813"/>
            <a:ext cx="5486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Ref. 为参考，V1–V3 为变体；合成数据</a:t>
            </a:r>
            <a:endParaRPr lang="zh-CN" sz="1350" dirty="0"/>
          </a:p>
        </p:txBody>
      </p:sp>
      <p:sp>
        <p:nvSpPr>
          <p:cNvPr id="13" name="T35/card/region-1/frame"/>
          <p:cNvSpPr/>
          <p:nvPr/>
        </p:nvSpPr>
        <p:spPr>
          <a:xfrm>
            <a:off x="457200" y="4312634"/>
            <a:ext cx="3524250" cy="170135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4" name="T35/card/region-1/heading-fill"/>
          <p:cNvSpPr/>
          <p:nvPr/>
        </p:nvSpPr>
        <p:spPr>
          <a:xfrm>
            <a:off x="466725" y="4322159"/>
            <a:ext cx="350520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35/card/region-1/heading-rule"/>
          <p:cNvSpPr/>
          <p:nvPr/>
        </p:nvSpPr>
        <p:spPr>
          <a:xfrm>
            <a:off x="457200" y="4693634"/>
            <a:ext cx="35242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6" name="T35/card/region-1/title"/>
          <p:cNvSpPr/>
          <p:nvPr/>
        </p:nvSpPr>
        <p:spPr>
          <a:xfrm>
            <a:off x="581025" y="4360259"/>
            <a:ext cx="32766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一致发现</a:t>
            </a:r>
            <a:endParaRPr lang="zh-CN" sz="1950" dirty="0"/>
          </a:p>
        </p:txBody>
      </p:sp>
      <p:sp>
        <p:nvSpPr>
          <p:cNvPr id="17" name="T35/card/region-1/body"/>
          <p:cNvSpPr/>
          <p:nvPr/>
        </p:nvSpPr>
        <p:spPr>
          <a:xfrm>
            <a:off x="590550" y="4798409"/>
            <a:ext cx="3257550" cy="112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汇总可被不同证据重复支持的关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保留各论文共享的实验条件</a:t>
            </a:r>
            <a:endParaRPr lang="zh-CN" sz="1800" dirty="0"/>
          </a:p>
        </p:txBody>
      </p:sp>
      <p:sp>
        <p:nvSpPr>
          <p:cNvPr id="18" name="T35/card/region-2/frame"/>
          <p:cNvSpPr/>
          <p:nvPr/>
        </p:nvSpPr>
        <p:spPr>
          <a:xfrm>
            <a:off x="4267200" y="4426934"/>
            <a:ext cx="3524250" cy="158705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9" name="T35/card/region-2/tab"/>
          <p:cNvSpPr/>
          <p:nvPr/>
        </p:nvSpPr>
        <p:spPr>
          <a:xfrm>
            <a:off x="4381500" y="4312634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35/card/region-2/title"/>
          <p:cNvSpPr/>
          <p:nvPr/>
        </p:nvSpPr>
        <p:spPr>
          <a:xfrm>
            <a:off x="4486275" y="4341209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冲突来源</a:t>
            </a:r>
            <a:endParaRPr lang="zh-CN" sz="1950" dirty="0"/>
          </a:p>
        </p:txBody>
      </p:sp>
      <p:sp>
        <p:nvSpPr>
          <p:cNvPr id="21" name="T35/card/region-2/body"/>
          <p:cNvSpPr/>
          <p:nvPr/>
        </p:nvSpPr>
        <p:spPr>
          <a:xfrm>
            <a:off x="4400550" y="4798409"/>
            <a:ext cx="3257550" cy="112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先检查任务、样本和测量尺度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再分析机制解释是否相互排斥</a:t>
            </a:r>
            <a:endParaRPr lang="zh-CN" sz="1800" dirty="0"/>
          </a:p>
        </p:txBody>
      </p:sp>
      <p:sp>
        <p:nvSpPr>
          <p:cNvPr id="22" name="T35/card/region-3/frame"/>
          <p:cNvSpPr/>
          <p:nvPr/>
        </p:nvSpPr>
        <p:spPr>
          <a:xfrm>
            <a:off x="8077200" y="4312634"/>
            <a:ext cx="3657600" cy="1701356"/>
          </a:xfrm>
          <a:prstGeom prst="rect">
            <a:avLst/>
          </a:prstGeom>
          <a:solidFill>
            <a:srgbClr val="EAF2FA"/>
          </a:solidFill>
          <a:ln w="12383">
            <a:solidFill>
              <a:srgbClr val="235E96"/>
            </a:solidFill>
            <a:prstDash val="dash"/>
          </a:ln>
        </p:spPr>
      </p:sp>
      <p:sp>
        <p:nvSpPr>
          <p:cNvPr id="23" name="T35/card/region-3/corner-white"/>
          <p:cNvSpPr/>
          <p:nvPr/>
        </p:nvSpPr>
        <p:spPr>
          <a:xfrm>
            <a:off x="11468100" y="4312634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35/card/region-3/fold-diagonal"/>
          <p:cNvSpPr/>
          <p:nvPr/>
        </p:nvSpPr>
        <p:spPr>
          <a:xfrm>
            <a:off x="11468100" y="4312634"/>
            <a:ext cx="266700" cy="26670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25" name="T35/card/region-3/fold-left"/>
          <p:cNvSpPr/>
          <p:nvPr/>
        </p:nvSpPr>
        <p:spPr>
          <a:xfrm>
            <a:off x="11468100" y="4312634"/>
            <a:ext cx="0" cy="26670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26" name="T35/card/region-3/fold-bottom"/>
          <p:cNvSpPr/>
          <p:nvPr/>
        </p:nvSpPr>
        <p:spPr>
          <a:xfrm>
            <a:off x="11468100" y="4579334"/>
            <a:ext cx="266700" cy="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27" name="T35/card/region-3/title"/>
          <p:cNvSpPr/>
          <p:nvPr/>
        </p:nvSpPr>
        <p:spPr>
          <a:xfrm>
            <a:off x="8267700" y="4474559"/>
            <a:ext cx="30861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可区分的解释</a:t>
            </a:r>
            <a:endParaRPr lang="zh-CN" sz="1950" dirty="0"/>
          </a:p>
        </p:txBody>
      </p:sp>
      <p:sp>
        <p:nvSpPr>
          <p:cNvPr id="28" name="T35/card/region-3/body"/>
          <p:cNvSpPr/>
          <p:nvPr/>
        </p:nvSpPr>
        <p:spPr>
          <a:xfrm>
            <a:off x="8267700" y="4931759"/>
            <a:ext cx="3276600" cy="891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列出能够解释分歧的具体条件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设计只改变该条件的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公平比较</a:t>
            </a:r>
            <a:endParaRPr lang="zh-CN" sz="1800" dirty="0"/>
          </a:p>
        </p:txBody>
      </p:sp>
      <p:sp>
        <p:nvSpPr>
          <p:cNvPr id="29" name="T3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06</a:t>
            </a:r>
            <a:endParaRPr lang="zh-CN" sz="1050" dirty="0"/>
          </a:p>
        </p:txBody>
      </p:sp>
      <p:sp>
        <p:nvSpPr>
          <p:cNvPr id="4" name="T3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证据缺口与研究问题</a:t>
            </a:r>
            <a:endParaRPr lang="zh-CN" sz="3000" dirty="0"/>
          </a:p>
        </p:txBody>
      </p:sp>
      <p:sp>
        <p:nvSpPr>
          <p:cNvPr id="5" name="T36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6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6/card/region-1/frame"/>
          <p:cNvSpPr/>
          <p:nvPr/>
        </p:nvSpPr>
        <p:spPr>
          <a:xfrm>
            <a:off x="457200" y="1226534"/>
            <a:ext cx="5124450" cy="174088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6/card/region-1/heading-fill"/>
          <p:cNvSpPr/>
          <p:nvPr/>
        </p:nvSpPr>
        <p:spPr>
          <a:xfrm>
            <a:off x="466725" y="1236059"/>
            <a:ext cx="510540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6/card/region-1/heading-rule"/>
          <p:cNvSpPr/>
          <p:nvPr/>
        </p:nvSpPr>
        <p:spPr>
          <a:xfrm>
            <a:off x="457200" y="1607534"/>
            <a:ext cx="51244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36/card/region-1/title"/>
          <p:cNvSpPr/>
          <p:nvPr/>
        </p:nvSpPr>
        <p:spPr>
          <a:xfrm>
            <a:off x="581025" y="1274159"/>
            <a:ext cx="48768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已知证据一</a:t>
            </a:r>
            <a:endParaRPr lang="zh-CN" sz="1950" dirty="0"/>
          </a:p>
        </p:txBody>
      </p:sp>
      <p:sp>
        <p:nvSpPr>
          <p:cNvPr id="11" name="T36/card/region-1/body"/>
          <p:cNvSpPr/>
          <p:nvPr/>
        </p:nvSpPr>
        <p:spPr>
          <a:xfrm>
            <a:off x="590550" y="1712309"/>
            <a:ext cx="4857750" cy="115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汇总现有研究一致支持的发现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保留场景与测量条件</a:t>
            </a:r>
            <a:endParaRPr lang="zh-CN" sz="1800" dirty="0"/>
          </a:p>
        </p:txBody>
      </p:sp>
      <p:sp>
        <p:nvSpPr>
          <p:cNvPr id="12" name="T36/card/region-2/title"/>
          <p:cNvSpPr/>
          <p:nvPr/>
        </p:nvSpPr>
        <p:spPr>
          <a:xfrm>
            <a:off x="5924550" y="1245584"/>
            <a:ext cx="5810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对应研究问题一</a:t>
            </a:r>
            <a:endParaRPr lang="zh-CN" sz="1950" dirty="0"/>
          </a:p>
        </p:txBody>
      </p:sp>
      <p:sp>
        <p:nvSpPr>
          <p:cNvPr id="13" name="T36/card/region-2/body"/>
          <p:cNvSpPr/>
          <p:nvPr/>
        </p:nvSpPr>
        <p:spPr>
          <a:xfrm>
            <a:off x="5924550" y="1693259"/>
            <a:ext cx="5810250" cy="123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新研究需要改变哪个接口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给出具体可测的目标</a:t>
            </a:r>
            <a:endParaRPr lang="zh-CN" sz="1800" dirty="0"/>
          </a:p>
        </p:txBody>
      </p:sp>
      <p:sp>
        <p:nvSpPr>
          <p:cNvPr id="14" name="T36/card/region-3/frame"/>
          <p:cNvSpPr/>
          <p:nvPr/>
        </p:nvSpPr>
        <p:spPr>
          <a:xfrm>
            <a:off x="457200" y="3264122"/>
            <a:ext cx="5124450" cy="174088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36/card/region-3/heading-fill"/>
          <p:cNvSpPr/>
          <p:nvPr/>
        </p:nvSpPr>
        <p:spPr>
          <a:xfrm>
            <a:off x="466725" y="3273647"/>
            <a:ext cx="510540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36/card/region-3/heading-rule"/>
          <p:cNvSpPr/>
          <p:nvPr/>
        </p:nvSpPr>
        <p:spPr>
          <a:xfrm>
            <a:off x="457200" y="3645122"/>
            <a:ext cx="51244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7" name="T36/card/region-3/title"/>
          <p:cNvSpPr/>
          <p:nvPr/>
        </p:nvSpPr>
        <p:spPr>
          <a:xfrm>
            <a:off x="581025" y="3311747"/>
            <a:ext cx="48768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已知证据二</a:t>
            </a:r>
            <a:endParaRPr lang="zh-CN" sz="1950" dirty="0"/>
          </a:p>
        </p:txBody>
      </p:sp>
      <p:sp>
        <p:nvSpPr>
          <p:cNvPr id="18" name="T36/card/region-3/body"/>
          <p:cNvSpPr/>
          <p:nvPr/>
        </p:nvSpPr>
        <p:spPr>
          <a:xfrm>
            <a:off x="590550" y="3749897"/>
            <a:ext cx="4857750" cy="115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记录已有失败与反例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说明信息是否足以解释</a:t>
            </a:r>
            <a:endParaRPr lang="zh-CN" sz="1800" dirty="0"/>
          </a:p>
        </p:txBody>
      </p:sp>
      <p:sp>
        <p:nvSpPr>
          <p:cNvPr id="19" name="T36/card/region-4/title"/>
          <p:cNvSpPr/>
          <p:nvPr/>
        </p:nvSpPr>
        <p:spPr>
          <a:xfrm>
            <a:off x="5924550" y="3283172"/>
            <a:ext cx="5810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对应研究问题二</a:t>
            </a:r>
            <a:endParaRPr lang="zh-CN" sz="1950" dirty="0"/>
          </a:p>
        </p:txBody>
      </p:sp>
      <p:sp>
        <p:nvSpPr>
          <p:cNvPr id="20" name="T36/card/region-4/body"/>
          <p:cNvSpPr/>
          <p:nvPr/>
        </p:nvSpPr>
        <p:spPr>
          <a:xfrm>
            <a:off x="5924550" y="3730847"/>
            <a:ext cx="5810250" cy="123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设计能区分替代解释的比较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明确数据与预算</a:t>
            </a:r>
            <a:endParaRPr lang="zh-CN" sz="1800" dirty="0"/>
          </a:p>
        </p:txBody>
      </p:sp>
      <p:sp>
        <p:nvSpPr>
          <p:cNvPr id="21" name="T36/card/region-5/title"/>
          <p:cNvSpPr/>
          <p:nvPr/>
        </p:nvSpPr>
        <p:spPr>
          <a:xfrm>
            <a:off x="457200" y="5241703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下一步检验条件</a:t>
            </a:r>
            <a:endParaRPr lang="zh-CN" sz="1950" dirty="0"/>
          </a:p>
        </p:txBody>
      </p:sp>
      <p:sp>
        <p:nvSpPr>
          <p:cNvPr id="22" name="T36/card/region-5/body"/>
          <p:cNvSpPr/>
          <p:nvPr/>
        </p:nvSpPr>
        <p:spPr>
          <a:xfrm>
            <a:off x="457200" y="5622703"/>
            <a:ext cx="112776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优先检验影响核心结论且能获得证据的问题</a:t>
            </a:r>
            <a:endParaRPr lang="zh-CN" sz="1800" dirty="0"/>
          </a:p>
        </p:txBody>
      </p:sp>
      <p:sp>
        <p:nvSpPr>
          <p:cNvPr id="23" name="T3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跨文献综合学术模板</dc:title>
  <dc:subject>原创学术版式、结构化填充指引与合成科学图</dc:subject>
  <dc:creator>DSH Academic PPT</dc:creator>
  <cp:lastModifiedBy>DSH Academic PPT</cp:lastModifiedBy>
  <cp:revision>1</cp:revision>
  <dcterms:created xsi:type="dcterms:W3CDTF">2026-10-20T05:39:56Z</dcterms:created>
  <dcterms:modified xsi:type="dcterms:W3CDTF">2026-10-20T05:39:56Z</dcterms:modified>
</cp:coreProperties>
</file>