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0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条件 A（合成）</c:v>
                </c:pt>
              </c:strCache>
            </c:strRef>
          </c:tx>
          <c:spPr>
            <a:solidFill>
              <a:srgbClr val="173C70"/>
            </a:solidFill>
            <a:ln w="25400" cap="flat">
              <a:solidFill>
                <a:srgbClr val="173C70"/>
              </a:solidFill>
              <a:prstDash val="solid"/>
              <a:round/>
            </a:ln>
            <a:effectLst/>
          </c:spPr>
          <c:invertIfNegative val="0"/>
          <c:dLbls>
            <c:numFmt formatCode="0.############" sourceLinked="0"/>
            <c:txPr>
              <a:bodyPr/>
              <a:lstStyle/>
              <a:p>
                <a:pPr>
                  <a:defRPr b="0" i="0" strike="noStrike" sz="1650" u="none">
                    <a:solidFill>
                      <a:srgbClr val="1C2430"/>
                    </a:solidFill>
                    <a:latin typeface="Noto Sans CJK SC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173C70"/>
              </a:solidFill>
              <a:ln w="9525" cap="flat">
                <a:solidFill>
                  <a:srgbClr val="173C7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E1</c:v>
                  </c:pt>
                  <c:pt idx="1">
                    <c:v>E2</c:v>
                  </c:pt>
                  <c:pt idx="2">
                    <c:v>E3</c:v>
                  </c:pt>
                  <c:pt idx="3">
                    <c:v>E4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</c:v>
                </c:pt>
                <c:pt idx="1">
                  <c:v>78</c:v>
                </c:pt>
                <c:pt idx="2">
                  <c:v>70</c:v>
                </c:pt>
                <c:pt idx="3">
                  <c:v>63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条件 B（合成）</c:v>
                </c:pt>
              </c:strCache>
            </c:strRef>
          </c:tx>
          <c:spPr>
            <a:solidFill>
              <a:srgbClr val="355D88"/>
            </a:solidFill>
            <a:ln w="25400" cap="flat">
              <a:solidFill>
                <a:srgbClr val="355D88"/>
              </a:solidFill>
              <a:prstDash val="solid"/>
              <a:round/>
            </a:ln>
            <a:effectLst/>
          </c:spPr>
          <c:invertIfNegative val="0"/>
          <c:dLbls>
            <c:numFmt formatCode="0.############" sourceLinked="0"/>
            <c:txPr>
              <a:bodyPr/>
              <a:lstStyle/>
              <a:p>
                <a:pPr>
                  <a:defRPr b="0" i="0" strike="noStrike" sz="1650" u="none">
                    <a:solidFill>
                      <a:srgbClr val="1C2430"/>
                    </a:solidFill>
                    <a:latin typeface="Noto Sans CJK SC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355D88"/>
              </a:solidFill>
              <a:ln w="9525" cap="flat">
                <a:solidFill>
                  <a:srgbClr val="355D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E1</c:v>
                  </c:pt>
                  <c:pt idx="1">
                    <c:v>E2</c:v>
                  </c:pt>
                  <c:pt idx="2">
                    <c:v>E3</c:v>
                  </c:pt>
                  <c:pt idx="3">
                    <c:v>E4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81</c:v>
                </c:pt>
                <c:pt idx="2">
                  <c:v>76</c:v>
                </c:pt>
                <c:pt idx="3">
                  <c:v>72</c:v>
                </c:pt>
              </c:numCache>
            </c:numRef>
          </c:val>
          <c:smooth val="0"/>
        </c:ser>
        <c:dLbls>
          <c:numFmt formatCode="0.############" sourceLinked="0"/>
          <c:txPr>
            <a:bodyPr/>
            <a:lstStyle/>
            <a:p>
              <a:pPr>
                <a:defRPr b="0" i="0" strike="noStrike" sz="1650" u="none">
                  <a:solidFill>
                    <a:srgbClr val="1C2430"/>
                  </a:solidFill>
                  <a:latin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EC8D4"/>
            </a:solidFill>
            <a:prstDash val="solid"/>
            <a:round/>
          </a:ln>
        </c:spPr>
        <c:txPr>
          <a:bodyPr/>
          <a:lstStyle/>
          <a:p>
            <a:pPr>
              <a:defRPr sz="1575" b="0" i="0" u="none" strike="noStrike">
                <a:solidFill>
                  <a:srgbClr val="1C2430"/>
                </a:solidFill>
                <a:latin typeface="Noto Sans CJK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BEC8D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25" b="0" i="0" u="none" strike="noStrike">
                    <a:solidFill>
                      <a:srgbClr val="515B68"/>
                    </a:solidFill>
                    <a:latin typeface="Noto Sans CJK SC"/>
                  </a:defRPr>
                </a:pPr>
                <a:r>
                  <a:rPr sz="1425" b="0" i="0" u="none" strike="noStrike">
                    <a:solidFill>
                      <a:srgbClr val="515B68"/>
                    </a:solidFill>
                    <a:latin typeface="Noto Sans CJK SC"/>
                  </a:rPr>
                  <a:t>合成指标 / a.u.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BEC8D4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515B68"/>
                </a:solidFill>
                <a:latin typeface="Noto Sans CJK SC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25">
              <a:latin typeface="Noto Sans CJK SC"/>
              <a:cs typeface="Noto Sans CJK SC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limitations-failure-case。失败原图保留在左，右侧按输入、错误步骤和后果解释。
全部文本为填写指引，图表值是合成演示值，不是任何研究结果。使用前替换论文、数据、原图与来源。
内容职责：失败条件；错误发生在哪一步；对结论的影响。
建议讲述时间只是排练起点，按实际内容调整。
原图来源：T1
示例图
响应曲线；合成演示值
https://github.com/YuZhou0311/dsh-academic-ppt
原创排版教学示例 v0.3.0
MIT; all plotted values are synthetic
完整原图，无裁切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limitations-domain-shift。跨条件曲线配输入变化、机制失配和验证范围。
全部文本为填写指引，图表值是合成演示值，不是任何研究结果。使用前替换论文、数据、原图与来源。
内容职责：输入条件变化；机制失配；可支持的迁移结论。
建议讲述时间只是排练起点，按实际内容调整。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limitations-measurement-bias。因果链展示测量误差如何传入结论，下方给出排查与敏感性分析。
全部文本为填写指引，图表值是合成演示值，不是任何研究结果。使用前替换论文、数据、原图与来源。
内容职责：偏倚来源；排查与敏感性分析。
建议讲述时间只是排练起点，按实际内容调整。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limitations-validity-audit。通栏表对齐威胁、证据与验证；其下两块说明限定范围，结论紧跟实际内容高度。
全部文本为填写指引，图表值是合成演示值，不是任何研究结果。使用前替换论文、数据、原图与来源。
内容职责：内部效度；外部效度。
建议讲述时间只是排练起点，按实际内容调整。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limitations-risk-mitigation。触发到复核的过程与风险分类、介入代价并列。
全部文本为填写指引，图表值是合成演示值，不是任何研究结果。使用前替换论文、数据、原图与来源。
内容职责：风险触发条件；人工与计算代价；剩余风险。
建议讲述时间只是排练起点，按实际内容调整。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limitations-reproducibility。左侧记录材料依赖链，右侧列出可复现范围与缺失项。
全部文本为填写指引，图表值是合成演示值，不是任何研究结果。使用前替换论文、数据、原图与来源。
内容职责：已公开材料；缺失与重建条件。
建议讲述时间只是排练起点，按实际内容调整。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37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37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/ 06</a:t>
            </a:r>
            <a:endParaRPr lang="zh-CN" sz="1050" dirty="0"/>
          </a:p>
        </p:txBody>
      </p:sp>
      <p:sp>
        <p:nvSpPr>
          <p:cNvPr id="4" name="T37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失败案例的逐步定位</a:t>
            </a:r>
            <a:endParaRPr lang="zh-CN" sz="3000" dirty="0"/>
          </a:p>
        </p:txBody>
      </p:sp>
      <p:sp>
        <p:nvSpPr>
          <p:cNvPr id="5" name="T37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37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7" name="T37/panel:0:frame"/>
          <p:cNvSpPr/>
          <p:nvPr/>
        </p:nvSpPr>
        <p:spPr>
          <a:xfrm>
            <a:off x="457200" y="1281494"/>
            <a:ext cx="5943600" cy="4475321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8" name="T37/panel:0:tab"/>
          <p:cNvSpPr/>
          <p:nvPr/>
        </p:nvSpPr>
        <p:spPr>
          <a:xfrm>
            <a:off x="571500" y="1167194"/>
            <a:ext cx="2590800" cy="342900"/>
          </a:xfrm>
          <a:prstGeom prst="rect">
            <a:avLst/>
          </a:prstGeom>
          <a:solidFill>
            <a:srgbClr val="A247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37/panel:0:title"/>
          <p:cNvSpPr/>
          <p:nvPr/>
        </p:nvSpPr>
        <p:spPr>
          <a:xfrm>
            <a:off x="676275" y="1195769"/>
            <a:ext cx="23812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失败输入及输出记录</a:t>
            </a:r>
            <a:endParaRPr lang="zh-CN" sz="1950" dirty="0"/>
          </a:p>
        </p:txBody>
      </p:sp>
      <p:sp>
        <p:nvSpPr>
          <p:cNvPr id="10" name="T37/takeaway"/>
          <p:cNvSpPr/>
          <p:nvPr/>
        </p:nvSpPr>
        <p:spPr>
          <a:xfrm>
            <a:off x="457200" y="5895213"/>
            <a:ext cx="5943600" cy="276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统计口径、样本单位和适用条件需与原文一致</a:t>
            </a:r>
            <a:endParaRPr lang="zh-CN" sz="1800" dirty="0"/>
          </a:p>
        </p:txBody>
      </p:sp>
      <p:sp>
        <p:nvSpPr>
          <p:cNvPr id="11" name="T37/figure:0:paper"/>
          <p:cNvSpPr/>
          <p:nvPr/>
        </p:nvSpPr>
        <p:spPr>
          <a:xfrm>
            <a:off x="1012977" y="1641253"/>
            <a:ext cx="4832046" cy="3575495"/>
          </a:xfrm>
          <a:prstGeom prst="rect">
            <a:avLst/>
          </a:prstGeom>
          <a:solidFill>
            <a:srgbClr val="FFFFFF"/>
          </a:solidFill>
          <a:ln w="7620">
            <a:solidFill>
              <a:srgbClr val="CCD4DD"/>
            </a:solidFill>
            <a:prstDash val="solid"/>
          </a:ln>
          <a:effectLst>
            <a:outerShdw sx="100000" sy="100000" kx="0" ky="0" algn="bl" rotWithShape="0" blurRad="28575" dist="19050" dir="5400000">
              <a:srgbClr val="263B50">
                <a:alpha val="12000"/>
              </a:srgbClr>
            </a:outerShdw>
          </a:effectLst>
        </p:spPr>
      </p:sp>
      <p:pic>
        <p:nvPicPr>
          <p:cNvPr id="12" name="T37/figure:0:image" descr="A/B 为条件；合成数据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1552" y="1669828"/>
            <a:ext cx="4774896" cy="3518345"/>
          </a:xfrm>
          <a:prstGeom prst="rect">
            <a:avLst/>
          </a:prstGeom>
        </p:spPr>
      </p:pic>
      <p:sp>
        <p:nvSpPr>
          <p:cNvPr id="13" name="T37/figure:0:caption"/>
          <p:cNvSpPr/>
          <p:nvPr/>
        </p:nvSpPr>
        <p:spPr>
          <a:xfrm>
            <a:off x="590550" y="5321522"/>
            <a:ext cx="56769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A/B 为条件；合成数据</a:t>
            </a:r>
            <a:endParaRPr lang="zh-CN" sz="1350" dirty="0"/>
          </a:p>
        </p:txBody>
      </p:sp>
      <p:sp>
        <p:nvSpPr>
          <p:cNvPr id="14" name="T37/card/region-1/base-rule"/>
          <p:cNvSpPr/>
          <p:nvPr/>
        </p:nvSpPr>
        <p:spPr>
          <a:xfrm>
            <a:off x="6743700" y="2591467"/>
            <a:ext cx="49911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15" name="T37/card/region-1/side-mark"/>
          <p:cNvSpPr/>
          <p:nvPr/>
        </p:nvSpPr>
        <p:spPr>
          <a:xfrm>
            <a:off x="6743700" y="1225772"/>
            <a:ext cx="47625" cy="295275"/>
          </a:xfrm>
          <a:prstGeom prst="rect">
            <a:avLst/>
          </a:prstGeom>
          <a:solidFill>
            <a:srgbClr val="A247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37/card/region-1/title"/>
          <p:cNvSpPr/>
          <p:nvPr/>
        </p:nvSpPr>
        <p:spPr>
          <a:xfrm>
            <a:off x="6896100" y="1225772"/>
            <a:ext cx="48387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A247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失败条件</a:t>
            </a:r>
            <a:endParaRPr lang="zh-CN" sz="1950" dirty="0"/>
          </a:p>
        </p:txBody>
      </p:sp>
      <p:sp>
        <p:nvSpPr>
          <p:cNvPr id="17" name="T37/card/region-1/body"/>
          <p:cNvSpPr/>
          <p:nvPr/>
        </p:nvSpPr>
        <p:spPr>
          <a:xfrm>
            <a:off x="6896100" y="1644872"/>
            <a:ext cx="4838700" cy="85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填写可复现的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A247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、环境与触发点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给出出现失败的任务分母</a:t>
            </a:r>
            <a:endParaRPr lang="zh-CN" sz="1800" dirty="0"/>
          </a:p>
        </p:txBody>
      </p:sp>
      <p:sp>
        <p:nvSpPr>
          <p:cNvPr id="18" name="T37/card/region-2/frame"/>
          <p:cNvSpPr/>
          <p:nvPr/>
        </p:nvSpPr>
        <p:spPr>
          <a:xfrm>
            <a:off x="6743700" y="2963037"/>
            <a:ext cx="4991100" cy="1310069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19" name="T37/card/region-2/tab"/>
          <p:cNvSpPr/>
          <p:nvPr/>
        </p:nvSpPr>
        <p:spPr>
          <a:xfrm>
            <a:off x="6858000" y="2848737"/>
            <a:ext cx="2247900" cy="342900"/>
          </a:xfrm>
          <a:prstGeom prst="rect">
            <a:avLst/>
          </a:prstGeom>
          <a:solidFill>
            <a:srgbClr val="235E9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37/card/region-2/title"/>
          <p:cNvSpPr/>
          <p:nvPr/>
        </p:nvSpPr>
        <p:spPr>
          <a:xfrm>
            <a:off x="6962775" y="2877312"/>
            <a:ext cx="20383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错误发生在哪一步</a:t>
            </a:r>
            <a:endParaRPr lang="zh-CN" sz="1950" dirty="0"/>
          </a:p>
        </p:txBody>
      </p:sp>
      <p:sp>
        <p:nvSpPr>
          <p:cNvPr id="21" name="T37/card/region-2/body"/>
          <p:cNvSpPr/>
          <p:nvPr/>
        </p:nvSpPr>
        <p:spPr>
          <a:xfrm>
            <a:off x="6877050" y="3334512"/>
            <a:ext cx="4724400" cy="843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对照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日志定位第一个错误环节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区分原始错误和后续传播</a:t>
            </a:r>
            <a:endParaRPr lang="zh-CN" sz="1800" dirty="0"/>
          </a:p>
        </p:txBody>
      </p:sp>
      <p:sp>
        <p:nvSpPr>
          <p:cNvPr id="22" name="T37/card/region-3/heading-rule"/>
          <p:cNvSpPr/>
          <p:nvPr/>
        </p:nvSpPr>
        <p:spPr>
          <a:xfrm>
            <a:off x="6743700" y="4892231"/>
            <a:ext cx="49911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23" name="T37/card/region-3/heading-mark"/>
          <p:cNvSpPr/>
          <p:nvPr/>
        </p:nvSpPr>
        <p:spPr>
          <a:xfrm>
            <a:off x="6743700" y="4892231"/>
            <a:ext cx="342900" cy="0"/>
          </a:xfrm>
          <a:prstGeom prst="line">
            <a:avLst/>
          </a:prstGeom>
          <a:noFill/>
          <a:ln w="17145">
            <a:solidFill>
              <a:srgbClr val="146C63"/>
            </a:solidFill>
            <a:prstDash val="solid"/>
          </a:ln>
        </p:spPr>
      </p:sp>
      <p:sp>
        <p:nvSpPr>
          <p:cNvPr id="24" name="T37/card/region-3/title"/>
          <p:cNvSpPr/>
          <p:nvPr/>
        </p:nvSpPr>
        <p:spPr>
          <a:xfrm>
            <a:off x="6743700" y="4549331"/>
            <a:ext cx="49911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对结论的影响</a:t>
            </a:r>
            <a:endParaRPr lang="zh-CN" sz="1950" dirty="0"/>
          </a:p>
        </p:txBody>
      </p:sp>
      <p:sp>
        <p:nvSpPr>
          <p:cNvPr id="25" name="T37/card/region-3/body"/>
          <p:cNvSpPr/>
          <p:nvPr/>
        </p:nvSpPr>
        <p:spPr>
          <a:xfrm>
            <a:off x="6743700" y="5025581"/>
            <a:ext cx="4991100" cy="910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说明失败是否改变主要结果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记录该条件是否已纳入评价</a:t>
            </a:r>
            <a:endParaRPr lang="zh-CN" sz="1800" dirty="0"/>
          </a:p>
        </p:txBody>
      </p:sp>
      <p:sp>
        <p:nvSpPr>
          <p:cNvPr id="26" name="T37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38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38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/ 06</a:t>
            </a:r>
            <a:endParaRPr lang="zh-CN" sz="1050" dirty="0"/>
          </a:p>
        </p:txBody>
      </p:sp>
      <p:sp>
        <p:nvSpPr>
          <p:cNvPr id="4" name="T38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分布变化与迁移边界</a:t>
            </a:r>
            <a:endParaRPr lang="zh-CN" sz="3000" dirty="0"/>
          </a:p>
        </p:txBody>
      </p:sp>
      <p:sp>
        <p:nvSpPr>
          <p:cNvPr id="5" name="T38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38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graphicFrame>
        <p:nvGraphicFramePr>
          <p:cNvPr id="7" name="T38/data-chart" descr=""/>
          <p:cNvGraphicFramePr/>
          <p:nvPr/>
        </p:nvGraphicFramePr>
        <p:xfrm>
          <a:off x="457200" y="1206722"/>
          <a:ext cx="7448550" cy="34224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38/card/region-1/frame"/>
          <p:cNvSpPr/>
          <p:nvPr/>
        </p:nvSpPr>
        <p:spPr>
          <a:xfrm>
            <a:off x="8229600" y="1206722"/>
            <a:ext cx="3505200" cy="2176082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9" name="T38/card/region-1/heading-fill"/>
          <p:cNvSpPr/>
          <p:nvPr/>
        </p:nvSpPr>
        <p:spPr>
          <a:xfrm>
            <a:off x="8239125" y="1216247"/>
            <a:ext cx="3486150" cy="371475"/>
          </a:xfrm>
          <a:prstGeom prst="rect">
            <a:avLst/>
          </a:prstGeom>
          <a:solidFill>
            <a:srgbClr val="F0F3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38/card/region-1/heading-rule"/>
          <p:cNvSpPr/>
          <p:nvPr/>
        </p:nvSpPr>
        <p:spPr>
          <a:xfrm>
            <a:off x="8229600" y="1587722"/>
            <a:ext cx="35052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1" name="T38/card/region-1/title"/>
          <p:cNvSpPr/>
          <p:nvPr/>
        </p:nvSpPr>
        <p:spPr>
          <a:xfrm>
            <a:off x="8353425" y="1254347"/>
            <a:ext cx="32575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输入条件变化</a:t>
            </a:r>
            <a:endParaRPr lang="zh-CN" sz="1950" dirty="0"/>
          </a:p>
        </p:txBody>
      </p:sp>
      <p:sp>
        <p:nvSpPr>
          <p:cNvPr id="12" name="T38/card/region-1/body"/>
          <p:cNvSpPr/>
          <p:nvPr/>
        </p:nvSpPr>
        <p:spPr>
          <a:xfrm>
            <a:off x="8362950" y="1692497"/>
            <a:ext cx="3238500" cy="1595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对齐训练和测试的变量范围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用同一尺度表示发生变化的条件</a:t>
            </a:r>
            <a:endParaRPr lang="zh-CN" sz="1800" dirty="0"/>
          </a:p>
        </p:txBody>
      </p:sp>
      <p:sp>
        <p:nvSpPr>
          <p:cNvPr id="13" name="T38/card/region-2/frame"/>
          <p:cNvSpPr/>
          <p:nvPr/>
        </p:nvSpPr>
        <p:spPr>
          <a:xfrm>
            <a:off x="8229600" y="3734562"/>
            <a:ext cx="3505200" cy="2259616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14" name="T38/card/region-2/tab"/>
          <p:cNvSpPr/>
          <p:nvPr/>
        </p:nvSpPr>
        <p:spPr>
          <a:xfrm>
            <a:off x="8343900" y="3620262"/>
            <a:ext cx="1257300" cy="342900"/>
          </a:xfrm>
          <a:prstGeom prst="rect">
            <a:avLst/>
          </a:prstGeom>
          <a:solidFill>
            <a:srgbClr val="235E9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38/card/region-2/title"/>
          <p:cNvSpPr/>
          <p:nvPr/>
        </p:nvSpPr>
        <p:spPr>
          <a:xfrm>
            <a:off x="8448675" y="3648837"/>
            <a:ext cx="1047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机制失配</a:t>
            </a:r>
            <a:endParaRPr lang="zh-CN" sz="1950" dirty="0"/>
          </a:p>
        </p:txBody>
      </p:sp>
      <p:sp>
        <p:nvSpPr>
          <p:cNvPr id="16" name="T38/card/region-2/body"/>
          <p:cNvSpPr/>
          <p:nvPr/>
        </p:nvSpPr>
        <p:spPr>
          <a:xfrm>
            <a:off x="8362950" y="4106037"/>
            <a:ext cx="3238500" cy="179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指出原有假设在哪个环境失效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检查模型、工具与执行约束的变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化</a:t>
            </a:r>
            <a:endParaRPr lang="zh-CN" sz="1800" dirty="0"/>
          </a:p>
        </p:txBody>
      </p:sp>
      <p:sp>
        <p:nvSpPr>
          <p:cNvPr id="17" name="T38/card/region-3/title"/>
          <p:cNvSpPr/>
          <p:nvPr/>
        </p:nvSpPr>
        <p:spPr>
          <a:xfrm>
            <a:off x="457200" y="4964716"/>
            <a:ext cx="74485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迁移结论</a:t>
            </a:r>
            <a:endParaRPr lang="zh-CN" sz="1950" dirty="0"/>
          </a:p>
        </p:txBody>
      </p:sp>
      <p:sp>
        <p:nvSpPr>
          <p:cNvPr id="18" name="T38/card/region-3/body"/>
          <p:cNvSpPr/>
          <p:nvPr/>
        </p:nvSpPr>
        <p:spPr>
          <a:xfrm>
            <a:off x="457200" y="5345716"/>
            <a:ext cx="7448550" cy="630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结论限定在已测试的条件变化内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独立报告未覆盖环境</a:t>
            </a:r>
            <a:endParaRPr lang="zh-CN" sz="1800" dirty="0"/>
          </a:p>
        </p:txBody>
      </p:sp>
      <p:sp>
        <p:nvSpPr>
          <p:cNvPr id="19" name="T38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39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39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/ 06</a:t>
            </a:r>
            <a:endParaRPr lang="zh-CN" sz="1050" dirty="0"/>
          </a:p>
        </p:txBody>
      </p:sp>
      <p:sp>
        <p:nvSpPr>
          <p:cNvPr id="4" name="T39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测量偏倚与替代解释</a:t>
            </a:r>
            <a:endParaRPr lang="zh-CN" sz="3000" dirty="0"/>
          </a:p>
        </p:txBody>
      </p:sp>
      <p:sp>
        <p:nvSpPr>
          <p:cNvPr id="5" name="T39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39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7" name="T39/edge:0"/>
          <p:cNvSpPr/>
          <p:nvPr/>
        </p:nvSpPr>
        <p:spPr>
          <a:xfrm>
            <a:off x="2819400" y="2017871"/>
            <a:ext cx="62865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8" name="T39/edge:1"/>
          <p:cNvSpPr/>
          <p:nvPr/>
        </p:nvSpPr>
        <p:spPr>
          <a:xfrm>
            <a:off x="5810250" y="2017871"/>
            <a:ext cx="62865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9" name="T39/edge:2"/>
          <p:cNvSpPr/>
          <p:nvPr/>
        </p:nvSpPr>
        <p:spPr>
          <a:xfrm>
            <a:off x="8801100" y="2017871"/>
            <a:ext cx="62865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0" name="T39/node:step-1:frame"/>
          <p:cNvSpPr/>
          <p:nvPr/>
        </p:nvSpPr>
        <p:spPr>
          <a:xfrm>
            <a:off x="457200" y="1365028"/>
            <a:ext cx="2362200" cy="1305687"/>
          </a:xfrm>
          <a:prstGeom prst="rect">
            <a:avLst/>
          </a:prstGeom>
          <a:solidFill>
            <a:srgbClr val="EAF2FA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11" name="T39/node:step-1:heading-rule"/>
          <p:cNvSpPr/>
          <p:nvPr/>
        </p:nvSpPr>
        <p:spPr>
          <a:xfrm>
            <a:off x="457200" y="1365028"/>
            <a:ext cx="236220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12" name="T39/node:step-1:label"/>
          <p:cNvSpPr/>
          <p:nvPr/>
        </p:nvSpPr>
        <p:spPr>
          <a:xfrm>
            <a:off x="571500" y="1460278"/>
            <a:ext cx="21336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真实状态</a:t>
            </a:r>
            <a:endParaRPr lang="zh-CN" sz="1800" dirty="0"/>
          </a:p>
        </p:txBody>
      </p:sp>
      <p:sp>
        <p:nvSpPr>
          <p:cNvPr id="13" name="T39/node:step-1:detail"/>
          <p:cNvSpPr/>
          <p:nvPr/>
        </p:nvSpPr>
        <p:spPr>
          <a:xfrm>
            <a:off x="571500" y="1774603"/>
            <a:ext cx="2133600" cy="810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目标估计对象</a:t>
            </a:r>
            <a:endParaRPr lang="zh-CN" sz="1650" dirty="0"/>
          </a:p>
        </p:txBody>
      </p:sp>
      <p:sp>
        <p:nvSpPr>
          <p:cNvPr id="14" name="T39/node:step-2:frame"/>
          <p:cNvSpPr/>
          <p:nvPr/>
        </p:nvSpPr>
        <p:spPr>
          <a:xfrm>
            <a:off x="3448050" y="1365028"/>
            <a:ext cx="2362200" cy="1305687"/>
          </a:xfrm>
          <a:prstGeom prst="rect">
            <a:avLst/>
          </a:prstGeom>
          <a:solidFill>
            <a:srgbClr val="EAF2FA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15" name="T39/node:step-2:heading-rule"/>
          <p:cNvSpPr/>
          <p:nvPr/>
        </p:nvSpPr>
        <p:spPr>
          <a:xfrm>
            <a:off x="3448050" y="1365028"/>
            <a:ext cx="236220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16" name="T39/node:step-2:label"/>
          <p:cNvSpPr/>
          <p:nvPr/>
        </p:nvSpPr>
        <p:spPr>
          <a:xfrm>
            <a:off x="3562350" y="1460278"/>
            <a:ext cx="21336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测量与选择</a:t>
            </a:r>
            <a:endParaRPr lang="zh-CN" sz="1800" dirty="0"/>
          </a:p>
        </p:txBody>
      </p:sp>
      <p:sp>
        <p:nvSpPr>
          <p:cNvPr id="17" name="T39/node:step-2:detail"/>
          <p:cNvSpPr/>
          <p:nvPr/>
        </p:nvSpPr>
        <p:spPr>
          <a:xfrm>
            <a:off x="3562350" y="1774603"/>
            <a:ext cx="2133600" cy="810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潜在系统性误差</a:t>
            </a:r>
            <a:endParaRPr lang="zh-CN" sz="1650" dirty="0"/>
          </a:p>
        </p:txBody>
      </p:sp>
      <p:sp>
        <p:nvSpPr>
          <p:cNvPr id="18" name="T39/node:step-3:frame"/>
          <p:cNvSpPr/>
          <p:nvPr/>
        </p:nvSpPr>
        <p:spPr>
          <a:xfrm>
            <a:off x="6438900" y="1365028"/>
            <a:ext cx="2362200" cy="1305687"/>
          </a:xfrm>
          <a:prstGeom prst="rect">
            <a:avLst/>
          </a:prstGeom>
          <a:solidFill>
            <a:srgbClr val="E9F4F0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19" name="T39/node:step-3:heading-rule"/>
          <p:cNvSpPr/>
          <p:nvPr/>
        </p:nvSpPr>
        <p:spPr>
          <a:xfrm>
            <a:off x="6438900" y="1365028"/>
            <a:ext cx="2362200" cy="0"/>
          </a:xfrm>
          <a:prstGeom prst="line">
            <a:avLst/>
          </a:prstGeom>
          <a:noFill/>
          <a:ln w="19050">
            <a:solidFill>
              <a:srgbClr val="146C63"/>
            </a:solidFill>
            <a:prstDash val="solid"/>
          </a:ln>
        </p:spPr>
      </p:sp>
      <p:sp>
        <p:nvSpPr>
          <p:cNvPr id="20" name="T39/node:step-3:label"/>
          <p:cNvSpPr/>
          <p:nvPr/>
        </p:nvSpPr>
        <p:spPr>
          <a:xfrm>
            <a:off x="6553200" y="1460278"/>
            <a:ext cx="21336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统计估计</a:t>
            </a:r>
            <a:endParaRPr lang="zh-CN" sz="1800" dirty="0"/>
          </a:p>
        </p:txBody>
      </p:sp>
      <p:sp>
        <p:nvSpPr>
          <p:cNvPr id="21" name="T39/node:step-3:detail"/>
          <p:cNvSpPr/>
          <p:nvPr/>
        </p:nvSpPr>
        <p:spPr>
          <a:xfrm>
            <a:off x="6553200" y="1774603"/>
            <a:ext cx="2133600" cy="810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实际分析单位</a:t>
            </a:r>
            <a:endParaRPr lang="zh-CN" sz="1650" dirty="0"/>
          </a:p>
        </p:txBody>
      </p:sp>
      <p:sp>
        <p:nvSpPr>
          <p:cNvPr id="22" name="T39/node:step-4:frame"/>
          <p:cNvSpPr/>
          <p:nvPr/>
        </p:nvSpPr>
        <p:spPr>
          <a:xfrm>
            <a:off x="9429750" y="1365028"/>
            <a:ext cx="2305050" cy="1305687"/>
          </a:xfrm>
          <a:prstGeom prst="rect">
            <a:avLst/>
          </a:prstGeom>
          <a:solidFill>
            <a:srgbClr val="EAF2FA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23" name="T39/node:step-4:heading-rule"/>
          <p:cNvSpPr/>
          <p:nvPr/>
        </p:nvSpPr>
        <p:spPr>
          <a:xfrm>
            <a:off x="9429750" y="1365028"/>
            <a:ext cx="230505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24" name="T39/node:step-4:label"/>
          <p:cNvSpPr/>
          <p:nvPr/>
        </p:nvSpPr>
        <p:spPr>
          <a:xfrm>
            <a:off x="9544050" y="1460278"/>
            <a:ext cx="20764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研究结论</a:t>
            </a:r>
            <a:endParaRPr lang="zh-CN" sz="1800" dirty="0"/>
          </a:p>
        </p:txBody>
      </p:sp>
      <p:sp>
        <p:nvSpPr>
          <p:cNvPr id="25" name="T39/node:step-4:detail"/>
          <p:cNvSpPr/>
          <p:nvPr/>
        </p:nvSpPr>
        <p:spPr>
          <a:xfrm>
            <a:off x="9544050" y="1774603"/>
            <a:ext cx="2076450" cy="810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适用对象与范围</a:t>
            </a:r>
            <a:endParaRPr lang="zh-CN" sz="1650" dirty="0"/>
          </a:p>
        </p:txBody>
      </p:sp>
      <p:sp>
        <p:nvSpPr>
          <p:cNvPr id="26" name="T39/card/region-1/frame"/>
          <p:cNvSpPr/>
          <p:nvPr/>
        </p:nvSpPr>
        <p:spPr>
          <a:xfrm>
            <a:off x="457200" y="4130231"/>
            <a:ext cx="5486400" cy="1883759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27" name="T39/card/region-1/tab"/>
          <p:cNvSpPr/>
          <p:nvPr/>
        </p:nvSpPr>
        <p:spPr>
          <a:xfrm>
            <a:off x="571500" y="4015931"/>
            <a:ext cx="1257300" cy="342900"/>
          </a:xfrm>
          <a:prstGeom prst="rect">
            <a:avLst/>
          </a:prstGeom>
          <a:solidFill>
            <a:srgbClr val="A247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39/card/region-1/title"/>
          <p:cNvSpPr/>
          <p:nvPr/>
        </p:nvSpPr>
        <p:spPr>
          <a:xfrm>
            <a:off x="676275" y="4044506"/>
            <a:ext cx="1047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偏倚来源</a:t>
            </a:r>
            <a:endParaRPr lang="zh-CN" sz="1950" dirty="0"/>
          </a:p>
        </p:txBody>
      </p:sp>
      <p:sp>
        <p:nvSpPr>
          <p:cNvPr id="29" name="T39/card/region-1/body"/>
          <p:cNvSpPr/>
          <p:nvPr/>
        </p:nvSpPr>
        <p:spPr>
          <a:xfrm>
            <a:off x="590550" y="4501706"/>
            <a:ext cx="5219700" cy="1417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区分选择、测量和遗漏变量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说明偏倚可能影响的方向与对象</a:t>
            </a:r>
            <a:endParaRPr lang="zh-CN" sz="1800" dirty="0"/>
          </a:p>
        </p:txBody>
      </p:sp>
      <p:sp>
        <p:nvSpPr>
          <p:cNvPr id="30" name="T39/card/region-2/heading-rule"/>
          <p:cNvSpPr/>
          <p:nvPr/>
        </p:nvSpPr>
        <p:spPr>
          <a:xfrm>
            <a:off x="6248400" y="4377881"/>
            <a:ext cx="54864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31" name="T39/card/region-2/heading-mark"/>
          <p:cNvSpPr/>
          <p:nvPr/>
        </p:nvSpPr>
        <p:spPr>
          <a:xfrm>
            <a:off x="6248400" y="4377881"/>
            <a:ext cx="342900" cy="0"/>
          </a:xfrm>
          <a:prstGeom prst="line">
            <a:avLst/>
          </a:prstGeom>
          <a:noFill/>
          <a:ln w="17145">
            <a:solidFill>
              <a:srgbClr val="235E96"/>
            </a:solidFill>
            <a:prstDash val="solid"/>
          </a:ln>
        </p:spPr>
      </p:sp>
      <p:sp>
        <p:nvSpPr>
          <p:cNvPr id="32" name="T39/card/region-2/title"/>
          <p:cNvSpPr/>
          <p:nvPr/>
        </p:nvSpPr>
        <p:spPr>
          <a:xfrm>
            <a:off x="6248400" y="4034981"/>
            <a:ext cx="54864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排查与敏感性分析</a:t>
            </a:r>
            <a:endParaRPr lang="zh-CN" sz="1950" dirty="0"/>
          </a:p>
        </p:txBody>
      </p:sp>
      <p:sp>
        <p:nvSpPr>
          <p:cNvPr id="33" name="T39/card/region-2/body"/>
          <p:cNvSpPr/>
          <p:nvPr/>
        </p:nvSpPr>
        <p:spPr>
          <a:xfrm>
            <a:off x="6248400" y="4511231"/>
            <a:ext cx="5486400" cy="1464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改变可疑假设并重新估计主要效应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比较结论是否依赖单一处理选择</a:t>
            </a:r>
            <a:endParaRPr lang="zh-CN" sz="1800" dirty="0"/>
          </a:p>
        </p:txBody>
      </p:sp>
      <p:sp>
        <p:nvSpPr>
          <p:cNvPr id="34" name="T39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40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40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/ 06</a:t>
            </a:r>
            <a:endParaRPr lang="zh-CN" sz="1050" dirty="0"/>
          </a:p>
        </p:txBody>
      </p:sp>
      <p:sp>
        <p:nvSpPr>
          <p:cNvPr id="4" name="T40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效度与解释边界</a:t>
            </a:r>
            <a:endParaRPr lang="zh-CN" sz="3000" dirty="0"/>
          </a:p>
        </p:txBody>
      </p:sp>
      <p:sp>
        <p:nvSpPr>
          <p:cNvPr id="5" name="T40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40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graphicFrame>
        <p:nvGraphicFramePr>
          <p:cNvPr id="5" name="T40/data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68229"/>
          <a:ext cx="11277600" cy="2403729"/>
        </p:xfrm>
        <a:graphic>
          <a:graphicData uri="http://schemas.openxmlformats.org/drawingml/2006/table">
            <a:tbl>
              <a:tblPr/>
              <a:tblGrid>
                <a:gridCol w="3759200"/>
                <a:gridCol w="3759200"/>
                <a:gridCol w="3759200"/>
              </a:tblGrid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威胁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可能影响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可核查证据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选择偏倚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样本代表性下降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纳入与排除记录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测量误差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效应估计偏移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校准与重复测量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信息泄漏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测试结果偏高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完整数据处理链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评价混淆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结论对象改变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统一分母与评价者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环境变化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外推失效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独立环境测试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40/table-caption"/>
          <p:cNvSpPr/>
          <p:nvPr/>
        </p:nvSpPr>
        <p:spPr>
          <a:xfrm>
            <a:off x="457200" y="3538633"/>
            <a:ext cx="11277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47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结构占位 / 合成数据，必须替换后才能用于学术结论</a:t>
            </a:r>
            <a:endParaRPr lang="zh-CN" sz="1350" dirty="0"/>
          </a:p>
        </p:txBody>
      </p:sp>
      <p:sp>
        <p:nvSpPr>
          <p:cNvPr id="9" name="T40/card/region-1/frame"/>
          <p:cNvSpPr/>
          <p:nvPr/>
        </p:nvSpPr>
        <p:spPr>
          <a:xfrm>
            <a:off x="457200" y="3957733"/>
            <a:ext cx="5467350" cy="1701356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10" name="T40/card/region-1/heading-fill"/>
          <p:cNvSpPr/>
          <p:nvPr/>
        </p:nvSpPr>
        <p:spPr>
          <a:xfrm>
            <a:off x="466725" y="3967258"/>
            <a:ext cx="5448300" cy="371475"/>
          </a:xfrm>
          <a:prstGeom prst="rect">
            <a:avLst/>
          </a:prstGeom>
          <a:solidFill>
            <a:srgbClr val="EAF2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40/card/region-1/heading-rule"/>
          <p:cNvSpPr/>
          <p:nvPr/>
        </p:nvSpPr>
        <p:spPr>
          <a:xfrm>
            <a:off x="457200" y="4338733"/>
            <a:ext cx="54673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2" name="T40/card/region-1/title"/>
          <p:cNvSpPr/>
          <p:nvPr/>
        </p:nvSpPr>
        <p:spPr>
          <a:xfrm>
            <a:off x="581025" y="4005358"/>
            <a:ext cx="52197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内部效度</a:t>
            </a:r>
            <a:endParaRPr lang="zh-CN" sz="1950" dirty="0"/>
          </a:p>
        </p:txBody>
      </p:sp>
      <p:sp>
        <p:nvSpPr>
          <p:cNvPr id="13" name="T40/card/region-1/body"/>
          <p:cNvSpPr/>
          <p:nvPr/>
        </p:nvSpPr>
        <p:spPr>
          <a:xfrm>
            <a:off x="590550" y="4443508"/>
            <a:ext cx="5200650" cy="1120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对照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是否隔离了目标干预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检查混杂、泄漏与测量不一致</a:t>
            </a:r>
            <a:endParaRPr lang="zh-CN" sz="1800" dirty="0"/>
          </a:p>
        </p:txBody>
      </p:sp>
      <p:sp>
        <p:nvSpPr>
          <p:cNvPr id="14" name="T40/card/region-2/frame"/>
          <p:cNvSpPr/>
          <p:nvPr/>
        </p:nvSpPr>
        <p:spPr>
          <a:xfrm>
            <a:off x="6248400" y="3957733"/>
            <a:ext cx="5486400" cy="1701356"/>
          </a:xfrm>
          <a:prstGeom prst="rect">
            <a:avLst/>
          </a:prstGeom>
          <a:solidFill>
            <a:srgbClr val="EAF2FA"/>
          </a:solidFill>
          <a:ln w="12383">
            <a:solidFill>
              <a:srgbClr val="235E96"/>
            </a:solidFill>
            <a:prstDash val="dash"/>
          </a:ln>
        </p:spPr>
      </p:sp>
      <p:sp>
        <p:nvSpPr>
          <p:cNvPr id="15" name="T40/card/region-2/corner-white"/>
          <p:cNvSpPr/>
          <p:nvPr/>
        </p:nvSpPr>
        <p:spPr>
          <a:xfrm>
            <a:off x="11468100" y="3957733"/>
            <a:ext cx="266700" cy="2667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40/card/region-2/fold-diagonal"/>
          <p:cNvSpPr/>
          <p:nvPr/>
        </p:nvSpPr>
        <p:spPr>
          <a:xfrm>
            <a:off x="11468100" y="3957733"/>
            <a:ext cx="266700" cy="266700"/>
          </a:xfrm>
          <a:prstGeom prst="line">
            <a:avLst/>
          </a:prstGeom>
          <a:noFill/>
          <a:ln w="13335">
            <a:solidFill>
              <a:srgbClr val="235E96"/>
            </a:solidFill>
            <a:prstDash val="solid"/>
          </a:ln>
        </p:spPr>
      </p:sp>
      <p:sp>
        <p:nvSpPr>
          <p:cNvPr id="17" name="T40/card/region-2/fold-left"/>
          <p:cNvSpPr/>
          <p:nvPr/>
        </p:nvSpPr>
        <p:spPr>
          <a:xfrm>
            <a:off x="11468100" y="3957733"/>
            <a:ext cx="0" cy="266700"/>
          </a:xfrm>
          <a:prstGeom prst="line">
            <a:avLst/>
          </a:prstGeom>
          <a:noFill/>
          <a:ln w="13335">
            <a:solidFill>
              <a:srgbClr val="235E96"/>
            </a:solidFill>
            <a:prstDash val="solid"/>
          </a:ln>
        </p:spPr>
      </p:sp>
      <p:sp>
        <p:nvSpPr>
          <p:cNvPr id="18" name="T40/card/region-2/fold-bottom"/>
          <p:cNvSpPr/>
          <p:nvPr/>
        </p:nvSpPr>
        <p:spPr>
          <a:xfrm>
            <a:off x="11468100" y="4224433"/>
            <a:ext cx="266700" cy="0"/>
          </a:xfrm>
          <a:prstGeom prst="line">
            <a:avLst/>
          </a:prstGeom>
          <a:noFill/>
          <a:ln w="13335">
            <a:solidFill>
              <a:srgbClr val="235E96"/>
            </a:solidFill>
            <a:prstDash val="solid"/>
          </a:ln>
        </p:spPr>
      </p:sp>
      <p:sp>
        <p:nvSpPr>
          <p:cNvPr id="19" name="T40/card/region-2/title"/>
          <p:cNvSpPr/>
          <p:nvPr/>
        </p:nvSpPr>
        <p:spPr>
          <a:xfrm>
            <a:off x="6438900" y="4119658"/>
            <a:ext cx="49149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外部效度</a:t>
            </a:r>
            <a:endParaRPr lang="zh-CN" sz="1950" dirty="0"/>
          </a:p>
        </p:txBody>
      </p:sp>
      <p:sp>
        <p:nvSpPr>
          <p:cNvPr id="20" name="T40/card/region-2/body"/>
          <p:cNvSpPr/>
          <p:nvPr/>
        </p:nvSpPr>
        <p:spPr>
          <a:xfrm>
            <a:off x="6438900" y="4576858"/>
            <a:ext cx="5105400" cy="891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研究样本代表哪些对象和条件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明确跨地点、年份和管理制度的限制</a:t>
            </a:r>
            <a:endParaRPr lang="zh-CN" sz="1800" dirty="0"/>
          </a:p>
        </p:txBody>
      </p:sp>
      <p:sp>
        <p:nvSpPr>
          <p:cNvPr id="21" name="T40/takeaway"/>
          <p:cNvSpPr/>
          <p:nvPr/>
        </p:nvSpPr>
        <p:spPr>
          <a:xfrm>
            <a:off x="457200" y="5773388"/>
            <a:ext cx="11277600" cy="356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解释必须由本页证据支持，并保留样本、对照与适用条件。</a:t>
            </a:r>
            <a:endParaRPr lang="zh-CN" sz="1800" dirty="0"/>
          </a:p>
        </p:txBody>
      </p:sp>
      <p:sp>
        <p:nvSpPr>
          <p:cNvPr id="22" name="T40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41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41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/ 06</a:t>
            </a:r>
            <a:endParaRPr lang="zh-CN" sz="1050" dirty="0"/>
          </a:p>
        </p:txBody>
      </p:sp>
      <p:sp>
        <p:nvSpPr>
          <p:cNvPr id="4" name="T41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风险触发与干预条件</a:t>
            </a:r>
            <a:endParaRPr lang="zh-CN" sz="3000" dirty="0"/>
          </a:p>
        </p:txBody>
      </p:sp>
      <p:sp>
        <p:nvSpPr>
          <p:cNvPr id="5" name="T41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41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7" name="T41/panel:0:frame"/>
          <p:cNvSpPr/>
          <p:nvPr/>
        </p:nvSpPr>
        <p:spPr>
          <a:xfrm>
            <a:off x="457200" y="1167194"/>
            <a:ext cx="7410450" cy="3501581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8" name="T41/panel:0:side-mark"/>
          <p:cNvSpPr/>
          <p:nvPr/>
        </p:nvSpPr>
        <p:spPr>
          <a:xfrm>
            <a:off x="466725" y="1243394"/>
            <a:ext cx="47625" cy="276225"/>
          </a:xfrm>
          <a:prstGeom prst="rect">
            <a:avLst/>
          </a:prstGeom>
          <a:solidFill>
            <a:srgbClr val="235E9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41/panel:0:title"/>
          <p:cNvSpPr/>
          <p:nvPr/>
        </p:nvSpPr>
        <p:spPr>
          <a:xfrm>
            <a:off x="609600" y="1214819"/>
            <a:ext cx="71056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触发、核验与记录</a:t>
            </a:r>
            <a:endParaRPr lang="zh-CN" sz="1950" dirty="0"/>
          </a:p>
        </p:txBody>
      </p:sp>
      <p:sp>
        <p:nvSpPr>
          <p:cNvPr id="10" name="T41/edge:0"/>
          <p:cNvSpPr/>
          <p:nvPr/>
        </p:nvSpPr>
        <p:spPr>
          <a:xfrm>
            <a:off x="2590800" y="2245328"/>
            <a:ext cx="60960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1" name="T41/edge:1"/>
          <p:cNvSpPr/>
          <p:nvPr/>
        </p:nvSpPr>
        <p:spPr>
          <a:xfrm>
            <a:off x="5200650" y="2245328"/>
            <a:ext cx="49530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2" name="T41/edge:2:segment:0"/>
          <p:cNvSpPr/>
          <p:nvPr/>
        </p:nvSpPr>
        <p:spPr>
          <a:xfrm>
            <a:off x="6705600" y="2749772"/>
            <a:ext cx="0" cy="455009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</a:ln>
        </p:spPr>
      </p:sp>
      <p:sp>
        <p:nvSpPr>
          <p:cNvPr id="13" name="T41/edge:2:segment:1"/>
          <p:cNvSpPr/>
          <p:nvPr/>
        </p:nvSpPr>
        <p:spPr>
          <a:xfrm flipH="1">
            <a:off x="4200525" y="3204782"/>
            <a:ext cx="2505075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</a:ln>
        </p:spPr>
      </p:sp>
      <p:sp>
        <p:nvSpPr>
          <p:cNvPr id="14" name="T41/edge:2:segment:2"/>
          <p:cNvSpPr/>
          <p:nvPr/>
        </p:nvSpPr>
        <p:spPr>
          <a:xfrm>
            <a:off x="4200525" y="3204782"/>
            <a:ext cx="0" cy="455009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5" name="T41/edge:3:segment:0"/>
          <p:cNvSpPr/>
          <p:nvPr/>
        </p:nvSpPr>
        <p:spPr>
          <a:xfrm flipH="1">
            <a:off x="466725" y="4085130"/>
            <a:ext cx="2733675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</a:ln>
        </p:spPr>
      </p:sp>
      <p:sp>
        <p:nvSpPr>
          <p:cNvPr id="16" name="T41/edge:3:segment:1"/>
          <p:cNvSpPr/>
          <p:nvPr/>
        </p:nvSpPr>
        <p:spPr>
          <a:xfrm flipV="1">
            <a:off x="466725" y="2245328"/>
            <a:ext cx="0" cy="1839801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</a:ln>
        </p:spPr>
      </p:sp>
      <p:sp>
        <p:nvSpPr>
          <p:cNvPr id="17" name="T41/edge:3:segment:2"/>
          <p:cNvSpPr/>
          <p:nvPr/>
        </p:nvSpPr>
        <p:spPr>
          <a:xfrm>
            <a:off x="466725" y="2245328"/>
            <a:ext cx="123825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8" name="T41/node:step-1:frame"/>
          <p:cNvSpPr/>
          <p:nvPr/>
        </p:nvSpPr>
        <p:spPr>
          <a:xfrm>
            <a:off x="590550" y="1740884"/>
            <a:ext cx="2000250" cy="1008888"/>
          </a:xfrm>
          <a:prstGeom prst="rect">
            <a:avLst/>
          </a:prstGeom>
          <a:solidFill>
            <a:srgbClr val="FAEEE8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19" name="T41/node:step-1:heading-rule"/>
          <p:cNvSpPr/>
          <p:nvPr/>
        </p:nvSpPr>
        <p:spPr>
          <a:xfrm>
            <a:off x="590550" y="1740884"/>
            <a:ext cx="2000250" cy="0"/>
          </a:xfrm>
          <a:prstGeom prst="line">
            <a:avLst/>
          </a:prstGeom>
          <a:noFill/>
          <a:ln w="19050">
            <a:solidFill>
              <a:srgbClr val="A24736"/>
            </a:solidFill>
            <a:prstDash val="solid"/>
          </a:ln>
        </p:spPr>
      </p:sp>
      <p:sp>
        <p:nvSpPr>
          <p:cNvPr id="20" name="T41/node:step-1:label"/>
          <p:cNvSpPr/>
          <p:nvPr/>
        </p:nvSpPr>
        <p:spPr>
          <a:xfrm>
            <a:off x="704850" y="2111978"/>
            <a:ext cx="17716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A247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异常或不确定性</a:t>
            </a:r>
            <a:endParaRPr lang="zh-CN" sz="1800" dirty="0"/>
          </a:p>
        </p:txBody>
      </p:sp>
      <p:sp>
        <p:nvSpPr>
          <p:cNvPr id="21" name="T41/node:step-2:frame"/>
          <p:cNvSpPr/>
          <p:nvPr/>
        </p:nvSpPr>
        <p:spPr>
          <a:xfrm>
            <a:off x="3200400" y="1740884"/>
            <a:ext cx="2000250" cy="1008888"/>
          </a:xfrm>
          <a:prstGeom prst="rect">
            <a:avLst/>
          </a:prstGeom>
          <a:solidFill>
            <a:srgbClr val="EAF2FA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22" name="T41/node:step-2:heading-rule"/>
          <p:cNvSpPr/>
          <p:nvPr/>
        </p:nvSpPr>
        <p:spPr>
          <a:xfrm>
            <a:off x="3200400" y="1740884"/>
            <a:ext cx="200025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23" name="T41/node:step-2:label"/>
          <p:cNvSpPr/>
          <p:nvPr/>
        </p:nvSpPr>
        <p:spPr>
          <a:xfrm>
            <a:off x="3314700" y="2111978"/>
            <a:ext cx="17716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触发复核</a:t>
            </a:r>
            <a:endParaRPr lang="zh-CN" sz="1800" dirty="0"/>
          </a:p>
        </p:txBody>
      </p:sp>
      <p:sp>
        <p:nvSpPr>
          <p:cNvPr id="24" name="T41/node:step-3:frame"/>
          <p:cNvSpPr/>
          <p:nvPr/>
        </p:nvSpPr>
        <p:spPr>
          <a:xfrm>
            <a:off x="5695950" y="1740884"/>
            <a:ext cx="2019300" cy="1008888"/>
          </a:xfrm>
          <a:prstGeom prst="rect">
            <a:avLst/>
          </a:prstGeom>
          <a:solidFill>
            <a:srgbClr val="E9F4F0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25" name="T41/node:step-3:heading-rule"/>
          <p:cNvSpPr/>
          <p:nvPr/>
        </p:nvSpPr>
        <p:spPr>
          <a:xfrm>
            <a:off x="5695950" y="1740884"/>
            <a:ext cx="2019300" cy="0"/>
          </a:xfrm>
          <a:prstGeom prst="line">
            <a:avLst/>
          </a:prstGeom>
          <a:noFill/>
          <a:ln w="19050">
            <a:solidFill>
              <a:srgbClr val="146C63"/>
            </a:solidFill>
            <a:prstDash val="solid"/>
          </a:ln>
        </p:spPr>
      </p:sp>
      <p:sp>
        <p:nvSpPr>
          <p:cNvPr id="26" name="T41/node:step-3:label"/>
          <p:cNvSpPr/>
          <p:nvPr/>
        </p:nvSpPr>
        <p:spPr>
          <a:xfrm>
            <a:off x="5810250" y="2111978"/>
            <a:ext cx="17907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人工或工具核验</a:t>
            </a:r>
            <a:endParaRPr lang="zh-CN" sz="1800" dirty="0"/>
          </a:p>
        </p:txBody>
      </p:sp>
      <p:sp>
        <p:nvSpPr>
          <p:cNvPr id="27" name="T41/node:step-4:frame"/>
          <p:cNvSpPr/>
          <p:nvPr/>
        </p:nvSpPr>
        <p:spPr>
          <a:xfrm>
            <a:off x="3200400" y="3659791"/>
            <a:ext cx="2000250" cy="850678"/>
          </a:xfrm>
          <a:prstGeom prst="rect">
            <a:avLst/>
          </a:prstGeom>
          <a:solidFill>
            <a:srgbClr val="EAF2FA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28" name="T41/node:step-4:heading-rule"/>
          <p:cNvSpPr/>
          <p:nvPr/>
        </p:nvSpPr>
        <p:spPr>
          <a:xfrm>
            <a:off x="3200400" y="3659791"/>
            <a:ext cx="200025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29" name="T41/node:step-4:label"/>
          <p:cNvSpPr/>
          <p:nvPr/>
        </p:nvSpPr>
        <p:spPr>
          <a:xfrm>
            <a:off x="3314700" y="3951780"/>
            <a:ext cx="17716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返回与记录</a:t>
            </a:r>
            <a:endParaRPr lang="zh-CN" sz="1800" dirty="0"/>
          </a:p>
        </p:txBody>
      </p:sp>
      <p:sp>
        <p:nvSpPr>
          <p:cNvPr id="30" name="T41/card/region-1/frame"/>
          <p:cNvSpPr/>
          <p:nvPr/>
        </p:nvSpPr>
        <p:spPr>
          <a:xfrm>
            <a:off x="8134350" y="1321022"/>
            <a:ext cx="3600450" cy="2061782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31" name="T41/card/region-1/tab"/>
          <p:cNvSpPr/>
          <p:nvPr/>
        </p:nvSpPr>
        <p:spPr>
          <a:xfrm>
            <a:off x="8248650" y="1206722"/>
            <a:ext cx="1752600" cy="342900"/>
          </a:xfrm>
          <a:prstGeom prst="rect">
            <a:avLst/>
          </a:prstGeom>
          <a:solidFill>
            <a:srgbClr val="A247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41/card/region-1/title"/>
          <p:cNvSpPr/>
          <p:nvPr/>
        </p:nvSpPr>
        <p:spPr>
          <a:xfrm>
            <a:off x="8353425" y="1235297"/>
            <a:ext cx="15430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风险触发条件</a:t>
            </a:r>
            <a:endParaRPr lang="zh-CN" sz="1950" dirty="0"/>
          </a:p>
        </p:txBody>
      </p:sp>
      <p:sp>
        <p:nvSpPr>
          <p:cNvPr id="33" name="T41/card/region-1/body"/>
          <p:cNvSpPr/>
          <p:nvPr/>
        </p:nvSpPr>
        <p:spPr>
          <a:xfrm>
            <a:off x="8267700" y="1692497"/>
            <a:ext cx="3333750" cy="1595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把失败或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A247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不确定性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写成可监测信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号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提前规定何时停止、复核或回退</a:t>
            </a:r>
            <a:endParaRPr lang="zh-CN" sz="1800" dirty="0"/>
          </a:p>
        </p:txBody>
      </p:sp>
      <p:sp>
        <p:nvSpPr>
          <p:cNvPr id="34" name="T41/card/region-2/heading-rule"/>
          <p:cNvSpPr/>
          <p:nvPr/>
        </p:nvSpPr>
        <p:spPr>
          <a:xfrm>
            <a:off x="8134350" y="3982212"/>
            <a:ext cx="36004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35" name="T41/card/region-2/heading-mark"/>
          <p:cNvSpPr/>
          <p:nvPr/>
        </p:nvSpPr>
        <p:spPr>
          <a:xfrm>
            <a:off x="8134350" y="3982212"/>
            <a:ext cx="342900" cy="0"/>
          </a:xfrm>
          <a:prstGeom prst="line">
            <a:avLst/>
          </a:prstGeom>
          <a:noFill/>
          <a:ln w="17145">
            <a:solidFill>
              <a:srgbClr val="235E96"/>
            </a:solidFill>
            <a:prstDash val="solid"/>
          </a:ln>
        </p:spPr>
      </p:sp>
      <p:sp>
        <p:nvSpPr>
          <p:cNvPr id="36" name="T41/card/region-2/title"/>
          <p:cNvSpPr/>
          <p:nvPr/>
        </p:nvSpPr>
        <p:spPr>
          <a:xfrm>
            <a:off x="8134350" y="3639312"/>
            <a:ext cx="36004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人工与计算代价</a:t>
            </a:r>
            <a:endParaRPr lang="zh-CN" sz="1950" dirty="0"/>
          </a:p>
        </p:txBody>
      </p:sp>
      <p:sp>
        <p:nvSpPr>
          <p:cNvPr id="37" name="T41/card/region-2/body"/>
          <p:cNvSpPr/>
          <p:nvPr/>
        </p:nvSpPr>
        <p:spPr>
          <a:xfrm>
            <a:off x="8134350" y="4115562"/>
            <a:ext cx="3600450" cy="1840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记录复核次数、耗时与算力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评价干预是否减少错误及其代价</a:t>
            </a:r>
            <a:endParaRPr lang="zh-CN" sz="1800" dirty="0"/>
          </a:p>
        </p:txBody>
      </p:sp>
      <p:sp>
        <p:nvSpPr>
          <p:cNvPr id="38" name="T41/card/region-3/title"/>
          <p:cNvSpPr/>
          <p:nvPr/>
        </p:nvSpPr>
        <p:spPr>
          <a:xfrm>
            <a:off x="457200" y="4964716"/>
            <a:ext cx="74104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A247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剩余风险</a:t>
            </a:r>
            <a:endParaRPr lang="zh-CN" sz="1950" dirty="0"/>
          </a:p>
        </p:txBody>
      </p:sp>
      <p:sp>
        <p:nvSpPr>
          <p:cNvPr id="39" name="T41/card/region-3/body"/>
          <p:cNvSpPr/>
          <p:nvPr/>
        </p:nvSpPr>
        <p:spPr>
          <a:xfrm>
            <a:off x="457200" y="5345716"/>
            <a:ext cx="7410450" cy="630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列出核验后仍可能保留的错误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据此限定自动执行的范围</a:t>
            </a:r>
            <a:endParaRPr lang="zh-CN" sz="1800" dirty="0"/>
          </a:p>
        </p:txBody>
      </p:sp>
      <p:sp>
        <p:nvSpPr>
          <p:cNvPr id="40" name="T41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42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42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 / 06</a:t>
            </a:r>
            <a:endParaRPr lang="zh-CN" sz="1050" dirty="0"/>
          </a:p>
        </p:txBody>
      </p:sp>
      <p:sp>
        <p:nvSpPr>
          <p:cNvPr id="4" name="T42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复现材料与缺失信息</a:t>
            </a:r>
            <a:endParaRPr lang="zh-CN" sz="3000" dirty="0"/>
          </a:p>
        </p:txBody>
      </p:sp>
      <p:sp>
        <p:nvSpPr>
          <p:cNvPr id="5" name="T42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42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7" name="T42/takeaway"/>
          <p:cNvSpPr/>
          <p:nvPr/>
        </p:nvSpPr>
        <p:spPr>
          <a:xfrm>
            <a:off x="457200" y="5657850"/>
            <a:ext cx="6991350" cy="415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解释必须由本页证据支持，并保留样本、对照与适用条件。</a:t>
            </a:r>
            <a:endParaRPr lang="zh-CN" sz="1800" dirty="0"/>
          </a:p>
        </p:txBody>
      </p:sp>
      <p:sp>
        <p:nvSpPr>
          <p:cNvPr id="8" name="T42/edge:0"/>
          <p:cNvSpPr/>
          <p:nvPr/>
        </p:nvSpPr>
        <p:spPr>
          <a:xfrm>
            <a:off x="2724150" y="1889189"/>
            <a:ext cx="72390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9" name="T42/edge:1"/>
          <p:cNvSpPr/>
          <p:nvPr/>
        </p:nvSpPr>
        <p:spPr>
          <a:xfrm>
            <a:off x="4543425" y="2452973"/>
            <a:ext cx="0" cy="1562957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0" name="T42/edge:2"/>
          <p:cNvSpPr/>
          <p:nvPr/>
        </p:nvSpPr>
        <p:spPr>
          <a:xfrm flipH="1">
            <a:off x="2724150" y="4579715"/>
            <a:ext cx="72390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1" name="T42/node:step-1:frame"/>
          <p:cNvSpPr/>
          <p:nvPr/>
        </p:nvSpPr>
        <p:spPr>
          <a:xfrm>
            <a:off x="533400" y="1325404"/>
            <a:ext cx="2190750" cy="1127570"/>
          </a:xfrm>
          <a:prstGeom prst="rect">
            <a:avLst/>
          </a:prstGeom>
          <a:solidFill>
            <a:srgbClr val="F0F3F6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12" name="T42/node:step-1:heading-rule"/>
          <p:cNvSpPr/>
          <p:nvPr/>
        </p:nvSpPr>
        <p:spPr>
          <a:xfrm>
            <a:off x="533400" y="1325404"/>
            <a:ext cx="2190750" cy="0"/>
          </a:xfrm>
          <a:prstGeom prst="line">
            <a:avLst/>
          </a:prstGeom>
          <a:noFill/>
          <a:ln w="19050">
            <a:solidFill>
              <a:srgbClr val="536A7A"/>
            </a:solidFill>
            <a:prstDash val="solid"/>
          </a:ln>
        </p:spPr>
      </p:sp>
      <p:sp>
        <p:nvSpPr>
          <p:cNvPr id="13" name="T42/node:step-1:label"/>
          <p:cNvSpPr/>
          <p:nvPr/>
        </p:nvSpPr>
        <p:spPr>
          <a:xfrm>
            <a:off x="647700" y="1420654"/>
            <a:ext cx="19621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数据与版本</a:t>
            </a:r>
            <a:endParaRPr lang="zh-CN" sz="1800" dirty="0"/>
          </a:p>
        </p:txBody>
      </p:sp>
      <p:sp>
        <p:nvSpPr>
          <p:cNvPr id="14" name="T42/node:step-1:detail"/>
          <p:cNvSpPr/>
          <p:nvPr/>
        </p:nvSpPr>
        <p:spPr>
          <a:xfrm>
            <a:off x="647700" y="1734979"/>
            <a:ext cx="1962150" cy="632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公开记录与许可</a:t>
            </a:r>
            <a:endParaRPr lang="zh-CN" sz="1650" dirty="0"/>
          </a:p>
        </p:txBody>
      </p:sp>
      <p:sp>
        <p:nvSpPr>
          <p:cNvPr id="15" name="T42/node:step-2:frame"/>
          <p:cNvSpPr/>
          <p:nvPr/>
        </p:nvSpPr>
        <p:spPr>
          <a:xfrm>
            <a:off x="3448050" y="1325404"/>
            <a:ext cx="2190750" cy="1127570"/>
          </a:xfrm>
          <a:prstGeom prst="rect">
            <a:avLst/>
          </a:prstGeom>
          <a:solidFill>
            <a:srgbClr val="EAF2FA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16" name="T42/node:step-2:heading-rule"/>
          <p:cNvSpPr/>
          <p:nvPr/>
        </p:nvSpPr>
        <p:spPr>
          <a:xfrm>
            <a:off x="3448050" y="1325404"/>
            <a:ext cx="219075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17" name="T42/node:step-2:label"/>
          <p:cNvSpPr/>
          <p:nvPr/>
        </p:nvSpPr>
        <p:spPr>
          <a:xfrm>
            <a:off x="3562350" y="1420654"/>
            <a:ext cx="19621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环境与依赖</a:t>
            </a:r>
            <a:endParaRPr lang="zh-CN" sz="1800" dirty="0"/>
          </a:p>
        </p:txBody>
      </p:sp>
      <p:sp>
        <p:nvSpPr>
          <p:cNvPr id="18" name="T42/node:step-2:detail"/>
          <p:cNvSpPr/>
          <p:nvPr/>
        </p:nvSpPr>
        <p:spPr>
          <a:xfrm>
            <a:off x="3562350" y="1734979"/>
            <a:ext cx="1962150" cy="632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可复现安装</a:t>
            </a:r>
            <a:endParaRPr lang="zh-CN" sz="1650" dirty="0"/>
          </a:p>
        </p:txBody>
      </p:sp>
      <p:sp>
        <p:nvSpPr>
          <p:cNvPr id="19" name="T42/node:step-3:frame"/>
          <p:cNvSpPr/>
          <p:nvPr/>
        </p:nvSpPr>
        <p:spPr>
          <a:xfrm>
            <a:off x="3448050" y="4015931"/>
            <a:ext cx="2190750" cy="1127570"/>
          </a:xfrm>
          <a:prstGeom prst="rect">
            <a:avLst/>
          </a:prstGeom>
          <a:solidFill>
            <a:srgbClr val="EAF2FA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20" name="T42/node:step-3:heading-rule"/>
          <p:cNvSpPr/>
          <p:nvPr/>
        </p:nvSpPr>
        <p:spPr>
          <a:xfrm>
            <a:off x="3448050" y="4015931"/>
            <a:ext cx="219075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21" name="T42/node:step-3:label"/>
          <p:cNvSpPr/>
          <p:nvPr/>
        </p:nvSpPr>
        <p:spPr>
          <a:xfrm>
            <a:off x="3562350" y="4111181"/>
            <a:ext cx="19621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代码与参数</a:t>
            </a:r>
            <a:endParaRPr lang="zh-CN" sz="1800" dirty="0"/>
          </a:p>
        </p:txBody>
      </p:sp>
      <p:sp>
        <p:nvSpPr>
          <p:cNvPr id="22" name="T42/node:step-3:detail"/>
          <p:cNvSpPr/>
          <p:nvPr/>
        </p:nvSpPr>
        <p:spPr>
          <a:xfrm>
            <a:off x="3562350" y="4425506"/>
            <a:ext cx="1962150" cy="632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固定程序和预算</a:t>
            </a:r>
            <a:endParaRPr lang="zh-CN" sz="1650" dirty="0"/>
          </a:p>
        </p:txBody>
      </p:sp>
      <p:sp>
        <p:nvSpPr>
          <p:cNvPr id="23" name="T42/node:step-4:frame"/>
          <p:cNvSpPr/>
          <p:nvPr/>
        </p:nvSpPr>
        <p:spPr>
          <a:xfrm>
            <a:off x="533400" y="4015931"/>
            <a:ext cx="2190750" cy="1127570"/>
          </a:xfrm>
          <a:prstGeom prst="rect">
            <a:avLst/>
          </a:prstGeom>
          <a:solidFill>
            <a:srgbClr val="E9F4F0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24" name="T42/node:step-4:heading-rule"/>
          <p:cNvSpPr/>
          <p:nvPr/>
        </p:nvSpPr>
        <p:spPr>
          <a:xfrm>
            <a:off x="533400" y="4015931"/>
            <a:ext cx="2190750" cy="0"/>
          </a:xfrm>
          <a:prstGeom prst="line">
            <a:avLst/>
          </a:prstGeom>
          <a:noFill/>
          <a:ln w="19050">
            <a:solidFill>
              <a:srgbClr val="146C63"/>
            </a:solidFill>
            <a:prstDash val="solid"/>
          </a:ln>
        </p:spPr>
      </p:sp>
      <p:sp>
        <p:nvSpPr>
          <p:cNvPr id="25" name="T42/node:step-4:label"/>
          <p:cNvSpPr/>
          <p:nvPr/>
        </p:nvSpPr>
        <p:spPr>
          <a:xfrm>
            <a:off x="647700" y="4111181"/>
            <a:ext cx="19621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输出与核验</a:t>
            </a:r>
            <a:endParaRPr lang="zh-CN" sz="1800" dirty="0"/>
          </a:p>
        </p:txBody>
      </p:sp>
      <p:sp>
        <p:nvSpPr>
          <p:cNvPr id="26" name="T42/node:step-4:detail"/>
          <p:cNvSpPr/>
          <p:nvPr/>
        </p:nvSpPr>
        <p:spPr>
          <a:xfrm>
            <a:off x="647700" y="4425506"/>
            <a:ext cx="1962150" cy="632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原图、数据与来源</a:t>
            </a:r>
            <a:endParaRPr lang="zh-CN" sz="1650" dirty="0"/>
          </a:p>
        </p:txBody>
      </p:sp>
      <p:sp>
        <p:nvSpPr>
          <p:cNvPr id="27" name="T42/card/region-1/frame"/>
          <p:cNvSpPr/>
          <p:nvPr/>
        </p:nvSpPr>
        <p:spPr>
          <a:xfrm>
            <a:off x="7753350" y="1368647"/>
            <a:ext cx="3981450" cy="2053781"/>
          </a:xfrm>
          <a:prstGeom prst="rect">
            <a:avLst/>
          </a:prstGeom>
          <a:solidFill>
            <a:srgbClr val="FFFFFF"/>
          </a:solidFill>
          <a:ln w="14288">
            <a:solidFill>
              <a:srgbClr val="536A7A"/>
            </a:solidFill>
            <a:prstDash val="solid"/>
          </a:ln>
        </p:spPr>
      </p:sp>
      <p:sp>
        <p:nvSpPr>
          <p:cNvPr id="28" name="T42/card/region-1/title-cutout"/>
          <p:cNvSpPr/>
          <p:nvPr/>
        </p:nvSpPr>
        <p:spPr>
          <a:xfrm>
            <a:off x="7886700" y="1216247"/>
            <a:ext cx="1304925" cy="3238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42/card/region-1/base-rule"/>
          <p:cNvSpPr/>
          <p:nvPr/>
        </p:nvSpPr>
        <p:spPr>
          <a:xfrm>
            <a:off x="7943850" y="3270028"/>
            <a:ext cx="333375" cy="0"/>
          </a:xfrm>
          <a:prstGeom prst="line">
            <a:avLst/>
          </a:prstGeom>
          <a:noFill/>
          <a:ln w="28575">
            <a:solidFill>
              <a:srgbClr val="536A7A"/>
            </a:solidFill>
            <a:prstDash val="solid"/>
          </a:ln>
        </p:spPr>
      </p:sp>
      <p:sp>
        <p:nvSpPr>
          <p:cNvPr id="30" name="T42/card/region-1/title"/>
          <p:cNvSpPr/>
          <p:nvPr/>
        </p:nvSpPr>
        <p:spPr>
          <a:xfrm>
            <a:off x="7943850" y="1225772"/>
            <a:ext cx="360045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已公开材料</a:t>
            </a:r>
            <a:endParaRPr lang="zh-CN" sz="1950" dirty="0"/>
          </a:p>
        </p:txBody>
      </p:sp>
      <p:sp>
        <p:nvSpPr>
          <p:cNvPr id="31" name="T42/card/region-1/body"/>
          <p:cNvSpPr/>
          <p:nvPr/>
        </p:nvSpPr>
        <p:spPr>
          <a:xfrm>
            <a:off x="7943850" y="1759172"/>
            <a:ext cx="3600450" cy="1472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逐项记录数据、代码和环境版本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用最小实验核查能否恢复原结果</a:t>
            </a:r>
            <a:endParaRPr lang="zh-CN" sz="1800" dirty="0"/>
          </a:p>
        </p:txBody>
      </p:sp>
      <p:sp>
        <p:nvSpPr>
          <p:cNvPr id="32" name="T42/card/region-2/frame"/>
          <p:cNvSpPr/>
          <p:nvPr/>
        </p:nvSpPr>
        <p:spPr>
          <a:xfrm>
            <a:off x="7753350" y="3679603"/>
            <a:ext cx="3981450" cy="2314575"/>
          </a:xfrm>
          <a:prstGeom prst="rect">
            <a:avLst/>
          </a:prstGeom>
          <a:solidFill>
            <a:srgbClr val="FAEEE8"/>
          </a:solidFill>
          <a:ln w="12383">
            <a:solidFill>
              <a:srgbClr val="A24736"/>
            </a:solidFill>
            <a:prstDash val="dash"/>
          </a:ln>
        </p:spPr>
      </p:sp>
      <p:sp>
        <p:nvSpPr>
          <p:cNvPr id="33" name="T42/card/region-2/corner-white"/>
          <p:cNvSpPr/>
          <p:nvPr/>
        </p:nvSpPr>
        <p:spPr>
          <a:xfrm>
            <a:off x="11468100" y="3679603"/>
            <a:ext cx="266700" cy="2667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42/card/region-2/fold-diagonal"/>
          <p:cNvSpPr/>
          <p:nvPr/>
        </p:nvSpPr>
        <p:spPr>
          <a:xfrm>
            <a:off x="11468100" y="3679603"/>
            <a:ext cx="266700" cy="266700"/>
          </a:xfrm>
          <a:prstGeom prst="line">
            <a:avLst/>
          </a:prstGeom>
          <a:noFill/>
          <a:ln w="13335">
            <a:solidFill>
              <a:srgbClr val="A24736"/>
            </a:solidFill>
            <a:prstDash val="solid"/>
          </a:ln>
        </p:spPr>
      </p:sp>
      <p:sp>
        <p:nvSpPr>
          <p:cNvPr id="35" name="T42/card/region-2/fold-left"/>
          <p:cNvSpPr/>
          <p:nvPr/>
        </p:nvSpPr>
        <p:spPr>
          <a:xfrm>
            <a:off x="11468100" y="3679603"/>
            <a:ext cx="0" cy="266700"/>
          </a:xfrm>
          <a:prstGeom prst="line">
            <a:avLst/>
          </a:prstGeom>
          <a:noFill/>
          <a:ln w="13335">
            <a:solidFill>
              <a:srgbClr val="A24736"/>
            </a:solidFill>
            <a:prstDash val="solid"/>
          </a:ln>
        </p:spPr>
      </p:sp>
      <p:sp>
        <p:nvSpPr>
          <p:cNvPr id="36" name="T42/card/region-2/fold-bottom"/>
          <p:cNvSpPr/>
          <p:nvPr/>
        </p:nvSpPr>
        <p:spPr>
          <a:xfrm>
            <a:off x="11468100" y="3946303"/>
            <a:ext cx="266700" cy="0"/>
          </a:xfrm>
          <a:prstGeom prst="line">
            <a:avLst/>
          </a:prstGeom>
          <a:noFill/>
          <a:ln w="13335">
            <a:solidFill>
              <a:srgbClr val="A24736"/>
            </a:solidFill>
            <a:prstDash val="solid"/>
          </a:ln>
        </p:spPr>
      </p:sp>
      <p:sp>
        <p:nvSpPr>
          <p:cNvPr id="37" name="T42/card/region-2/title"/>
          <p:cNvSpPr/>
          <p:nvPr/>
        </p:nvSpPr>
        <p:spPr>
          <a:xfrm>
            <a:off x="7943850" y="3841528"/>
            <a:ext cx="340995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A247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缺失与重建条件</a:t>
            </a:r>
            <a:endParaRPr lang="zh-CN" sz="1950" dirty="0"/>
          </a:p>
        </p:txBody>
      </p:sp>
      <p:sp>
        <p:nvSpPr>
          <p:cNvPr id="38" name="T42/card/region-2/body"/>
          <p:cNvSpPr/>
          <p:nvPr/>
        </p:nvSpPr>
        <p:spPr>
          <a:xfrm>
            <a:off x="7943850" y="4298728"/>
            <a:ext cx="3600450" cy="1504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定位缺失参数、数据或执行步骤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记录重建假设及其可能影响</a:t>
            </a:r>
            <a:endParaRPr lang="zh-CN" sz="1800" dirty="0"/>
          </a:p>
        </p:txBody>
      </p:sp>
      <p:sp>
        <p:nvSpPr>
          <p:cNvPr id="39" name="T42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局限与失败学术模板</dc:title>
  <dc:subject>原创学术版式、结构化填充指引与合成科学图</dc:subject>
  <dc:creator>DSH Academic PPT</dc:creator>
  <cp:lastModifiedBy>DSH Academic PPT</cp:lastModifiedBy>
  <cp:revision>1</cp:revision>
  <dcterms:created xsi:type="dcterms:W3CDTF">2026-10-20T05:39:57Z</dcterms:created>
  <dcterms:modified xsi:type="dcterms:W3CDTF">2026-10-20T05:39:57Z</dcterms:modified>
</cp:coreProperties>
</file>