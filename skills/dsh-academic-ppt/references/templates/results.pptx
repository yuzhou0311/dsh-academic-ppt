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6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7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9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合成效应</c:v>
                </c:pt>
              </c:strCache>
            </c:strRef>
          </c:tx>
          <c:spPr>
            <a:solidFill>
              <a:srgbClr val="173C70"/>
            </a:solidFill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C2430"/>
                    </a:solidFill>
                    <a:latin typeface="Noto Sans CJK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73C7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55D8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0354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参考方法</c:v>
                  </c:pt>
                  <c:pt idx="1">
                    <c:v>设置一</c:v>
                  </c:pt>
                  <c:pt idx="2">
                    <c:v>设置二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31</c:v>
                </c:pt>
                <c:pt idx="2">
                  <c:v>37</c:v>
                </c:pt>
              </c:numCache>
            </c:numRef>
          </c:val>
        </c:ser>
        <c:dLbls>
          <c:numFmt formatCode="0.############" sourceLinked="0"/>
          <c:txPr>
            <a:bodyPr/>
            <a:lstStyle/>
            <a:p>
              <a:pPr>
                <a:defRPr b="0" i="0" strike="noStrike" sz="1650" u="none">
                  <a:solidFill>
                    <a:srgbClr val="1C2430"/>
                  </a:solidFill>
                  <a:latin typeface="Noto Sans CJK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75" b="0" i="0" u="none" strike="noStrike">
                <a:solidFill>
                  <a:srgbClr val="1C243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12700" cap="flat">
              <a:solidFill>
                <a:srgbClr val="BEC8D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25" b="0" i="0" u="none" strike="noStrike">
                    <a:solidFill>
                      <a:srgbClr val="515B68"/>
                    </a:solidFill>
                    <a:latin typeface="Noto Sans CJK SC"/>
                  </a:defRPr>
                </a:pPr>
                <a:r>
                  <a:rPr sz="1425" b="0" i="0" u="none" strike="noStrike">
                    <a:solidFill>
                      <a:srgbClr val="515B68"/>
                    </a:solidFill>
                    <a:latin typeface="Noto Sans CJK SC"/>
                  </a:rPr>
                  <a:t>合成值 / a.u.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515B68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终点一（合成）</c:v>
                </c:pt>
              </c:strCache>
            </c:strRef>
          </c:tx>
          <c:spPr>
            <a:solidFill>
              <a:srgbClr val="173C70"/>
            </a:solidFill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C2430"/>
                    </a:solidFill>
                    <a:latin typeface="Noto Sans CJK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73C7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55D8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0354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对照</c:v>
                  </c:pt>
                  <c:pt idx="1">
                    <c:v>低处理</c:v>
                  </c:pt>
                  <c:pt idx="2">
                    <c:v>高处理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29</c:v>
                </c:pt>
                <c:pt idx="2">
                  <c:v>35</c:v>
                </c:pt>
              </c:numCache>
            </c:numRef>
          </c:val>
        </c:ser>
        <c:dLbls>
          <c:numFmt formatCode="0.############" sourceLinked="0"/>
          <c:txPr>
            <a:bodyPr/>
            <a:lstStyle/>
            <a:p>
              <a:pPr>
                <a:defRPr b="0" i="0" strike="noStrike" sz="1650" u="none">
                  <a:solidFill>
                    <a:srgbClr val="1C2430"/>
                  </a:solidFill>
                  <a:latin typeface="Noto Sans CJK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75" b="0" i="0" u="none" strike="noStrike">
                <a:solidFill>
                  <a:srgbClr val="1C243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12700" cap="flat">
              <a:solidFill>
                <a:srgbClr val="BEC8D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25" b="0" i="0" u="none" strike="noStrike">
                    <a:solidFill>
                      <a:srgbClr val="515B68"/>
                    </a:solidFill>
                    <a:latin typeface="Noto Sans CJK SC"/>
                  </a:defRPr>
                </a:pPr>
                <a:r>
                  <a:rPr sz="1425" b="0" i="0" u="none" strike="noStrike">
                    <a:solidFill>
                      <a:srgbClr val="515B68"/>
                    </a:solidFill>
                    <a:latin typeface="Noto Sans CJK SC"/>
                  </a:rPr>
                  <a:t>合成终点一 / a.u.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515B68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条件 A（合成）</c:v>
                </c:pt>
              </c:strCache>
            </c:strRef>
          </c:tx>
          <c:spPr>
            <a:solidFill>
              <a:srgbClr val="173C70"/>
            </a:solidFill>
            <a:ln w="25400" cap="flat">
              <a:solidFill>
                <a:srgbClr val="173C70"/>
              </a:solidFill>
              <a:prstDash val="solid"/>
              <a:round/>
            </a:ln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C2430"/>
                    </a:solidFill>
                    <a:latin typeface="Noto Sans CJK S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73C70"/>
              </a:solidFill>
              <a:ln w="9525" cap="flat">
                <a:solidFill>
                  <a:srgbClr val="173C7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E1</c:v>
                  </c:pt>
                  <c:pt idx="1">
                    <c:v>E2</c:v>
                  </c:pt>
                  <c:pt idx="2">
                    <c:v>E3</c:v>
                  </c:pt>
                  <c:pt idx="3">
                    <c:v>E4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</c:v>
                </c:pt>
                <c:pt idx="1">
                  <c:v>78</c:v>
                </c:pt>
                <c:pt idx="2">
                  <c:v>70</c:v>
                </c:pt>
                <c:pt idx="3">
                  <c:v>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条件 B（合成）</c:v>
                </c:pt>
              </c:strCache>
            </c:strRef>
          </c:tx>
          <c:spPr>
            <a:solidFill>
              <a:srgbClr val="355D88"/>
            </a:solidFill>
            <a:ln w="25400" cap="flat">
              <a:solidFill>
                <a:srgbClr val="355D88"/>
              </a:solidFill>
              <a:prstDash val="solid"/>
              <a:round/>
            </a:ln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C2430"/>
                    </a:solidFill>
                    <a:latin typeface="Noto Sans CJK S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355D88"/>
              </a:solidFill>
              <a:ln w="9525" cap="flat">
                <a:solidFill>
                  <a:srgbClr val="355D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E1</c:v>
                  </c:pt>
                  <c:pt idx="1">
                    <c:v>E2</c:v>
                  </c:pt>
                  <c:pt idx="2">
                    <c:v>E3</c:v>
                  </c:pt>
                  <c:pt idx="3">
                    <c:v>E4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81</c:v>
                </c:pt>
                <c:pt idx="2">
                  <c:v>76</c:v>
                </c:pt>
                <c:pt idx="3">
                  <c:v>72</c:v>
                </c:pt>
              </c:numCache>
            </c:numRef>
          </c:val>
          <c:smooth val="0"/>
        </c:ser>
        <c:dLbls>
          <c:numFmt formatCode="0.############" sourceLinked="0"/>
          <c:txPr>
            <a:bodyPr/>
            <a:lstStyle/>
            <a:p>
              <a:pPr>
                <a:defRPr b="0" i="0" strike="noStrike" sz="1650" u="none">
                  <a:solidFill>
                    <a:srgbClr val="1C2430"/>
                  </a:solidFill>
                  <a:latin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75" b="0" i="0" u="none" strike="noStrike">
                <a:solidFill>
                  <a:srgbClr val="1C243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BEC8D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25" b="0" i="0" u="none" strike="noStrike">
                    <a:solidFill>
                      <a:srgbClr val="515B68"/>
                    </a:solidFill>
                    <a:latin typeface="Noto Sans CJK SC"/>
                  </a:defRPr>
                </a:pPr>
                <a:r>
                  <a:rPr sz="1425" b="0" i="0" u="none" strike="noStrike">
                    <a:solidFill>
                      <a:srgbClr val="515B68"/>
                    </a:solidFill>
                    <a:latin typeface="Noto Sans CJK SC"/>
                  </a:rPr>
                  <a:t>合成指标 / a.u.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515B68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25">
              <a:latin typeface="Noto Sans CJK SC"/>
              <a:cs typeface="Noto Sans CJK SC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合成指标</c:v>
                </c:pt>
              </c:strCache>
            </c:strRef>
          </c:tx>
          <c:spPr>
            <a:solidFill>
              <a:srgbClr val="173C70"/>
            </a:solidFill>
            <a:effectLst/>
          </c:spPr>
          <c:invertIfNegative val="0"/>
          <c:dLbls>
            <c:numFmt formatCode="0.############" sourceLinked="0"/>
            <c:txPr>
              <a:bodyPr/>
              <a:lstStyle/>
              <a:p>
                <a:pPr>
                  <a:defRPr b="0" i="0" strike="noStrike" sz="1650" u="none">
                    <a:solidFill>
                      <a:srgbClr val="1C2430"/>
                    </a:solidFill>
                    <a:latin typeface="Noto Sans CJK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73C7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55D8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0354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参考方法</c:v>
                  </c:pt>
                  <c:pt idx="1">
                    <c:v>设置一</c:v>
                  </c:pt>
                  <c:pt idx="2">
                    <c:v>设置二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</c:v>
                </c:pt>
                <c:pt idx="1">
                  <c:v>31</c:v>
                </c:pt>
                <c:pt idx="2">
                  <c:v>37</c:v>
                </c:pt>
              </c:numCache>
            </c:numRef>
          </c:val>
        </c:ser>
        <c:dLbls>
          <c:numFmt formatCode="0.############" sourceLinked="0"/>
          <c:txPr>
            <a:bodyPr/>
            <a:lstStyle/>
            <a:p>
              <a:pPr>
                <a:defRPr b="0" i="0" strike="noStrike" sz="1650" u="none">
                  <a:solidFill>
                    <a:srgbClr val="1C2430"/>
                  </a:solidFill>
                  <a:latin typeface="Noto Sans CJK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75" b="0" i="0" u="none" strike="noStrike">
                <a:solidFill>
                  <a:srgbClr val="1C243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b"/>
        <c:majorGridlines>
          <c:spPr>
            <a:ln w="12700" cap="flat">
              <a:solidFill>
                <a:srgbClr val="BEC8D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25" b="0" i="0" u="none" strike="noStrike">
                    <a:solidFill>
                      <a:srgbClr val="515B68"/>
                    </a:solidFill>
                    <a:latin typeface="Noto Sans CJK SC"/>
                  </a:defRPr>
                </a:pPr>
                <a:r>
                  <a:rPr sz="1425" b="0" i="0" u="none" strike="noStrike">
                    <a:solidFill>
                      <a:srgbClr val="515B68"/>
                    </a:solidFill>
                    <a:latin typeface="Noto Sans CJK SC"/>
                  </a:rPr>
                  <a:t>合成值 / a.u.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BEC8D4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515B68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results-main-effect。主图占主要面积，右侧同时给出效应、样本与结论边界。
全部文本为填写指引，图表值是合成演示值，不是任何研究结果。使用前替换论文、数据、原图与来源。
内容职责：主要效应；统计口径；解释边界。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results-two-outcomes。左原生图表与右原图分别报告终点，解释各自的指标、分母与条件。
全部文本为填写指引，图表值是合成演示值，不是任何研究结果。使用前替换论文、数据、原图与来源。
内容职责：终点一的解释；终点二的解释。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results-ablation。消融表与组件作用说明相邻，底部列出估计不确定性。
全部文本为填写指引，图表值是合成演示值，不是任何研究结果。使用前替换论文、数据、原图与来源。
内容职责：组件作用；替代解释；不确定性与重复。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results-robustness。趋势图展示环境差异，右侧记录训练覆盖与最差情形。
全部文本为填写指引，图表值是合成演示值，不是任何研究结果。使用前替换论文、数据、原图与来源。
内容职责：测试环境；最差情形；平均值以外的结论。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results-tradeoff。定量图配三个不同角色的解释区，明确权衡的比较单位。
全部文本为填写指引，图表值是合成演示值，不是任何研究结果。使用前替换论文、数据、原图与来源。
内容职责：收益指标；风险指标；资源代价。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results-error-analysis。原生错误分类表与实际评价流程并置，避免评价口径混用。
全部文本为填写指引，图表值是合成演示值，不是任何研究结果。使用前替换论文、数据、原图与来源。
内容职责：评价者与尺度；失败集中在哪一步；分母与统计单位。
建议讲述时间只是排练起点，按实际内容调整。
参考文献（完整题名）
T1 · Full article title: connecting decision models, experimental evidence and independent validation in crop cultivation · 期刊与卷页（替换） · 2026 · 待替换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9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9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06</a:t>
            </a:r>
            <a:endParaRPr lang="zh-CN" sz="1050" dirty="0"/>
          </a:p>
        </p:txBody>
      </p:sp>
      <p:sp>
        <p:nvSpPr>
          <p:cNvPr id="4" name="T19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19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主结果与统计口径</a:t>
            </a:r>
            <a:endParaRPr lang="zh-CN" sz="2550" dirty="0"/>
          </a:p>
        </p:txBody>
      </p:sp>
      <p:sp>
        <p:nvSpPr>
          <p:cNvPr id="6" name="T19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19/takeaway"/>
          <p:cNvSpPr/>
          <p:nvPr/>
        </p:nvSpPr>
        <p:spPr>
          <a:xfrm>
            <a:off x="457200" y="5867400"/>
            <a:ext cx="76962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统计口径、样本单位和适用条件需与原文一致</a:t>
            </a:r>
            <a:endParaRPr lang="zh-CN" sz="1800" dirty="0"/>
          </a:p>
        </p:txBody>
      </p:sp>
      <p:graphicFrame>
        <p:nvGraphicFramePr>
          <p:cNvPr id="8" name="T19/data-chart" descr=""/>
          <p:cNvGraphicFramePr/>
          <p:nvPr/>
        </p:nvGraphicFramePr>
        <p:xfrm>
          <a:off x="457200" y="1409700"/>
          <a:ext cx="7696200" cy="43053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19/card/region-1/base-rule"/>
          <p:cNvSpPr/>
          <p:nvPr/>
        </p:nvSpPr>
        <p:spPr>
          <a:xfrm>
            <a:off x="8458200" y="2781300"/>
            <a:ext cx="3276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0" name="T19/card/region-1/side-mark"/>
          <p:cNvSpPr/>
          <p:nvPr/>
        </p:nvSpPr>
        <p:spPr>
          <a:xfrm>
            <a:off x="8458200" y="140970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19/card/region-1/title"/>
          <p:cNvSpPr/>
          <p:nvPr/>
        </p:nvSpPr>
        <p:spPr>
          <a:xfrm>
            <a:off x="8610600" y="1409700"/>
            <a:ext cx="3124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主要效应</a:t>
            </a:r>
            <a:endParaRPr lang="zh-CN" sz="1800" dirty="0"/>
          </a:p>
        </p:txBody>
      </p:sp>
      <p:sp>
        <p:nvSpPr>
          <p:cNvPr id="12" name="T19/card/region-1/body"/>
          <p:cNvSpPr/>
          <p:nvPr/>
        </p:nvSpPr>
        <p:spPr>
          <a:xfrm>
            <a:off x="8610600" y="1828800"/>
            <a:ext cx="3124200" cy="857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报告效应大小与比较基线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模板图中的数字仅为合成演示</a:t>
            </a:r>
            <a:endParaRPr lang="zh-CN" sz="1725" dirty="0"/>
          </a:p>
        </p:txBody>
      </p:sp>
      <p:sp>
        <p:nvSpPr>
          <p:cNvPr id="13" name="T19/card/region-2/heading-rule"/>
          <p:cNvSpPr/>
          <p:nvPr/>
        </p:nvSpPr>
        <p:spPr>
          <a:xfrm>
            <a:off x="8458200" y="3371850"/>
            <a:ext cx="3276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4" name="T19/card/region-2/heading-mark"/>
          <p:cNvSpPr/>
          <p:nvPr/>
        </p:nvSpPr>
        <p:spPr>
          <a:xfrm>
            <a:off x="8458200" y="337185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15" name="T19/card/region-2/title"/>
          <p:cNvSpPr/>
          <p:nvPr/>
        </p:nvSpPr>
        <p:spPr>
          <a:xfrm>
            <a:off x="8458200" y="3028950"/>
            <a:ext cx="32766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</a:t>
            </a:r>
            <a:endParaRPr lang="zh-CN" sz="1875" dirty="0"/>
          </a:p>
        </p:txBody>
      </p:sp>
      <p:sp>
        <p:nvSpPr>
          <p:cNvPr id="16" name="T19/card/region-2/body"/>
          <p:cNvSpPr/>
          <p:nvPr/>
        </p:nvSpPr>
        <p:spPr>
          <a:xfrm>
            <a:off x="8458200" y="3505200"/>
            <a:ext cx="327660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给出样本、聚合方法与不确定性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误差条含义不能只写 error</a:t>
            </a:r>
            <a:endParaRPr lang="zh-CN" sz="1800" dirty="0"/>
          </a:p>
        </p:txBody>
      </p:sp>
      <p:sp>
        <p:nvSpPr>
          <p:cNvPr id="17" name="T19/card/region-3/frame"/>
          <p:cNvSpPr/>
          <p:nvPr/>
        </p:nvSpPr>
        <p:spPr>
          <a:xfrm>
            <a:off x="8458200" y="4724400"/>
            <a:ext cx="3276600" cy="12763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8" name="T19/card/region-3/tab"/>
          <p:cNvSpPr/>
          <p:nvPr/>
        </p:nvSpPr>
        <p:spPr>
          <a:xfrm>
            <a:off x="8572500" y="4610100"/>
            <a:ext cx="11811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19/card/region-3/title"/>
          <p:cNvSpPr/>
          <p:nvPr/>
        </p:nvSpPr>
        <p:spPr>
          <a:xfrm>
            <a:off x="8677275" y="463867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解释边界</a:t>
            </a:r>
            <a:endParaRPr lang="zh-CN" sz="1800" dirty="0"/>
          </a:p>
        </p:txBody>
      </p:sp>
      <p:sp>
        <p:nvSpPr>
          <p:cNvPr id="20" name="T19/card/region-3/body"/>
          <p:cNvSpPr/>
          <p:nvPr/>
        </p:nvSpPr>
        <p:spPr>
          <a:xfrm>
            <a:off x="8591550" y="5073015"/>
            <a:ext cx="3009900" cy="832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统计差异与实际意义分别判断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说明未测试的条件与替代解释</a:t>
            </a:r>
            <a:endParaRPr lang="zh-CN" sz="1725" dirty="0"/>
          </a:p>
        </p:txBody>
      </p:sp>
      <p:sp>
        <p:nvSpPr>
          <p:cNvPr id="21" name="T19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0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0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06</a:t>
            </a:r>
            <a:endParaRPr lang="zh-CN" sz="1050" dirty="0"/>
          </a:p>
        </p:txBody>
      </p:sp>
      <p:sp>
        <p:nvSpPr>
          <p:cNvPr id="4" name="T20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0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两个终点分别报告</a:t>
            </a:r>
            <a:endParaRPr lang="zh-CN" sz="2550" dirty="0"/>
          </a:p>
        </p:txBody>
      </p:sp>
      <p:sp>
        <p:nvSpPr>
          <p:cNvPr id="6" name="T20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20/panel:0:frame"/>
          <p:cNvSpPr/>
          <p:nvPr/>
        </p:nvSpPr>
        <p:spPr>
          <a:xfrm>
            <a:off x="457200" y="1295400"/>
            <a:ext cx="5467350" cy="28384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20/panel:0:heading-fill"/>
          <p:cNvSpPr/>
          <p:nvPr/>
        </p:nvSpPr>
        <p:spPr>
          <a:xfrm>
            <a:off x="466725" y="1304925"/>
            <a:ext cx="544830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20/panel:0:heading-rule"/>
          <p:cNvSpPr/>
          <p:nvPr/>
        </p:nvSpPr>
        <p:spPr>
          <a:xfrm>
            <a:off x="457200" y="1685925"/>
            <a:ext cx="54673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20/panel:0:title"/>
          <p:cNvSpPr/>
          <p:nvPr/>
        </p:nvSpPr>
        <p:spPr>
          <a:xfrm>
            <a:off x="581025" y="1352550"/>
            <a:ext cx="52197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终点一：组间比较</a:t>
            </a:r>
            <a:endParaRPr lang="zh-CN" sz="1800" dirty="0"/>
          </a:p>
        </p:txBody>
      </p:sp>
      <p:sp>
        <p:nvSpPr>
          <p:cNvPr id="11" name="T20/panel:1:frame"/>
          <p:cNvSpPr/>
          <p:nvPr/>
        </p:nvSpPr>
        <p:spPr>
          <a:xfrm>
            <a:off x="6248400" y="1295400"/>
            <a:ext cx="5486400" cy="28384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2" name="T20/panel:1:heading-fill"/>
          <p:cNvSpPr/>
          <p:nvPr/>
        </p:nvSpPr>
        <p:spPr>
          <a:xfrm>
            <a:off x="6257925" y="1304925"/>
            <a:ext cx="5467350" cy="381000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20/panel:1:heading-rule"/>
          <p:cNvSpPr/>
          <p:nvPr/>
        </p:nvSpPr>
        <p:spPr>
          <a:xfrm>
            <a:off x="6248400" y="1685925"/>
            <a:ext cx="54864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4" name="T20/panel:1:title"/>
          <p:cNvSpPr/>
          <p:nvPr/>
        </p:nvSpPr>
        <p:spPr>
          <a:xfrm>
            <a:off x="6372225" y="1352550"/>
            <a:ext cx="52387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终点二：个体分布</a:t>
            </a:r>
            <a:endParaRPr lang="zh-CN" sz="1800" dirty="0"/>
          </a:p>
        </p:txBody>
      </p:sp>
      <p:sp>
        <p:nvSpPr>
          <p:cNvPr id="15" name="T20/figure:0:paper"/>
          <p:cNvSpPr/>
          <p:nvPr/>
        </p:nvSpPr>
        <p:spPr>
          <a:xfrm>
            <a:off x="6381750" y="1790700"/>
            <a:ext cx="5219700" cy="217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T20/figure:0:image" descr="T1 · 示例图 · 独立观测分布；合成演示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7600" y="1790700"/>
            <a:ext cx="3048000" cy="1828800"/>
          </a:xfrm>
          <a:prstGeom prst="rect">
            <a:avLst/>
          </a:prstGeom>
        </p:spPr>
      </p:pic>
      <p:sp>
        <p:nvSpPr>
          <p:cNvPr id="17" name="T20/figure:0:caption"/>
          <p:cNvSpPr/>
          <p:nvPr/>
        </p:nvSpPr>
        <p:spPr>
          <a:xfrm>
            <a:off x="6381750" y="3705225"/>
            <a:ext cx="5219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示例图 · 独立观测分布；合成演示值</a:t>
            </a:r>
            <a:endParaRPr lang="zh-CN" sz="1350" dirty="0"/>
          </a:p>
        </p:txBody>
      </p:sp>
      <p:graphicFrame>
        <p:nvGraphicFramePr>
          <p:cNvPr id="18" name="T20/data-chart" descr=""/>
          <p:cNvGraphicFramePr/>
          <p:nvPr/>
        </p:nvGraphicFramePr>
        <p:xfrm>
          <a:off x="590550" y="1790700"/>
          <a:ext cx="5200650" cy="21717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20/card/region-1/frame"/>
          <p:cNvSpPr/>
          <p:nvPr/>
        </p:nvSpPr>
        <p:spPr>
          <a:xfrm>
            <a:off x="457200" y="4457700"/>
            <a:ext cx="5467350" cy="15811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0" name="T20/card/region-1/heading-fill"/>
          <p:cNvSpPr/>
          <p:nvPr/>
        </p:nvSpPr>
        <p:spPr>
          <a:xfrm>
            <a:off x="466725" y="4467225"/>
            <a:ext cx="544830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20/card/region-1/heading-rule"/>
          <p:cNvSpPr/>
          <p:nvPr/>
        </p:nvSpPr>
        <p:spPr>
          <a:xfrm>
            <a:off x="457200" y="4838700"/>
            <a:ext cx="54673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2" name="T20/card/region-1/title"/>
          <p:cNvSpPr/>
          <p:nvPr/>
        </p:nvSpPr>
        <p:spPr>
          <a:xfrm>
            <a:off x="581025" y="4514850"/>
            <a:ext cx="521970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终点一的解释</a:t>
            </a:r>
            <a:endParaRPr lang="zh-CN" sz="1800" dirty="0"/>
          </a:p>
        </p:txBody>
      </p:sp>
      <p:sp>
        <p:nvSpPr>
          <p:cNvPr id="23" name="T20/card/region-1/body"/>
          <p:cNvSpPr/>
          <p:nvPr/>
        </p:nvSpPr>
        <p:spPr>
          <a:xfrm>
            <a:off x="590550" y="4953000"/>
            <a:ext cx="5200650" cy="990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定义单位、分母与评价时间窗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单独报告该指标的效应与误差</a:t>
            </a:r>
            <a:endParaRPr lang="zh-CN" sz="1725" dirty="0"/>
          </a:p>
        </p:txBody>
      </p:sp>
      <p:sp>
        <p:nvSpPr>
          <p:cNvPr id="24" name="T20/card/region-2/frame"/>
          <p:cNvSpPr/>
          <p:nvPr/>
        </p:nvSpPr>
        <p:spPr>
          <a:xfrm>
            <a:off x="6248400" y="4457700"/>
            <a:ext cx="5486400" cy="15811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5" name="T20/card/region-2/heading-fill"/>
          <p:cNvSpPr/>
          <p:nvPr/>
        </p:nvSpPr>
        <p:spPr>
          <a:xfrm>
            <a:off x="6257925" y="4467225"/>
            <a:ext cx="54673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20/card/region-2/heading-rule"/>
          <p:cNvSpPr/>
          <p:nvPr/>
        </p:nvSpPr>
        <p:spPr>
          <a:xfrm>
            <a:off x="6248400" y="4838700"/>
            <a:ext cx="54864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7" name="T20/card/region-2/title"/>
          <p:cNvSpPr/>
          <p:nvPr/>
        </p:nvSpPr>
        <p:spPr>
          <a:xfrm>
            <a:off x="6372225" y="4514850"/>
            <a:ext cx="52387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终点二的解释</a:t>
            </a:r>
            <a:endParaRPr lang="zh-CN" sz="1800" dirty="0"/>
          </a:p>
        </p:txBody>
      </p:sp>
      <p:sp>
        <p:nvSpPr>
          <p:cNvPr id="28" name="T20/card/region-2/body"/>
          <p:cNvSpPr/>
          <p:nvPr/>
        </p:nvSpPr>
        <p:spPr>
          <a:xfrm>
            <a:off x="6381750" y="4953000"/>
            <a:ext cx="5219700" cy="990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明确与终点一的不同含义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两个终点分别达标不等于同时达标</a:t>
            </a:r>
            <a:endParaRPr lang="zh-CN" sz="1725" dirty="0"/>
          </a:p>
        </p:txBody>
      </p:sp>
      <p:sp>
        <p:nvSpPr>
          <p:cNvPr id="29" name="T20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1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1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06</a:t>
            </a:r>
            <a:endParaRPr lang="zh-CN" sz="1050" dirty="0"/>
          </a:p>
        </p:txBody>
      </p:sp>
      <p:sp>
        <p:nvSpPr>
          <p:cNvPr id="4" name="T21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1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消融比较与组件贡献</a:t>
            </a:r>
            <a:endParaRPr lang="zh-CN" sz="2550" dirty="0"/>
          </a:p>
        </p:txBody>
      </p:sp>
      <p:sp>
        <p:nvSpPr>
          <p:cNvPr id="6" name="T21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graphicFrame>
        <p:nvGraphicFramePr>
          <p:cNvPr id="4" name="T21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7800"/>
          <a:ext cx="7486650" cy="2003108"/>
        </p:xfrm>
        <a:graphic>
          <a:graphicData uri="http://schemas.openxmlformats.org/drawingml/2006/table">
            <a:tbl>
              <a:tblPr/>
              <a:tblGrid>
                <a:gridCol w="1871663"/>
                <a:gridCol w="1871663"/>
                <a:gridCol w="1871663"/>
                <a:gridCol w="1871663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设置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合成效应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合成区间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解释任务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参考方法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0.00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−0.08…0.08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定义共同基线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移除模块 A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0.22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0.11…0.33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核查机制贡献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移除模块 B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0.31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0.17…0.45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核查信息变化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完整方法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0.43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0.27…0.59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报告资源代价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21/table-caption"/>
          <p:cNvSpPr/>
          <p:nvPr/>
        </p:nvSpPr>
        <p:spPr>
          <a:xfrm>
            <a:off x="457200" y="3517583"/>
            <a:ext cx="748665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9" name="T21/card/region-1/base-rule"/>
          <p:cNvSpPr/>
          <p:nvPr/>
        </p:nvSpPr>
        <p:spPr>
          <a:xfrm>
            <a:off x="8343900" y="3448050"/>
            <a:ext cx="33909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0" name="T21/card/region-1/side-mark"/>
          <p:cNvSpPr/>
          <p:nvPr/>
        </p:nvSpPr>
        <p:spPr>
          <a:xfrm>
            <a:off x="8343900" y="146685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21/card/region-1/title"/>
          <p:cNvSpPr/>
          <p:nvPr/>
        </p:nvSpPr>
        <p:spPr>
          <a:xfrm>
            <a:off x="8496300" y="1466850"/>
            <a:ext cx="32385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组件作用</a:t>
            </a:r>
            <a:endParaRPr lang="zh-CN" sz="1800" dirty="0"/>
          </a:p>
        </p:txBody>
      </p:sp>
      <p:sp>
        <p:nvSpPr>
          <p:cNvPr id="12" name="T21/card/region-1/body"/>
          <p:cNvSpPr/>
          <p:nvPr/>
        </p:nvSpPr>
        <p:spPr>
          <a:xfrm>
            <a:off x="8496300" y="1885950"/>
            <a:ext cx="3238500" cy="1466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把消融操作和机制假设对应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比较时其余输入与预算保持一致</a:t>
            </a:r>
            <a:endParaRPr lang="zh-CN" sz="1725" dirty="0"/>
          </a:p>
        </p:txBody>
      </p:sp>
      <p:sp>
        <p:nvSpPr>
          <p:cNvPr id="13" name="T21/card/region-2/frame"/>
          <p:cNvSpPr/>
          <p:nvPr/>
        </p:nvSpPr>
        <p:spPr>
          <a:xfrm>
            <a:off x="8343900" y="3810000"/>
            <a:ext cx="3390900" cy="21717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4" name="T21/card/region-2/tab"/>
          <p:cNvSpPr/>
          <p:nvPr/>
        </p:nvSpPr>
        <p:spPr>
          <a:xfrm>
            <a:off x="8458200" y="3695700"/>
            <a:ext cx="1181100" cy="32004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21/card/region-2/title"/>
          <p:cNvSpPr/>
          <p:nvPr/>
        </p:nvSpPr>
        <p:spPr>
          <a:xfrm>
            <a:off x="8562975" y="372427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替代解释</a:t>
            </a:r>
            <a:endParaRPr lang="zh-CN" sz="1800" dirty="0"/>
          </a:p>
        </p:txBody>
      </p:sp>
      <p:sp>
        <p:nvSpPr>
          <p:cNvPr id="16" name="T21/card/region-2/body"/>
          <p:cNvSpPr/>
          <p:nvPr/>
        </p:nvSpPr>
        <p:spPr>
          <a:xfrm>
            <a:off x="8477250" y="4158615"/>
            <a:ext cx="3124200" cy="1727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消融同时改变了哪些条件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检查调参、容量与数据的影响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用进一步对照区分机制贡献</a:t>
            </a:r>
            <a:endParaRPr lang="zh-CN" sz="1725" dirty="0"/>
          </a:p>
        </p:txBody>
      </p:sp>
      <p:sp>
        <p:nvSpPr>
          <p:cNvPr id="17" name="T21/card/region-3/title"/>
          <p:cNvSpPr/>
          <p:nvPr/>
        </p:nvSpPr>
        <p:spPr>
          <a:xfrm>
            <a:off x="457200" y="4914900"/>
            <a:ext cx="74866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不确定性与重复</a:t>
            </a:r>
            <a:endParaRPr lang="zh-CN" sz="1875" dirty="0"/>
          </a:p>
        </p:txBody>
      </p:sp>
      <p:sp>
        <p:nvSpPr>
          <p:cNvPr id="18" name="T21/card/region-3/body"/>
          <p:cNvSpPr/>
          <p:nvPr/>
        </p:nvSpPr>
        <p:spPr>
          <a:xfrm>
            <a:off x="457200" y="5295900"/>
            <a:ext cx="7486650" cy="647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报告独立重复、区间和显著性方法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避免仅凭单次最佳值解释组件贡献</a:t>
            </a:r>
            <a:endParaRPr lang="zh-CN" sz="1725" dirty="0"/>
          </a:p>
        </p:txBody>
      </p:sp>
      <p:sp>
        <p:nvSpPr>
          <p:cNvPr id="19" name="T21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2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2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06</a:t>
            </a:r>
            <a:endParaRPr lang="zh-CN" sz="1050" dirty="0"/>
          </a:p>
        </p:txBody>
      </p:sp>
      <p:sp>
        <p:nvSpPr>
          <p:cNvPr id="4" name="T22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2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跨环境表现与异质性</a:t>
            </a:r>
            <a:endParaRPr lang="zh-CN" sz="2550" dirty="0"/>
          </a:p>
        </p:txBody>
      </p:sp>
      <p:sp>
        <p:nvSpPr>
          <p:cNvPr id="6" name="T22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graphicFrame>
        <p:nvGraphicFramePr>
          <p:cNvPr id="7" name="T22/data-chart" descr=""/>
          <p:cNvGraphicFramePr/>
          <p:nvPr/>
        </p:nvGraphicFramePr>
        <p:xfrm>
          <a:off x="457200" y="1390650"/>
          <a:ext cx="7905750" cy="32956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22/card/region-1/frame"/>
          <p:cNvSpPr/>
          <p:nvPr/>
        </p:nvSpPr>
        <p:spPr>
          <a:xfrm>
            <a:off x="8686800" y="1390650"/>
            <a:ext cx="3048000" cy="20955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9" name="T22/card/region-1/heading-fill"/>
          <p:cNvSpPr/>
          <p:nvPr/>
        </p:nvSpPr>
        <p:spPr>
          <a:xfrm>
            <a:off x="8696325" y="1400175"/>
            <a:ext cx="30289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22/card/region-1/heading-rule"/>
          <p:cNvSpPr/>
          <p:nvPr/>
        </p:nvSpPr>
        <p:spPr>
          <a:xfrm>
            <a:off x="8686800" y="1771650"/>
            <a:ext cx="30480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1" name="T22/card/region-1/title"/>
          <p:cNvSpPr/>
          <p:nvPr/>
        </p:nvSpPr>
        <p:spPr>
          <a:xfrm>
            <a:off x="8810625" y="1447800"/>
            <a:ext cx="28003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测试环境</a:t>
            </a:r>
            <a:endParaRPr lang="zh-CN" sz="1800" dirty="0"/>
          </a:p>
        </p:txBody>
      </p:sp>
      <p:sp>
        <p:nvSpPr>
          <p:cNvPr id="12" name="T22/card/region-1/body"/>
          <p:cNvSpPr/>
          <p:nvPr/>
        </p:nvSpPr>
        <p:spPr>
          <a:xfrm>
            <a:off x="8820150" y="1885950"/>
            <a:ext cx="2781300" cy="150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列出训练覆盖和独立留出条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件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分环境报告，不只给全局平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均</a:t>
            </a:r>
            <a:endParaRPr lang="zh-CN" sz="1725" dirty="0"/>
          </a:p>
        </p:txBody>
      </p:sp>
      <p:sp>
        <p:nvSpPr>
          <p:cNvPr id="13" name="T22/card/region-2/frame"/>
          <p:cNvSpPr/>
          <p:nvPr/>
        </p:nvSpPr>
        <p:spPr>
          <a:xfrm>
            <a:off x="8686800" y="3848100"/>
            <a:ext cx="3048000" cy="21717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4" name="T22/card/region-2/tab"/>
          <p:cNvSpPr/>
          <p:nvPr/>
        </p:nvSpPr>
        <p:spPr>
          <a:xfrm>
            <a:off x="8801100" y="3733800"/>
            <a:ext cx="11811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22/card/region-2/title"/>
          <p:cNvSpPr/>
          <p:nvPr/>
        </p:nvSpPr>
        <p:spPr>
          <a:xfrm>
            <a:off x="8905875" y="376237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最差情形</a:t>
            </a:r>
            <a:endParaRPr lang="zh-CN" sz="1800" dirty="0"/>
          </a:p>
        </p:txBody>
      </p:sp>
      <p:sp>
        <p:nvSpPr>
          <p:cNvPr id="16" name="T22/card/region-2/body"/>
          <p:cNvSpPr/>
          <p:nvPr/>
        </p:nvSpPr>
        <p:spPr>
          <a:xfrm>
            <a:off x="8820150" y="4196715"/>
            <a:ext cx="2781300" cy="17278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展示失败环境与违反约束的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次数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讨论收益下降是否有系统性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同时报告离群值和缺失情况</a:t>
            </a:r>
            <a:endParaRPr lang="zh-CN" sz="1725" dirty="0"/>
          </a:p>
        </p:txBody>
      </p:sp>
      <p:sp>
        <p:nvSpPr>
          <p:cNvPr id="17" name="T22/card/region-3/title"/>
          <p:cNvSpPr/>
          <p:nvPr/>
        </p:nvSpPr>
        <p:spPr>
          <a:xfrm>
            <a:off x="457200" y="5010150"/>
            <a:ext cx="79057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平均值以外的结论</a:t>
            </a:r>
            <a:endParaRPr lang="zh-CN" sz="1875" dirty="0"/>
          </a:p>
        </p:txBody>
      </p:sp>
      <p:sp>
        <p:nvSpPr>
          <p:cNvPr id="18" name="T22/card/region-3/body"/>
          <p:cNvSpPr/>
          <p:nvPr/>
        </p:nvSpPr>
        <p:spPr>
          <a:xfrm>
            <a:off x="457200" y="5391150"/>
            <a:ext cx="790575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检查分位数、最差环境与个体差异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总体均值不能替代条件层面的判断</a:t>
            </a:r>
            <a:endParaRPr lang="zh-CN" sz="1725" dirty="0"/>
          </a:p>
        </p:txBody>
      </p:sp>
      <p:sp>
        <p:nvSpPr>
          <p:cNvPr id="19" name="T22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3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3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06</a:t>
            </a:r>
            <a:endParaRPr lang="zh-CN" sz="1050" dirty="0"/>
          </a:p>
        </p:txBody>
      </p:sp>
      <p:sp>
        <p:nvSpPr>
          <p:cNvPr id="4" name="T23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3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收益风险与代价权衡</a:t>
            </a:r>
            <a:endParaRPr lang="zh-CN" sz="2550" dirty="0"/>
          </a:p>
        </p:txBody>
      </p:sp>
      <p:sp>
        <p:nvSpPr>
          <p:cNvPr id="6" name="T23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sp>
        <p:nvSpPr>
          <p:cNvPr id="7" name="T23/takeaway"/>
          <p:cNvSpPr/>
          <p:nvPr/>
        </p:nvSpPr>
        <p:spPr>
          <a:xfrm>
            <a:off x="457200" y="5848350"/>
            <a:ext cx="71628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统计口径、样本单位和适用条件需与原文一致</a:t>
            </a:r>
            <a:endParaRPr lang="zh-CN" sz="1800" dirty="0"/>
          </a:p>
        </p:txBody>
      </p:sp>
      <p:graphicFrame>
        <p:nvGraphicFramePr>
          <p:cNvPr id="8" name="T23/data-chart" descr=""/>
          <p:cNvGraphicFramePr/>
          <p:nvPr/>
        </p:nvGraphicFramePr>
        <p:xfrm>
          <a:off x="457200" y="1409700"/>
          <a:ext cx="7162800" cy="43053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23/card/region-1/base-rule"/>
          <p:cNvSpPr/>
          <p:nvPr/>
        </p:nvSpPr>
        <p:spPr>
          <a:xfrm>
            <a:off x="7943850" y="2762250"/>
            <a:ext cx="37909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0" name="T23/card/region-1/side-mark"/>
          <p:cNvSpPr/>
          <p:nvPr/>
        </p:nvSpPr>
        <p:spPr>
          <a:xfrm>
            <a:off x="7943850" y="1409700"/>
            <a:ext cx="47625" cy="295275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23/card/region-1/title"/>
          <p:cNvSpPr/>
          <p:nvPr/>
        </p:nvSpPr>
        <p:spPr>
          <a:xfrm>
            <a:off x="8096250" y="1409700"/>
            <a:ext cx="36385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收益指标</a:t>
            </a:r>
            <a:endParaRPr lang="zh-CN" sz="1800" dirty="0"/>
          </a:p>
        </p:txBody>
      </p:sp>
      <p:sp>
        <p:nvSpPr>
          <p:cNvPr id="12" name="T23/card/region-1/body"/>
          <p:cNvSpPr/>
          <p:nvPr/>
        </p:nvSpPr>
        <p:spPr>
          <a:xfrm>
            <a:off x="8096250" y="1828800"/>
            <a:ext cx="363855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定义收益、单位与基线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说明是否包含预测或模拟项</a:t>
            </a:r>
            <a:endParaRPr lang="zh-CN" sz="1725" dirty="0"/>
          </a:p>
        </p:txBody>
      </p:sp>
      <p:sp>
        <p:nvSpPr>
          <p:cNvPr id="13" name="T23/card/region-2/frame"/>
          <p:cNvSpPr/>
          <p:nvPr/>
        </p:nvSpPr>
        <p:spPr>
          <a:xfrm>
            <a:off x="7943850" y="3124200"/>
            <a:ext cx="3790950" cy="12573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4" name="T23/card/region-2/tab"/>
          <p:cNvSpPr/>
          <p:nvPr/>
        </p:nvSpPr>
        <p:spPr>
          <a:xfrm>
            <a:off x="8058150" y="3009900"/>
            <a:ext cx="11811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23/card/region-2/title"/>
          <p:cNvSpPr/>
          <p:nvPr/>
        </p:nvSpPr>
        <p:spPr>
          <a:xfrm>
            <a:off x="8162925" y="3038475"/>
            <a:ext cx="9715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风险指标</a:t>
            </a:r>
            <a:endParaRPr lang="zh-CN" sz="1800" dirty="0"/>
          </a:p>
        </p:txBody>
      </p:sp>
      <p:sp>
        <p:nvSpPr>
          <p:cNvPr id="16" name="T23/card/region-2/body"/>
          <p:cNvSpPr/>
          <p:nvPr/>
        </p:nvSpPr>
        <p:spPr>
          <a:xfrm>
            <a:off x="8077200" y="3472815"/>
            <a:ext cx="3524250" cy="813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报告违反约束的概率或幅度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分开平均风险与极端情形</a:t>
            </a:r>
            <a:endParaRPr lang="zh-CN" sz="1725" dirty="0"/>
          </a:p>
        </p:txBody>
      </p:sp>
      <p:sp>
        <p:nvSpPr>
          <p:cNvPr id="17" name="T23/card/region-3/heading-rule"/>
          <p:cNvSpPr/>
          <p:nvPr/>
        </p:nvSpPr>
        <p:spPr>
          <a:xfrm>
            <a:off x="7943850" y="4991100"/>
            <a:ext cx="37909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8" name="T23/card/region-3/heading-mark"/>
          <p:cNvSpPr/>
          <p:nvPr/>
        </p:nvSpPr>
        <p:spPr>
          <a:xfrm>
            <a:off x="7943850" y="4991100"/>
            <a:ext cx="342900" cy="0"/>
          </a:xfrm>
          <a:prstGeom prst="line">
            <a:avLst/>
          </a:prstGeom>
          <a:noFill/>
          <a:ln w="17145">
            <a:solidFill>
              <a:srgbClr val="173C70"/>
            </a:solidFill>
            <a:prstDash val="solid"/>
          </a:ln>
        </p:spPr>
      </p:sp>
      <p:sp>
        <p:nvSpPr>
          <p:cNvPr id="19" name="T23/card/region-3/title"/>
          <p:cNvSpPr/>
          <p:nvPr/>
        </p:nvSpPr>
        <p:spPr>
          <a:xfrm>
            <a:off x="7943850" y="4648200"/>
            <a:ext cx="37909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资源代价</a:t>
            </a:r>
            <a:endParaRPr lang="zh-CN" sz="1875" dirty="0"/>
          </a:p>
        </p:txBody>
      </p:sp>
      <p:sp>
        <p:nvSpPr>
          <p:cNvPr id="20" name="T23/card/region-3/body"/>
          <p:cNvSpPr/>
          <p:nvPr/>
        </p:nvSpPr>
        <p:spPr>
          <a:xfrm>
            <a:off x="7943850" y="5124450"/>
            <a:ext cx="379095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计算、人工、数据与执行成本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权衡使用相同的时间与计量单位</a:t>
            </a:r>
            <a:endParaRPr lang="zh-CN" sz="1800" dirty="0"/>
          </a:p>
        </p:txBody>
      </p:sp>
      <p:sp>
        <p:nvSpPr>
          <p:cNvPr id="21" name="T23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4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4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06</a:t>
            </a:r>
            <a:endParaRPr lang="zh-CN" sz="1050" dirty="0"/>
          </a:p>
        </p:txBody>
      </p:sp>
      <p:sp>
        <p:nvSpPr>
          <p:cNvPr id="4" name="T24/kicker"/>
          <p:cNvSpPr/>
          <p:nvPr/>
        </p:nvSpPr>
        <p:spPr>
          <a:xfrm>
            <a:off x="457200" y="152400"/>
            <a:ext cx="11277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zh-CN" altLang="en-US" sz="120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结构模板 / 占位说明与合成数据</a:t>
            </a:r>
            <a:endParaRPr lang="zh-CN" sz="1200" dirty="0"/>
          </a:p>
        </p:txBody>
      </p:sp>
      <p:sp>
        <p:nvSpPr>
          <p:cNvPr id="5" name="T24/title"/>
          <p:cNvSpPr/>
          <p:nvPr/>
        </p:nvSpPr>
        <p:spPr>
          <a:xfrm>
            <a:off x="457200" y="381000"/>
            <a:ext cx="11277600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56"/>
              </a:lnSpc>
              <a:buNone/>
            </a:pPr>
            <a:r>
              <a:rPr lang="zh-CN" altLang="en-US" sz="255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错误类型与任务分母</a:t>
            </a:r>
            <a:endParaRPr lang="zh-CN" sz="2550" dirty="0"/>
          </a:p>
        </p:txBody>
      </p:sp>
      <p:sp>
        <p:nvSpPr>
          <p:cNvPr id="6" name="T24/header-rule"/>
          <p:cNvSpPr/>
          <p:nvPr/>
        </p:nvSpPr>
        <p:spPr>
          <a:xfrm>
            <a:off x="457200" y="876300"/>
            <a:ext cx="11277600" cy="0"/>
          </a:xfrm>
          <a:prstGeom prst="line">
            <a:avLst/>
          </a:prstGeom>
          <a:noFill/>
          <a:ln w="11430">
            <a:solidFill>
              <a:srgbClr val="173C70"/>
            </a:solidFill>
            <a:prstDash val="solid"/>
          </a:ln>
        </p:spPr>
      </p:sp>
      <p:graphicFrame>
        <p:nvGraphicFramePr>
          <p:cNvPr id="7" name="T24/dat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90650"/>
          <a:ext cx="6858000" cy="3072194"/>
        </p:xfrm>
        <a:graphic>
          <a:graphicData uri="http://schemas.openxmlformats.org/drawingml/2006/table">
            <a:tbl>
              <a:tblPr/>
              <a:tblGrid>
                <a:gridCol w="1714500"/>
                <a:gridCol w="1714500"/>
                <a:gridCol w="1714500"/>
                <a:gridCol w="1714500"/>
              </a:tblGrid>
              <a:tr h="400622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阶段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合成任务数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合成失败数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b="1" dirty="0">
                          <a:solidFill>
                            <a:srgbClr val="173C7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需核查的证据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4288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数据获取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原始输入与缺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失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工具执行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参数、日志与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异常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结果解释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3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答案与数据来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源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668" cap="flat" cmpd="sng" algn="ctr">
                      <a:solidFill>
                        <a:srgbClr val="BEC8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8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最终交付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10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完整性与可复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  <a:p>
                      <a:pPr algn="l" indent="0" marL="0">
                        <a:lnSpc>
                          <a:spcPts val="2105"/>
                        </a:lnSpc>
                        <a:buNone/>
                      </a:pPr>
                      <a:r>
                        <a:rPr lang="zh-CN" altLang="en-US" sz="1725" dirty="0">
                          <a:solidFill>
                            <a:srgbClr val="1C24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现性</a:t>
                      </a:r>
                      <a:endParaRPr lang="zh-CN" sz="1725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5250" marR="95250" marT="66675" marB="66675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383" cap="flat" cmpd="sng" algn="ctr">
                      <a:solidFill>
                        <a:srgbClr val="173C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24/table-caption"/>
          <p:cNvSpPr/>
          <p:nvPr/>
        </p:nvSpPr>
        <p:spPr>
          <a:xfrm>
            <a:off x="457200" y="4529519"/>
            <a:ext cx="68580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7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结构占位 / 合成数据，必须替换后才能用于学术结论</a:t>
            </a:r>
            <a:endParaRPr lang="zh-CN" sz="1350" dirty="0"/>
          </a:p>
        </p:txBody>
      </p:sp>
      <p:sp>
        <p:nvSpPr>
          <p:cNvPr id="9" name="T24/card/region-1/frame"/>
          <p:cNvSpPr/>
          <p:nvPr/>
        </p:nvSpPr>
        <p:spPr>
          <a:xfrm>
            <a:off x="7696200" y="1390650"/>
            <a:ext cx="4038600" cy="200025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0" name="T24/card/region-1/heading-fill"/>
          <p:cNvSpPr/>
          <p:nvPr/>
        </p:nvSpPr>
        <p:spPr>
          <a:xfrm>
            <a:off x="7705725" y="1400175"/>
            <a:ext cx="4019550" cy="37147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24/card/region-1/heading-rule"/>
          <p:cNvSpPr/>
          <p:nvPr/>
        </p:nvSpPr>
        <p:spPr>
          <a:xfrm>
            <a:off x="7696200" y="1771650"/>
            <a:ext cx="4038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2" name="T24/card/region-1/title"/>
          <p:cNvSpPr/>
          <p:nvPr/>
        </p:nvSpPr>
        <p:spPr>
          <a:xfrm>
            <a:off x="7820025" y="1447800"/>
            <a:ext cx="379095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评价者与尺度</a:t>
            </a:r>
            <a:endParaRPr lang="zh-CN" sz="1800" dirty="0"/>
          </a:p>
        </p:txBody>
      </p:sp>
      <p:sp>
        <p:nvSpPr>
          <p:cNvPr id="13" name="T24/card/region-1/body"/>
          <p:cNvSpPr/>
          <p:nvPr/>
        </p:nvSpPr>
        <p:spPr>
          <a:xfrm>
            <a:off x="7829550" y="1885950"/>
            <a:ext cx="3771900" cy="1409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人工、程序和模型评分分别记录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说明评分规则与是否盲评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任务完成和答案正确应分别评价</a:t>
            </a:r>
            <a:endParaRPr lang="zh-CN" sz="1725" dirty="0"/>
          </a:p>
        </p:txBody>
      </p:sp>
      <p:sp>
        <p:nvSpPr>
          <p:cNvPr id="14" name="T24/card/region-2/frame"/>
          <p:cNvSpPr/>
          <p:nvPr/>
        </p:nvSpPr>
        <p:spPr>
          <a:xfrm>
            <a:off x="7696200" y="3752850"/>
            <a:ext cx="4038600" cy="2247900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5" name="T24/card/region-2/tab"/>
          <p:cNvSpPr/>
          <p:nvPr/>
        </p:nvSpPr>
        <p:spPr>
          <a:xfrm>
            <a:off x="7810500" y="3638550"/>
            <a:ext cx="2095500" cy="320040"/>
          </a:xfrm>
          <a:prstGeom prst="rect">
            <a:avLst/>
          </a:prstGeom>
          <a:solidFill>
            <a:srgbClr val="90354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24/card/region-2/title"/>
          <p:cNvSpPr/>
          <p:nvPr/>
        </p:nvSpPr>
        <p:spPr>
          <a:xfrm>
            <a:off x="7915275" y="3667125"/>
            <a:ext cx="1885950" cy="262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失败集中在哪一步</a:t>
            </a:r>
            <a:endParaRPr lang="zh-CN" sz="1800" dirty="0"/>
          </a:p>
        </p:txBody>
      </p:sp>
      <p:sp>
        <p:nvSpPr>
          <p:cNvPr id="17" name="T24/card/region-2/body"/>
          <p:cNvSpPr/>
          <p:nvPr/>
        </p:nvSpPr>
        <p:spPr>
          <a:xfrm>
            <a:off x="7829550" y="4101465"/>
            <a:ext cx="3771900" cy="1804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将错误对应到数据、计划、工具或读图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记录可复现的输入和失败输出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避免用总分掩盖集中失效的环节</a:t>
            </a:r>
            <a:endParaRPr lang="zh-CN" sz="1725" dirty="0"/>
          </a:p>
        </p:txBody>
      </p:sp>
      <p:sp>
        <p:nvSpPr>
          <p:cNvPr id="18" name="T24/card/region-3/title"/>
          <p:cNvSpPr/>
          <p:nvPr/>
        </p:nvSpPr>
        <p:spPr>
          <a:xfrm>
            <a:off x="457200" y="5010150"/>
            <a:ext cx="68580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6"/>
              </a:lnSpc>
              <a:buNone/>
            </a:pPr>
            <a:r>
              <a:rPr lang="zh-CN" altLang="en-US" sz="1875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分母与统计单位</a:t>
            </a:r>
            <a:endParaRPr lang="zh-CN" sz="1875" dirty="0"/>
          </a:p>
        </p:txBody>
      </p:sp>
      <p:sp>
        <p:nvSpPr>
          <p:cNvPr id="19" name="T24/card/region-3/body"/>
          <p:cNvSpPr/>
          <p:nvPr/>
        </p:nvSpPr>
        <p:spPr>
          <a:xfrm>
            <a:off x="457200" y="5391150"/>
            <a:ext cx="6858000" cy="59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报告任务数、重复数与实际评价单位</a:t>
            </a:r>
            <a:endParaRPr lang="zh-CN" sz="1725" dirty="0"/>
          </a:p>
          <a:p>
            <a:pPr algn="l" indent="0" marL="0">
              <a:lnSpc>
                <a:spcPts val="2139"/>
              </a:lnSpc>
              <a:buNone/>
            </a:pPr>
            <a:r>
              <a:rPr lang="zh-CN" altLang="en-US" sz="1725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模板计数仅用于验证表格表达</a:t>
            </a:r>
            <a:endParaRPr lang="zh-CN" sz="1725" dirty="0"/>
          </a:p>
        </p:txBody>
      </p:sp>
      <p:sp>
        <p:nvSpPr>
          <p:cNvPr id="20" name="T24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待替换</a:t>
            </a:r>
            <a:endParaRPr lang="zh-CN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结果与统计学术模板</dc:title>
  <dc:subject>原创学术版式、结构化填充指引与合成科学图</dc:subject>
  <dc:creator>DSH Academic PPT</dc:creator>
  <cp:lastModifiedBy>DSH Academic PPT</cp:lastModifiedBy>
  <cp:revision>1</cp:revision>
  <dcterms:created xsi:type="dcterms:W3CDTF">2026-10-20T04:29:15Z</dcterms:created>
  <dcterms:modified xsi:type="dcterms:W3CDTF">2026-10-20T04:29:15Z</dcterms:modified>
</cp:coreProperties>
</file>