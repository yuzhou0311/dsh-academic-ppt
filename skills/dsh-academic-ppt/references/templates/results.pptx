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6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7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9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合成效应</c:v>
                </c:pt>
              </c:strCache>
            </c:strRef>
          </c:tx>
          <c:spPr>
            <a:solidFill>
              <a:srgbClr val="173C70"/>
            </a:solidFill>
            <a:effectLst/>
          </c:spPr>
          <c:invertIfNegative val="0"/>
          <c:dLbls>
            <c:numFmt formatCode="0.############" sourceLinked="0"/>
            <c:txPr>
              <a:bodyPr/>
              <a:lstStyle/>
              <a:p>
                <a:pPr>
                  <a:defRPr b="0" i="0" strike="noStrike" sz="1650" u="none">
                    <a:solidFill>
                      <a:srgbClr val="1C2430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73C7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55D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0354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参考方法</c:v>
                  </c:pt>
                  <c:pt idx="1">
                    <c:v>设置一</c:v>
                  </c:pt>
                  <c:pt idx="2">
                    <c:v>设置二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31</c:v>
                </c:pt>
                <c:pt idx="2">
                  <c:v>37</c:v>
                </c:pt>
              </c:numCache>
            </c:numRef>
          </c:val>
        </c:ser>
        <c:dLbls>
          <c:numFmt formatCode="0.############" sourceLinked="0"/>
          <c:txPr>
            <a:bodyPr/>
            <a:lstStyle/>
            <a:p>
              <a:pPr>
                <a:defRPr b="0" i="0" strike="noStrike" sz="1650" u="none">
                  <a:solidFill>
                    <a:srgbClr val="1C2430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EC8D4"/>
            </a:solidFill>
            <a:prstDash val="solid"/>
            <a:round/>
          </a:ln>
        </c:spPr>
        <c:txPr>
          <a:bodyPr/>
          <a:lstStyle/>
          <a:p>
            <a:pPr>
              <a:defRPr sz="1575" b="0" i="0" u="none" strike="noStrike">
                <a:solidFill>
                  <a:srgbClr val="1C243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BEC8D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25" b="0" i="0" u="none" strike="noStrike">
                    <a:solidFill>
                      <a:srgbClr val="515B68"/>
                    </a:solidFill>
                    <a:latin typeface="Noto Sans CJK SC"/>
                  </a:defRPr>
                </a:pPr>
                <a:r>
                  <a:rPr sz="1425" b="0" i="0" u="none" strike="noStrike">
                    <a:solidFill>
                      <a:srgbClr val="515B68"/>
                    </a:solidFill>
                    <a:latin typeface="Noto Sans CJK SC"/>
                  </a:rPr>
                  <a:t>合成值 / a.u.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EC8D4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515B68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终点一（合成）</c:v>
                </c:pt>
              </c:strCache>
            </c:strRef>
          </c:tx>
          <c:spPr>
            <a:solidFill>
              <a:srgbClr val="173C70"/>
            </a:solidFill>
            <a:effectLst/>
          </c:spPr>
          <c:invertIfNegative val="0"/>
          <c:dLbls>
            <c:numFmt formatCode="0.############" sourceLinked="0"/>
            <c:txPr>
              <a:bodyPr/>
              <a:lstStyle/>
              <a:p>
                <a:pPr>
                  <a:defRPr b="0" i="0" strike="noStrike" sz="1650" u="none">
                    <a:solidFill>
                      <a:srgbClr val="1C2430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73C7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55D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0354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对照</c:v>
                  </c:pt>
                  <c:pt idx="1">
                    <c:v>低处理</c:v>
                  </c:pt>
                  <c:pt idx="2">
                    <c:v>高处理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29</c:v>
                </c:pt>
                <c:pt idx="2">
                  <c:v>35</c:v>
                </c:pt>
              </c:numCache>
            </c:numRef>
          </c:val>
        </c:ser>
        <c:dLbls>
          <c:numFmt formatCode="0.############" sourceLinked="0"/>
          <c:txPr>
            <a:bodyPr/>
            <a:lstStyle/>
            <a:p>
              <a:pPr>
                <a:defRPr b="0" i="0" strike="noStrike" sz="1650" u="none">
                  <a:solidFill>
                    <a:srgbClr val="1C2430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EC8D4"/>
            </a:solidFill>
            <a:prstDash val="solid"/>
            <a:round/>
          </a:ln>
        </c:spPr>
        <c:txPr>
          <a:bodyPr/>
          <a:lstStyle/>
          <a:p>
            <a:pPr>
              <a:defRPr sz="1575" b="0" i="0" u="none" strike="noStrike">
                <a:solidFill>
                  <a:srgbClr val="1C243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BEC8D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25" b="0" i="0" u="none" strike="noStrike">
                    <a:solidFill>
                      <a:srgbClr val="515B68"/>
                    </a:solidFill>
                    <a:latin typeface="Noto Sans CJK SC"/>
                  </a:defRPr>
                </a:pPr>
                <a:r>
                  <a:rPr sz="1425" b="0" i="0" u="none" strike="noStrike">
                    <a:solidFill>
                      <a:srgbClr val="515B68"/>
                    </a:solidFill>
                    <a:latin typeface="Noto Sans CJK SC"/>
                  </a:rPr>
                  <a:t>合成终点一 / a.u.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EC8D4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515B68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条件 A（合成）</c:v>
                </c:pt>
              </c:strCache>
            </c:strRef>
          </c:tx>
          <c:spPr>
            <a:solidFill>
              <a:srgbClr val="173C70"/>
            </a:solidFill>
            <a:ln w="25400" cap="flat">
              <a:solidFill>
                <a:srgbClr val="173C70"/>
              </a:solidFill>
              <a:prstDash val="solid"/>
              <a:round/>
            </a:ln>
            <a:effectLst/>
          </c:spPr>
          <c:invertIfNegative val="0"/>
          <c:dLbls>
            <c:numFmt formatCode="0.############" sourceLinked="0"/>
            <c:txPr>
              <a:bodyPr/>
              <a:lstStyle/>
              <a:p>
                <a:pPr>
                  <a:defRPr b="0" i="0" strike="noStrike" sz="1650" u="none">
                    <a:solidFill>
                      <a:srgbClr val="1C2430"/>
                    </a:solidFill>
                    <a:latin typeface="Noto Sans CJK S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73C70"/>
              </a:solidFill>
              <a:ln w="9525" cap="flat">
                <a:solidFill>
                  <a:srgbClr val="173C7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E1</c:v>
                  </c:pt>
                  <c:pt idx="1">
                    <c:v>E2</c:v>
                  </c:pt>
                  <c:pt idx="2">
                    <c:v>E3</c:v>
                  </c:pt>
                  <c:pt idx="3">
                    <c:v>E4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78</c:v>
                </c:pt>
                <c:pt idx="2">
                  <c:v>70</c:v>
                </c:pt>
                <c:pt idx="3">
                  <c:v>63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条件 B（合成）</c:v>
                </c:pt>
              </c:strCache>
            </c:strRef>
          </c:tx>
          <c:spPr>
            <a:solidFill>
              <a:srgbClr val="355D88"/>
            </a:solidFill>
            <a:ln w="25400" cap="flat">
              <a:solidFill>
                <a:srgbClr val="355D88"/>
              </a:solidFill>
              <a:prstDash val="solid"/>
              <a:round/>
            </a:ln>
            <a:effectLst/>
          </c:spPr>
          <c:invertIfNegative val="0"/>
          <c:dLbls>
            <c:numFmt formatCode="0.############" sourceLinked="0"/>
            <c:txPr>
              <a:bodyPr/>
              <a:lstStyle/>
              <a:p>
                <a:pPr>
                  <a:defRPr b="0" i="0" strike="noStrike" sz="1650" u="none">
                    <a:solidFill>
                      <a:srgbClr val="1C2430"/>
                    </a:solidFill>
                    <a:latin typeface="Noto Sans CJK S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355D88"/>
              </a:solidFill>
              <a:ln w="9525" cap="flat">
                <a:solidFill>
                  <a:srgbClr val="355D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E1</c:v>
                  </c:pt>
                  <c:pt idx="1">
                    <c:v>E2</c:v>
                  </c:pt>
                  <c:pt idx="2">
                    <c:v>E3</c:v>
                  </c:pt>
                  <c:pt idx="3">
                    <c:v>E4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81</c:v>
                </c:pt>
                <c:pt idx="2">
                  <c:v>76</c:v>
                </c:pt>
                <c:pt idx="3">
                  <c:v>72</c:v>
                </c:pt>
              </c:numCache>
            </c:numRef>
          </c:val>
          <c:smooth val="0"/>
        </c:ser>
        <c:dLbls>
          <c:numFmt formatCode="0.############" sourceLinked="0"/>
          <c:txPr>
            <a:bodyPr/>
            <a:lstStyle/>
            <a:p>
              <a:pPr>
                <a:defRPr b="0" i="0" strike="noStrike" sz="1650" u="none">
                  <a:solidFill>
                    <a:srgbClr val="1C2430"/>
                  </a:solidFill>
                  <a:latin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EC8D4"/>
            </a:solidFill>
            <a:prstDash val="solid"/>
            <a:round/>
          </a:ln>
        </c:spPr>
        <c:txPr>
          <a:bodyPr/>
          <a:lstStyle/>
          <a:p>
            <a:pPr>
              <a:defRPr sz="1575" b="0" i="0" u="none" strike="noStrike">
                <a:solidFill>
                  <a:srgbClr val="1C243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BEC8D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25" b="0" i="0" u="none" strike="noStrike">
                    <a:solidFill>
                      <a:srgbClr val="515B68"/>
                    </a:solidFill>
                    <a:latin typeface="Noto Sans CJK SC"/>
                  </a:defRPr>
                </a:pPr>
                <a:r>
                  <a:rPr sz="1425" b="0" i="0" u="none" strike="noStrike">
                    <a:solidFill>
                      <a:srgbClr val="515B68"/>
                    </a:solidFill>
                    <a:latin typeface="Noto Sans CJK SC"/>
                  </a:rPr>
                  <a:t>合成指标 / a.u.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EC8D4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515B68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25">
              <a:latin typeface="Noto Sans CJK SC"/>
              <a:cs typeface="Noto Sans CJK SC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合成指标</c:v>
                </c:pt>
              </c:strCache>
            </c:strRef>
          </c:tx>
          <c:spPr>
            <a:solidFill>
              <a:srgbClr val="173C70"/>
            </a:solidFill>
            <a:effectLst/>
          </c:spPr>
          <c:invertIfNegative val="0"/>
          <c:dLbls>
            <c:numFmt formatCode="0.############" sourceLinked="0"/>
            <c:txPr>
              <a:bodyPr/>
              <a:lstStyle/>
              <a:p>
                <a:pPr>
                  <a:defRPr b="0" i="0" strike="noStrike" sz="1650" u="none">
                    <a:solidFill>
                      <a:srgbClr val="1C2430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73C7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55D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0354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参考方法</c:v>
                  </c:pt>
                  <c:pt idx="1">
                    <c:v>设置一</c:v>
                  </c:pt>
                  <c:pt idx="2">
                    <c:v>设置二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31</c:v>
                </c:pt>
                <c:pt idx="2">
                  <c:v>37</c:v>
                </c:pt>
              </c:numCache>
            </c:numRef>
          </c:val>
        </c:ser>
        <c:dLbls>
          <c:numFmt formatCode="0.############" sourceLinked="0"/>
          <c:txPr>
            <a:bodyPr/>
            <a:lstStyle/>
            <a:p>
              <a:pPr>
                <a:defRPr b="0" i="0" strike="noStrike" sz="1650" u="none">
                  <a:solidFill>
                    <a:srgbClr val="1C2430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EC8D4"/>
            </a:solidFill>
            <a:prstDash val="solid"/>
            <a:round/>
          </a:ln>
        </c:spPr>
        <c:txPr>
          <a:bodyPr/>
          <a:lstStyle/>
          <a:p>
            <a:pPr>
              <a:defRPr sz="1575" b="0" i="0" u="none" strike="noStrike">
                <a:solidFill>
                  <a:srgbClr val="1C243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b"/>
        <c:majorGridlines>
          <c:spPr>
            <a:ln w="12700" cap="flat">
              <a:solidFill>
                <a:srgbClr val="BEC8D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25" b="0" i="0" u="none" strike="noStrike">
                    <a:solidFill>
                      <a:srgbClr val="515B68"/>
                    </a:solidFill>
                    <a:latin typeface="Noto Sans CJK SC"/>
                  </a:defRPr>
                </a:pPr>
                <a:r>
                  <a:rPr sz="1425" b="0" i="0" u="none" strike="noStrike">
                    <a:solidFill>
                      <a:srgbClr val="515B68"/>
                    </a:solidFill>
                    <a:latin typeface="Noto Sans CJK SC"/>
                  </a:rPr>
                  <a:t>合成值 / a.u.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BEC8D4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515B68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results-main-effect。主图占主要面积，右侧同时给出效应、样本与结论边界。
全部文本为填写指引，图表值是合成演示值，不是任何研究结果。使用前替换论文、数据、原图与来源。
内容职责：主要效应；统计口径；解释边界。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results-two-outcomes。左原生图表与右原图分别报告终点，解释各自的指标、分母与条件。
全部文本为填写指引，图表值是合成演示值，不是任何研究结果。使用前替换论文、数据、原图与来源。
内容职责：终点一的解释；终点二的解释。
建议讲述时间只是排练起点，按实际内容调整。
原图来源：T1
示例图
独立观测分布；合成演示值
https://github.com/YuZhou0311/dsh-academic-ppt
原创排版教学示例 v0.3.0
MIT; all plotted values are synthetic
完整原图，无裁切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results-ablation。左侧表格下方紧接可支持的效应结论，右侧说明组件机制与替代解释；短表按实际行高收紧。
全部文本为填写指引，图表值是合成演示值，不是任何研究结果。使用前替换论文、数据、原图与来源。
内容职责：组件作用；替代解释；不确定性与重复。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results-robustness。趋势图展示环境差异，右侧记录训练覆盖与最差情形。
全部文本为填写指引，图表值是合成演示值，不是任何研究结果。使用前替换论文、数据、原图与来源。
内容职责：测试环境；最差情形；平均值以外的结论。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results-tradeoff。定量图配三个不同角色的解释区，明确权衡的比较单位。
全部文本为填写指引，图表值是合成演示值，不是任何研究结果。使用前替换论文、数据、原图与来源。
内容职责：收益指标；风险指标；资源代价。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results-error-analysis。先交代共同评价条件，再以通栏表对齐任务分母，下方分别说明任务构造与失败解释。
全部文本为填写指引，图表值是合成演示值，不是任何研究结果。使用前替换论文、数据、原图与来源。
内容职责：评价者与尺度；失败集中在哪一步；分母与统计单位。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9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19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06</a:t>
            </a:r>
            <a:endParaRPr lang="zh-CN" sz="1050" dirty="0"/>
          </a:p>
        </p:txBody>
      </p:sp>
      <p:sp>
        <p:nvSpPr>
          <p:cNvPr id="4" name="T19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主结果与统计口径</a:t>
            </a:r>
            <a:endParaRPr lang="zh-CN" sz="3000" dirty="0"/>
          </a:p>
        </p:txBody>
      </p:sp>
      <p:sp>
        <p:nvSpPr>
          <p:cNvPr id="5" name="T19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19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19/takeaway"/>
          <p:cNvSpPr/>
          <p:nvPr/>
        </p:nvSpPr>
        <p:spPr>
          <a:xfrm>
            <a:off x="457200" y="5855684"/>
            <a:ext cx="7696200" cy="27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统计口径、样本单位和适用条件需与原文一致</a:t>
            </a:r>
            <a:endParaRPr lang="zh-CN" sz="1800" dirty="0"/>
          </a:p>
        </p:txBody>
      </p:sp>
      <p:graphicFrame>
        <p:nvGraphicFramePr>
          <p:cNvPr id="8" name="T19/data-chart" descr=""/>
          <p:cNvGraphicFramePr/>
          <p:nvPr/>
        </p:nvGraphicFramePr>
        <p:xfrm>
          <a:off x="457200" y="1226534"/>
          <a:ext cx="7696200" cy="447084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19/card/region-1/frame"/>
          <p:cNvSpPr/>
          <p:nvPr/>
        </p:nvSpPr>
        <p:spPr>
          <a:xfrm>
            <a:off x="8458200" y="1206722"/>
            <a:ext cx="3276600" cy="1444181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0" name="T19/card/region-1/heading-fill"/>
          <p:cNvSpPr/>
          <p:nvPr/>
        </p:nvSpPr>
        <p:spPr>
          <a:xfrm>
            <a:off x="8467725" y="1216247"/>
            <a:ext cx="3257550" cy="371475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19/card/region-1/heading-rule"/>
          <p:cNvSpPr/>
          <p:nvPr/>
        </p:nvSpPr>
        <p:spPr>
          <a:xfrm>
            <a:off x="8458200" y="1587722"/>
            <a:ext cx="32766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2" name="T19/card/region-1/title"/>
          <p:cNvSpPr/>
          <p:nvPr/>
        </p:nvSpPr>
        <p:spPr>
          <a:xfrm>
            <a:off x="8582025" y="1254347"/>
            <a:ext cx="30289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主要效应</a:t>
            </a:r>
            <a:endParaRPr lang="zh-CN" sz="1950" dirty="0"/>
          </a:p>
        </p:txBody>
      </p:sp>
      <p:sp>
        <p:nvSpPr>
          <p:cNvPr id="13" name="T19/card/region-1/body"/>
          <p:cNvSpPr/>
          <p:nvPr/>
        </p:nvSpPr>
        <p:spPr>
          <a:xfrm>
            <a:off x="8591550" y="1692497"/>
            <a:ext cx="3009900" cy="863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效应大小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比较基线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模板图中的数字仅为合成演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</a:t>
            </a:r>
            <a:endParaRPr lang="zh-CN" sz="1800" dirty="0"/>
          </a:p>
        </p:txBody>
      </p:sp>
      <p:sp>
        <p:nvSpPr>
          <p:cNvPr id="14" name="T19/card/region-2/heading-rule"/>
          <p:cNvSpPr/>
          <p:nvPr/>
        </p:nvSpPr>
        <p:spPr>
          <a:xfrm>
            <a:off x="8458200" y="3250216"/>
            <a:ext cx="32766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5" name="T19/card/region-2/heading-mark"/>
          <p:cNvSpPr/>
          <p:nvPr/>
        </p:nvSpPr>
        <p:spPr>
          <a:xfrm>
            <a:off x="8458200" y="3250216"/>
            <a:ext cx="342900" cy="0"/>
          </a:xfrm>
          <a:prstGeom prst="line">
            <a:avLst/>
          </a:prstGeom>
          <a:noFill/>
          <a:ln w="17145">
            <a:solidFill>
              <a:srgbClr val="536A7A"/>
            </a:solidFill>
            <a:prstDash val="solid"/>
          </a:ln>
        </p:spPr>
      </p:sp>
      <p:sp>
        <p:nvSpPr>
          <p:cNvPr id="16" name="T19/card/region-2/title"/>
          <p:cNvSpPr/>
          <p:nvPr/>
        </p:nvSpPr>
        <p:spPr>
          <a:xfrm>
            <a:off x="8458200" y="2907316"/>
            <a:ext cx="32766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统计口径</a:t>
            </a:r>
            <a:endParaRPr lang="zh-CN" sz="1950" dirty="0"/>
          </a:p>
        </p:txBody>
      </p:sp>
      <p:sp>
        <p:nvSpPr>
          <p:cNvPr id="17" name="T19/card/region-2/body"/>
          <p:cNvSpPr/>
          <p:nvPr/>
        </p:nvSpPr>
        <p:spPr>
          <a:xfrm>
            <a:off x="8458200" y="3383566"/>
            <a:ext cx="3276600" cy="89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给出样本、聚合方法与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不确定性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误差条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含义不能只写 error</a:t>
            </a:r>
            <a:endParaRPr lang="zh-CN" sz="1800" dirty="0"/>
          </a:p>
        </p:txBody>
      </p:sp>
      <p:sp>
        <p:nvSpPr>
          <p:cNvPr id="18" name="T19/card/region-3/base-rule"/>
          <p:cNvSpPr/>
          <p:nvPr/>
        </p:nvSpPr>
        <p:spPr>
          <a:xfrm>
            <a:off x="8458200" y="5994178"/>
            <a:ext cx="3276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9" name="T19/card/region-3/side-mark"/>
          <p:cNvSpPr/>
          <p:nvPr/>
        </p:nvSpPr>
        <p:spPr>
          <a:xfrm>
            <a:off x="8458200" y="4569047"/>
            <a:ext cx="47625" cy="295275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19/card/region-3/title"/>
          <p:cNvSpPr/>
          <p:nvPr/>
        </p:nvSpPr>
        <p:spPr>
          <a:xfrm>
            <a:off x="8610600" y="4569047"/>
            <a:ext cx="3124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解释边界</a:t>
            </a:r>
            <a:endParaRPr lang="zh-CN" sz="1950" dirty="0"/>
          </a:p>
        </p:txBody>
      </p:sp>
      <p:sp>
        <p:nvSpPr>
          <p:cNvPr id="21" name="T19/card/region-3/body"/>
          <p:cNvSpPr/>
          <p:nvPr/>
        </p:nvSpPr>
        <p:spPr>
          <a:xfrm>
            <a:off x="8610600" y="4988147"/>
            <a:ext cx="3124200" cy="91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统计差异与实际意义分别判断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说明未测试的条件与替代解释</a:t>
            </a:r>
            <a:endParaRPr lang="zh-CN" sz="1800" dirty="0"/>
          </a:p>
        </p:txBody>
      </p:sp>
      <p:sp>
        <p:nvSpPr>
          <p:cNvPr id="22" name="T19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0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20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06</a:t>
            </a:r>
            <a:endParaRPr lang="zh-CN" sz="1050" dirty="0"/>
          </a:p>
        </p:txBody>
      </p:sp>
      <p:sp>
        <p:nvSpPr>
          <p:cNvPr id="4" name="T20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两个终点分别报告</a:t>
            </a:r>
            <a:endParaRPr lang="zh-CN" sz="3000" dirty="0"/>
          </a:p>
        </p:txBody>
      </p:sp>
      <p:sp>
        <p:nvSpPr>
          <p:cNvPr id="5" name="T20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20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20/panel:0:frame"/>
          <p:cNvSpPr/>
          <p:nvPr/>
        </p:nvSpPr>
        <p:spPr>
          <a:xfrm>
            <a:off x="457200" y="1107853"/>
            <a:ext cx="5467350" cy="3659791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20/panel:0:heading-fill"/>
          <p:cNvSpPr/>
          <p:nvPr/>
        </p:nvSpPr>
        <p:spPr>
          <a:xfrm>
            <a:off x="466725" y="1117378"/>
            <a:ext cx="5448300" cy="381000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20/panel:0:heading-rule"/>
          <p:cNvSpPr/>
          <p:nvPr/>
        </p:nvSpPr>
        <p:spPr>
          <a:xfrm>
            <a:off x="457200" y="1498378"/>
            <a:ext cx="54673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20/panel:0:title"/>
          <p:cNvSpPr/>
          <p:nvPr/>
        </p:nvSpPr>
        <p:spPr>
          <a:xfrm>
            <a:off x="581025" y="1155478"/>
            <a:ext cx="52197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终点一：组间比较</a:t>
            </a:r>
            <a:endParaRPr lang="zh-CN" sz="1950" dirty="0"/>
          </a:p>
        </p:txBody>
      </p:sp>
      <p:sp>
        <p:nvSpPr>
          <p:cNvPr id="11" name="T20/panel:1:frame"/>
          <p:cNvSpPr/>
          <p:nvPr/>
        </p:nvSpPr>
        <p:spPr>
          <a:xfrm>
            <a:off x="6248400" y="1107853"/>
            <a:ext cx="5486400" cy="3659791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2" name="T20/panel:1:heading-fill"/>
          <p:cNvSpPr/>
          <p:nvPr/>
        </p:nvSpPr>
        <p:spPr>
          <a:xfrm>
            <a:off x="6257925" y="1117378"/>
            <a:ext cx="5467350" cy="381000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20/panel:1:heading-rule"/>
          <p:cNvSpPr/>
          <p:nvPr/>
        </p:nvSpPr>
        <p:spPr>
          <a:xfrm>
            <a:off x="6248400" y="1498378"/>
            <a:ext cx="54864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4" name="T20/panel:1:title"/>
          <p:cNvSpPr/>
          <p:nvPr/>
        </p:nvSpPr>
        <p:spPr>
          <a:xfrm>
            <a:off x="6372225" y="1155478"/>
            <a:ext cx="52387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终点二：个体分布</a:t>
            </a:r>
            <a:endParaRPr lang="zh-CN" sz="1950" dirty="0"/>
          </a:p>
        </p:txBody>
      </p:sp>
      <p:sp>
        <p:nvSpPr>
          <p:cNvPr id="15" name="T20/figure:0:paper"/>
          <p:cNvSpPr/>
          <p:nvPr/>
        </p:nvSpPr>
        <p:spPr>
          <a:xfrm>
            <a:off x="7246736" y="1641253"/>
            <a:ext cx="3489729" cy="2586419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16" name="T20/figure:0:image" descr="独立观测分布；合成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5311" y="1669828"/>
            <a:ext cx="3432579" cy="2529269"/>
          </a:xfrm>
          <a:prstGeom prst="rect">
            <a:avLst/>
          </a:prstGeom>
        </p:spPr>
      </p:pic>
      <p:sp>
        <p:nvSpPr>
          <p:cNvPr id="17" name="T20/figure:0:caption"/>
          <p:cNvSpPr/>
          <p:nvPr/>
        </p:nvSpPr>
        <p:spPr>
          <a:xfrm>
            <a:off x="6381750" y="4332446"/>
            <a:ext cx="5219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独立观测分布；合成数据</a:t>
            </a:r>
            <a:endParaRPr lang="zh-CN" sz="1350" dirty="0"/>
          </a:p>
        </p:txBody>
      </p:sp>
      <p:graphicFrame>
        <p:nvGraphicFramePr>
          <p:cNvPr id="18" name="T20/data-chart" descr=""/>
          <p:cNvGraphicFramePr/>
          <p:nvPr/>
        </p:nvGraphicFramePr>
        <p:xfrm>
          <a:off x="590550" y="1622203"/>
          <a:ext cx="5200650" cy="296741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20/card/region-1/frame"/>
          <p:cNvSpPr/>
          <p:nvPr/>
        </p:nvSpPr>
        <p:spPr>
          <a:xfrm>
            <a:off x="457200" y="5005007"/>
            <a:ext cx="5467350" cy="1068229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0" name="T20/card/region-1/heading-fill"/>
          <p:cNvSpPr/>
          <p:nvPr/>
        </p:nvSpPr>
        <p:spPr>
          <a:xfrm>
            <a:off x="466725" y="5014532"/>
            <a:ext cx="5448300" cy="371475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20/card/region-1/heading-rule"/>
          <p:cNvSpPr/>
          <p:nvPr/>
        </p:nvSpPr>
        <p:spPr>
          <a:xfrm>
            <a:off x="457200" y="5386007"/>
            <a:ext cx="54673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2" name="T20/card/region-1/title"/>
          <p:cNvSpPr/>
          <p:nvPr/>
        </p:nvSpPr>
        <p:spPr>
          <a:xfrm>
            <a:off x="581025" y="5052632"/>
            <a:ext cx="52197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终点一的解释</a:t>
            </a:r>
            <a:endParaRPr lang="zh-CN" sz="1950" dirty="0"/>
          </a:p>
        </p:txBody>
      </p:sp>
      <p:sp>
        <p:nvSpPr>
          <p:cNvPr id="23" name="T20/card/region-1/body"/>
          <p:cNvSpPr/>
          <p:nvPr/>
        </p:nvSpPr>
        <p:spPr>
          <a:xfrm>
            <a:off x="590550" y="5490782"/>
            <a:ext cx="5200650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、分母与评价时间窗</a:t>
            </a:r>
            <a:endParaRPr lang="zh-CN" sz="1800" dirty="0"/>
          </a:p>
        </p:txBody>
      </p:sp>
      <p:sp>
        <p:nvSpPr>
          <p:cNvPr id="24" name="T20/card/region-2/frame"/>
          <p:cNvSpPr/>
          <p:nvPr/>
        </p:nvSpPr>
        <p:spPr>
          <a:xfrm>
            <a:off x="6248400" y="5005007"/>
            <a:ext cx="5486400" cy="1068229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5" name="T20/card/region-2/heading-fill"/>
          <p:cNvSpPr/>
          <p:nvPr/>
        </p:nvSpPr>
        <p:spPr>
          <a:xfrm>
            <a:off x="6257925" y="5014532"/>
            <a:ext cx="5467350" cy="371475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20/card/region-2/heading-rule"/>
          <p:cNvSpPr/>
          <p:nvPr/>
        </p:nvSpPr>
        <p:spPr>
          <a:xfrm>
            <a:off x="6248400" y="5386007"/>
            <a:ext cx="54864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7" name="T20/card/region-2/title"/>
          <p:cNvSpPr/>
          <p:nvPr/>
        </p:nvSpPr>
        <p:spPr>
          <a:xfrm>
            <a:off x="6372225" y="5052632"/>
            <a:ext cx="52387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终点二的解释</a:t>
            </a:r>
            <a:endParaRPr lang="zh-CN" sz="1950" dirty="0"/>
          </a:p>
        </p:txBody>
      </p:sp>
      <p:sp>
        <p:nvSpPr>
          <p:cNvPr id="28" name="T20/card/region-2/body"/>
          <p:cNvSpPr/>
          <p:nvPr/>
        </p:nvSpPr>
        <p:spPr>
          <a:xfrm>
            <a:off x="6381750" y="5490782"/>
            <a:ext cx="5219700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明确与终点一的不同含义</a:t>
            </a:r>
            <a:endParaRPr lang="zh-CN" sz="1800" dirty="0"/>
          </a:p>
        </p:txBody>
      </p:sp>
      <p:sp>
        <p:nvSpPr>
          <p:cNvPr id="29" name="T20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1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21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06</a:t>
            </a:r>
            <a:endParaRPr lang="zh-CN" sz="1050" dirty="0"/>
          </a:p>
        </p:txBody>
      </p:sp>
      <p:sp>
        <p:nvSpPr>
          <p:cNvPr id="4" name="T21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消融比较与组件贡献</a:t>
            </a:r>
            <a:endParaRPr lang="zh-CN" sz="3000" dirty="0"/>
          </a:p>
        </p:txBody>
      </p:sp>
      <p:sp>
        <p:nvSpPr>
          <p:cNvPr id="5" name="T21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21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graphicFrame>
        <p:nvGraphicFramePr>
          <p:cNvPr id="4" name="T21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7381"/>
          <a:ext cx="7200900" cy="2003108"/>
        </p:xfrm>
        <a:graphic>
          <a:graphicData uri="http://schemas.openxmlformats.org/drawingml/2006/table">
            <a:tbl>
              <a:tblPr/>
              <a:tblGrid>
                <a:gridCol w="1800225"/>
                <a:gridCol w="1800225"/>
                <a:gridCol w="1800225"/>
                <a:gridCol w="1800225"/>
              </a:tblGrid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设置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合成效应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合成区间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解释任务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参考方法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0.00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−0.08…0.08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定义共同基线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移除模块 A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0.22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0.11…0.33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核查机制贡献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移除模块 B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0.31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0.17…0.45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核查信息变化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完整方法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0.43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0.27…0.59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报告资源代价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21/table-caption"/>
          <p:cNvSpPr/>
          <p:nvPr/>
        </p:nvSpPr>
        <p:spPr>
          <a:xfrm>
            <a:off x="457200" y="3217164"/>
            <a:ext cx="72009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结构占位 / 合成数据，必须替换后才能用于学术结论</a:t>
            </a:r>
            <a:endParaRPr lang="zh-CN" sz="1350" dirty="0"/>
          </a:p>
        </p:txBody>
      </p:sp>
      <p:sp>
        <p:nvSpPr>
          <p:cNvPr id="9" name="T21/card/region-1/frame"/>
          <p:cNvSpPr/>
          <p:nvPr/>
        </p:nvSpPr>
        <p:spPr>
          <a:xfrm>
            <a:off x="7981950" y="1147381"/>
            <a:ext cx="3752850" cy="2096929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0" name="T21/card/region-1/heading-fill"/>
          <p:cNvSpPr/>
          <p:nvPr/>
        </p:nvSpPr>
        <p:spPr>
          <a:xfrm>
            <a:off x="7991475" y="1156907"/>
            <a:ext cx="373380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21/card/region-1/heading-rule"/>
          <p:cNvSpPr/>
          <p:nvPr/>
        </p:nvSpPr>
        <p:spPr>
          <a:xfrm>
            <a:off x="7981950" y="1528381"/>
            <a:ext cx="37528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2" name="T21/card/region-1/title"/>
          <p:cNvSpPr/>
          <p:nvPr/>
        </p:nvSpPr>
        <p:spPr>
          <a:xfrm>
            <a:off x="8105775" y="1195007"/>
            <a:ext cx="35052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组件作用</a:t>
            </a:r>
            <a:endParaRPr lang="zh-CN" sz="1950" dirty="0"/>
          </a:p>
        </p:txBody>
      </p:sp>
      <p:sp>
        <p:nvSpPr>
          <p:cNvPr id="13" name="T21/card/region-1/body"/>
          <p:cNvSpPr/>
          <p:nvPr/>
        </p:nvSpPr>
        <p:spPr>
          <a:xfrm>
            <a:off x="8115300" y="1633156"/>
            <a:ext cx="3486150" cy="1515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把消融操作和机制假设对应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比较时其余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与预算保持一致</a:t>
            </a:r>
            <a:endParaRPr lang="zh-CN" sz="1800" dirty="0"/>
          </a:p>
        </p:txBody>
      </p:sp>
      <p:sp>
        <p:nvSpPr>
          <p:cNvPr id="14" name="T21/card/region-2/frame"/>
          <p:cNvSpPr/>
          <p:nvPr/>
        </p:nvSpPr>
        <p:spPr>
          <a:xfrm>
            <a:off x="7981950" y="3596069"/>
            <a:ext cx="3752850" cy="2398109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5" name="T21/card/region-2/tab"/>
          <p:cNvSpPr/>
          <p:nvPr/>
        </p:nvSpPr>
        <p:spPr>
          <a:xfrm>
            <a:off x="8096250" y="3481769"/>
            <a:ext cx="1257300" cy="342900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21/card/region-2/title"/>
          <p:cNvSpPr/>
          <p:nvPr/>
        </p:nvSpPr>
        <p:spPr>
          <a:xfrm>
            <a:off x="8201025" y="3510344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替代解释</a:t>
            </a:r>
            <a:endParaRPr lang="zh-CN" sz="1950" dirty="0"/>
          </a:p>
        </p:txBody>
      </p:sp>
      <p:sp>
        <p:nvSpPr>
          <p:cNvPr id="17" name="T21/card/region-2/body"/>
          <p:cNvSpPr/>
          <p:nvPr/>
        </p:nvSpPr>
        <p:spPr>
          <a:xfrm>
            <a:off x="8115300" y="3967544"/>
            <a:ext cx="3486150" cy="1931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消融同时改变了哪些条件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检查调参、容量与数据的影响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用进一步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区分机制贡献</a:t>
            </a:r>
            <a:endParaRPr lang="zh-CN" sz="1800" dirty="0"/>
          </a:p>
        </p:txBody>
      </p:sp>
      <p:sp>
        <p:nvSpPr>
          <p:cNvPr id="18" name="T21/card/region-3/frame"/>
          <p:cNvSpPr/>
          <p:nvPr/>
        </p:nvSpPr>
        <p:spPr>
          <a:xfrm>
            <a:off x="457200" y="3617214"/>
            <a:ext cx="7200900" cy="1879378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9" name="T21/card/region-3/heading-fill"/>
          <p:cNvSpPr/>
          <p:nvPr/>
        </p:nvSpPr>
        <p:spPr>
          <a:xfrm>
            <a:off x="466725" y="3626739"/>
            <a:ext cx="718185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21/card/region-3/heading-rule"/>
          <p:cNvSpPr/>
          <p:nvPr/>
        </p:nvSpPr>
        <p:spPr>
          <a:xfrm>
            <a:off x="457200" y="3998214"/>
            <a:ext cx="72009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1" name="T21/card/region-3/title"/>
          <p:cNvSpPr/>
          <p:nvPr/>
        </p:nvSpPr>
        <p:spPr>
          <a:xfrm>
            <a:off x="581025" y="3664839"/>
            <a:ext cx="69532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不确定性与重复</a:t>
            </a:r>
            <a:endParaRPr lang="zh-CN" sz="1950" dirty="0"/>
          </a:p>
        </p:txBody>
      </p:sp>
      <p:sp>
        <p:nvSpPr>
          <p:cNvPr id="22" name="T21/card/region-3/body"/>
          <p:cNvSpPr/>
          <p:nvPr/>
        </p:nvSpPr>
        <p:spPr>
          <a:xfrm>
            <a:off x="590550" y="4102989"/>
            <a:ext cx="6934200" cy="129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独立重复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、区间和显著性方法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避免仅凭单次最佳值解释组件贡献</a:t>
            </a:r>
            <a:endParaRPr lang="zh-CN" sz="1800" dirty="0"/>
          </a:p>
        </p:txBody>
      </p:sp>
      <p:sp>
        <p:nvSpPr>
          <p:cNvPr id="23" name="T21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2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22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06</a:t>
            </a:r>
            <a:endParaRPr lang="zh-CN" sz="1050" dirty="0"/>
          </a:p>
        </p:txBody>
      </p:sp>
      <p:sp>
        <p:nvSpPr>
          <p:cNvPr id="4" name="T22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跨环境表现与异质性</a:t>
            </a:r>
            <a:endParaRPr lang="zh-CN" sz="3000" dirty="0"/>
          </a:p>
        </p:txBody>
      </p:sp>
      <p:sp>
        <p:nvSpPr>
          <p:cNvPr id="5" name="T22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22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graphicFrame>
        <p:nvGraphicFramePr>
          <p:cNvPr id="7" name="T22/data-chart" descr=""/>
          <p:cNvGraphicFramePr/>
          <p:nvPr/>
        </p:nvGraphicFramePr>
        <p:xfrm>
          <a:off x="457200" y="1206722"/>
          <a:ext cx="7905750" cy="34224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22/card/region-1/frame"/>
          <p:cNvSpPr/>
          <p:nvPr/>
        </p:nvSpPr>
        <p:spPr>
          <a:xfrm>
            <a:off x="8686800" y="1206722"/>
            <a:ext cx="3048000" cy="2176082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9" name="T22/card/region-1/heading-fill"/>
          <p:cNvSpPr/>
          <p:nvPr/>
        </p:nvSpPr>
        <p:spPr>
          <a:xfrm>
            <a:off x="8696325" y="1216247"/>
            <a:ext cx="302895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22/card/region-1/heading-rule"/>
          <p:cNvSpPr/>
          <p:nvPr/>
        </p:nvSpPr>
        <p:spPr>
          <a:xfrm>
            <a:off x="8686800" y="1587722"/>
            <a:ext cx="30480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1" name="T22/card/region-1/title"/>
          <p:cNvSpPr/>
          <p:nvPr/>
        </p:nvSpPr>
        <p:spPr>
          <a:xfrm>
            <a:off x="8810625" y="1254347"/>
            <a:ext cx="2800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测试环境</a:t>
            </a:r>
            <a:endParaRPr lang="zh-CN" sz="1950" dirty="0"/>
          </a:p>
        </p:txBody>
      </p:sp>
      <p:sp>
        <p:nvSpPr>
          <p:cNvPr id="12" name="T22/card/region-1/body"/>
          <p:cNvSpPr/>
          <p:nvPr/>
        </p:nvSpPr>
        <p:spPr>
          <a:xfrm>
            <a:off x="8820150" y="1692497"/>
            <a:ext cx="2781300" cy="1595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列出训练覆盖和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独立留出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分环境报告，不只给全局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</a:t>
            </a:r>
            <a:endParaRPr lang="zh-CN" sz="1800" dirty="0"/>
          </a:p>
        </p:txBody>
      </p:sp>
      <p:sp>
        <p:nvSpPr>
          <p:cNvPr id="13" name="T22/card/region-2/frame"/>
          <p:cNvSpPr/>
          <p:nvPr/>
        </p:nvSpPr>
        <p:spPr>
          <a:xfrm>
            <a:off x="8686800" y="3754279"/>
            <a:ext cx="3048000" cy="2259616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4" name="T22/card/region-2/tab"/>
          <p:cNvSpPr/>
          <p:nvPr/>
        </p:nvSpPr>
        <p:spPr>
          <a:xfrm>
            <a:off x="8801100" y="3639979"/>
            <a:ext cx="125730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22/card/region-2/title"/>
          <p:cNvSpPr/>
          <p:nvPr/>
        </p:nvSpPr>
        <p:spPr>
          <a:xfrm>
            <a:off x="8905875" y="3668554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最差情形</a:t>
            </a:r>
            <a:endParaRPr lang="zh-CN" sz="1950" dirty="0"/>
          </a:p>
        </p:txBody>
      </p:sp>
      <p:sp>
        <p:nvSpPr>
          <p:cNvPr id="16" name="T22/card/region-2/body"/>
          <p:cNvSpPr/>
          <p:nvPr/>
        </p:nvSpPr>
        <p:spPr>
          <a:xfrm>
            <a:off x="8820150" y="4125754"/>
            <a:ext cx="2781300" cy="179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展示失败环境与违反约束的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次数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讨论收益下降是否有系统性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同时报告离群值和缺失情况</a:t>
            </a:r>
            <a:endParaRPr lang="zh-CN" sz="1800" dirty="0"/>
          </a:p>
        </p:txBody>
      </p:sp>
      <p:sp>
        <p:nvSpPr>
          <p:cNvPr id="17" name="T22/card/region-3/title"/>
          <p:cNvSpPr/>
          <p:nvPr/>
        </p:nvSpPr>
        <p:spPr>
          <a:xfrm>
            <a:off x="457200" y="4964716"/>
            <a:ext cx="79057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平均值以外的结论</a:t>
            </a:r>
            <a:endParaRPr lang="zh-CN" sz="1950" dirty="0"/>
          </a:p>
        </p:txBody>
      </p:sp>
      <p:sp>
        <p:nvSpPr>
          <p:cNvPr id="18" name="T22/card/region-3/body"/>
          <p:cNvSpPr/>
          <p:nvPr/>
        </p:nvSpPr>
        <p:spPr>
          <a:xfrm>
            <a:off x="457200" y="5345716"/>
            <a:ext cx="7905750" cy="630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检查分位数、最差环境与个体差异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总体均值不能替代条件层面的判断</a:t>
            </a:r>
            <a:endParaRPr lang="zh-CN" sz="1800" dirty="0"/>
          </a:p>
        </p:txBody>
      </p:sp>
      <p:sp>
        <p:nvSpPr>
          <p:cNvPr id="19" name="T22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3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23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06</a:t>
            </a:r>
            <a:endParaRPr lang="zh-CN" sz="1050" dirty="0"/>
          </a:p>
        </p:txBody>
      </p:sp>
      <p:sp>
        <p:nvSpPr>
          <p:cNvPr id="4" name="T23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收益风险与代价权衡</a:t>
            </a:r>
            <a:endParaRPr lang="zh-CN" sz="3000" dirty="0"/>
          </a:p>
        </p:txBody>
      </p:sp>
      <p:sp>
        <p:nvSpPr>
          <p:cNvPr id="5" name="T23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23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23/takeaway"/>
          <p:cNvSpPr/>
          <p:nvPr/>
        </p:nvSpPr>
        <p:spPr>
          <a:xfrm>
            <a:off x="457200" y="5835872"/>
            <a:ext cx="7162800" cy="27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统计口径、样本单位和适用条件需与原文一致</a:t>
            </a:r>
            <a:endParaRPr lang="zh-CN" sz="1800" dirty="0"/>
          </a:p>
        </p:txBody>
      </p:sp>
      <p:graphicFrame>
        <p:nvGraphicFramePr>
          <p:cNvPr id="8" name="T23/data-chart" descr=""/>
          <p:cNvGraphicFramePr/>
          <p:nvPr/>
        </p:nvGraphicFramePr>
        <p:xfrm>
          <a:off x="457200" y="1226534"/>
          <a:ext cx="7162800" cy="447084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23/card/region-1/frame"/>
          <p:cNvSpPr/>
          <p:nvPr/>
        </p:nvSpPr>
        <p:spPr>
          <a:xfrm>
            <a:off x="7943850" y="1206722"/>
            <a:ext cx="3790950" cy="1424369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0" name="T23/card/region-1/heading-fill"/>
          <p:cNvSpPr/>
          <p:nvPr/>
        </p:nvSpPr>
        <p:spPr>
          <a:xfrm>
            <a:off x="7953375" y="1216247"/>
            <a:ext cx="377190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23/card/region-1/heading-rule"/>
          <p:cNvSpPr/>
          <p:nvPr/>
        </p:nvSpPr>
        <p:spPr>
          <a:xfrm>
            <a:off x="7943850" y="1587722"/>
            <a:ext cx="37909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2" name="T23/card/region-1/title"/>
          <p:cNvSpPr/>
          <p:nvPr/>
        </p:nvSpPr>
        <p:spPr>
          <a:xfrm>
            <a:off x="8067675" y="1254347"/>
            <a:ext cx="35433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收益指标</a:t>
            </a:r>
            <a:endParaRPr lang="zh-CN" sz="1950" dirty="0"/>
          </a:p>
        </p:txBody>
      </p:sp>
      <p:sp>
        <p:nvSpPr>
          <p:cNvPr id="13" name="T23/card/region-1/body"/>
          <p:cNvSpPr/>
          <p:nvPr/>
        </p:nvSpPr>
        <p:spPr>
          <a:xfrm>
            <a:off x="8077200" y="1692497"/>
            <a:ext cx="3524250" cy="843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定义收益、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与基线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说明是否包含预测或模拟项</a:t>
            </a:r>
            <a:endParaRPr lang="zh-CN" sz="1800" dirty="0"/>
          </a:p>
        </p:txBody>
      </p:sp>
      <p:sp>
        <p:nvSpPr>
          <p:cNvPr id="14" name="T23/card/region-2/frame"/>
          <p:cNvSpPr/>
          <p:nvPr/>
        </p:nvSpPr>
        <p:spPr>
          <a:xfrm>
            <a:off x="7943850" y="3002566"/>
            <a:ext cx="3790950" cy="1310069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5" name="T23/card/region-2/tab"/>
          <p:cNvSpPr/>
          <p:nvPr/>
        </p:nvSpPr>
        <p:spPr>
          <a:xfrm>
            <a:off x="8058150" y="2888266"/>
            <a:ext cx="125730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23/card/region-2/title"/>
          <p:cNvSpPr/>
          <p:nvPr/>
        </p:nvSpPr>
        <p:spPr>
          <a:xfrm>
            <a:off x="8162925" y="2916841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风险指标</a:t>
            </a:r>
            <a:endParaRPr lang="zh-CN" sz="1950" dirty="0"/>
          </a:p>
        </p:txBody>
      </p:sp>
      <p:sp>
        <p:nvSpPr>
          <p:cNvPr id="17" name="T23/card/region-2/body"/>
          <p:cNvSpPr/>
          <p:nvPr/>
        </p:nvSpPr>
        <p:spPr>
          <a:xfrm>
            <a:off x="8077200" y="3374041"/>
            <a:ext cx="3524250" cy="843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报告违反约束的概率或幅度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分开平均风险与极端情形</a:t>
            </a:r>
            <a:endParaRPr lang="zh-CN" sz="1800" dirty="0"/>
          </a:p>
        </p:txBody>
      </p:sp>
      <p:sp>
        <p:nvSpPr>
          <p:cNvPr id="18" name="T23/card/region-3/heading-rule"/>
          <p:cNvSpPr/>
          <p:nvPr/>
        </p:nvSpPr>
        <p:spPr>
          <a:xfrm>
            <a:off x="7943850" y="4931759"/>
            <a:ext cx="37909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9" name="T23/card/region-3/heading-mark"/>
          <p:cNvSpPr/>
          <p:nvPr/>
        </p:nvSpPr>
        <p:spPr>
          <a:xfrm>
            <a:off x="7943850" y="4931759"/>
            <a:ext cx="342900" cy="0"/>
          </a:xfrm>
          <a:prstGeom prst="line">
            <a:avLst/>
          </a:prstGeom>
          <a:noFill/>
          <a:ln w="17145">
            <a:solidFill>
              <a:srgbClr val="235E96"/>
            </a:solidFill>
            <a:prstDash val="solid"/>
          </a:ln>
        </p:spPr>
      </p:sp>
      <p:sp>
        <p:nvSpPr>
          <p:cNvPr id="20" name="T23/card/region-3/title"/>
          <p:cNvSpPr/>
          <p:nvPr/>
        </p:nvSpPr>
        <p:spPr>
          <a:xfrm>
            <a:off x="7943850" y="4588859"/>
            <a:ext cx="37909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资源代价</a:t>
            </a:r>
            <a:endParaRPr lang="zh-CN" sz="1950" dirty="0"/>
          </a:p>
        </p:txBody>
      </p:sp>
      <p:sp>
        <p:nvSpPr>
          <p:cNvPr id="21" name="T23/card/region-3/body"/>
          <p:cNvSpPr/>
          <p:nvPr/>
        </p:nvSpPr>
        <p:spPr>
          <a:xfrm>
            <a:off x="7943850" y="5065109"/>
            <a:ext cx="3790950" cy="89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计算、人工、数据与执行成本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权衡使用相同的时间与计量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</a:t>
            </a:r>
            <a:endParaRPr lang="zh-CN" sz="1800" dirty="0"/>
          </a:p>
        </p:txBody>
      </p:sp>
      <p:sp>
        <p:nvSpPr>
          <p:cNvPr id="22" name="T23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4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24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06</a:t>
            </a:r>
            <a:endParaRPr lang="zh-CN" sz="1050" dirty="0"/>
          </a:p>
        </p:txBody>
      </p:sp>
      <p:sp>
        <p:nvSpPr>
          <p:cNvPr id="4" name="T24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错误类型与任务分母</a:t>
            </a:r>
            <a:endParaRPr lang="zh-CN" sz="3000" dirty="0"/>
          </a:p>
        </p:txBody>
      </p:sp>
      <p:sp>
        <p:nvSpPr>
          <p:cNvPr id="5" name="T24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24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graphicFrame>
        <p:nvGraphicFramePr>
          <p:cNvPr id="7" name="T24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75046"/>
          <a:ext cx="11277600" cy="1602486"/>
        </p:xfrm>
        <a:graphic>
          <a:graphicData uri="http://schemas.openxmlformats.org/drawingml/2006/table">
            <a:tbl>
              <a:tblPr/>
              <a:tblGrid>
                <a:gridCol w="2819400"/>
                <a:gridCol w="2819400"/>
                <a:gridCol w="2819400"/>
                <a:gridCol w="2819400"/>
              </a:tblGrid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阶段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合成任务数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合成失败数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需核查的证据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数据获取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10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原始输入与缺失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工具执行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10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参数、日志与异常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结果解释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10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答案与数据来源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24/table-caption"/>
          <p:cNvSpPr/>
          <p:nvPr/>
        </p:nvSpPr>
        <p:spPr>
          <a:xfrm>
            <a:off x="457200" y="3944207"/>
            <a:ext cx="11277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结构占位 / 合成数据，必须替换后才能用于学术结论</a:t>
            </a:r>
            <a:endParaRPr lang="zh-CN" sz="1350" dirty="0"/>
          </a:p>
        </p:txBody>
      </p:sp>
      <p:sp>
        <p:nvSpPr>
          <p:cNvPr id="9" name="T24/card/region-1/frame"/>
          <p:cNvSpPr/>
          <p:nvPr/>
        </p:nvSpPr>
        <p:spPr>
          <a:xfrm>
            <a:off x="457200" y="4363307"/>
            <a:ext cx="5467350" cy="1760696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0" name="T24/card/region-1/heading-fill"/>
          <p:cNvSpPr/>
          <p:nvPr/>
        </p:nvSpPr>
        <p:spPr>
          <a:xfrm>
            <a:off x="466725" y="4372832"/>
            <a:ext cx="544830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24/card/region-1/heading-rule"/>
          <p:cNvSpPr/>
          <p:nvPr/>
        </p:nvSpPr>
        <p:spPr>
          <a:xfrm>
            <a:off x="457200" y="4744307"/>
            <a:ext cx="54673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2" name="T24/card/region-1/title"/>
          <p:cNvSpPr/>
          <p:nvPr/>
        </p:nvSpPr>
        <p:spPr>
          <a:xfrm>
            <a:off x="581025" y="4410932"/>
            <a:ext cx="52197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评价者与尺度</a:t>
            </a:r>
            <a:endParaRPr lang="zh-CN" sz="1950" dirty="0"/>
          </a:p>
        </p:txBody>
      </p:sp>
      <p:sp>
        <p:nvSpPr>
          <p:cNvPr id="13" name="T24/card/region-1/body"/>
          <p:cNvSpPr/>
          <p:nvPr/>
        </p:nvSpPr>
        <p:spPr>
          <a:xfrm>
            <a:off x="590550" y="4849082"/>
            <a:ext cx="5200650" cy="1179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人工、程序和模型评分分别记录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说明评分规则与是否盲评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任务完成和答案正确应分别评价</a:t>
            </a:r>
            <a:endParaRPr lang="zh-CN" sz="1800" dirty="0"/>
          </a:p>
        </p:txBody>
      </p:sp>
      <p:sp>
        <p:nvSpPr>
          <p:cNvPr id="14" name="T24/card/region-2/frame"/>
          <p:cNvSpPr/>
          <p:nvPr/>
        </p:nvSpPr>
        <p:spPr>
          <a:xfrm>
            <a:off x="6248400" y="4477607"/>
            <a:ext cx="5486400" cy="1646396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5" name="T24/card/region-2/tab"/>
          <p:cNvSpPr/>
          <p:nvPr/>
        </p:nvSpPr>
        <p:spPr>
          <a:xfrm>
            <a:off x="6362700" y="4363307"/>
            <a:ext cx="125730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24/card/region-2/title"/>
          <p:cNvSpPr/>
          <p:nvPr/>
        </p:nvSpPr>
        <p:spPr>
          <a:xfrm>
            <a:off x="6467475" y="4391882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失败环节</a:t>
            </a:r>
            <a:endParaRPr lang="zh-CN" sz="1950" dirty="0"/>
          </a:p>
        </p:txBody>
      </p:sp>
      <p:sp>
        <p:nvSpPr>
          <p:cNvPr id="17" name="T24/card/region-2/body"/>
          <p:cNvSpPr/>
          <p:nvPr/>
        </p:nvSpPr>
        <p:spPr>
          <a:xfrm>
            <a:off x="6381750" y="4849082"/>
            <a:ext cx="5219700" cy="1179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将错误对应到数据、计划、工具或读图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记录可复现的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和失败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避免用总分掩盖集中失效的环节</a:t>
            </a:r>
            <a:endParaRPr lang="zh-CN" sz="1800" dirty="0"/>
          </a:p>
        </p:txBody>
      </p:sp>
      <p:sp>
        <p:nvSpPr>
          <p:cNvPr id="18" name="T24/card/region-3/title"/>
          <p:cNvSpPr/>
          <p:nvPr/>
        </p:nvSpPr>
        <p:spPr>
          <a:xfrm>
            <a:off x="457200" y="1146620"/>
            <a:ext cx="112776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分母与统计单位</a:t>
            </a:r>
            <a:endParaRPr lang="zh-CN" sz="1950" dirty="0"/>
          </a:p>
        </p:txBody>
      </p:sp>
      <p:sp>
        <p:nvSpPr>
          <p:cNvPr id="19" name="T24/card/region-3/body"/>
          <p:cNvSpPr/>
          <p:nvPr/>
        </p:nvSpPr>
        <p:spPr>
          <a:xfrm>
            <a:off x="457200" y="1527620"/>
            <a:ext cx="11277600" cy="51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报告任务数、重复数与实际评价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</a:t>
            </a:r>
            <a:endParaRPr lang="zh-CN" sz="1800" dirty="0"/>
          </a:p>
        </p:txBody>
      </p:sp>
      <p:sp>
        <p:nvSpPr>
          <p:cNvPr id="20" name="T24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结果与统计学术模板</dc:title>
  <dc:subject>原创学术版式、结构化填充指引与合成科学图</dc:subject>
  <dc:creator>DSH Academic PPT</dc:creator>
  <cp:lastModifiedBy>DSH Academic PPT</cp:lastModifiedBy>
  <cp:revision>1</cp:revision>
  <dcterms:created xsi:type="dcterms:W3CDTF">2026-10-20T05:39:56Z</dcterms:created>
  <dcterms:modified xsi:type="dcterms:W3CDTF">2026-10-20T05:39:56Z</dcterms:modified>
</cp:coreProperties>
</file>