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paper-overview。完整书目置顶，左侧主图，右侧依次解释问题、方法与结果边界。
全部文本为填写指引，图表值是合成演示值，不是任何研究结果。使用前替换论文、数据、原图与来源。
内容职责：研究问题；方法改变了什么；结果及适用范围。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paper-gap-hypothesis。区分已有认识、尚存缺口、研究假说及可观测预测。
全部文本为填写指引，图表值是合成演示值，不是任何研究结果。使用前替换论文、数据、原图与来源。
内容职责：已有认识；尚存缺口；可检验假说；预期观测与反证。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paper-evidence-map。左窄右宽两组证据，右组原图与解释链同框，底部保留共同边界。
全部文本为填写指引，图表值是合成演示值，不是任何研究结果。使用前替换论文、数据、原图与来源。
内容职责：论点一的依据；论点二的依据。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paper-study-scope。完整题名后将样本、任务与验证范围连续排布。
全部文本为填写指引，图表值是合成演示值，不是任何研究结果。使用前替换论文、数据、原图与来源。
内容职责：研究对象；分析任务；实验身份；实际验证内容；外推范围。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paper-contribution-comparison。完整书目下以通栏表映射比较维度，两项说明紧贴实际表底，解释新增贡献与公平性。
全部文本为填写指引，图表值是合成演示值，不是任何研究结果。使用前替换论文、数据、原图与来源。
内容职责：关键改变；比较条件。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paper-journal-club。一幅关键图配研究问题与争议，底部展开方法和验证讨论。
全部文本为填写指引，图表值是合成演示值，不是任何研究结果。使用前替换论文、数据、原图与来源。
内容职责：本次讨论问题；方法审查；实验审查。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0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单篇论文全景</a:t>
            </a:r>
            <a:endParaRPr lang="zh-CN" sz="3000" dirty="0"/>
          </a:p>
        </p:txBody>
      </p:sp>
      <p:sp>
        <p:nvSpPr>
          <p:cNvPr id="5" name="T0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1/panel:0:frame"/>
          <p:cNvSpPr/>
          <p:nvPr/>
        </p:nvSpPr>
        <p:spPr>
          <a:xfrm>
            <a:off x="457200" y="2373916"/>
            <a:ext cx="649605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1/panel:0:heading-fill"/>
          <p:cNvSpPr/>
          <p:nvPr/>
        </p:nvSpPr>
        <p:spPr>
          <a:xfrm>
            <a:off x="466725" y="2383441"/>
            <a:ext cx="64770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1/panel:0:heading-rule"/>
          <p:cNvSpPr/>
          <p:nvPr/>
        </p:nvSpPr>
        <p:spPr>
          <a:xfrm>
            <a:off x="457200" y="2764441"/>
            <a:ext cx="6496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1/panel:0:title"/>
          <p:cNvSpPr/>
          <p:nvPr/>
        </p:nvSpPr>
        <p:spPr>
          <a:xfrm>
            <a:off x="581025" y="2421541"/>
            <a:ext cx="624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关键证据图</a:t>
            </a:r>
            <a:endParaRPr lang="zh-CN" sz="1950" dirty="0"/>
          </a:p>
        </p:txBody>
      </p:sp>
      <p:sp>
        <p:nvSpPr>
          <p:cNvPr id="11" name="T01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12" name="T01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13" name="T01/figure:0:paper"/>
          <p:cNvSpPr/>
          <p:nvPr/>
        </p:nvSpPr>
        <p:spPr>
          <a:xfrm>
            <a:off x="1920094" y="2867787"/>
            <a:ext cx="3570263" cy="264575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4" name="T01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8669" y="2896362"/>
            <a:ext cx="3513113" cy="2588609"/>
          </a:xfrm>
          <a:prstGeom prst="rect">
            <a:avLst/>
          </a:prstGeom>
        </p:spPr>
      </p:pic>
      <p:sp>
        <p:nvSpPr>
          <p:cNvPr id="15" name="T01/figure:0:caption"/>
          <p:cNvSpPr/>
          <p:nvPr/>
        </p:nvSpPr>
        <p:spPr>
          <a:xfrm>
            <a:off x="590550" y="5618321"/>
            <a:ext cx="6229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6" name="T01/card/region-1/base-rule"/>
          <p:cNvSpPr/>
          <p:nvPr/>
        </p:nvSpPr>
        <p:spPr>
          <a:xfrm>
            <a:off x="7200900" y="3541109"/>
            <a:ext cx="45339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7" name="T01/card/region-1/side-mark"/>
          <p:cNvSpPr/>
          <p:nvPr/>
        </p:nvSpPr>
        <p:spPr>
          <a:xfrm>
            <a:off x="7200900" y="2392966"/>
            <a:ext cx="47625" cy="295275"/>
          </a:xfrm>
          <a:prstGeom prst="rect">
            <a:avLst/>
          </a:prstGeom>
          <a:solidFill>
            <a:srgbClr val="6C52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01/card/region-1/title"/>
          <p:cNvSpPr/>
          <p:nvPr/>
        </p:nvSpPr>
        <p:spPr>
          <a:xfrm>
            <a:off x="7353300" y="2392966"/>
            <a:ext cx="438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zh-CN" sz="1950" dirty="0"/>
          </a:p>
        </p:txBody>
      </p:sp>
      <p:sp>
        <p:nvSpPr>
          <p:cNvPr id="19" name="T01/card/region-1/body"/>
          <p:cNvSpPr/>
          <p:nvPr/>
        </p:nvSpPr>
        <p:spPr>
          <a:xfrm>
            <a:off x="7353300" y="2812066"/>
            <a:ext cx="4381500" cy="63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明确研究对象与问题边界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给出当前方法尚未解释的关系</a:t>
            </a:r>
            <a:endParaRPr lang="zh-CN" sz="1800" dirty="0"/>
          </a:p>
        </p:txBody>
      </p:sp>
      <p:sp>
        <p:nvSpPr>
          <p:cNvPr id="20" name="T01/card/region-2/title"/>
          <p:cNvSpPr/>
          <p:nvPr/>
        </p:nvSpPr>
        <p:spPr>
          <a:xfrm>
            <a:off x="7200900" y="3678841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方法改变了什么</a:t>
            </a:r>
            <a:endParaRPr lang="zh-CN" sz="1950" dirty="0"/>
          </a:p>
        </p:txBody>
      </p:sp>
      <p:sp>
        <p:nvSpPr>
          <p:cNvPr id="21" name="T01/card/region-2/body"/>
          <p:cNvSpPr/>
          <p:nvPr/>
        </p:nvSpPr>
        <p:spPr>
          <a:xfrm>
            <a:off x="7200900" y="4059841"/>
            <a:ext cx="45339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、处理与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指出新增方法实际介入的环节</a:t>
            </a:r>
            <a:endParaRPr lang="zh-CN" sz="1800" dirty="0"/>
          </a:p>
        </p:txBody>
      </p:sp>
      <p:sp>
        <p:nvSpPr>
          <p:cNvPr id="22" name="T01/card/region-3/heading-rule"/>
          <p:cNvSpPr/>
          <p:nvPr/>
        </p:nvSpPr>
        <p:spPr>
          <a:xfrm>
            <a:off x="7200900" y="5248275"/>
            <a:ext cx="45339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01/card/region-3/heading-mark"/>
          <p:cNvSpPr/>
          <p:nvPr/>
        </p:nvSpPr>
        <p:spPr>
          <a:xfrm>
            <a:off x="7200900" y="5248275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24" name="T01/card/region-3/title"/>
          <p:cNvSpPr/>
          <p:nvPr/>
        </p:nvSpPr>
        <p:spPr>
          <a:xfrm>
            <a:off x="7200900" y="4905375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结果及适用范围</a:t>
            </a:r>
            <a:endParaRPr lang="zh-CN" sz="1950" dirty="0"/>
          </a:p>
        </p:txBody>
      </p:sp>
      <p:sp>
        <p:nvSpPr>
          <p:cNvPr id="25" name="T01/card/region-3/body"/>
          <p:cNvSpPr/>
          <p:nvPr/>
        </p:nvSpPr>
        <p:spPr>
          <a:xfrm>
            <a:off x="7200900" y="5381625"/>
            <a:ext cx="4533900" cy="6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报告效果、分母与比较对象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保留作者实际测试的场景</a:t>
            </a:r>
            <a:endParaRPr lang="zh-CN" sz="1800" dirty="0"/>
          </a:p>
        </p:txBody>
      </p:sp>
      <p:sp>
        <p:nvSpPr>
          <p:cNvPr id="26" name="T0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0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缺口与假说</a:t>
            </a:r>
            <a:endParaRPr lang="zh-CN" sz="3000" dirty="0"/>
          </a:p>
        </p:txBody>
      </p:sp>
      <p:sp>
        <p:nvSpPr>
          <p:cNvPr id="5" name="T0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2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2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9" name="T02/card/region-1/base-rule"/>
          <p:cNvSpPr/>
          <p:nvPr/>
        </p:nvSpPr>
        <p:spPr>
          <a:xfrm>
            <a:off x="457200" y="3996119"/>
            <a:ext cx="54102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0" name="T02/card/region-1/side-mark"/>
          <p:cNvSpPr/>
          <p:nvPr/>
        </p:nvSpPr>
        <p:spPr>
          <a:xfrm>
            <a:off x="457200" y="2452307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02/card/region-1/title"/>
          <p:cNvSpPr/>
          <p:nvPr/>
        </p:nvSpPr>
        <p:spPr>
          <a:xfrm>
            <a:off x="609600" y="2452307"/>
            <a:ext cx="525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已有认识</a:t>
            </a:r>
            <a:endParaRPr lang="zh-CN" sz="1950" dirty="0"/>
          </a:p>
        </p:txBody>
      </p:sp>
      <p:sp>
        <p:nvSpPr>
          <p:cNvPr id="12" name="T02/card/region-1/body"/>
          <p:cNvSpPr/>
          <p:nvPr/>
        </p:nvSpPr>
        <p:spPr>
          <a:xfrm>
            <a:off x="609600" y="2871407"/>
            <a:ext cx="5257800" cy="1029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列出已有研究共同支持的结论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说明该结论依赖的数据条件</a:t>
            </a:r>
            <a:endParaRPr lang="zh-CN" sz="1800" dirty="0"/>
          </a:p>
        </p:txBody>
      </p:sp>
      <p:sp>
        <p:nvSpPr>
          <p:cNvPr id="13" name="T02/card/region-2/frame"/>
          <p:cNvSpPr/>
          <p:nvPr/>
        </p:nvSpPr>
        <p:spPr>
          <a:xfrm>
            <a:off x="6153150" y="2547557"/>
            <a:ext cx="5581650" cy="144856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02/card/region-2/tab"/>
          <p:cNvSpPr/>
          <p:nvPr/>
        </p:nvSpPr>
        <p:spPr>
          <a:xfrm>
            <a:off x="6267450" y="2433257"/>
            <a:ext cx="1257300" cy="34290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02/card/region-2/title"/>
          <p:cNvSpPr/>
          <p:nvPr/>
        </p:nvSpPr>
        <p:spPr>
          <a:xfrm>
            <a:off x="6372225" y="2461832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尚存缺口</a:t>
            </a:r>
            <a:endParaRPr lang="zh-CN" sz="1950" dirty="0"/>
          </a:p>
        </p:txBody>
      </p:sp>
      <p:sp>
        <p:nvSpPr>
          <p:cNvPr id="16" name="T02/card/region-2/body"/>
          <p:cNvSpPr/>
          <p:nvPr/>
        </p:nvSpPr>
        <p:spPr>
          <a:xfrm>
            <a:off x="6286500" y="2919032"/>
            <a:ext cx="5314950" cy="98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指出尚未验证的机制或条件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将缺口定位到具体决策接口</a:t>
            </a:r>
            <a:endParaRPr lang="zh-CN" sz="1800" dirty="0"/>
          </a:p>
        </p:txBody>
      </p:sp>
      <p:sp>
        <p:nvSpPr>
          <p:cNvPr id="17" name="T02/card/region-3/frame"/>
          <p:cNvSpPr/>
          <p:nvPr/>
        </p:nvSpPr>
        <p:spPr>
          <a:xfrm>
            <a:off x="457200" y="4253294"/>
            <a:ext cx="7315200" cy="1780413"/>
          </a:xfrm>
          <a:prstGeom prst="rect">
            <a:avLst/>
          </a:prstGeom>
          <a:solidFill>
            <a:srgbClr val="F2EDF7"/>
          </a:solidFill>
          <a:ln w="12383">
            <a:solidFill>
              <a:srgbClr val="6C528E"/>
            </a:solidFill>
            <a:prstDash val="dash"/>
          </a:ln>
        </p:spPr>
      </p:sp>
      <p:sp>
        <p:nvSpPr>
          <p:cNvPr id="18" name="T02/card/region-3/corner-white"/>
          <p:cNvSpPr/>
          <p:nvPr/>
        </p:nvSpPr>
        <p:spPr>
          <a:xfrm>
            <a:off x="7505700" y="425329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02/card/region-3/fold-diagonal"/>
          <p:cNvSpPr/>
          <p:nvPr/>
        </p:nvSpPr>
        <p:spPr>
          <a:xfrm>
            <a:off x="7505700" y="4253294"/>
            <a:ext cx="26670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0" name="T02/card/region-3/fold-left"/>
          <p:cNvSpPr/>
          <p:nvPr/>
        </p:nvSpPr>
        <p:spPr>
          <a:xfrm>
            <a:off x="7505700" y="4253294"/>
            <a:ext cx="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1" name="T02/card/region-3/fold-bottom"/>
          <p:cNvSpPr/>
          <p:nvPr/>
        </p:nvSpPr>
        <p:spPr>
          <a:xfrm>
            <a:off x="7505700" y="4519994"/>
            <a:ext cx="266700" cy="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2" name="T02/card/region-3/title"/>
          <p:cNvSpPr/>
          <p:nvPr/>
        </p:nvSpPr>
        <p:spPr>
          <a:xfrm>
            <a:off x="647700" y="4415219"/>
            <a:ext cx="6743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可检验假说</a:t>
            </a:r>
            <a:endParaRPr lang="zh-CN" sz="1950" dirty="0"/>
          </a:p>
        </p:txBody>
      </p:sp>
      <p:sp>
        <p:nvSpPr>
          <p:cNvPr id="23" name="T02/card/region-3/body"/>
          <p:cNvSpPr/>
          <p:nvPr/>
        </p:nvSpPr>
        <p:spPr>
          <a:xfrm>
            <a:off x="647700" y="4872419"/>
            <a:ext cx="6934200" cy="970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明确干预变量与预期结果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给出能够区分替代解释的观测</a:t>
            </a:r>
            <a:endParaRPr lang="zh-CN" sz="1800" dirty="0"/>
          </a:p>
        </p:txBody>
      </p:sp>
      <p:sp>
        <p:nvSpPr>
          <p:cNvPr id="24" name="T02/card/region-4/heading-rule"/>
          <p:cNvSpPr/>
          <p:nvPr/>
        </p:nvSpPr>
        <p:spPr>
          <a:xfrm>
            <a:off x="8077200" y="4615244"/>
            <a:ext cx="365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02/card/region-4/heading-mark"/>
          <p:cNvSpPr/>
          <p:nvPr/>
        </p:nvSpPr>
        <p:spPr>
          <a:xfrm>
            <a:off x="8077200" y="4615244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26" name="T02/card/region-4/title"/>
          <p:cNvSpPr/>
          <p:nvPr/>
        </p:nvSpPr>
        <p:spPr>
          <a:xfrm>
            <a:off x="8077200" y="4272344"/>
            <a:ext cx="365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预期观测与反证</a:t>
            </a:r>
            <a:endParaRPr lang="zh-CN" sz="1950" dirty="0"/>
          </a:p>
        </p:txBody>
      </p:sp>
      <p:sp>
        <p:nvSpPr>
          <p:cNvPr id="27" name="T02/card/region-4/body"/>
          <p:cNvSpPr/>
          <p:nvPr/>
        </p:nvSpPr>
        <p:spPr>
          <a:xfrm>
            <a:off x="8077200" y="4748594"/>
            <a:ext cx="3657600" cy="124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预先规定支持或否定的条件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同时说明无效或负效应如何解释</a:t>
            </a:r>
            <a:endParaRPr lang="zh-CN" sz="1800" dirty="0"/>
          </a:p>
        </p:txBody>
      </p:sp>
      <p:sp>
        <p:nvSpPr>
          <p:cNvPr id="28" name="T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0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核心论点与证据对应</a:t>
            </a:r>
            <a:endParaRPr lang="zh-CN" sz="3000" dirty="0"/>
          </a:p>
        </p:txBody>
      </p:sp>
      <p:sp>
        <p:nvSpPr>
          <p:cNvPr id="5" name="T0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3/panel:0:frame"/>
          <p:cNvSpPr/>
          <p:nvPr/>
        </p:nvSpPr>
        <p:spPr>
          <a:xfrm>
            <a:off x="457200" y="1107853"/>
            <a:ext cx="4267200" cy="466867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3/panel:0:heading-fill"/>
          <p:cNvSpPr/>
          <p:nvPr/>
        </p:nvSpPr>
        <p:spPr>
          <a:xfrm>
            <a:off x="466725" y="1117378"/>
            <a:ext cx="424815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3/panel:0:heading-rule"/>
          <p:cNvSpPr/>
          <p:nvPr/>
        </p:nvSpPr>
        <p:spPr>
          <a:xfrm>
            <a:off x="457200" y="1498378"/>
            <a:ext cx="4267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3/panel:0:title"/>
          <p:cNvSpPr/>
          <p:nvPr/>
        </p:nvSpPr>
        <p:spPr>
          <a:xfrm>
            <a:off x="581025" y="1155478"/>
            <a:ext cx="40195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证据一：测量对象</a:t>
            </a:r>
            <a:endParaRPr lang="zh-CN" sz="1950" dirty="0"/>
          </a:p>
        </p:txBody>
      </p:sp>
      <p:sp>
        <p:nvSpPr>
          <p:cNvPr id="11" name="T03/panel:1:frame"/>
          <p:cNvSpPr/>
          <p:nvPr/>
        </p:nvSpPr>
        <p:spPr>
          <a:xfrm>
            <a:off x="5010150" y="1107853"/>
            <a:ext cx="6724650" cy="466867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03/panel:1:heading-fill"/>
          <p:cNvSpPr/>
          <p:nvPr/>
        </p:nvSpPr>
        <p:spPr>
          <a:xfrm>
            <a:off x="5019675" y="1117378"/>
            <a:ext cx="67056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03/panel:1:heading-rule"/>
          <p:cNvSpPr/>
          <p:nvPr/>
        </p:nvSpPr>
        <p:spPr>
          <a:xfrm>
            <a:off x="5010150" y="1498378"/>
            <a:ext cx="67246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03/panel:1:title"/>
          <p:cNvSpPr/>
          <p:nvPr/>
        </p:nvSpPr>
        <p:spPr>
          <a:xfrm>
            <a:off x="5133975" y="1155478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证据二：效应与解释</a:t>
            </a:r>
            <a:endParaRPr lang="zh-CN" sz="1950" dirty="0"/>
          </a:p>
        </p:txBody>
      </p:sp>
      <p:sp>
        <p:nvSpPr>
          <p:cNvPr id="15" name="T03/takeaway"/>
          <p:cNvSpPr/>
          <p:nvPr/>
        </p:nvSpPr>
        <p:spPr>
          <a:xfrm>
            <a:off x="457200" y="5855684"/>
            <a:ext cx="11277600" cy="31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6" name="T03/figure:0:paper"/>
          <p:cNvSpPr/>
          <p:nvPr/>
        </p:nvSpPr>
        <p:spPr>
          <a:xfrm>
            <a:off x="845936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7" name="T03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11" y="1669828"/>
            <a:ext cx="3432579" cy="2529269"/>
          </a:xfrm>
          <a:prstGeom prst="rect">
            <a:avLst/>
          </a:prstGeom>
        </p:spPr>
      </p:pic>
      <p:sp>
        <p:nvSpPr>
          <p:cNvPr id="18" name="T03/figure:0:caption"/>
          <p:cNvSpPr/>
          <p:nvPr/>
        </p:nvSpPr>
        <p:spPr>
          <a:xfrm>
            <a:off x="590550" y="4332446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9" name="T03/figure:1:paper"/>
          <p:cNvSpPr/>
          <p:nvPr/>
        </p:nvSpPr>
        <p:spPr>
          <a:xfrm>
            <a:off x="5351261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20" name="T03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836" y="1669828"/>
            <a:ext cx="3432579" cy="2529269"/>
          </a:xfrm>
          <a:prstGeom prst="rect">
            <a:avLst/>
          </a:prstGeom>
        </p:spPr>
      </p:pic>
      <p:sp>
        <p:nvSpPr>
          <p:cNvPr id="21" name="T03/figure:1:caption"/>
          <p:cNvSpPr/>
          <p:nvPr/>
        </p:nvSpPr>
        <p:spPr>
          <a:xfrm>
            <a:off x="5143500" y="4332446"/>
            <a:ext cx="3905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22" name="T03/edge:0"/>
          <p:cNvSpPr/>
          <p:nvPr/>
        </p:nvSpPr>
        <p:spPr>
          <a:xfrm>
            <a:off x="10448925" y="2314575"/>
            <a:ext cx="0" cy="2571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3" name="T03/edge:1"/>
          <p:cNvSpPr/>
          <p:nvPr/>
        </p:nvSpPr>
        <p:spPr>
          <a:xfrm>
            <a:off x="10448925" y="3184970"/>
            <a:ext cx="0" cy="2571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4" name="T03/node:step-1:frame"/>
          <p:cNvSpPr/>
          <p:nvPr/>
        </p:nvSpPr>
        <p:spPr>
          <a:xfrm>
            <a:off x="9372600" y="1701356"/>
            <a:ext cx="2152650" cy="613219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03/node:step-1:heading-rule"/>
          <p:cNvSpPr/>
          <p:nvPr/>
        </p:nvSpPr>
        <p:spPr>
          <a:xfrm>
            <a:off x="9372600" y="1701356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6" name="T03/node:step-1:label"/>
          <p:cNvSpPr/>
          <p:nvPr/>
        </p:nvSpPr>
        <p:spPr>
          <a:xfrm>
            <a:off x="9486900" y="187461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输入与测量</a:t>
            </a:r>
            <a:endParaRPr lang="zh-CN" sz="1800" dirty="0"/>
          </a:p>
        </p:txBody>
      </p:sp>
      <p:sp>
        <p:nvSpPr>
          <p:cNvPr id="27" name="T03/node:step-2:frame"/>
          <p:cNvSpPr/>
          <p:nvPr/>
        </p:nvSpPr>
        <p:spPr>
          <a:xfrm>
            <a:off x="9372600" y="2571750"/>
            <a:ext cx="2152650" cy="613219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03/node:step-2:heading-rule"/>
          <p:cNvSpPr/>
          <p:nvPr/>
        </p:nvSpPr>
        <p:spPr>
          <a:xfrm>
            <a:off x="9372600" y="2571750"/>
            <a:ext cx="21526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9" name="T03/node:step-2:label"/>
          <p:cNvSpPr/>
          <p:nvPr/>
        </p:nvSpPr>
        <p:spPr>
          <a:xfrm>
            <a:off x="9486900" y="2745010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验证与比较</a:t>
            </a:r>
            <a:endParaRPr lang="zh-CN" sz="1800" dirty="0"/>
          </a:p>
        </p:txBody>
      </p:sp>
      <p:sp>
        <p:nvSpPr>
          <p:cNvPr id="30" name="T03/node:step-3:frame"/>
          <p:cNvSpPr/>
          <p:nvPr/>
        </p:nvSpPr>
        <p:spPr>
          <a:xfrm>
            <a:off x="9372600" y="3442145"/>
            <a:ext cx="2152650" cy="613219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1" name="T03/node:step-3:heading-rule"/>
          <p:cNvSpPr/>
          <p:nvPr/>
        </p:nvSpPr>
        <p:spPr>
          <a:xfrm>
            <a:off x="9372600" y="3442145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2" name="T03/node:step-3:label"/>
          <p:cNvSpPr/>
          <p:nvPr/>
        </p:nvSpPr>
        <p:spPr>
          <a:xfrm>
            <a:off x="9486900" y="3615404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解释与限定</a:t>
            </a:r>
            <a:endParaRPr lang="zh-CN" sz="1800" dirty="0"/>
          </a:p>
        </p:txBody>
      </p:sp>
      <p:sp>
        <p:nvSpPr>
          <p:cNvPr id="33" name="T03/card/region-1/title"/>
          <p:cNvSpPr/>
          <p:nvPr/>
        </p:nvSpPr>
        <p:spPr>
          <a:xfrm>
            <a:off x="590550" y="4747070"/>
            <a:ext cx="4000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论点一的依据</a:t>
            </a:r>
            <a:endParaRPr lang="zh-CN" sz="1950" dirty="0"/>
          </a:p>
        </p:txBody>
      </p:sp>
      <p:sp>
        <p:nvSpPr>
          <p:cNvPr id="34" name="T03/card/region-1/body"/>
          <p:cNvSpPr/>
          <p:nvPr/>
        </p:nvSpPr>
        <p:spPr>
          <a:xfrm>
            <a:off x="590550" y="5128070"/>
            <a:ext cx="40005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对应面板 A 的变量与趋势</a:t>
            </a:r>
            <a:endParaRPr lang="zh-CN" sz="1800" dirty="0"/>
          </a:p>
        </p:txBody>
      </p:sp>
      <p:sp>
        <p:nvSpPr>
          <p:cNvPr id="35" name="T03/card/region-2/title"/>
          <p:cNvSpPr/>
          <p:nvPr/>
        </p:nvSpPr>
        <p:spPr>
          <a:xfrm>
            <a:off x="5143500" y="4747070"/>
            <a:ext cx="6457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论点二的依据</a:t>
            </a:r>
            <a:endParaRPr lang="zh-CN" sz="1950" dirty="0"/>
          </a:p>
        </p:txBody>
      </p:sp>
      <p:sp>
        <p:nvSpPr>
          <p:cNvPr id="36" name="T03/card/region-2/body"/>
          <p:cNvSpPr/>
          <p:nvPr/>
        </p:nvSpPr>
        <p:spPr>
          <a:xfrm>
            <a:off x="5143500" y="5128070"/>
            <a:ext cx="645795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对应面板 B 的效应与区间</a:t>
            </a:r>
            <a:endParaRPr lang="zh-CN" sz="1800" dirty="0"/>
          </a:p>
        </p:txBody>
      </p:sp>
      <p:sp>
        <p:nvSpPr>
          <p:cNvPr id="37" name="T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0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研究对象与验证范围</a:t>
            </a:r>
            <a:endParaRPr lang="zh-CN" sz="3000" dirty="0"/>
          </a:p>
        </p:txBody>
      </p:sp>
      <p:sp>
        <p:nvSpPr>
          <p:cNvPr id="5" name="T0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4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4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9" name="T04/card/region-1/frame"/>
          <p:cNvSpPr/>
          <p:nvPr/>
        </p:nvSpPr>
        <p:spPr>
          <a:xfrm>
            <a:off x="457200" y="2472881"/>
            <a:ext cx="344805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04/card/region-1/heading-fill"/>
          <p:cNvSpPr/>
          <p:nvPr/>
        </p:nvSpPr>
        <p:spPr>
          <a:xfrm>
            <a:off x="466725" y="2482406"/>
            <a:ext cx="34290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04/card/region-1/heading-rule"/>
          <p:cNvSpPr/>
          <p:nvPr/>
        </p:nvSpPr>
        <p:spPr>
          <a:xfrm>
            <a:off x="457200" y="2853881"/>
            <a:ext cx="3448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04/card/region-1/title"/>
          <p:cNvSpPr/>
          <p:nvPr/>
        </p:nvSpPr>
        <p:spPr>
          <a:xfrm>
            <a:off x="581025" y="2520506"/>
            <a:ext cx="3200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</a:t>
            </a:r>
            <a:endParaRPr lang="zh-CN" sz="1950" dirty="0"/>
          </a:p>
        </p:txBody>
      </p:sp>
      <p:sp>
        <p:nvSpPr>
          <p:cNvPr id="13" name="T04/card/region-1/body"/>
          <p:cNvSpPr/>
          <p:nvPr/>
        </p:nvSpPr>
        <p:spPr>
          <a:xfrm>
            <a:off x="590550" y="2958656"/>
            <a:ext cx="318135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填写物种、样本来源和实验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区分个体数与重复观测次数</a:t>
            </a:r>
            <a:endParaRPr lang="zh-CN" sz="1800" dirty="0"/>
          </a:p>
        </p:txBody>
      </p:sp>
      <p:sp>
        <p:nvSpPr>
          <p:cNvPr id="14" name="T04/card/region-2/frame"/>
          <p:cNvSpPr/>
          <p:nvPr/>
        </p:nvSpPr>
        <p:spPr>
          <a:xfrm>
            <a:off x="4191000" y="2472881"/>
            <a:ext cx="344805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04/card/region-2/heading-fill"/>
          <p:cNvSpPr/>
          <p:nvPr/>
        </p:nvSpPr>
        <p:spPr>
          <a:xfrm>
            <a:off x="4200525" y="2482406"/>
            <a:ext cx="34290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04/card/region-2/heading-rule"/>
          <p:cNvSpPr/>
          <p:nvPr/>
        </p:nvSpPr>
        <p:spPr>
          <a:xfrm>
            <a:off x="4191000" y="2853881"/>
            <a:ext cx="3448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T04/card/region-2/title"/>
          <p:cNvSpPr/>
          <p:nvPr/>
        </p:nvSpPr>
        <p:spPr>
          <a:xfrm>
            <a:off x="4314825" y="2520506"/>
            <a:ext cx="3200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分析任务</a:t>
            </a:r>
            <a:endParaRPr lang="zh-CN" sz="1950" dirty="0"/>
          </a:p>
        </p:txBody>
      </p:sp>
      <p:sp>
        <p:nvSpPr>
          <p:cNvPr id="18" name="T04/card/region-2/body"/>
          <p:cNvSpPr/>
          <p:nvPr/>
        </p:nvSpPr>
        <p:spPr>
          <a:xfrm>
            <a:off x="4324350" y="2958656"/>
            <a:ext cx="318135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列出任务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和预期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说明是否承担实际管理决策</a:t>
            </a:r>
            <a:endParaRPr lang="zh-CN" sz="1800" dirty="0"/>
          </a:p>
        </p:txBody>
      </p:sp>
      <p:sp>
        <p:nvSpPr>
          <p:cNvPr id="19" name="T04/card/region-3/frame"/>
          <p:cNvSpPr/>
          <p:nvPr/>
        </p:nvSpPr>
        <p:spPr>
          <a:xfrm>
            <a:off x="7924800" y="2472881"/>
            <a:ext cx="381000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0" name="T04/card/region-3/heading-fill"/>
          <p:cNvSpPr/>
          <p:nvPr/>
        </p:nvSpPr>
        <p:spPr>
          <a:xfrm>
            <a:off x="7934325" y="2482406"/>
            <a:ext cx="3790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04/card/region-3/heading-rule"/>
          <p:cNvSpPr/>
          <p:nvPr/>
        </p:nvSpPr>
        <p:spPr>
          <a:xfrm>
            <a:off x="7924800" y="2853881"/>
            <a:ext cx="3810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2" name="T04/card/region-3/title"/>
          <p:cNvSpPr/>
          <p:nvPr/>
        </p:nvSpPr>
        <p:spPr>
          <a:xfrm>
            <a:off x="8048625" y="2520506"/>
            <a:ext cx="3562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实验身份</a:t>
            </a:r>
            <a:endParaRPr lang="zh-CN" sz="1950" dirty="0"/>
          </a:p>
        </p:txBody>
      </p:sp>
      <p:sp>
        <p:nvSpPr>
          <p:cNvPr id="23" name="T04/card/region-3/body"/>
          <p:cNvSpPr/>
          <p:nvPr/>
        </p:nvSpPr>
        <p:spPr>
          <a:xfrm>
            <a:off x="8058150" y="2958656"/>
            <a:ext cx="354330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标明仿真、实验室或真实田间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报告环境范围与观测周期</a:t>
            </a:r>
            <a:endParaRPr lang="zh-CN" sz="1800" dirty="0"/>
          </a:p>
        </p:txBody>
      </p:sp>
      <p:sp>
        <p:nvSpPr>
          <p:cNvPr id="24" name="T04/card/region-4/heading-rule"/>
          <p:cNvSpPr/>
          <p:nvPr/>
        </p:nvSpPr>
        <p:spPr>
          <a:xfrm>
            <a:off x="457200" y="4694396"/>
            <a:ext cx="71247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04/card/region-4/heading-mark"/>
          <p:cNvSpPr/>
          <p:nvPr/>
        </p:nvSpPr>
        <p:spPr>
          <a:xfrm>
            <a:off x="457200" y="4694396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6" name="T04/card/region-4/title"/>
          <p:cNvSpPr/>
          <p:nvPr/>
        </p:nvSpPr>
        <p:spPr>
          <a:xfrm>
            <a:off x="457200" y="4351496"/>
            <a:ext cx="71247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实际验证内容</a:t>
            </a:r>
            <a:endParaRPr lang="zh-CN" sz="1950" dirty="0"/>
          </a:p>
        </p:txBody>
      </p:sp>
      <p:sp>
        <p:nvSpPr>
          <p:cNvPr id="27" name="T04/card/region-4/body"/>
          <p:cNvSpPr/>
          <p:nvPr/>
        </p:nvSpPr>
        <p:spPr>
          <a:xfrm>
            <a:off x="457200" y="4827746"/>
            <a:ext cx="7124700" cy="116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把作者已测量的能力逐项列出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将系统可执行与结果正确分开</a:t>
            </a:r>
            <a:endParaRPr lang="zh-CN" sz="1800" dirty="0"/>
          </a:p>
        </p:txBody>
      </p:sp>
      <p:sp>
        <p:nvSpPr>
          <p:cNvPr id="28" name="T04/card/region-5/frame"/>
          <p:cNvSpPr/>
          <p:nvPr/>
        </p:nvSpPr>
        <p:spPr>
          <a:xfrm>
            <a:off x="7867650" y="4446746"/>
            <a:ext cx="3867150" cy="15870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9" name="T04/card/region-5/tab"/>
          <p:cNvSpPr/>
          <p:nvPr/>
        </p:nvSpPr>
        <p:spPr>
          <a:xfrm>
            <a:off x="7981950" y="4332446"/>
            <a:ext cx="125730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04/card/region-5/title"/>
          <p:cNvSpPr/>
          <p:nvPr/>
        </p:nvSpPr>
        <p:spPr>
          <a:xfrm>
            <a:off x="8086725" y="436102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外推范围</a:t>
            </a:r>
            <a:endParaRPr lang="zh-CN" sz="1950" dirty="0"/>
          </a:p>
        </p:txBody>
      </p:sp>
      <p:sp>
        <p:nvSpPr>
          <p:cNvPr id="31" name="T04/card/region-5/body"/>
          <p:cNvSpPr/>
          <p:nvPr/>
        </p:nvSpPr>
        <p:spPr>
          <a:xfrm>
            <a:off x="8001000" y="4818221"/>
            <a:ext cx="36004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指出未包含的场景与人群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避免把短期结果扩展为长期收益</a:t>
            </a:r>
            <a:endParaRPr lang="zh-CN" sz="1800" dirty="0"/>
          </a:p>
        </p:txBody>
      </p:sp>
      <p:sp>
        <p:nvSpPr>
          <p:cNvPr id="32" name="T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0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贡献与基线的差异</a:t>
            </a:r>
            <a:endParaRPr lang="zh-CN" sz="3000" dirty="0"/>
          </a:p>
        </p:txBody>
      </p:sp>
      <p:sp>
        <p:nvSpPr>
          <p:cNvPr id="5" name="T0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5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5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graphicFrame>
        <p:nvGraphicFramePr>
          <p:cNvPr id="6" name="T05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94763"/>
          <a:ext cx="11277600" cy="2003108"/>
        </p:xfrm>
        <a:graphic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比较维度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既有方法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本研究方法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输入信息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原有观测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新增信息（填写）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决策接口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原有算子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改变环节（填写）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已发表条件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新增场景（填写）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资源预算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05/table-caption"/>
          <p:cNvSpPr/>
          <p:nvPr/>
        </p:nvSpPr>
        <p:spPr>
          <a:xfrm>
            <a:off x="457200" y="4364546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1" name="T05/card/region-1/base-rule"/>
          <p:cNvSpPr/>
          <p:nvPr/>
        </p:nvSpPr>
        <p:spPr>
          <a:xfrm>
            <a:off x="457200" y="5991892"/>
            <a:ext cx="54673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2" name="T05/card/region-1/side-mark"/>
          <p:cNvSpPr/>
          <p:nvPr/>
        </p:nvSpPr>
        <p:spPr>
          <a:xfrm>
            <a:off x="457200" y="4764596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05/card/region-1/title"/>
          <p:cNvSpPr/>
          <p:nvPr/>
        </p:nvSpPr>
        <p:spPr>
          <a:xfrm>
            <a:off x="609600" y="4764596"/>
            <a:ext cx="5314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关键改变</a:t>
            </a:r>
            <a:endParaRPr lang="zh-CN" sz="1950" dirty="0"/>
          </a:p>
        </p:txBody>
      </p:sp>
      <p:sp>
        <p:nvSpPr>
          <p:cNvPr id="14" name="T05/card/region-1/body"/>
          <p:cNvSpPr/>
          <p:nvPr/>
        </p:nvSpPr>
        <p:spPr>
          <a:xfrm>
            <a:off x="609600" y="5183696"/>
            <a:ext cx="531495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新增信息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与算法结构变化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保持对应基线的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条件一致</a:t>
            </a:r>
            <a:endParaRPr lang="zh-CN" sz="1800" dirty="0"/>
          </a:p>
        </p:txBody>
      </p:sp>
      <p:sp>
        <p:nvSpPr>
          <p:cNvPr id="15" name="T05/card/region-2/heading-rule"/>
          <p:cNvSpPr/>
          <p:nvPr/>
        </p:nvSpPr>
        <p:spPr>
          <a:xfrm>
            <a:off x="6248400" y="5107496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T05/card/region-2/heading-mark"/>
          <p:cNvSpPr/>
          <p:nvPr/>
        </p:nvSpPr>
        <p:spPr>
          <a:xfrm>
            <a:off x="6248400" y="5107496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7" name="T05/card/region-2/title"/>
          <p:cNvSpPr/>
          <p:nvPr/>
        </p:nvSpPr>
        <p:spPr>
          <a:xfrm>
            <a:off x="6248400" y="4764596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比较条件</a:t>
            </a:r>
            <a:endParaRPr lang="zh-CN" sz="1950" dirty="0"/>
          </a:p>
        </p:txBody>
      </p:sp>
      <p:sp>
        <p:nvSpPr>
          <p:cNvPr id="18" name="T05/card/region-2/body"/>
          <p:cNvSpPr/>
          <p:nvPr/>
        </p:nvSpPr>
        <p:spPr>
          <a:xfrm>
            <a:off x="6248400" y="5240846"/>
            <a:ext cx="548640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对齐样本、时间窗和评价方法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说明额外调参或计算预算</a:t>
            </a:r>
            <a:endParaRPr lang="zh-CN" sz="1800" dirty="0"/>
          </a:p>
        </p:txBody>
      </p:sp>
      <p:sp>
        <p:nvSpPr>
          <p:cNvPr id="19" name="T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0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精读讨论提纲</a:t>
            </a:r>
            <a:endParaRPr lang="zh-CN" sz="3000" dirty="0"/>
          </a:p>
        </p:txBody>
      </p:sp>
      <p:sp>
        <p:nvSpPr>
          <p:cNvPr id="5" name="T0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6/panel:0:frame"/>
          <p:cNvSpPr/>
          <p:nvPr/>
        </p:nvSpPr>
        <p:spPr>
          <a:xfrm>
            <a:off x="7715250" y="2527745"/>
            <a:ext cx="4019550" cy="350596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6/panel:0:tab"/>
          <p:cNvSpPr/>
          <p:nvPr/>
        </p:nvSpPr>
        <p:spPr>
          <a:xfrm>
            <a:off x="7829550" y="2413445"/>
            <a:ext cx="13525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6/panel:0:title"/>
          <p:cNvSpPr/>
          <p:nvPr/>
        </p:nvSpPr>
        <p:spPr>
          <a:xfrm>
            <a:off x="7934325" y="2442020"/>
            <a:ext cx="1143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讨论依据</a:t>
            </a:r>
            <a:endParaRPr lang="zh-CN" sz="1950" dirty="0"/>
          </a:p>
        </p:txBody>
      </p:sp>
      <p:sp>
        <p:nvSpPr>
          <p:cNvPr id="10" name="T06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11" name="T06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12" name="T06/figure:0:paper"/>
          <p:cNvSpPr/>
          <p:nvPr/>
        </p:nvSpPr>
        <p:spPr>
          <a:xfrm>
            <a:off x="7953338" y="2887504"/>
            <a:ext cx="3543375" cy="262594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3" name="T06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13" y="2916079"/>
            <a:ext cx="3486225" cy="2568797"/>
          </a:xfrm>
          <a:prstGeom prst="rect">
            <a:avLst/>
          </a:prstGeom>
        </p:spPr>
      </p:pic>
      <p:sp>
        <p:nvSpPr>
          <p:cNvPr id="14" name="T06/figure:0:caption"/>
          <p:cNvSpPr/>
          <p:nvPr/>
        </p:nvSpPr>
        <p:spPr>
          <a:xfrm>
            <a:off x="7848600" y="5618226"/>
            <a:ext cx="3752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5" name="T06/card/region-1/title"/>
          <p:cNvSpPr/>
          <p:nvPr/>
        </p:nvSpPr>
        <p:spPr>
          <a:xfrm>
            <a:off x="457200" y="2432495"/>
            <a:ext cx="69913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本次讨论问题</a:t>
            </a:r>
            <a:endParaRPr lang="zh-CN" sz="1950" dirty="0"/>
          </a:p>
        </p:txBody>
      </p:sp>
      <p:sp>
        <p:nvSpPr>
          <p:cNvPr id="16" name="T06/card/region-1/body"/>
          <p:cNvSpPr/>
          <p:nvPr/>
        </p:nvSpPr>
        <p:spPr>
          <a:xfrm>
            <a:off x="457200" y="2813495"/>
            <a:ext cx="699135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用一个具体科学问题组织精读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方法、实验和局限围绕该问题展开</a:t>
            </a:r>
            <a:endParaRPr lang="zh-CN" sz="1800" dirty="0"/>
          </a:p>
        </p:txBody>
      </p:sp>
      <p:sp>
        <p:nvSpPr>
          <p:cNvPr id="17" name="T06/card/region-2/frame"/>
          <p:cNvSpPr/>
          <p:nvPr/>
        </p:nvSpPr>
        <p:spPr>
          <a:xfrm>
            <a:off x="457200" y="3782187"/>
            <a:ext cx="3371850" cy="2251520"/>
          </a:xfrm>
          <a:prstGeom prst="rect">
            <a:avLst/>
          </a:prstGeom>
          <a:solidFill>
            <a:srgbClr val="FFFFFF"/>
          </a:solidFill>
          <a:ln w="14288">
            <a:solidFill>
              <a:srgbClr val="235E96"/>
            </a:solidFill>
            <a:prstDash val="solid"/>
          </a:ln>
        </p:spPr>
      </p:sp>
      <p:sp>
        <p:nvSpPr>
          <p:cNvPr id="18" name="T06/card/region-2/title-cutout"/>
          <p:cNvSpPr/>
          <p:nvPr/>
        </p:nvSpPr>
        <p:spPr>
          <a:xfrm>
            <a:off x="590550" y="3629787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06/card/region-2/base-rule"/>
          <p:cNvSpPr/>
          <p:nvPr/>
        </p:nvSpPr>
        <p:spPr>
          <a:xfrm>
            <a:off x="647700" y="5881307"/>
            <a:ext cx="333375" cy="0"/>
          </a:xfrm>
          <a:prstGeom prst="line">
            <a:avLst/>
          </a:prstGeom>
          <a:noFill/>
          <a:ln w="28575">
            <a:solidFill>
              <a:srgbClr val="235E96"/>
            </a:solidFill>
            <a:prstDash val="solid"/>
          </a:ln>
        </p:spPr>
      </p:sp>
      <p:sp>
        <p:nvSpPr>
          <p:cNvPr id="20" name="T06/card/region-2/title"/>
          <p:cNvSpPr/>
          <p:nvPr/>
        </p:nvSpPr>
        <p:spPr>
          <a:xfrm>
            <a:off x="647700" y="3639312"/>
            <a:ext cx="2990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方法审查</a:t>
            </a:r>
            <a:endParaRPr lang="zh-CN" sz="1950" dirty="0"/>
          </a:p>
        </p:txBody>
      </p:sp>
      <p:sp>
        <p:nvSpPr>
          <p:cNvPr id="21" name="T06/card/region-2/body"/>
          <p:cNvSpPr/>
          <p:nvPr/>
        </p:nvSpPr>
        <p:spPr>
          <a:xfrm>
            <a:off x="647700" y="4172712"/>
            <a:ext cx="2990850" cy="167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假设和关键算子是否明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机制图与实际实现是否一致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额外模块提供了什么新信息</a:t>
            </a:r>
            <a:endParaRPr lang="zh-CN" sz="1800" dirty="0"/>
          </a:p>
        </p:txBody>
      </p:sp>
      <p:sp>
        <p:nvSpPr>
          <p:cNvPr id="22" name="T06/card/region-3/frame"/>
          <p:cNvSpPr/>
          <p:nvPr/>
        </p:nvSpPr>
        <p:spPr>
          <a:xfrm>
            <a:off x="4057650" y="3734562"/>
            <a:ext cx="3390900" cy="22991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06/card/region-3/tab"/>
          <p:cNvSpPr/>
          <p:nvPr/>
        </p:nvSpPr>
        <p:spPr>
          <a:xfrm>
            <a:off x="4171950" y="3620262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06/card/region-3/title"/>
          <p:cNvSpPr/>
          <p:nvPr/>
        </p:nvSpPr>
        <p:spPr>
          <a:xfrm>
            <a:off x="4276725" y="364883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实验审查</a:t>
            </a:r>
            <a:endParaRPr lang="zh-CN" sz="1950" dirty="0"/>
          </a:p>
        </p:txBody>
      </p:sp>
      <p:sp>
        <p:nvSpPr>
          <p:cNvPr id="25" name="T06/card/region-3/body"/>
          <p:cNvSpPr/>
          <p:nvPr/>
        </p:nvSpPr>
        <p:spPr>
          <a:xfrm>
            <a:off x="4191000" y="4106037"/>
            <a:ext cx="3124200" cy="183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基线、划分与重复是否合适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误差、失败与外推是否充分报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结果支持到哪个层级的结论</a:t>
            </a:r>
            <a:endParaRPr lang="zh-CN" sz="1800" dirty="0"/>
          </a:p>
        </p:txBody>
      </p:sp>
      <p:sp>
        <p:nvSpPr>
          <p:cNvPr id="26" name="T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论文导读学术模板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2026-10-20T05:39:56Z</dcterms:created>
  <dcterms:modified xsi:type="dcterms:W3CDTF">2026-10-20T05:39:56Z</dcterms:modified>
</cp:coreProperties>
</file>