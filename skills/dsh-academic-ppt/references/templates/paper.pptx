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paper-overview。完整书目置顶，左侧主图，右侧依次解释问题、方法与结果边界。
全部文本为填写指引，图表值是合成演示值，不是任何研究结果。使用前替换论文、数据、原图与来源。
内容职责：研究问题；方法改变了什么；结果及适用范围。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paper-gap-hypothesis。区分已有认识、尚存缺口、研究假说及可观测预测。
全部文本为填写指引，图表值是合成演示值，不是任何研究结果。使用前替换论文、数据、原图与来源。
内容职责：已有认识；尚存缺口；可检验假说；预期观测与反证。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paper-evidence-map。左窄右宽两组证据，右组原图与解释链同框，底部保留共同边界。
全部文本为填写指引，图表值是合成演示值，不是任何研究结果。使用前替换论文、数据、原图与来源。
内容职责：论点一的依据；论点二的依据。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paper-study-scope。完整题名后将样本、任务与验证范围连续排布。
全部文本为填写指引，图表值是合成演示值，不是任何研究结果。使用前替换论文、数据、原图与来源。
内容职责：研究对象；分析任务；实验身份；实际验证内容；外推范围。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paper-contribution-comparison。原生表格仅用于严格维度映射，侧栏说明新增贡献与公平性。
全部文本为填写指引，图表值是合成演示值，不是任何研究结果。使用前替换论文、数据、原图与来源。
内容职责：关键改变；比较条件。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paper-journal-club。一幅关键图配研究问题与争议，底部展开方法和验证讨论。
全部文本为填写指引，图表值是合成演示值，不是任何研究结果。使用前替换论文、数据、原图与来源。
内容职责：本次讨论问题；方法审查；实验审查。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1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01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 / 06</a:t>
            </a:r>
            <a:endParaRPr lang="zh-CN" sz="1050" dirty="0"/>
          </a:p>
        </p:txBody>
      </p:sp>
      <p:sp>
        <p:nvSpPr>
          <p:cNvPr id="4" name="T01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01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单篇论文全景</a:t>
            </a:r>
            <a:endParaRPr lang="zh-CN" sz="2550" dirty="0"/>
          </a:p>
        </p:txBody>
      </p:sp>
      <p:sp>
        <p:nvSpPr>
          <p:cNvPr id="6" name="T01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01/panel:0:frame"/>
          <p:cNvSpPr/>
          <p:nvPr/>
        </p:nvSpPr>
        <p:spPr>
          <a:xfrm>
            <a:off x="457200" y="2514600"/>
            <a:ext cx="6496050" cy="35242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01/panel:0:heading-fill"/>
          <p:cNvSpPr/>
          <p:nvPr/>
        </p:nvSpPr>
        <p:spPr>
          <a:xfrm>
            <a:off x="466725" y="2524125"/>
            <a:ext cx="6477000" cy="381000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01/panel:0:heading-rule"/>
          <p:cNvSpPr/>
          <p:nvPr/>
        </p:nvSpPr>
        <p:spPr>
          <a:xfrm>
            <a:off x="457200" y="2905125"/>
            <a:ext cx="64960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0" name="T01/panel:0:title"/>
          <p:cNvSpPr/>
          <p:nvPr/>
        </p:nvSpPr>
        <p:spPr>
          <a:xfrm>
            <a:off x="581025" y="2571750"/>
            <a:ext cx="624840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关键证据图</a:t>
            </a:r>
            <a:endParaRPr lang="zh-CN" sz="1800" dirty="0"/>
          </a:p>
        </p:txBody>
      </p:sp>
      <p:sp>
        <p:nvSpPr>
          <p:cNvPr id="11" name="T01/paper-title"/>
          <p:cNvSpPr/>
          <p:nvPr/>
        </p:nvSpPr>
        <p:spPr>
          <a:xfrm>
            <a:off x="457200" y="1219200"/>
            <a:ext cx="112776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zh-CN" altLang="en-US" sz="1875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Full article title: connecting decision models, experimental evidence and independent </a:t>
            </a:r>
            <a:endParaRPr lang="zh-CN" sz="1875" dirty="0"/>
          </a:p>
          <a:p>
            <a:pPr algn="l" indent="0" marL="0">
              <a:lnSpc>
                <a:spcPts val="2250"/>
              </a:lnSpc>
              <a:buNone/>
            </a:pPr>
            <a:r>
              <a:rPr lang="zh-CN" altLang="en-US" sz="1875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validation in crop cultivation</a:t>
            </a:r>
            <a:endParaRPr lang="zh-CN" sz="1875" dirty="0"/>
          </a:p>
        </p:txBody>
      </p:sp>
      <p:sp>
        <p:nvSpPr>
          <p:cNvPr id="12" name="T01/paper-bibliography"/>
          <p:cNvSpPr/>
          <p:nvPr/>
        </p:nvSpPr>
        <p:spPr>
          <a:xfrm>
            <a:off x="457200" y="1847850"/>
            <a:ext cx="11277600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6"/>
              </a:lnSpc>
              <a:buNone/>
            </a:pPr>
            <a:r>
              <a:rPr lang="zh-CN" altLang="en-US" sz="127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作者姓名（替换） · 期刊与卷页（替换） · 2026 · DOI: 待替换</a:t>
            </a:r>
            <a:endParaRPr lang="zh-CN" sz="1275" dirty="0"/>
          </a:p>
        </p:txBody>
      </p:sp>
      <p:sp>
        <p:nvSpPr>
          <p:cNvPr id="13" name="T01/figure:0:paper"/>
          <p:cNvSpPr/>
          <p:nvPr/>
        </p:nvSpPr>
        <p:spPr>
          <a:xfrm>
            <a:off x="590550" y="2971800"/>
            <a:ext cx="6229350" cy="29146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T01/figure:0:image" descr="T1 · 示例图 · 响应曲线；合成演示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2100" y="2971800"/>
            <a:ext cx="4286250" cy="2571750"/>
          </a:xfrm>
          <a:prstGeom prst="rect">
            <a:avLst/>
          </a:prstGeom>
        </p:spPr>
      </p:pic>
      <p:sp>
        <p:nvSpPr>
          <p:cNvPr id="15" name="T01/figure:0:caption"/>
          <p:cNvSpPr/>
          <p:nvPr/>
        </p:nvSpPr>
        <p:spPr>
          <a:xfrm>
            <a:off x="590550" y="5629275"/>
            <a:ext cx="62293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示例图 · 响应曲线；合成演示值</a:t>
            </a:r>
            <a:endParaRPr lang="zh-CN" sz="1350" dirty="0"/>
          </a:p>
        </p:txBody>
      </p:sp>
      <p:sp>
        <p:nvSpPr>
          <p:cNvPr id="16" name="T01/card/region-1/base-rule"/>
          <p:cNvSpPr/>
          <p:nvPr/>
        </p:nvSpPr>
        <p:spPr>
          <a:xfrm>
            <a:off x="7200900" y="3638550"/>
            <a:ext cx="45339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17" name="T01/card/region-1/side-mark"/>
          <p:cNvSpPr/>
          <p:nvPr/>
        </p:nvSpPr>
        <p:spPr>
          <a:xfrm>
            <a:off x="7200900" y="2533650"/>
            <a:ext cx="47625" cy="295275"/>
          </a:xfrm>
          <a:prstGeom prst="rect">
            <a:avLst/>
          </a:prstGeom>
          <a:solidFill>
            <a:srgbClr val="355D8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01/card/region-1/title"/>
          <p:cNvSpPr/>
          <p:nvPr/>
        </p:nvSpPr>
        <p:spPr>
          <a:xfrm>
            <a:off x="7353300" y="2533650"/>
            <a:ext cx="43815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355D8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研究问题</a:t>
            </a:r>
            <a:endParaRPr lang="zh-CN" sz="1800" dirty="0"/>
          </a:p>
        </p:txBody>
      </p:sp>
      <p:sp>
        <p:nvSpPr>
          <p:cNvPr id="19" name="T01/card/region-1/body"/>
          <p:cNvSpPr/>
          <p:nvPr/>
        </p:nvSpPr>
        <p:spPr>
          <a:xfrm>
            <a:off x="7353300" y="2952750"/>
            <a:ext cx="4381500" cy="590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明确研究对象与问题边界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给出当前方法尚未解释的关系</a:t>
            </a:r>
            <a:endParaRPr lang="zh-CN" sz="1725" dirty="0"/>
          </a:p>
        </p:txBody>
      </p:sp>
      <p:sp>
        <p:nvSpPr>
          <p:cNvPr id="20" name="T01/card/region-2/title"/>
          <p:cNvSpPr/>
          <p:nvPr/>
        </p:nvSpPr>
        <p:spPr>
          <a:xfrm>
            <a:off x="7200900" y="3771900"/>
            <a:ext cx="45339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方法改变了什么</a:t>
            </a:r>
            <a:endParaRPr lang="zh-CN" sz="1875" dirty="0"/>
          </a:p>
        </p:txBody>
      </p:sp>
      <p:sp>
        <p:nvSpPr>
          <p:cNvPr id="21" name="T01/card/region-2/body"/>
          <p:cNvSpPr/>
          <p:nvPr/>
        </p:nvSpPr>
        <p:spPr>
          <a:xfrm>
            <a:off x="7200900" y="4152900"/>
            <a:ext cx="4533900" cy="628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说明输入、处理与输出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指出新增方法实际介入的环节</a:t>
            </a:r>
            <a:endParaRPr lang="zh-CN" sz="1725" dirty="0"/>
          </a:p>
        </p:txBody>
      </p:sp>
      <p:sp>
        <p:nvSpPr>
          <p:cNvPr id="22" name="T01/card/region-3/heading-rule"/>
          <p:cNvSpPr/>
          <p:nvPr/>
        </p:nvSpPr>
        <p:spPr>
          <a:xfrm>
            <a:off x="7200900" y="5295900"/>
            <a:ext cx="45339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23" name="T01/card/region-3/heading-mark"/>
          <p:cNvSpPr/>
          <p:nvPr/>
        </p:nvSpPr>
        <p:spPr>
          <a:xfrm>
            <a:off x="7200900" y="5295900"/>
            <a:ext cx="342900" cy="0"/>
          </a:xfrm>
          <a:prstGeom prst="line">
            <a:avLst/>
          </a:prstGeom>
          <a:noFill/>
          <a:ln w="17145">
            <a:solidFill>
              <a:srgbClr val="173C70"/>
            </a:solidFill>
            <a:prstDash val="solid"/>
          </a:ln>
        </p:spPr>
      </p:sp>
      <p:sp>
        <p:nvSpPr>
          <p:cNvPr id="24" name="T01/card/region-3/title"/>
          <p:cNvSpPr/>
          <p:nvPr/>
        </p:nvSpPr>
        <p:spPr>
          <a:xfrm>
            <a:off x="7200900" y="4953000"/>
            <a:ext cx="45339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结果及适用范围</a:t>
            </a:r>
            <a:endParaRPr lang="zh-CN" sz="1875" dirty="0"/>
          </a:p>
        </p:txBody>
      </p:sp>
      <p:sp>
        <p:nvSpPr>
          <p:cNvPr id="25" name="T01/card/region-3/body"/>
          <p:cNvSpPr/>
          <p:nvPr/>
        </p:nvSpPr>
        <p:spPr>
          <a:xfrm>
            <a:off x="7200900" y="5429250"/>
            <a:ext cx="45339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报告效果、分母与比较对象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保留作者实际测试的场景</a:t>
            </a:r>
            <a:endParaRPr lang="zh-CN" sz="1800" dirty="0"/>
          </a:p>
        </p:txBody>
      </p:sp>
      <p:sp>
        <p:nvSpPr>
          <p:cNvPr id="26" name="T01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2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02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 / 06</a:t>
            </a:r>
            <a:endParaRPr lang="zh-CN" sz="1050" dirty="0"/>
          </a:p>
        </p:txBody>
      </p:sp>
      <p:sp>
        <p:nvSpPr>
          <p:cNvPr id="4" name="T02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02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缺口与假说</a:t>
            </a:r>
            <a:endParaRPr lang="zh-CN" sz="2550" dirty="0"/>
          </a:p>
        </p:txBody>
      </p:sp>
      <p:sp>
        <p:nvSpPr>
          <p:cNvPr id="6" name="T02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02/paper-title"/>
          <p:cNvSpPr/>
          <p:nvPr/>
        </p:nvSpPr>
        <p:spPr>
          <a:xfrm>
            <a:off x="457200" y="1219200"/>
            <a:ext cx="112776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zh-CN" altLang="en-US" sz="1875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Full article title: connecting decision models, experimental evidence and independent </a:t>
            </a:r>
            <a:endParaRPr lang="zh-CN" sz="1875" dirty="0"/>
          </a:p>
          <a:p>
            <a:pPr algn="l" indent="0" marL="0">
              <a:lnSpc>
                <a:spcPts val="2250"/>
              </a:lnSpc>
              <a:buNone/>
            </a:pPr>
            <a:r>
              <a:rPr lang="zh-CN" altLang="en-US" sz="1875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validation in crop cultivation</a:t>
            </a:r>
            <a:endParaRPr lang="zh-CN" sz="1875" dirty="0"/>
          </a:p>
        </p:txBody>
      </p:sp>
      <p:sp>
        <p:nvSpPr>
          <p:cNvPr id="8" name="T02/paper-bibliography"/>
          <p:cNvSpPr/>
          <p:nvPr/>
        </p:nvSpPr>
        <p:spPr>
          <a:xfrm>
            <a:off x="457200" y="1847850"/>
            <a:ext cx="11277600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6"/>
              </a:lnSpc>
              <a:buNone/>
            </a:pPr>
            <a:r>
              <a:rPr lang="zh-CN" altLang="en-US" sz="127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作者姓名（替换） · 期刊与卷页（替换） · 2026 · DOI: 待替换</a:t>
            </a:r>
            <a:endParaRPr lang="zh-CN" sz="1275" dirty="0"/>
          </a:p>
        </p:txBody>
      </p:sp>
      <p:sp>
        <p:nvSpPr>
          <p:cNvPr id="9" name="T02/card/region-1/title"/>
          <p:cNvSpPr/>
          <p:nvPr/>
        </p:nvSpPr>
        <p:spPr>
          <a:xfrm>
            <a:off x="457200" y="2590800"/>
            <a:ext cx="54102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已有认识</a:t>
            </a:r>
            <a:endParaRPr lang="zh-CN" sz="1875" dirty="0"/>
          </a:p>
        </p:txBody>
      </p:sp>
      <p:sp>
        <p:nvSpPr>
          <p:cNvPr id="10" name="T02/card/region-1/body"/>
          <p:cNvSpPr/>
          <p:nvPr/>
        </p:nvSpPr>
        <p:spPr>
          <a:xfrm>
            <a:off x="457200" y="3038475"/>
            <a:ext cx="5410200" cy="1000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列出已有研究共同支持的结论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说明该结论依赖的数据条件</a:t>
            </a:r>
            <a:endParaRPr lang="zh-CN" sz="1800" dirty="0"/>
          </a:p>
        </p:txBody>
      </p:sp>
      <p:sp>
        <p:nvSpPr>
          <p:cNvPr id="11" name="T02/card/region-2/frame"/>
          <p:cNvSpPr/>
          <p:nvPr/>
        </p:nvSpPr>
        <p:spPr>
          <a:xfrm>
            <a:off x="6153150" y="2686050"/>
            <a:ext cx="5581650" cy="13906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2" name="T02/card/region-2/tab"/>
          <p:cNvSpPr/>
          <p:nvPr/>
        </p:nvSpPr>
        <p:spPr>
          <a:xfrm>
            <a:off x="6267450" y="2571750"/>
            <a:ext cx="1181100" cy="32004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02/card/region-2/title"/>
          <p:cNvSpPr/>
          <p:nvPr/>
        </p:nvSpPr>
        <p:spPr>
          <a:xfrm>
            <a:off x="6372225" y="2600325"/>
            <a:ext cx="9715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尚存缺口</a:t>
            </a:r>
            <a:endParaRPr lang="zh-CN" sz="1800" dirty="0"/>
          </a:p>
        </p:txBody>
      </p:sp>
      <p:sp>
        <p:nvSpPr>
          <p:cNvPr id="14" name="T02/card/region-2/body"/>
          <p:cNvSpPr/>
          <p:nvPr/>
        </p:nvSpPr>
        <p:spPr>
          <a:xfrm>
            <a:off x="6286500" y="3034665"/>
            <a:ext cx="5314950" cy="9467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指出尚未验证的机制或条件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将缺口定位到具体决策接口</a:t>
            </a:r>
            <a:endParaRPr lang="zh-CN" sz="1725" dirty="0"/>
          </a:p>
        </p:txBody>
      </p:sp>
      <p:sp>
        <p:nvSpPr>
          <p:cNvPr id="15" name="T02/card/region-3/frame"/>
          <p:cNvSpPr/>
          <p:nvPr/>
        </p:nvSpPr>
        <p:spPr>
          <a:xfrm>
            <a:off x="457200" y="4324350"/>
            <a:ext cx="7315200" cy="17145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6" name="T02/card/region-3/heading-fill"/>
          <p:cNvSpPr/>
          <p:nvPr/>
        </p:nvSpPr>
        <p:spPr>
          <a:xfrm>
            <a:off x="466725" y="4333875"/>
            <a:ext cx="729615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02/card/region-3/heading-rule"/>
          <p:cNvSpPr/>
          <p:nvPr/>
        </p:nvSpPr>
        <p:spPr>
          <a:xfrm>
            <a:off x="457200" y="4705350"/>
            <a:ext cx="73152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8" name="T02/card/region-3/title"/>
          <p:cNvSpPr/>
          <p:nvPr/>
        </p:nvSpPr>
        <p:spPr>
          <a:xfrm>
            <a:off x="581025" y="4381500"/>
            <a:ext cx="70675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355D8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可检验假说</a:t>
            </a:r>
            <a:endParaRPr lang="zh-CN" sz="1800" dirty="0"/>
          </a:p>
        </p:txBody>
      </p:sp>
      <p:sp>
        <p:nvSpPr>
          <p:cNvPr id="19" name="T02/card/region-3/body"/>
          <p:cNvSpPr/>
          <p:nvPr/>
        </p:nvSpPr>
        <p:spPr>
          <a:xfrm>
            <a:off x="590550" y="4819650"/>
            <a:ext cx="7048500" cy="1123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明确干预变量与预期结果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给出能够区分替代解释的观测</a:t>
            </a:r>
            <a:endParaRPr lang="zh-CN" sz="1725" dirty="0"/>
          </a:p>
        </p:txBody>
      </p:sp>
      <p:sp>
        <p:nvSpPr>
          <p:cNvPr id="20" name="T02/card/region-4/heading-rule"/>
          <p:cNvSpPr/>
          <p:nvPr/>
        </p:nvSpPr>
        <p:spPr>
          <a:xfrm>
            <a:off x="8077200" y="4686300"/>
            <a:ext cx="36576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21" name="T02/card/region-4/heading-mark"/>
          <p:cNvSpPr/>
          <p:nvPr/>
        </p:nvSpPr>
        <p:spPr>
          <a:xfrm>
            <a:off x="8077200" y="4686300"/>
            <a:ext cx="342900" cy="0"/>
          </a:xfrm>
          <a:prstGeom prst="line">
            <a:avLst/>
          </a:prstGeom>
          <a:noFill/>
          <a:ln w="17145">
            <a:solidFill>
              <a:srgbClr val="903543"/>
            </a:solidFill>
            <a:prstDash val="solid"/>
          </a:ln>
        </p:spPr>
      </p:sp>
      <p:sp>
        <p:nvSpPr>
          <p:cNvPr id="22" name="T02/card/region-4/title"/>
          <p:cNvSpPr/>
          <p:nvPr/>
        </p:nvSpPr>
        <p:spPr>
          <a:xfrm>
            <a:off x="8077200" y="4343400"/>
            <a:ext cx="36576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9035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预期观测与反证</a:t>
            </a:r>
            <a:endParaRPr lang="zh-CN" sz="1875" dirty="0"/>
          </a:p>
        </p:txBody>
      </p:sp>
      <p:sp>
        <p:nvSpPr>
          <p:cNvPr id="23" name="T02/card/region-4/body"/>
          <p:cNvSpPr/>
          <p:nvPr/>
        </p:nvSpPr>
        <p:spPr>
          <a:xfrm>
            <a:off x="8077200" y="4819650"/>
            <a:ext cx="3657600" cy="1181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预先规定支持或否定的条件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同时说明无效或负效应如何解释</a:t>
            </a:r>
            <a:endParaRPr lang="zh-CN" sz="1800" dirty="0"/>
          </a:p>
        </p:txBody>
      </p:sp>
      <p:sp>
        <p:nvSpPr>
          <p:cNvPr id="24" name="T02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3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03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 / 06</a:t>
            </a:r>
            <a:endParaRPr lang="zh-CN" sz="1050" dirty="0"/>
          </a:p>
        </p:txBody>
      </p:sp>
      <p:sp>
        <p:nvSpPr>
          <p:cNvPr id="4" name="T03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03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核心论点与证据对应</a:t>
            </a:r>
            <a:endParaRPr lang="zh-CN" sz="2550" dirty="0"/>
          </a:p>
        </p:txBody>
      </p:sp>
      <p:sp>
        <p:nvSpPr>
          <p:cNvPr id="6" name="T03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03/panel:0:frame"/>
          <p:cNvSpPr/>
          <p:nvPr/>
        </p:nvSpPr>
        <p:spPr>
          <a:xfrm>
            <a:off x="457200" y="1295400"/>
            <a:ext cx="4267200" cy="42100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03/panel:0:heading-fill"/>
          <p:cNvSpPr/>
          <p:nvPr/>
        </p:nvSpPr>
        <p:spPr>
          <a:xfrm>
            <a:off x="466725" y="1304925"/>
            <a:ext cx="4248150" cy="381000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03/panel:0:heading-rule"/>
          <p:cNvSpPr/>
          <p:nvPr/>
        </p:nvSpPr>
        <p:spPr>
          <a:xfrm>
            <a:off x="457200" y="1685925"/>
            <a:ext cx="42672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0" name="T03/panel:0:title"/>
          <p:cNvSpPr/>
          <p:nvPr/>
        </p:nvSpPr>
        <p:spPr>
          <a:xfrm>
            <a:off x="581025" y="1352550"/>
            <a:ext cx="401955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证据一：测量对象</a:t>
            </a:r>
            <a:endParaRPr lang="zh-CN" sz="1800" dirty="0"/>
          </a:p>
        </p:txBody>
      </p:sp>
      <p:sp>
        <p:nvSpPr>
          <p:cNvPr id="11" name="T03/panel:1:frame"/>
          <p:cNvSpPr/>
          <p:nvPr/>
        </p:nvSpPr>
        <p:spPr>
          <a:xfrm>
            <a:off x="5010150" y="1295400"/>
            <a:ext cx="6724650" cy="42100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2" name="T03/panel:1:heading-fill"/>
          <p:cNvSpPr/>
          <p:nvPr/>
        </p:nvSpPr>
        <p:spPr>
          <a:xfrm>
            <a:off x="5019675" y="1304925"/>
            <a:ext cx="6705600" cy="381000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03/panel:1:heading-rule"/>
          <p:cNvSpPr/>
          <p:nvPr/>
        </p:nvSpPr>
        <p:spPr>
          <a:xfrm>
            <a:off x="5010150" y="1685925"/>
            <a:ext cx="67246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4" name="T03/panel:1:title"/>
          <p:cNvSpPr/>
          <p:nvPr/>
        </p:nvSpPr>
        <p:spPr>
          <a:xfrm>
            <a:off x="5133975" y="1352550"/>
            <a:ext cx="647700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证据二：效应与解释</a:t>
            </a:r>
            <a:endParaRPr lang="zh-CN" sz="1800" dirty="0"/>
          </a:p>
        </p:txBody>
      </p:sp>
      <p:sp>
        <p:nvSpPr>
          <p:cNvPr id="15" name="T03/takeaway"/>
          <p:cNvSpPr/>
          <p:nvPr/>
        </p:nvSpPr>
        <p:spPr>
          <a:xfrm>
            <a:off x="457200" y="5676900"/>
            <a:ext cx="1127760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解释必须由本页证据支持，并保留样本、对照与适用条件。</a:t>
            </a:r>
            <a:endParaRPr lang="zh-CN" sz="1800" dirty="0"/>
          </a:p>
        </p:txBody>
      </p:sp>
      <p:sp>
        <p:nvSpPr>
          <p:cNvPr id="16" name="T03/figure:0:paper"/>
          <p:cNvSpPr/>
          <p:nvPr/>
        </p:nvSpPr>
        <p:spPr>
          <a:xfrm>
            <a:off x="590550" y="1790700"/>
            <a:ext cx="4000500" cy="2457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T03/figure:0:image" descr="T1 · 示例图 · 响应曲线；合成演示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675" y="1790700"/>
            <a:ext cx="3524250" cy="2114550"/>
          </a:xfrm>
          <a:prstGeom prst="rect">
            <a:avLst/>
          </a:prstGeom>
        </p:spPr>
      </p:pic>
      <p:sp>
        <p:nvSpPr>
          <p:cNvPr id="18" name="T03/figure:0:caption"/>
          <p:cNvSpPr/>
          <p:nvPr/>
        </p:nvSpPr>
        <p:spPr>
          <a:xfrm>
            <a:off x="590550" y="3990975"/>
            <a:ext cx="40005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示例图 · 响应曲线；合成演示值</a:t>
            </a:r>
            <a:endParaRPr lang="zh-CN" sz="1350" dirty="0"/>
          </a:p>
        </p:txBody>
      </p:sp>
      <p:sp>
        <p:nvSpPr>
          <p:cNvPr id="19" name="T03/figure:1:paper"/>
          <p:cNvSpPr/>
          <p:nvPr/>
        </p:nvSpPr>
        <p:spPr>
          <a:xfrm>
            <a:off x="5143500" y="1790700"/>
            <a:ext cx="3905250" cy="2457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T03/figure:1:image" descr="T1 · 示例图 · 效应与区间；合成演示值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1790700"/>
            <a:ext cx="3524250" cy="2114550"/>
          </a:xfrm>
          <a:prstGeom prst="rect">
            <a:avLst/>
          </a:prstGeom>
        </p:spPr>
      </p:pic>
      <p:sp>
        <p:nvSpPr>
          <p:cNvPr id="21" name="T03/figure:1:caption"/>
          <p:cNvSpPr/>
          <p:nvPr/>
        </p:nvSpPr>
        <p:spPr>
          <a:xfrm>
            <a:off x="5143500" y="3990975"/>
            <a:ext cx="39052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示例图 · 效应与区间；合成演示值</a:t>
            </a:r>
            <a:endParaRPr lang="zh-CN" sz="1350" dirty="0"/>
          </a:p>
        </p:txBody>
      </p:sp>
      <p:sp>
        <p:nvSpPr>
          <p:cNvPr id="22" name="T03/edge:0"/>
          <p:cNvSpPr/>
          <p:nvPr/>
        </p:nvSpPr>
        <p:spPr>
          <a:xfrm>
            <a:off x="10448925" y="2457450"/>
            <a:ext cx="0" cy="24765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23" name="T03/edge:1"/>
          <p:cNvSpPr/>
          <p:nvPr/>
        </p:nvSpPr>
        <p:spPr>
          <a:xfrm>
            <a:off x="10448925" y="3295650"/>
            <a:ext cx="0" cy="24765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24" name="T03/node:step-1:frame"/>
          <p:cNvSpPr/>
          <p:nvPr/>
        </p:nvSpPr>
        <p:spPr>
          <a:xfrm>
            <a:off x="9372600" y="1866900"/>
            <a:ext cx="2152650" cy="5905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5" name="T03/node:step-1:heading-rule"/>
          <p:cNvSpPr/>
          <p:nvPr/>
        </p:nvSpPr>
        <p:spPr>
          <a:xfrm>
            <a:off x="9372600" y="1866900"/>
            <a:ext cx="21526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6" name="T03/node:step-1:label"/>
          <p:cNvSpPr/>
          <p:nvPr/>
        </p:nvSpPr>
        <p:spPr>
          <a:xfrm>
            <a:off x="9486900" y="2028825"/>
            <a:ext cx="19240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输入与测量</a:t>
            </a:r>
            <a:endParaRPr lang="zh-CN" sz="1800" dirty="0"/>
          </a:p>
        </p:txBody>
      </p:sp>
      <p:sp>
        <p:nvSpPr>
          <p:cNvPr id="27" name="T03/node:step-2:frame"/>
          <p:cNvSpPr/>
          <p:nvPr/>
        </p:nvSpPr>
        <p:spPr>
          <a:xfrm>
            <a:off x="9372600" y="2705100"/>
            <a:ext cx="2152650" cy="5905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8" name="T03/node:step-2:heading-rule"/>
          <p:cNvSpPr/>
          <p:nvPr/>
        </p:nvSpPr>
        <p:spPr>
          <a:xfrm>
            <a:off x="9372600" y="2705100"/>
            <a:ext cx="21526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29" name="T03/node:step-2:label"/>
          <p:cNvSpPr/>
          <p:nvPr/>
        </p:nvSpPr>
        <p:spPr>
          <a:xfrm>
            <a:off x="9486900" y="2867025"/>
            <a:ext cx="19240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验证与比较</a:t>
            </a:r>
            <a:endParaRPr lang="zh-CN" sz="1800" dirty="0"/>
          </a:p>
        </p:txBody>
      </p:sp>
      <p:sp>
        <p:nvSpPr>
          <p:cNvPr id="30" name="T03/node:step-3:frame"/>
          <p:cNvSpPr/>
          <p:nvPr/>
        </p:nvSpPr>
        <p:spPr>
          <a:xfrm>
            <a:off x="9372600" y="3543300"/>
            <a:ext cx="2152650" cy="590550"/>
          </a:xfrm>
          <a:prstGeom prst="rect">
            <a:avLst/>
          </a:prstGeom>
          <a:solidFill>
            <a:srgbClr val="FFFFFF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31" name="T03/node:step-3:heading-rule"/>
          <p:cNvSpPr/>
          <p:nvPr/>
        </p:nvSpPr>
        <p:spPr>
          <a:xfrm>
            <a:off x="9372600" y="3543300"/>
            <a:ext cx="2152650" cy="0"/>
          </a:xfrm>
          <a:prstGeom prst="line">
            <a:avLst/>
          </a:prstGeom>
          <a:noFill/>
          <a:ln w="19050">
            <a:solidFill>
              <a:srgbClr val="173C70"/>
            </a:solidFill>
            <a:prstDash val="solid"/>
          </a:ln>
        </p:spPr>
      </p:sp>
      <p:sp>
        <p:nvSpPr>
          <p:cNvPr id="32" name="T03/node:step-3:label"/>
          <p:cNvSpPr/>
          <p:nvPr/>
        </p:nvSpPr>
        <p:spPr>
          <a:xfrm>
            <a:off x="9486900" y="3705225"/>
            <a:ext cx="19240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解释与限定</a:t>
            </a:r>
            <a:endParaRPr lang="zh-CN" sz="1800" dirty="0"/>
          </a:p>
        </p:txBody>
      </p:sp>
      <p:sp>
        <p:nvSpPr>
          <p:cNvPr id="33" name="T03/card/region-1/title"/>
          <p:cNvSpPr/>
          <p:nvPr/>
        </p:nvSpPr>
        <p:spPr>
          <a:xfrm>
            <a:off x="590550" y="4533900"/>
            <a:ext cx="40005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论点一的依据</a:t>
            </a:r>
            <a:endParaRPr lang="zh-CN" sz="1875" dirty="0"/>
          </a:p>
        </p:txBody>
      </p:sp>
      <p:sp>
        <p:nvSpPr>
          <p:cNvPr id="34" name="T03/card/region-1/body"/>
          <p:cNvSpPr/>
          <p:nvPr/>
        </p:nvSpPr>
        <p:spPr>
          <a:xfrm>
            <a:off x="590550" y="4914900"/>
            <a:ext cx="400050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对应面板 A 的变量与趋势</a:t>
            </a:r>
            <a:endParaRPr lang="zh-CN" sz="1725" dirty="0"/>
          </a:p>
        </p:txBody>
      </p:sp>
      <p:sp>
        <p:nvSpPr>
          <p:cNvPr id="35" name="T03/card/region-2/title"/>
          <p:cNvSpPr/>
          <p:nvPr/>
        </p:nvSpPr>
        <p:spPr>
          <a:xfrm>
            <a:off x="5143500" y="4533900"/>
            <a:ext cx="64579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论点二的依据</a:t>
            </a:r>
            <a:endParaRPr lang="zh-CN" sz="1875" dirty="0"/>
          </a:p>
        </p:txBody>
      </p:sp>
      <p:sp>
        <p:nvSpPr>
          <p:cNvPr id="36" name="T03/card/region-2/body"/>
          <p:cNvSpPr/>
          <p:nvPr/>
        </p:nvSpPr>
        <p:spPr>
          <a:xfrm>
            <a:off x="5143500" y="4914900"/>
            <a:ext cx="64579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对应面板 B 的效应与区间</a:t>
            </a:r>
            <a:endParaRPr lang="zh-CN" sz="1725" dirty="0"/>
          </a:p>
        </p:txBody>
      </p:sp>
      <p:sp>
        <p:nvSpPr>
          <p:cNvPr id="37" name="T03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4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04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 / 06</a:t>
            </a:r>
            <a:endParaRPr lang="zh-CN" sz="1050" dirty="0"/>
          </a:p>
        </p:txBody>
      </p:sp>
      <p:sp>
        <p:nvSpPr>
          <p:cNvPr id="4" name="T04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04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研究对象与验证范围</a:t>
            </a:r>
            <a:endParaRPr lang="zh-CN" sz="2550" dirty="0"/>
          </a:p>
        </p:txBody>
      </p:sp>
      <p:sp>
        <p:nvSpPr>
          <p:cNvPr id="6" name="T04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04/paper-title"/>
          <p:cNvSpPr/>
          <p:nvPr/>
        </p:nvSpPr>
        <p:spPr>
          <a:xfrm>
            <a:off x="457200" y="1219200"/>
            <a:ext cx="112776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zh-CN" altLang="en-US" sz="1875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Full article title: connecting decision models, experimental evidence and independent </a:t>
            </a:r>
            <a:endParaRPr lang="zh-CN" sz="1875" dirty="0"/>
          </a:p>
          <a:p>
            <a:pPr algn="l" indent="0" marL="0">
              <a:lnSpc>
                <a:spcPts val="2250"/>
              </a:lnSpc>
              <a:buNone/>
            </a:pPr>
            <a:r>
              <a:rPr lang="zh-CN" altLang="en-US" sz="1875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validation in crop cultivation</a:t>
            </a:r>
            <a:endParaRPr lang="zh-CN" sz="1875" dirty="0"/>
          </a:p>
        </p:txBody>
      </p:sp>
      <p:sp>
        <p:nvSpPr>
          <p:cNvPr id="8" name="T04/paper-bibliography"/>
          <p:cNvSpPr/>
          <p:nvPr/>
        </p:nvSpPr>
        <p:spPr>
          <a:xfrm>
            <a:off x="457200" y="1847850"/>
            <a:ext cx="11277600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6"/>
              </a:lnSpc>
              <a:buNone/>
            </a:pPr>
            <a:r>
              <a:rPr lang="zh-CN" altLang="en-US" sz="127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作者姓名（替换） · 期刊与卷页（替换） · 2026 · DOI: 待替换</a:t>
            </a:r>
            <a:endParaRPr lang="zh-CN" sz="1275" dirty="0"/>
          </a:p>
        </p:txBody>
      </p:sp>
      <p:sp>
        <p:nvSpPr>
          <p:cNvPr id="9" name="T04/card/region-1/frame"/>
          <p:cNvSpPr/>
          <p:nvPr/>
        </p:nvSpPr>
        <p:spPr>
          <a:xfrm>
            <a:off x="457200" y="2609850"/>
            <a:ext cx="3448050" cy="15621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0" name="T04/card/region-1/heading-fill"/>
          <p:cNvSpPr/>
          <p:nvPr/>
        </p:nvSpPr>
        <p:spPr>
          <a:xfrm>
            <a:off x="466725" y="2619375"/>
            <a:ext cx="342900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04/card/region-1/heading-rule"/>
          <p:cNvSpPr/>
          <p:nvPr/>
        </p:nvSpPr>
        <p:spPr>
          <a:xfrm>
            <a:off x="457200" y="2990850"/>
            <a:ext cx="34480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2" name="T04/card/region-1/title"/>
          <p:cNvSpPr/>
          <p:nvPr/>
        </p:nvSpPr>
        <p:spPr>
          <a:xfrm>
            <a:off x="581025" y="2667000"/>
            <a:ext cx="320040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研究对象</a:t>
            </a:r>
            <a:endParaRPr lang="zh-CN" sz="1800" dirty="0"/>
          </a:p>
        </p:txBody>
      </p:sp>
      <p:sp>
        <p:nvSpPr>
          <p:cNvPr id="13" name="T04/card/region-1/body"/>
          <p:cNvSpPr/>
          <p:nvPr/>
        </p:nvSpPr>
        <p:spPr>
          <a:xfrm>
            <a:off x="590550" y="3105150"/>
            <a:ext cx="3181350" cy="971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填写物种、样本来源和实验单位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区分个体数与重复观测次数</a:t>
            </a:r>
            <a:endParaRPr lang="zh-CN" sz="1725" dirty="0"/>
          </a:p>
        </p:txBody>
      </p:sp>
      <p:sp>
        <p:nvSpPr>
          <p:cNvPr id="14" name="T04/card/region-2/frame"/>
          <p:cNvSpPr/>
          <p:nvPr/>
        </p:nvSpPr>
        <p:spPr>
          <a:xfrm>
            <a:off x="4191000" y="2609850"/>
            <a:ext cx="3448050" cy="15621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5" name="T04/card/region-2/heading-fill"/>
          <p:cNvSpPr/>
          <p:nvPr/>
        </p:nvSpPr>
        <p:spPr>
          <a:xfrm>
            <a:off x="4200525" y="2619375"/>
            <a:ext cx="342900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04/card/region-2/heading-rule"/>
          <p:cNvSpPr/>
          <p:nvPr/>
        </p:nvSpPr>
        <p:spPr>
          <a:xfrm>
            <a:off x="4191000" y="2990850"/>
            <a:ext cx="34480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7" name="T04/card/region-2/title"/>
          <p:cNvSpPr/>
          <p:nvPr/>
        </p:nvSpPr>
        <p:spPr>
          <a:xfrm>
            <a:off x="4314825" y="2667000"/>
            <a:ext cx="320040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分析任务</a:t>
            </a:r>
            <a:endParaRPr lang="zh-CN" sz="1800" dirty="0"/>
          </a:p>
        </p:txBody>
      </p:sp>
      <p:sp>
        <p:nvSpPr>
          <p:cNvPr id="18" name="T04/card/region-2/body"/>
          <p:cNvSpPr/>
          <p:nvPr/>
        </p:nvSpPr>
        <p:spPr>
          <a:xfrm>
            <a:off x="4324350" y="3105150"/>
            <a:ext cx="3181350" cy="971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列出任务输入和预期输出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说明是否承担实际管理决策</a:t>
            </a:r>
            <a:endParaRPr lang="zh-CN" sz="1725" dirty="0"/>
          </a:p>
        </p:txBody>
      </p:sp>
      <p:sp>
        <p:nvSpPr>
          <p:cNvPr id="19" name="T04/card/region-3/frame"/>
          <p:cNvSpPr/>
          <p:nvPr/>
        </p:nvSpPr>
        <p:spPr>
          <a:xfrm>
            <a:off x="7924800" y="2609850"/>
            <a:ext cx="3810000" cy="15621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20" name="T04/card/region-3/heading-fill"/>
          <p:cNvSpPr/>
          <p:nvPr/>
        </p:nvSpPr>
        <p:spPr>
          <a:xfrm>
            <a:off x="7934325" y="2619375"/>
            <a:ext cx="379095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04/card/region-3/heading-rule"/>
          <p:cNvSpPr/>
          <p:nvPr/>
        </p:nvSpPr>
        <p:spPr>
          <a:xfrm>
            <a:off x="7924800" y="2990850"/>
            <a:ext cx="38100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22" name="T04/card/region-3/title"/>
          <p:cNvSpPr/>
          <p:nvPr/>
        </p:nvSpPr>
        <p:spPr>
          <a:xfrm>
            <a:off x="8048625" y="2667000"/>
            <a:ext cx="35623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实验身份</a:t>
            </a:r>
            <a:endParaRPr lang="zh-CN" sz="1800" dirty="0"/>
          </a:p>
        </p:txBody>
      </p:sp>
      <p:sp>
        <p:nvSpPr>
          <p:cNvPr id="23" name="T04/card/region-3/body"/>
          <p:cNvSpPr/>
          <p:nvPr/>
        </p:nvSpPr>
        <p:spPr>
          <a:xfrm>
            <a:off x="8058150" y="3105150"/>
            <a:ext cx="3543300" cy="971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标明仿真、实验室或真实田间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报告环境范围与观测周期</a:t>
            </a:r>
            <a:endParaRPr lang="zh-CN" sz="1725" dirty="0"/>
          </a:p>
        </p:txBody>
      </p:sp>
      <p:sp>
        <p:nvSpPr>
          <p:cNvPr id="24" name="T04/card/region-4/heading-rule"/>
          <p:cNvSpPr/>
          <p:nvPr/>
        </p:nvSpPr>
        <p:spPr>
          <a:xfrm>
            <a:off x="457200" y="4762500"/>
            <a:ext cx="71247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25" name="T04/card/region-4/heading-mark"/>
          <p:cNvSpPr/>
          <p:nvPr/>
        </p:nvSpPr>
        <p:spPr>
          <a:xfrm>
            <a:off x="457200" y="4762500"/>
            <a:ext cx="342900" cy="0"/>
          </a:xfrm>
          <a:prstGeom prst="line">
            <a:avLst/>
          </a:prstGeom>
          <a:noFill/>
          <a:ln w="17145">
            <a:solidFill>
              <a:srgbClr val="173C70"/>
            </a:solidFill>
            <a:prstDash val="solid"/>
          </a:ln>
        </p:spPr>
      </p:sp>
      <p:sp>
        <p:nvSpPr>
          <p:cNvPr id="26" name="T04/card/region-4/title"/>
          <p:cNvSpPr/>
          <p:nvPr/>
        </p:nvSpPr>
        <p:spPr>
          <a:xfrm>
            <a:off x="457200" y="4419600"/>
            <a:ext cx="71247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实际验证内容</a:t>
            </a:r>
            <a:endParaRPr lang="zh-CN" sz="1875" dirty="0"/>
          </a:p>
        </p:txBody>
      </p:sp>
      <p:sp>
        <p:nvSpPr>
          <p:cNvPr id="27" name="T04/card/region-4/body"/>
          <p:cNvSpPr/>
          <p:nvPr/>
        </p:nvSpPr>
        <p:spPr>
          <a:xfrm>
            <a:off x="457200" y="4895850"/>
            <a:ext cx="7124700" cy="1104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把作者已测量的能力逐项列出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将系统可执行与结果正确分开</a:t>
            </a:r>
            <a:endParaRPr lang="zh-CN" sz="1800" dirty="0"/>
          </a:p>
        </p:txBody>
      </p:sp>
      <p:sp>
        <p:nvSpPr>
          <p:cNvPr id="28" name="T04/card/region-5/frame"/>
          <p:cNvSpPr/>
          <p:nvPr/>
        </p:nvSpPr>
        <p:spPr>
          <a:xfrm>
            <a:off x="7867650" y="4514850"/>
            <a:ext cx="3867150" cy="15240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29" name="T04/card/region-5/tab"/>
          <p:cNvSpPr/>
          <p:nvPr/>
        </p:nvSpPr>
        <p:spPr>
          <a:xfrm>
            <a:off x="7981950" y="4400550"/>
            <a:ext cx="1181100" cy="32004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04/card/region-5/title"/>
          <p:cNvSpPr/>
          <p:nvPr/>
        </p:nvSpPr>
        <p:spPr>
          <a:xfrm>
            <a:off x="8086725" y="4429125"/>
            <a:ext cx="9715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外推范围</a:t>
            </a:r>
            <a:endParaRPr lang="zh-CN" sz="1800" dirty="0"/>
          </a:p>
        </p:txBody>
      </p:sp>
      <p:sp>
        <p:nvSpPr>
          <p:cNvPr id="31" name="T04/card/region-5/body"/>
          <p:cNvSpPr/>
          <p:nvPr/>
        </p:nvSpPr>
        <p:spPr>
          <a:xfrm>
            <a:off x="8001000" y="4863465"/>
            <a:ext cx="3600450" cy="10801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指出未包含的场景与人群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避免把短期结果扩展为长期收益</a:t>
            </a:r>
            <a:endParaRPr lang="zh-CN" sz="1725" dirty="0"/>
          </a:p>
        </p:txBody>
      </p:sp>
      <p:sp>
        <p:nvSpPr>
          <p:cNvPr id="32" name="T04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5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05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05 / 06</a:t>
            </a:r>
            <a:endParaRPr lang="zh-CN" sz="1050" dirty="0"/>
          </a:p>
        </p:txBody>
      </p:sp>
      <p:sp>
        <p:nvSpPr>
          <p:cNvPr id="4" name="T05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05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贡献与基线的差异</a:t>
            </a:r>
            <a:endParaRPr lang="zh-CN" sz="2550" dirty="0"/>
          </a:p>
        </p:txBody>
      </p:sp>
      <p:sp>
        <p:nvSpPr>
          <p:cNvPr id="6" name="T05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05/paper-title"/>
          <p:cNvSpPr/>
          <p:nvPr/>
        </p:nvSpPr>
        <p:spPr>
          <a:xfrm>
            <a:off x="457200" y="1219200"/>
            <a:ext cx="112776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zh-CN" altLang="en-US" sz="1875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Full article title: connecting decision models, experimental evidence and independent </a:t>
            </a:r>
            <a:endParaRPr lang="zh-CN" sz="1875" dirty="0"/>
          </a:p>
          <a:p>
            <a:pPr algn="l" indent="0" marL="0">
              <a:lnSpc>
                <a:spcPts val="2250"/>
              </a:lnSpc>
              <a:buNone/>
            </a:pPr>
            <a:r>
              <a:rPr lang="zh-CN" altLang="en-US" sz="1875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validation in crop cultivation</a:t>
            </a:r>
            <a:endParaRPr lang="zh-CN" sz="1875" dirty="0"/>
          </a:p>
        </p:txBody>
      </p:sp>
      <p:sp>
        <p:nvSpPr>
          <p:cNvPr id="8" name="T05/paper-bibliography"/>
          <p:cNvSpPr/>
          <p:nvPr/>
        </p:nvSpPr>
        <p:spPr>
          <a:xfrm>
            <a:off x="457200" y="1847850"/>
            <a:ext cx="11277600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6"/>
              </a:lnSpc>
              <a:buNone/>
            </a:pPr>
            <a:r>
              <a:rPr lang="zh-CN" altLang="en-US" sz="127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作者姓名（替换） · 期刊与卷页（替换） · 2026 · DOI: 待替换</a:t>
            </a:r>
            <a:endParaRPr lang="zh-CN" sz="1275" dirty="0"/>
          </a:p>
        </p:txBody>
      </p:sp>
      <p:sp>
        <p:nvSpPr>
          <p:cNvPr id="9" name="T05/takeaway"/>
          <p:cNvSpPr/>
          <p:nvPr/>
        </p:nvSpPr>
        <p:spPr>
          <a:xfrm>
            <a:off x="457200" y="5867400"/>
            <a:ext cx="767715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统计口径、样本单位和适用条件需与原文一致</a:t>
            </a:r>
            <a:endParaRPr lang="zh-CN" sz="1800" dirty="0"/>
          </a:p>
        </p:txBody>
      </p:sp>
      <p:graphicFrame>
        <p:nvGraphicFramePr>
          <p:cNvPr id="6" name="T05/dat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52700"/>
          <a:ext cx="7677150" cy="2003108"/>
        </p:xfrm>
        <a:graphic>
          <a:graphicData uri="http://schemas.openxmlformats.org/drawingml/2006/table">
            <a:tbl>
              <a:tblPr/>
              <a:tblGrid>
                <a:gridCol w="2559050"/>
                <a:gridCol w="2559050"/>
                <a:gridCol w="2559050"/>
              </a:tblGrid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比较维度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既有方法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本研究方法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输入信息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原有观测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新增信息（填写）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决策接口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原有算子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改变环节（填写）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验证范围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已发表条件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新增场景（填写）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资源预算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统一记录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统一记录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05/table-caption"/>
          <p:cNvSpPr/>
          <p:nvPr/>
        </p:nvSpPr>
        <p:spPr>
          <a:xfrm>
            <a:off x="457200" y="4622483"/>
            <a:ext cx="767715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47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结构占位 / 合成数据，必须替换后才能用于学术结论</a:t>
            </a:r>
            <a:endParaRPr lang="zh-CN" sz="1350" dirty="0"/>
          </a:p>
        </p:txBody>
      </p:sp>
      <p:sp>
        <p:nvSpPr>
          <p:cNvPr id="12" name="T05/card/region-1/base-rule"/>
          <p:cNvSpPr/>
          <p:nvPr/>
        </p:nvSpPr>
        <p:spPr>
          <a:xfrm>
            <a:off x="8401050" y="4133850"/>
            <a:ext cx="333375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13" name="T05/card/region-1/side-mark"/>
          <p:cNvSpPr/>
          <p:nvPr/>
        </p:nvSpPr>
        <p:spPr>
          <a:xfrm>
            <a:off x="8401050" y="2571750"/>
            <a:ext cx="47625" cy="29527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05/card/region-1/title"/>
          <p:cNvSpPr/>
          <p:nvPr/>
        </p:nvSpPr>
        <p:spPr>
          <a:xfrm>
            <a:off x="8553450" y="2571750"/>
            <a:ext cx="31813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关键改变</a:t>
            </a:r>
            <a:endParaRPr lang="zh-CN" sz="1800" dirty="0"/>
          </a:p>
        </p:txBody>
      </p:sp>
      <p:sp>
        <p:nvSpPr>
          <p:cNvPr id="15" name="T05/card/region-1/body"/>
          <p:cNvSpPr/>
          <p:nvPr/>
        </p:nvSpPr>
        <p:spPr>
          <a:xfrm>
            <a:off x="8553450" y="2990850"/>
            <a:ext cx="3181350" cy="1047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区分新增信息与算法结构变化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保持对应基线的输入条件一致</a:t>
            </a:r>
            <a:endParaRPr lang="zh-CN" sz="1725" dirty="0"/>
          </a:p>
        </p:txBody>
      </p:sp>
      <p:sp>
        <p:nvSpPr>
          <p:cNvPr id="16" name="T05/card/region-2/heading-rule"/>
          <p:cNvSpPr/>
          <p:nvPr/>
        </p:nvSpPr>
        <p:spPr>
          <a:xfrm>
            <a:off x="8401050" y="4686300"/>
            <a:ext cx="33337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7" name="T05/card/region-2/heading-mark"/>
          <p:cNvSpPr/>
          <p:nvPr/>
        </p:nvSpPr>
        <p:spPr>
          <a:xfrm>
            <a:off x="8401050" y="4686300"/>
            <a:ext cx="342900" cy="0"/>
          </a:xfrm>
          <a:prstGeom prst="line">
            <a:avLst/>
          </a:prstGeom>
          <a:noFill/>
          <a:ln w="17145">
            <a:solidFill>
              <a:srgbClr val="173C70"/>
            </a:solidFill>
            <a:prstDash val="solid"/>
          </a:ln>
        </p:spPr>
      </p:sp>
      <p:sp>
        <p:nvSpPr>
          <p:cNvPr id="18" name="T05/card/region-2/title"/>
          <p:cNvSpPr/>
          <p:nvPr/>
        </p:nvSpPr>
        <p:spPr>
          <a:xfrm>
            <a:off x="8401050" y="4343400"/>
            <a:ext cx="33337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比较条件</a:t>
            </a:r>
            <a:endParaRPr lang="zh-CN" sz="1875" dirty="0"/>
          </a:p>
        </p:txBody>
      </p:sp>
      <p:sp>
        <p:nvSpPr>
          <p:cNvPr id="19" name="T05/card/region-2/body"/>
          <p:cNvSpPr/>
          <p:nvPr/>
        </p:nvSpPr>
        <p:spPr>
          <a:xfrm>
            <a:off x="8401050" y="4819650"/>
            <a:ext cx="3333750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对齐样本、时间窗和评价方法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说明额外调参或计算预算</a:t>
            </a:r>
            <a:endParaRPr lang="zh-CN" sz="1800" dirty="0"/>
          </a:p>
        </p:txBody>
      </p:sp>
      <p:sp>
        <p:nvSpPr>
          <p:cNvPr id="20" name="T05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6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06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06 / 06</a:t>
            </a:r>
            <a:endParaRPr lang="zh-CN" sz="1050" dirty="0"/>
          </a:p>
        </p:txBody>
      </p:sp>
      <p:sp>
        <p:nvSpPr>
          <p:cNvPr id="4" name="T06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06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精读讨论提纲</a:t>
            </a:r>
            <a:endParaRPr lang="zh-CN" sz="2550" dirty="0"/>
          </a:p>
        </p:txBody>
      </p:sp>
      <p:sp>
        <p:nvSpPr>
          <p:cNvPr id="6" name="T06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06/panel:0:frame"/>
          <p:cNvSpPr/>
          <p:nvPr/>
        </p:nvSpPr>
        <p:spPr>
          <a:xfrm>
            <a:off x="7715250" y="2667000"/>
            <a:ext cx="4019550" cy="33718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06/panel:0:tab"/>
          <p:cNvSpPr/>
          <p:nvPr/>
        </p:nvSpPr>
        <p:spPr>
          <a:xfrm>
            <a:off x="7829550" y="2552700"/>
            <a:ext cx="1181100" cy="3238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06/panel:0:title"/>
          <p:cNvSpPr/>
          <p:nvPr/>
        </p:nvSpPr>
        <p:spPr>
          <a:xfrm>
            <a:off x="7934325" y="2581275"/>
            <a:ext cx="9715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讨论依据</a:t>
            </a:r>
            <a:endParaRPr lang="zh-CN" sz="1800" dirty="0"/>
          </a:p>
        </p:txBody>
      </p:sp>
      <p:sp>
        <p:nvSpPr>
          <p:cNvPr id="10" name="T06/paper-title"/>
          <p:cNvSpPr/>
          <p:nvPr/>
        </p:nvSpPr>
        <p:spPr>
          <a:xfrm>
            <a:off x="457200" y="1219200"/>
            <a:ext cx="112776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zh-CN" altLang="en-US" sz="1875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Full article title: connecting decision models, experimental evidence and independent </a:t>
            </a:r>
            <a:endParaRPr lang="zh-CN" sz="1875" dirty="0"/>
          </a:p>
          <a:p>
            <a:pPr algn="l" indent="0" marL="0">
              <a:lnSpc>
                <a:spcPts val="2250"/>
              </a:lnSpc>
              <a:buNone/>
            </a:pPr>
            <a:r>
              <a:rPr lang="zh-CN" altLang="en-US" sz="1875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validation in crop cultivation</a:t>
            </a:r>
            <a:endParaRPr lang="zh-CN" sz="1875" dirty="0"/>
          </a:p>
        </p:txBody>
      </p:sp>
      <p:sp>
        <p:nvSpPr>
          <p:cNvPr id="11" name="T06/paper-bibliography"/>
          <p:cNvSpPr/>
          <p:nvPr/>
        </p:nvSpPr>
        <p:spPr>
          <a:xfrm>
            <a:off x="457200" y="1847850"/>
            <a:ext cx="11277600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6"/>
              </a:lnSpc>
              <a:buNone/>
            </a:pPr>
            <a:r>
              <a:rPr lang="zh-CN" altLang="en-US" sz="127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作者姓名（替换） · 期刊与卷页（替换） · 2026 · DOI: 待替换</a:t>
            </a:r>
            <a:endParaRPr lang="zh-CN" sz="1275" dirty="0"/>
          </a:p>
        </p:txBody>
      </p:sp>
      <p:sp>
        <p:nvSpPr>
          <p:cNvPr id="12" name="T06/figure:0:paper"/>
          <p:cNvSpPr/>
          <p:nvPr/>
        </p:nvSpPr>
        <p:spPr>
          <a:xfrm>
            <a:off x="7848600" y="2990850"/>
            <a:ext cx="3752850" cy="289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T06/figure:0:image" descr="T1 · 示例图 · 响应曲线；合成演示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48600" y="3141345"/>
            <a:ext cx="3752850" cy="2251710"/>
          </a:xfrm>
          <a:prstGeom prst="rect">
            <a:avLst/>
          </a:prstGeom>
        </p:spPr>
      </p:pic>
      <p:sp>
        <p:nvSpPr>
          <p:cNvPr id="14" name="T06/figure:0:caption"/>
          <p:cNvSpPr/>
          <p:nvPr/>
        </p:nvSpPr>
        <p:spPr>
          <a:xfrm>
            <a:off x="7848600" y="5629275"/>
            <a:ext cx="37528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示例图 · 响应曲线；合成演示值</a:t>
            </a:r>
            <a:endParaRPr lang="zh-CN" sz="1350" dirty="0"/>
          </a:p>
        </p:txBody>
      </p:sp>
      <p:sp>
        <p:nvSpPr>
          <p:cNvPr id="15" name="T06/card/region-1/title"/>
          <p:cNvSpPr/>
          <p:nvPr/>
        </p:nvSpPr>
        <p:spPr>
          <a:xfrm>
            <a:off x="457200" y="2571750"/>
            <a:ext cx="69913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本次讨论问题</a:t>
            </a:r>
            <a:endParaRPr lang="zh-CN" sz="1875" dirty="0"/>
          </a:p>
        </p:txBody>
      </p:sp>
      <p:sp>
        <p:nvSpPr>
          <p:cNvPr id="16" name="T06/card/region-1/body"/>
          <p:cNvSpPr/>
          <p:nvPr/>
        </p:nvSpPr>
        <p:spPr>
          <a:xfrm>
            <a:off x="457200" y="2952750"/>
            <a:ext cx="6991350" cy="552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用一个具体科学问题组织精读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方法、实验和局限围绕该问题展开</a:t>
            </a:r>
            <a:endParaRPr lang="zh-CN" sz="1725" dirty="0"/>
          </a:p>
        </p:txBody>
      </p:sp>
      <p:sp>
        <p:nvSpPr>
          <p:cNvPr id="17" name="T06/card/region-2/frame"/>
          <p:cNvSpPr/>
          <p:nvPr/>
        </p:nvSpPr>
        <p:spPr>
          <a:xfrm>
            <a:off x="457200" y="3714750"/>
            <a:ext cx="3371850" cy="23241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8" name="T06/card/region-2/heading-fill"/>
          <p:cNvSpPr/>
          <p:nvPr/>
        </p:nvSpPr>
        <p:spPr>
          <a:xfrm>
            <a:off x="466725" y="3724275"/>
            <a:ext cx="335280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06/card/region-2/heading-rule"/>
          <p:cNvSpPr/>
          <p:nvPr/>
        </p:nvSpPr>
        <p:spPr>
          <a:xfrm>
            <a:off x="457200" y="4095750"/>
            <a:ext cx="33718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20" name="T06/card/region-2/title"/>
          <p:cNvSpPr/>
          <p:nvPr/>
        </p:nvSpPr>
        <p:spPr>
          <a:xfrm>
            <a:off x="581025" y="3771900"/>
            <a:ext cx="312420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方法审查</a:t>
            </a:r>
            <a:endParaRPr lang="zh-CN" sz="1800" dirty="0"/>
          </a:p>
        </p:txBody>
      </p:sp>
      <p:sp>
        <p:nvSpPr>
          <p:cNvPr id="21" name="T06/card/region-2/body"/>
          <p:cNvSpPr/>
          <p:nvPr/>
        </p:nvSpPr>
        <p:spPr>
          <a:xfrm>
            <a:off x="590550" y="4210050"/>
            <a:ext cx="3105150" cy="1733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输入假设和关键算子是否明确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机制图与实际实现是否一致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额外模块提供了什么新信息</a:t>
            </a:r>
            <a:endParaRPr lang="zh-CN" sz="1725" dirty="0"/>
          </a:p>
        </p:txBody>
      </p:sp>
      <p:sp>
        <p:nvSpPr>
          <p:cNvPr id="22" name="T06/card/region-3/frame"/>
          <p:cNvSpPr/>
          <p:nvPr/>
        </p:nvSpPr>
        <p:spPr>
          <a:xfrm>
            <a:off x="4057650" y="3829050"/>
            <a:ext cx="3390900" cy="22098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23" name="T06/card/region-3/tab"/>
          <p:cNvSpPr/>
          <p:nvPr/>
        </p:nvSpPr>
        <p:spPr>
          <a:xfrm>
            <a:off x="4171950" y="3714750"/>
            <a:ext cx="1181100" cy="32004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06/card/region-3/title"/>
          <p:cNvSpPr/>
          <p:nvPr/>
        </p:nvSpPr>
        <p:spPr>
          <a:xfrm>
            <a:off x="4276725" y="3743325"/>
            <a:ext cx="9715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实验审查</a:t>
            </a:r>
            <a:endParaRPr lang="zh-CN" sz="1800" dirty="0"/>
          </a:p>
        </p:txBody>
      </p:sp>
      <p:sp>
        <p:nvSpPr>
          <p:cNvPr id="25" name="T06/card/region-3/body"/>
          <p:cNvSpPr/>
          <p:nvPr/>
        </p:nvSpPr>
        <p:spPr>
          <a:xfrm>
            <a:off x="4191000" y="4177665"/>
            <a:ext cx="3124200" cy="17659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基线、划分与重复是否合适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误差、失败与外推是否充分报告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结果支持到哪个层级的结论</a:t>
            </a:r>
            <a:endParaRPr lang="zh-CN" sz="1725" dirty="0"/>
          </a:p>
        </p:txBody>
      </p:sp>
      <p:sp>
        <p:nvSpPr>
          <p:cNvPr id="26" name="T06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论文导读学术模板</dc:title>
  <dc:subject>原创学术版式、结构化填充指引与合成科学图</dc:subject>
  <dc:creator>DSH Academic PPT</dc:creator>
  <cp:lastModifiedBy>DSH Academic PPT</cp:lastModifiedBy>
  <cp:revision>1</cp:revision>
  <dcterms:created xsi:type="dcterms:W3CDTF">2026-10-20T04:29:15Z</dcterms:created>
  <dcterms:modified xsi:type="dcterms:W3CDTF">2026-10-20T04:29:15Z</dcterms:modified>
</cp:coreProperties>
</file>