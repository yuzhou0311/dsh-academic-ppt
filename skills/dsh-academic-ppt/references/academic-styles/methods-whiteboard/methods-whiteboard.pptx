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s-whiteboard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methods-whiteboard-1/title"/>
          <p:cNvSpPr/>
          <p:nvPr/>
        </p:nvSpPr>
        <p:spPr>
          <a:xfrm>
            <a:off x="457200" y="19050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52A3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随机划分误差较低，跨站点差异不确定</a:t>
            </a:r>
            <a:endParaRPr lang="zh-CN" sz="3000" dirty="0"/>
          </a:p>
        </p:txBody>
      </p:sp>
      <p:sp>
        <p:nvSpPr>
          <p:cNvPr id="4" name="methods-whiteboard-1/kicker"/>
          <p:cNvSpPr/>
          <p:nvPr/>
        </p:nvSpPr>
        <p:spPr>
          <a:xfrm>
            <a:off x="457200" y="67818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16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5" name="methods-whiteboard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6" name="methods-whiteboard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7" name="methods-whiteboard-1/drawing/definition/e1"/>
          <p:cNvSpPr/>
          <p:nvPr/>
        </p:nvSpPr>
        <p:spPr>
          <a:xfrm>
            <a:off x="457200" y="1188720"/>
            <a:ext cx="41910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比较量</a:t>
            </a:r>
            <a:endParaRPr lang="zh-CN" sz="2100" dirty="0"/>
          </a:p>
        </p:txBody>
      </p:sp>
      <p:sp>
        <p:nvSpPr>
          <p:cNvPr id="8" name="methods-whiteboard-1/drawing/definition/e2"/>
          <p:cNvSpPr/>
          <p:nvPr/>
        </p:nvSpPr>
        <p:spPr>
          <a:xfrm>
            <a:off x="457200" y="1686687"/>
            <a:ext cx="4191000" cy="787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6"/>
              </a:lnSpc>
              <a:buNone/>
            </a:pPr>
            <a:r>
              <a:rPr lang="zh-CN" altLang="en-US" sz="24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d(s) = MAE方法(s)</a:t>
            </a:r>
            <a:endParaRPr lang="zh-CN" sz="2400" dirty="0"/>
          </a:p>
          <a:p>
            <a:pPr algn="l" indent="0" marL="0">
              <a:lnSpc>
                <a:spcPts val="2976"/>
              </a:lnSpc>
              <a:buNone/>
            </a:pPr>
            <a:r>
              <a:rPr lang="zh-CN" altLang="en-US" sz="24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      − MAE基线(s)</a:t>
            </a:r>
            <a:endParaRPr lang="zh-CN" sz="2400" dirty="0"/>
          </a:p>
        </p:txBody>
      </p:sp>
      <p:sp>
        <p:nvSpPr>
          <p:cNvPr id="9" name="methods-whiteboard-1/drawing/definition/e3"/>
          <p:cNvSpPr/>
          <p:nvPr/>
        </p:nvSpPr>
        <p:spPr>
          <a:xfrm>
            <a:off x="457200" y="2711958"/>
            <a:ext cx="41910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d(s) &lt; 0：方法误差更低</a:t>
            </a:r>
            <a:endParaRPr lang="zh-CN" sz="2100" dirty="0"/>
          </a:p>
        </p:txBody>
      </p:sp>
      <p:sp>
        <p:nvSpPr>
          <p:cNvPr id="10" name="methods-whiteboard-1/drawing/definition/e4"/>
          <p:cNvSpPr/>
          <p:nvPr/>
        </p:nvSpPr>
        <p:spPr>
          <a:xfrm>
            <a:off x="457200" y="3238500"/>
            <a:ext cx="41910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d(s) &gt; 0：基线误差更低</a:t>
            </a:r>
            <a:endParaRPr lang="zh-CN" sz="2100" dirty="0"/>
          </a:p>
        </p:txBody>
      </p:sp>
      <p:sp>
        <p:nvSpPr>
          <p:cNvPr id="11" name="methods-whiteboard-1/drawing/definition/e5"/>
          <p:cNvSpPr/>
          <p:nvPr/>
        </p:nvSpPr>
        <p:spPr>
          <a:xfrm>
            <a:off x="457200" y="3860292"/>
            <a:ext cx="419100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点表示站点差值的均值；线表示 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 t 区间。</a:t>
            </a:r>
            <a:endParaRPr lang="zh-CN" sz="2100" dirty="0"/>
          </a:p>
        </p:txBody>
      </p:sp>
      <p:sp>
        <p:nvSpPr>
          <p:cNvPr id="12" name="methods-whiteboard-1/drawing/estimated-effect/e1"/>
          <p:cNvSpPr/>
          <p:nvPr/>
        </p:nvSpPr>
        <p:spPr>
          <a:xfrm>
            <a:off x="5124450" y="1188720"/>
            <a:ext cx="66103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ΔMAE = 方法 − 基线（t/ha）</a:t>
            </a:r>
            <a:endParaRPr lang="zh-CN" sz="1950" dirty="0"/>
          </a:p>
        </p:txBody>
      </p:sp>
      <p:sp>
        <p:nvSpPr>
          <p:cNvPr id="13" name="methods-whiteboard-1/drawing/estimated-effect/e2/segment-1"/>
          <p:cNvSpPr/>
          <p:nvPr/>
        </p:nvSpPr>
        <p:spPr>
          <a:xfrm>
            <a:off x="9558338" y="1703070"/>
            <a:ext cx="0" cy="3469005"/>
          </a:xfrm>
          <a:prstGeom prst="line">
            <a:avLst/>
          </a:prstGeom>
          <a:noFill/>
          <a:ln w="14288">
            <a:solidFill>
              <a:srgbClr val="526170"/>
            </a:solidFill>
            <a:prstDash val="dash"/>
          </a:ln>
        </p:spPr>
      </p:sp>
      <p:sp>
        <p:nvSpPr>
          <p:cNvPr id="14" name="methods-whiteboard-1/drawing/estimated-effect/e3"/>
          <p:cNvSpPr/>
          <p:nvPr/>
        </p:nvSpPr>
        <p:spPr>
          <a:xfrm>
            <a:off x="5124450" y="1836420"/>
            <a:ext cx="10287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1800" dirty="0"/>
          </a:p>
        </p:txBody>
      </p:sp>
      <p:sp>
        <p:nvSpPr>
          <p:cNvPr id="15" name="methods-whiteboard-1/drawing/estimated-effect/e4/segment-1"/>
          <p:cNvSpPr/>
          <p:nvPr/>
        </p:nvSpPr>
        <p:spPr>
          <a:xfrm>
            <a:off x="7142339" y="1988820"/>
            <a:ext cx="860073" cy="0"/>
          </a:xfrm>
          <a:prstGeom prst="line">
            <a:avLst/>
          </a:prstGeom>
          <a:noFill/>
          <a:ln w="28575">
            <a:solidFill>
              <a:srgbClr val="245E86"/>
            </a:solidFill>
            <a:prstDash val="solid"/>
          </a:ln>
        </p:spPr>
      </p:sp>
      <p:sp>
        <p:nvSpPr>
          <p:cNvPr id="16" name="methods-whiteboard-1/drawing/estimated-effect/e5/segment-1"/>
          <p:cNvSpPr/>
          <p:nvPr/>
        </p:nvSpPr>
        <p:spPr>
          <a:xfrm>
            <a:off x="7142339" y="1922145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7" name="methods-whiteboard-1/drawing/estimated-effect/e6/segment-1"/>
          <p:cNvSpPr/>
          <p:nvPr/>
        </p:nvSpPr>
        <p:spPr>
          <a:xfrm>
            <a:off x="8002411" y="1922145"/>
            <a:ext cx="0" cy="133350"/>
          </a:xfrm>
          <a:prstGeom prst="line">
            <a:avLst/>
          </a:prstGeom>
          <a:noFill/>
          <a:ln w="19050">
            <a:solidFill>
              <a:srgbClr val="245E86"/>
            </a:solidFill>
            <a:prstDash val="solid"/>
          </a:ln>
        </p:spPr>
      </p:sp>
      <p:sp>
        <p:nvSpPr>
          <p:cNvPr id="18" name="methods-whiteboard-1/drawing/estimated-effect/e7"/>
          <p:cNvSpPr/>
          <p:nvPr/>
        </p:nvSpPr>
        <p:spPr>
          <a:xfrm>
            <a:off x="7515225" y="1931670"/>
            <a:ext cx="114300" cy="11430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9" name="methods-whiteboard-1/drawing/estimated-effect/e8"/>
          <p:cNvSpPr/>
          <p:nvPr/>
        </p:nvSpPr>
        <p:spPr>
          <a:xfrm>
            <a:off x="6248400" y="2160270"/>
            <a:ext cx="52959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−0.300 [−0.365, −0.235]</a:t>
            </a:r>
            <a:endParaRPr lang="zh-CN" sz="1800" dirty="0"/>
          </a:p>
        </p:txBody>
      </p:sp>
      <p:sp>
        <p:nvSpPr>
          <p:cNvPr id="20" name="methods-whiteboard-1/drawing/estimated-effect/e9"/>
          <p:cNvSpPr/>
          <p:nvPr/>
        </p:nvSpPr>
        <p:spPr>
          <a:xfrm>
            <a:off x="5124450" y="3513772"/>
            <a:ext cx="10287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1800" dirty="0"/>
          </a:p>
        </p:txBody>
      </p:sp>
      <p:sp>
        <p:nvSpPr>
          <p:cNvPr id="21" name="methods-whiteboard-1/drawing/estimated-effect/e10/segment-1"/>
          <p:cNvSpPr/>
          <p:nvPr/>
        </p:nvSpPr>
        <p:spPr>
          <a:xfrm>
            <a:off x="8835961" y="3666172"/>
            <a:ext cx="2106740" cy="0"/>
          </a:xfrm>
          <a:prstGeom prst="line">
            <a:avLst/>
          </a:prstGeom>
          <a:noFill/>
          <a:ln w="28575">
            <a:solidFill>
              <a:srgbClr val="A35332"/>
            </a:solidFill>
            <a:prstDash val="solid"/>
          </a:ln>
        </p:spPr>
      </p:sp>
      <p:sp>
        <p:nvSpPr>
          <p:cNvPr id="22" name="methods-whiteboard-1/drawing/estimated-effect/e11/segment-1"/>
          <p:cNvSpPr/>
          <p:nvPr/>
        </p:nvSpPr>
        <p:spPr>
          <a:xfrm>
            <a:off x="8835961" y="3599497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3" name="methods-whiteboard-1/drawing/estimated-effect/e12/segment-1"/>
          <p:cNvSpPr/>
          <p:nvPr/>
        </p:nvSpPr>
        <p:spPr>
          <a:xfrm>
            <a:off x="10942701" y="3599497"/>
            <a:ext cx="0" cy="133350"/>
          </a:xfrm>
          <a:prstGeom prst="line">
            <a:avLst/>
          </a:prstGeom>
          <a:noFill/>
          <a:ln w="19050">
            <a:solidFill>
              <a:srgbClr val="A35332"/>
            </a:solidFill>
            <a:prstDash val="solid"/>
          </a:ln>
        </p:spPr>
      </p:sp>
      <p:sp>
        <p:nvSpPr>
          <p:cNvPr id="24" name="methods-whiteboard-1/drawing/estimated-effect/e13"/>
          <p:cNvSpPr/>
          <p:nvPr/>
        </p:nvSpPr>
        <p:spPr>
          <a:xfrm>
            <a:off x="9832181" y="3609023"/>
            <a:ext cx="114300" cy="11430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25" name="methods-whiteboard-1/drawing/estimated-effect/e14"/>
          <p:cNvSpPr/>
          <p:nvPr/>
        </p:nvSpPr>
        <p:spPr>
          <a:xfrm>
            <a:off x="6248400" y="3837622"/>
            <a:ext cx="52959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0.050 [−0.109, 0.209]</a:t>
            </a:r>
            <a:endParaRPr lang="zh-CN" sz="1800" dirty="0"/>
          </a:p>
        </p:txBody>
      </p:sp>
      <p:sp>
        <p:nvSpPr>
          <p:cNvPr id="26" name="methods-whiteboard-1/drawing/estimated-effect/e15/segment-1"/>
          <p:cNvSpPr/>
          <p:nvPr/>
        </p:nvSpPr>
        <p:spPr>
          <a:xfrm>
            <a:off x="6248400" y="5172075"/>
            <a:ext cx="5295900" cy="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7" name="methods-whiteboard-1/drawing/estimated-effect/e16/segment-1"/>
          <p:cNvSpPr/>
          <p:nvPr/>
        </p:nvSpPr>
        <p:spPr>
          <a:xfrm>
            <a:off x="6910388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8" name="methods-whiteboard-1/drawing/estimated-effect/e17"/>
          <p:cNvSpPr/>
          <p:nvPr/>
        </p:nvSpPr>
        <p:spPr>
          <a:xfrm>
            <a:off x="6577013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−0.4</a:t>
            </a:r>
            <a:endParaRPr lang="zh-CN" sz="1800" dirty="0"/>
          </a:p>
        </p:txBody>
      </p:sp>
      <p:sp>
        <p:nvSpPr>
          <p:cNvPr id="29" name="methods-whiteboard-1/drawing/estimated-effect/e18/segment-1"/>
          <p:cNvSpPr/>
          <p:nvPr/>
        </p:nvSpPr>
        <p:spPr>
          <a:xfrm>
            <a:off x="8234363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0" name="methods-whiteboard-1/drawing/estimated-effect/e19"/>
          <p:cNvSpPr/>
          <p:nvPr/>
        </p:nvSpPr>
        <p:spPr>
          <a:xfrm>
            <a:off x="7900988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−0.2</a:t>
            </a:r>
            <a:endParaRPr lang="zh-CN" sz="1800" dirty="0"/>
          </a:p>
        </p:txBody>
      </p:sp>
      <p:sp>
        <p:nvSpPr>
          <p:cNvPr id="31" name="methods-whiteboard-1/drawing/estimated-effect/e20/segment-1"/>
          <p:cNvSpPr/>
          <p:nvPr/>
        </p:nvSpPr>
        <p:spPr>
          <a:xfrm>
            <a:off x="9558338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2" name="methods-whiteboard-1/drawing/estimated-effect/e21"/>
          <p:cNvSpPr/>
          <p:nvPr/>
        </p:nvSpPr>
        <p:spPr>
          <a:xfrm>
            <a:off x="9224963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33" name="methods-whiteboard-1/drawing/estimated-effect/e22/segment-1"/>
          <p:cNvSpPr/>
          <p:nvPr/>
        </p:nvSpPr>
        <p:spPr>
          <a:xfrm>
            <a:off x="10882313" y="5172075"/>
            <a:ext cx="0" cy="5715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34" name="methods-whiteboard-1/drawing/estimated-effect/e23"/>
          <p:cNvSpPr/>
          <p:nvPr/>
        </p:nvSpPr>
        <p:spPr>
          <a:xfrm>
            <a:off x="10548938" y="5295900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hods-whiteboard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methods-whiteboard-2/title"/>
          <p:cNvSpPr/>
          <p:nvPr/>
        </p:nvSpPr>
        <p:spPr>
          <a:xfrm>
            <a:off x="457200" y="19050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52A3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从观测误差到站点层面的比较</a:t>
            </a:r>
            <a:endParaRPr lang="zh-CN" sz="3000" dirty="0"/>
          </a:p>
        </p:txBody>
      </p:sp>
      <p:sp>
        <p:nvSpPr>
          <p:cNvPr id="4" name="methods-whiteboard-2/kicker"/>
          <p:cNvSpPr/>
          <p:nvPr/>
        </p:nvSpPr>
        <p:spPr>
          <a:xfrm>
            <a:off x="457200" y="67818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9616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5" name="methods-whiteboard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6" name="methods-whiteboard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7" name="methods-whiteboard-2/drawing/derivation/e1"/>
          <p:cNvSpPr/>
          <p:nvPr/>
        </p:nvSpPr>
        <p:spPr>
          <a:xfrm>
            <a:off x="457200" y="1188720"/>
            <a:ext cx="58102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先在站点内求 MAE</a:t>
            </a:r>
            <a:endParaRPr lang="zh-CN" sz="1950" dirty="0"/>
          </a:p>
        </p:txBody>
      </p:sp>
      <p:sp>
        <p:nvSpPr>
          <p:cNvPr id="8" name="methods-whiteboard-2/drawing/derivation/e2"/>
          <p:cNvSpPr/>
          <p:nvPr/>
        </p:nvSpPr>
        <p:spPr>
          <a:xfrm>
            <a:off x="457200" y="1634109"/>
            <a:ext cx="5810250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zh-CN" altLang="en-US" sz="22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d(s) = MAE方法(s) − MAE基线(s)</a:t>
            </a:r>
            <a:endParaRPr lang="zh-CN" sz="2250" dirty="0"/>
          </a:p>
        </p:txBody>
      </p:sp>
      <p:sp>
        <p:nvSpPr>
          <p:cNvPr id="9" name="methods-whiteboard-2/drawing/derivation/e3"/>
          <p:cNvSpPr/>
          <p:nvPr/>
        </p:nvSpPr>
        <p:spPr>
          <a:xfrm>
            <a:off x="457200" y="2184654"/>
            <a:ext cx="581025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再对 4 个站点差值等权平均</a:t>
            </a:r>
            <a:endParaRPr lang="zh-CN" sz="1950" dirty="0"/>
          </a:p>
        </p:txBody>
      </p:sp>
      <p:sp>
        <p:nvSpPr>
          <p:cNvPr id="10" name="methods-whiteboard-2/drawing/derivation/e4"/>
          <p:cNvSpPr/>
          <p:nvPr/>
        </p:nvSpPr>
        <p:spPr>
          <a:xfrm>
            <a:off x="457200" y="2630043"/>
            <a:ext cx="5810250" cy="42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62"/>
              </a:lnSpc>
              <a:buNone/>
            </a:pPr>
            <a:r>
              <a:rPr lang="zh-CN" altLang="en-US" sz="25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平均差值 = Σd(s) / 4</a:t>
            </a:r>
            <a:endParaRPr lang="zh-CN" sz="2550" dirty="0"/>
          </a:p>
        </p:txBody>
      </p:sp>
      <p:sp>
        <p:nvSpPr>
          <p:cNvPr id="11" name="methods-whiteboard-2/drawing/derivation/e5"/>
          <p:cNvSpPr/>
          <p:nvPr/>
        </p:nvSpPr>
        <p:spPr>
          <a:xfrm>
            <a:off x="457200" y="3228594"/>
            <a:ext cx="5810250" cy="691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95% t 区间：</a:t>
            </a:r>
            <a:endParaRPr lang="zh-CN" sz="2100" dirty="0"/>
          </a:p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平均差值 ± 3.182 × SD(d) / 2</a:t>
            </a:r>
            <a:endParaRPr lang="zh-CN" sz="2100" dirty="0"/>
          </a:p>
        </p:txBody>
      </p:sp>
      <p:sp>
        <p:nvSpPr>
          <p:cNvPr id="12" name="methods-whiteboard-2/drawing/derivation/e6"/>
          <p:cNvSpPr/>
          <p:nvPr/>
        </p:nvSpPr>
        <p:spPr>
          <a:xfrm>
            <a:off x="457200" y="4091178"/>
            <a:ext cx="5810250" cy="59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 表示站点；仅有 4 个站点。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本例无法验证独立性与分布假设。</a:t>
            </a:r>
            <a:endParaRPr lang="zh-CN" sz="1800" dirty="0"/>
          </a:p>
        </p:txBody>
      </p:sp>
      <p:graphicFrame>
        <p:nvGraphicFramePr>
          <p:cNvPr id="3" name="methods-whiteboard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2750" y="1188720"/>
          <a:ext cx="4972050" cy="2409825"/>
        </p:xfrm>
        <a:graphic>
          <a:graphicData uri="http://schemas.openxmlformats.org/drawingml/2006/table">
            <a:tbl>
              <a:tblPr/>
              <a:tblGrid>
                <a:gridCol w="1122721"/>
                <a:gridCol w="1924665"/>
                <a:gridCol w="1924665"/>
              </a:tblGrid>
              <a:tr h="4819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 Δ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b="1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留站 Δ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−0.250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−0.100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−0.350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196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45"/>
                        </a:lnSpc>
                        <a:buNone/>
                      </a:pPr>
                      <a:r>
                        <a:rPr lang="zh-CN" altLang="en-US" sz="2250" dirty="0">
                          <a:solidFill>
                            <a:srgbClr val="252A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25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25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methods-whiteboard-2/table-caption"/>
          <p:cNvSpPr/>
          <p:nvPr/>
        </p:nvSpPr>
        <p:spPr>
          <a:xfrm>
            <a:off x="6762750" y="3665220"/>
            <a:ext cx="497205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zh-CN" altLang="en-US" sz="1500" dirty="0">
                <a:solidFill>
                  <a:srgbClr val="5961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t/ha；每格来自同站 6 个观测</a:t>
            </a:r>
            <a:endParaRPr lang="zh-CN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理论与方法：站点评估教学样例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2026-10-30T16:10:09Z</dcterms:created>
  <dcterms:modified xsi:type="dcterms:W3CDTF">2026-10-30T16:10:09Z</dcterms:modified>
</cp:coreProperties>
</file>