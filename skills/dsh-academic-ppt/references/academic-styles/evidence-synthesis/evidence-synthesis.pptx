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synthesis-1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A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02</a:t>
            </a:r>
            <a:endParaRPr lang="zh-CN" sz="1350" dirty="0"/>
          </a:p>
        </p:txBody>
      </p:sp>
      <p:sp>
        <p:nvSpPr>
          <p:cNvPr id="3" name="evidence-synthesis-1/section-label"/>
          <p:cNvSpPr/>
          <p:nvPr/>
        </p:nvSpPr>
        <p:spPr>
          <a:xfrm>
            <a:off x="457200" y="1333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465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评价结果</a:t>
            </a:r>
            <a:endParaRPr lang="zh-CN" sz="1950" dirty="0"/>
          </a:p>
        </p:txBody>
      </p:sp>
      <p:sp>
        <p:nvSpPr>
          <p:cNvPr id="4" name="evidence-synthesis-1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A2D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随机划分误差较低，跨站点差异不确定</a:t>
            </a:r>
            <a:endParaRPr lang="zh-CN" sz="3150" dirty="0"/>
          </a:p>
        </p:txBody>
      </p:sp>
      <p:sp>
        <p:nvSpPr>
          <p:cNvPr id="5" name="evidence-synthesis-1/kicker"/>
          <p:cNvSpPr/>
          <p:nvPr/>
        </p:nvSpPr>
        <p:spPr>
          <a:xfrm>
            <a:off x="457200" y="1061656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A606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6" name="evidence-synthesis-1/header-rule"/>
          <p:cNvSpPr/>
          <p:nvPr/>
        </p:nvSpPr>
        <p:spPr>
          <a:xfrm>
            <a:off x="457200" y="1476947"/>
            <a:ext cx="11277600" cy="0"/>
          </a:xfrm>
          <a:prstGeom prst="line">
            <a:avLst/>
          </a:prstGeom>
          <a:noFill/>
          <a:ln w="9525">
            <a:solidFill>
              <a:srgbClr val="C2C7D3"/>
            </a:solidFill>
            <a:prstDash val="solid"/>
          </a:ln>
        </p:spPr>
      </p:sp>
      <p:sp>
        <p:nvSpPr>
          <p:cNvPr id="7" name="evidence-synthesis-1/header-accent"/>
          <p:cNvSpPr/>
          <p:nvPr/>
        </p:nvSpPr>
        <p:spPr>
          <a:xfrm>
            <a:off x="457200" y="1476947"/>
            <a:ext cx="1181100" cy="0"/>
          </a:xfrm>
          <a:prstGeom prst="line">
            <a:avLst/>
          </a:prstGeom>
          <a:noFill/>
          <a:ln w="15240">
            <a:solidFill>
              <a:srgbClr val="465477"/>
            </a:solidFill>
            <a:prstDash val="solid"/>
          </a:ln>
        </p:spPr>
      </p:sp>
      <p:sp>
        <p:nvSpPr>
          <p:cNvPr id="8" name="evidence-synthesis-1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9" name="evidence-synthesis-1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graphicFrame>
        <p:nvGraphicFramePr>
          <p:cNvPr id="2" name="evidence-synthesis-1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9347"/>
          <a:ext cx="11277600" cy="1376172"/>
        </p:xfrm>
        <a:graphic>
          <a:graphicData uri="http://schemas.openxmlformats.org/drawingml/2006/table">
            <a:tbl>
              <a:tblPr/>
              <a:tblGrid>
                <a:gridCol w="2218544"/>
                <a:gridCol w="1848787"/>
                <a:gridCol w="1848787"/>
                <a:gridCol w="1848787"/>
                <a:gridCol w="3512695"/>
              </a:tblGrid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评价协议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基线 MAE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方法 MAE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ΔMAE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95% t 区间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随机划分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0.850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[−0.365, −0.235]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整站留出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0.050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[−0.109, 0.209]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evidence-synthesis-1/table-caption"/>
          <p:cNvSpPr/>
          <p:nvPr/>
        </p:nvSpPr>
        <p:spPr>
          <a:xfrm>
            <a:off x="457200" y="3072193"/>
            <a:ext cx="1127760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zh-CN" altLang="en-US" sz="1500" dirty="0">
                <a:solidFill>
                  <a:srgbClr val="5A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 = 方法 − 基线，单位 t/ha。区间以 4 个站点差值计算。</a:t>
            </a:r>
            <a:endParaRPr lang="zh-CN" sz="1500" dirty="0"/>
          </a:p>
        </p:txBody>
      </p:sp>
      <p:sp>
        <p:nvSpPr>
          <p:cNvPr id="12" name="evidence-synthesis-1/drawing/comparison-verdict/e1"/>
          <p:cNvSpPr/>
          <p:nvPr/>
        </p:nvSpPr>
        <p:spPr>
          <a:xfrm>
            <a:off x="457200" y="4086797"/>
            <a:ext cx="53530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45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</a:t>
            </a:r>
            <a:endParaRPr lang="zh-CN" sz="2100" dirty="0"/>
          </a:p>
        </p:txBody>
      </p:sp>
      <p:sp>
        <p:nvSpPr>
          <p:cNvPr id="13" name="evidence-synthesis-1/drawing/comparison-verdict/e2"/>
          <p:cNvSpPr/>
          <p:nvPr/>
        </p:nvSpPr>
        <p:spPr>
          <a:xfrm>
            <a:off x="457200" y="4543997"/>
            <a:ext cx="53530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差值为负，区间未跨零。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支持本套数值下误差较低。</a:t>
            </a:r>
            <a:endParaRPr lang="zh-CN" sz="2100" dirty="0"/>
          </a:p>
        </p:txBody>
      </p:sp>
      <p:sp>
        <p:nvSpPr>
          <p:cNvPr id="14" name="evidence-synthesis-1/drawing/comparison-verdict/e3"/>
          <p:cNvSpPr/>
          <p:nvPr/>
        </p:nvSpPr>
        <p:spPr>
          <a:xfrm>
            <a:off x="6381750" y="4086797"/>
            <a:ext cx="53530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A35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整站留出</a:t>
            </a:r>
            <a:endParaRPr lang="zh-CN" sz="2100" dirty="0"/>
          </a:p>
        </p:txBody>
      </p:sp>
      <p:sp>
        <p:nvSpPr>
          <p:cNvPr id="15" name="evidence-synthesis-1/drawing/comparison-verdict/e4"/>
          <p:cNvSpPr/>
          <p:nvPr/>
        </p:nvSpPr>
        <p:spPr>
          <a:xfrm>
            <a:off x="6381750" y="4543997"/>
            <a:ext cx="53530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差值略正，区间跨零。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不能确认跨站点优势。</a:t>
            </a:r>
            <a:endParaRPr lang="zh-C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synthesis-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A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02</a:t>
            </a:r>
            <a:endParaRPr lang="zh-CN" sz="1350" dirty="0"/>
          </a:p>
        </p:txBody>
      </p:sp>
      <p:sp>
        <p:nvSpPr>
          <p:cNvPr id="3" name="evidence-synthesis-2/section-label"/>
          <p:cNvSpPr/>
          <p:nvPr/>
        </p:nvSpPr>
        <p:spPr>
          <a:xfrm>
            <a:off x="457200" y="1333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46547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分析单位与边界</a:t>
            </a:r>
            <a:endParaRPr lang="zh-CN" sz="1950" dirty="0"/>
          </a:p>
        </p:txBody>
      </p:sp>
      <p:sp>
        <p:nvSpPr>
          <p:cNvPr id="4" name="evidence-synthesis-2/title"/>
          <p:cNvSpPr/>
          <p:nvPr/>
        </p:nvSpPr>
        <p:spPr>
          <a:xfrm>
            <a:off x="457200" y="552450"/>
            <a:ext cx="11277600" cy="45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60"/>
              </a:lnSpc>
              <a:buNone/>
            </a:pPr>
            <a:r>
              <a:rPr lang="zh-CN" altLang="en-US" sz="3150" b="1" dirty="0">
                <a:solidFill>
                  <a:srgbClr val="2A2D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从观测误差到站点层面的比较</a:t>
            </a:r>
            <a:endParaRPr lang="zh-CN" sz="3150" dirty="0"/>
          </a:p>
        </p:txBody>
      </p:sp>
      <p:sp>
        <p:nvSpPr>
          <p:cNvPr id="5" name="evidence-synthesis-2/kicker"/>
          <p:cNvSpPr/>
          <p:nvPr/>
        </p:nvSpPr>
        <p:spPr>
          <a:xfrm>
            <a:off x="457200" y="1061656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A606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6" name="evidence-synthesis-2/header-rule"/>
          <p:cNvSpPr/>
          <p:nvPr/>
        </p:nvSpPr>
        <p:spPr>
          <a:xfrm>
            <a:off x="457200" y="1476947"/>
            <a:ext cx="11277600" cy="0"/>
          </a:xfrm>
          <a:prstGeom prst="line">
            <a:avLst/>
          </a:prstGeom>
          <a:noFill/>
          <a:ln w="9525">
            <a:solidFill>
              <a:srgbClr val="C2C7D3"/>
            </a:solidFill>
            <a:prstDash val="solid"/>
          </a:ln>
        </p:spPr>
      </p:sp>
      <p:sp>
        <p:nvSpPr>
          <p:cNvPr id="7" name="evidence-synthesis-2/header-accent"/>
          <p:cNvSpPr/>
          <p:nvPr/>
        </p:nvSpPr>
        <p:spPr>
          <a:xfrm>
            <a:off x="457200" y="1476947"/>
            <a:ext cx="1181100" cy="0"/>
          </a:xfrm>
          <a:prstGeom prst="line">
            <a:avLst/>
          </a:prstGeom>
          <a:noFill/>
          <a:ln w="15240">
            <a:solidFill>
              <a:srgbClr val="465477"/>
            </a:solidFill>
            <a:prstDash val="solid"/>
          </a:ln>
        </p:spPr>
      </p:sp>
      <p:sp>
        <p:nvSpPr>
          <p:cNvPr id="8" name="evidence-synthesis-2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9" name="evidence-synthesis-2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graphicFrame>
        <p:nvGraphicFramePr>
          <p:cNvPr id="3" name="evidence-synthesis-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9347"/>
          <a:ext cx="5905500" cy="2293620"/>
        </p:xfrm>
        <a:graphic>
          <a:graphicData uri="http://schemas.openxmlformats.org/drawingml/2006/table">
            <a:tbl>
              <a:tblPr/>
              <a:tblGrid>
                <a:gridCol w="1968500"/>
                <a:gridCol w="3937000"/>
              </a:tblGrid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比较前核对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本例约定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比较对象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方法与同协议基线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指标与单位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绝对误差，t/ha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统计单位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 个站点差值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站点内观测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A2D38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每站 6 个，共 24 个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A2D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evidence-synthesis-2/table-caption"/>
          <p:cNvSpPr/>
          <p:nvPr/>
        </p:nvSpPr>
        <p:spPr>
          <a:xfrm>
            <a:off x="457200" y="3989642"/>
            <a:ext cx="590550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zh-CN" altLang="en-US" sz="1500" dirty="0">
                <a:solidFill>
                  <a:srgbClr val="5A60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协议之间可比的是误差定义；划分方式不同不能混为同一验证。</a:t>
            </a:r>
            <a:endParaRPr lang="zh-CN" sz="1500" dirty="0"/>
          </a:p>
        </p:txBody>
      </p:sp>
      <p:sp>
        <p:nvSpPr>
          <p:cNvPr id="12" name="evidence-synthesis-2/drawing/synthesis-rule/e1"/>
          <p:cNvSpPr/>
          <p:nvPr/>
        </p:nvSpPr>
        <p:spPr>
          <a:xfrm>
            <a:off x="6858000" y="1629347"/>
            <a:ext cx="48768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综合结论保留协议条件</a:t>
            </a:r>
            <a:endParaRPr lang="zh-CN" sz="2100" dirty="0"/>
          </a:p>
        </p:txBody>
      </p:sp>
      <p:sp>
        <p:nvSpPr>
          <p:cNvPr id="13" name="evidence-synthesis-2/drawing/synthesis-rule/e2"/>
          <p:cNvSpPr/>
          <p:nvPr/>
        </p:nvSpPr>
        <p:spPr>
          <a:xfrm>
            <a:off x="6858000" y="2193989"/>
            <a:ext cx="487680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随机划分：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−0.300 [−0.365, −0.235] t/ha</a:t>
            </a:r>
            <a:endParaRPr lang="zh-CN" sz="2100" dirty="0"/>
          </a:p>
        </p:txBody>
      </p:sp>
      <p:sp>
        <p:nvSpPr>
          <p:cNvPr id="14" name="evidence-synthesis-2/drawing/synthesis-rule/e3"/>
          <p:cNvSpPr/>
          <p:nvPr/>
        </p:nvSpPr>
        <p:spPr>
          <a:xfrm>
            <a:off x="6858000" y="3094673"/>
            <a:ext cx="487680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整站留出：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0.050 [−0.109, 0.209] t/ha</a:t>
            </a:r>
            <a:endParaRPr lang="zh-CN" sz="2100" dirty="0"/>
          </a:p>
        </p:txBody>
      </p:sp>
      <p:sp>
        <p:nvSpPr>
          <p:cNvPr id="15" name="evidence-synthesis-2/drawing/synthesis-rule/e4"/>
          <p:cNvSpPr/>
          <p:nvPr/>
        </p:nvSpPr>
        <p:spPr>
          <a:xfrm>
            <a:off x="6858000" y="3995357"/>
            <a:ext cx="487680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跨站点差异不确定。进一步的真实外部验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证仍缺失。</a:t>
            </a:r>
            <a:endParaRPr lang="zh-CN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证据综合：站点评估教学样例</dc:title>
  <dc:subject>学术研究汇报</dc:subject>
  <dc:creator>DSH Academic PPT</dc:creator>
  <cp:lastModifiedBy>DSH Academic PPT</cp:lastModifiedBy>
  <cp:revision>1</cp:revision>
  <dcterms:created xsi:type="dcterms:W3CDTF">2026-10-30T16:10:18Z</dcterms:created>
  <dcterms:modified xsi:type="dcterms:W3CDTF">2026-10-30T16:10:18Z</dcterms:modified>
</cp:coreProperties>
</file>