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sis-defense-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zh-CN" sz="1350" dirty="0"/>
          </a:p>
        </p:txBody>
      </p:sp>
      <p:sp>
        <p:nvSpPr>
          <p:cNvPr id="3" name="thesis-defense-1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评价结果</a:t>
            </a:r>
            <a:endParaRPr lang="zh-CN" sz="2100" dirty="0"/>
          </a:p>
        </p:txBody>
      </p:sp>
      <p:sp>
        <p:nvSpPr>
          <p:cNvPr id="4" name="thesis-defense-1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随机划分误差较低，跨站点差异不确定</a:t>
            </a:r>
            <a:endParaRPr lang="zh-CN" sz="3000" dirty="0"/>
          </a:p>
        </p:txBody>
      </p:sp>
      <p:sp>
        <p:nvSpPr>
          <p:cNvPr id="5" name="thesis-defense-1/kicker"/>
          <p:cNvSpPr/>
          <p:nvPr/>
        </p:nvSpPr>
        <p:spPr>
          <a:xfrm>
            <a:off x="457200" y="104013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thesis-defense-1/header-rule"/>
          <p:cNvSpPr/>
          <p:nvPr/>
        </p:nvSpPr>
        <p:spPr>
          <a:xfrm>
            <a:off x="457200" y="1455420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thesis-defense-1/header-accent"/>
          <p:cNvSpPr/>
          <p:nvPr/>
        </p:nvSpPr>
        <p:spPr>
          <a:xfrm>
            <a:off x="457200" y="1455420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thesis-defense-1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9" name="thesis-defense-1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10" name="thesis-defense-1/drawing/question/e1"/>
          <p:cNvSpPr/>
          <p:nvPr/>
        </p:nvSpPr>
        <p:spPr>
          <a:xfrm>
            <a:off x="457200" y="1607820"/>
            <a:ext cx="112776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验证问题：随机划分的误差优势能否延伸到未见站点？</a:t>
            </a:r>
            <a:endParaRPr lang="zh-CN" sz="2100" dirty="0"/>
          </a:p>
        </p:txBody>
      </p:sp>
      <p:sp>
        <p:nvSpPr>
          <p:cNvPr id="11" name="thesis-defense-1/drawing/effect-comparison/e1"/>
          <p:cNvSpPr/>
          <p:nvPr/>
        </p:nvSpPr>
        <p:spPr>
          <a:xfrm>
            <a:off x="457200" y="2160270"/>
            <a:ext cx="1127760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ΔMAE = 方法 − 基线（t/ha）</a:t>
            </a:r>
            <a:endParaRPr lang="zh-CN" sz="1950" dirty="0"/>
          </a:p>
        </p:txBody>
      </p:sp>
      <p:sp>
        <p:nvSpPr>
          <p:cNvPr id="12" name="thesis-defense-1/drawing/effect-comparison/e2/segment-1"/>
          <p:cNvSpPr/>
          <p:nvPr/>
        </p:nvSpPr>
        <p:spPr>
          <a:xfrm>
            <a:off x="7908131" y="2674620"/>
            <a:ext cx="0" cy="1916430"/>
          </a:xfrm>
          <a:prstGeom prst="line">
            <a:avLst/>
          </a:prstGeom>
          <a:noFill/>
          <a:ln w="14288">
            <a:solidFill>
              <a:srgbClr val="526170"/>
            </a:solidFill>
            <a:prstDash val="dash"/>
          </a:ln>
        </p:spPr>
      </p:sp>
      <p:sp>
        <p:nvSpPr>
          <p:cNvPr id="13" name="thesis-defense-1/drawing/effect-comparison/e3"/>
          <p:cNvSpPr/>
          <p:nvPr/>
        </p:nvSpPr>
        <p:spPr>
          <a:xfrm>
            <a:off x="457200" y="2807970"/>
            <a:ext cx="12954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</a:t>
            </a:r>
            <a:endParaRPr lang="zh-CN" sz="1800" dirty="0"/>
          </a:p>
        </p:txBody>
      </p:sp>
      <p:sp>
        <p:nvSpPr>
          <p:cNvPr id="14" name="thesis-defense-1/drawing/effect-comparison/e4/segment-1"/>
          <p:cNvSpPr/>
          <p:nvPr/>
        </p:nvSpPr>
        <p:spPr>
          <a:xfrm>
            <a:off x="3484594" y="2960370"/>
            <a:ext cx="1574738" cy="0"/>
          </a:xfrm>
          <a:prstGeom prst="line">
            <a:avLst/>
          </a:prstGeom>
          <a:noFill/>
          <a:ln w="28575">
            <a:solidFill>
              <a:srgbClr val="245E86"/>
            </a:solidFill>
            <a:prstDash val="solid"/>
          </a:ln>
        </p:spPr>
      </p:sp>
      <p:sp>
        <p:nvSpPr>
          <p:cNvPr id="15" name="thesis-defense-1/drawing/effect-comparison/e5/segment-1"/>
          <p:cNvSpPr/>
          <p:nvPr/>
        </p:nvSpPr>
        <p:spPr>
          <a:xfrm>
            <a:off x="3484594" y="2893695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6" name="thesis-defense-1/drawing/effect-comparison/e6/segment-1"/>
          <p:cNvSpPr/>
          <p:nvPr/>
        </p:nvSpPr>
        <p:spPr>
          <a:xfrm>
            <a:off x="5059331" y="2893695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7" name="thesis-defense-1/drawing/effect-comparison/e7"/>
          <p:cNvSpPr/>
          <p:nvPr/>
        </p:nvSpPr>
        <p:spPr>
          <a:xfrm>
            <a:off x="4214813" y="2903220"/>
            <a:ext cx="114300" cy="11430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8" name="thesis-defense-1/drawing/effect-comparison/e8"/>
          <p:cNvSpPr/>
          <p:nvPr/>
        </p:nvSpPr>
        <p:spPr>
          <a:xfrm>
            <a:off x="1847850" y="3131820"/>
            <a:ext cx="96964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−0.300 [−0.365, −0.235]</a:t>
            </a:r>
            <a:endParaRPr lang="zh-CN" sz="1800" dirty="0"/>
          </a:p>
        </p:txBody>
      </p:sp>
      <p:sp>
        <p:nvSpPr>
          <p:cNvPr id="19" name="thesis-defense-1/drawing/effect-comparison/e9"/>
          <p:cNvSpPr/>
          <p:nvPr/>
        </p:nvSpPr>
        <p:spPr>
          <a:xfrm>
            <a:off x="457200" y="3709035"/>
            <a:ext cx="12954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</a:t>
            </a:r>
            <a:endParaRPr lang="zh-CN" sz="1800" dirty="0"/>
          </a:p>
        </p:txBody>
      </p:sp>
      <p:sp>
        <p:nvSpPr>
          <p:cNvPr id="20" name="thesis-defense-1/drawing/effect-comparison/e10/segment-1"/>
          <p:cNvSpPr/>
          <p:nvPr/>
        </p:nvSpPr>
        <p:spPr>
          <a:xfrm>
            <a:off x="6585507" y="3861435"/>
            <a:ext cx="3857304" cy="0"/>
          </a:xfrm>
          <a:prstGeom prst="line">
            <a:avLst/>
          </a:prstGeom>
          <a:noFill/>
          <a:ln w="28575">
            <a:solidFill>
              <a:srgbClr val="A35332"/>
            </a:solidFill>
            <a:prstDash val="solid"/>
          </a:ln>
        </p:spPr>
      </p:sp>
      <p:sp>
        <p:nvSpPr>
          <p:cNvPr id="21" name="thesis-defense-1/drawing/effect-comparison/e11/segment-1"/>
          <p:cNvSpPr/>
          <p:nvPr/>
        </p:nvSpPr>
        <p:spPr>
          <a:xfrm>
            <a:off x="6585507" y="3794760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22" name="thesis-defense-1/drawing/effect-comparison/e12/segment-1"/>
          <p:cNvSpPr/>
          <p:nvPr/>
        </p:nvSpPr>
        <p:spPr>
          <a:xfrm>
            <a:off x="10442811" y="3794760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23" name="thesis-defense-1/drawing/effect-comparison/e13"/>
          <p:cNvSpPr/>
          <p:nvPr/>
        </p:nvSpPr>
        <p:spPr>
          <a:xfrm>
            <a:off x="8457009" y="3804285"/>
            <a:ext cx="114300" cy="11430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24" name="thesis-defense-1/drawing/effect-comparison/e14"/>
          <p:cNvSpPr/>
          <p:nvPr/>
        </p:nvSpPr>
        <p:spPr>
          <a:xfrm>
            <a:off x="1847850" y="4032885"/>
            <a:ext cx="96964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0.050 [−0.109, 0.209]</a:t>
            </a:r>
            <a:endParaRPr lang="zh-CN" sz="1800" dirty="0"/>
          </a:p>
        </p:txBody>
      </p:sp>
      <p:sp>
        <p:nvSpPr>
          <p:cNvPr id="25" name="thesis-defense-1/drawing/effect-comparison/e15/segment-1"/>
          <p:cNvSpPr/>
          <p:nvPr/>
        </p:nvSpPr>
        <p:spPr>
          <a:xfrm>
            <a:off x="1847850" y="4591050"/>
            <a:ext cx="9696450" cy="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6" name="thesis-defense-1/drawing/effect-comparison/e16/segment-1"/>
          <p:cNvSpPr/>
          <p:nvPr/>
        </p:nvSpPr>
        <p:spPr>
          <a:xfrm>
            <a:off x="3059906" y="459105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7" name="thesis-defense-1/drawing/effect-comparison/e17"/>
          <p:cNvSpPr/>
          <p:nvPr/>
        </p:nvSpPr>
        <p:spPr>
          <a:xfrm>
            <a:off x="2726531" y="471487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−0.4</a:t>
            </a:r>
            <a:endParaRPr lang="zh-CN" sz="1800" dirty="0"/>
          </a:p>
        </p:txBody>
      </p:sp>
      <p:sp>
        <p:nvSpPr>
          <p:cNvPr id="28" name="thesis-defense-1/drawing/effect-comparison/e18/segment-1"/>
          <p:cNvSpPr/>
          <p:nvPr/>
        </p:nvSpPr>
        <p:spPr>
          <a:xfrm>
            <a:off x="5484019" y="459105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9" name="thesis-defense-1/drawing/effect-comparison/e19"/>
          <p:cNvSpPr/>
          <p:nvPr/>
        </p:nvSpPr>
        <p:spPr>
          <a:xfrm>
            <a:off x="5150644" y="471487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−0.2</a:t>
            </a:r>
            <a:endParaRPr lang="zh-CN" sz="1800" dirty="0"/>
          </a:p>
        </p:txBody>
      </p:sp>
      <p:sp>
        <p:nvSpPr>
          <p:cNvPr id="30" name="thesis-defense-1/drawing/effect-comparison/e20/segment-1"/>
          <p:cNvSpPr/>
          <p:nvPr/>
        </p:nvSpPr>
        <p:spPr>
          <a:xfrm>
            <a:off x="7908131" y="459105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1" name="thesis-defense-1/drawing/effect-comparison/e21"/>
          <p:cNvSpPr/>
          <p:nvPr/>
        </p:nvSpPr>
        <p:spPr>
          <a:xfrm>
            <a:off x="7574756" y="471487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32" name="thesis-defense-1/drawing/effect-comparison/e22/segment-1"/>
          <p:cNvSpPr/>
          <p:nvPr/>
        </p:nvSpPr>
        <p:spPr>
          <a:xfrm>
            <a:off x="10332244" y="459105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3" name="thesis-defense-1/drawing/effect-comparison/e23"/>
          <p:cNvSpPr/>
          <p:nvPr/>
        </p:nvSpPr>
        <p:spPr>
          <a:xfrm>
            <a:off x="9998869" y="471487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</a:t>
            </a:r>
            <a:endParaRPr lang="zh-CN" sz="1800" dirty="0"/>
          </a:p>
        </p:txBody>
      </p:sp>
      <p:sp>
        <p:nvSpPr>
          <p:cNvPr id="34" name="thesis-defense-1/drawing/numbered-findings/e1"/>
          <p:cNvSpPr/>
          <p:nvPr/>
        </p:nvSpPr>
        <p:spPr>
          <a:xfrm>
            <a:off x="457200" y="5248275"/>
            <a:ext cx="53340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随机划分：误差较低</a:t>
            </a:r>
            <a:endParaRPr lang="zh-CN" sz="2100" dirty="0"/>
          </a:p>
        </p:txBody>
      </p:sp>
      <p:sp>
        <p:nvSpPr>
          <p:cNvPr id="35" name="thesis-defense-1/drawing/numbered-findings/e2"/>
          <p:cNvSpPr/>
          <p:nvPr/>
        </p:nvSpPr>
        <p:spPr>
          <a:xfrm>
            <a:off x="6362700" y="5248275"/>
            <a:ext cx="53721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整站留出：差异不确定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sis-defense-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zh-CN" sz="1350" dirty="0"/>
          </a:p>
        </p:txBody>
      </p:sp>
      <p:sp>
        <p:nvSpPr>
          <p:cNvPr id="3" name="thesis-defense-2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分析单位与边界</a:t>
            </a:r>
            <a:endParaRPr lang="zh-CN" sz="2100" dirty="0"/>
          </a:p>
        </p:txBody>
      </p:sp>
      <p:sp>
        <p:nvSpPr>
          <p:cNvPr id="4" name="thesis-defense-2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从观测误差到站点层面的比较</a:t>
            </a:r>
            <a:endParaRPr lang="zh-CN" sz="3000" dirty="0"/>
          </a:p>
        </p:txBody>
      </p:sp>
      <p:sp>
        <p:nvSpPr>
          <p:cNvPr id="5" name="thesis-defense-2/kicker"/>
          <p:cNvSpPr/>
          <p:nvPr/>
        </p:nvSpPr>
        <p:spPr>
          <a:xfrm>
            <a:off x="457200" y="104013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thesis-defense-2/header-rule"/>
          <p:cNvSpPr/>
          <p:nvPr/>
        </p:nvSpPr>
        <p:spPr>
          <a:xfrm>
            <a:off x="457200" y="1455420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thesis-defense-2/header-accent"/>
          <p:cNvSpPr/>
          <p:nvPr/>
        </p:nvSpPr>
        <p:spPr>
          <a:xfrm>
            <a:off x="457200" y="1455420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thesis-defense-2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9" name="thesis-defense-2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graphicFrame>
        <p:nvGraphicFramePr>
          <p:cNvPr id="3" name="thesis-defense-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7820"/>
          <a:ext cx="5524500" cy="2293620"/>
        </p:xfrm>
        <a:graphic>
          <a:graphicData uri="http://schemas.openxmlformats.org/drawingml/2006/table">
            <a:tbl>
              <a:tblPr/>
              <a:tblGrid>
                <a:gridCol w="1247468"/>
                <a:gridCol w="2138516"/>
                <a:gridCol w="2138516"/>
              </a:tblGrid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54B6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站点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54B6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 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54B6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留站 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−0.250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A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02A3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hesis-defense-2/table-caption"/>
          <p:cNvSpPr/>
          <p:nvPr/>
        </p:nvSpPr>
        <p:spPr>
          <a:xfrm>
            <a:off x="457200" y="3968115"/>
            <a:ext cx="55245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方法 − 基线，单位 t/ha；每格来自同站 6 个观测</a:t>
            </a:r>
            <a:endParaRPr lang="zh-CN" sz="1350" dirty="0"/>
          </a:p>
        </p:txBody>
      </p:sp>
      <p:sp>
        <p:nvSpPr>
          <p:cNvPr id="12" name="thesis-defense-2/drawing/defense-conditions/e1"/>
          <p:cNvSpPr/>
          <p:nvPr/>
        </p:nvSpPr>
        <p:spPr>
          <a:xfrm>
            <a:off x="6457950" y="1607820"/>
            <a:ext cx="5276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评委可追问的条件</a:t>
            </a:r>
            <a:endParaRPr lang="zh-CN" sz="2100" dirty="0"/>
          </a:p>
        </p:txBody>
      </p:sp>
      <p:sp>
        <p:nvSpPr>
          <p:cNvPr id="13" name="thesis-defense-2/drawing/defense-conditions/e2"/>
          <p:cNvSpPr/>
          <p:nvPr/>
        </p:nvSpPr>
        <p:spPr>
          <a:xfrm>
            <a:off x="6457950" y="2172462"/>
            <a:ext cx="5276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同一协议内，方法与基线比较同一组观测。</a:t>
            </a:r>
            <a:endParaRPr lang="zh-CN" sz="2100" dirty="0"/>
          </a:p>
        </p:txBody>
      </p:sp>
      <p:sp>
        <p:nvSpPr>
          <p:cNvPr id="14" name="thesis-defense-2/drawing/defense-conditions/e3"/>
          <p:cNvSpPr/>
          <p:nvPr/>
        </p:nvSpPr>
        <p:spPr>
          <a:xfrm>
            <a:off x="6457950" y="2699004"/>
            <a:ext cx="5276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先按站点聚合，再计算四个配对差值。</a:t>
            </a:r>
            <a:endParaRPr lang="zh-CN" sz="2100" dirty="0"/>
          </a:p>
        </p:txBody>
      </p:sp>
      <p:sp>
        <p:nvSpPr>
          <p:cNvPr id="15" name="thesis-defense-2/drawing/defense-conditions/e4"/>
          <p:cNvSpPr/>
          <p:nvPr/>
        </p:nvSpPr>
        <p:spPr>
          <a:xfrm>
            <a:off x="6457950" y="3225546"/>
            <a:ext cx="5276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区间依赖站点独立性与差值分布假设。</a:t>
            </a:r>
            <a:endParaRPr lang="zh-CN" sz="2100" dirty="0"/>
          </a:p>
        </p:txBody>
      </p:sp>
      <p:sp>
        <p:nvSpPr>
          <p:cNvPr id="16" name="thesis-defense-2/drawing/scope-answer/e1"/>
          <p:cNvSpPr/>
          <p:nvPr/>
        </p:nvSpPr>
        <p:spPr>
          <a:xfrm>
            <a:off x="457200" y="5162550"/>
            <a:ext cx="112776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外推范围：本例没有真实训练与测试，结论只描述这套构造数值。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正式答辩：站点评估教学样例</dc:title>
  <dc:subject>学术研究汇报</dc:subject>
  <dc:creator>DSH Academic PPT</dc:creator>
  <cp:lastModifiedBy>DSH Academic PPT</cp:lastModifiedBy>
  <cp:revision>1</cp:revision>
  <dcterms:created xsi:type="dcterms:W3CDTF">2026-10-30T16:10:05Z</dcterms:created>
  <dcterms:modified xsi:type="dcterms:W3CDTF">2026-10-30T16:10:05Z</dcterms:modified>
</cp:coreProperties>
</file>