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本页为插件的原创、可编辑设计研究，不是实际模型或田间试验结果。
数据见 teaching-data.json，可由 scripts/build-academic-styles.mjs 重算。
共 24 个构造观测，聚合为 4 个站点差值；95% t 区间以站点为统计单位。
仅演示统计与排版；未训练模型，不能推断真实跨站点泛化。
随机划分：−0.300 [−0.365, −0.235] t/ha；整站留出：0.050 [−0.109, 0.209] t/ha。
先说明比较和零线，再读点估计与区间，最后解释外推边界。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本页为插件的原创、可编辑设计研究，不是实际模型或田间试验结果。
数据见 teaching-data.json，可由 scripts/build-academic-styles.mjs 重算。
共 24 个构造观测，聚合为 4 个站点差值；95% t 区间以站点为统计单位。
仅演示统计与排版；未训练模型，不能推断真实跨站点泛化。
随机划分：−0.300 [−0.365, −0.235] t/ha；整站留出：0.050 [−0.109, 0.209] t/ha。
先说明比较和零线，再读点估计与区间，最后解释外推边界。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club-1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5B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02</a:t>
            </a:r>
            <a:endParaRPr lang="zh-CN" sz="1350" dirty="0"/>
          </a:p>
        </p:txBody>
      </p:sp>
      <p:sp>
        <p:nvSpPr>
          <p:cNvPr id="3" name="paper-club-1/section-label"/>
          <p:cNvSpPr/>
          <p:nvPr/>
        </p:nvSpPr>
        <p:spPr>
          <a:xfrm>
            <a:off x="457200" y="133350"/>
            <a:ext cx="11277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950" b="1" dirty="0">
                <a:solidFill>
                  <a:srgbClr val="743F4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02  评价结果</a:t>
            </a:r>
            <a:endParaRPr lang="zh-CN" sz="1950" dirty="0"/>
          </a:p>
        </p:txBody>
      </p:sp>
      <p:sp>
        <p:nvSpPr>
          <p:cNvPr id="4" name="paper-club-1/title"/>
          <p:cNvSpPr/>
          <p:nvPr/>
        </p:nvSpPr>
        <p:spPr>
          <a:xfrm>
            <a:off x="457200" y="552450"/>
            <a:ext cx="11277600" cy="45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zh-CN" altLang="en-US" sz="3150" b="1" dirty="0">
                <a:solidFill>
                  <a:srgbClr val="30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随机划分误差较低，跨站点差异不确定</a:t>
            </a:r>
            <a:endParaRPr lang="zh-CN" sz="3150" dirty="0"/>
          </a:p>
        </p:txBody>
      </p:sp>
      <p:sp>
        <p:nvSpPr>
          <p:cNvPr id="5" name="paper-club-1/kicker"/>
          <p:cNvSpPr/>
          <p:nvPr/>
        </p:nvSpPr>
        <p:spPr>
          <a:xfrm>
            <a:off x="457200" y="1061656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655B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教学构造数据，非真实科研结果</a:t>
            </a:r>
            <a:endParaRPr lang="zh-CN" sz="2100" dirty="0"/>
          </a:p>
        </p:txBody>
      </p:sp>
      <p:sp>
        <p:nvSpPr>
          <p:cNvPr id="6" name="paper-club-1/header-rule"/>
          <p:cNvSpPr/>
          <p:nvPr/>
        </p:nvSpPr>
        <p:spPr>
          <a:xfrm>
            <a:off x="457200" y="1476947"/>
            <a:ext cx="11277600" cy="0"/>
          </a:xfrm>
          <a:prstGeom prst="line">
            <a:avLst/>
          </a:prstGeom>
          <a:noFill/>
          <a:ln w="9525">
            <a:solidFill>
              <a:srgbClr val="CDBFC5"/>
            </a:solidFill>
            <a:prstDash val="solid"/>
          </a:ln>
        </p:spPr>
      </p:sp>
      <p:sp>
        <p:nvSpPr>
          <p:cNvPr id="7" name="paper-club-1/header-accent"/>
          <p:cNvSpPr/>
          <p:nvPr/>
        </p:nvSpPr>
        <p:spPr>
          <a:xfrm>
            <a:off x="457200" y="1476947"/>
            <a:ext cx="1181100" cy="0"/>
          </a:xfrm>
          <a:prstGeom prst="line">
            <a:avLst/>
          </a:prstGeom>
          <a:noFill/>
          <a:ln w="15240">
            <a:solidFill>
              <a:srgbClr val="743F4D"/>
            </a:solidFill>
            <a:prstDash val="solid"/>
          </a:ln>
        </p:spPr>
      </p:sp>
      <p:sp>
        <p:nvSpPr>
          <p:cNvPr id="8" name="paper-club-1/drawing/study-qualification/e1"/>
          <p:cNvSpPr/>
          <p:nvPr/>
        </p:nvSpPr>
        <p:spPr>
          <a:xfrm>
            <a:off x="457200" y="58483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 24 个构造观测，聚合为 4 个站点差值；95% t 区间以站点为统计单位</a:t>
            </a:r>
            <a:endParaRPr lang="zh-CN" sz="1350" dirty="0"/>
          </a:p>
        </p:txBody>
      </p:sp>
      <p:sp>
        <p:nvSpPr>
          <p:cNvPr id="9" name="paper-club-1/drawing/study-qualification/e2"/>
          <p:cNvSpPr/>
          <p:nvPr/>
        </p:nvSpPr>
        <p:spPr>
          <a:xfrm>
            <a:off x="457200" y="61150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仅演示统计与排版；未训练模型，不能推断真实跨站点泛化</a:t>
            </a:r>
            <a:endParaRPr lang="zh-CN" sz="1350" dirty="0"/>
          </a:p>
        </p:txBody>
      </p:sp>
      <p:sp>
        <p:nvSpPr>
          <p:cNvPr id="10" name="paper-club-1/drawing/figure-plate/e1"/>
          <p:cNvSpPr/>
          <p:nvPr/>
        </p:nvSpPr>
        <p:spPr>
          <a:xfrm>
            <a:off x="457200" y="1629347"/>
            <a:ext cx="779145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图 T1  配对误差差值（t/ha）</a:t>
            </a:r>
            <a:endParaRPr lang="zh-CN" sz="2100" dirty="0"/>
          </a:p>
        </p:txBody>
      </p:sp>
      <p:sp>
        <p:nvSpPr>
          <p:cNvPr id="11" name="paper-club-1/drawing/figure-plate/fig-e1/segment-1"/>
          <p:cNvSpPr/>
          <p:nvPr/>
        </p:nvSpPr>
        <p:spPr>
          <a:xfrm>
            <a:off x="5729288" y="2277047"/>
            <a:ext cx="0" cy="2866454"/>
          </a:xfrm>
          <a:prstGeom prst="line">
            <a:avLst/>
          </a:prstGeom>
          <a:noFill/>
          <a:ln w="14288">
            <a:solidFill>
              <a:srgbClr val="526170"/>
            </a:solidFill>
            <a:prstDash val="dash"/>
          </a:ln>
        </p:spPr>
      </p:sp>
      <p:sp>
        <p:nvSpPr>
          <p:cNvPr id="12" name="paper-club-1/drawing/figure-plate/fig-e2"/>
          <p:cNvSpPr/>
          <p:nvPr/>
        </p:nvSpPr>
        <p:spPr>
          <a:xfrm>
            <a:off x="457200" y="2410397"/>
            <a:ext cx="129540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02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随机划分</a:t>
            </a:r>
            <a:endParaRPr lang="zh-CN" sz="1800" dirty="0"/>
          </a:p>
        </p:txBody>
      </p:sp>
      <p:sp>
        <p:nvSpPr>
          <p:cNvPr id="13" name="paper-club-1/drawing/figure-plate/fig-e3/segment-1"/>
          <p:cNvSpPr/>
          <p:nvPr/>
        </p:nvSpPr>
        <p:spPr>
          <a:xfrm>
            <a:off x="2896138" y="2562797"/>
            <a:ext cx="1008575" cy="0"/>
          </a:xfrm>
          <a:prstGeom prst="line">
            <a:avLst/>
          </a:prstGeom>
          <a:noFill/>
          <a:ln w="28575">
            <a:solidFill>
              <a:srgbClr val="245E86"/>
            </a:solidFill>
            <a:prstDash val="solid"/>
          </a:ln>
        </p:spPr>
      </p:sp>
      <p:sp>
        <p:nvSpPr>
          <p:cNvPr id="14" name="paper-club-1/drawing/figure-plate/fig-e4/segment-1"/>
          <p:cNvSpPr/>
          <p:nvPr/>
        </p:nvSpPr>
        <p:spPr>
          <a:xfrm>
            <a:off x="2896138" y="2496122"/>
            <a:ext cx="0" cy="133350"/>
          </a:xfrm>
          <a:prstGeom prst="line">
            <a:avLst/>
          </a:prstGeom>
          <a:noFill/>
          <a:ln w="19050">
            <a:solidFill>
              <a:srgbClr val="245E86"/>
            </a:solidFill>
            <a:prstDash val="solid"/>
          </a:ln>
        </p:spPr>
      </p:sp>
      <p:sp>
        <p:nvSpPr>
          <p:cNvPr id="15" name="paper-club-1/drawing/figure-plate/fig-e5/segment-1"/>
          <p:cNvSpPr/>
          <p:nvPr/>
        </p:nvSpPr>
        <p:spPr>
          <a:xfrm>
            <a:off x="3904712" y="2496122"/>
            <a:ext cx="0" cy="133350"/>
          </a:xfrm>
          <a:prstGeom prst="line">
            <a:avLst/>
          </a:prstGeom>
          <a:noFill/>
          <a:ln w="19050">
            <a:solidFill>
              <a:srgbClr val="245E86"/>
            </a:solidFill>
            <a:prstDash val="solid"/>
          </a:ln>
        </p:spPr>
      </p:sp>
      <p:sp>
        <p:nvSpPr>
          <p:cNvPr id="16" name="paper-club-1/drawing/figure-plate/fig-e6"/>
          <p:cNvSpPr/>
          <p:nvPr/>
        </p:nvSpPr>
        <p:spPr>
          <a:xfrm>
            <a:off x="3343275" y="2505647"/>
            <a:ext cx="114300" cy="114300"/>
          </a:xfrm>
          <a:prstGeom prst="ellipse">
            <a:avLst/>
          </a:prstGeom>
          <a:solidFill>
            <a:srgbClr val="245E86"/>
          </a:solidFill>
          <a:ln>
            <a:noFill/>
          </a:ln>
        </p:spPr>
      </p:sp>
      <p:sp>
        <p:nvSpPr>
          <p:cNvPr id="17" name="paper-club-1/drawing/figure-plate/fig-e7"/>
          <p:cNvSpPr/>
          <p:nvPr/>
        </p:nvSpPr>
        <p:spPr>
          <a:xfrm>
            <a:off x="1847850" y="2734247"/>
            <a:ext cx="621030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45E86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−0.300 [−0.365, −0.235]</a:t>
            </a:r>
            <a:endParaRPr lang="zh-CN" sz="1800" dirty="0"/>
          </a:p>
        </p:txBody>
      </p:sp>
      <p:sp>
        <p:nvSpPr>
          <p:cNvPr id="18" name="paper-club-1/drawing/figure-plate/fig-e8"/>
          <p:cNvSpPr/>
          <p:nvPr/>
        </p:nvSpPr>
        <p:spPr>
          <a:xfrm>
            <a:off x="457200" y="3786473"/>
            <a:ext cx="129540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02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整站留出</a:t>
            </a:r>
            <a:endParaRPr lang="zh-CN" sz="1800" dirty="0"/>
          </a:p>
        </p:txBody>
      </p:sp>
      <p:sp>
        <p:nvSpPr>
          <p:cNvPr id="19" name="paper-club-1/drawing/figure-plate/fig-e9/segment-1"/>
          <p:cNvSpPr/>
          <p:nvPr/>
        </p:nvSpPr>
        <p:spPr>
          <a:xfrm>
            <a:off x="4882185" y="3938873"/>
            <a:ext cx="2470493" cy="0"/>
          </a:xfrm>
          <a:prstGeom prst="line">
            <a:avLst/>
          </a:prstGeom>
          <a:noFill/>
          <a:ln w="28575">
            <a:solidFill>
              <a:srgbClr val="A35332"/>
            </a:solidFill>
            <a:prstDash val="solid"/>
          </a:ln>
        </p:spPr>
      </p:sp>
      <p:sp>
        <p:nvSpPr>
          <p:cNvPr id="20" name="paper-club-1/drawing/figure-plate/fig-e10/segment-1"/>
          <p:cNvSpPr/>
          <p:nvPr/>
        </p:nvSpPr>
        <p:spPr>
          <a:xfrm>
            <a:off x="4882185" y="3872198"/>
            <a:ext cx="0" cy="133350"/>
          </a:xfrm>
          <a:prstGeom prst="line">
            <a:avLst/>
          </a:prstGeom>
          <a:noFill/>
          <a:ln w="19050">
            <a:solidFill>
              <a:srgbClr val="A35332"/>
            </a:solidFill>
            <a:prstDash val="solid"/>
          </a:ln>
        </p:spPr>
      </p:sp>
      <p:sp>
        <p:nvSpPr>
          <p:cNvPr id="21" name="paper-club-1/drawing/figure-plate/fig-e11/segment-1"/>
          <p:cNvSpPr/>
          <p:nvPr/>
        </p:nvSpPr>
        <p:spPr>
          <a:xfrm>
            <a:off x="7352678" y="3872198"/>
            <a:ext cx="0" cy="133350"/>
          </a:xfrm>
          <a:prstGeom prst="line">
            <a:avLst/>
          </a:prstGeom>
          <a:noFill/>
          <a:ln w="19050">
            <a:solidFill>
              <a:srgbClr val="A35332"/>
            </a:solidFill>
            <a:prstDash val="solid"/>
          </a:ln>
        </p:spPr>
      </p:sp>
      <p:sp>
        <p:nvSpPr>
          <p:cNvPr id="22" name="paper-club-1/drawing/figure-plate/fig-e12"/>
          <p:cNvSpPr/>
          <p:nvPr/>
        </p:nvSpPr>
        <p:spPr>
          <a:xfrm>
            <a:off x="6060281" y="3881723"/>
            <a:ext cx="114300" cy="114300"/>
          </a:xfrm>
          <a:prstGeom prst="ellipse">
            <a:avLst/>
          </a:prstGeom>
          <a:solidFill>
            <a:srgbClr val="A35332"/>
          </a:solidFill>
          <a:ln>
            <a:noFill/>
          </a:ln>
        </p:spPr>
      </p:sp>
      <p:sp>
        <p:nvSpPr>
          <p:cNvPr id="23" name="paper-club-1/drawing/figure-plate/fig-e13"/>
          <p:cNvSpPr/>
          <p:nvPr/>
        </p:nvSpPr>
        <p:spPr>
          <a:xfrm>
            <a:off x="1847850" y="4110323"/>
            <a:ext cx="621030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A35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0.050 [−0.109, 0.209]</a:t>
            </a:r>
            <a:endParaRPr lang="zh-CN" sz="1800" dirty="0"/>
          </a:p>
        </p:txBody>
      </p:sp>
      <p:sp>
        <p:nvSpPr>
          <p:cNvPr id="24" name="paper-club-1/drawing/figure-plate/fig-e14/segment-1"/>
          <p:cNvSpPr/>
          <p:nvPr/>
        </p:nvSpPr>
        <p:spPr>
          <a:xfrm>
            <a:off x="1847850" y="5143500"/>
            <a:ext cx="6210300" cy="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25" name="paper-club-1/drawing/figure-plate/fig-e15/segment-1"/>
          <p:cNvSpPr/>
          <p:nvPr/>
        </p:nvSpPr>
        <p:spPr>
          <a:xfrm>
            <a:off x="2624138" y="5143500"/>
            <a:ext cx="0" cy="5715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26" name="paper-club-1/drawing/figure-plate/fig-e16"/>
          <p:cNvSpPr/>
          <p:nvPr/>
        </p:nvSpPr>
        <p:spPr>
          <a:xfrm>
            <a:off x="2290763" y="5267325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−0.4</a:t>
            </a:r>
            <a:endParaRPr lang="zh-CN" sz="1800" dirty="0"/>
          </a:p>
        </p:txBody>
      </p:sp>
      <p:sp>
        <p:nvSpPr>
          <p:cNvPr id="27" name="paper-club-1/drawing/figure-plate/fig-e17/segment-1"/>
          <p:cNvSpPr/>
          <p:nvPr/>
        </p:nvSpPr>
        <p:spPr>
          <a:xfrm>
            <a:off x="4176712" y="5143500"/>
            <a:ext cx="0" cy="5715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28" name="paper-club-1/drawing/figure-plate/fig-e18"/>
          <p:cNvSpPr/>
          <p:nvPr/>
        </p:nvSpPr>
        <p:spPr>
          <a:xfrm>
            <a:off x="3843338" y="5267325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−0.2</a:t>
            </a:r>
            <a:endParaRPr lang="zh-CN" sz="1800" dirty="0"/>
          </a:p>
        </p:txBody>
      </p:sp>
      <p:sp>
        <p:nvSpPr>
          <p:cNvPr id="29" name="paper-club-1/drawing/figure-plate/fig-e19/segment-1"/>
          <p:cNvSpPr/>
          <p:nvPr/>
        </p:nvSpPr>
        <p:spPr>
          <a:xfrm>
            <a:off x="5729288" y="5143500"/>
            <a:ext cx="0" cy="5715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30" name="paper-club-1/drawing/figure-plate/fig-e20"/>
          <p:cNvSpPr/>
          <p:nvPr/>
        </p:nvSpPr>
        <p:spPr>
          <a:xfrm>
            <a:off x="5395913" y="5267325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</a:t>
            </a:r>
            <a:endParaRPr lang="zh-CN" sz="1800" dirty="0"/>
          </a:p>
        </p:txBody>
      </p:sp>
      <p:sp>
        <p:nvSpPr>
          <p:cNvPr id="31" name="paper-club-1/drawing/figure-plate/fig-e21/segment-1"/>
          <p:cNvSpPr/>
          <p:nvPr/>
        </p:nvSpPr>
        <p:spPr>
          <a:xfrm>
            <a:off x="7281862" y="5143500"/>
            <a:ext cx="0" cy="5715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32" name="paper-club-1/drawing/figure-plate/fig-e22"/>
          <p:cNvSpPr/>
          <p:nvPr/>
        </p:nvSpPr>
        <p:spPr>
          <a:xfrm>
            <a:off x="6948487" y="5267325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0.2</a:t>
            </a:r>
            <a:endParaRPr lang="zh-CN" sz="1800" dirty="0"/>
          </a:p>
        </p:txBody>
      </p:sp>
      <p:sp>
        <p:nvSpPr>
          <p:cNvPr id="33" name="paper-club-1/drawing/reader-margin/e1"/>
          <p:cNvSpPr/>
          <p:nvPr/>
        </p:nvSpPr>
        <p:spPr>
          <a:xfrm>
            <a:off x="8686800" y="1629347"/>
            <a:ext cx="304800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A353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读图批注</a:t>
            </a:r>
            <a:endParaRPr lang="zh-CN" sz="2100" dirty="0"/>
          </a:p>
        </p:txBody>
      </p:sp>
      <p:sp>
        <p:nvSpPr>
          <p:cNvPr id="34" name="paper-club-1/drawing/reader-margin/e2"/>
          <p:cNvSpPr/>
          <p:nvPr/>
        </p:nvSpPr>
        <p:spPr>
          <a:xfrm>
            <a:off x="8686800" y="2174939"/>
            <a:ext cx="3048000" cy="691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两行比较的是同一误差差</a:t>
            </a:r>
            <a:endParaRPr lang="zh-CN" sz="2100" dirty="0"/>
          </a:p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值，单位一致。</a:t>
            </a:r>
            <a:endParaRPr lang="zh-CN" sz="2100" dirty="0"/>
          </a:p>
        </p:txBody>
      </p:sp>
      <p:sp>
        <p:nvSpPr>
          <p:cNvPr id="35" name="paper-club-1/drawing/reader-margin/e3"/>
          <p:cNvSpPr/>
          <p:nvPr/>
        </p:nvSpPr>
        <p:spPr>
          <a:xfrm>
            <a:off x="8686800" y="3104198"/>
            <a:ext cx="3048000" cy="102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整站留出区间跨零。</a:t>
            </a:r>
            <a:endParaRPr lang="zh-CN" sz="2100" dirty="0"/>
          </a:p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“有泛化优势”的说法</a:t>
            </a:r>
            <a:endParaRPr lang="zh-CN" sz="2100" dirty="0"/>
          </a:p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超出了这份证据。</a:t>
            </a:r>
            <a:endParaRPr lang="zh-CN" sz="2100" dirty="0"/>
          </a:p>
        </p:txBody>
      </p:sp>
      <p:sp>
        <p:nvSpPr>
          <p:cNvPr id="36" name="paper-club-1/drawing/reader-margin/e4"/>
          <p:cNvSpPr/>
          <p:nvPr/>
        </p:nvSpPr>
        <p:spPr>
          <a:xfrm>
            <a:off x="8686800" y="4369499"/>
            <a:ext cx="3048000" cy="691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问：只有 4 个站点时，结</a:t>
            </a:r>
            <a:endParaRPr lang="zh-CN" sz="2100" dirty="0"/>
          </a:p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果对站点组成有多敏感？</a:t>
            </a:r>
            <a:endParaRPr lang="zh-CN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club-2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655B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02</a:t>
            </a:r>
            <a:endParaRPr lang="zh-CN" sz="1350" dirty="0"/>
          </a:p>
        </p:txBody>
      </p:sp>
      <p:sp>
        <p:nvSpPr>
          <p:cNvPr id="3" name="paper-club-2/section-label"/>
          <p:cNvSpPr/>
          <p:nvPr/>
        </p:nvSpPr>
        <p:spPr>
          <a:xfrm>
            <a:off x="457200" y="133350"/>
            <a:ext cx="11277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950" b="1" dirty="0">
                <a:solidFill>
                  <a:srgbClr val="743F4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03  分析单位与边界</a:t>
            </a:r>
            <a:endParaRPr lang="zh-CN" sz="1950" dirty="0"/>
          </a:p>
        </p:txBody>
      </p:sp>
      <p:sp>
        <p:nvSpPr>
          <p:cNvPr id="4" name="paper-club-2/title"/>
          <p:cNvSpPr/>
          <p:nvPr/>
        </p:nvSpPr>
        <p:spPr>
          <a:xfrm>
            <a:off x="457200" y="552450"/>
            <a:ext cx="11277600" cy="45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zh-CN" altLang="en-US" sz="3150" b="1" dirty="0">
                <a:solidFill>
                  <a:srgbClr val="302B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从观测误差到站点层面的比较</a:t>
            </a:r>
            <a:endParaRPr lang="zh-CN" sz="3150" dirty="0"/>
          </a:p>
        </p:txBody>
      </p:sp>
      <p:sp>
        <p:nvSpPr>
          <p:cNvPr id="5" name="paper-club-2/kicker"/>
          <p:cNvSpPr/>
          <p:nvPr/>
        </p:nvSpPr>
        <p:spPr>
          <a:xfrm>
            <a:off x="457200" y="1061656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655B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教学构造数据，非真实科研结果</a:t>
            </a:r>
            <a:endParaRPr lang="zh-CN" sz="2100" dirty="0"/>
          </a:p>
        </p:txBody>
      </p:sp>
      <p:sp>
        <p:nvSpPr>
          <p:cNvPr id="6" name="paper-club-2/header-rule"/>
          <p:cNvSpPr/>
          <p:nvPr/>
        </p:nvSpPr>
        <p:spPr>
          <a:xfrm>
            <a:off x="457200" y="1476947"/>
            <a:ext cx="11277600" cy="0"/>
          </a:xfrm>
          <a:prstGeom prst="line">
            <a:avLst/>
          </a:prstGeom>
          <a:noFill/>
          <a:ln w="9525">
            <a:solidFill>
              <a:srgbClr val="CDBFC5"/>
            </a:solidFill>
            <a:prstDash val="solid"/>
          </a:ln>
        </p:spPr>
      </p:sp>
      <p:sp>
        <p:nvSpPr>
          <p:cNvPr id="7" name="paper-club-2/header-accent"/>
          <p:cNvSpPr/>
          <p:nvPr/>
        </p:nvSpPr>
        <p:spPr>
          <a:xfrm>
            <a:off x="457200" y="1476947"/>
            <a:ext cx="1181100" cy="0"/>
          </a:xfrm>
          <a:prstGeom prst="line">
            <a:avLst/>
          </a:prstGeom>
          <a:noFill/>
          <a:ln w="15240">
            <a:solidFill>
              <a:srgbClr val="743F4D"/>
            </a:solidFill>
            <a:prstDash val="solid"/>
          </a:ln>
        </p:spPr>
      </p:sp>
      <p:sp>
        <p:nvSpPr>
          <p:cNvPr id="8" name="paper-club-2/drawing/study-qualification/e1"/>
          <p:cNvSpPr/>
          <p:nvPr/>
        </p:nvSpPr>
        <p:spPr>
          <a:xfrm>
            <a:off x="457200" y="58483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 24 个构造观测，聚合为 4 个站点差值；95% t 区间以站点为统计单位</a:t>
            </a:r>
            <a:endParaRPr lang="zh-CN" sz="1350" dirty="0"/>
          </a:p>
        </p:txBody>
      </p:sp>
      <p:sp>
        <p:nvSpPr>
          <p:cNvPr id="9" name="paper-club-2/drawing/study-qualification/e2"/>
          <p:cNvSpPr/>
          <p:nvPr/>
        </p:nvSpPr>
        <p:spPr>
          <a:xfrm>
            <a:off x="457200" y="61150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仅演示统计与排版；未训练模型，不能推断真实跨站点泛化</a:t>
            </a:r>
            <a:endParaRPr lang="zh-CN" sz="1350" dirty="0"/>
          </a:p>
        </p:txBody>
      </p:sp>
      <p:graphicFrame>
        <p:nvGraphicFramePr>
          <p:cNvPr id="3" name="paper-club-2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9347"/>
          <a:ext cx="5143500" cy="2293620"/>
        </p:xfrm>
        <a:graphic>
          <a:graphicData uri="http://schemas.openxmlformats.org/drawingml/2006/table">
            <a:tbl>
              <a:tblPr/>
              <a:tblGrid>
                <a:gridCol w="1161435"/>
                <a:gridCol w="1991032"/>
                <a:gridCol w="1991032"/>
              </a:tblGrid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743F4D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站点</a:t>
                      </a:r>
                      <a:endParaRPr lang="zh-CN" sz="21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74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74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743F4D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随机 Δ</a:t>
                      </a:r>
                      <a:endParaRPr lang="zh-CN" sz="21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74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74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743F4D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留站 Δ</a:t>
                      </a:r>
                      <a:endParaRPr lang="zh-CN" sz="21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74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74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3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302B2D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A</a:t>
                      </a:r>
                      <a:endParaRPr lang="zh-CN" sz="21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CDB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302B2D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−0.300</a:t>
                      </a:r>
                      <a:endParaRPr lang="zh-CN" sz="21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CDB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302B2D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0.100</a:t>
                      </a:r>
                      <a:endParaRPr lang="zh-CN" sz="21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CDB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302B2D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B</a:t>
                      </a:r>
                      <a:endParaRPr lang="zh-CN" sz="21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CDB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302B2D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−0.250</a:t>
                      </a:r>
                      <a:endParaRPr lang="zh-CN" sz="21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CDB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302B2D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−0.100</a:t>
                      </a:r>
                      <a:endParaRPr lang="zh-CN" sz="21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CDB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302B2D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C</a:t>
                      </a:r>
                      <a:endParaRPr lang="zh-CN" sz="21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CDB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302B2D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−0.350</a:t>
                      </a:r>
                      <a:endParaRPr lang="zh-CN" sz="21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CDB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302B2D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0.100</a:t>
                      </a:r>
                      <a:endParaRPr lang="zh-CN" sz="21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CDB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302B2D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D</a:t>
                      </a:r>
                      <a:endParaRPr lang="zh-CN" sz="21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74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302B2D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−0.300</a:t>
                      </a:r>
                      <a:endParaRPr lang="zh-CN" sz="21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74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302B2D"/>
                          </a:solidFill>
                          <a:latin typeface="Noto Serif CJK SC" pitchFamily="34" charset="0"/>
                          <a:ea typeface="Noto Serif CJK SC" pitchFamily="34" charset="-122"/>
                          <a:cs typeface="Noto Serif CJK SC" pitchFamily="34" charset="-120"/>
                        </a:rPr>
                        <a:t>0.100</a:t>
                      </a:r>
                      <a:endParaRPr lang="zh-CN" sz="2100" dirty="0">
                        <a:latin typeface="Noto Serif CJK SC" charset="0"/>
                        <a:ea typeface="Noto Serif CJK SC" charset="0"/>
                        <a:cs typeface="Noto Serif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74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paper-club-2/table-caption"/>
          <p:cNvSpPr/>
          <p:nvPr/>
        </p:nvSpPr>
        <p:spPr>
          <a:xfrm>
            <a:off x="457200" y="3989642"/>
            <a:ext cx="514350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zh-CN" altLang="en-US" sz="1500" dirty="0">
                <a:solidFill>
                  <a:srgbClr val="655B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 = 方法 − 基线，单位 t/ha；每格来自同站 6 个观测</a:t>
            </a:r>
            <a:endParaRPr lang="zh-CN" sz="1500" dirty="0"/>
          </a:p>
        </p:txBody>
      </p:sp>
      <p:sp>
        <p:nvSpPr>
          <p:cNvPr id="12" name="paper-club-2/drawing/claim-audit/e1"/>
          <p:cNvSpPr/>
          <p:nvPr/>
        </p:nvSpPr>
        <p:spPr>
          <a:xfrm>
            <a:off x="6115050" y="1629347"/>
            <a:ext cx="561975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原始信息与讲者判断分开</a:t>
            </a:r>
            <a:endParaRPr lang="zh-CN" sz="2100" dirty="0"/>
          </a:p>
        </p:txBody>
      </p:sp>
      <p:sp>
        <p:nvSpPr>
          <p:cNvPr id="13" name="paper-club-2/drawing/claim-audit/e2"/>
          <p:cNvSpPr/>
          <p:nvPr/>
        </p:nvSpPr>
        <p:spPr>
          <a:xfrm>
            <a:off x="6115050" y="2222564"/>
            <a:ext cx="5619750" cy="691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记录：每站 6 个观测。先求站点 MAE，</a:t>
            </a:r>
            <a:endParaRPr lang="zh-CN" sz="2100" dirty="0"/>
          </a:p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再计算方法与基线的差值。</a:t>
            </a:r>
            <a:endParaRPr lang="zh-CN" sz="2100" dirty="0"/>
          </a:p>
        </p:txBody>
      </p:sp>
      <p:sp>
        <p:nvSpPr>
          <p:cNvPr id="14" name="paper-club-2/drawing/claim-audit/e3"/>
          <p:cNvSpPr/>
          <p:nvPr/>
        </p:nvSpPr>
        <p:spPr>
          <a:xfrm>
            <a:off x="6115050" y="3151823"/>
            <a:ext cx="5619750" cy="691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判断：随机划分差值低于零；</a:t>
            </a:r>
            <a:endParaRPr lang="zh-CN" sz="2100" dirty="0"/>
          </a:p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整站留出的方向仍不确定。</a:t>
            </a:r>
            <a:endParaRPr lang="zh-CN" sz="2100" dirty="0"/>
          </a:p>
        </p:txBody>
      </p:sp>
      <p:sp>
        <p:nvSpPr>
          <p:cNvPr id="15" name="paper-club-2/drawing/claim-audit/e4"/>
          <p:cNvSpPr/>
          <p:nvPr/>
        </p:nvSpPr>
        <p:spPr>
          <a:xfrm>
            <a:off x="6115050" y="4081082"/>
            <a:ext cx="5619750" cy="691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边界：统计单位是站点。24 个观测</a:t>
            </a:r>
            <a:endParaRPr lang="zh-CN" sz="2100" dirty="0"/>
          </a:p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不能替代更多独立站点。</a:t>
            </a:r>
            <a:endParaRPr lang="zh-CN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论文精读：站点评估教学样例</dc:title>
  <dc:subject>学术研究汇报</dc:subject>
  <dc:creator>DSH Academic PPT</dc:creator>
  <cp:lastModifiedBy>DSH Academic PPT</cp:lastModifiedBy>
  <cp:revision>1</cp:revision>
  <dcterms:created xsi:type="dcterms:W3CDTF">2026-10-30T16:10:14Z</dcterms:created>
  <dcterms:modified xsi:type="dcterms:W3CDTF">2026-10-30T16:10:14Z</dcterms:modified>
</cp:coreProperties>
</file>