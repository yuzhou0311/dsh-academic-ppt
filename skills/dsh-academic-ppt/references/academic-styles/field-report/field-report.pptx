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本页为插件的原创、可编辑设计研究，不是实际模型或田间试验结果。
数据见 teaching-data.json，可由 scripts/build-academic-styles.mjs 重算。
共 24 个构造观测，聚合为 4 个站点差值；95% t 区间以站点为统计单位。
仅演示统计与排版；未训练模型，不能推断真实跨站点泛化。
随机划分：−0.300 [−0.365, −0.235] t/ha；整站留出：0.050 [−0.109, 0.209] t/ha。
先说明比较和零线，再读点估计与区间，最后解释外推边界。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-report-1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56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02</a:t>
            </a:r>
            <a:endParaRPr lang="zh-CN" sz="1350" dirty="0"/>
          </a:p>
        </p:txBody>
      </p:sp>
      <p:sp>
        <p:nvSpPr>
          <p:cNvPr id="3" name="field-report-1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315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评价结果</a:t>
            </a:r>
            <a:endParaRPr lang="zh-CN" sz="1950" dirty="0"/>
          </a:p>
        </p:txBody>
      </p:sp>
      <p:sp>
        <p:nvSpPr>
          <p:cNvPr id="4" name="field-report-1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6312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随机划分误差较低，跨站点差异不确定</a:t>
            </a:r>
            <a:endParaRPr lang="zh-CN" sz="3000" dirty="0"/>
          </a:p>
        </p:txBody>
      </p:sp>
      <p:sp>
        <p:nvSpPr>
          <p:cNvPr id="5" name="field-report-1/kicker"/>
          <p:cNvSpPr/>
          <p:nvPr/>
        </p:nvSpPr>
        <p:spPr>
          <a:xfrm>
            <a:off x="457200" y="104013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5645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field-report-1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7" name="field-report-1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8" name="field-report-1/drawing/site-effects/e1"/>
          <p:cNvSpPr/>
          <p:nvPr/>
        </p:nvSpPr>
        <p:spPr>
          <a:xfrm>
            <a:off x="457200" y="1550670"/>
            <a:ext cx="7477125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每个站点都保留一对差值</a:t>
            </a:r>
            <a:endParaRPr lang="zh-CN" sz="2100" dirty="0"/>
          </a:p>
        </p:txBody>
      </p:sp>
      <p:sp>
        <p:nvSpPr>
          <p:cNvPr id="9" name="field-report-1/drawing/site-effects/e2/segment-1"/>
          <p:cNvSpPr/>
          <p:nvPr/>
        </p:nvSpPr>
        <p:spPr>
          <a:xfrm>
            <a:off x="5382986" y="2036445"/>
            <a:ext cx="0" cy="3049905"/>
          </a:xfrm>
          <a:prstGeom prst="line">
            <a:avLst/>
          </a:prstGeom>
          <a:noFill/>
          <a:ln w="14288">
            <a:solidFill>
              <a:srgbClr val="526170"/>
            </a:solidFill>
            <a:prstDash val="dash"/>
          </a:ln>
        </p:spPr>
      </p:sp>
      <p:sp>
        <p:nvSpPr>
          <p:cNvPr id="10" name="field-report-1/drawing/site-effects/e3"/>
          <p:cNvSpPr/>
          <p:nvPr/>
        </p:nvSpPr>
        <p:spPr>
          <a:xfrm>
            <a:off x="457200" y="2026920"/>
            <a:ext cx="523875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zh-CN" sz="1950" dirty="0"/>
          </a:p>
        </p:txBody>
      </p:sp>
      <p:sp>
        <p:nvSpPr>
          <p:cNvPr id="11" name="field-report-1/drawing/site-effects/e4"/>
          <p:cNvSpPr/>
          <p:nvPr/>
        </p:nvSpPr>
        <p:spPr>
          <a:xfrm>
            <a:off x="2559504" y="2065020"/>
            <a:ext cx="95250" cy="9525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2" name="field-report-1/drawing/site-effects/e5"/>
          <p:cNvSpPr/>
          <p:nvPr/>
        </p:nvSpPr>
        <p:spPr>
          <a:xfrm>
            <a:off x="6260646" y="2198370"/>
            <a:ext cx="95250" cy="9525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13" name="field-report-1/drawing/site-effects/e6"/>
          <p:cNvSpPr/>
          <p:nvPr/>
        </p:nvSpPr>
        <p:spPr>
          <a:xfrm>
            <a:off x="457200" y="2916555"/>
            <a:ext cx="523875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zh-CN" sz="1950" dirty="0"/>
          </a:p>
        </p:txBody>
      </p:sp>
      <p:sp>
        <p:nvSpPr>
          <p:cNvPr id="14" name="field-report-1/drawing/site-effects/e7"/>
          <p:cNvSpPr/>
          <p:nvPr/>
        </p:nvSpPr>
        <p:spPr>
          <a:xfrm>
            <a:off x="3022146" y="2954655"/>
            <a:ext cx="95250" cy="9525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5" name="field-report-1/drawing/site-effects/e8"/>
          <p:cNvSpPr/>
          <p:nvPr/>
        </p:nvSpPr>
        <p:spPr>
          <a:xfrm>
            <a:off x="4410075" y="3088005"/>
            <a:ext cx="95250" cy="9525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16" name="field-report-1/drawing/site-effects/e9"/>
          <p:cNvSpPr/>
          <p:nvPr/>
        </p:nvSpPr>
        <p:spPr>
          <a:xfrm>
            <a:off x="457200" y="3806190"/>
            <a:ext cx="523875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zh-CN" sz="1950" dirty="0"/>
          </a:p>
        </p:txBody>
      </p:sp>
      <p:sp>
        <p:nvSpPr>
          <p:cNvPr id="17" name="field-report-1/drawing/site-effects/e10"/>
          <p:cNvSpPr/>
          <p:nvPr/>
        </p:nvSpPr>
        <p:spPr>
          <a:xfrm>
            <a:off x="2096861" y="3844290"/>
            <a:ext cx="95250" cy="9525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18" name="field-report-1/drawing/site-effects/e11"/>
          <p:cNvSpPr/>
          <p:nvPr/>
        </p:nvSpPr>
        <p:spPr>
          <a:xfrm>
            <a:off x="6260646" y="3977640"/>
            <a:ext cx="95250" cy="9525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19" name="field-report-1/drawing/site-effects/e12"/>
          <p:cNvSpPr/>
          <p:nvPr/>
        </p:nvSpPr>
        <p:spPr>
          <a:xfrm>
            <a:off x="457200" y="4695825"/>
            <a:ext cx="523875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zh-CN" sz="1950" dirty="0"/>
          </a:p>
        </p:txBody>
      </p:sp>
      <p:sp>
        <p:nvSpPr>
          <p:cNvPr id="20" name="field-report-1/drawing/site-effects/e13"/>
          <p:cNvSpPr/>
          <p:nvPr/>
        </p:nvSpPr>
        <p:spPr>
          <a:xfrm>
            <a:off x="2559504" y="4733925"/>
            <a:ext cx="95250" cy="95250"/>
          </a:xfrm>
          <a:prstGeom prst="ellipse">
            <a:avLst/>
          </a:prstGeom>
          <a:solidFill>
            <a:srgbClr val="245E86"/>
          </a:solidFill>
          <a:ln>
            <a:noFill/>
          </a:ln>
        </p:spPr>
      </p:sp>
      <p:sp>
        <p:nvSpPr>
          <p:cNvPr id="21" name="field-report-1/drawing/site-effects/e14"/>
          <p:cNvSpPr/>
          <p:nvPr/>
        </p:nvSpPr>
        <p:spPr>
          <a:xfrm>
            <a:off x="6260646" y="4867275"/>
            <a:ext cx="95250" cy="95250"/>
          </a:xfrm>
          <a:prstGeom prst="ellipse">
            <a:avLst/>
          </a:prstGeom>
          <a:solidFill>
            <a:srgbClr val="A35332"/>
          </a:solidFill>
          <a:ln>
            <a:noFill/>
          </a:ln>
        </p:spPr>
      </p:sp>
      <p:sp>
        <p:nvSpPr>
          <p:cNvPr id="22" name="field-report-1/drawing/site-effects/e15/segment-1"/>
          <p:cNvSpPr/>
          <p:nvPr/>
        </p:nvSpPr>
        <p:spPr>
          <a:xfrm>
            <a:off x="1219200" y="5086350"/>
            <a:ext cx="6477000" cy="0"/>
          </a:xfrm>
          <a:prstGeom prst="line">
            <a:avLst/>
          </a:prstGeom>
          <a:noFill/>
          <a:ln w="14288">
            <a:solidFill>
              <a:srgbClr val="526170"/>
            </a:solidFill>
            <a:prstDash val="solid"/>
          </a:ln>
        </p:spPr>
      </p:sp>
      <p:sp>
        <p:nvSpPr>
          <p:cNvPr id="23" name="field-report-1/drawing/site-effects/e16"/>
          <p:cNvSpPr/>
          <p:nvPr/>
        </p:nvSpPr>
        <p:spPr>
          <a:xfrm>
            <a:off x="1348468" y="52292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−0.4</a:t>
            </a:r>
            <a:endParaRPr lang="zh-CN" sz="1800" dirty="0"/>
          </a:p>
        </p:txBody>
      </p:sp>
      <p:sp>
        <p:nvSpPr>
          <p:cNvPr id="24" name="field-report-1/drawing/site-effects/e17"/>
          <p:cNvSpPr/>
          <p:nvPr/>
        </p:nvSpPr>
        <p:spPr>
          <a:xfrm>
            <a:off x="3199039" y="52292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−0.2</a:t>
            </a:r>
            <a:endParaRPr lang="zh-CN" sz="1800" dirty="0"/>
          </a:p>
        </p:txBody>
      </p:sp>
      <p:sp>
        <p:nvSpPr>
          <p:cNvPr id="25" name="field-report-1/drawing/site-effects/e18"/>
          <p:cNvSpPr/>
          <p:nvPr/>
        </p:nvSpPr>
        <p:spPr>
          <a:xfrm>
            <a:off x="5049611" y="52292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</a:t>
            </a:r>
            <a:endParaRPr lang="zh-CN" sz="1800" dirty="0"/>
          </a:p>
        </p:txBody>
      </p:sp>
      <p:sp>
        <p:nvSpPr>
          <p:cNvPr id="26" name="field-report-1/drawing/site-effects/e19"/>
          <p:cNvSpPr/>
          <p:nvPr/>
        </p:nvSpPr>
        <p:spPr>
          <a:xfrm>
            <a:off x="6900182" y="5229225"/>
            <a:ext cx="6667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</a:t>
            </a:r>
            <a:endParaRPr lang="zh-CN" sz="1800" dirty="0"/>
          </a:p>
        </p:txBody>
      </p:sp>
      <p:sp>
        <p:nvSpPr>
          <p:cNvPr id="27" name="field-report-1/drawing/site-legend-and-mean/e1"/>
          <p:cNvSpPr/>
          <p:nvPr/>
        </p:nvSpPr>
        <p:spPr>
          <a:xfrm>
            <a:off x="8362950" y="1550670"/>
            <a:ext cx="3371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ΔMAE（t/ha）</a:t>
            </a:r>
            <a:endParaRPr lang="zh-CN" sz="2100" dirty="0"/>
          </a:p>
        </p:txBody>
      </p:sp>
      <p:sp>
        <p:nvSpPr>
          <p:cNvPr id="28" name="field-report-1/drawing/site-legend-and-mean/e2"/>
          <p:cNvSpPr/>
          <p:nvPr/>
        </p:nvSpPr>
        <p:spPr>
          <a:xfrm>
            <a:off x="8362950" y="2001012"/>
            <a:ext cx="337185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 − 基线</a:t>
            </a:r>
            <a:endParaRPr lang="zh-CN" sz="1800" dirty="0"/>
          </a:p>
        </p:txBody>
      </p:sp>
      <p:sp>
        <p:nvSpPr>
          <p:cNvPr id="29" name="field-report-1/drawing/site-legend-and-mean/e3"/>
          <p:cNvSpPr/>
          <p:nvPr/>
        </p:nvSpPr>
        <p:spPr>
          <a:xfrm>
            <a:off x="8362950" y="2517648"/>
            <a:ext cx="3371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45E8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随机划分</a:t>
            </a:r>
            <a:endParaRPr lang="zh-CN" sz="2100" dirty="0"/>
          </a:p>
        </p:txBody>
      </p:sp>
      <p:sp>
        <p:nvSpPr>
          <p:cNvPr id="30" name="field-report-1/drawing/site-legend-and-mean/e4"/>
          <p:cNvSpPr/>
          <p:nvPr/>
        </p:nvSpPr>
        <p:spPr>
          <a:xfrm>
            <a:off x="8362950" y="2967990"/>
            <a:ext cx="3371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−0.300 [−0.365, −0.235]</a:t>
            </a:r>
            <a:endParaRPr lang="zh-CN" sz="2100" dirty="0"/>
          </a:p>
        </p:txBody>
      </p:sp>
      <p:sp>
        <p:nvSpPr>
          <p:cNvPr id="31" name="field-report-1/drawing/site-legend-and-mean/e5"/>
          <p:cNvSpPr/>
          <p:nvPr/>
        </p:nvSpPr>
        <p:spPr>
          <a:xfrm>
            <a:off x="8362950" y="3513582"/>
            <a:ext cx="3371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A353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整站留出</a:t>
            </a:r>
            <a:endParaRPr lang="zh-CN" sz="2100" dirty="0"/>
          </a:p>
        </p:txBody>
      </p:sp>
      <p:sp>
        <p:nvSpPr>
          <p:cNvPr id="32" name="field-report-1/drawing/site-legend-and-mean/e6"/>
          <p:cNvSpPr/>
          <p:nvPr/>
        </p:nvSpPr>
        <p:spPr>
          <a:xfrm>
            <a:off x="8362950" y="3963924"/>
            <a:ext cx="337185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0.050 [−0.109, 0.209]</a:t>
            </a:r>
            <a:endParaRPr lang="zh-CN" sz="2100" dirty="0"/>
          </a:p>
        </p:txBody>
      </p:sp>
      <p:sp>
        <p:nvSpPr>
          <p:cNvPr id="33" name="field-report-1/drawing/site-legend-and-mean/e7"/>
          <p:cNvSpPr/>
          <p:nvPr/>
        </p:nvSpPr>
        <p:spPr>
          <a:xfrm>
            <a:off x="8362950" y="4509516"/>
            <a:ext cx="3371850" cy="595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左图每点为一个站点差值；右侧</a:t>
            </a:r>
            <a:endParaRPr lang="zh-CN" sz="1800" dirty="0"/>
          </a:p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为均值与 95% t 区间。</a:t>
            </a:r>
            <a:endParaRPr lang="zh-CN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eld-report-2/page-number"/>
          <p:cNvSpPr/>
          <p:nvPr/>
        </p:nvSpPr>
        <p:spPr>
          <a:xfrm>
            <a:off x="10744200" y="6534150"/>
            <a:ext cx="9906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28"/>
              </a:lnSpc>
              <a:buNone/>
            </a:pPr>
            <a:r>
              <a:rPr lang="zh-CN" altLang="en-US" sz="1350" dirty="0">
                <a:solidFill>
                  <a:srgbClr val="556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02</a:t>
            </a:r>
            <a:endParaRPr lang="zh-CN" sz="1350" dirty="0"/>
          </a:p>
        </p:txBody>
      </p:sp>
      <p:sp>
        <p:nvSpPr>
          <p:cNvPr id="3" name="field-report-2/section-label"/>
          <p:cNvSpPr/>
          <p:nvPr/>
        </p:nvSpPr>
        <p:spPr>
          <a:xfrm>
            <a:off x="457200" y="133350"/>
            <a:ext cx="112776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950" b="1" dirty="0">
                <a:solidFill>
                  <a:srgbClr val="315A4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分析单位与边界</a:t>
            </a:r>
            <a:endParaRPr lang="zh-CN" sz="1950" dirty="0"/>
          </a:p>
        </p:txBody>
      </p:sp>
      <p:sp>
        <p:nvSpPr>
          <p:cNvPr id="4" name="field-report-2/title"/>
          <p:cNvSpPr/>
          <p:nvPr/>
        </p:nvSpPr>
        <p:spPr>
          <a:xfrm>
            <a:off x="457200" y="552450"/>
            <a:ext cx="11277600" cy="430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90"/>
              </a:lnSpc>
              <a:buNone/>
            </a:pPr>
            <a:r>
              <a:rPr lang="zh-CN" altLang="en-US" sz="3000" b="1" dirty="0">
                <a:solidFill>
                  <a:srgbClr val="26312C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从观测误差到站点层面的比较</a:t>
            </a:r>
            <a:endParaRPr lang="zh-CN" sz="3000" dirty="0"/>
          </a:p>
        </p:txBody>
      </p:sp>
      <p:sp>
        <p:nvSpPr>
          <p:cNvPr id="5" name="field-report-2/kicker"/>
          <p:cNvSpPr/>
          <p:nvPr/>
        </p:nvSpPr>
        <p:spPr>
          <a:xfrm>
            <a:off x="457200" y="1040130"/>
            <a:ext cx="112776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2100" dirty="0">
                <a:solidFill>
                  <a:srgbClr val="55645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教学构造数据，非真实科研结果</a:t>
            </a:r>
            <a:endParaRPr lang="zh-CN" sz="2100" dirty="0"/>
          </a:p>
        </p:txBody>
      </p:sp>
      <p:sp>
        <p:nvSpPr>
          <p:cNvPr id="6" name="field-report-2/drawing/study-qualification/e1"/>
          <p:cNvSpPr/>
          <p:nvPr/>
        </p:nvSpPr>
        <p:spPr>
          <a:xfrm>
            <a:off x="457200" y="58483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 24 个构造观测，聚合为 4 个站点差值；95% t 区间以站点为统计单位</a:t>
            </a:r>
            <a:endParaRPr lang="zh-CN" sz="1350" dirty="0"/>
          </a:p>
        </p:txBody>
      </p:sp>
      <p:sp>
        <p:nvSpPr>
          <p:cNvPr id="7" name="field-report-2/drawing/study-qualification/e2"/>
          <p:cNvSpPr/>
          <p:nvPr/>
        </p:nvSpPr>
        <p:spPr>
          <a:xfrm>
            <a:off x="457200" y="6115050"/>
            <a:ext cx="11277600" cy="23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zh-CN" altLang="en-US" sz="135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仅演示统计与排版；未训练模型，不能推断真实跨站点泛化</a:t>
            </a:r>
            <a:endParaRPr lang="zh-CN" sz="1350" dirty="0"/>
          </a:p>
        </p:txBody>
      </p:sp>
      <p:sp>
        <p:nvSpPr>
          <p:cNvPr id="8" name="field-report-2/drawing/sampling-units/e1"/>
          <p:cNvSpPr/>
          <p:nvPr/>
        </p:nvSpPr>
        <p:spPr>
          <a:xfrm>
            <a:off x="457200" y="1550670"/>
            <a:ext cx="4762500" cy="355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4"/>
              </a:lnSpc>
              <a:buNone/>
            </a:pPr>
            <a:r>
              <a:rPr lang="zh-CN" altLang="en-US" sz="2100" b="1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观测嵌套在站点之内</a:t>
            </a:r>
            <a:endParaRPr lang="zh-CN" sz="2100" dirty="0"/>
          </a:p>
        </p:txBody>
      </p:sp>
      <p:sp>
        <p:nvSpPr>
          <p:cNvPr id="9" name="field-report-2/drawing/sampling-units/e2"/>
          <p:cNvSpPr/>
          <p:nvPr/>
        </p:nvSpPr>
        <p:spPr>
          <a:xfrm>
            <a:off x="457200" y="2141220"/>
            <a:ext cx="10668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 A</a:t>
            </a:r>
            <a:endParaRPr lang="zh-CN" sz="1950" dirty="0"/>
          </a:p>
        </p:txBody>
      </p:sp>
      <p:sp>
        <p:nvSpPr>
          <p:cNvPr id="10" name="field-report-2/drawing/sampling-units/e3"/>
          <p:cNvSpPr/>
          <p:nvPr/>
        </p:nvSpPr>
        <p:spPr>
          <a:xfrm>
            <a:off x="1828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1" name="field-report-2/drawing/sampling-units/e4"/>
          <p:cNvSpPr/>
          <p:nvPr/>
        </p:nvSpPr>
        <p:spPr>
          <a:xfrm>
            <a:off x="2209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2" name="field-report-2/drawing/sampling-units/e5"/>
          <p:cNvSpPr/>
          <p:nvPr/>
        </p:nvSpPr>
        <p:spPr>
          <a:xfrm>
            <a:off x="2590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3" name="field-report-2/drawing/sampling-units/e6"/>
          <p:cNvSpPr/>
          <p:nvPr/>
        </p:nvSpPr>
        <p:spPr>
          <a:xfrm>
            <a:off x="2971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4" name="field-report-2/drawing/sampling-units/e7"/>
          <p:cNvSpPr/>
          <p:nvPr/>
        </p:nvSpPr>
        <p:spPr>
          <a:xfrm>
            <a:off x="3352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5" name="field-report-2/drawing/sampling-units/e8"/>
          <p:cNvSpPr/>
          <p:nvPr/>
        </p:nvSpPr>
        <p:spPr>
          <a:xfrm>
            <a:off x="3733800" y="22459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6" name="field-report-2/drawing/sampling-units/e9"/>
          <p:cNvSpPr/>
          <p:nvPr/>
        </p:nvSpPr>
        <p:spPr>
          <a:xfrm>
            <a:off x="457200" y="2769870"/>
            <a:ext cx="10668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 B</a:t>
            </a:r>
            <a:endParaRPr lang="zh-CN" sz="1950" dirty="0"/>
          </a:p>
        </p:txBody>
      </p:sp>
      <p:sp>
        <p:nvSpPr>
          <p:cNvPr id="17" name="field-report-2/drawing/sampling-units/e10"/>
          <p:cNvSpPr/>
          <p:nvPr/>
        </p:nvSpPr>
        <p:spPr>
          <a:xfrm>
            <a:off x="1828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8" name="field-report-2/drawing/sampling-units/e11"/>
          <p:cNvSpPr/>
          <p:nvPr/>
        </p:nvSpPr>
        <p:spPr>
          <a:xfrm>
            <a:off x="2209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19" name="field-report-2/drawing/sampling-units/e12"/>
          <p:cNvSpPr/>
          <p:nvPr/>
        </p:nvSpPr>
        <p:spPr>
          <a:xfrm>
            <a:off x="2590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0" name="field-report-2/drawing/sampling-units/e13"/>
          <p:cNvSpPr/>
          <p:nvPr/>
        </p:nvSpPr>
        <p:spPr>
          <a:xfrm>
            <a:off x="2971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1" name="field-report-2/drawing/sampling-units/e14"/>
          <p:cNvSpPr/>
          <p:nvPr/>
        </p:nvSpPr>
        <p:spPr>
          <a:xfrm>
            <a:off x="3352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2" name="field-report-2/drawing/sampling-units/e15"/>
          <p:cNvSpPr/>
          <p:nvPr/>
        </p:nvSpPr>
        <p:spPr>
          <a:xfrm>
            <a:off x="3733800" y="28746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3" name="field-report-2/drawing/sampling-units/e16"/>
          <p:cNvSpPr/>
          <p:nvPr/>
        </p:nvSpPr>
        <p:spPr>
          <a:xfrm>
            <a:off x="457200" y="3398520"/>
            <a:ext cx="10668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 C</a:t>
            </a:r>
            <a:endParaRPr lang="zh-CN" sz="1950" dirty="0"/>
          </a:p>
        </p:txBody>
      </p:sp>
      <p:sp>
        <p:nvSpPr>
          <p:cNvPr id="24" name="field-report-2/drawing/sampling-units/e17"/>
          <p:cNvSpPr/>
          <p:nvPr/>
        </p:nvSpPr>
        <p:spPr>
          <a:xfrm>
            <a:off x="1828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5" name="field-report-2/drawing/sampling-units/e18"/>
          <p:cNvSpPr/>
          <p:nvPr/>
        </p:nvSpPr>
        <p:spPr>
          <a:xfrm>
            <a:off x="2209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6" name="field-report-2/drawing/sampling-units/e19"/>
          <p:cNvSpPr/>
          <p:nvPr/>
        </p:nvSpPr>
        <p:spPr>
          <a:xfrm>
            <a:off x="2590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7" name="field-report-2/drawing/sampling-units/e20"/>
          <p:cNvSpPr/>
          <p:nvPr/>
        </p:nvSpPr>
        <p:spPr>
          <a:xfrm>
            <a:off x="2971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8" name="field-report-2/drawing/sampling-units/e21"/>
          <p:cNvSpPr/>
          <p:nvPr/>
        </p:nvSpPr>
        <p:spPr>
          <a:xfrm>
            <a:off x="3352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29" name="field-report-2/drawing/sampling-units/e22"/>
          <p:cNvSpPr/>
          <p:nvPr/>
        </p:nvSpPr>
        <p:spPr>
          <a:xfrm>
            <a:off x="3733800" y="350329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0" name="field-report-2/drawing/sampling-units/e23"/>
          <p:cNvSpPr/>
          <p:nvPr/>
        </p:nvSpPr>
        <p:spPr>
          <a:xfrm>
            <a:off x="457200" y="4027170"/>
            <a:ext cx="1066800" cy="33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8"/>
              </a:lnSpc>
              <a:buNone/>
            </a:pPr>
            <a:r>
              <a:rPr lang="zh-CN" altLang="en-US" sz="1950" dirty="0">
                <a:solidFill>
                  <a:srgbClr val="202A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站点 D</a:t>
            </a:r>
            <a:endParaRPr lang="zh-CN" sz="1950" dirty="0"/>
          </a:p>
        </p:txBody>
      </p:sp>
      <p:sp>
        <p:nvSpPr>
          <p:cNvPr id="31" name="field-report-2/drawing/sampling-units/e24"/>
          <p:cNvSpPr/>
          <p:nvPr/>
        </p:nvSpPr>
        <p:spPr>
          <a:xfrm>
            <a:off x="1828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2" name="field-report-2/drawing/sampling-units/e25"/>
          <p:cNvSpPr/>
          <p:nvPr/>
        </p:nvSpPr>
        <p:spPr>
          <a:xfrm>
            <a:off x="2209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3" name="field-report-2/drawing/sampling-units/e26"/>
          <p:cNvSpPr/>
          <p:nvPr/>
        </p:nvSpPr>
        <p:spPr>
          <a:xfrm>
            <a:off x="2590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4" name="field-report-2/drawing/sampling-units/e27"/>
          <p:cNvSpPr/>
          <p:nvPr/>
        </p:nvSpPr>
        <p:spPr>
          <a:xfrm>
            <a:off x="2971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5" name="field-report-2/drawing/sampling-units/e28"/>
          <p:cNvSpPr/>
          <p:nvPr/>
        </p:nvSpPr>
        <p:spPr>
          <a:xfrm>
            <a:off x="3352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6" name="field-report-2/drawing/sampling-units/e29"/>
          <p:cNvSpPr/>
          <p:nvPr/>
        </p:nvSpPr>
        <p:spPr>
          <a:xfrm>
            <a:off x="3733800" y="4131945"/>
            <a:ext cx="114300" cy="114300"/>
          </a:xfrm>
          <a:prstGeom prst="ellipse">
            <a:avLst/>
          </a:prstGeom>
          <a:solidFill>
            <a:srgbClr val="18766B"/>
          </a:solidFill>
          <a:ln>
            <a:noFill/>
          </a:ln>
        </p:spPr>
      </p:sp>
      <p:sp>
        <p:nvSpPr>
          <p:cNvPr id="37" name="field-report-2/drawing/sampling-units/e30"/>
          <p:cNvSpPr/>
          <p:nvPr/>
        </p:nvSpPr>
        <p:spPr>
          <a:xfrm>
            <a:off x="457200" y="4836795"/>
            <a:ext cx="4762500" cy="307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32"/>
              </a:lnSpc>
              <a:buNone/>
            </a:pPr>
            <a:r>
              <a:rPr lang="zh-CN" altLang="en-US" sz="1800" dirty="0">
                <a:solidFill>
                  <a:srgbClr val="52617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每行 6 个构造观测；行是统计单位。</a:t>
            </a:r>
            <a:endParaRPr lang="zh-CN" sz="1800" dirty="0"/>
          </a:p>
        </p:txBody>
      </p:sp>
      <p:graphicFrame>
        <p:nvGraphicFramePr>
          <p:cNvPr id="3" name="field-report-2/dat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34050" y="1550670"/>
          <a:ext cx="6000750" cy="2293620"/>
        </p:xfrm>
        <a:graphic>
          <a:graphicData uri="http://schemas.openxmlformats.org/drawingml/2006/table">
            <a:tbl>
              <a:tblPr/>
              <a:tblGrid>
                <a:gridCol w="1355008"/>
                <a:gridCol w="2322871"/>
                <a:gridCol w="2322871"/>
              </a:tblGrid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站点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随机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4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留站 Δ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4288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5A4B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A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B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−0.250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−0.350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667" cap="flat" cmpd="sng" algn="ctr">
                      <a:solidFill>
                        <a:srgbClr val="BE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724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−0.300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62"/>
                        </a:lnSpc>
                        <a:buNone/>
                      </a:pPr>
                      <a:r>
                        <a:rPr lang="zh-CN" altLang="en-US" sz="2100" dirty="0">
                          <a:solidFill>
                            <a:srgbClr val="26312C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0.100</a:t>
                      </a:r>
                      <a:endParaRPr lang="zh-CN" sz="21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95250" marR="95250" marT="66675" marB="66675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383" cap="flat" cmpd="sng" algn="ctr">
                      <a:solidFill>
                        <a:srgbClr val="315A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field-report-2/table-caption"/>
          <p:cNvSpPr/>
          <p:nvPr/>
        </p:nvSpPr>
        <p:spPr>
          <a:xfrm>
            <a:off x="5734050" y="3910965"/>
            <a:ext cx="6000750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zh-CN" altLang="en-US" sz="1500" dirty="0">
                <a:solidFill>
                  <a:srgbClr val="55645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 = 方法 − 基线，单位 t/ha；每格来自同站 6 个观测</a:t>
            </a:r>
            <a:endParaRPr lang="zh-CN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田间与空间观测：站点评估教学样例</dc:title>
  <dc:subject>学术研究汇报</dc:subject>
  <dc:creator>DSH Academic PPT</dc:creator>
  <cp:lastModifiedBy>DSH Academic PPT</cp:lastModifiedBy>
  <cp:revision>1</cp:revision>
  <dcterms:created xsi:type="dcterms:W3CDTF">2026-10-30T16:10:22Z</dcterms:created>
  <dcterms:modified xsi:type="dcterms:W3CDTF">2026-10-30T16:10:22Z</dcterms:modified>
</cp:coreProperties>
</file>