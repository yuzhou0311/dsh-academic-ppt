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基线B</c:v>
                </c:pt>
              </c:strCache>
            </c:strRef>
          </c:tx>
          <c:spPr>
            <a:solidFill>
              <a:srgbClr val="173C7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A：开发期保留块</c:v>
                  </c:pt>
                  <c:pt idx="1">
                    <c:v>B：固定模型外部块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3.25</c:v>
                </c:pt>
                <c:pt idx="1">
                  <c:v>4.05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混合H</c:v>
                </c:pt>
              </c:strCache>
            </c:strRef>
          </c:tx>
          <c:spPr>
            <a:solidFill>
              <a:srgbClr val="146C6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C2430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A：开发期保留块</c:v>
                  </c:pt>
                  <c:pt idx="1">
                    <c:v>B：固定模型外部块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2.6</c:v>
                </c:pt>
                <c:pt idx="1">
                  <c:v>4.2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650" u="none">
                  <a:solidFill>
                    <a:srgbClr val="1C2430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 rot="0"/>
          <a:lstStyle/>
          <a:p>
            <a:pPr>
              <a:defRPr sz="1575" b="0" i="0" u="none" strike="noStrike">
                <a:solidFill>
                  <a:srgbClr val="1C243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12700" cap="flat">
              <a:solidFill>
                <a:srgbClr val="BEC8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515B68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515B68"/>
                    </a:solidFill>
                    <a:latin typeface="Noto Sans CJK SC"/>
                  </a:rPr>
                  <a:t>块RMSE均值（体积含水率百分点）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EC8D4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15B6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25">
              <a:latin typeface="Noto Sans CJK SC"/>
              <a:cs typeface="Noto Sans CJK S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次汇报使用一套明确标注为教学模拟的资料，目的是讨论跨站点预测证据如何解释，不代表真实农业实验。中心问题是：混合方法在开发站点的误差较低，是否足以支持它在另一站点也更好？接下来依次看方法、块级数据、站点均值和后续验证。
参考文献（完整题名）
protocol · 教学模拟：土壤水分预测的跨站点表现 · 本地教学协议，未投稿、未发表 · 2026 · synthetic-v1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明我们实际比较的对象。基线B直接用天气和土壤传感器输入预测下一日含水率。混合H使用相同的信息，但先由作物过程模型估计状态，再用残差模型修正预测。箭头描述计算顺序，不表示过程机制已经被数据验证。
下面区分两个站点。A参与开发和调参，表中的A误差来自开发期保留块，因此只能说明内部表现，不能当成完全独立的外部检验。B不参与调参，使用同一固定模型，提供一次外部站点评估。每个块内两法使用相同日期与观测，当前配对比较是对齐的。每站有四个块，但四个块始终属于同一个站点，不能把块数当作独立站点数。
参考文献（完整题名）
protocol · 教学模拟：土壤水分预测的跨站点表现 · 本地教学协议，未投稿、未发表 · 2026 · synthetic-v1
data · 土壤水分预测的跨站点表现：observations.csv · 本地教学附表，未发表 · 2026 · synthetic-v1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这一页保留了附表全部八行。左表的B和H都是块内每天误差先汇总得到的RMSE，单位是体积含水率百分点，最后一列按同一块做H减B。右图把相同的配对差画成点，零线只帮助辨别方向。
A的四个差值都是负数，分别为负0.7、负0.7、负0.5和负0.7，说明这四个开发期保留块中H都更低。B的差值是正0.3、正0.1、负0.1和正0.3，三个块H更高，B3则略低。因此不能把B描述成每个块都恶化。点的个数是块数，并不是独立站点数。我们没有日序列，也没有块间相关性信息，所以这里不增加误差线、显著性或者等效结论。
参考文献（完整题名）
protocol · 教学模拟：土壤水分预测的跨站点表现 · 本地教学协议，未投稿、未发表 · 2026 · synthetic-v1
data · 土壤水分预测的跨站点表现：observations.csv · 本地教学附表，未发表 · 2026 · synthetic-v1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把每个站点的四个块等权平均，A的基线B为3.25，混合H为2.60，H减B是负0.65个百分点。B站点的基线为4.05，混合为4.20，差值是正0.15。右侧同时保留站点角色，以免把A的开发期结果与B的外部评估混为一谈。
这里的算术均值严格对应协议允许的口径。它不是将全部日期的误差重新合并后计算的RMSE，因为我们并没有原始日误差和块长度。结果表明，A的内部优势没有在这次B评估中延续，因此不能凭A支持普遍泛化优势。反过来，一个B站点也不足以说明H在所有站点都无效。这里陈述数值方向，没有统计显著性的含义。
参考文献（完整题名）
protocol · 教学模拟：土壤水分预测的跨站点表现 · 本地教学协议，未投稿、未发表 · 2026 · synthetic-v1
data · 土壤水分预测的跨站点表现：observations.csv · 本地教学附表，未发表 · 2026 · synthetic-v1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区分三个层面的结论。第一，A和B的结果方向不同，支持的是这次评估中表现随站点与开发安排发生变化。要说这种结果是否可重复，需要更多独立外部站点。第二，同块日期和观测一致，让当前B与H的误差具有可比性，但这种公平配对并不自动证明过程模块发挥了因果作用。机制贡献需要专门的去模块对照。第三，我们只有两个站点各四个块，不能将描述推广到多年、多土壤或区域尺度。
协议给出四类可能解释：传感器校准、土壤、管理条件和开发调参偏差。当前数据没有区分它们，所以我们只能把它们列为待核查原因。后续的优先任务应是检验H在新站点是否降低误差，并同步收集解释差异所需的信息。
参考文献（完整题名）
protocol · 教学模拟：土壤水分预测的跨站点表现 · 本地教学协议，未投稿、未发表 · 2026 · synthetic-v1
data · 土壤水分预测的跨站点表现：observations.csv · 本地教学附表，未发表 · 2026 · synthetic-v1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提出一个尚未实施的检验方案。首先在观察结果前定义目标站点的土壤与管理范围，固定B和H的模型版本、预处理、日期分块和缺测规则，再到未参与开发的新站点进行同日期、同观测的配对评估。独立单位应是新站点，不能把同站点的多个块当成额外站点。站点数需要根据站点间差异和希望达到的区间精度规划，当前四个块不足以给出可靠的站点数。
主要终点分两步：先计算每个站点内部H减B的平均块差，再对站点等权平均。拟采用按独立站点重采样的方法保留站内块结构，形成这个均值差的95%区间。这里的区间是未来分析规则，当前八行没有计算任何区间。
判定必须覆盖全部结果。如果区间上界小于零，支持平均误差下降。如果下界大于零，支持平均误差上升，这不能被归为简单的不确定。如果区间包含或触及零，只能说方向证据不足，不能称两法等效。若模型冻结、观测配对或数据质量等预设前提未满足，应先暂停该次判定，按事先规则处理。方向下降也不自动等于有实际应用价值，收益门槛需要另行预先定义。
同时记录传感器校准、土壤和管理条件。若进一步追问过程模块为什么有效，还需要同信息、同调参预算的去模块对照，避免把外部表现直接当成机制证明。
参考文献（完整题名）
protocol · 教学模拟：土壤水分预测的跨站点表现 · 本地教学协议，未投稿、未发表 · 2026 · synthetic-v1
data · 土壤水分预测的跨站点表现：observations.csv · 本地教学附表，未发表 · 2026 · synthetic-v1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本报告仅使用这两份本地教学资料，作者为插件验证用例，版本synthetic-v1，未发表。讨论问题是：外部表现未延续时，应先检验可重复性，还是先追查差异来源？
参考文献（完整题名）
protocol · 教学模拟：土壤水分预测的跨站点表现 · 本地教学协议，未投稿、未发表 · 2026 · synthetic-v1
data · 土壤水分预测的跨站点表现：observations.csv · 本地教学附表，未发表 · 2026 · synthetic-v1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ver-identity-band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1/cover-occasion"/>
          <p:cNvSpPr/>
          <p:nvPr/>
        </p:nvSpPr>
        <p:spPr>
          <a:xfrm>
            <a:off x="609600" y="238125"/>
            <a:ext cx="109728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8分钟组会汇报 · synthetic-v1</a:t>
            </a:r>
            <a:endParaRPr lang="zh-CN" sz="2100" dirty="0"/>
          </a:p>
        </p:txBody>
      </p:sp>
      <p:sp>
        <p:nvSpPr>
          <p:cNvPr id="4" name="s01/cover-base"/>
          <p:cNvSpPr/>
          <p:nvPr/>
        </p:nvSpPr>
        <p:spPr>
          <a:xfrm>
            <a:off x="0" y="5162550"/>
            <a:ext cx="12192000" cy="1695450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01/cover-divider"/>
          <p:cNvSpPr/>
          <p:nvPr/>
        </p:nvSpPr>
        <p:spPr>
          <a:xfrm>
            <a:off x="0" y="5124450"/>
            <a:ext cx="12192000" cy="4762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01/cover-divider-emphasis"/>
          <p:cNvSpPr/>
          <p:nvPr/>
        </p:nvSpPr>
        <p:spPr>
          <a:xfrm>
            <a:off x="0" y="5124450"/>
            <a:ext cx="1771650" cy="47625"/>
          </a:xfrm>
          <a:prstGeom prst="rect">
            <a:avLst/>
          </a:prstGeom>
          <a:solidFill>
            <a:srgbClr val="146C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01/title"/>
          <p:cNvSpPr/>
          <p:nvPr/>
        </p:nvSpPr>
        <p:spPr>
          <a:xfrm>
            <a:off x="609600" y="1784414"/>
            <a:ext cx="10972800" cy="2121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68"/>
              </a:lnSpc>
              <a:buNone/>
            </a:pPr>
            <a:r>
              <a:rPr lang="zh-CN" altLang="en-US" sz="4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教学模拟：</a:t>
            </a:r>
            <a:endParaRPr lang="zh-CN" sz="4800" dirty="0"/>
          </a:p>
          <a:p>
            <a:pPr algn="ctr" indent="0" marL="0">
              <a:lnSpc>
                <a:spcPts val="5568"/>
              </a:lnSpc>
              <a:buNone/>
            </a:pPr>
            <a:r>
              <a:rPr lang="zh-CN" altLang="en-US" sz="4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土壤水分预测的</a:t>
            </a:r>
            <a:endParaRPr lang="zh-CN" sz="4800" dirty="0"/>
          </a:p>
          <a:p>
            <a:pPr algn="ctr" indent="0" marL="0">
              <a:lnSpc>
                <a:spcPts val="5568"/>
              </a:lnSpc>
              <a:buNone/>
            </a:pPr>
            <a:r>
              <a:rPr lang="zh-CN" altLang="en-US" sz="4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跨站点表现</a:t>
            </a:r>
            <a:endParaRPr lang="zh-CN" sz="4800" dirty="0"/>
          </a:p>
        </p:txBody>
      </p:sp>
      <p:sp>
        <p:nvSpPr>
          <p:cNvPr id="8" name="s01/subtitle"/>
          <p:cNvSpPr/>
          <p:nvPr/>
        </p:nvSpPr>
        <p:spPr>
          <a:xfrm>
            <a:off x="609600" y="4134421"/>
            <a:ext cx="10972800" cy="348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45"/>
              </a:lnSpc>
              <a:buNone/>
            </a:pPr>
            <a:r>
              <a:rPr lang="zh-CN" altLang="en-US" sz="2250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固定评估中的方法比较、证据边界与后续检验</a:t>
            </a:r>
            <a:endParaRPr lang="zh-CN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07</a:t>
            </a:r>
            <a:endParaRPr lang="zh-CN" sz="1050" dirty="0"/>
          </a:p>
        </p:txBody>
      </p:sp>
      <p:sp>
        <p:nvSpPr>
          <p:cNvPr id="4" name="s02/brand-label"/>
          <p:cNvSpPr/>
          <p:nvPr/>
        </p:nvSpPr>
        <p:spPr>
          <a:xfrm>
            <a:off x="9024550" y="171450"/>
            <a:ext cx="2710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 · synthetic-v1</a:t>
            </a:r>
            <a:endParaRPr lang="zh-CN" sz="1650" dirty="0"/>
          </a:p>
        </p:txBody>
      </p:sp>
      <p:sp>
        <p:nvSpPr>
          <p:cNvPr id="5" name="s02/title"/>
          <p:cNvSpPr/>
          <p:nvPr/>
        </p:nvSpPr>
        <p:spPr>
          <a:xfrm>
            <a:off x="457200" y="5524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方法与固定评估设计</a:t>
            </a:r>
            <a:endParaRPr lang="zh-CN" sz="3000" dirty="0"/>
          </a:p>
        </p:txBody>
      </p:sp>
      <p:sp>
        <p:nvSpPr>
          <p:cNvPr id="6" name="s02/header-rule"/>
          <p:cNvSpPr/>
          <p:nvPr/>
        </p:nvSpPr>
        <p:spPr>
          <a:xfrm>
            <a:off x="457200" y="1078230"/>
            <a:ext cx="1127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7" name="s02/header-accent"/>
          <p:cNvSpPr/>
          <p:nvPr/>
        </p:nvSpPr>
        <p:spPr>
          <a:xfrm>
            <a:off x="457200" y="1078230"/>
            <a:ext cx="118110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8" name="s02/composition/panel/paths/title"/>
          <p:cNvSpPr/>
          <p:nvPr/>
        </p:nvSpPr>
        <p:spPr>
          <a:xfrm>
            <a:off x="590550" y="1306830"/>
            <a:ext cx="11010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两条预测计算路径（仅为方法描述）</a:t>
            </a:r>
            <a:endParaRPr lang="zh-CN" sz="1950" dirty="0"/>
          </a:p>
        </p:txBody>
      </p:sp>
      <p:sp>
        <p:nvSpPr>
          <p:cNvPr id="9" name="s02/diagram-row:0:fill"/>
          <p:cNvSpPr/>
          <p:nvPr/>
        </p:nvSpPr>
        <p:spPr>
          <a:xfrm>
            <a:off x="590550" y="1821180"/>
            <a:ext cx="1104900" cy="772788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2/diagram-row:0:label"/>
          <p:cNvSpPr/>
          <p:nvPr/>
        </p:nvSpPr>
        <p:spPr>
          <a:xfrm>
            <a:off x="685800" y="1906905"/>
            <a:ext cx="914400" cy="62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基线B</a:t>
            </a:r>
            <a:endParaRPr lang="zh-CN" sz="1650" dirty="0"/>
          </a:p>
        </p:txBody>
      </p:sp>
      <p:sp>
        <p:nvSpPr>
          <p:cNvPr id="11" name="s02/diagram-row:1:fill"/>
          <p:cNvSpPr/>
          <p:nvPr/>
        </p:nvSpPr>
        <p:spPr>
          <a:xfrm>
            <a:off x="590550" y="2841618"/>
            <a:ext cx="1104900" cy="772788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2/diagram-row:1:label"/>
          <p:cNvSpPr/>
          <p:nvPr/>
        </p:nvSpPr>
        <p:spPr>
          <a:xfrm>
            <a:off x="685800" y="2927343"/>
            <a:ext cx="914400" cy="62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混合H</a:t>
            </a:r>
            <a:endParaRPr lang="zh-CN" sz="1650" dirty="0"/>
          </a:p>
        </p:txBody>
      </p:sp>
      <p:sp>
        <p:nvSpPr>
          <p:cNvPr id="13" name="s02/edge:0"/>
          <p:cNvSpPr/>
          <p:nvPr/>
        </p:nvSpPr>
        <p:spPr>
          <a:xfrm>
            <a:off x="4902200" y="2207574"/>
            <a:ext cx="381000" cy="0"/>
          </a:xfrm>
          <a:prstGeom prst="line">
            <a:avLst/>
          </a:prstGeom>
          <a:noFill/>
          <a:ln w="20955">
            <a:solidFill>
              <a:srgbClr val="173C70"/>
            </a:solidFill>
            <a:prstDash val="solid"/>
            <a:tailEnd type="triangle"/>
          </a:ln>
        </p:spPr>
      </p:sp>
      <p:sp>
        <p:nvSpPr>
          <p:cNvPr id="14" name="s02/edge:1"/>
          <p:cNvSpPr/>
          <p:nvPr/>
        </p:nvSpPr>
        <p:spPr>
          <a:xfrm>
            <a:off x="8108950" y="2207574"/>
            <a:ext cx="381000" cy="0"/>
          </a:xfrm>
          <a:prstGeom prst="line">
            <a:avLst/>
          </a:prstGeom>
          <a:noFill/>
          <a:ln w="20955">
            <a:solidFill>
              <a:srgbClr val="173C70"/>
            </a:solidFill>
            <a:prstDash val="solid"/>
            <a:tailEnd type="triangle"/>
          </a:ln>
        </p:spPr>
      </p:sp>
      <p:sp>
        <p:nvSpPr>
          <p:cNvPr id="15" name="s02/edge:2"/>
          <p:cNvSpPr/>
          <p:nvPr/>
        </p:nvSpPr>
        <p:spPr>
          <a:xfrm>
            <a:off x="4100513" y="3228011"/>
            <a:ext cx="381000" cy="0"/>
          </a:xfrm>
          <a:prstGeom prst="line">
            <a:avLst/>
          </a:prstGeom>
          <a:noFill/>
          <a:ln w="20955">
            <a:solidFill>
              <a:srgbClr val="173C70"/>
            </a:solidFill>
            <a:prstDash val="solid"/>
            <a:tailEnd type="triangle"/>
          </a:ln>
        </p:spPr>
      </p:sp>
      <p:sp>
        <p:nvSpPr>
          <p:cNvPr id="16" name="s02/edge:3"/>
          <p:cNvSpPr/>
          <p:nvPr/>
        </p:nvSpPr>
        <p:spPr>
          <a:xfrm>
            <a:off x="6505575" y="3228011"/>
            <a:ext cx="381000" cy="0"/>
          </a:xfrm>
          <a:prstGeom prst="line">
            <a:avLst/>
          </a:prstGeom>
          <a:noFill/>
          <a:ln w="20955">
            <a:solidFill>
              <a:srgbClr val="173C70"/>
            </a:solidFill>
            <a:prstDash val="solid"/>
            <a:tailEnd type="triangle"/>
          </a:ln>
        </p:spPr>
      </p:sp>
      <p:sp>
        <p:nvSpPr>
          <p:cNvPr id="17" name="s02/edge:4"/>
          <p:cNvSpPr/>
          <p:nvPr/>
        </p:nvSpPr>
        <p:spPr>
          <a:xfrm>
            <a:off x="8910638" y="3228011"/>
            <a:ext cx="381000" cy="0"/>
          </a:xfrm>
          <a:prstGeom prst="line">
            <a:avLst/>
          </a:prstGeom>
          <a:noFill/>
          <a:ln w="20955">
            <a:solidFill>
              <a:srgbClr val="173C70"/>
            </a:solidFill>
            <a:prstDash val="solid"/>
            <a:tailEnd type="triangle"/>
          </a:ln>
        </p:spPr>
      </p:sp>
      <p:sp>
        <p:nvSpPr>
          <p:cNvPr id="18" name="s02/node:bin:frame"/>
          <p:cNvSpPr/>
          <p:nvPr/>
        </p:nvSpPr>
        <p:spPr>
          <a:xfrm>
            <a:off x="2076450" y="1821180"/>
            <a:ext cx="2825750" cy="772788"/>
          </a:xfrm>
          <a:prstGeom prst="rect">
            <a:avLst/>
          </a:prstGeom>
          <a:solidFill>
            <a:srgbClr val="EAF2FA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9" name="s02/node:bin:label-band"/>
          <p:cNvSpPr/>
          <p:nvPr/>
        </p:nvSpPr>
        <p:spPr>
          <a:xfrm>
            <a:off x="2076450" y="1821180"/>
            <a:ext cx="2825750" cy="398526"/>
          </a:xfrm>
          <a:prstGeom prst="rect">
            <a:avLst/>
          </a:prstGeom>
          <a:solidFill>
            <a:srgbClr val="515B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02/node:bin:label"/>
          <p:cNvSpPr/>
          <p:nvPr/>
        </p:nvSpPr>
        <p:spPr>
          <a:xfrm>
            <a:off x="2190750" y="1887855"/>
            <a:ext cx="259715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相同输入</a:t>
            </a:r>
            <a:endParaRPr lang="zh-CN" sz="1800" dirty="0"/>
          </a:p>
        </p:txBody>
      </p:sp>
      <p:sp>
        <p:nvSpPr>
          <p:cNvPr id="21" name="s02/node:bin:detail"/>
          <p:cNvSpPr/>
          <p:nvPr/>
        </p:nvSpPr>
        <p:spPr>
          <a:xfrm>
            <a:off x="2190750" y="2276856"/>
            <a:ext cx="2597150" cy="26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天气、土壤传感器</a:t>
            </a:r>
            <a:endParaRPr lang="zh-CN" sz="1650" dirty="0"/>
          </a:p>
        </p:txBody>
      </p:sp>
      <p:sp>
        <p:nvSpPr>
          <p:cNvPr id="22" name="s02/node:base:frame"/>
          <p:cNvSpPr/>
          <p:nvPr/>
        </p:nvSpPr>
        <p:spPr>
          <a:xfrm>
            <a:off x="5283200" y="1821180"/>
            <a:ext cx="2825750" cy="772788"/>
          </a:xfrm>
          <a:prstGeom prst="rect">
            <a:avLst/>
          </a:prstGeom>
          <a:solidFill>
            <a:srgbClr val="EAF2FA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3" name="s02/node:base:label-band"/>
          <p:cNvSpPr/>
          <p:nvPr/>
        </p:nvSpPr>
        <p:spPr>
          <a:xfrm>
            <a:off x="5283200" y="1821180"/>
            <a:ext cx="2825750" cy="398526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2/node:base:label"/>
          <p:cNvSpPr/>
          <p:nvPr/>
        </p:nvSpPr>
        <p:spPr>
          <a:xfrm>
            <a:off x="5397500" y="1887855"/>
            <a:ext cx="259715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基线方法B</a:t>
            </a:r>
            <a:endParaRPr lang="zh-CN" sz="1800" dirty="0"/>
          </a:p>
        </p:txBody>
      </p:sp>
      <p:sp>
        <p:nvSpPr>
          <p:cNvPr id="25" name="s02/node:base:detail"/>
          <p:cNvSpPr/>
          <p:nvPr/>
        </p:nvSpPr>
        <p:spPr>
          <a:xfrm>
            <a:off x="5397500" y="2276856"/>
            <a:ext cx="2597150" cy="26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直接预测</a:t>
            </a:r>
            <a:endParaRPr lang="zh-CN" sz="1650" dirty="0"/>
          </a:p>
        </p:txBody>
      </p:sp>
      <p:sp>
        <p:nvSpPr>
          <p:cNvPr id="26" name="s02/node:bout:frame"/>
          <p:cNvSpPr/>
          <p:nvPr/>
        </p:nvSpPr>
        <p:spPr>
          <a:xfrm>
            <a:off x="8489950" y="1821180"/>
            <a:ext cx="2825750" cy="772788"/>
          </a:xfrm>
          <a:prstGeom prst="rect">
            <a:avLst/>
          </a:prstGeom>
          <a:solidFill>
            <a:srgbClr val="EAF2FA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7" name="s02/node:bout:label-band"/>
          <p:cNvSpPr/>
          <p:nvPr/>
        </p:nvSpPr>
        <p:spPr>
          <a:xfrm>
            <a:off x="8489950" y="1821180"/>
            <a:ext cx="2825750" cy="398526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02/node:bout:label"/>
          <p:cNvSpPr/>
          <p:nvPr/>
        </p:nvSpPr>
        <p:spPr>
          <a:xfrm>
            <a:off x="8604250" y="1887855"/>
            <a:ext cx="259715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下一日含水率</a:t>
            </a:r>
            <a:endParaRPr lang="zh-CN" sz="1800" dirty="0"/>
          </a:p>
        </p:txBody>
      </p:sp>
      <p:sp>
        <p:nvSpPr>
          <p:cNvPr id="29" name="s02/node:bout:detail"/>
          <p:cNvSpPr/>
          <p:nvPr/>
        </p:nvSpPr>
        <p:spPr>
          <a:xfrm>
            <a:off x="8604250" y="2276856"/>
            <a:ext cx="2597150" cy="26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B的预测值</a:t>
            </a:r>
            <a:endParaRPr lang="zh-CN" sz="1650" dirty="0"/>
          </a:p>
        </p:txBody>
      </p:sp>
      <p:sp>
        <p:nvSpPr>
          <p:cNvPr id="30" name="s02/node:hin:frame"/>
          <p:cNvSpPr/>
          <p:nvPr/>
        </p:nvSpPr>
        <p:spPr>
          <a:xfrm>
            <a:off x="2076450" y="2841618"/>
            <a:ext cx="2024062" cy="772788"/>
          </a:xfrm>
          <a:prstGeom prst="rect">
            <a:avLst/>
          </a:prstGeom>
          <a:solidFill>
            <a:srgbClr val="EAF2FA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1" name="s02/node:hin:label-band"/>
          <p:cNvSpPr/>
          <p:nvPr/>
        </p:nvSpPr>
        <p:spPr>
          <a:xfrm>
            <a:off x="2076450" y="2841618"/>
            <a:ext cx="2024062" cy="398526"/>
          </a:xfrm>
          <a:prstGeom prst="rect">
            <a:avLst/>
          </a:prstGeom>
          <a:solidFill>
            <a:srgbClr val="515B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02/node:hin:label"/>
          <p:cNvSpPr/>
          <p:nvPr/>
        </p:nvSpPr>
        <p:spPr>
          <a:xfrm>
            <a:off x="2190750" y="2908293"/>
            <a:ext cx="179546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相同输入</a:t>
            </a:r>
            <a:endParaRPr lang="zh-CN" sz="1800" dirty="0"/>
          </a:p>
        </p:txBody>
      </p:sp>
      <p:sp>
        <p:nvSpPr>
          <p:cNvPr id="33" name="s02/node:hin:detail"/>
          <p:cNvSpPr/>
          <p:nvPr/>
        </p:nvSpPr>
        <p:spPr>
          <a:xfrm>
            <a:off x="2190750" y="3297294"/>
            <a:ext cx="1795463" cy="26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天气、土壤传感器</a:t>
            </a:r>
            <a:endParaRPr lang="zh-CN" sz="1650" dirty="0"/>
          </a:p>
        </p:txBody>
      </p:sp>
      <p:sp>
        <p:nvSpPr>
          <p:cNvPr id="34" name="s02/node:process:frame"/>
          <p:cNvSpPr/>
          <p:nvPr/>
        </p:nvSpPr>
        <p:spPr>
          <a:xfrm>
            <a:off x="4481513" y="2841618"/>
            <a:ext cx="2024062" cy="772788"/>
          </a:xfrm>
          <a:prstGeom prst="rect">
            <a:avLst/>
          </a:prstGeom>
          <a:solidFill>
            <a:srgbClr val="EAF2FA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5" name="s02/node:process:label-band"/>
          <p:cNvSpPr/>
          <p:nvPr/>
        </p:nvSpPr>
        <p:spPr>
          <a:xfrm>
            <a:off x="4481513" y="2841618"/>
            <a:ext cx="2024062" cy="398526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02/node:process:label"/>
          <p:cNvSpPr/>
          <p:nvPr/>
        </p:nvSpPr>
        <p:spPr>
          <a:xfrm>
            <a:off x="4595813" y="2908293"/>
            <a:ext cx="179546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作物过程模型</a:t>
            </a:r>
            <a:endParaRPr lang="zh-CN" sz="1800" dirty="0"/>
          </a:p>
        </p:txBody>
      </p:sp>
      <p:sp>
        <p:nvSpPr>
          <p:cNvPr id="37" name="s02/node:process:detail"/>
          <p:cNvSpPr/>
          <p:nvPr/>
        </p:nvSpPr>
        <p:spPr>
          <a:xfrm>
            <a:off x="4595813" y="3297294"/>
            <a:ext cx="1795463" cy="26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估计状态</a:t>
            </a:r>
            <a:endParaRPr lang="zh-CN" sz="1650" dirty="0"/>
          </a:p>
        </p:txBody>
      </p:sp>
      <p:sp>
        <p:nvSpPr>
          <p:cNvPr id="38" name="s02/node:residual:frame"/>
          <p:cNvSpPr/>
          <p:nvPr/>
        </p:nvSpPr>
        <p:spPr>
          <a:xfrm>
            <a:off x="6886575" y="2841618"/>
            <a:ext cx="2024062" cy="772788"/>
          </a:xfrm>
          <a:prstGeom prst="rect">
            <a:avLst/>
          </a:prstGeom>
          <a:solidFill>
            <a:srgbClr val="EAF2FA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9" name="s02/node:residual:label-band"/>
          <p:cNvSpPr/>
          <p:nvPr/>
        </p:nvSpPr>
        <p:spPr>
          <a:xfrm>
            <a:off x="6886575" y="2841618"/>
            <a:ext cx="2024062" cy="398526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02/node:residual:label"/>
          <p:cNvSpPr/>
          <p:nvPr/>
        </p:nvSpPr>
        <p:spPr>
          <a:xfrm>
            <a:off x="7000875" y="2908293"/>
            <a:ext cx="179546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残差模型</a:t>
            </a:r>
            <a:endParaRPr lang="zh-CN" sz="1800" dirty="0"/>
          </a:p>
        </p:txBody>
      </p:sp>
      <p:sp>
        <p:nvSpPr>
          <p:cNvPr id="41" name="s02/node:residual:detail"/>
          <p:cNvSpPr/>
          <p:nvPr/>
        </p:nvSpPr>
        <p:spPr>
          <a:xfrm>
            <a:off x="7000875" y="3297294"/>
            <a:ext cx="1795463" cy="26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校正预测</a:t>
            </a:r>
            <a:endParaRPr lang="zh-CN" sz="1650" dirty="0"/>
          </a:p>
        </p:txBody>
      </p:sp>
      <p:sp>
        <p:nvSpPr>
          <p:cNvPr id="42" name="s02/node:hout:frame"/>
          <p:cNvSpPr/>
          <p:nvPr/>
        </p:nvSpPr>
        <p:spPr>
          <a:xfrm>
            <a:off x="9291638" y="2841618"/>
            <a:ext cx="2024062" cy="772788"/>
          </a:xfrm>
          <a:prstGeom prst="rect">
            <a:avLst/>
          </a:prstGeom>
          <a:solidFill>
            <a:srgbClr val="EAF2FA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43" name="s02/node:hout:label-band"/>
          <p:cNvSpPr/>
          <p:nvPr/>
        </p:nvSpPr>
        <p:spPr>
          <a:xfrm>
            <a:off x="9291638" y="2841618"/>
            <a:ext cx="2024062" cy="398526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02/node:hout:label"/>
          <p:cNvSpPr/>
          <p:nvPr/>
        </p:nvSpPr>
        <p:spPr>
          <a:xfrm>
            <a:off x="9405938" y="2908293"/>
            <a:ext cx="179546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下一日含水率</a:t>
            </a:r>
            <a:endParaRPr lang="zh-CN" sz="1800" dirty="0"/>
          </a:p>
        </p:txBody>
      </p:sp>
      <p:sp>
        <p:nvSpPr>
          <p:cNvPr id="45" name="s02/node:hout:detail"/>
          <p:cNvSpPr/>
          <p:nvPr/>
        </p:nvSpPr>
        <p:spPr>
          <a:xfrm>
            <a:off x="9405938" y="3297294"/>
            <a:ext cx="1795463" cy="26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H的预测值</a:t>
            </a:r>
            <a:endParaRPr lang="zh-CN" sz="1650" dirty="0"/>
          </a:p>
        </p:txBody>
      </p:sp>
      <p:sp>
        <p:nvSpPr>
          <p:cNvPr id="46" name="s02/composition/panel/setting/title"/>
          <p:cNvSpPr/>
          <p:nvPr/>
        </p:nvSpPr>
        <p:spPr>
          <a:xfrm>
            <a:off x="590550" y="4014455"/>
            <a:ext cx="11010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两站点承担不同的评估角色</a:t>
            </a:r>
            <a:endParaRPr lang="zh-CN" sz="1950" dirty="0"/>
          </a:p>
        </p:txBody>
      </p:sp>
      <p:graphicFrame>
        <p:nvGraphicFramePr>
          <p:cNvPr id="3" name="s02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0550" y="4490705"/>
          <a:ext cx="11010900" cy="1236726"/>
        </p:xfrm>
        <a:graphic>
          <a:graphicData uri="http://schemas.openxmlformats.org/drawingml/2006/table">
            <a:tbl>
              <a:tblPr/>
              <a:tblGrid>
                <a:gridCol w="1146969"/>
                <a:gridCol w="6193631"/>
                <a:gridCol w="3670300"/>
              </a:tblGrid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站点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模型使用与数据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可支持的判断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参与开发与调参；开发期保留块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内部表现说明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不参与调参；同一固定模型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一个外部站点的表现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s02/table-caption"/>
          <p:cNvSpPr/>
          <p:nvPr/>
        </p:nvSpPr>
        <p:spPr>
          <a:xfrm>
            <a:off x="590550" y="5794106"/>
            <a:ext cx="11010900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教学模拟；每站4块，两法同日期与观测。A保留块不等于独立外部检验。</a:t>
            </a:r>
            <a:endParaRPr lang="zh-CN" sz="1350" dirty="0"/>
          </a:p>
        </p:txBody>
      </p:sp>
      <p:sp>
        <p:nvSpPr>
          <p:cNvPr id="49" name="s0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插件验证用例 2026  |  [2] 插件验证用例 2026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07</a:t>
            </a:r>
            <a:endParaRPr lang="zh-CN" sz="1050" dirty="0"/>
          </a:p>
        </p:txBody>
      </p:sp>
      <p:sp>
        <p:nvSpPr>
          <p:cNvPr id="4" name="s03/brand-label"/>
          <p:cNvSpPr/>
          <p:nvPr/>
        </p:nvSpPr>
        <p:spPr>
          <a:xfrm>
            <a:off x="9024550" y="171450"/>
            <a:ext cx="2710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 · synthetic-v1</a:t>
            </a:r>
            <a:endParaRPr lang="zh-CN" sz="1650" dirty="0"/>
          </a:p>
        </p:txBody>
      </p:sp>
      <p:sp>
        <p:nvSpPr>
          <p:cNvPr id="5" name="s03/title"/>
          <p:cNvSpPr/>
          <p:nvPr/>
        </p:nvSpPr>
        <p:spPr>
          <a:xfrm>
            <a:off x="457200" y="5524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逐块配对：A四块更低，B三块更高</a:t>
            </a:r>
            <a:endParaRPr lang="zh-CN" sz="3000" dirty="0"/>
          </a:p>
        </p:txBody>
      </p:sp>
      <p:sp>
        <p:nvSpPr>
          <p:cNvPr id="6" name="s03/header-rule"/>
          <p:cNvSpPr/>
          <p:nvPr/>
        </p:nvSpPr>
        <p:spPr>
          <a:xfrm>
            <a:off x="457200" y="1078230"/>
            <a:ext cx="1127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7" name="s03/header-accent"/>
          <p:cNvSpPr/>
          <p:nvPr/>
        </p:nvSpPr>
        <p:spPr>
          <a:xfrm>
            <a:off x="457200" y="1078230"/>
            <a:ext cx="118110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8" name="s03/composition/panel/rawtable/title"/>
          <p:cNvSpPr/>
          <p:nvPr/>
        </p:nvSpPr>
        <p:spPr>
          <a:xfrm>
            <a:off x="590550" y="1306830"/>
            <a:ext cx="56636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块RMSE（体积含水率百分点）</a:t>
            </a:r>
            <a:endParaRPr lang="zh-CN" sz="1950" dirty="0"/>
          </a:p>
        </p:txBody>
      </p:sp>
      <p:graphicFrame>
        <p:nvGraphicFramePr>
          <p:cNvPr id="4" name="s03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0550" y="1783080"/>
          <a:ext cx="5663609" cy="3710178"/>
        </p:xfrm>
        <a:graphic>
          <a:graphicData uri="http://schemas.openxmlformats.org/drawingml/2006/table">
            <a:tbl>
              <a:tblPr/>
              <a:tblGrid>
                <a:gridCol w="1925627"/>
                <a:gridCol w="1132722"/>
                <a:gridCol w="1132722"/>
                <a:gridCol w="1472538"/>
              </a:tblGrid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块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H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H−B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A1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3.2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2.5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−0.7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A2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3.5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2.8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−0.7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A3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2.9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2.4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−0.5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A4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3.4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2.7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−0.7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B1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4.1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4.4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+0.3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B2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3.8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3.9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+0.1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B3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4.3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4.2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−0.1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B4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4.0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4.3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+0.3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03/table-caption"/>
          <p:cNvSpPr/>
          <p:nvPr/>
        </p:nvSpPr>
        <p:spPr>
          <a:xfrm>
            <a:off x="590550" y="5559933"/>
            <a:ext cx="5663609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教学模拟；每站4块不等于4个独立站点。</a:t>
            </a:r>
            <a:endParaRPr lang="zh-CN" sz="1350" dirty="0"/>
          </a:p>
        </p:txBody>
      </p:sp>
      <p:sp>
        <p:nvSpPr>
          <p:cNvPr id="11" name="s03/composition/panel/difference/title"/>
          <p:cNvSpPr/>
          <p:nvPr/>
        </p:nvSpPr>
        <p:spPr>
          <a:xfrm>
            <a:off x="6711359" y="1306830"/>
            <a:ext cx="489009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配对差的方向与分布</a:t>
            </a:r>
            <a:endParaRPr lang="zh-CN" sz="1950" dirty="0"/>
          </a:p>
        </p:txBody>
      </p:sp>
      <p:sp>
        <p:nvSpPr>
          <p:cNvPr id="12" name="s03/plots/paired-diff/data-plot/reading-note"/>
          <p:cNvSpPr/>
          <p:nvPr/>
        </p:nvSpPr>
        <p:spPr>
          <a:xfrm>
            <a:off x="6825659" y="1897380"/>
            <a:ext cx="466149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每点为一条观测；纵向错位仅防重叠；参考值 = 0</a:t>
            </a:r>
            <a:endParaRPr lang="zh-CN" sz="1350" dirty="0"/>
          </a:p>
        </p:txBody>
      </p:sp>
      <p:sp>
        <p:nvSpPr>
          <p:cNvPr id="13" name="s03/plots/paired-diff/data-plot/caption"/>
          <p:cNvSpPr/>
          <p:nvPr/>
        </p:nvSpPr>
        <p:spPr>
          <a:xfrm>
            <a:off x="6825659" y="5503545"/>
            <a:ext cx="4661491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每点为1块，负值表示H误差更低。零线仅判方向，无置信区</a:t>
            </a:r>
            <a:endParaRPr lang="zh-CN" sz="1350" dirty="0"/>
          </a:p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间。</a:t>
            </a:r>
            <a:endParaRPr lang="zh-CN" sz="1350" dirty="0"/>
          </a:p>
        </p:txBody>
      </p:sp>
      <p:sp>
        <p:nvSpPr>
          <p:cNvPr id="14" name="s03/plots/paired-diff/data-plot/unit"/>
          <p:cNvSpPr/>
          <p:nvPr/>
        </p:nvSpPr>
        <p:spPr>
          <a:xfrm>
            <a:off x="8124382" y="5202555"/>
            <a:ext cx="336276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H−B（体积含水率百分点）</a:t>
            </a:r>
            <a:endParaRPr lang="zh-CN" sz="1350" dirty="0"/>
          </a:p>
        </p:txBody>
      </p:sp>
      <p:sp>
        <p:nvSpPr>
          <p:cNvPr id="15" name="s03/plots/paired-diff/data-plot/grid/0"/>
          <p:cNvSpPr/>
          <p:nvPr/>
        </p:nvSpPr>
        <p:spPr>
          <a:xfrm>
            <a:off x="8124382" y="2198370"/>
            <a:ext cx="0" cy="2665095"/>
          </a:xfrm>
          <a:prstGeom prst="line">
            <a:avLst/>
          </a:prstGeom>
          <a:noFill/>
          <a:ln w="7620">
            <a:solidFill>
              <a:srgbClr val="BEC8D4"/>
            </a:solidFill>
            <a:prstDash val="solid"/>
          </a:ln>
        </p:spPr>
      </p:sp>
      <p:sp>
        <p:nvSpPr>
          <p:cNvPr id="16" name="s03/plots/paired-diff/data-plot/tick/0"/>
          <p:cNvSpPr/>
          <p:nvPr/>
        </p:nvSpPr>
        <p:spPr>
          <a:xfrm>
            <a:off x="8124382" y="4863465"/>
            <a:ext cx="0" cy="38100"/>
          </a:xfrm>
          <a:prstGeom prst="line">
            <a:avLst/>
          </a:prstGeom>
          <a:noFill/>
          <a:ln w="9525">
            <a:solidFill>
              <a:srgbClr val="515B68"/>
            </a:solidFill>
            <a:prstDash val="solid"/>
          </a:ln>
        </p:spPr>
      </p:sp>
      <p:sp>
        <p:nvSpPr>
          <p:cNvPr id="17" name="s03/plots/paired-diff/data-plot/tick-label/0"/>
          <p:cNvSpPr/>
          <p:nvPr/>
        </p:nvSpPr>
        <p:spPr>
          <a:xfrm>
            <a:off x="8124382" y="4939665"/>
            <a:ext cx="27641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−1</a:t>
            </a:r>
            <a:endParaRPr lang="zh-CN" sz="1350" dirty="0"/>
          </a:p>
        </p:txBody>
      </p:sp>
      <p:sp>
        <p:nvSpPr>
          <p:cNvPr id="18" name="s03/plots/paired-diff/data-plot/grid/1"/>
          <p:cNvSpPr/>
          <p:nvPr/>
        </p:nvSpPr>
        <p:spPr>
          <a:xfrm>
            <a:off x="9245305" y="2198370"/>
            <a:ext cx="0" cy="2665095"/>
          </a:xfrm>
          <a:prstGeom prst="line">
            <a:avLst/>
          </a:prstGeom>
          <a:noFill/>
          <a:ln w="7620">
            <a:solidFill>
              <a:srgbClr val="BEC8D4"/>
            </a:solidFill>
            <a:prstDash val="solid"/>
          </a:ln>
        </p:spPr>
      </p:sp>
      <p:sp>
        <p:nvSpPr>
          <p:cNvPr id="19" name="s03/plots/paired-diff/data-plot/tick/1"/>
          <p:cNvSpPr/>
          <p:nvPr/>
        </p:nvSpPr>
        <p:spPr>
          <a:xfrm>
            <a:off x="9245305" y="4863465"/>
            <a:ext cx="0" cy="38100"/>
          </a:xfrm>
          <a:prstGeom prst="line">
            <a:avLst/>
          </a:prstGeom>
          <a:noFill/>
          <a:ln w="9525">
            <a:solidFill>
              <a:srgbClr val="515B68"/>
            </a:solidFill>
            <a:prstDash val="solid"/>
          </a:ln>
        </p:spPr>
      </p:sp>
      <p:sp>
        <p:nvSpPr>
          <p:cNvPr id="20" name="s03/plots/paired-diff/data-plot/tick-label/1"/>
          <p:cNvSpPr/>
          <p:nvPr/>
        </p:nvSpPr>
        <p:spPr>
          <a:xfrm>
            <a:off x="9025658" y="4939665"/>
            <a:ext cx="43929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−0.5</a:t>
            </a:r>
            <a:endParaRPr lang="zh-CN" sz="1350" dirty="0"/>
          </a:p>
        </p:txBody>
      </p:sp>
      <p:sp>
        <p:nvSpPr>
          <p:cNvPr id="21" name="s03/plots/paired-diff/data-plot/tick/2"/>
          <p:cNvSpPr/>
          <p:nvPr/>
        </p:nvSpPr>
        <p:spPr>
          <a:xfrm>
            <a:off x="10366227" y="4863465"/>
            <a:ext cx="0" cy="38100"/>
          </a:xfrm>
          <a:prstGeom prst="line">
            <a:avLst/>
          </a:prstGeom>
          <a:noFill/>
          <a:ln w="9525">
            <a:solidFill>
              <a:srgbClr val="515B68"/>
            </a:solidFill>
            <a:prstDash val="solid"/>
          </a:ln>
        </p:spPr>
      </p:sp>
      <p:sp>
        <p:nvSpPr>
          <p:cNvPr id="22" name="s03/plots/paired-diff/data-plot/tick-label/2"/>
          <p:cNvSpPr/>
          <p:nvPr/>
        </p:nvSpPr>
        <p:spPr>
          <a:xfrm>
            <a:off x="10294885" y="4939665"/>
            <a:ext cx="14268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zh-CN" sz="1350" dirty="0"/>
          </a:p>
        </p:txBody>
      </p:sp>
      <p:sp>
        <p:nvSpPr>
          <p:cNvPr id="23" name="s03/plots/paired-diff/data-plot/grid/3"/>
          <p:cNvSpPr/>
          <p:nvPr/>
        </p:nvSpPr>
        <p:spPr>
          <a:xfrm>
            <a:off x="11487150" y="2198370"/>
            <a:ext cx="0" cy="2665095"/>
          </a:xfrm>
          <a:prstGeom prst="line">
            <a:avLst/>
          </a:prstGeom>
          <a:noFill/>
          <a:ln w="7620">
            <a:solidFill>
              <a:srgbClr val="BEC8D4"/>
            </a:solidFill>
            <a:prstDash val="solid"/>
          </a:ln>
        </p:spPr>
      </p:sp>
      <p:sp>
        <p:nvSpPr>
          <p:cNvPr id="24" name="s03/plots/paired-diff/data-plot/tick/3"/>
          <p:cNvSpPr/>
          <p:nvPr/>
        </p:nvSpPr>
        <p:spPr>
          <a:xfrm>
            <a:off x="11487150" y="4863465"/>
            <a:ext cx="0" cy="38100"/>
          </a:xfrm>
          <a:prstGeom prst="line">
            <a:avLst/>
          </a:prstGeom>
          <a:noFill/>
          <a:ln w="9525">
            <a:solidFill>
              <a:srgbClr val="515B68"/>
            </a:solidFill>
            <a:prstDash val="solid"/>
          </a:ln>
        </p:spPr>
      </p:sp>
      <p:sp>
        <p:nvSpPr>
          <p:cNvPr id="25" name="s03/plots/paired-diff/data-plot/tick-label/3"/>
          <p:cNvSpPr/>
          <p:nvPr/>
        </p:nvSpPr>
        <p:spPr>
          <a:xfrm>
            <a:off x="11181588" y="4939665"/>
            <a:ext cx="30556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0.5</a:t>
            </a:r>
            <a:endParaRPr lang="zh-CN" sz="1350" dirty="0"/>
          </a:p>
        </p:txBody>
      </p:sp>
      <p:sp>
        <p:nvSpPr>
          <p:cNvPr id="26" name="s03/plots/paired-diff/data-plot/axis"/>
          <p:cNvSpPr/>
          <p:nvPr/>
        </p:nvSpPr>
        <p:spPr>
          <a:xfrm>
            <a:off x="8124382" y="4863465"/>
            <a:ext cx="3362768" cy="0"/>
          </a:xfrm>
          <a:prstGeom prst="line">
            <a:avLst/>
          </a:prstGeom>
          <a:noFill/>
          <a:ln w="11430">
            <a:solidFill>
              <a:srgbClr val="515B68"/>
            </a:solidFill>
            <a:prstDash val="solid"/>
          </a:ln>
        </p:spPr>
      </p:sp>
      <p:sp>
        <p:nvSpPr>
          <p:cNvPr id="27" name="s03/plots/paired-diff/data-plot/reference"/>
          <p:cNvSpPr/>
          <p:nvPr/>
        </p:nvSpPr>
        <p:spPr>
          <a:xfrm>
            <a:off x="10366227" y="2198370"/>
            <a:ext cx="0" cy="2665095"/>
          </a:xfrm>
          <a:prstGeom prst="line">
            <a:avLst/>
          </a:prstGeom>
          <a:noFill/>
          <a:ln w="17145">
            <a:solidFill>
              <a:srgbClr val="515B68"/>
            </a:solidFill>
            <a:prstDash val="dash"/>
          </a:ln>
        </p:spPr>
      </p:sp>
      <p:sp>
        <p:nvSpPr>
          <p:cNvPr id="28" name="s03/plots/paired-diff/data-plot/group/0/label"/>
          <p:cNvSpPr/>
          <p:nvPr/>
        </p:nvSpPr>
        <p:spPr>
          <a:xfrm>
            <a:off x="6825659" y="2431733"/>
            <a:ext cx="1165373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A：开发保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留块 (n =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4)</a:t>
            </a:r>
            <a:endParaRPr lang="zh-CN" sz="1800" dirty="0"/>
          </a:p>
        </p:txBody>
      </p:sp>
      <p:sp>
        <p:nvSpPr>
          <p:cNvPr id="29" name="s03/plots/paired-diff/data-plot/group/0/point/0"/>
          <p:cNvSpPr/>
          <p:nvPr/>
        </p:nvSpPr>
        <p:spPr>
          <a:xfrm>
            <a:off x="8763598" y="2809875"/>
            <a:ext cx="66675" cy="66675"/>
          </a:xfrm>
          <a:prstGeom prst="ellipse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03/plots/paired-diff/data-plot/group/0/point/1"/>
          <p:cNvSpPr/>
          <p:nvPr/>
        </p:nvSpPr>
        <p:spPr>
          <a:xfrm>
            <a:off x="8763598" y="2886075"/>
            <a:ext cx="66675" cy="66675"/>
          </a:xfrm>
          <a:prstGeom prst="ellipse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03/plots/paired-diff/data-plot/group/0/point/2"/>
          <p:cNvSpPr/>
          <p:nvPr/>
        </p:nvSpPr>
        <p:spPr>
          <a:xfrm>
            <a:off x="9211967" y="2809875"/>
            <a:ext cx="66675" cy="66675"/>
          </a:xfrm>
          <a:prstGeom prst="ellipse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03/plots/paired-diff/data-plot/group/0/point/3"/>
          <p:cNvSpPr/>
          <p:nvPr/>
        </p:nvSpPr>
        <p:spPr>
          <a:xfrm>
            <a:off x="8763598" y="2733675"/>
            <a:ext cx="66675" cy="66675"/>
          </a:xfrm>
          <a:prstGeom prst="ellipse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3/plots/paired-diff/data-plot/group/1/label"/>
          <p:cNvSpPr/>
          <p:nvPr/>
        </p:nvSpPr>
        <p:spPr>
          <a:xfrm>
            <a:off x="6825659" y="3721417"/>
            <a:ext cx="1165373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B：固定模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型外部块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(n = 4)</a:t>
            </a:r>
            <a:endParaRPr lang="zh-CN" sz="1800" dirty="0"/>
          </a:p>
        </p:txBody>
      </p:sp>
      <p:sp>
        <p:nvSpPr>
          <p:cNvPr id="34" name="s03/plots/paired-diff/data-plot/group/1/point/0"/>
          <p:cNvSpPr/>
          <p:nvPr/>
        </p:nvSpPr>
        <p:spPr>
          <a:xfrm>
            <a:off x="11005443" y="4099560"/>
            <a:ext cx="66675" cy="66675"/>
          </a:xfrm>
          <a:prstGeom prst="ellipse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03/plots/paired-diff/data-plot/group/1/point/1"/>
          <p:cNvSpPr/>
          <p:nvPr/>
        </p:nvSpPr>
        <p:spPr>
          <a:xfrm>
            <a:off x="10557074" y="4099560"/>
            <a:ext cx="66675" cy="66675"/>
          </a:xfrm>
          <a:prstGeom prst="ellipse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03/plots/paired-diff/data-plot/group/1/point/2"/>
          <p:cNvSpPr/>
          <p:nvPr/>
        </p:nvSpPr>
        <p:spPr>
          <a:xfrm>
            <a:off x="10108705" y="4099560"/>
            <a:ext cx="66675" cy="66675"/>
          </a:xfrm>
          <a:prstGeom prst="ellipse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3/plots/paired-diff/data-plot/group/1/point/3"/>
          <p:cNvSpPr/>
          <p:nvPr/>
        </p:nvSpPr>
        <p:spPr>
          <a:xfrm>
            <a:off x="11005443" y="4175760"/>
            <a:ext cx="66675" cy="66675"/>
          </a:xfrm>
          <a:prstGeom prst="ellipse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插件验证用例 2026  |  [2] 插件验证用例 2026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07</a:t>
            </a:r>
            <a:endParaRPr lang="zh-CN" sz="1050" dirty="0"/>
          </a:p>
        </p:txBody>
      </p:sp>
      <p:sp>
        <p:nvSpPr>
          <p:cNvPr id="4" name="s04/brand-label"/>
          <p:cNvSpPr/>
          <p:nvPr/>
        </p:nvSpPr>
        <p:spPr>
          <a:xfrm>
            <a:off x="9024550" y="171450"/>
            <a:ext cx="2710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 · synthetic-v1</a:t>
            </a:r>
            <a:endParaRPr lang="zh-CN" sz="1650" dirty="0"/>
          </a:p>
        </p:txBody>
      </p:sp>
      <p:sp>
        <p:nvSpPr>
          <p:cNvPr id="5" name="s04/title"/>
          <p:cNvSpPr/>
          <p:nvPr/>
        </p:nvSpPr>
        <p:spPr>
          <a:xfrm>
            <a:off x="457200" y="5524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站点均值：A的优势未在B延续</a:t>
            </a:r>
            <a:endParaRPr lang="zh-CN" sz="3000" dirty="0"/>
          </a:p>
        </p:txBody>
      </p:sp>
      <p:sp>
        <p:nvSpPr>
          <p:cNvPr id="6" name="s04/header-rule"/>
          <p:cNvSpPr/>
          <p:nvPr/>
        </p:nvSpPr>
        <p:spPr>
          <a:xfrm>
            <a:off x="457200" y="1078230"/>
            <a:ext cx="1127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7" name="s04/header-accent"/>
          <p:cNvSpPr/>
          <p:nvPr/>
        </p:nvSpPr>
        <p:spPr>
          <a:xfrm>
            <a:off x="457200" y="1078230"/>
            <a:ext cx="118110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8" name="s04/composition/lead/frame"/>
          <p:cNvSpPr/>
          <p:nvPr/>
        </p:nvSpPr>
        <p:spPr>
          <a:xfrm>
            <a:off x="457200" y="1230630"/>
            <a:ext cx="11277600" cy="473964"/>
          </a:xfrm>
          <a:prstGeom prst="rect">
            <a:avLst/>
          </a:prstGeom>
          <a:solidFill>
            <a:srgbClr val="EAF2FA"/>
          </a:solidFill>
          <a:ln w="8573">
            <a:solidFill>
              <a:srgbClr val="BEC8D4"/>
            </a:solidFill>
            <a:prstDash val="solid"/>
          </a:ln>
        </p:spPr>
      </p:sp>
      <p:sp>
        <p:nvSpPr>
          <p:cNvPr id="9" name="s04/composition/lead/mark"/>
          <p:cNvSpPr/>
          <p:nvPr/>
        </p:nvSpPr>
        <p:spPr>
          <a:xfrm>
            <a:off x="457200" y="1230630"/>
            <a:ext cx="47625" cy="473964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4/composition/lead"/>
          <p:cNvSpPr/>
          <p:nvPr/>
        </p:nvSpPr>
        <p:spPr>
          <a:xfrm>
            <a:off x="628650" y="1325880"/>
            <a:ext cx="109347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教学模拟。每站4块等权求算术均值，H−B仍以百分点表示。</a:t>
            </a:r>
            <a:endParaRPr lang="zh-CN" sz="1800" dirty="0"/>
          </a:p>
        </p:txBody>
      </p:sp>
      <p:sp>
        <p:nvSpPr>
          <p:cNvPr id="11" name="s04/composition/panel/meanschart/title"/>
          <p:cNvSpPr/>
          <p:nvPr/>
        </p:nvSpPr>
        <p:spPr>
          <a:xfrm>
            <a:off x="590550" y="1914144"/>
            <a:ext cx="724391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同一尺度的站点内块均值</a:t>
            </a:r>
            <a:endParaRPr lang="zh-CN" sz="1950" dirty="0"/>
          </a:p>
        </p:txBody>
      </p:sp>
      <p:graphicFrame>
        <p:nvGraphicFramePr>
          <p:cNvPr id="12" name="s04/data-chart" descr=""/>
          <p:cNvGraphicFramePr/>
          <p:nvPr/>
        </p:nvGraphicFramePr>
        <p:xfrm>
          <a:off x="590550" y="2390394"/>
          <a:ext cx="7243916" cy="268433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04/chart-caption"/>
          <p:cNvSpPr/>
          <p:nvPr/>
        </p:nvSpPr>
        <p:spPr>
          <a:xfrm>
            <a:off x="590550" y="5150930"/>
            <a:ext cx="7243916" cy="25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[2] · observations.csv：第2—9行；analysis/calculations.json</a:t>
            </a:r>
            <a:endParaRPr lang="zh-CN" sz="1350" dirty="0"/>
          </a:p>
        </p:txBody>
      </p:sp>
      <p:sp>
        <p:nvSpPr>
          <p:cNvPr id="14" name="s04/composition/panel/readout/top-rule"/>
          <p:cNvSpPr/>
          <p:nvPr/>
        </p:nvSpPr>
        <p:spPr>
          <a:xfrm>
            <a:off x="8158316" y="1837944"/>
            <a:ext cx="3576484" cy="0"/>
          </a:xfrm>
          <a:prstGeom prst="line">
            <a:avLst/>
          </a:prstGeom>
          <a:noFill/>
          <a:ln w="24765">
            <a:solidFill>
              <a:srgbClr val="173C70"/>
            </a:solidFill>
            <a:prstDash val="solid"/>
          </a:ln>
        </p:spPr>
      </p:sp>
      <p:sp>
        <p:nvSpPr>
          <p:cNvPr id="15" name="s04/composition/panel/readout/heading-rule"/>
          <p:cNvSpPr/>
          <p:nvPr/>
        </p:nvSpPr>
        <p:spPr>
          <a:xfrm>
            <a:off x="8158316" y="2276094"/>
            <a:ext cx="3576484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6" name="s04/composition/panel/readout/bottom-rule"/>
          <p:cNvSpPr/>
          <p:nvPr/>
        </p:nvSpPr>
        <p:spPr>
          <a:xfrm>
            <a:off x="8158316" y="5515927"/>
            <a:ext cx="3576484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7" name="s04/composition/panel/readout/title"/>
          <p:cNvSpPr/>
          <p:nvPr/>
        </p:nvSpPr>
        <p:spPr>
          <a:xfrm>
            <a:off x="8291666" y="1914144"/>
            <a:ext cx="33097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均值差及其含义</a:t>
            </a:r>
            <a:endParaRPr lang="zh-CN" sz="1950" dirty="0"/>
          </a:p>
        </p:txBody>
      </p:sp>
      <p:sp>
        <p:nvSpPr>
          <p:cNvPr id="18" name="s04/card/meanA/title"/>
          <p:cNvSpPr/>
          <p:nvPr/>
        </p:nvSpPr>
        <p:spPr>
          <a:xfrm>
            <a:off x="8291666" y="2409444"/>
            <a:ext cx="330978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A：均值差 −0.65</a:t>
            </a:r>
            <a:endParaRPr lang="zh-CN" sz="1950" dirty="0"/>
          </a:p>
        </p:txBody>
      </p:sp>
      <p:sp>
        <p:nvSpPr>
          <p:cNvPr id="19" name="s04/card/meanA/body"/>
          <p:cNvSpPr/>
          <p:nvPr/>
        </p:nvSpPr>
        <p:spPr>
          <a:xfrm>
            <a:off x="8291666" y="2857119"/>
            <a:ext cx="3309784" cy="934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3.25  →  H 2.60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四个开发期保留块均值。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支持当前内部误差较低。</a:t>
            </a:r>
            <a:endParaRPr lang="zh-CN" sz="1800" dirty="0"/>
          </a:p>
        </p:txBody>
      </p:sp>
      <p:sp>
        <p:nvSpPr>
          <p:cNvPr id="20" name="s04/card/meanB/title"/>
          <p:cNvSpPr/>
          <p:nvPr/>
        </p:nvSpPr>
        <p:spPr>
          <a:xfrm>
            <a:off x="8291666" y="3981736"/>
            <a:ext cx="330978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B：均值差 +0.15</a:t>
            </a:r>
            <a:endParaRPr lang="zh-CN" sz="1950" dirty="0"/>
          </a:p>
        </p:txBody>
      </p:sp>
      <p:sp>
        <p:nvSpPr>
          <p:cNvPr id="21" name="s04/card/meanB/body"/>
          <p:cNvSpPr/>
          <p:nvPr/>
        </p:nvSpPr>
        <p:spPr>
          <a:xfrm>
            <a:off x="8291666" y="4429411"/>
            <a:ext cx="3309784" cy="934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4.05  →  H 4.20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四个固定模型外部块均值。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未延续A的误差优势。</a:t>
            </a:r>
            <a:endParaRPr lang="zh-CN" sz="1800" dirty="0"/>
          </a:p>
        </p:txBody>
      </p:sp>
      <p:sp>
        <p:nvSpPr>
          <p:cNvPr id="22" name="s04/composition/conclusion/frame"/>
          <p:cNvSpPr/>
          <p:nvPr/>
        </p:nvSpPr>
        <p:spPr>
          <a:xfrm>
            <a:off x="457200" y="5649277"/>
            <a:ext cx="11277600" cy="494348"/>
          </a:xfrm>
          <a:prstGeom prst="rect">
            <a:avLst/>
          </a:prstGeom>
          <a:solidFill>
            <a:srgbClr val="EAF2FA"/>
          </a:solidFill>
          <a:ln w="9525">
            <a:solidFill>
              <a:srgbClr val="BEC8D4"/>
            </a:solidFill>
            <a:prstDash val="solid"/>
          </a:ln>
        </p:spPr>
      </p:sp>
      <p:sp>
        <p:nvSpPr>
          <p:cNvPr id="23" name="s04/composition/conclusion/label-fill"/>
          <p:cNvSpPr/>
          <p:nvPr/>
        </p:nvSpPr>
        <p:spPr>
          <a:xfrm>
            <a:off x="457200" y="5649277"/>
            <a:ext cx="1276350" cy="494348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4/composition/conclusion/label"/>
          <p:cNvSpPr/>
          <p:nvPr/>
        </p:nvSpPr>
        <p:spPr>
          <a:xfrm>
            <a:off x="571500" y="5754052"/>
            <a:ext cx="104775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支持范围</a:t>
            </a:r>
            <a:endParaRPr lang="zh-CN" sz="1950" dirty="0"/>
          </a:p>
        </p:txBody>
      </p:sp>
      <p:sp>
        <p:nvSpPr>
          <p:cNvPr id="25" name="s04/composition/conclusion/text"/>
          <p:cNvSpPr/>
          <p:nvPr/>
        </p:nvSpPr>
        <p:spPr>
          <a:xfrm>
            <a:off x="1885950" y="5754052"/>
            <a:ext cx="969645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这次固定评估不足以支持H的普遍泛化优势，也不能据B一个站点宣布H普遍无效。</a:t>
            </a:r>
            <a:endParaRPr lang="zh-CN" sz="1800" dirty="0"/>
          </a:p>
        </p:txBody>
      </p:sp>
      <p:sp>
        <p:nvSpPr>
          <p:cNvPr id="26" name="s0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插件验证用例 2026  |  [2] 插件验证用例 2026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07</a:t>
            </a:r>
            <a:endParaRPr lang="zh-CN" sz="1050" dirty="0"/>
          </a:p>
        </p:txBody>
      </p:sp>
      <p:sp>
        <p:nvSpPr>
          <p:cNvPr id="4" name="s05/brand-label"/>
          <p:cNvSpPr/>
          <p:nvPr/>
        </p:nvSpPr>
        <p:spPr>
          <a:xfrm>
            <a:off x="9024550" y="171450"/>
            <a:ext cx="2710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 · synthetic-v1</a:t>
            </a:r>
            <a:endParaRPr lang="zh-CN" sz="1650" dirty="0"/>
          </a:p>
        </p:txBody>
      </p:sp>
      <p:sp>
        <p:nvSpPr>
          <p:cNvPr id="5" name="s05/title"/>
          <p:cNvSpPr/>
          <p:nvPr/>
        </p:nvSpPr>
        <p:spPr>
          <a:xfrm>
            <a:off x="457200" y="5524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解释边界：站点差异尚未被分解</a:t>
            </a:r>
            <a:endParaRPr lang="zh-CN" sz="3000" dirty="0"/>
          </a:p>
        </p:txBody>
      </p:sp>
      <p:sp>
        <p:nvSpPr>
          <p:cNvPr id="6" name="s05/header-rule"/>
          <p:cNvSpPr/>
          <p:nvPr/>
        </p:nvSpPr>
        <p:spPr>
          <a:xfrm>
            <a:off x="457200" y="1078230"/>
            <a:ext cx="1127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7" name="s05/header-accent"/>
          <p:cNvSpPr/>
          <p:nvPr/>
        </p:nvSpPr>
        <p:spPr>
          <a:xfrm>
            <a:off x="457200" y="1078230"/>
            <a:ext cx="118110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8" name="s05/composition/panel/boundarymatrix/title"/>
          <p:cNvSpPr/>
          <p:nvPr/>
        </p:nvSpPr>
        <p:spPr>
          <a:xfrm>
            <a:off x="590550" y="1306830"/>
            <a:ext cx="718528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判断与证据逐项对应</a:t>
            </a:r>
            <a:endParaRPr lang="zh-CN" sz="1950" dirty="0"/>
          </a:p>
        </p:txBody>
      </p:sp>
      <p:graphicFrame>
        <p:nvGraphicFramePr>
          <p:cNvPr id="6" name="s05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0550" y="1783080"/>
          <a:ext cx="7185285" cy="2485644"/>
        </p:xfrm>
        <a:graphic>
          <a:graphicData uri="http://schemas.openxmlformats.org/drawingml/2006/table">
            <a:tbl>
              <a:tblPr/>
              <a:tblGrid>
                <a:gridCol w="2140298"/>
                <a:gridCol w="2140298"/>
                <a:gridCol w="2904690"/>
              </a:tblGrid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当前证据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可以说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仍缺的依据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69113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H相对基线：A站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较低，B站略高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本次表现随站点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安排改变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多个独立外部站点的可重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复性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113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同块同日期、同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观测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当前B/H配对误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差可比较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过程模块贡献的专门对照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113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2站点，各4个块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一次固定评估的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描述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多年、多土壤与区域覆盖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05/table-caption"/>
          <p:cNvSpPr/>
          <p:nvPr/>
        </p:nvSpPr>
        <p:spPr>
          <a:xfrm>
            <a:off x="590550" y="4335399"/>
            <a:ext cx="7185285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所有判断仅适用于synthetic-v1教学模拟资料。</a:t>
            </a:r>
            <a:endParaRPr lang="zh-CN" sz="1350" dirty="0"/>
          </a:p>
        </p:txBody>
      </p:sp>
      <p:sp>
        <p:nvSpPr>
          <p:cNvPr id="11" name="s05/composition/panel/unresolved/top-rule"/>
          <p:cNvSpPr/>
          <p:nvPr/>
        </p:nvSpPr>
        <p:spPr>
          <a:xfrm>
            <a:off x="8099685" y="1230630"/>
            <a:ext cx="3635115" cy="0"/>
          </a:xfrm>
          <a:prstGeom prst="line">
            <a:avLst/>
          </a:prstGeom>
          <a:noFill/>
          <a:ln w="24765">
            <a:solidFill>
              <a:srgbClr val="173C70"/>
            </a:solidFill>
            <a:prstDash val="solid"/>
          </a:ln>
        </p:spPr>
      </p:sp>
      <p:sp>
        <p:nvSpPr>
          <p:cNvPr id="12" name="s05/composition/panel/unresolved/heading-rule"/>
          <p:cNvSpPr/>
          <p:nvPr/>
        </p:nvSpPr>
        <p:spPr>
          <a:xfrm>
            <a:off x="8099685" y="1668780"/>
            <a:ext cx="3635115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3" name="s05/composition/panel/unresolved/bottom-rule"/>
          <p:cNvSpPr/>
          <p:nvPr/>
        </p:nvSpPr>
        <p:spPr>
          <a:xfrm>
            <a:off x="8099685" y="5515927"/>
            <a:ext cx="3635115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4" name="s05/composition/panel/unresolved/title"/>
          <p:cNvSpPr/>
          <p:nvPr/>
        </p:nvSpPr>
        <p:spPr>
          <a:xfrm>
            <a:off x="8233035" y="1306830"/>
            <a:ext cx="336841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差异来源仍然开放</a:t>
            </a:r>
            <a:endParaRPr lang="zh-CN" sz="1950" dirty="0"/>
          </a:p>
        </p:txBody>
      </p:sp>
      <p:sp>
        <p:nvSpPr>
          <p:cNvPr id="15" name="s05/card/alternatives/title"/>
          <p:cNvSpPr/>
          <p:nvPr/>
        </p:nvSpPr>
        <p:spPr>
          <a:xfrm>
            <a:off x="8233035" y="1802130"/>
            <a:ext cx="336841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可能解释，尚未区分</a:t>
            </a:r>
            <a:endParaRPr lang="zh-CN" sz="1950" dirty="0"/>
          </a:p>
        </p:txBody>
      </p:sp>
      <p:sp>
        <p:nvSpPr>
          <p:cNvPr id="16" name="s05/card/alternatives/body"/>
          <p:cNvSpPr/>
          <p:nvPr/>
        </p:nvSpPr>
        <p:spPr>
          <a:xfrm>
            <a:off x="8233035" y="2249805"/>
            <a:ext cx="3368415" cy="123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传感器校准差异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土壤性质差异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管理条件差异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开发与调参偏差</a:t>
            </a:r>
            <a:endParaRPr lang="zh-CN" sz="1800" dirty="0"/>
          </a:p>
        </p:txBody>
      </p:sp>
      <p:sp>
        <p:nvSpPr>
          <p:cNvPr id="17" name="s05/card/inference-limit/title"/>
          <p:cNvSpPr/>
          <p:nvPr/>
        </p:nvSpPr>
        <p:spPr>
          <a:xfrm>
            <a:off x="8233035" y="3678079"/>
            <a:ext cx="336841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机制与统计结论</a:t>
            </a:r>
            <a:endParaRPr lang="zh-CN" sz="1950" dirty="0"/>
          </a:p>
        </p:txBody>
      </p:sp>
      <p:sp>
        <p:nvSpPr>
          <p:cNvPr id="18" name="s05/card/inference-limit/body"/>
          <p:cNvSpPr/>
          <p:nvPr/>
        </p:nvSpPr>
        <p:spPr>
          <a:xfrm>
            <a:off x="8233035" y="4125754"/>
            <a:ext cx="3368415" cy="123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H的结构描述不等于因果证明。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缺少区间与检验，不能宣称显著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或等效。</a:t>
            </a:r>
            <a:endParaRPr lang="zh-CN" sz="1800" dirty="0"/>
          </a:p>
        </p:txBody>
      </p:sp>
      <p:sp>
        <p:nvSpPr>
          <p:cNvPr id="19" name="s05/composition/conclusion/frame"/>
          <p:cNvSpPr/>
          <p:nvPr/>
        </p:nvSpPr>
        <p:spPr>
          <a:xfrm>
            <a:off x="457200" y="5649277"/>
            <a:ext cx="11277600" cy="494348"/>
          </a:xfrm>
          <a:prstGeom prst="rect">
            <a:avLst/>
          </a:prstGeom>
          <a:solidFill>
            <a:srgbClr val="EAF2FA"/>
          </a:solidFill>
          <a:ln w="9525">
            <a:solidFill>
              <a:srgbClr val="BEC8D4"/>
            </a:solidFill>
            <a:prstDash val="solid"/>
          </a:ln>
        </p:spPr>
      </p:sp>
      <p:sp>
        <p:nvSpPr>
          <p:cNvPr id="20" name="s05/composition/conclusion/label-fill"/>
          <p:cNvSpPr/>
          <p:nvPr/>
        </p:nvSpPr>
        <p:spPr>
          <a:xfrm>
            <a:off x="457200" y="5649277"/>
            <a:ext cx="1524000" cy="494348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5/composition/conclusion/label"/>
          <p:cNvSpPr/>
          <p:nvPr/>
        </p:nvSpPr>
        <p:spPr>
          <a:xfrm>
            <a:off x="571500" y="5754052"/>
            <a:ext cx="129540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下一步依据</a:t>
            </a:r>
            <a:endParaRPr lang="zh-CN" sz="1950" dirty="0"/>
          </a:p>
        </p:txBody>
      </p:sp>
      <p:sp>
        <p:nvSpPr>
          <p:cNvPr id="22" name="s05/composition/conclusion/text"/>
          <p:cNvSpPr/>
          <p:nvPr/>
        </p:nvSpPr>
        <p:spPr>
          <a:xfrm>
            <a:off x="2133600" y="5754052"/>
            <a:ext cx="94488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先在新站点检验H是否降低误差，再用校准记录和专门对照区分差异来源。</a:t>
            </a:r>
            <a:endParaRPr lang="zh-CN" sz="1800" dirty="0"/>
          </a:p>
        </p:txBody>
      </p:sp>
      <p:sp>
        <p:nvSpPr>
          <p:cNvPr id="23" name="s0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插件验证用例 2026  |  [2] 插件验证用例 2026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07</a:t>
            </a:r>
            <a:endParaRPr lang="zh-CN" sz="1050" dirty="0"/>
          </a:p>
        </p:txBody>
      </p:sp>
      <p:sp>
        <p:nvSpPr>
          <p:cNvPr id="4" name="s06/brand-label"/>
          <p:cNvSpPr/>
          <p:nvPr/>
        </p:nvSpPr>
        <p:spPr>
          <a:xfrm>
            <a:off x="9024550" y="171450"/>
            <a:ext cx="2710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 · synthetic-v1</a:t>
            </a:r>
            <a:endParaRPr lang="zh-CN" sz="1650" dirty="0"/>
          </a:p>
        </p:txBody>
      </p:sp>
      <p:sp>
        <p:nvSpPr>
          <p:cNvPr id="5" name="s06/title"/>
          <p:cNvSpPr/>
          <p:nvPr/>
        </p:nvSpPr>
        <p:spPr>
          <a:xfrm>
            <a:off x="457200" y="5524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后续检验：新站点配对评估与判定</a:t>
            </a:r>
            <a:endParaRPr lang="zh-CN" sz="3000" dirty="0"/>
          </a:p>
        </p:txBody>
      </p:sp>
      <p:sp>
        <p:nvSpPr>
          <p:cNvPr id="6" name="s06/header-rule"/>
          <p:cNvSpPr/>
          <p:nvPr/>
        </p:nvSpPr>
        <p:spPr>
          <a:xfrm>
            <a:off x="457200" y="1078230"/>
            <a:ext cx="1127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7" name="s06/header-accent"/>
          <p:cNvSpPr/>
          <p:nvPr/>
        </p:nvSpPr>
        <p:spPr>
          <a:xfrm>
            <a:off x="457200" y="1078230"/>
            <a:ext cx="118110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8" name="s06/composition/lead/frame"/>
          <p:cNvSpPr/>
          <p:nvPr/>
        </p:nvSpPr>
        <p:spPr>
          <a:xfrm>
            <a:off x="457200" y="1230630"/>
            <a:ext cx="11277600" cy="473964"/>
          </a:xfrm>
          <a:prstGeom prst="rect">
            <a:avLst/>
          </a:prstGeom>
          <a:solidFill>
            <a:srgbClr val="EAF2FA"/>
          </a:solidFill>
          <a:ln w="8573">
            <a:solidFill>
              <a:srgbClr val="BEC8D4"/>
            </a:solidFill>
            <a:prstDash val="solid"/>
          </a:ln>
        </p:spPr>
      </p:sp>
      <p:sp>
        <p:nvSpPr>
          <p:cNvPr id="9" name="s06/composition/lead/mark"/>
          <p:cNvSpPr/>
          <p:nvPr/>
        </p:nvSpPr>
        <p:spPr>
          <a:xfrm>
            <a:off x="457200" y="1230630"/>
            <a:ext cx="47625" cy="473964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6/composition/lead"/>
          <p:cNvSpPr/>
          <p:nvPr/>
        </p:nvSpPr>
        <p:spPr>
          <a:xfrm>
            <a:off x="628650" y="1325880"/>
            <a:ext cx="1093470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未实施提案。新站点是独立评估单位，块保留在站点内；当前数据没有计算区间。</a:t>
            </a:r>
            <a:endParaRPr lang="zh-CN" sz="1800" dirty="0"/>
          </a:p>
        </p:txBody>
      </p:sp>
      <p:sp>
        <p:nvSpPr>
          <p:cNvPr id="11" name="s06/composition/panel/futuredesign/top-rule"/>
          <p:cNvSpPr/>
          <p:nvPr/>
        </p:nvSpPr>
        <p:spPr>
          <a:xfrm>
            <a:off x="457200" y="1837944"/>
            <a:ext cx="4927600" cy="0"/>
          </a:xfrm>
          <a:prstGeom prst="line">
            <a:avLst/>
          </a:prstGeom>
          <a:noFill/>
          <a:ln w="24765">
            <a:solidFill>
              <a:srgbClr val="173C70"/>
            </a:solidFill>
            <a:prstDash val="solid"/>
          </a:ln>
        </p:spPr>
      </p:sp>
      <p:sp>
        <p:nvSpPr>
          <p:cNvPr id="12" name="s06/composition/panel/futuredesign/heading-rule"/>
          <p:cNvSpPr/>
          <p:nvPr/>
        </p:nvSpPr>
        <p:spPr>
          <a:xfrm>
            <a:off x="457200" y="2276094"/>
            <a:ext cx="492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3" name="s06/composition/panel/futuredesign/bottom-rule"/>
          <p:cNvSpPr/>
          <p:nvPr/>
        </p:nvSpPr>
        <p:spPr>
          <a:xfrm>
            <a:off x="457200" y="6143625"/>
            <a:ext cx="492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4" name="s06/composition/panel/futuredesign/title"/>
          <p:cNvSpPr/>
          <p:nvPr/>
        </p:nvSpPr>
        <p:spPr>
          <a:xfrm>
            <a:off x="590550" y="1914144"/>
            <a:ext cx="4660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评价设计与统计单位</a:t>
            </a:r>
            <a:endParaRPr lang="zh-CN" sz="1950" dirty="0"/>
          </a:p>
        </p:txBody>
      </p:sp>
      <p:sp>
        <p:nvSpPr>
          <p:cNvPr id="15" name="s06/card/fair-test/title"/>
          <p:cNvSpPr/>
          <p:nvPr/>
        </p:nvSpPr>
        <p:spPr>
          <a:xfrm>
            <a:off x="590550" y="2409444"/>
            <a:ext cx="46609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固定模型，扩展独立站点</a:t>
            </a:r>
            <a:endParaRPr lang="zh-CN" sz="1950" dirty="0"/>
          </a:p>
        </p:txBody>
      </p:sp>
      <p:sp>
        <p:nvSpPr>
          <p:cNvPr id="16" name="s06/card/fair-test/body"/>
          <p:cNvSpPr/>
          <p:nvPr/>
        </p:nvSpPr>
        <p:spPr>
          <a:xfrm>
            <a:off x="590550" y="2857119"/>
            <a:ext cx="4660900" cy="1247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预定义目标土壤与管理范围。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锁定B/H、预处理和缺测规则。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新站点同日期、同观测配对。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按站点差异规划数量与精度。</a:t>
            </a:r>
            <a:endParaRPr lang="zh-CN" sz="1800" dirty="0"/>
          </a:p>
        </p:txBody>
      </p:sp>
      <p:sp>
        <p:nvSpPr>
          <p:cNvPr id="17" name="s06/card/endpoint/title"/>
          <p:cNvSpPr/>
          <p:nvPr/>
        </p:nvSpPr>
        <p:spPr>
          <a:xfrm>
            <a:off x="590550" y="4295585"/>
            <a:ext cx="46609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主要终点与未来区间</a:t>
            </a:r>
            <a:endParaRPr lang="zh-CN" sz="1950" dirty="0"/>
          </a:p>
        </p:txBody>
      </p:sp>
      <p:sp>
        <p:nvSpPr>
          <p:cNvPr id="18" name="s06/card/endpoint/body"/>
          <p:cNvSpPr/>
          <p:nvPr/>
        </p:nvSpPr>
        <p:spPr>
          <a:xfrm>
            <a:off x="590550" y="4743260"/>
            <a:ext cx="4660900" cy="1247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先求各站点的平均H−B块差，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再对站点等权平均。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拟按独立站点重采样，计算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该均值差的95%区间[L, U]。</a:t>
            </a:r>
            <a:endParaRPr lang="zh-CN" sz="1800" dirty="0"/>
          </a:p>
        </p:txBody>
      </p:sp>
      <p:sp>
        <p:nvSpPr>
          <p:cNvPr id="19" name="s06/composition/panel/branches/title"/>
          <p:cNvSpPr/>
          <p:nvPr/>
        </p:nvSpPr>
        <p:spPr>
          <a:xfrm>
            <a:off x="5708650" y="1914144"/>
            <a:ext cx="5892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预先写清全部结果分支</a:t>
            </a:r>
            <a:endParaRPr lang="zh-CN" sz="1950" dirty="0"/>
          </a:p>
        </p:txBody>
      </p:sp>
      <p:graphicFrame>
        <p:nvGraphicFramePr>
          <p:cNvPr id="7" name="s06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08650" y="2390394"/>
          <a:ext cx="5892800" cy="2061210"/>
        </p:xfrm>
        <a:graphic>
          <a:graphicData uri="http://schemas.openxmlformats.org/drawingml/2006/table">
            <a:tbl>
              <a:tblPr/>
              <a:tblGrid>
                <a:gridCol w="2291644"/>
                <a:gridCol w="3601156"/>
              </a:tblGrid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未来结果条件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判定含义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U &lt; 0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支持平均误差下降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L &gt; 0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支持平均误差上升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L ≤ 0 ≤ U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方向证据不足，不能称等效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24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评价前提不满足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96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暂停判定，按预设规则处理</a:t>
                      </a:r>
                      <a:endParaRPr lang="zh-CN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06/table-caption"/>
          <p:cNvSpPr/>
          <p:nvPr/>
        </p:nvSpPr>
        <p:spPr>
          <a:xfrm>
            <a:off x="5708650" y="4518279"/>
            <a:ext cx="5892800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只判断误差方向。实际收益门槛需在观察结果前另行定义。</a:t>
            </a:r>
            <a:endParaRPr lang="zh-CN" sz="1350" dirty="0"/>
          </a:p>
        </p:txBody>
      </p:sp>
      <p:sp>
        <p:nvSpPr>
          <p:cNvPr id="22" name="s0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插件验证用例 2026  |  [2] 插件验证用例 2026</a:t>
            </a:r>
            <a:endParaRPr lang="zh-CN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07</a:t>
            </a:r>
            <a:endParaRPr lang="zh-CN" sz="1050" dirty="0"/>
          </a:p>
        </p:txBody>
      </p:sp>
      <p:sp>
        <p:nvSpPr>
          <p:cNvPr id="4" name="s07/brand-label"/>
          <p:cNvSpPr/>
          <p:nvPr/>
        </p:nvSpPr>
        <p:spPr>
          <a:xfrm>
            <a:off x="9024550" y="171450"/>
            <a:ext cx="2710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 · synthetic-v1</a:t>
            </a:r>
            <a:endParaRPr lang="zh-CN" sz="1650" dirty="0"/>
          </a:p>
        </p:txBody>
      </p:sp>
      <p:sp>
        <p:nvSpPr>
          <p:cNvPr id="5" name="s07/title"/>
          <p:cNvSpPr/>
          <p:nvPr/>
        </p:nvSpPr>
        <p:spPr>
          <a:xfrm>
            <a:off x="457200" y="5524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参考资料（教学模拟，未发表）</a:t>
            </a:r>
            <a:endParaRPr lang="zh-CN" sz="3000" dirty="0"/>
          </a:p>
        </p:txBody>
      </p:sp>
      <p:sp>
        <p:nvSpPr>
          <p:cNvPr id="6" name="s07/header-rule"/>
          <p:cNvSpPr/>
          <p:nvPr/>
        </p:nvSpPr>
        <p:spPr>
          <a:xfrm>
            <a:off x="457200" y="1078230"/>
            <a:ext cx="1127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7" name="s07/header-accent"/>
          <p:cNvSpPr/>
          <p:nvPr/>
        </p:nvSpPr>
        <p:spPr>
          <a:xfrm>
            <a:off x="457200" y="1078230"/>
            <a:ext cx="118110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8" name="s07/ref:protocol:id"/>
          <p:cNvSpPr/>
          <p:nvPr/>
        </p:nvSpPr>
        <p:spPr>
          <a:xfrm>
            <a:off x="457200" y="1276350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</a:t>
            </a:r>
            <a:endParaRPr lang="zh-CN" sz="1650" dirty="0"/>
          </a:p>
        </p:txBody>
      </p:sp>
      <p:sp>
        <p:nvSpPr>
          <p:cNvPr id="9" name="s07/ref:protocol:title"/>
          <p:cNvSpPr/>
          <p:nvPr/>
        </p:nvSpPr>
        <p:spPr>
          <a:xfrm>
            <a:off x="1123950" y="1257300"/>
            <a:ext cx="106108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教学模拟：土壤水分预测的跨站点表现</a:t>
            </a:r>
            <a:endParaRPr lang="zh-CN" sz="1800" dirty="0"/>
          </a:p>
        </p:txBody>
      </p:sp>
      <p:sp>
        <p:nvSpPr>
          <p:cNvPr id="10" name="s07/ref:protocol:meta"/>
          <p:cNvSpPr/>
          <p:nvPr/>
        </p:nvSpPr>
        <p:spPr>
          <a:xfrm>
            <a:off x="1123950" y="1598295"/>
            <a:ext cx="10610850" cy="212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插件验证用例 · 本地教学协议，未投稿、未发表 · 2026 · sources/protocol.md · synthetic-v1</a:t>
            </a:r>
            <a:endParaRPr lang="zh-CN" sz="1350" dirty="0"/>
          </a:p>
        </p:txBody>
      </p:sp>
      <p:sp>
        <p:nvSpPr>
          <p:cNvPr id="11" name="s07/ref:protocol:line"/>
          <p:cNvSpPr/>
          <p:nvPr/>
        </p:nvSpPr>
        <p:spPr>
          <a:xfrm>
            <a:off x="1123950" y="1915478"/>
            <a:ext cx="10610850" cy="0"/>
          </a:xfrm>
          <a:prstGeom prst="line">
            <a:avLst/>
          </a:prstGeom>
          <a:noFill/>
          <a:ln w="13335">
            <a:solidFill>
              <a:srgbClr val="BEC8D4"/>
            </a:solidFill>
            <a:prstDash val="solid"/>
          </a:ln>
        </p:spPr>
      </p:sp>
      <p:sp>
        <p:nvSpPr>
          <p:cNvPr id="12" name="s07/ref:data:id"/>
          <p:cNvSpPr/>
          <p:nvPr/>
        </p:nvSpPr>
        <p:spPr>
          <a:xfrm>
            <a:off x="457200" y="2058353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[2]</a:t>
            </a:r>
            <a:endParaRPr lang="zh-CN" sz="1650" dirty="0"/>
          </a:p>
        </p:txBody>
      </p:sp>
      <p:sp>
        <p:nvSpPr>
          <p:cNvPr id="13" name="s07/ref:data:title"/>
          <p:cNvSpPr/>
          <p:nvPr/>
        </p:nvSpPr>
        <p:spPr>
          <a:xfrm>
            <a:off x="1123950" y="2039302"/>
            <a:ext cx="106108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土壤水分预测的跨站点表现：observations.csv</a:t>
            </a:r>
            <a:endParaRPr lang="zh-CN" sz="1800" dirty="0"/>
          </a:p>
        </p:txBody>
      </p:sp>
      <p:sp>
        <p:nvSpPr>
          <p:cNvPr id="14" name="s07/ref:data:meta"/>
          <p:cNvSpPr/>
          <p:nvPr/>
        </p:nvSpPr>
        <p:spPr>
          <a:xfrm>
            <a:off x="1123950" y="2380298"/>
            <a:ext cx="10610850" cy="212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插件验证用例 · 本地教学附表，未发表 · 2026 · sources/observations.csv · synthetic-v1</a:t>
            </a:r>
            <a:endParaRPr lang="zh-CN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教学模拟：土壤水分预测的跨站点表现</dc:title>
  <dc:subject>在教学模拟资料中，结合过程模型的混合预测方法H在开发站点A的误差较低，能否支持对站点B的泛化优势？本次严格限定protocol.md和observations.csv两份本地材料，制作8分钟、7页中文组会汇报（含封面和书目），解释方法、比较数据、讨论结果与适用边界，并提出有依据且未实施的后续检验。仅参考experiment.pptx的设计语言，不引入其他研究事实。交付可编辑PPTX、逐页讲稿和可恢复工程，并实际渲染逐页审查。</dc:subject>
  <dc:creator>DSH Academic PPT</dc:creator>
  <cp:lastModifiedBy>DSH Academic PPT</cp:lastModifiedBy>
  <cp:revision>1</cp:revision>
  <dcterms:created xsi:type="dcterms:W3CDTF">2026-10-20T16:46:33Z</dcterms:created>
  <dcterms:modified xsi:type="dcterms:W3CDTF">2026-10-20T16:46:33Z</dcterms:modified>
</cp:coreProperties>
</file>