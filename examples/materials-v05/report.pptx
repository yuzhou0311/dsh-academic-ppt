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，今天汇报一组金属构件疲劳寿命的阶段分析。首先说明，这48件记录是为学术沟通练习构造的教学模拟数据，不对应真实实验、机构或项目。我关注的问题是：观察到的寿命差异，有多少来自同条件下的工艺比较，现有证据还缺什么，以及下一批试件怎样使结论更可归因。
参考文献（完整题名）
protocol · 金属构件疲劳试验记录（教学模拟材料） · 用户提供的教学模拟资料包（非期刊） · 2026 · 资料版本1，2026-10-20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先把比较条件摆在同一张表上。A批只有常规，B批同时有常规和改性，它们的应力都是200 MPa。C批只有改性，而且应力降到了180 MPa。四个单元各12件，B是唯一同批、同应力的工艺对比。每一行是一件独立试件，没有重复试验，因此不能把同一批里的试件数当成独立批次数。B行高亮表示主要比较范围，空缺单元表示没有观测。还要保留一个关键边界：资料按可用加工顺序取样，没有随机跨批分配，也未给出B批内随机工艺分配的记录。设备和环境未另记差异，也不等同于已经验证条件完全一致。
参考文献（完整题名）
protocol · 金属构件疲劳试验记录（教学模拟材料） · 用户提供的教学模拟资料包（非期刊） · 2026 · 资料版本1，2026-10-20
fatigue · fatigue.csv：48件金属构件疲劳观察记录（教学模拟数据） · 用户提供的合成数据文件（非论文） · 2026 · 随资料版本1提供；2026-10-20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保留全部48件数据。横轴是以50万次为上限的观察循环数，最下方C组用右三角标出两件删失，不表示它们在50万次失效。若把A和B常规合并，再把B和C改性合并，两组各24件，受限均值从27.00万变成38.21万次，相对观察差达到41.5%。但这个数字使用了不同的条件构成。右侧给出精确的观察量分解：混合差11.21万次，等于B内差2.56万，加上常规A/B构成项3.37万和改性B/C构成项5.28万。后两项只是均值恒等式中的项，不能称作纯批次或纯应力的因果贡献。尤其C与B同时改变应力和批次，因此41.5%不能作为工艺收益。
原图来源：fatigue
本汇报复算图F-1
四条件独立试件与删失
教学模拟数据；全部48个独立试件，A/B 200 MPa、C 180 MPa。圆点为failed，C行50万次的两个右三角为runout，按纵向偏移分开，独立点不连接。横轴为min(T,500000)，按万次显示。
/workspace/scratch/40f088ca5093/audit/blind-v05-strict-final/materials/inputs/fatigue.csv
资料版本1，2026-10-20；scripts/plot_revisions.py复算绘制
基于本次用户提供的教学模拟数据自行绘图；无外部图片。
完整图，无裁切，无独立点连线。
参考文献（完整题名）
protocol · 金属构件疲劳试验记录（教学模拟材料） · 用户提供的教学模拟资料包（非期刊） · 2026 · 资料版本1，2026-10-20
fatigue · fatigue.csv：48件金属构件疲劳观察记录（教学模拟数据） · 用户提供的合成数据文件（非论文） · 2026 · 随资料版本1提供；2026-10-20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现在只看B批。这24件都在200 MPa下失效，没有删失，两个工艺各12件。左侧显示全部独立观察值，改性组较长寿命的一件仍然保留，没有因其影响均值而删除。常规均值为30.37万次，改性为32.93万次，差为2.56万次；相对常规样本均值的点差是8.4%。右侧把不确定性与点估计放在一起：探索性双侧95% Welch区间为负1.37万至正6.49万次，包含零。这里支持的表述是存在正差线索，方向和实际幅度仍未确定，而不是证明工艺无效或等效。区间只覆盖模型下的抽样不确定性；加工顺序取样与工艺分配记录缺口仍然存在。敏感性计算中，组内bootstrap区间也跨零；对数尺度的几何均值比约1.076，区间0.953至1.214，同样未确定方向。它们只是尺度和分布敏感性检查，不是新的独立证据。
参考文献（完整题名）
protocol · 金属构件疲劳试验记录（教学模拟材料） · 用户提供的教学模拟资料包（非期刊） · 2026 · 资料版本1，2026-10-20
fatigue · fatigue.csv：48件金属构件疲劳观察记录（教学模拟数据） · 用户提供的合成数据文件（非论文） · 2026 · 随资料版本1提供；2026-10-20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批的重点是终点解释。12件中10件发生失效，另外两件到50万次停止时仍未失效。曲线每次实际失效才下降，到了50万次仍保持在2/12，不因停止观察而降为零，也不继续外推尾部。阴影面积对应50万次内的受限平均寿命，定义为min(T,50万)的期望。本组估计43.48万次。因为没有更早删失，曲线面积恰好等于12个受限观察循环数的平均。这是合理的受限均值，不能称为完整平均失效寿命。C还缺少180 MPa的常规对照，所以较长记录也不能单独识别改性收益或应力作用。
原图来源：fatigue
本汇报复算图C-1
C批生存曲线及RMST
教学模拟数据。C批改性，180 MPa，12件独立试件，10次失效；C-mod-02与C-mod-08在50万次行政删失。Kaplan–Meier曲线只至50万次，阴影面积43.48万次；两件停止点重合标示，不作为失效事件。
/workspace/scratch/40f088ca5093/audit/blind-v05-strict-final/materials/inputs/fatigue.csv
资料版本1，2026-10-20；分析脚本与输入哈希已保存
依据本次用户提供教学数据自行计算绘图；未使用外部或参考稿图片。
完整计算图，无裁切；非显微图或实测机构成果。
参考文献（完整题名）
protocol · 金属构件疲劳试验记录（教学模拟材料） · 用户提供的教学模拟资料包（非期刊） · 2026 · 资料版本1，2026-10-20
fatigue · fatigue.csv：48件金属构件疲劳观察记录（教学模拟数据） · 用户提供的合成数据文件（非论文） · 2026 · 随资料版本1提供；2026-10-20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把可追问的解释分成三个层次。第一，B内确有一个正向样本均值差，但按加工顺序取样且缺少随机工艺分配记录，使加工顺序、样品差异和工艺本身仍无法完全区分，因此优先需要同批随机工艺分配。第二，A和B即使同为常规200 MPa，B的样本均值比A高28.5%，以A为基准；它提示条件构成不能忽视，但不能说这就是纯批次效应。C又把应力和批次绑定在一起，回归模型不能凭空补出缺失的设计单元。第三，现有数据只有循环终点，工艺参数与微观表征均缺失。因此不能指定已经成立的残余应力或组织机制。下一步应先定义改性到底改了什么，再选择能区分候选机制的表征，并与失效终点对应。
参考文献（完整题名）
protocol · 金属构件疲劳试验记录（教学模拟材料） · 用户提供的教学模拟资料包（非期刊） · 2026 · 资料版本1，2026-10-20
fatigue · fatigue.csv：48件金属构件疲劳观察记录（教学模拟数据） · 用户提供的合成数据文件（非论文） · 2026 · 随资料版本1提供；2026-10-20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下一批试件尚未开展。建议把它作为同一新批、200 MPa下的随机对照，而不是再增加一个与工艺绑定的批次。先锁定工艺参数与入组规则，再把试件随机按1比1分到常规和改性。试验顺序也随机安排，统一到50万次停止，并盲化终点判读。主要评价是改性减常规的50万次受限平均寿命。这样runout仍能进入共同观察窗内的比较。需要事先明确失效、runout和提前失访的处理；若出现更早失访，不能简单替成50万或当作失效。样本量也不能由当前12件直接承诺。应先同意实际阈值、希望确认的备择效应和精度，再用先导变异重算。计算说明保留每组37、57、82件的资源情景，但这些只是检测零差的近似量级，不保证区间下限超过实际阈值。单批成功也只支持该新批和当前应力窗，跨批推广仍需重复。
参考文献（完整题名）
protocol · 金属构件疲劳试验记录（教学模拟材料） · 用户提供的教学模拟资料包（非期刊） · 2026 · 资料版本1，2026-10-20
fatigue · fatigue.csv：48件金属构件疲劳观察记录（教学模拟数据） · 用户提供的合成数据文件（非论文） · 2026 · 随资料版本1提供；2026-10-20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据也是方案的一部分，需要在新数据出现前约定。这里用3万次作为讨论中的实际阈值，它没有经过工程验证。设改性减常规的受限均值差，其双侧95%区间为L到U。如果下限超过正阈值，才支持超过实际门槛的收益；如果上限低于负阈值，则是反向损害，不能归为笼统不确定。区间全部落在正负阈值之间，才支持所定义的实际近似。其余区间仍需把方向和幅度分开：例如假想区间1到5万次，方向为正，但是否超过3万未定；负5到负1万次则方向为负。若区间含零，方向也未定。分配和终点等评价前提不成立时，应先处理偏差或缺失，不能直接套确认性规则。当前B区间含零并越过正阈值，因此不支持收益或实际近似；这里的判据不会把未显著自动改写成等效。
参考文献（完整题名）
protocol · 金属构件疲劳试验记录（教学模拟材料） · 用户提供的教学模拟资料包（非期刊） · 2026 · 资料版本1，2026-10-20
fatigue · fatigue.csv：48件金属构件疲劳观察记录（教学模拟数据） · 用户提供的合成数据文件（非论文） · 2026 · 随资料版本1提供；2026-10-20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阶段形成三条相互约束的判断。B内的正差值得保留，但区间与工艺分配记录缺口使收益仍未确认。混合差与C组尾部进一步提醒我们，条件构成和观察窗必须进入结论。下一步优先投入同批随机对照，并补齐具体工艺与机制表征；只有事先明确什么结果会支持或否定假说，新试件才会实质提高证据质量。所有这些判断仍仅针对教学模拟资料。
参考文献（完整题名）
protocol · 金属构件疲劳试验记录（教学模拟材料） · 用户提供的教学模拟资料包（非期刊） · 2026 · 资料版本1，2026-10-20
fatigue · fatigue.csv：48件金属构件疲劳观察记录（教学模拟数据） · 用户提供的合成数据文件（非论文） · 2026 · 随资料版本1提供；2026-10-20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列出可复核来源。两份研究来源都是用户提供的教学模拟资料包：方案版本1与48件CSV记录，均已完整读取，没有论文、期刊或DOI身份。图表由这些记录复算。参考PPTX仅提供设计关系，不构成本研究证据。B的区间是探索性模型结果，C只估计50万次内的受限均值。谢谢各位。
参考文献（完整题名）
protocol · 金属构件疲劳试验记录（教学模拟材料） · 用户提供的教学模拟资料包（非期刊） · 2026 · 资料版本1，2026-10-20
fatigue · fatigue.csv：48件金属构件疲劳观察记录（教学模拟数据） · 用户提供的合成数据文件（非论文） · 2026 · 随资料版本1提供；2026-10-20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-cover/cover-identity-band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1-cover/cover-occasion"/>
          <p:cNvSpPr/>
          <p:nvPr/>
        </p:nvSpPr>
        <p:spPr>
          <a:xfrm>
            <a:off x="609600" y="238125"/>
            <a:ext cx="109728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材料工程课题组研究进展汇报 · 教学模拟数据</a:t>
            </a:r>
            <a:endParaRPr lang="zh-CN" sz="2100" dirty="0"/>
          </a:p>
        </p:txBody>
      </p:sp>
      <p:sp>
        <p:nvSpPr>
          <p:cNvPr id="4" name="s01-cover/cover-base"/>
          <p:cNvSpPr/>
          <p:nvPr/>
        </p:nvSpPr>
        <p:spPr>
          <a:xfrm>
            <a:off x="0" y="5162550"/>
            <a:ext cx="12192000" cy="1695450"/>
          </a:xfrm>
          <a:prstGeom prst="rect">
            <a:avLst/>
          </a:prstGeom>
          <a:solidFill>
            <a:srgbClr val="ECF1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01-cover/cover-divider"/>
          <p:cNvSpPr/>
          <p:nvPr/>
        </p:nvSpPr>
        <p:spPr>
          <a:xfrm>
            <a:off x="0" y="5124450"/>
            <a:ext cx="12192000" cy="4762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01-cover/cover-divider-emphasis"/>
          <p:cNvSpPr/>
          <p:nvPr/>
        </p:nvSpPr>
        <p:spPr>
          <a:xfrm>
            <a:off x="0" y="5124450"/>
            <a:ext cx="1771650" cy="47625"/>
          </a:xfrm>
          <a:prstGeom prst="rect">
            <a:avLst/>
          </a:prstGeom>
          <a:solidFill>
            <a:srgbClr val="B451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01-cover/title"/>
          <p:cNvSpPr/>
          <p:nvPr/>
        </p:nvSpPr>
        <p:spPr>
          <a:xfrm>
            <a:off x="609600" y="2005394"/>
            <a:ext cx="10972800" cy="167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612"/>
              </a:lnSpc>
              <a:buNone/>
            </a:pPr>
            <a:r>
              <a:rPr lang="zh-CN" altLang="en-US" sz="57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金属构件改性工艺的</a:t>
            </a:r>
            <a:endParaRPr lang="zh-CN" sz="5700" dirty="0"/>
          </a:p>
          <a:p>
            <a:pPr algn="ctr" indent="0" marL="0">
              <a:lnSpc>
                <a:spcPts val="6612"/>
              </a:lnSpc>
              <a:buNone/>
            </a:pPr>
            <a:r>
              <a:rPr lang="zh-CN" altLang="en-US" sz="57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疲劳寿命比较</a:t>
            </a:r>
            <a:endParaRPr lang="zh-CN" sz="5700" dirty="0"/>
          </a:p>
        </p:txBody>
      </p:sp>
      <p:sp>
        <p:nvSpPr>
          <p:cNvPr id="8" name="s01-cover/subtitle"/>
          <p:cNvSpPr/>
          <p:nvPr/>
        </p:nvSpPr>
        <p:spPr>
          <a:xfrm>
            <a:off x="609600" y="3913442"/>
            <a:ext cx="10972800" cy="348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45"/>
              </a:lnSpc>
              <a:buNone/>
            </a:pPr>
            <a:r>
              <a:rPr lang="zh-CN" altLang="en-US" sz="2250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阶段证据、比较边界与下一步验证</a:t>
            </a:r>
            <a:endParaRPr lang="zh-CN" sz="2250" dirty="0"/>
          </a:p>
        </p:txBody>
      </p:sp>
      <p:sp>
        <p:nvSpPr>
          <p:cNvPr id="9" name="s01-cover/cover-date"/>
          <p:cNvSpPr/>
          <p:nvPr/>
        </p:nvSpPr>
        <p:spPr>
          <a:xfrm>
            <a:off x="609600" y="6343650"/>
            <a:ext cx="10972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2026年10月20日</a:t>
            </a:r>
            <a:endParaRPr lang="zh-CN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-design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2-design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10</a:t>
            </a:r>
            <a:endParaRPr lang="zh-CN" sz="1050" dirty="0"/>
          </a:p>
        </p:txBody>
      </p:sp>
      <p:sp>
        <p:nvSpPr>
          <p:cNvPr id="4" name="s02-design/academic-header-band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02-design/section-label"/>
          <p:cNvSpPr/>
          <p:nvPr/>
        </p:nvSpPr>
        <p:spPr>
          <a:xfrm>
            <a:off x="457200" y="95250"/>
            <a:ext cx="772287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研究问题与设计</a:t>
            </a:r>
            <a:endParaRPr lang="zh-CN" sz="2250" dirty="0"/>
          </a:p>
        </p:txBody>
      </p:sp>
      <p:sp>
        <p:nvSpPr>
          <p:cNvPr id="6" name="s02-design/brand-label"/>
          <p:cNvSpPr/>
          <p:nvPr/>
        </p:nvSpPr>
        <p:spPr>
          <a:xfrm>
            <a:off x="8427720" y="133350"/>
            <a:ext cx="33070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 · 材料工程研究进展</a:t>
            </a:r>
            <a:endParaRPr lang="zh-CN" sz="1650" dirty="0"/>
          </a:p>
        </p:txBody>
      </p:sp>
      <p:sp>
        <p:nvSpPr>
          <p:cNvPr id="7" name="s02-design/title"/>
          <p:cNvSpPr/>
          <p:nvPr/>
        </p:nvSpPr>
        <p:spPr>
          <a:xfrm>
            <a:off x="457200" y="6667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现有48件中，只有B批可作同条件对比</a:t>
            </a:r>
            <a:endParaRPr lang="zh-CN" sz="3000" dirty="0"/>
          </a:p>
        </p:txBody>
      </p:sp>
      <p:sp>
        <p:nvSpPr>
          <p:cNvPr id="8" name="s02-design/header-rule"/>
          <p:cNvSpPr/>
          <p:nvPr/>
        </p:nvSpPr>
        <p:spPr>
          <a:xfrm>
            <a:off x="457200" y="1192530"/>
            <a:ext cx="11277600" cy="0"/>
          </a:xfrm>
          <a:prstGeom prst="line">
            <a:avLst/>
          </a:prstGeom>
          <a:noFill/>
          <a:ln w="9525">
            <a:solidFill>
              <a:srgbClr val="CBD6E2"/>
            </a:solidFill>
            <a:prstDash val="solid"/>
          </a:ln>
        </p:spPr>
      </p:sp>
      <p:sp>
        <p:nvSpPr>
          <p:cNvPr id="9" name="s02-design/composition/lead/frame"/>
          <p:cNvSpPr/>
          <p:nvPr/>
        </p:nvSpPr>
        <p:spPr>
          <a:xfrm>
            <a:off x="457200" y="1344930"/>
            <a:ext cx="11277600" cy="473964"/>
          </a:xfrm>
          <a:prstGeom prst="rect">
            <a:avLst/>
          </a:prstGeom>
          <a:solidFill>
            <a:srgbClr val="ECF1F7"/>
          </a:solidFill>
          <a:ln w="8573">
            <a:solidFill>
              <a:srgbClr val="CBD6E2"/>
            </a:solidFill>
            <a:prstDash val="solid"/>
          </a:ln>
        </p:spPr>
      </p:sp>
      <p:sp>
        <p:nvSpPr>
          <p:cNvPr id="10" name="s02-design/composition/lead/mark"/>
          <p:cNvSpPr/>
          <p:nvPr/>
        </p:nvSpPr>
        <p:spPr>
          <a:xfrm>
            <a:off x="457200" y="1344930"/>
            <a:ext cx="47625" cy="473964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2-design/composition/lead"/>
          <p:cNvSpPr/>
          <p:nvPr/>
        </p:nvSpPr>
        <p:spPr>
          <a:xfrm>
            <a:off x="628650" y="1440180"/>
            <a:ext cx="109347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同条件指同批次、同应力；尚缺随机工艺分配证据。</a:t>
            </a:r>
            <a:endParaRPr lang="zh-CN" sz="1800" dirty="0"/>
          </a:p>
        </p:txBody>
      </p:sp>
      <p:sp>
        <p:nvSpPr>
          <p:cNvPr id="12" name="s02-design/composition/panel/cells/frame"/>
          <p:cNvSpPr/>
          <p:nvPr/>
        </p:nvSpPr>
        <p:spPr>
          <a:xfrm>
            <a:off x="457200" y="1952244"/>
            <a:ext cx="7263962" cy="3541776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13" name="s02-design/composition/panel/cells/band"/>
          <p:cNvSpPr/>
          <p:nvPr/>
        </p:nvSpPr>
        <p:spPr>
          <a:xfrm>
            <a:off x="457200" y="1952244"/>
            <a:ext cx="7263962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2-design/composition/panel/cells/title"/>
          <p:cNvSpPr/>
          <p:nvPr/>
        </p:nvSpPr>
        <p:spPr>
          <a:xfrm>
            <a:off x="590550" y="2028444"/>
            <a:ext cx="6997262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实际观测到的条件单元</a:t>
            </a:r>
            <a:endParaRPr lang="zh-CN" sz="2100" dirty="0"/>
          </a:p>
        </p:txBody>
      </p:sp>
      <p:graphicFrame>
        <p:nvGraphicFramePr>
          <p:cNvPr id="3" name="s02-design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550" y="2525649"/>
          <a:ext cx="6997262" cy="2206752"/>
        </p:xfrm>
        <a:graphic>
          <a:graphicData uri="http://schemas.openxmlformats.org/drawingml/2006/table">
            <a:tbl>
              <a:tblPr/>
              <a:tblGrid>
                <a:gridCol w="987849"/>
                <a:gridCol w="1481773"/>
                <a:gridCol w="2058018"/>
                <a:gridCol w="2469622"/>
              </a:tblGrid>
              <a:tr h="69113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批次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应力 / 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MPa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常规工艺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改性工艺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12件失效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未观测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12件失效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12件失效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7"/>
                    </a:solidFill>
                  </a:tcPr>
                </a:tc>
              </a:tr>
              <a:tr h="69113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180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未观测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10件失效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2件runout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02-design/table-caption"/>
          <p:cNvSpPr/>
          <p:nvPr/>
        </p:nvSpPr>
        <p:spPr>
          <a:xfrm>
            <a:off x="590550" y="4799076"/>
            <a:ext cx="6997262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四单元各12件；“未观测”不是零寿命。来源：protocol.md；fatigue.csv。</a:t>
            </a:r>
            <a:endParaRPr lang="zh-CN" sz="1350" dirty="0"/>
          </a:p>
        </p:txBody>
      </p:sp>
      <p:sp>
        <p:nvSpPr>
          <p:cNvPr id="17" name="s02-design/composition/panel/scope/frame"/>
          <p:cNvSpPr/>
          <p:nvPr/>
        </p:nvSpPr>
        <p:spPr>
          <a:xfrm>
            <a:off x="7911662" y="1952244"/>
            <a:ext cx="3823138" cy="3541776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18" name="s02-design/composition/panel/scope/band"/>
          <p:cNvSpPr/>
          <p:nvPr/>
        </p:nvSpPr>
        <p:spPr>
          <a:xfrm>
            <a:off x="7911662" y="1952244"/>
            <a:ext cx="3823138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2-design/composition/panel/scope/title"/>
          <p:cNvSpPr/>
          <p:nvPr/>
        </p:nvSpPr>
        <p:spPr>
          <a:xfrm>
            <a:off x="8045012" y="2028444"/>
            <a:ext cx="3556438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比较前必须保留的边界</a:t>
            </a:r>
            <a:endParaRPr lang="zh-CN" sz="2100" dirty="0"/>
          </a:p>
        </p:txBody>
      </p:sp>
      <p:sp>
        <p:nvSpPr>
          <p:cNvPr id="20" name="s02-design/card/unit/title"/>
          <p:cNvSpPr/>
          <p:nvPr/>
        </p:nvSpPr>
        <p:spPr>
          <a:xfrm>
            <a:off x="8045012" y="2544699"/>
            <a:ext cx="355643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独立单位</a:t>
            </a:r>
            <a:endParaRPr lang="zh-CN" sz="2100" dirty="0"/>
          </a:p>
        </p:txBody>
      </p:sp>
      <p:sp>
        <p:nvSpPr>
          <p:cNvPr id="21" name="s02-design/card/unit/body"/>
          <p:cNvSpPr/>
          <p:nvPr/>
        </p:nvSpPr>
        <p:spPr>
          <a:xfrm>
            <a:off x="8045012" y="2992374"/>
            <a:ext cx="3556438" cy="855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48件试件，4个条件单元。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无重复试验；批次没有重复。</a:t>
            </a:r>
            <a:endParaRPr lang="zh-CN" sz="1800" dirty="0"/>
          </a:p>
        </p:txBody>
      </p:sp>
      <p:sp>
        <p:nvSpPr>
          <p:cNvPr id="22" name="s02-design/card/sampling/title"/>
          <p:cNvSpPr/>
          <p:nvPr/>
        </p:nvSpPr>
        <p:spPr>
          <a:xfrm>
            <a:off x="8045012" y="4038409"/>
            <a:ext cx="355643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B4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取样与条件</a:t>
            </a:r>
            <a:endParaRPr lang="zh-CN" sz="2100" dirty="0"/>
          </a:p>
        </p:txBody>
      </p:sp>
      <p:sp>
        <p:nvSpPr>
          <p:cNvPr id="23" name="s02-design/card/sampling/body"/>
          <p:cNvSpPr/>
          <p:nvPr/>
        </p:nvSpPr>
        <p:spPr>
          <a:xfrm>
            <a:off x="8045012" y="4486084"/>
            <a:ext cx="3556438" cy="855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按加工顺序取样；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无随机跨批分配；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设备/环境差异未另记。</a:t>
            </a:r>
            <a:endParaRPr lang="zh-CN" sz="1800" dirty="0"/>
          </a:p>
        </p:txBody>
      </p:sp>
      <p:sp>
        <p:nvSpPr>
          <p:cNvPr id="24" name="s02-design/composition/conclusion/frame"/>
          <p:cNvSpPr/>
          <p:nvPr/>
        </p:nvSpPr>
        <p:spPr>
          <a:xfrm>
            <a:off x="457200" y="5627370"/>
            <a:ext cx="11277600" cy="516255"/>
          </a:xfrm>
          <a:prstGeom prst="rect">
            <a:avLst/>
          </a:prstGeom>
          <a:solidFill>
            <a:srgbClr val="ECF1F7"/>
          </a:solidFill>
          <a:ln w="9525">
            <a:solidFill>
              <a:srgbClr val="CBD6E2"/>
            </a:solidFill>
            <a:prstDash val="solid"/>
          </a:ln>
        </p:spPr>
      </p:sp>
      <p:sp>
        <p:nvSpPr>
          <p:cNvPr id="25" name="s02-design/composition/conclusion/label-fill"/>
          <p:cNvSpPr/>
          <p:nvPr/>
        </p:nvSpPr>
        <p:spPr>
          <a:xfrm>
            <a:off x="457200" y="5627370"/>
            <a:ext cx="1352550" cy="51625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02-design/composition/conclusion/label"/>
          <p:cNvSpPr/>
          <p:nvPr/>
        </p:nvSpPr>
        <p:spPr>
          <a:xfrm>
            <a:off x="571500" y="5732145"/>
            <a:ext cx="112395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分析范围</a:t>
            </a:r>
            <a:endParaRPr lang="zh-CN" sz="2100" dirty="0"/>
          </a:p>
        </p:txBody>
      </p:sp>
      <p:sp>
        <p:nvSpPr>
          <p:cNvPr id="27" name="s02-design/composition/conclusion/text"/>
          <p:cNvSpPr/>
          <p:nvPr/>
        </p:nvSpPr>
        <p:spPr>
          <a:xfrm>
            <a:off x="1962150" y="5732145"/>
            <a:ext cx="962025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主要比较锁定B批；A/C用于描述条件构成与寿命解释的边界。</a:t>
            </a:r>
            <a:endParaRPr lang="zh-CN" sz="1800" dirty="0"/>
          </a:p>
        </p:txBody>
      </p:sp>
      <p:sp>
        <p:nvSpPr>
          <p:cNvPr id="28" name="s02-design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 2026  |  [2] 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-mixture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3-mixture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10</a:t>
            </a:r>
            <a:endParaRPr lang="zh-CN" sz="1050" dirty="0"/>
          </a:p>
        </p:txBody>
      </p:sp>
      <p:sp>
        <p:nvSpPr>
          <p:cNvPr id="4" name="s03-mixture/academic-header-band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03-mixture/section-label"/>
          <p:cNvSpPr/>
          <p:nvPr/>
        </p:nvSpPr>
        <p:spPr>
          <a:xfrm>
            <a:off x="457200" y="95250"/>
            <a:ext cx="772287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阶段数据与解释</a:t>
            </a:r>
            <a:endParaRPr lang="zh-CN" sz="2250" dirty="0"/>
          </a:p>
        </p:txBody>
      </p:sp>
      <p:sp>
        <p:nvSpPr>
          <p:cNvPr id="6" name="s03-mixture/brand-label"/>
          <p:cNvSpPr/>
          <p:nvPr/>
        </p:nvSpPr>
        <p:spPr>
          <a:xfrm>
            <a:off x="8427720" y="133350"/>
            <a:ext cx="33070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 · 材料工程研究进展</a:t>
            </a:r>
            <a:endParaRPr lang="zh-CN" sz="1650" dirty="0"/>
          </a:p>
        </p:txBody>
      </p:sp>
      <p:sp>
        <p:nvSpPr>
          <p:cNvPr id="7" name="s03-mixture/title"/>
          <p:cNvSpPr/>
          <p:nvPr/>
        </p:nvSpPr>
        <p:spPr>
          <a:xfrm>
            <a:off x="457200" y="6667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混合对比的41.5%，包含条件构成差</a:t>
            </a:r>
            <a:endParaRPr lang="zh-CN" sz="3000" dirty="0"/>
          </a:p>
        </p:txBody>
      </p:sp>
      <p:sp>
        <p:nvSpPr>
          <p:cNvPr id="8" name="s03-mixture/header-rule"/>
          <p:cNvSpPr/>
          <p:nvPr/>
        </p:nvSpPr>
        <p:spPr>
          <a:xfrm>
            <a:off x="457200" y="1192530"/>
            <a:ext cx="11277600" cy="0"/>
          </a:xfrm>
          <a:prstGeom prst="line">
            <a:avLst/>
          </a:prstGeom>
          <a:noFill/>
          <a:ln w="9525">
            <a:solidFill>
              <a:srgbClr val="CBD6E2"/>
            </a:solidFill>
            <a:prstDash val="solid"/>
          </a:ln>
        </p:spPr>
      </p:sp>
      <p:sp>
        <p:nvSpPr>
          <p:cNvPr id="9" name="s03-mixture/composition/lead/frame"/>
          <p:cNvSpPr/>
          <p:nvPr/>
        </p:nvSpPr>
        <p:spPr>
          <a:xfrm>
            <a:off x="457200" y="1344930"/>
            <a:ext cx="11277600" cy="473964"/>
          </a:xfrm>
          <a:prstGeom prst="rect">
            <a:avLst/>
          </a:prstGeom>
          <a:solidFill>
            <a:srgbClr val="ECF1F7"/>
          </a:solidFill>
          <a:ln w="8573">
            <a:solidFill>
              <a:srgbClr val="CBD6E2"/>
            </a:solidFill>
            <a:prstDash val="solid"/>
          </a:ln>
        </p:spPr>
      </p:sp>
      <p:sp>
        <p:nvSpPr>
          <p:cNvPr id="10" name="s03-mixture/composition/lead/mark"/>
          <p:cNvSpPr/>
          <p:nvPr/>
        </p:nvSpPr>
        <p:spPr>
          <a:xfrm>
            <a:off x="457200" y="1344930"/>
            <a:ext cx="47625" cy="473964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3-mixture/composition/lead"/>
          <p:cNvSpPr/>
          <p:nvPr/>
        </p:nvSpPr>
        <p:spPr>
          <a:xfrm>
            <a:off x="628650" y="1440180"/>
            <a:ext cx="109347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混合受限均值：常规A/B 27.00万次；改性B/C 38.21万次（各24件）。</a:t>
            </a:r>
            <a:endParaRPr lang="zh-CN" sz="1800" dirty="0"/>
          </a:p>
        </p:txBody>
      </p:sp>
      <p:sp>
        <p:nvSpPr>
          <p:cNvPr id="12" name="s03-mixture/composition/panel/all-data/frame"/>
          <p:cNvSpPr/>
          <p:nvPr/>
        </p:nvSpPr>
        <p:spPr>
          <a:xfrm>
            <a:off x="457200" y="1952244"/>
            <a:ext cx="7055427" cy="4191381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13" name="s03-mixture/composition/panel/all-data/band"/>
          <p:cNvSpPr/>
          <p:nvPr/>
        </p:nvSpPr>
        <p:spPr>
          <a:xfrm>
            <a:off x="457200" y="1952244"/>
            <a:ext cx="7055427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3-mixture/composition/panel/all-data/title"/>
          <p:cNvSpPr/>
          <p:nvPr/>
        </p:nvSpPr>
        <p:spPr>
          <a:xfrm>
            <a:off x="590550" y="2028444"/>
            <a:ext cx="6788727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A/B：200 MPa；C：180 MPa</a:t>
            </a:r>
            <a:endParaRPr lang="zh-CN" sz="2100" dirty="0"/>
          </a:p>
        </p:txBody>
      </p:sp>
      <p:pic>
        <p:nvPicPr>
          <p:cNvPr id="15" name="s03-mixture/composition/panel/all-data/figure/all-observations:image" descr="圆点：失效；右三角：2件runout。纵向错位仅防重叠，48件全部绘制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767" y="2525649"/>
            <a:ext cx="6204292" cy="3167253"/>
          </a:xfrm>
          <a:prstGeom prst="rect">
            <a:avLst/>
          </a:prstGeom>
        </p:spPr>
      </p:pic>
      <p:sp>
        <p:nvSpPr>
          <p:cNvPr id="16" name="s03-mixture/composition/panel/all-data/figure/all-observations:caption"/>
          <p:cNvSpPr/>
          <p:nvPr/>
        </p:nvSpPr>
        <p:spPr>
          <a:xfrm>
            <a:off x="590550" y="5778627"/>
            <a:ext cx="6788727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圆点：失效；右三角：2件runout。纵向错位仅防重叠，48件全部绘制。</a:t>
            </a:r>
            <a:endParaRPr lang="zh-CN" sz="1350" dirty="0"/>
          </a:p>
        </p:txBody>
      </p:sp>
      <p:sp>
        <p:nvSpPr>
          <p:cNvPr id="17" name="s03-mixture/composition/panel/decomp/frame"/>
          <p:cNvSpPr/>
          <p:nvPr/>
        </p:nvSpPr>
        <p:spPr>
          <a:xfrm>
            <a:off x="7703127" y="1952244"/>
            <a:ext cx="4031673" cy="4191381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18" name="s03-mixture/composition/panel/decomp/band"/>
          <p:cNvSpPr/>
          <p:nvPr/>
        </p:nvSpPr>
        <p:spPr>
          <a:xfrm>
            <a:off x="7703127" y="1952244"/>
            <a:ext cx="4031673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3-mixture/composition/panel/decomp/title"/>
          <p:cNvSpPr/>
          <p:nvPr/>
        </p:nvSpPr>
        <p:spPr>
          <a:xfrm>
            <a:off x="7836477" y="2028444"/>
            <a:ext cx="3764973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混合差的观察量分解</a:t>
            </a:r>
            <a:endParaRPr lang="zh-CN" sz="2100" dirty="0"/>
          </a:p>
        </p:txBody>
      </p:sp>
      <p:graphicFrame>
        <p:nvGraphicFramePr>
          <p:cNvPr id="4" name="s03-mixture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36477" y="2525649"/>
          <a:ext cx="3764973" cy="2061210"/>
        </p:xfrm>
        <a:graphic>
          <a:graphicData uri="http://schemas.openxmlformats.org/drawingml/2006/table">
            <a:tbl>
              <a:tblPr/>
              <a:tblGrid>
                <a:gridCol w="2353108"/>
                <a:gridCol w="1411865"/>
              </a:tblGrid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观察量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万次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B内工艺差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2.56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常规 ½(B−A)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3.37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改性 ½(C−B)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5.28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合计：混合差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11.21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7"/>
                    </a:solidFill>
                  </a:tcPr>
                </a:tc>
              </a:tr>
            </a:tbl>
          </a:graphicData>
        </a:graphic>
      </p:graphicFrame>
      <p:sp>
        <p:nvSpPr>
          <p:cNvPr id="21" name="s03-mixture/table-caption"/>
          <p:cNvSpPr/>
          <p:nvPr/>
        </p:nvSpPr>
        <p:spPr>
          <a:xfrm>
            <a:off x="7836477" y="4653534"/>
            <a:ext cx="3764973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观察恒等式；C改变批次与应力，不作因果分摊。</a:t>
            </a:r>
            <a:endParaRPr lang="zh-CN" sz="1350" dirty="0"/>
          </a:p>
        </p:txBody>
      </p:sp>
      <p:sp>
        <p:nvSpPr>
          <p:cNvPr id="22" name="s03-mixture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 2026  |  [2] 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-B-effect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4-B-effect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10</a:t>
            </a:r>
            <a:endParaRPr lang="zh-CN" sz="1050" dirty="0"/>
          </a:p>
        </p:txBody>
      </p:sp>
      <p:sp>
        <p:nvSpPr>
          <p:cNvPr id="4" name="s04-B-effect/academic-header-band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04-B-effect/section-label"/>
          <p:cNvSpPr/>
          <p:nvPr/>
        </p:nvSpPr>
        <p:spPr>
          <a:xfrm>
            <a:off x="457200" y="95250"/>
            <a:ext cx="772287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阶段数据与解释</a:t>
            </a:r>
            <a:endParaRPr lang="zh-CN" sz="2250" dirty="0"/>
          </a:p>
        </p:txBody>
      </p:sp>
      <p:sp>
        <p:nvSpPr>
          <p:cNvPr id="6" name="s04-B-effect/brand-label"/>
          <p:cNvSpPr/>
          <p:nvPr/>
        </p:nvSpPr>
        <p:spPr>
          <a:xfrm>
            <a:off x="8427720" y="133350"/>
            <a:ext cx="33070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 · 材料工程研究进展</a:t>
            </a:r>
            <a:endParaRPr lang="zh-CN" sz="1650" dirty="0"/>
          </a:p>
        </p:txBody>
      </p:sp>
      <p:sp>
        <p:nvSpPr>
          <p:cNvPr id="7" name="s04-B-effect/title"/>
          <p:cNvSpPr/>
          <p:nvPr/>
        </p:nvSpPr>
        <p:spPr>
          <a:xfrm>
            <a:off x="457200" y="6667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B批：点估计为正，区间仍含负差</a:t>
            </a:r>
            <a:endParaRPr lang="zh-CN" sz="3000" dirty="0"/>
          </a:p>
        </p:txBody>
      </p:sp>
      <p:sp>
        <p:nvSpPr>
          <p:cNvPr id="8" name="s04-B-effect/header-rule"/>
          <p:cNvSpPr/>
          <p:nvPr/>
        </p:nvSpPr>
        <p:spPr>
          <a:xfrm>
            <a:off x="457200" y="1192530"/>
            <a:ext cx="11277600" cy="0"/>
          </a:xfrm>
          <a:prstGeom prst="line">
            <a:avLst/>
          </a:prstGeom>
          <a:noFill/>
          <a:ln w="9525">
            <a:solidFill>
              <a:srgbClr val="CBD6E2"/>
            </a:solidFill>
            <a:prstDash val="solid"/>
          </a:ln>
        </p:spPr>
      </p:sp>
      <p:sp>
        <p:nvSpPr>
          <p:cNvPr id="9" name="s04-B-effect/composition/lead/frame"/>
          <p:cNvSpPr/>
          <p:nvPr/>
        </p:nvSpPr>
        <p:spPr>
          <a:xfrm>
            <a:off x="457200" y="1344930"/>
            <a:ext cx="11277600" cy="473964"/>
          </a:xfrm>
          <a:prstGeom prst="rect">
            <a:avLst/>
          </a:prstGeom>
          <a:solidFill>
            <a:srgbClr val="ECF1F7"/>
          </a:solidFill>
          <a:ln w="8573">
            <a:solidFill>
              <a:srgbClr val="CBD6E2"/>
            </a:solidFill>
            <a:prstDash val="solid"/>
          </a:ln>
        </p:spPr>
      </p:sp>
      <p:sp>
        <p:nvSpPr>
          <p:cNvPr id="10" name="s04-B-effect/composition/lead/mark"/>
          <p:cNvSpPr/>
          <p:nvPr/>
        </p:nvSpPr>
        <p:spPr>
          <a:xfrm>
            <a:off x="457200" y="1344930"/>
            <a:ext cx="47625" cy="473964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4-B-effect/composition/lead"/>
          <p:cNvSpPr/>
          <p:nvPr/>
        </p:nvSpPr>
        <p:spPr>
          <a:xfrm>
            <a:off x="628650" y="1440180"/>
            <a:ext cx="109347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 MPa；各12件、全部失效；改性−常规，缺随机工艺分配证据。</a:t>
            </a:r>
            <a:endParaRPr lang="zh-CN" sz="1800" dirty="0"/>
          </a:p>
        </p:txBody>
      </p:sp>
      <p:sp>
        <p:nvSpPr>
          <p:cNvPr id="12" name="s04-B-effect/composition/panel/B-dist/frame"/>
          <p:cNvSpPr/>
          <p:nvPr/>
        </p:nvSpPr>
        <p:spPr>
          <a:xfrm>
            <a:off x="457200" y="1952244"/>
            <a:ext cx="5156791" cy="3541776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13" name="s04-B-effect/composition/panel/B-dist/band"/>
          <p:cNvSpPr/>
          <p:nvPr/>
        </p:nvSpPr>
        <p:spPr>
          <a:xfrm>
            <a:off x="457200" y="1952244"/>
            <a:ext cx="5156791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4-B-effect/composition/panel/B-dist/title"/>
          <p:cNvSpPr/>
          <p:nvPr/>
        </p:nvSpPr>
        <p:spPr>
          <a:xfrm>
            <a:off x="590550" y="2028444"/>
            <a:ext cx="489009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同条件下的独立试件</a:t>
            </a:r>
            <a:endParaRPr lang="zh-CN" sz="2100" dirty="0"/>
          </a:p>
        </p:txBody>
      </p:sp>
      <p:sp>
        <p:nvSpPr>
          <p:cNvPr id="15" name="s04-B-effect/plots/B-distribution/data-plot/reading-note"/>
          <p:cNvSpPr/>
          <p:nvPr/>
        </p:nvSpPr>
        <p:spPr>
          <a:xfrm>
            <a:off x="704850" y="2639949"/>
            <a:ext cx="466149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每点为一条观测；纵向错位仅防重叠</a:t>
            </a:r>
            <a:endParaRPr lang="zh-CN" sz="1350" dirty="0"/>
          </a:p>
        </p:txBody>
      </p:sp>
      <p:sp>
        <p:nvSpPr>
          <p:cNvPr id="16" name="s04-B-effect/plots/B-distribution/data-plot/caption"/>
          <p:cNvSpPr/>
          <p:nvPr/>
        </p:nvSpPr>
        <p:spPr>
          <a:xfrm>
            <a:off x="704850" y="5059680"/>
            <a:ext cx="466149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样本均值：常规30.37万次；改性32.93万次。</a:t>
            </a:r>
            <a:endParaRPr lang="zh-CN" sz="1350" dirty="0"/>
          </a:p>
        </p:txBody>
      </p:sp>
      <p:sp>
        <p:nvSpPr>
          <p:cNvPr id="17" name="s04-B-effect/plots/B-distribution/data-plot/unit"/>
          <p:cNvSpPr/>
          <p:nvPr/>
        </p:nvSpPr>
        <p:spPr>
          <a:xfrm>
            <a:off x="2003573" y="4758690"/>
            <a:ext cx="336276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循环次数 / 万次</a:t>
            </a:r>
            <a:endParaRPr lang="zh-CN" sz="1350" dirty="0"/>
          </a:p>
        </p:txBody>
      </p:sp>
      <p:sp>
        <p:nvSpPr>
          <p:cNvPr id="18" name="s04-B-effect/plots/B-distribution/data-plot/grid/0"/>
          <p:cNvSpPr/>
          <p:nvPr/>
        </p:nvSpPr>
        <p:spPr>
          <a:xfrm>
            <a:off x="2003573" y="2940939"/>
            <a:ext cx="0" cy="1478661"/>
          </a:xfrm>
          <a:prstGeom prst="line">
            <a:avLst/>
          </a:prstGeom>
          <a:noFill/>
          <a:ln w="7620">
            <a:solidFill>
              <a:srgbClr val="CBD6E2"/>
            </a:solidFill>
            <a:prstDash val="solid"/>
          </a:ln>
        </p:spPr>
      </p:sp>
      <p:sp>
        <p:nvSpPr>
          <p:cNvPr id="19" name="s04-B-effect/plots/B-distribution/data-plot/tick/0"/>
          <p:cNvSpPr/>
          <p:nvPr/>
        </p:nvSpPr>
        <p:spPr>
          <a:xfrm>
            <a:off x="2003573" y="4419600"/>
            <a:ext cx="0" cy="38100"/>
          </a:xfrm>
          <a:prstGeom prst="line">
            <a:avLst/>
          </a:prstGeom>
          <a:noFill/>
          <a:ln w="9525">
            <a:solidFill>
              <a:srgbClr val="536779"/>
            </a:solidFill>
            <a:prstDash val="solid"/>
          </a:ln>
        </p:spPr>
      </p:sp>
      <p:sp>
        <p:nvSpPr>
          <p:cNvPr id="20" name="s04-B-effect/plots/B-distribution/data-plot/tick-label/0"/>
          <p:cNvSpPr/>
          <p:nvPr/>
        </p:nvSpPr>
        <p:spPr>
          <a:xfrm>
            <a:off x="2003573" y="4495800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zh-CN" sz="1350" dirty="0"/>
          </a:p>
        </p:txBody>
      </p:sp>
      <p:sp>
        <p:nvSpPr>
          <p:cNvPr id="21" name="s04-B-effect/plots/B-distribution/data-plot/grid/1"/>
          <p:cNvSpPr/>
          <p:nvPr/>
        </p:nvSpPr>
        <p:spPr>
          <a:xfrm>
            <a:off x="2564034" y="2940939"/>
            <a:ext cx="0" cy="1478661"/>
          </a:xfrm>
          <a:prstGeom prst="line">
            <a:avLst/>
          </a:prstGeom>
          <a:noFill/>
          <a:ln w="7620">
            <a:solidFill>
              <a:srgbClr val="CBD6E2"/>
            </a:solidFill>
            <a:prstDash val="solid"/>
          </a:ln>
        </p:spPr>
      </p:sp>
      <p:sp>
        <p:nvSpPr>
          <p:cNvPr id="22" name="s04-B-effect/plots/B-distribution/data-plot/tick/1"/>
          <p:cNvSpPr/>
          <p:nvPr/>
        </p:nvSpPr>
        <p:spPr>
          <a:xfrm>
            <a:off x="2564034" y="4419600"/>
            <a:ext cx="0" cy="38100"/>
          </a:xfrm>
          <a:prstGeom prst="line">
            <a:avLst/>
          </a:prstGeom>
          <a:noFill/>
          <a:ln w="9525">
            <a:solidFill>
              <a:srgbClr val="536779"/>
            </a:solidFill>
            <a:prstDash val="solid"/>
          </a:ln>
        </p:spPr>
      </p:sp>
      <p:sp>
        <p:nvSpPr>
          <p:cNvPr id="23" name="s04-B-effect/plots/B-distribution/data-plot/tick-label/1"/>
          <p:cNvSpPr/>
          <p:nvPr/>
        </p:nvSpPr>
        <p:spPr>
          <a:xfrm>
            <a:off x="2440400" y="4495800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zh-CN" sz="1350" dirty="0"/>
          </a:p>
        </p:txBody>
      </p:sp>
      <p:sp>
        <p:nvSpPr>
          <p:cNvPr id="24" name="s04-B-effect/plots/B-distribution/data-plot/grid/2"/>
          <p:cNvSpPr/>
          <p:nvPr/>
        </p:nvSpPr>
        <p:spPr>
          <a:xfrm>
            <a:off x="3124495" y="2940939"/>
            <a:ext cx="0" cy="1478661"/>
          </a:xfrm>
          <a:prstGeom prst="line">
            <a:avLst/>
          </a:prstGeom>
          <a:noFill/>
          <a:ln w="7620">
            <a:solidFill>
              <a:srgbClr val="CBD6E2"/>
            </a:solidFill>
            <a:prstDash val="solid"/>
          </a:ln>
        </p:spPr>
      </p:sp>
      <p:sp>
        <p:nvSpPr>
          <p:cNvPr id="25" name="s04-B-effect/plots/B-distribution/data-plot/tick/2"/>
          <p:cNvSpPr/>
          <p:nvPr/>
        </p:nvSpPr>
        <p:spPr>
          <a:xfrm>
            <a:off x="3124495" y="4419600"/>
            <a:ext cx="0" cy="38100"/>
          </a:xfrm>
          <a:prstGeom prst="line">
            <a:avLst/>
          </a:prstGeom>
          <a:noFill/>
          <a:ln w="9525">
            <a:solidFill>
              <a:srgbClr val="536779"/>
            </a:solidFill>
            <a:prstDash val="solid"/>
          </a:ln>
        </p:spPr>
      </p:sp>
      <p:sp>
        <p:nvSpPr>
          <p:cNvPr id="26" name="s04-B-effect/plots/B-distribution/data-plot/tick-label/2"/>
          <p:cNvSpPr/>
          <p:nvPr/>
        </p:nvSpPr>
        <p:spPr>
          <a:xfrm>
            <a:off x="3000861" y="4495800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zh-CN" sz="1350" dirty="0"/>
          </a:p>
        </p:txBody>
      </p:sp>
      <p:sp>
        <p:nvSpPr>
          <p:cNvPr id="27" name="s04-B-effect/plots/B-distribution/data-plot/grid/3"/>
          <p:cNvSpPr/>
          <p:nvPr/>
        </p:nvSpPr>
        <p:spPr>
          <a:xfrm>
            <a:off x="3684957" y="2940939"/>
            <a:ext cx="0" cy="1478661"/>
          </a:xfrm>
          <a:prstGeom prst="line">
            <a:avLst/>
          </a:prstGeom>
          <a:noFill/>
          <a:ln w="7620">
            <a:solidFill>
              <a:srgbClr val="CBD6E2"/>
            </a:solidFill>
            <a:prstDash val="solid"/>
          </a:ln>
        </p:spPr>
      </p:sp>
      <p:sp>
        <p:nvSpPr>
          <p:cNvPr id="28" name="s04-B-effect/plots/B-distribution/data-plot/tick/3"/>
          <p:cNvSpPr/>
          <p:nvPr/>
        </p:nvSpPr>
        <p:spPr>
          <a:xfrm>
            <a:off x="3684957" y="4419600"/>
            <a:ext cx="0" cy="38100"/>
          </a:xfrm>
          <a:prstGeom prst="line">
            <a:avLst/>
          </a:prstGeom>
          <a:noFill/>
          <a:ln w="9525">
            <a:solidFill>
              <a:srgbClr val="536779"/>
            </a:solidFill>
            <a:prstDash val="solid"/>
          </a:ln>
        </p:spPr>
      </p:sp>
      <p:sp>
        <p:nvSpPr>
          <p:cNvPr id="29" name="s04-B-effect/plots/B-distribution/data-plot/tick-label/3"/>
          <p:cNvSpPr/>
          <p:nvPr/>
        </p:nvSpPr>
        <p:spPr>
          <a:xfrm>
            <a:off x="3561322" y="4495800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</a:t>
            </a:r>
            <a:endParaRPr lang="zh-CN" sz="1350" dirty="0"/>
          </a:p>
        </p:txBody>
      </p:sp>
      <p:sp>
        <p:nvSpPr>
          <p:cNvPr id="30" name="s04-B-effect/plots/B-distribution/data-plot/grid/4"/>
          <p:cNvSpPr/>
          <p:nvPr/>
        </p:nvSpPr>
        <p:spPr>
          <a:xfrm>
            <a:off x="4245418" y="2940939"/>
            <a:ext cx="0" cy="1478661"/>
          </a:xfrm>
          <a:prstGeom prst="line">
            <a:avLst/>
          </a:prstGeom>
          <a:noFill/>
          <a:ln w="7620">
            <a:solidFill>
              <a:srgbClr val="CBD6E2"/>
            </a:solidFill>
            <a:prstDash val="solid"/>
          </a:ln>
        </p:spPr>
      </p:sp>
      <p:sp>
        <p:nvSpPr>
          <p:cNvPr id="31" name="s04-B-effect/plots/B-distribution/data-plot/tick/4"/>
          <p:cNvSpPr/>
          <p:nvPr/>
        </p:nvSpPr>
        <p:spPr>
          <a:xfrm>
            <a:off x="4245418" y="4419600"/>
            <a:ext cx="0" cy="38100"/>
          </a:xfrm>
          <a:prstGeom prst="line">
            <a:avLst/>
          </a:prstGeom>
          <a:noFill/>
          <a:ln w="9525">
            <a:solidFill>
              <a:srgbClr val="536779"/>
            </a:solidFill>
            <a:prstDash val="solid"/>
          </a:ln>
        </p:spPr>
      </p:sp>
      <p:sp>
        <p:nvSpPr>
          <p:cNvPr id="32" name="s04-B-effect/plots/B-distribution/data-plot/tick-label/4"/>
          <p:cNvSpPr/>
          <p:nvPr/>
        </p:nvSpPr>
        <p:spPr>
          <a:xfrm>
            <a:off x="4121784" y="4495800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</a:t>
            </a:r>
            <a:endParaRPr lang="zh-CN" sz="1350" dirty="0"/>
          </a:p>
        </p:txBody>
      </p:sp>
      <p:sp>
        <p:nvSpPr>
          <p:cNvPr id="33" name="s04-B-effect/plots/B-distribution/data-plot/grid/5"/>
          <p:cNvSpPr/>
          <p:nvPr/>
        </p:nvSpPr>
        <p:spPr>
          <a:xfrm>
            <a:off x="4805879" y="2940939"/>
            <a:ext cx="0" cy="1478661"/>
          </a:xfrm>
          <a:prstGeom prst="line">
            <a:avLst/>
          </a:prstGeom>
          <a:noFill/>
          <a:ln w="7620">
            <a:solidFill>
              <a:srgbClr val="CBD6E2"/>
            </a:solidFill>
            <a:prstDash val="solid"/>
          </a:ln>
        </p:spPr>
      </p:sp>
      <p:sp>
        <p:nvSpPr>
          <p:cNvPr id="34" name="s04-B-effect/plots/B-distribution/data-plot/tick/5"/>
          <p:cNvSpPr/>
          <p:nvPr/>
        </p:nvSpPr>
        <p:spPr>
          <a:xfrm>
            <a:off x="4805879" y="4419600"/>
            <a:ext cx="0" cy="38100"/>
          </a:xfrm>
          <a:prstGeom prst="line">
            <a:avLst/>
          </a:prstGeom>
          <a:noFill/>
          <a:ln w="9525">
            <a:solidFill>
              <a:srgbClr val="536779"/>
            </a:solidFill>
            <a:prstDash val="solid"/>
          </a:ln>
        </p:spPr>
      </p:sp>
      <p:sp>
        <p:nvSpPr>
          <p:cNvPr id="35" name="s04-B-effect/plots/B-distribution/data-plot/tick-label/5"/>
          <p:cNvSpPr/>
          <p:nvPr/>
        </p:nvSpPr>
        <p:spPr>
          <a:xfrm>
            <a:off x="4682245" y="4495800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</a:t>
            </a:r>
            <a:endParaRPr lang="zh-CN" sz="1350" dirty="0"/>
          </a:p>
        </p:txBody>
      </p:sp>
      <p:sp>
        <p:nvSpPr>
          <p:cNvPr id="36" name="s04-B-effect/plots/B-distribution/data-plot/grid/6"/>
          <p:cNvSpPr/>
          <p:nvPr/>
        </p:nvSpPr>
        <p:spPr>
          <a:xfrm>
            <a:off x="5366341" y="2940939"/>
            <a:ext cx="0" cy="1478661"/>
          </a:xfrm>
          <a:prstGeom prst="line">
            <a:avLst/>
          </a:prstGeom>
          <a:noFill/>
          <a:ln w="7620">
            <a:solidFill>
              <a:srgbClr val="CBD6E2"/>
            </a:solidFill>
            <a:prstDash val="solid"/>
          </a:ln>
        </p:spPr>
      </p:sp>
      <p:sp>
        <p:nvSpPr>
          <p:cNvPr id="37" name="s04-B-effect/plots/B-distribution/data-plot/tick/6"/>
          <p:cNvSpPr/>
          <p:nvPr/>
        </p:nvSpPr>
        <p:spPr>
          <a:xfrm>
            <a:off x="5366341" y="4419600"/>
            <a:ext cx="0" cy="38100"/>
          </a:xfrm>
          <a:prstGeom prst="line">
            <a:avLst/>
          </a:prstGeom>
          <a:noFill/>
          <a:ln w="9525">
            <a:solidFill>
              <a:srgbClr val="536779"/>
            </a:solidFill>
            <a:prstDash val="solid"/>
          </a:ln>
        </p:spPr>
      </p:sp>
      <p:sp>
        <p:nvSpPr>
          <p:cNvPr id="38" name="s04-B-effect/plots/B-distribution/data-plot/tick-label/6"/>
          <p:cNvSpPr/>
          <p:nvPr/>
        </p:nvSpPr>
        <p:spPr>
          <a:xfrm>
            <a:off x="5119072" y="4495800"/>
            <a:ext cx="2472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zh-CN" sz="1350" dirty="0"/>
          </a:p>
        </p:txBody>
      </p:sp>
      <p:sp>
        <p:nvSpPr>
          <p:cNvPr id="39" name="s04-B-effect/plots/B-distribution/data-plot/axis"/>
          <p:cNvSpPr/>
          <p:nvPr/>
        </p:nvSpPr>
        <p:spPr>
          <a:xfrm>
            <a:off x="2003573" y="4419600"/>
            <a:ext cx="3362768" cy="0"/>
          </a:xfrm>
          <a:prstGeom prst="line">
            <a:avLst/>
          </a:prstGeom>
          <a:noFill/>
          <a:ln w="11430">
            <a:solidFill>
              <a:srgbClr val="536779"/>
            </a:solidFill>
            <a:prstDash val="solid"/>
          </a:ln>
        </p:spPr>
      </p:sp>
      <p:sp>
        <p:nvSpPr>
          <p:cNvPr id="40" name="s04-B-effect/plots/B-distribution/data-plot/group/0/label"/>
          <p:cNvSpPr/>
          <p:nvPr/>
        </p:nvSpPr>
        <p:spPr>
          <a:xfrm>
            <a:off x="704850" y="3014853"/>
            <a:ext cx="1165373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 (n =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12)</a:t>
            </a:r>
            <a:endParaRPr lang="zh-CN" sz="1800" dirty="0"/>
          </a:p>
        </p:txBody>
      </p:sp>
      <p:sp>
        <p:nvSpPr>
          <p:cNvPr id="41" name="s04-B-effect/plots/B-distribution/data-plot/group/0/point/0"/>
          <p:cNvSpPr/>
          <p:nvPr/>
        </p:nvSpPr>
        <p:spPr>
          <a:xfrm>
            <a:off x="3108061" y="3332035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04-B-effect/plots/B-distribution/data-plot/group/0/point/1"/>
          <p:cNvSpPr/>
          <p:nvPr/>
        </p:nvSpPr>
        <p:spPr>
          <a:xfrm>
            <a:off x="3188084" y="3255835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4-B-effect/plots/B-distribution/data-plot/group/0/point/2"/>
          <p:cNvSpPr/>
          <p:nvPr/>
        </p:nvSpPr>
        <p:spPr>
          <a:xfrm>
            <a:off x="3217183" y="3332035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04-B-effect/plots/B-distribution/data-plot/group/0/point/3"/>
          <p:cNvSpPr/>
          <p:nvPr/>
        </p:nvSpPr>
        <p:spPr>
          <a:xfrm>
            <a:off x="2961848" y="3255835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04-B-effect/plots/B-distribution/data-plot/group/0/point/4"/>
          <p:cNvSpPr/>
          <p:nvPr/>
        </p:nvSpPr>
        <p:spPr>
          <a:xfrm>
            <a:off x="3651115" y="3255835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04-B-effect/plots/B-distribution/data-plot/group/0/point/5"/>
          <p:cNvSpPr/>
          <p:nvPr/>
        </p:nvSpPr>
        <p:spPr>
          <a:xfrm>
            <a:off x="2349880" y="3255835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04-B-effect/plots/B-distribution/data-plot/group/0/point/6"/>
          <p:cNvSpPr/>
          <p:nvPr/>
        </p:nvSpPr>
        <p:spPr>
          <a:xfrm>
            <a:off x="3059772" y="3255835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04-B-effect/plots/B-distribution/data-plot/group/0/point/7"/>
          <p:cNvSpPr/>
          <p:nvPr/>
        </p:nvSpPr>
        <p:spPr>
          <a:xfrm>
            <a:off x="3310007" y="3255835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04-B-effect/plots/B-distribution/data-plot/group/0/point/8"/>
          <p:cNvSpPr/>
          <p:nvPr/>
        </p:nvSpPr>
        <p:spPr>
          <a:xfrm>
            <a:off x="3398055" y="3255835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04-B-effect/plots/B-distribution/data-plot/group/0/point/9"/>
          <p:cNvSpPr/>
          <p:nvPr/>
        </p:nvSpPr>
        <p:spPr>
          <a:xfrm>
            <a:off x="2687906" y="3255835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04-B-effect/plots/B-distribution/data-plot/group/0/point/10"/>
          <p:cNvSpPr/>
          <p:nvPr/>
        </p:nvSpPr>
        <p:spPr>
          <a:xfrm>
            <a:off x="3221734" y="3179635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04-B-effect/plots/B-distribution/data-plot/group/0/point/11"/>
          <p:cNvSpPr/>
          <p:nvPr/>
        </p:nvSpPr>
        <p:spPr>
          <a:xfrm>
            <a:off x="3435629" y="3332035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04-B-effect/plots/B-distribution/data-plot/group/1/label"/>
          <p:cNvSpPr/>
          <p:nvPr/>
        </p:nvSpPr>
        <p:spPr>
          <a:xfrm>
            <a:off x="704850" y="3711321"/>
            <a:ext cx="1165373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 (n =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12)</a:t>
            </a:r>
            <a:endParaRPr lang="zh-CN" sz="1800" dirty="0"/>
          </a:p>
        </p:txBody>
      </p:sp>
      <p:sp>
        <p:nvSpPr>
          <p:cNvPr id="54" name="s04-B-effect/plots/B-distribution/data-plot/group/1/point/0"/>
          <p:cNvSpPr/>
          <p:nvPr/>
        </p:nvSpPr>
        <p:spPr>
          <a:xfrm>
            <a:off x="2456514" y="3952303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04-B-effect/plots/B-distribution/data-plot/group/1/point/1"/>
          <p:cNvSpPr/>
          <p:nvPr/>
        </p:nvSpPr>
        <p:spPr>
          <a:xfrm>
            <a:off x="3228796" y="3952303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04-B-effect/plots/B-distribution/data-plot/group/1/point/2"/>
          <p:cNvSpPr/>
          <p:nvPr/>
        </p:nvSpPr>
        <p:spPr>
          <a:xfrm>
            <a:off x="3263601" y="4028503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04-B-effect/plots/B-distribution/data-plot/group/1/point/3"/>
          <p:cNvSpPr/>
          <p:nvPr/>
        </p:nvSpPr>
        <p:spPr>
          <a:xfrm>
            <a:off x="4784110" y="3952303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04-B-effect/plots/B-distribution/data-plot/group/1/point/4"/>
          <p:cNvSpPr/>
          <p:nvPr/>
        </p:nvSpPr>
        <p:spPr>
          <a:xfrm>
            <a:off x="3507894" y="3952303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04-B-effect/plots/B-distribution/data-plot/group/1/point/5"/>
          <p:cNvSpPr/>
          <p:nvPr/>
        </p:nvSpPr>
        <p:spPr>
          <a:xfrm>
            <a:off x="3827021" y="3952303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04-B-effect/plots/B-distribution/data-plot/group/1/point/6"/>
          <p:cNvSpPr/>
          <p:nvPr/>
        </p:nvSpPr>
        <p:spPr>
          <a:xfrm>
            <a:off x="3971430" y="4028503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04-B-effect/plots/B-distribution/data-plot/group/1/point/7"/>
          <p:cNvSpPr/>
          <p:nvPr/>
        </p:nvSpPr>
        <p:spPr>
          <a:xfrm>
            <a:off x="3149704" y="3952303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04-B-effect/plots/B-distribution/data-plot/group/1/point/8"/>
          <p:cNvSpPr/>
          <p:nvPr/>
        </p:nvSpPr>
        <p:spPr>
          <a:xfrm>
            <a:off x="3305702" y="3952303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04-B-effect/plots/B-distribution/data-plot/group/1/point/9"/>
          <p:cNvSpPr/>
          <p:nvPr/>
        </p:nvSpPr>
        <p:spPr>
          <a:xfrm>
            <a:off x="3930919" y="3952303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04-B-effect/plots/B-distribution/data-plot/group/1/point/10"/>
          <p:cNvSpPr/>
          <p:nvPr/>
        </p:nvSpPr>
        <p:spPr>
          <a:xfrm>
            <a:off x="2812272" y="4028503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04-B-effect/plots/B-distribution/data-plot/group/1/point/11"/>
          <p:cNvSpPr/>
          <p:nvPr/>
        </p:nvSpPr>
        <p:spPr>
          <a:xfrm>
            <a:off x="2797779" y="3952303"/>
            <a:ext cx="66675" cy="66675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04-B-effect/composition/panel/B-ci/frame"/>
          <p:cNvSpPr/>
          <p:nvPr/>
        </p:nvSpPr>
        <p:spPr>
          <a:xfrm>
            <a:off x="5804491" y="1952244"/>
            <a:ext cx="5930309" cy="3541776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67" name="s04-B-effect/composition/panel/B-ci/band"/>
          <p:cNvSpPr/>
          <p:nvPr/>
        </p:nvSpPr>
        <p:spPr>
          <a:xfrm>
            <a:off x="5804491" y="1952244"/>
            <a:ext cx="5930309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04-B-effect/composition/panel/B-ci/title"/>
          <p:cNvSpPr/>
          <p:nvPr/>
        </p:nvSpPr>
        <p:spPr>
          <a:xfrm>
            <a:off x="5937841" y="2028444"/>
            <a:ext cx="5663609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均值差与95%探索性区间</a:t>
            </a:r>
            <a:endParaRPr lang="zh-CN" sz="2100" dirty="0"/>
          </a:p>
        </p:txBody>
      </p:sp>
      <p:sp>
        <p:nvSpPr>
          <p:cNvPr id="69" name="s04-B-effect/plots/B-interval/data-plot/reading-note"/>
          <p:cNvSpPr/>
          <p:nvPr/>
        </p:nvSpPr>
        <p:spPr>
          <a:xfrm>
            <a:off x="6052141" y="2639949"/>
            <a:ext cx="543500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点为估计值；线为区间；参考值 = 0</a:t>
            </a:r>
            <a:endParaRPr lang="zh-CN" sz="1350" dirty="0"/>
          </a:p>
        </p:txBody>
      </p:sp>
      <p:sp>
        <p:nvSpPr>
          <p:cNvPr id="70" name="s04-B-effect/plots/B-interval/data-plot/caption"/>
          <p:cNvSpPr/>
          <p:nvPr/>
        </p:nvSpPr>
        <p:spPr>
          <a:xfrm>
            <a:off x="6052141" y="5059680"/>
            <a:ext cx="543500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探索性Welch区间；点差相对常规均值为+8.4%。</a:t>
            </a:r>
            <a:endParaRPr lang="zh-CN" sz="1350" dirty="0"/>
          </a:p>
        </p:txBody>
      </p:sp>
      <p:sp>
        <p:nvSpPr>
          <p:cNvPr id="71" name="s04-B-effect/plots/B-interval/data-plot/unit"/>
          <p:cNvSpPr/>
          <p:nvPr/>
        </p:nvSpPr>
        <p:spPr>
          <a:xfrm>
            <a:off x="6833191" y="4758690"/>
            <a:ext cx="29084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均值差 / 万次</a:t>
            </a:r>
            <a:endParaRPr lang="zh-CN" sz="1350" dirty="0"/>
          </a:p>
        </p:txBody>
      </p:sp>
      <p:sp>
        <p:nvSpPr>
          <p:cNvPr id="72" name="s04-B-effect/plots/B-interval/data-plot/grid/0"/>
          <p:cNvSpPr/>
          <p:nvPr/>
        </p:nvSpPr>
        <p:spPr>
          <a:xfrm>
            <a:off x="6833191" y="2940939"/>
            <a:ext cx="0" cy="1478661"/>
          </a:xfrm>
          <a:prstGeom prst="line">
            <a:avLst/>
          </a:prstGeom>
          <a:noFill/>
          <a:ln w="7620">
            <a:solidFill>
              <a:srgbClr val="CBD6E2"/>
            </a:solidFill>
            <a:prstDash val="solid"/>
          </a:ln>
        </p:spPr>
      </p:sp>
      <p:sp>
        <p:nvSpPr>
          <p:cNvPr id="73" name="s04-B-effect/plots/B-interval/data-plot/tick/0"/>
          <p:cNvSpPr/>
          <p:nvPr/>
        </p:nvSpPr>
        <p:spPr>
          <a:xfrm>
            <a:off x="6833191" y="4419600"/>
            <a:ext cx="0" cy="38100"/>
          </a:xfrm>
          <a:prstGeom prst="line">
            <a:avLst/>
          </a:prstGeom>
          <a:noFill/>
          <a:ln w="9525">
            <a:solidFill>
              <a:srgbClr val="536779"/>
            </a:solidFill>
            <a:prstDash val="solid"/>
          </a:ln>
        </p:spPr>
      </p:sp>
      <p:sp>
        <p:nvSpPr>
          <p:cNvPr id="74" name="s04-B-effect/plots/B-interval/data-plot/tick-label/0"/>
          <p:cNvSpPr/>
          <p:nvPr/>
        </p:nvSpPr>
        <p:spPr>
          <a:xfrm>
            <a:off x="6833191" y="4495800"/>
            <a:ext cx="43929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−2.5</a:t>
            </a:r>
            <a:endParaRPr lang="zh-CN" sz="1350" dirty="0"/>
          </a:p>
        </p:txBody>
      </p:sp>
      <p:sp>
        <p:nvSpPr>
          <p:cNvPr id="75" name="s04-B-effect/plots/B-interval/data-plot/tick/1"/>
          <p:cNvSpPr/>
          <p:nvPr/>
        </p:nvSpPr>
        <p:spPr>
          <a:xfrm>
            <a:off x="7560293" y="4419600"/>
            <a:ext cx="0" cy="38100"/>
          </a:xfrm>
          <a:prstGeom prst="line">
            <a:avLst/>
          </a:prstGeom>
          <a:noFill/>
          <a:ln w="9525">
            <a:solidFill>
              <a:srgbClr val="536779"/>
            </a:solidFill>
            <a:prstDash val="solid"/>
          </a:ln>
        </p:spPr>
      </p:sp>
      <p:sp>
        <p:nvSpPr>
          <p:cNvPr id="76" name="s04-B-effect/plots/B-interval/data-plot/tick-label/1"/>
          <p:cNvSpPr/>
          <p:nvPr/>
        </p:nvSpPr>
        <p:spPr>
          <a:xfrm>
            <a:off x="7488950" y="4495800"/>
            <a:ext cx="14268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350" dirty="0"/>
          </a:p>
        </p:txBody>
      </p:sp>
      <p:sp>
        <p:nvSpPr>
          <p:cNvPr id="77" name="s04-B-effect/plots/B-interval/data-plot/grid/2"/>
          <p:cNvSpPr/>
          <p:nvPr/>
        </p:nvSpPr>
        <p:spPr>
          <a:xfrm>
            <a:off x="8287395" y="2940939"/>
            <a:ext cx="0" cy="1478661"/>
          </a:xfrm>
          <a:prstGeom prst="line">
            <a:avLst/>
          </a:prstGeom>
          <a:noFill/>
          <a:ln w="7620">
            <a:solidFill>
              <a:srgbClr val="CBD6E2"/>
            </a:solidFill>
            <a:prstDash val="solid"/>
          </a:ln>
        </p:spPr>
      </p:sp>
      <p:sp>
        <p:nvSpPr>
          <p:cNvPr id="78" name="s04-B-effect/plots/B-interval/data-plot/tick/2"/>
          <p:cNvSpPr/>
          <p:nvPr/>
        </p:nvSpPr>
        <p:spPr>
          <a:xfrm>
            <a:off x="8287395" y="4419600"/>
            <a:ext cx="0" cy="38100"/>
          </a:xfrm>
          <a:prstGeom prst="line">
            <a:avLst/>
          </a:prstGeom>
          <a:noFill/>
          <a:ln w="9525">
            <a:solidFill>
              <a:srgbClr val="536779"/>
            </a:solidFill>
            <a:prstDash val="solid"/>
          </a:ln>
        </p:spPr>
      </p:sp>
      <p:sp>
        <p:nvSpPr>
          <p:cNvPr id="79" name="s04-B-effect/plots/B-interval/data-plot/tick-label/2"/>
          <p:cNvSpPr/>
          <p:nvPr/>
        </p:nvSpPr>
        <p:spPr>
          <a:xfrm>
            <a:off x="8134614" y="4495800"/>
            <a:ext cx="30556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2.5</a:t>
            </a:r>
            <a:endParaRPr lang="zh-CN" sz="1350" dirty="0"/>
          </a:p>
        </p:txBody>
      </p:sp>
      <p:sp>
        <p:nvSpPr>
          <p:cNvPr id="80" name="s04-B-effect/plots/B-interval/data-plot/grid/3"/>
          <p:cNvSpPr/>
          <p:nvPr/>
        </p:nvSpPr>
        <p:spPr>
          <a:xfrm>
            <a:off x="9014497" y="2940939"/>
            <a:ext cx="0" cy="1478661"/>
          </a:xfrm>
          <a:prstGeom prst="line">
            <a:avLst/>
          </a:prstGeom>
          <a:noFill/>
          <a:ln w="7620">
            <a:solidFill>
              <a:srgbClr val="CBD6E2"/>
            </a:solidFill>
            <a:prstDash val="solid"/>
          </a:ln>
        </p:spPr>
      </p:sp>
      <p:sp>
        <p:nvSpPr>
          <p:cNvPr id="81" name="s04-B-effect/plots/B-interval/data-plot/tick/3"/>
          <p:cNvSpPr/>
          <p:nvPr/>
        </p:nvSpPr>
        <p:spPr>
          <a:xfrm>
            <a:off x="9014497" y="4419600"/>
            <a:ext cx="0" cy="38100"/>
          </a:xfrm>
          <a:prstGeom prst="line">
            <a:avLst/>
          </a:prstGeom>
          <a:noFill/>
          <a:ln w="9525">
            <a:solidFill>
              <a:srgbClr val="536779"/>
            </a:solidFill>
            <a:prstDash val="solid"/>
          </a:ln>
        </p:spPr>
      </p:sp>
      <p:sp>
        <p:nvSpPr>
          <p:cNvPr id="82" name="s04-B-effect/plots/B-interval/data-plot/tick-label/3"/>
          <p:cNvSpPr/>
          <p:nvPr/>
        </p:nvSpPr>
        <p:spPr>
          <a:xfrm>
            <a:off x="8943154" y="4495800"/>
            <a:ext cx="14268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zh-CN" sz="1350" dirty="0"/>
          </a:p>
        </p:txBody>
      </p:sp>
      <p:sp>
        <p:nvSpPr>
          <p:cNvPr id="83" name="s04-B-effect/plots/B-interval/data-plot/grid/4"/>
          <p:cNvSpPr/>
          <p:nvPr/>
        </p:nvSpPr>
        <p:spPr>
          <a:xfrm>
            <a:off x="9741599" y="2940939"/>
            <a:ext cx="0" cy="1478661"/>
          </a:xfrm>
          <a:prstGeom prst="line">
            <a:avLst/>
          </a:prstGeom>
          <a:noFill/>
          <a:ln w="7620">
            <a:solidFill>
              <a:srgbClr val="CBD6E2"/>
            </a:solidFill>
            <a:prstDash val="solid"/>
          </a:ln>
        </p:spPr>
      </p:sp>
      <p:sp>
        <p:nvSpPr>
          <p:cNvPr id="84" name="s04-B-effect/plots/B-interval/data-plot/tick/4"/>
          <p:cNvSpPr/>
          <p:nvPr/>
        </p:nvSpPr>
        <p:spPr>
          <a:xfrm>
            <a:off x="9741599" y="4419600"/>
            <a:ext cx="0" cy="38100"/>
          </a:xfrm>
          <a:prstGeom prst="line">
            <a:avLst/>
          </a:prstGeom>
          <a:noFill/>
          <a:ln w="9525">
            <a:solidFill>
              <a:srgbClr val="536779"/>
            </a:solidFill>
            <a:prstDash val="solid"/>
          </a:ln>
        </p:spPr>
      </p:sp>
      <p:sp>
        <p:nvSpPr>
          <p:cNvPr id="85" name="s04-B-effect/plots/B-interval/data-plot/tick-label/4"/>
          <p:cNvSpPr/>
          <p:nvPr/>
        </p:nvSpPr>
        <p:spPr>
          <a:xfrm>
            <a:off x="9436037" y="4495800"/>
            <a:ext cx="30556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7.5</a:t>
            </a:r>
            <a:endParaRPr lang="zh-CN" sz="1350" dirty="0"/>
          </a:p>
        </p:txBody>
      </p:sp>
      <p:sp>
        <p:nvSpPr>
          <p:cNvPr id="86" name="s04-B-effect/plots/B-interval/data-plot/axis"/>
          <p:cNvSpPr/>
          <p:nvPr/>
        </p:nvSpPr>
        <p:spPr>
          <a:xfrm>
            <a:off x="6833191" y="4419600"/>
            <a:ext cx="2908408" cy="0"/>
          </a:xfrm>
          <a:prstGeom prst="line">
            <a:avLst/>
          </a:prstGeom>
          <a:noFill/>
          <a:ln w="11430">
            <a:solidFill>
              <a:srgbClr val="536779"/>
            </a:solidFill>
            <a:prstDash val="solid"/>
          </a:ln>
        </p:spPr>
      </p:sp>
      <p:sp>
        <p:nvSpPr>
          <p:cNvPr id="87" name="s04-B-effect/plots/B-interval/data-plot/reference"/>
          <p:cNvSpPr/>
          <p:nvPr/>
        </p:nvSpPr>
        <p:spPr>
          <a:xfrm>
            <a:off x="7560293" y="2940939"/>
            <a:ext cx="0" cy="1478661"/>
          </a:xfrm>
          <a:prstGeom prst="line">
            <a:avLst/>
          </a:prstGeom>
          <a:noFill/>
          <a:ln w="17145">
            <a:solidFill>
              <a:srgbClr val="536779"/>
            </a:solidFill>
            <a:prstDash val="dash"/>
          </a:ln>
        </p:spPr>
      </p:sp>
      <p:sp>
        <p:nvSpPr>
          <p:cNvPr id="88" name="s04-B-effect/plots/B-interval/data-plot/group/0/label"/>
          <p:cNvSpPr/>
          <p:nvPr/>
        </p:nvSpPr>
        <p:spPr>
          <a:xfrm>
            <a:off x="6052141" y="3500247"/>
            <a:ext cx="6477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差值</a:t>
            </a:r>
            <a:endParaRPr lang="zh-CN" sz="1800" dirty="0"/>
          </a:p>
        </p:txBody>
      </p:sp>
      <p:sp>
        <p:nvSpPr>
          <p:cNvPr id="89" name="s04-B-effect/plots/B-interval/data-plot/group/0/interval"/>
          <p:cNvSpPr/>
          <p:nvPr/>
        </p:nvSpPr>
        <p:spPr>
          <a:xfrm>
            <a:off x="7161841" y="3637407"/>
            <a:ext cx="2286009" cy="0"/>
          </a:xfrm>
          <a:prstGeom prst="line">
            <a:avLst/>
          </a:prstGeom>
          <a:noFill/>
          <a:ln w="22860">
            <a:solidFill>
              <a:srgbClr val="034A90"/>
            </a:solidFill>
            <a:prstDash val="solid"/>
          </a:ln>
        </p:spPr>
      </p:sp>
      <p:sp>
        <p:nvSpPr>
          <p:cNvPr id="90" name="s04-B-effect/plots/B-interval/data-plot/group/0/lower"/>
          <p:cNvSpPr/>
          <p:nvPr/>
        </p:nvSpPr>
        <p:spPr>
          <a:xfrm>
            <a:off x="7161841" y="3580257"/>
            <a:ext cx="0" cy="114300"/>
          </a:xfrm>
          <a:prstGeom prst="line">
            <a:avLst/>
          </a:prstGeom>
          <a:noFill/>
          <a:ln w="17145">
            <a:solidFill>
              <a:srgbClr val="034A90"/>
            </a:solidFill>
            <a:prstDash val="solid"/>
          </a:ln>
        </p:spPr>
      </p:sp>
      <p:sp>
        <p:nvSpPr>
          <p:cNvPr id="91" name="s04-B-effect/plots/B-interval/data-plot/group/0/upper"/>
          <p:cNvSpPr/>
          <p:nvPr/>
        </p:nvSpPr>
        <p:spPr>
          <a:xfrm>
            <a:off x="9447849" y="3580257"/>
            <a:ext cx="0" cy="114300"/>
          </a:xfrm>
          <a:prstGeom prst="line">
            <a:avLst/>
          </a:prstGeom>
          <a:noFill/>
          <a:ln w="17145">
            <a:solidFill>
              <a:srgbClr val="034A90"/>
            </a:solidFill>
            <a:prstDash val="solid"/>
          </a:ln>
        </p:spPr>
      </p:sp>
      <p:sp>
        <p:nvSpPr>
          <p:cNvPr id="92" name="s04-B-effect/plots/B-interval/data-plot/group/0/estimate"/>
          <p:cNvSpPr/>
          <p:nvPr/>
        </p:nvSpPr>
        <p:spPr>
          <a:xfrm>
            <a:off x="8257220" y="3589782"/>
            <a:ext cx="95250" cy="95250"/>
          </a:xfrm>
          <a:prstGeom prst="ellipse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04-B-effect/plots/B-interval/data-plot/group/0/value-label"/>
          <p:cNvSpPr/>
          <p:nvPr/>
        </p:nvSpPr>
        <p:spPr>
          <a:xfrm>
            <a:off x="9874949" y="3534537"/>
            <a:ext cx="161220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2.56 [−1.37, 6.49]</a:t>
            </a:r>
            <a:endParaRPr lang="zh-CN" sz="1350" dirty="0"/>
          </a:p>
        </p:txBody>
      </p:sp>
      <p:sp>
        <p:nvSpPr>
          <p:cNvPr id="94" name="s04-B-effect/composition/conclusion/frame"/>
          <p:cNvSpPr/>
          <p:nvPr/>
        </p:nvSpPr>
        <p:spPr>
          <a:xfrm>
            <a:off x="457200" y="5627370"/>
            <a:ext cx="11277600" cy="516255"/>
          </a:xfrm>
          <a:prstGeom prst="rect">
            <a:avLst/>
          </a:prstGeom>
          <a:solidFill>
            <a:srgbClr val="ECF1F7"/>
          </a:solidFill>
          <a:ln w="9525">
            <a:solidFill>
              <a:srgbClr val="CBD6E2"/>
            </a:solidFill>
            <a:prstDash val="solid"/>
          </a:ln>
        </p:spPr>
      </p:sp>
      <p:sp>
        <p:nvSpPr>
          <p:cNvPr id="95" name="s04-B-effect/composition/conclusion/label-fill"/>
          <p:cNvSpPr/>
          <p:nvPr/>
        </p:nvSpPr>
        <p:spPr>
          <a:xfrm>
            <a:off x="457200" y="5627370"/>
            <a:ext cx="1352550" cy="51625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04-B-effect/composition/conclusion/label"/>
          <p:cNvSpPr/>
          <p:nvPr/>
        </p:nvSpPr>
        <p:spPr>
          <a:xfrm>
            <a:off x="571500" y="5732145"/>
            <a:ext cx="112395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阶段结论</a:t>
            </a:r>
            <a:endParaRPr lang="zh-CN" sz="2100" dirty="0"/>
          </a:p>
        </p:txBody>
      </p:sp>
      <p:sp>
        <p:nvSpPr>
          <p:cNvPr id="97" name="s04-B-effect/composition/conclusion/text"/>
          <p:cNvSpPr/>
          <p:nvPr/>
        </p:nvSpPr>
        <p:spPr>
          <a:xfrm>
            <a:off x="1962150" y="5732145"/>
            <a:ext cx="962025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保留正差作为线索；当前既不能确认收益，也不能宣称无效或等效。</a:t>
            </a:r>
            <a:endParaRPr lang="zh-CN" sz="1800" dirty="0"/>
          </a:p>
        </p:txBody>
      </p:sp>
      <p:sp>
        <p:nvSpPr>
          <p:cNvPr id="98" name="s04-B-effect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 2026  |  [2] 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-runout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5-runout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10</a:t>
            </a:r>
            <a:endParaRPr lang="zh-CN" sz="1050" dirty="0"/>
          </a:p>
        </p:txBody>
      </p:sp>
      <p:sp>
        <p:nvSpPr>
          <p:cNvPr id="4" name="s05-runout/academic-header-band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05-runout/section-label"/>
          <p:cNvSpPr/>
          <p:nvPr/>
        </p:nvSpPr>
        <p:spPr>
          <a:xfrm>
            <a:off x="457200" y="95250"/>
            <a:ext cx="772287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阶段数据与解释</a:t>
            </a:r>
            <a:endParaRPr lang="zh-CN" sz="2250" dirty="0"/>
          </a:p>
        </p:txBody>
      </p:sp>
      <p:sp>
        <p:nvSpPr>
          <p:cNvPr id="6" name="s05-runout/brand-label"/>
          <p:cNvSpPr/>
          <p:nvPr/>
        </p:nvSpPr>
        <p:spPr>
          <a:xfrm>
            <a:off x="8427720" y="133350"/>
            <a:ext cx="33070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 · 材料工程研究进展</a:t>
            </a:r>
            <a:endParaRPr lang="zh-CN" sz="1650" dirty="0"/>
          </a:p>
        </p:txBody>
      </p:sp>
      <p:sp>
        <p:nvSpPr>
          <p:cNvPr id="7" name="s05-runout/title"/>
          <p:cNvSpPr/>
          <p:nvPr/>
        </p:nvSpPr>
        <p:spPr>
          <a:xfrm>
            <a:off x="457200" y="6667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两件runout改变的是寿命解释</a:t>
            </a:r>
            <a:endParaRPr lang="zh-CN" sz="3000" dirty="0"/>
          </a:p>
        </p:txBody>
      </p:sp>
      <p:sp>
        <p:nvSpPr>
          <p:cNvPr id="8" name="s05-runout/header-rule"/>
          <p:cNvSpPr/>
          <p:nvPr/>
        </p:nvSpPr>
        <p:spPr>
          <a:xfrm>
            <a:off x="457200" y="1192530"/>
            <a:ext cx="11277600" cy="0"/>
          </a:xfrm>
          <a:prstGeom prst="line">
            <a:avLst/>
          </a:prstGeom>
          <a:noFill/>
          <a:ln w="9525">
            <a:solidFill>
              <a:srgbClr val="CBD6E2"/>
            </a:solidFill>
            <a:prstDash val="solid"/>
          </a:ln>
        </p:spPr>
      </p:sp>
      <p:sp>
        <p:nvSpPr>
          <p:cNvPr id="9" name="s05-runout/composition/panel/C-curve/frame"/>
          <p:cNvSpPr/>
          <p:nvPr/>
        </p:nvSpPr>
        <p:spPr>
          <a:xfrm>
            <a:off x="457200" y="1344930"/>
            <a:ext cx="7510616" cy="4798695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10" name="s05-runout/composition/panel/C-curve/band"/>
          <p:cNvSpPr/>
          <p:nvPr/>
        </p:nvSpPr>
        <p:spPr>
          <a:xfrm>
            <a:off x="457200" y="1344930"/>
            <a:ext cx="7510616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5-runout/composition/panel/C-curve/title"/>
          <p:cNvSpPr/>
          <p:nvPr/>
        </p:nvSpPr>
        <p:spPr>
          <a:xfrm>
            <a:off x="590550" y="1421130"/>
            <a:ext cx="7243916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共同观察窗内的生存曲线</a:t>
            </a:r>
            <a:endParaRPr lang="zh-CN" sz="2100" dirty="0"/>
          </a:p>
        </p:txBody>
      </p:sp>
      <p:pic>
        <p:nvPicPr>
          <p:cNvPr id="12" name="s05-runout/composition/panel/C-curve/figure/C-km-v2:image" descr="12件独立试件；10次失效；2件在50万次行政删失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854" y="1918335"/>
            <a:ext cx="6039307" cy="3774567"/>
          </a:xfrm>
          <a:prstGeom prst="rect">
            <a:avLst/>
          </a:prstGeom>
        </p:spPr>
      </p:pic>
      <p:sp>
        <p:nvSpPr>
          <p:cNvPr id="13" name="s05-runout/composition/panel/C-curve/figure/C-km-v2:caption"/>
          <p:cNvSpPr/>
          <p:nvPr/>
        </p:nvSpPr>
        <p:spPr>
          <a:xfrm>
            <a:off x="590550" y="5778627"/>
            <a:ext cx="7243916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12件独立试件；10次失效；2件在50万次行政删失。</a:t>
            </a:r>
            <a:endParaRPr lang="zh-CN" sz="1350" dirty="0"/>
          </a:p>
        </p:txBody>
      </p:sp>
      <p:sp>
        <p:nvSpPr>
          <p:cNvPr id="14" name="s05-runout/composition/panel/C-reading/frame"/>
          <p:cNvSpPr/>
          <p:nvPr/>
        </p:nvSpPr>
        <p:spPr>
          <a:xfrm>
            <a:off x="8158316" y="1344930"/>
            <a:ext cx="3576484" cy="4798695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15" name="s05-runout/composition/panel/C-reading/band"/>
          <p:cNvSpPr/>
          <p:nvPr/>
        </p:nvSpPr>
        <p:spPr>
          <a:xfrm>
            <a:off x="8158316" y="1344930"/>
            <a:ext cx="3576484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5-runout/composition/panel/C-reading/title"/>
          <p:cNvSpPr/>
          <p:nvPr/>
        </p:nvSpPr>
        <p:spPr>
          <a:xfrm>
            <a:off x="8291666" y="1421130"/>
            <a:ext cx="3309784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估计量及其边界</a:t>
            </a:r>
            <a:endParaRPr lang="zh-CN" sz="2100" dirty="0"/>
          </a:p>
        </p:txBody>
      </p:sp>
      <p:sp>
        <p:nvSpPr>
          <p:cNvPr id="17" name="s05-runout/card/C-estimand/title"/>
          <p:cNvSpPr/>
          <p:nvPr/>
        </p:nvSpPr>
        <p:spPr>
          <a:xfrm>
            <a:off x="8291666" y="1937385"/>
            <a:ext cx="330978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受限平均寿命</a:t>
            </a:r>
            <a:endParaRPr lang="zh-CN" sz="2100" dirty="0"/>
          </a:p>
        </p:txBody>
      </p:sp>
      <p:sp>
        <p:nvSpPr>
          <p:cNvPr id="18" name="s05-runout/card/C-estimand/body"/>
          <p:cNvSpPr/>
          <p:nvPr/>
        </p:nvSpPr>
        <p:spPr>
          <a:xfrm>
            <a:off x="8291666" y="2385060"/>
            <a:ext cx="3309784" cy="1483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RMST(50万) =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E[min(T, 50万)]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C组估计：43.48万次。</a:t>
            </a:r>
            <a:endParaRPr lang="zh-CN" sz="1800" dirty="0"/>
          </a:p>
        </p:txBody>
      </p:sp>
      <p:sp>
        <p:nvSpPr>
          <p:cNvPr id="19" name="s05-runout/card/C-tail/title"/>
          <p:cNvSpPr/>
          <p:nvPr/>
        </p:nvSpPr>
        <p:spPr>
          <a:xfrm>
            <a:off x="8291666" y="4059555"/>
            <a:ext cx="330978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B4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尾部仍未观测</a:t>
            </a:r>
            <a:endParaRPr lang="zh-CN" sz="2100" dirty="0"/>
          </a:p>
        </p:txBody>
      </p:sp>
      <p:sp>
        <p:nvSpPr>
          <p:cNvPr id="20" name="s05-runout/card/C-tail/body"/>
          <p:cNvSpPr/>
          <p:nvPr/>
        </p:nvSpPr>
        <p:spPr>
          <a:xfrm>
            <a:off x="8291666" y="4507230"/>
            <a:ext cx="3309784" cy="1483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完整平均失效寿命未知；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180 MPa缺常规对照，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不能据此确认工艺收益。</a:t>
            </a:r>
            <a:endParaRPr lang="zh-CN" sz="1800" dirty="0"/>
          </a:p>
        </p:txBody>
      </p:sp>
      <p:sp>
        <p:nvSpPr>
          <p:cNvPr id="21" name="s05-runout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 2026  |  [2] 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-explanations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6-explanations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10</a:t>
            </a:r>
            <a:endParaRPr lang="zh-CN" sz="1050" dirty="0"/>
          </a:p>
        </p:txBody>
      </p:sp>
      <p:sp>
        <p:nvSpPr>
          <p:cNvPr id="4" name="s06-explanations/academic-header-band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06-explanations/section-label"/>
          <p:cNvSpPr/>
          <p:nvPr/>
        </p:nvSpPr>
        <p:spPr>
          <a:xfrm>
            <a:off x="457200" y="95250"/>
            <a:ext cx="772287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归因与机制边界</a:t>
            </a:r>
            <a:endParaRPr lang="zh-CN" sz="2250" dirty="0"/>
          </a:p>
        </p:txBody>
      </p:sp>
      <p:sp>
        <p:nvSpPr>
          <p:cNvPr id="6" name="s06-explanations/brand-label"/>
          <p:cNvSpPr/>
          <p:nvPr/>
        </p:nvSpPr>
        <p:spPr>
          <a:xfrm>
            <a:off x="8427720" y="133350"/>
            <a:ext cx="33070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 · 材料工程研究进展</a:t>
            </a:r>
            <a:endParaRPr lang="zh-CN" sz="1650" dirty="0"/>
          </a:p>
        </p:txBody>
      </p:sp>
      <p:sp>
        <p:nvSpPr>
          <p:cNvPr id="7" name="s06-explanations/title"/>
          <p:cNvSpPr/>
          <p:nvPr/>
        </p:nvSpPr>
        <p:spPr>
          <a:xfrm>
            <a:off x="457200" y="6667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替代解释要对应具体缺口与验证</a:t>
            </a:r>
            <a:endParaRPr lang="zh-CN" sz="3000" dirty="0"/>
          </a:p>
        </p:txBody>
      </p:sp>
      <p:sp>
        <p:nvSpPr>
          <p:cNvPr id="8" name="s06-explanations/header-rule"/>
          <p:cNvSpPr/>
          <p:nvPr/>
        </p:nvSpPr>
        <p:spPr>
          <a:xfrm>
            <a:off x="457200" y="1192530"/>
            <a:ext cx="11277600" cy="0"/>
          </a:xfrm>
          <a:prstGeom prst="line">
            <a:avLst/>
          </a:prstGeom>
          <a:noFill/>
          <a:ln w="9525">
            <a:solidFill>
              <a:srgbClr val="CBD6E2"/>
            </a:solidFill>
            <a:prstDash val="solid"/>
          </a:ln>
        </p:spPr>
      </p:sp>
      <p:sp>
        <p:nvSpPr>
          <p:cNvPr id="9" name="s06-explanations/composition/lead/frame"/>
          <p:cNvSpPr/>
          <p:nvPr/>
        </p:nvSpPr>
        <p:spPr>
          <a:xfrm>
            <a:off x="457200" y="1344930"/>
            <a:ext cx="11277600" cy="473964"/>
          </a:xfrm>
          <a:prstGeom prst="rect">
            <a:avLst/>
          </a:prstGeom>
          <a:solidFill>
            <a:srgbClr val="ECF1F7"/>
          </a:solidFill>
          <a:ln w="8573">
            <a:solidFill>
              <a:srgbClr val="CBD6E2"/>
            </a:solidFill>
            <a:prstDash val="solid"/>
          </a:ln>
        </p:spPr>
      </p:sp>
      <p:sp>
        <p:nvSpPr>
          <p:cNvPr id="10" name="s06-explanations/composition/lead/mark"/>
          <p:cNvSpPr/>
          <p:nvPr/>
        </p:nvSpPr>
        <p:spPr>
          <a:xfrm>
            <a:off x="457200" y="1344930"/>
            <a:ext cx="47625" cy="473964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6-explanations/composition/lead"/>
          <p:cNvSpPr/>
          <p:nvPr/>
        </p:nvSpPr>
        <p:spPr>
          <a:xfrm>
            <a:off x="628650" y="1440180"/>
            <a:ext cx="109347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工艺关联、条件构成和微观机制，需要不同的证据。</a:t>
            </a:r>
            <a:endParaRPr lang="zh-CN" sz="1800" dirty="0"/>
          </a:p>
        </p:txBody>
      </p:sp>
      <p:sp>
        <p:nvSpPr>
          <p:cNvPr id="12" name="s06-explanations/composition/panel/explain-matrix/frame"/>
          <p:cNvSpPr/>
          <p:nvPr/>
        </p:nvSpPr>
        <p:spPr>
          <a:xfrm>
            <a:off x="457200" y="1952244"/>
            <a:ext cx="11277600" cy="3541776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13" name="s06-explanations/composition/panel/explain-matrix/band"/>
          <p:cNvSpPr/>
          <p:nvPr/>
        </p:nvSpPr>
        <p:spPr>
          <a:xfrm>
            <a:off x="457200" y="1952244"/>
            <a:ext cx="11277600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6-explanations/composition/panel/explain-matrix/title"/>
          <p:cNvSpPr/>
          <p:nvPr/>
        </p:nvSpPr>
        <p:spPr>
          <a:xfrm>
            <a:off x="590550" y="2028444"/>
            <a:ext cx="110109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现有证据 → 推断边界 → 必要验证</a:t>
            </a:r>
            <a:endParaRPr lang="zh-CN" sz="2100" dirty="0"/>
          </a:p>
        </p:txBody>
      </p:sp>
      <p:graphicFrame>
        <p:nvGraphicFramePr>
          <p:cNvPr id="7" name="s06-explanations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550" y="2525649"/>
          <a:ext cx="11010900" cy="2485644"/>
        </p:xfrm>
        <a:graphic>
          <a:graphicData uri="http://schemas.openxmlformats.org/drawingml/2006/table">
            <a:tbl>
              <a:tblPr/>
              <a:tblGrid>
                <a:gridCol w="1701685"/>
                <a:gridCol w="3303270"/>
                <a:gridCol w="2502477"/>
                <a:gridCol w="3503468"/>
              </a:tblGrid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解释层次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现有证据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不能直接推出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必要验证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</a:tr>
              <a:tr h="69113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工艺关联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B内差+2.56万次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95%区间跨0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因果收益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无效或等效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同批随机分配工艺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113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条件构成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常规B较A：+28.5%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C同时改变应力与批次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纯批次或应力效应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随机试验顺序并记录条件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后续补交叉条件与批次重复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113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微观机制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工艺参数与表征缺失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任何已成立的机制链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先定义改性参数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再配套表征及终点关联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06-explanations/table-caption"/>
          <p:cNvSpPr/>
          <p:nvPr/>
        </p:nvSpPr>
        <p:spPr>
          <a:xfrm>
            <a:off x="590550" y="5077968"/>
            <a:ext cx="11010900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来源：protocol.md；fatigue.csv复算。条件构成项不作因果分摊。</a:t>
            </a:r>
            <a:endParaRPr lang="zh-CN" sz="1350" dirty="0"/>
          </a:p>
        </p:txBody>
      </p:sp>
      <p:sp>
        <p:nvSpPr>
          <p:cNvPr id="17" name="s06-explanations/composition/conclusion/frame"/>
          <p:cNvSpPr/>
          <p:nvPr/>
        </p:nvSpPr>
        <p:spPr>
          <a:xfrm>
            <a:off x="457200" y="5627370"/>
            <a:ext cx="11277600" cy="516255"/>
          </a:xfrm>
          <a:prstGeom prst="rect">
            <a:avLst/>
          </a:prstGeom>
          <a:solidFill>
            <a:srgbClr val="ECF1F7"/>
          </a:solidFill>
          <a:ln w="9525">
            <a:solidFill>
              <a:srgbClr val="CBD6E2"/>
            </a:solidFill>
            <a:prstDash val="solid"/>
          </a:ln>
        </p:spPr>
      </p:sp>
      <p:sp>
        <p:nvSpPr>
          <p:cNvPr id="18" name="s06-explanations/composition/conclusion/label-fill"/>
          <p:cNvSpPr/>
          <p:nvPr/>
        </p:nvSpPr>
        <p:spPr>
          <a:xfrm>
            <a:off x="457200" y="5627370"/>
            <a:ext cx="1352550" cy="51625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6-explanations/composition/conclusion/label"/>
          <p:cNvSpPr/>
          <p:nvPr/>
        </p:nvSpPr>
        <p:spPr>
          <a:xfrm>
            <a:off x="571500" y="5732145"/>
            <a:ext cx="112395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当前定位</a:t>
            </a:r>
            <a:endParaRPr lang="zh-CN" sz="2100" dirty="0"/>
          </a:p>
        </p:txBody>
      </p:sp>
      <p:sp>
        <p:nvSpPr>
          <p:cNvPr id="20" name="s06-explanations/composition/conclusion/text"/>
          <p:cNvSpPr/>
          <p:nvPr/>
        </p:nvSpPr>
        <p:spPr>
          <a:xfrm>
            <a:off x="1962150" y="5732145"/>
            <a:ext cx="962025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本阶段完成宏观终点比较；微观机制与跨应力推广尚未得到验证。</a:t>
            </a:r>
            <a:endParaRPr lang="zh-CN" sz="1800" dirty="0"/>
          </a:p>
        </p:txBody>
      </p:sp>
      <p:sp>
        <p:nvSpPr>
          <p:cNvPr id="21" name="s06-explanations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 2026  |  [2] 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-next-trial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7-next-trial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10</a:t>
            </a:r>
            <a:endParaRPr lang="zh-CN" sz="1050" dirty="0"/>
          </a:p>
        </p:txBody>
      </p:sp>
      <p:sp>
        <p:nvSpPr>
          <p:cNvPr id="4" name="s07-next-trial/academic-header-band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07-next-trial/section-label"/>
          <p:cNvSpPr/>
          <p:nvPr/>
        </p:nvSpPr>
        <p:spPr>
          <a:xfrm>
            <a:off x="457200" y="95250"/>
            <a:ext cx="772287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下一步验证方案</a:t>
            </a:r>
            <a:endParaRPr lang="zh-CN" sz="2250" dirty="0"/>
          </a:p>
        </p:txBody>
      </p:sp>
      <p:sp>
        <p:nvSpPr>
          <p:cNvPr id="6" name="s07-next-trial/brand-label"/>
          <p:cNvSpPr/>
          <p:nvPr/>
        </p:nvSpPr>
        <p:spPr>
          <a:xfrm>
            <a:off x="8427720" y="133350"/>
            <a:ext cx="33070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 · 材料工程研究进展</a:t>
            </a:r>
            <a:endParaRPr lang="zh-CN" sz="1650" dirty="0"/>
          </a:p>
        </p:txBody>
      </p:sp>
      <p:sp>
        <p:nvSpPr>
          <p:cNvPr id="7" name="s07-next-trial/title"/>
          <p:cNvSpPr/>
          <p:nvPr/>
        </p:nvSpPr>
        <p:spPr>
          <a:xfrm>
            <a:off x="457200" y="6667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新批试件：把工艺比较放进共同条件</a:t>
            </a:r>
            <a:endParaRPr lang="zh-CN" sz="3000" dirty="0"/>
          </a:p>
        </p:txBody>
      </p:sp>
      <p:sp>
        <p:nvSpPr>
          <p:cNvPr id="8" name="s07-next-trial/header-rule"/>
          <p:cNvSpPr/>
          <p:nvPr/>
        </p:nvSpPr>
        <p:spPr>
          <a:xfrm>
            <a:off x="457200" y="1192530"/>
            <a:ext cx="11277600" cy="0"/>
          </a:xfrm>
          <a:prstGeom prst="line">
            <a:avLst/>
          </a:prstGeom>
          <a:noFill/>
          <a:ln w="9525">
            <a:solidFill>
              <a:srgbClr val="CBD6E2"/>
            </a:solidFill>
            <a:prstDash val="solid"/>
          </a:ln>
        </p:spPr>
      </p:sp>
      <p:sp>
        <p:nvSpPr>
          <p:cNvPr id="9" name="s07-next-trial/composition/lead/frame"/>
          <p:cNvSpPr/>
          <p:nvPr/>
        </p:nvSpPr>
        <p:spPr>
          <a:xfrm>
            <a:off x="457200" y="1344930"/>
            <a:ext cx="11277600" cy="473964"/>
          </a:xfrm>
          <a:prstGeom prst="rect">
            <a:avLst/>
          </a:prstGeom>
          <a:solidFill>
            <a:srgbClr val="ECF1F7"/>
          </a:solidFill>
          <a:ln w="8573">
            <a:solidFill>
              <a:srgbClr val="CBD6E2"/>
            </a:solidFill>
            <a:prstDash val="solid"/>
          </a:ln>
        </p:spPr>
      </p:sp>
      <p:sp>
        <p:nvSpPr>
          <p:cNvPr id="10" name="s07-next-trial/composition/lead/mark"/>
          <p:cNvSpPr/>
          <p:nvPr/>
        </p:nvSpPr>
        <p:spPr>
          <a:xfrm>
            <a:off x="457200" y="1344930"/>
            <a:ext cx="47625" cy="473964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7-next-trial/composition/lead"/>
          <p:cNvSpPr/>
          <p:nvPr/>
        </p:nvSpPr>
        <p:spPr>
          <a:xfrm>
            <a:off x="628650" y="1440180"/>
            <a:ext cx="109347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拟申请的新批次：200 MPa、随机1:1分配、统一50万次观察窗；尚未开展。</a:t>
            </a:r>
            <a:endParaRPr lang="zh-CN" sz="1800" dirty="0"/>
          </a:p>
        </p:txBody>
      </p:sp>
      <p:sp>
        <p:nvSpPr>
          <p:cNvPr id="12" name="s07-next-trial/composition/panel/trial-flow/frame"/>
          <p:cNvSpPr/>
          <p:nvPr/>
        </p:nvSpPr>
        <p:spPr>
          <a:xfrm>
            <a:off x="457200" y="1952244"/>
            <a:ext cx="7263962" cy="3541776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13" name="s07-next-trial/composition/panel/trial-flow/band"/>
          <p:cNvSpPr/>
          <p:nvPr/>
        </p:nvSpPr>
        <p:spPr>
          <a:xfrm>
            <a:off x="457200" y="1952244"/>
            <a:ext cx="7263962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7-next-trial/composition/panel/trial-flow/title"/>
          <p:cNvSpPr/>
          <p:nvPr/>
        </p:nvSpPr>
        <p:spPr>
          <a:xfrm>
            <a:off x="590550" y="2028444"/>
            <a:ext cx="6997262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同批入组、并行处理、共同观测</a:t>
            </a:r>
            <a:endParaRPr lang="zh-CN" sz="2100" dirty="0"/>
          </a:p>
        </p:txBody>
      </p:sp>
      <p:sp>
        <p:nvSpPr>
          <p:cNvPr id="15" name="s07-next-trial/diagram-row:0:fill"/>
          <p:cNvSpPr/>
          <p:nvPr/>
        </p:nvSpPr>
        <p:spPr>
          <a:xfrm>
            <a:off x="590550" y="2563749"/>
            <a:ext cx="1104900" cy="760857"/>
          </a:xfrm>
          <a:prstGeom prst="rect">
            <a:avLst/>
          </a:prstGeom>
          <a:solidFill>
            <a:srgbClr val="ECF1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7-next-trial/diagram-row:0:label"/>
          <p:cNvSpPr/>
          <p:nvPr/>
        </p:nvSpPr>
        <p:spPr>
          <a:xfrm>
            <a:off x="685800" y="2649474"/>
            <a:ext cx="914400" cy="608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入组</a:t>
            </a:r>
            <a:endParaRPr lang="zh-CN" sz="1650" dirty="0"/>
          </a:p>
        </p:txBody>
      </p:sp>
      <p:sp>
        <p:nvSpPr>
          <p:cNvPr id="17" name="s07-next-trial/diagram-row:1:fill"/>
          <p:cNvSpPr/>
          <p:nvPr/>
        </p:nvSpPr>
        <p:spPr>
          <a:xfrm>
            <a:off x="590550" y="3572256"/>
            <a:ext cx="1104900" cy="760857"/>
          </a:xfrm>
          <a:prstGeom prst="rect">
            <a:avLst/>
          </a:prstGeom>
          <a:solidFill>
            <a:srgbClr val="ECF1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7-next-trial/diagram-row:1:label"/>
          <p:cNvSpPr/>
          <p:nvPr/>
        </p:nvSpPr>
        <p:spPr>
          <a:xfrm>
            <a:off x="685800" y="3657981"/>
            <a:ext cx="914400" cy="608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分配</a:t>
            </a:r>
            <a:endParaRPr lang="zh-CN" sz="1650" dirty="0"/>
          </a:p>
        </p:txBody>
      </p:sp>
      <p:sp>
        <p:nvSpPr>
          <p:cNvPr id="19" name="s07-next-trial/diagram-row:2:fill"/>
          <p:cNvSpPr/>
          <p:nvPr/>
        </p:nvSpPr>
        <p:spPr>
          <a:xfrm>
            <a:off x="590550" y="4580763"/>
            <a:ext cx="1104900" cy="760857"/>
          </a:xfrm>
          <a:prstGeom prst="rect">
            <a:avLst/>
          </a:prstGeom>
          <a:solidFill>
            <a:srgbClr val="ECF1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7-next-trial/diagram-row:2:label"/>
          <p:cNvSpPr/>
          <p:nvPr/>
        </p:nvSpPr>
        <p:spPr>
          <a:xfrm>
            <a:off x="685800" y="4666488"/>
            <a:ext cx="914400" cy="608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</a:t>
            </a:r>
            <a:endParaRPr lang="zh-CN" sz="1650" dirty="0"/>
          </a:p>
        </p:txBody>
      </p:sp>
      <p:sp>
        <p:nvSpPr>
          <p:cNvPr id="21" name="s07-next-trial/edge:0:segment:0"/>
          <p:cNvSpPr/>
          <p:nvPr/>
        </p:nvSpPr>
        <p:spPr>
          <a:xfrm>
            <a:off x="4689256" y="3324606"/>
            <a:ext cx="0" cy="123825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</a:ln>
        </p:spPr>
      </p:sp>
      <p:sp>
        <p:nvSpPr>
          <p:cNvPr id="22" name="s07-next-trial/edge:0:segment:1"/>
          <p:cNvSpPr/>
          <p:nvPr/>
        </p:nvSpPr>
        <p:spPr>
          <a:xfrm flipH="1">
            <a:off x="3287603" y="3448431"/>
            <a:ext cx="1401653" cy="0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</a:ln>
        </p:spPr>
      </p:sp>
      <p:sp>
        <p:nvSpPr>
          <p:cNvPr id="23" name="s07-next-trial/edge:0:segment:2"/>
          <p:cNvSpPr/>
          <p:nvPr/>
        </p:nvSpPr>
        <p:spPr>
          <a:xfrm>
            <a:off x="3287603" y="3448431"/>
            <a:ext cx="0" cy="123825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  <a:tailEnd type="triangle"/>
          </a:ln>
        </p:spPr>
      </p:sp>
      <p:sp>
        <p:nvSpPr>
          <p:cNvPr id="24" name="s07-next-trial/edge:1:segment:0"/>
          <p:cNvSpPr/>
          <p:nvPr/>
        </p:nvSpPr>
        <p:spPr>
          <a:xfrm>
            <a:off x="4689256" y="3324606"/>
            <a:ext cx="0" cy="123825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</a:ln>
        </p:spPr>
      </p:sp>
      <p:sp>
        <p:nvSpPr>
          <p:cNvPr id="25" name="s07-next-trial/edge:1:segment:1"/>
          <p:cNvSpPr/>
          <p:nvPr/>
        </p:nvSpPr>
        <p:spPr>
          <a:xfrm>
            <a:off x="4689256" y="3448431"/>
            <a:ext cx="1401653" cy="0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</a:ln>
        </p:spPr>
      </p:sp>
      <p:sp>
        <p:nvSpPr>
          <p:cNvPr id="26" name="s07-next-trial/edge:1:segment:2"/>
          <p:cNvSpPr/>
          <p:nvPr/>
        </p:nvSpPr>
        <p:spPr>
          <a:xfrm>
            <a:off x="6090909" y="3448431"/>
            <a:ext cx="0" cy="123825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  <a:tailEnd type="triangle"/>
          </a:ln>
        </p:spPr>
      </p:sp>
      <p:sp>
        <p:nvSpPr>
          <p:cNvPr id="27" name="s07-next-trial/edge:2:segment:0"/>
          <p:cNvSpPr/>
          <p:nvPr/>
        </p:nvSpPr>
        <p:spPr>
          <a:xfrm>
            <a:off x="3287603" y="4333113"/>
            <a:ext cx="0" cy="123825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</a:ln>
        </p:spPr>
      </p:sp>
      <p:sp>
        <p:nvSpPr>
          <p:cNvPr id="28" name="s07-next-trial/edge:2:segment:1"/>
          <p:cNvSpPr/>
          <p:nvPr/>
        </p:nvSpPr>
        <p:spPr>
          <a:xfrm>
            <a:off x="3287603" y="4456938"/>
            <a:ext cx="1401653" cy="0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</a:ln>
        </p:spPr>
      </p:sp>
      <p:sp>
        <p:nvSpPr>
          <p:cNvPr id="29" name="s07-next-trial/edge:2:segment:2"/>
          <p:cNvSpPr/>
          <p:nvPr/>
        </p:nvSpPr>
        <p:spPr>
          <a:xfrm>
            <a:off x="4689256" y="4456938"/>
            <a:ext cx="0" cy="123825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  <a:tailEnd type="triangle"/>
          </a:ln>
        </p:spPr>
      </p:sp>
      <p:sp>
        <p:nvSpPr>
          <p:cNvPr id="30" name="s07-next-trial/edge:3:segment:0"/>
          <p:cNvSpPr/>
          <p:nvPr/>
        </p:nvSpPr>
        <p:spPr>
          <a:xfrm>
            <a:off x="6090909" y="4333113"/>
            <a:ext cx="0" cy="123825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</a:ln>
        </p:spPr>
      </p:sp>
      <p:sp>
        <p:nvSpPr>
          <p:cNvPr id="31" name="s07-next-trial/edge:3:segment:1"/>
          <p:cNvSpPr/>
          <p:nvPr/>
        </p:nvSpPr>
        <p:spPr>
          <a:xfrm flipH="1">
            <a:off x="4689256" y="4456938"/>
            <a:ext cx="1401653" cy="0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</a:ln>
        </p:spPr>
      </p:sp>
      <p:sp>
        <p:nvSpPr>
          <p:cNvPr id="32" name="s07-next-trial/edge:3:segment:2"/>
          <p:cNvSpPr/>
          <p:nvPr/>
        </p:nvSpPr>
        <p:spPr>
          <a:xfrm>
            <a:off x="4689256" y="4456938"/>
            <a:ext cx="0" cy="123825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  <a:tailEnd type="triangle"/>
          </a:ln>
        </p:spPr>
      </p:sp>
      <p:sp>
        <p:nvSpPr>
          <p:cNvPr id="33" name="s07-next-trial/node:new-batch:frame"/>
          <p:cNvSpPr/>
          <p:nvPr/>
        </p:nvSpPr>
        <p:spPr>
          <a:xfrm>
            <a:off x="2076450" y="2563749"/>
            <a:ext cx="5225612" cy="760857"/>
          </a:xfrm>
          <a:prstGeom prst="rect">
            <a:avLst/>
          </a:prstGeom>
          <a:solidFill>
            <a:srgbClr val="ECF1F7"/>
          </a:solidFill>
          <a:ln w="10478">
            <a:solidFill>
              <a:srgbClr val="CBD6E2"/>
            </a:solidFill>
            <a:prstDash val="solid"/>
          </a:ln>
        </p:spPr>
      </p:sp>
      <p:sp>
        <p:nvSpPr>
          <p:cNvPr id="34" name="s07-next-trial/node:new-batch:label-band"/>
          <p:cNvSpPr/>
          <p:nvPr/>
        </p:nvSpPr>
        <p:spPr>
          <a:xfrm>
            <a:off x="2076450" y="2563749"/>
            <a:ext cx="5225612" cy="398526"/>
          </a:xfrm>
          <a:prstGeom prst="rect">
            <a:avLst/>
          </a:prstGeom>
          <a:solidFill>
            <a:srgbClr val="5367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7-next-trial/node:new-batch:label"/>
          <p:cNvSpPr/>
          <p:nvPr/>
        </p:nvSpPr>
        <p:spPr>
          <a:xfrm>
            <a:off x="2190750" y="2630424"/>
            <a:ext cx="499701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同一新批试件</a:t>
            </a:r>
            <a:endParaRPr lang="zh-CN" sz="1800" dirty="0"/>
          </a:p>
        </p:txBody>
      </p:sp>
      <p:sp>
        <p:nvSpPr>
          <p:cNvPr id="36" name="s07-next-trial/node:new-batch:detail"/>
          <p:cNvSpPr/>
          <p:nvPr/>
        </p:nvSpPr>
        <p:spPr>
          <a:xfrm>
            <a:off x="2190750" y="3019425"/>
            <a:ext cx="4997012" cy="257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锁定工艺参数与入组规则</a:t>
            </a:r>
            <a:endParaRPr lang="zh-CN" sz="1650" dirty="0"/>
          </a:p>
        </p:txBody>
      </p:sp>
      <p:sp>
        <p:nvSpPr>
          <p:cNvPr id="37" name="s07-next-trial/node:con-arm:frame"/>
          <p:cNvSpPr/>
          <p:nvPr/>
        </p:nvSpPr>
        <p:spPr>
          <a:xfrm>
            <a:off x="2076450" y="3572256"/>
            <a:ext cx="2422306" cy="760857"/>
          </a:xfrm>
          <a:prstGeom prst="rect">
            <a:avLst/>
          </a:prstGeom>
          <a:solidFill>
            <a:srgbClr val="ECF1F7"/>
          </a:solidFill>
          <a:ln w="10478">
            <a:solidFill>
              <a:srgbClr val="CBD6E2"/>
            </a:solidFill>
            <a:prstDash val="solid"/>
          </a:ln>
        </p:spPr>
      </p:sp>
      <p:sp>
        <p:nvSpPr>
          <p:cNvPr id="38" name="s07-next-trial/node:con-arm:label-band"/>
          <p:cNvSpPr/>
          <p:nvPr/>
        </p:nvSpPr>
        <p:spPr>
          <a:xfrm>
            <a:off x="2076450" y="3572256"/>
            <a:ext cx="2422306" cy="398526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7-next-trial/node:con-arm:label"/>
          <p:cNvSpPr/>
          <p:nvPr/>
        </p:nvSpPr>
        <p:spPr>
          <a:xfrm>
            <a:off x="2190750" y="3638931"/>
            <a:ext cx="2193706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常规工艺</a:t>
            </a:r>
            <a:endParaRPr lang="zh-CN" sz="1800" dirty="0"/>
          </a:p>
        </p:txBody>
      </p:sp>
      <p:sp>
        <p:nvSpPr>
          <p:cNvPr id="40" name="s07-next-trial/node:con-arm:detail"/>
          <p:cNvSpPr/>
          <p:nvPr/>
        </p:nvSpPr>
        <p:spPr>
          <a:xfrm>
            <a:off x="2190750" y="4027932"/>
            <a:ext cx="2193706" cy="257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随机分配</a:t>
            </a:r>
            <a:endParaRPr lang="zh-CN" sz="1650" dirty="0"/>
          </a:p>
        </p:txBody>
      </p:sp>
      <p:sp>
        <p:nvSpPr>
          <p:cNvPr id="41" name="s07-next-trial/node:mod-arm:frame"/>
          <p:cNvSpPr/>
          <p:nvPr/>
        </p:nvSpPr>
        <p:spPr>
          <a:xfrm>
            <a:off x="4879756" y="3572256"/>
            <a:ext cx="2422306" cy="760857"/>
          </a:xfrm>
          <a:prstGeom prst="rect">
            <a:avLst/>
          </a:prstGeom>
          <a:solidFill>
            <a:srgbClr val="ECF1F7"/>
          </a:solidFill>
          <a:ln w="10478">
            <a:solidFill>
              <a:srgbClr val="CBD6E2"/>
            </a:solidFill>
            <a:prstDash val="solid"/>
          </a:ln>
        </p:spPr>
      </p:sp>
      <p:sp>
        <p:nvSpPr>
          <p:cNvPr id="42" name="s07-next-trial/node:mod-arm:label-band"/>
          <p:cNvSpPr/>
          <p:nvPr/>
        </p:nvSpPr>
        <p:spPr>
          <a:xfrm>
            <a:off x="4879756" y="3572256"/>
            <a:ext cx="2422306" cy="398526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7-next-trial/node:mod-arm:label"/>
          <p:cNvSpPr/>
          <p:nvPr/>
        </p:nvSpPr>
        <p:spPr>
          <a:xfrm>
            <a:off x="4994056" y="3638931"/>
            <a:ext cx="2193706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改性工艺</a:t>
            </a:r>
            <a:endParaRPr lang="zh-CN" sz="1800" dirty="0"/>
          </a:p>
        </p:txBody>
      </p:sp>
      <p:sp>
        <p:nvSpPr>
          <p:cNvPr id="44" name="s07-next-trial/node:mod-arm:detail"/>
          <p:cNvSpPr/>
          <p:nvPr/>
        </p:nvSpPr>
        <p:spPr>
          <a:xfrm>
            <a:off x="4994056" y="4027932"/>
            <a:ext cx="2193706" cy="257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随机分配</a:t>
            </a:r>
            <a:endParaRPr lang="zh-CN" sz="1650" dirty="0"/>
          </a:p>
        </p:txBody>
      </p:sp>
      <p:sp>
        <p:nvSpPr>
          <p:cNvPr id="45" name="s07-next-trial/node:common-end:frame"/>
          <p:cNvSpPr/>
          <p:nvPr/>
        </p:nvSpPr>
        <p:spPr>
          <a:xfrm>
            <a:off x="2076450" y="4580763"/>
            <a:ext cx="5225612" cy="760857"/>
          </a:xfrm>
          <a:prstGeom prst="rect">
            <a:avLst/>
          </a:prstGeom>
          <a:solidFill>
            <a:srgbClr val="ECF1F7"/>
          </a:solidFill>
          <a:ln w="10478">
            <a:solidFill>
              <a:srgbClr val="CBD6E2"/>
            </a:solidFill>
            <a:prstDash val="solid"/>
          </a:ln>
        </p:spPr>
      </p:sp>
      <p:sp>
        <p:nvSpPr>
          <p:cNvPr id="46" name="s07-next-trial/node:common-end:label-band"/>
          <p:cNvSpPr/>
          <p:nvPr/>
        </p:nvSpPr>
        <p:spPr>
          <a:xfrm>
            <a:off x="2076450" y="4580763"/>
            <a:ext cx="5225612" cy="398526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07-next-trial/node:common-end:label"/>
          <p:cNvSpPr/>
          <p:nvPr/>
        </p:nvSpPr>
        <p:spPr>
          <a:xfrm>
            <a:off x="2190750" y="4647438"/>
            <a:ext cx="499701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统一试验与终点</a:t>
            </a:r>
            <a:endParaRPr lang="zh-CN" sz="1800" dirty="0"/>
          </a:p>
        </p:txBody>
      </p:sp>
      <p:sp>
        <p:nvSpPr>
          <p:cNvPr id="48" name="s07-next-trial/node:common-end:detail"/>
          <p:cNvSpPr/>
          <p:nvPr/>
        </p:nvSpPr>
        <p:spPr>
          <a:xfrm>
            <a:off x="2190750" y="5036439"/>
            <a:ext cx="4997012" cy="257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随机试验顺序；记录失效 / runout</a:t>
            </a:r>
            <a:endParaRPr lang="zh-CN" sz="1650" dirty="0"/>
          </a:p>
        </p:txBody>
      </p:sp>
      <p:sp>
        <p:nvSpPr>
          <p:cNvPr id="49" name="s07-next-trial/composition/panel/trial-estimand/frame"/>
          <p:cNvSpPr/>
          <p:nvPr/>
        </p:nvSpPr>
        <p:spPr>
          <a:xfrm>
            <a:off x="7911662" y="1952244"/>
            <a:ext cx="3823138" cy="3541776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50" name="s07-next-trial/composition/panel/trial-estimand/band"/>
          <p:cNvSpPr/>
          <p:nvPr/>
        </p:nvSpPr>
        <p:spPr>
          <a:xfrm>
            <a:off x="7911662" y="1952244"/>
            <a:ext cx="3823138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07-next-trial/composition/panel/trial-estimand/title"/>
          <p:cNvSpPr/>
          <p:nvPr/>
        </p:nvSpPr>
        <p:spPr>
          <a:xfrm>
            <a:off x="8045012" y="2028444"/>
            <a:ext cx="3556438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预先锁定评价</a:t>
            </a:r>
            <a:endParaRPr lang="zh-CN" sz="2100" dirty="0"/>
          </a:p>
        </p:txBody>
      </p:sp>
      <p:sp>
        <p:nvSpPr>
          <p:cNvPr id="52" name="s07-next-trial/card/trial-primary/title"/>
          <p:cNvSpPr/>
          <p:nvPr/>
        </p:nvSpPr>
        <p:spPr>
          <a:xfrm>
            <a:off x="8045012" y="2544699"/>
            <a:ext cx="355643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主要评价</a:t>
            </a:r>
            <a:endParaRPr lang="zh-CN" sz="2100" dirty="0"/>
          </a:p>
        </p:txBody>
      </p:sp>
      <p:sp>
        <p:nvSpPr>
          <p:cNvPr id="53" name="s07-next-trial/card/trial-primary/body"/>
          <p:cNvSpPr/>
          <p:nvPr/>
        </p:nvSpPr>
        <p:spPr>
          <a:xfrm>
            <a:off x="8045012" y="2992374"/>
            <a:ext cx="3556438" cy="855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 = 改性RMST − 常规RMST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共同截断在50万次；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盲化终点判读。</a:t>
            </a:r>
            <a:endParaRPr lang="zh-CN" sz="1800" dirty="0"/>
          </a:p>
        </p:txBody>
      </p:sp>
      <p:sp>
        <p:nvSpPr>
          <p:cNvPr id="54" name="s07-next-trial/card/trial-size/title"/>
          <p:cNvSpPr/>
          <p:nvPr/>
        </p:nvSpPr>
        <p:spPr>
          <a:xfrm>
            <a:off x="8045012" y="4038409"/>
            <a:ext cx="355643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B4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先定判据，再定数量</a:t>
            </a:r>
            <a:endParaRPr lang="zh-CN" sz="2100" dirty="0"/>
          </a:p>
        </p:txBody>
      </p:sp>
      <p:sp>
        <p:nvSpPr>
          <p:cNvPr id="55" name="s07-next-trial/card/trial-size/body"/>
          <p:cNvSpPr/>
          <p:nvPr/>
        </p:nvSpPr>
        <p:spPr>
          <a:xfrm>
            <a:off x="8045012" y="4486084"/>
            <a:ext cx="3556438" cy="855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实际阈值和目标备择效应须预先同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意；用先导变异重估样本量。</a:t>
            </a:r>
            <a:endParaRPr lang="zh-CN" sz="1800" dirty="0"/>
          </a:p>
        </p:txBody>
      </p:sp>
      <p:sp>
        <p:nvSpPr>
          <p:cNvPr id="56" name="s07-next-trial/composition/conclusion/frame"/>
          <p:cNvSpPr/>
          <p:nvPr/>
        </p:nvSpPr>
        <p:spPr>
          <a:xfrm>
            <a:off x="457200" y="5627370"/>
            <a:ext cx="11277600" cy="516255"/>
          </a:xfrm>
          <a:prstGeom prst="rect">
            <a:avLst/>
          </a:prstGeom>
          <a:solidFill>
            <a:srgbClr val="ECF1F7"/>
          </a:solidFill>
          <a:ln w="9525">
            <a:solidFill>
              <a:srgbClr val="CBD6E2"/>
            </a:solidFill>
            <a:prstDash val="solid"/>
          </a:ln>
        </p:spPr>
      </p:sp>
      <p:sp>
        <p:nvSpPr>
          <p:cNvPr id="57" name="s07-next-trial/composition/conclusion/label-fill"/>
          <p:cNvSpPr/>
          <p:nvPr/>
        </p:nvSpPr>
        <p:spPr>
          <a:xfrm>
            <a:off x="457200" y="5627370"/>
            <a:ext cx="1352550" cy="51625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07-next-trial/composition/conclusion/label"/>
          <p:cNvSpPr/>
          <p:nvPr/>
        </p:nvSpPr>
        <p:spPr>
          <a:xfrm>
            <a:off x="571500" y="5732145"/>
            <a:ext cx="112395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外推范围</a:t>
            </a:r>
            <a:endParaRPr lang="zh-CN" sz="2100" dirty="0"/>
          </a:p>
        </p:txBody>
      </p:sp>
      <p:sp>
        <p:nvSpPr>
          <p:cNvPr id="59" name="s07-next-trial/composition/conclusion/text"/>
          <p:cNvSpPr/>
          <p:nvPr/>
        </p:nvSpPr>
        <p:spPr>
          <a:xfrm>
            <a:off x="1962150" y="5732145"/>
            <a:ext cx="962025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单批验证覆盖200 MPa与50万次窗口；推广到批次总体仍需独立重复。</a:t>
            </a:r>
            <a:endParaRPr lang="zh-CN" sz="1800" dirty="0"/>
          </a:p>
        </p:txBody>
      </p:sp>
      <p:sp>
        <p:nvSpPr>
          <p:cNvPr id="60" name="s07-next-trial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 2026  |  [2] 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-decision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8-decision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10</a:t>
            </a:r>
            <a:endParaRPr lang="zh-CN" sz="1050" dirty="0"/>
          </a:p>
        </p:txBody>
      </p:sp>
      <p:sp>
        <p:nvSpPr>
          <p:cNvPr id="4" name="s08-decision/academic-header-band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08-decision/section-label"/>
          <p:cNvSpPr/>
          <p:nvPr/>
        </p:nvSpPr>
        <p:spPr>
          <a:xfrm>
            <a:off x="457200" y="95250"/>
            <a:ext cx="772287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下一步验证方案</a:t>
            </a:r>
            <a:endParaRPr lang="zh-CN" sz="2250" dirty="0"/>
          </a:p>
        </p:txBody>
      </p:sp>
      <p:sp>
        <p:nvSpPr>
          <p:cNvPr id="6" name="s08-decision/brand-label"/>
          <p:cNvSpPr/>
          <p:nvPr/>
        </p:nvSpPr>
        <p:spPr>
          <a:xfrm>
            <a:off x="8427720" y="133350"/>
            <a:ext cx="33070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 · 材料工程研究进展</a:t>
            </a:r>
            <a:endParaRPr lang="zh-CN" sz="1650" dirty="0"/>
          </a:p>
        </p:txBody>
      </p:sp>
      <p:sp>
        <p:nvSpPr>
          <p:cNvPr id="7" name="s08-decision/title"/>
          <p:cNvSpPr/>
          <p:nvPr/>
        </p:nvSpPr>
        <p:spPr>
          <a:xfrm>
            <a:off x="457200" y="6667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预先分开收益、反向、近似与未定</a:t>
            </a:r>
            <a:endParaRPr lang="zh-CN" sz="3000" dirty="0"/>
          </a:p>
        </p:txBody>
      </p:sp>
      <p:sp>
        <p:nvSpPr>
          <p:cNvPr id="8" name="s08-decision/header-rule"/>
          <p:cNvSpPr/>
          <p:nvPr/>
        </p:nvSpPr>
        <p:spPr>
          <a:xfrm>
            <a:off x="457200" y="1192530"/>
            <a:ext cx="11277600" cy="0"/>
          </a:xfrm>
          <a:prstGeom prst="line">
            <a:avLst/>
          </a:prstGeom>
          <a:noFill/>
          <a:ln w="9525">
            <a:solidFill>
              <a:srgbClr val="CBD6E2"/>
            </a:solidFill>
            <a:prstDash val="solid"/>
          </a:ln>
        </p:spPr>
      </p:sp>
      <p:sp>
        <p:nvSpPr>
          <p:cNvPr id="9" name="s08-decision/composition/lead/frame"/>
          <p:cNvSpPr/>
          <p:nvPr/>
        </p:nvSpPr>
        <p:spPr>
          <a:xfrm>
            <a:off x="457200" y="1344930"/>
            <a:ext cx="11277600" cy="473964"/>
          </a:xfrm>
          <a:prstGeom prst="rect">
            <a:avLst/>
          </a:prstGeom>
          <a:solidFill>
            <a:srgbClr val="ECF1F7"/>
          </a:solidFill>
          <a:ln w="8573">
            <a:solidFill>
              <a:srgbClr val="CBD6E2"/>
            </a:solidFill>
            <a:prstDash val="solid"/>
          </a:ln>
        </p:spPr>
      </p:sp>
      <p:sp>
        <p:nvSpPr>
          <p:cNvPr id="10" name="s08-decision/composition/lead/mark"/>
          <p:cNvSpPr/>
          <p:nvPr/>
        </p:nvSpPr>
        <p:spPr>
          <a:xfrm>
            <a:off x="457200" y="1344930"/>
            <a:ext cx="47625" cy="473964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8-decision/composition/lead"/>
          <p:cNvSpPr/>
          <p:nvPr/>
        </p:nvSpPr>
        <p:spPr>
          <a:xfrm>
            <a:off x="628650" y="1440180"/>
            <a:ext cx="109347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拟定规则：Δ为RMST差，95%区间[L,U]；δ=3万次为待讨论设计值，尚未验证。</a:t>
            </a:r>
            <a:endParaRPr lang="zh-CN" sz="1800" dirty="0"/>
          </a:p>
        </p:txBody>
      </p:sp>
      <p:sp>
        <p:nvSpPr>
          <p:cNvPr id="12" name="s08-decision/composition/panel/rules/frame"/>
          <p:cNvSpPr/>
          <p:nvPr/>
        </p:nvSpPr>
        <p:spPr>
          <a:xfrm>
            <a:off x="457200" y="1952244"/>
            <a:ext cx="11277600" cy="3541776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13" name="s08-decision/composition/panel/rules/band"/>
          <p:cNvSpPr/>
          <p:nvPr/>
        </p:nvSpPr>
        <p:spPr>
          <a:xfrm>
            <a:off x="457200" y="1952244"/>
            <a:ext cx="11277600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8-decision/composition/panel/rules/title"/>
          <p:cNvSpPr/>
          <p:nvPr/>
        </p:nvSpPr>
        <p:spPr>
          <a:xfrm>
            <a:off x="590550" y="2028444"/>
            <a:ext cx="110109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评价前提成立后，再判断区间</a:t>
            </a:r>
            <a:endParaRPr lang="zh-CN" sz="2100" dirty="0"/>
          </a:p>
        </p:txBody>
      </p:sp>
      <p:graphicFrame>
        <p:nvGraphicFramePr>
          <p:cNvPr id="9" name="s08-decision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550" y="2525649"/>
          <a:ext cx="11010900" cy="2340102"/>
        </p:xfrm>
        <a:graphic>
          <a:graphicData uri="http://schemas.openxmlformats.org/drawingml/2006/table">
            <a:tbl>
              <a:tblPr/>
              <a:tblGrid>
                <a:gridCol w="2813897"/>
                <a:gridCol w="4037330"/>
                <a:gridCol w="4159673"/>
              </a:tblGrid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区间条件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证据判断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后续行动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 &gt; +δ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支持超过阈值的正向收益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进入独立批次重复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U &lt; −δ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支持超过阈值的反向损害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停止推广，排查工艺与条件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−δ ≤ L ≤ U ≤ +δ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支持预先定义的实际近似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结合成本讨论工艺取舍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B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113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未落入上述三类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仍区分方向：L&gt;0为正；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U&lt;0为反；含0则方向未定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实际幅度未定，补精度或修正假说；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8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不能统称无效或不确定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034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08-decision/table-caption"/>
          <p:cNvSpPr/>
          <p:nvPr/>
        </p:nvSpPr>
        <p:spPr>
          <a:xfrm>
            <a:off x="590550" y="4932426"/>
            <a:ext cx="11010900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前提：分配、统一终点与预定分析可执行；否则先处理偏差/缺失，再界定可支持范围。</a:t>
            </a:r>
            <a:endParaRPr lang="zh-CN" sz="1350" dirty="0"/>
          </a:p>
        </p:txBody>
      </p:sp>
      <p:sp>
        <p:nvSpPr>
          <p:cNvPr id="17" name="s08-decision/composition/conclusion/frame"/>
          <p:cNvSpPr/>
          <p:nvPr/>
        </p:nvSpPr>
        <p:spPr>
          <a:xfrm>
            <a:off x="457200" y="5627370"/>
            <a:ext cx="11277600" cy="516255"/>
          </a:xfrm>
          <a:prstGeom prst="rect">
            <a:avLst/>
          </a:prstGeom>
          <a:solidFill>
            <a:srgbClr val="ECF1F7"/>
          </a:solidFill>
          <a:ln w="9525">
            <a:solidFill>
              <a:srgbClr val="CBD6E2"/>
            </a:solidFill>
            <a:prstDash val="solid"/>
          </a:ln>
        </p:spPr>
      </p:sp>
      <p:sp>
        <p:nvSpPr>
          <p:cNvPr id="18" name="s08-decision/composition/conclusion/label-fill"/>
          <p:cNvSpPr/>
          <p:nvPr/>
        </p:nvSpPr>
        <p:spPr>
          <a:xfrm>
            <a:off x="457200" y="5627370"/>
            <a:ext cx="1352550" cy="51625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8-decision/composition/conclusion/label"/>
          <p:cNvSpPr/>
          <p:nvPr/>
        </p:nvSpPr>
        <p:spPr>
          <a:xfrm>
            <a:off x="571500" y="5732145"/>
            <a:ext cx="112395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两层判断</a:t>
            </a:r>
            <a:endParaRPr lang="zh-CN" sz="2100" dirty="0"/>
          </a:p>
        </p:txBody>
      </p:sp>
      <p:sp>
        <p:nvSpPr>
          <p:cNvPr id="20" name="s08-decision/composition/conclusion/text"/>
          <p:cNvSpPr/>
          <p:nvPr/>
        </p:nvSpPr>
        <p:spPr>
          <a:xfrm>
            <a:off x="1962150" y="5732145"/>
            <a:ext cx="962025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区间是否含0回答方向问题；是否越过±δ回答实际幅度问题。</a:t>
            </a:r>
            <a:endParaRPr lang="zh-CN" sz="1800" dirty="0"/>
          </a:p>
        </p:txBody>
      </p:sp>
      <p:sp>
        <p:nvSpPr>
          <p:cNvPr id="21" name="s08-decision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 2026  |  [2] 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-synthesis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9-synthesis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10</a:t>
            </a:r>
            <a:endParaRPr lang="zh-CN" sz="1050" dirty="0"/>
          </a:p>
        </p:txBody>
      </p:sp>
      <p:sp>
        <p:nvSpPr>
          <p:cNvPr id="4" name="s09-synthesis/academic-header-band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09-synthesis/section-label"/>
          <p:cNvSpPr/>
          <p:nvPr/>
        </p:nvSpPr>
        <p:spPr>
          <a:xfrm>
            <a:off x="457200" y="95250"/>
            <a:ext cx="772287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 阶段判断</a:t>
            </a:r>
            <a:endParaRPr lang="zh-CN" sz="2250" dirty="0"/>
          </a:p>
        </p:txBody>
      </p:sp>
      <p:sp>
        <p:nvSpPr>
          <p:cNvPr id="6" name="s09-synthesis/brand-label"/>
          <p:cNvSpPr/>
          <p:nvPr/>
        </p:nvSpPr>
        <p:spPr>
          <a:xfrm>
            <a:off x="8427720" y="133350"/>
            <a:ext cx="33070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 · 材料工程研究进展</a:t>
            </a:r>
            <a:endParaRPr lang="zh-CN" sz="1650" dirty="0"/>
          </a:p>
        </p:txBody>
      </p:sp>
      <p:sp>
        <p:nvSpPr>
          <p:cNvPr id="7" name="s09-synthesis/title"/>
          <p:cNvSpPr/>
          <p:nvPr/>
        </p:nvSpPr>
        <p:spPr>
          <a:xfrm>
            <a:off x="457200" y="6667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阶段判断：推进验证，暂不确认工艺收益</a:t>
            </a:r>
            <a:endParaRPr lang="zh-CN" sz="3000" dirty="0"/>
          </a:p>
        </p:txBody>
      </p:sp>
      <p:sp>
        <p:nvSpPr>
          <p:cNvPr id="8" name="s09-synthesis/header-rule"/>
          <p:cNvSpPr/>
          <p:nvPr/>
        </p:nvSpPr>
        <p:spPr>
          <a:xfrm>
            <a:off x="457200" y="1192530"/>
            <a:ext cx="11277600" cy="0"/>
          </a:xfrm>
          <a:prstGeom prst="line">
            <a:avLst/>
          </a:prstGeom>
          <a:noFill/>
          <a:ln w="9525">
            <a:solidFill>
              <a:srgbClr val="CBD6E2"/>
            </a:solidFill>
            <a:prstDash val="solid"/>
          </a:ln>
        </p:spPr>
      </p:sp>
      <p:sp>
        <p:nvSpPr>
          <p:cNvPr id="9" name="s09-synthesis/composition/panel/synthesis-map/frame"/>
          <p:cNvSpPr/>
          <p:nvPr/>
        </p:nvSpPr>
        <p:spPr>
          <a:xfrm>
            <a:off x="457200" y="1344930"/>
            <a:ext cx="11277600" cy="4149090"/>
          </a:xfrm>
          <a:prstGeom prst="rect">
            <a:avLst/>
          </a:prstGeom>
          <a:solidFill>
            <a:srgbClr val="FFFFFF"/>
          </a:solidFill>
          <a:ln w="10001">
            <a:solidFill>
              <a:srgbClr val="CBD6E2"/>
            </a:solidFill>
            <a:prstDash val="solid"/>
          </a:ln>
        </p:spPr>
      </p:sp>
      <p:sp>
        <p:nvSpPr>
          <p:cNvPr id="10" name="s09-synthesis/composition/panel/synthesis-map/band"/>
          <p:cNvSpPr/>
          <p:nvPr/>
        </p:nvSpPr>
        <p:spPr>
          <a:xfrm>
            <a:off x="457200" y="1344930"/>
            <a:ext cx="11277600" cy="45910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9-synthesis/composition/panel/synthesis-map/title"/>
          <p:cNvSpPr/>
          <p:nvPr/>
        </p:nvSpPr>
        <p:spPr>
          <a:xfrm>
            <a:off x="590550" y="1421130"/>
            <a:ext cx="1101090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证据、判断与后续动作一一对应</a:t>
            </a:r>
            <a:endParaRPr lang="zh-CN" sz="2100" dirty="0"/>
          </a:p>
        </p:txBody>
      </p:sp>
      <p:sp>
        <p:nvSpPr>
          <p:cNvPr id="12" name="s09-synthesis/edge:0"/>
          <p:cNvSpPr/>
          <p:nvPr/>
        </p:nvSpPr>
        <p:spPr>
          <a:xfrm>
            <a:off x="5905500" y="2433828"/>
            <a:ext cx="381000" cy="0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  <a:tailEnd type="triangle"/>
          </a:ln>
        </p:spPr>
      </p:sp>
      <p:sp>
        <p:nvSpPr>
          <p:cNvPr id="13" name="s09-synthesis/edge:1"/>
          <p:cNvSpPr/>
          <p:nvPr/>
        </p:nvSpPr>
        <p:spPr>
          <a:xfrm>
            <a:off x="5905500" y="3636264"/>
            <a:ext cx="381000" cy="0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  <a:tailEnd type="triangle"/>
          </a:ln>
        </p:spPr>
      </p:sp>
      <p:sp>
        <p:nvSpPr>
          <p:cNvPr id="14" name="s09-synthesis/edge:2"/>
          <p:cNvSpPr/>
          <p:nvPr/>
        </p:nvSpPr>
        <p:spPr>
          <a:xfrm>
            <a:off x="5905500" y="4838700"/>
            <a:ext cx="381000" cy="0"/>
          </a:xfrm>
          <a:prstGeom prst="line">
            <a:avLst/>
          </a:prstGeom>
          <a:noFill/>
          <a:ln w="20955">
            <a:solidFill>
              <a:srgbClr val="034A90"/>
            </a:solidFill>
            <a:prstDash val="solid"/>
            <a:tailEnd type="triangle"/>
          </a:ln>
        </p:spPr>
      </p:sp>
      <p:sp>
        <p:nvSpPr>
          <p:cNvPr id="15" name="s09-synthesis/node:evidence-B:frame"/>
          <p:cNvSpPr/>
          <p:nvPr/>
        </p:nvSpPr>
        <p:spPr>
          <a:xfrm>
            <a:off x="876300" y="1956435"/>
            <a:ext cx="5029200" cy="954786"/>
          </a:xfrm>
          <a:prstGeom prst="rect">
            <a:avLst/>
          </a:prstGeom>
          <a:solidFill>
            <a:srgbClr val="ECF1F7"/>
          </a:solidFill>
          <a:ln w="10478">
            <a:solidFill>
              <a:srgbClr val="CBD6E2"/>
            </a:solidFill>
            <a:prstDash val="solid"/>
          </a:ln>
        </p:spPr>
      </p:sp>
      <p:sp>
        <p:nvSpPr>
          <p:cNvPr id="16" name="s09-synthesis/node:evidence-B:label-band"/>
          <p:cNvSpPr/>
          <p:nvPr/>
        </p:nvSpPr>
        <p:spPr>
          <a:xfrm>
            <a:off x="876300" y="1956435"/>
            <a:ext cx="5029200" cy="398526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9-synthesis/node:evidence-B:label"/>
          <p:cNvSpPr/>
          <p:nvPr/>
        </p:nvSpPr>
        <p:spPr>
          <a:xfrm>
            <a:off x="990600" y="2023110"/>
            <a:ext cx="48006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B内：正差且区间跨0</a:t>
            </a:r>
            <a:endParaRPr lang="zh-CN" sz="1800" dirty="0"/>
          </a:p>
        </p:txBody>
      </p:sp>
      <p:sp>
        <p:nvSpPr>
          <p:cNvPr id="18" name="s09-synthesis/node:evidence-B:detail"/>
          <p:cNvSpPr/>
          <p:nvPr/>
        </p:nvSpPr>
        <p:spPr>
          <a:xfrm>
            <a:off x="990600" y="2412111"/>
            <a:ext cx="4800600" cy="45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2.56万次；95%区间−1.37至6.49</a:t>
            </a:r>
            <a:endParaRPr lang="zh-CN" sz="1650" dirty="0"/>
          </a:p>
        </p:txBody>
      </p:sp>
      <p:sp>
        <p:nvSpPr>
          <p:cNvPr id="19" name="s09-synthesis/node:judgement-B:frame"/>
          <p:cNvSpPr/>
          <p:nvPr/>
        </p:nvSpPr>
        <p:spPr>
          <a:xfrm>
            <a:off x="6286500" y="1956435"/>
            <a:ext cx="5029200" cy="954786"/>
          </a:xfrm>
          <a:prstGeom prst="rect">
            <a:avLst/>
          </a:prstGeom>
          <a:solidFill>
            <a:srgbClr val="ECF1F7"/>
          </a:solidFill>
          <a:ln w="10478">
            <a:solidFill>
              <a:srgbClr val="CBD6E2"/>
            </a:solidFill>
            <a:prstDash val="solid"/>
          </a:ln>
        </p:spPr>
      </p:sp>
      <p:sp>
        <p:nvSpPr>
          <p:cNvPr id="20" name="s09-synthesis/node:judgement-B:label-band"/>
          <p:cNvSpPr/>
          <p:nvPr/>
        </p:nvSpPr>
        <p:spPr>
          <a:xfrm>
            <a:off x="6286500" y="1956435"/>
            <a:ext cx="5029200" cy="398526"/>
          </a:xfrm>
          <a:prstGeom prst="rect">
            <a:avLst/>
          </a:prstGeom>
          <a:solidFill>
            <a:srgbClr val="B451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9-synthesis/node:judgement-B:label"/>
          <p:cNvSpPr/>
          <p:nvPr/>
        </p:nvSpPr>
        <p:spPr>
          <a:xfrm>
            <a:off x="6400800" y="2023110"/>
            <a:ext cx="48006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有线索，尚未确认收益</a:t>
            </a:r>
            <a:endParaRPr lang="zh-CN" sz="1800" dirty="0"/>
          </a:p>
        </p:txBody>
      </p:sp>
      <p:sp>
        <p:nvSpPr>
          <p:cNvPr id="22" name="s09-synthesis/node:judgement-B:detail"/>
          <p:cNvSpPr/>
          <p:nvPr/>
        </p:nvSpPr>
        <p:spPr>
          <a:xfrm>
            <a:off x="6400800" y="2412111"/>
            <a:ext cx="4800600" cy="45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工艺随机分配未记录；仅B批</a:t>
            </a:r>
            <a:endParaRPr lang="zh-CN" sz="1650" dirty="0"/>
          </a:p>
        </p:txBody>
      </p:sp>
      <p:sp>
        <p:nvSpPr>
          <p:cNvPr id="23" name="s09-synthesis/node:evidence-C:frame"/>
          <p:cNvSpPr/>
          <p:nvPr/>
        </p:nvSpPr>
        <p:spPr>
          <a:xfrm>
            <a:off x="876300" y="3158871"/>
            <a:ext cx="5029200" cy="954786"/>
          </a:xfrm>
          <a:prstGeom prst="rect">
            <a:avLst/>
          </a:prstGeom>
          <a:solidFill>
            <a:srgbClr val="ECF1F7"/>
          </a:solidFill>
          <a:ln w="10478">
            <a:solidFill>
              <a:srgbClr val="CBD6E2"/>
            </a:solidFill>
            <a:prstDash val="solid"/>
          </a:ln>
        </p:spPr>
      </p:sp>
      <p:sp>
        <p:nvSpPr>
          <p:cNvPr id="24" name="s09-synthesis/node:evidence-C:label-band"/>
          <p:cNvSpPr/>
          <p:nvPr/>
        </p:nvSpPr>
        <p:spPr>
          <a:xfrm>
            <a:off x="876300" y="3158871"/>
            <a:ext cx="5029200" cy="398526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9-synthesis/node:evidence-C:label"/>
          <p:cNvSpPr/>
          <p:nvPr/>
        </p:nvSpPr>
        <p:spPr>
          <a:xfrm>
            <a:off x="990600" y="3225546"/>
            <a:ext cx="48006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混合条件与删失尾部</a:t>
            </a:r>
            <a:endParaRPr lang="zh-CN" sz="1800" dirty="0"/>
          </a:p>
        </p:txBody>
      </p:sp>
      <p:sp>
        <p:nvSpPr>
          <p:cNvPr id="26" name="s09-synthesis/node:evidence-C:detail"/>
          <p:cNvSpPr/>
          <p:nvPr/>
        </p:nvSpPr>
        <p:spPr>
          <a:xfrm>
            <a:off x="990600" y="3614547"/>
            <a:ext cx="4800600" cy="45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41.5%不能归因；50万后未知</a:t>
            </a:r>
            <a:endParaRPr lang="zh-CN" sz="1650" dirty="0"/>
          </a:p>
        </p:txBody>
      </p:sp>
      <p:sp>
        <p:nvSpPr>
          <p:cNvPr id="27" name="s09-synthesis/node:judgement-C:frame"/>
          <p:cNvSpPr/>
          <p:nvPr/>
        </p:nvSpPr>
        <p:spPr>
          <a:xfrm>
            <a:off x="6286500" y="3158871"/>
            <a:ext cx="5029200" cy="954786"/>
          </a:xfrm>
          <a:prstGeom prst="rect">
            <a:avLst/>
          </a:prstGeom>
          <a:solidFill>
            <a:srgbClr val="ECF1F7"/>
          </a:solidFill>
          <a:ln w="10478">
            <a:solidFill>
              <a:srgbClr val="CBD6E2"/>
            </a:solidFill>
            <a:prstDash val="solid"/>
          </a:ln>
        </p:spPr>
      </p:sp>
      <p:sp>
        <p:nvSpPr>
          <p:cNvPr id="28" name="s09-synthesis/node:judgement-C:label-band"/>
          <p:cNvSpPr/>
          <p:nvPr/>
        </p:nvSpPr>
        <p:spPr>
          <a:xfrm>
            <a:off x="6286500" y="3158871"/>
            <a:ext cx="5029200" cy="398526"/>
          </a:xfrm>
          <a:prstGeom prst="rect">
            <a:avLst/>
          </a:prstGeom>
          <a:solidFill>
            <a:srgbClr val="B451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9-synthesis/node:judgement-C:label"/>
          <p:cNvSpPr/>
          <p:nvPr/>
        </p:nvSpPr>
        <p:spPr>
          <a:xfrm>
            <a:off x="6400800" y="3225546"/>
            <a:ext cx="48006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按条件、按观察窗报告</a:t>
            </a:r>
            <a:endParaRPr lang="zh-CN" sz="1800" dirty="0"/>
          </a:p>
        </p:txBody>
      </p:sp>
      <p:sp>
        <p:nvSpPr>
          <p:cNvPr id="30" name="s09-synthesis/node:judgement-C:detail"/>
          <p:cNvSpPr/>
          <p:nvPr/>
        </p:nvSpPr>
        <p:spPr>
          <a:xfrm>
            <a:off x="6400800" y="3614547"/>
            <a:ext cx="4800600" cy="45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不借混合差替代工艺效应</a:t>
            </a:r>
            <a:endParaRPr lang="zh-CN" sz="1650" dirty="0"/>
          </a:p>
        </p:txBody>
      </p:sp>
      <p:sp>
        <p:nvSpPr>
          <p:cNvPr id="31" name="s09-synthesis/node:next-step:frame"/>
          <p:cNvSpPr/>
          <p:nvPr/>
        </p:nvSpPr>
        <p:spPr>
          <a:xfrm>
            <a:off x="876300" y="4361307"/>
            <a:ext cx="5029200" cy="954786"/>
          </a:xfrm>
          <a:prstGeom prst="rect">
            <a:avLst/>
          </a:prstGeom>
          <a:solidFill>
            <a:srgbClr val="ECF1F7"/>
          </a:solidFill>
          <a:ln w="10478">
            <a:solidFill>
              <a:srgbClr val="CBD6E2"/>
            </a:solidFill>
            <a:prstDash val="solid"/>
          </a:ln>
        </p:spPr>
      </p:sp>
      <p:sp>
        <p:nvSpPr>
          <p:cNvPr id="32" name="s09-synthesis/node:next-step:label-band"/>
          <p:cNvSpPr/>
          <p:nvPr/>
        </p:nvSpPr>
        <p:spPr>
          <a:xfrm>
            <a:off x="876300" y="4361307"/>
            <a:ext cx="5029200" cy="398526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9-synthesis/node:next-step:label"/>
          <p:cNvSpPr/>
          <p:nvPr/>
        </p:nvSpPr>
        <p:spPr>
          <a:xfrm>
            <a:off x="990600" y="4427982"/>
            <a:ext cx="48006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新批随机对照</a:t>
            </a:r>
            <a:endParaRPr lang="zh-CN" sz="1800" dirty="0"/>
          </a:p>
        </p:txBody>
      </p:sp>
      <p:sp>
        <p:nvSpPr>
          <p:cNvPr id="34" name="s09-synthesis/node:next-step:detail"/>
          <p:cNvSpPr/>
          <p:nvPr/>
        </p:nvSpPr>
        <p:spPr>
          <a:xfrm>
            <a:off x="990600" y="4816983"/>
            <a:ext cx="4800600" cy="45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共同应力、终点与判定规则</a:t>
            </a:r>
            <a:endParaRPr lang="zh-CN" sz="1650" dirty="0"/>
          </a:p>
        </p:txBody>
      </p:sp>
      <p:sp>
        <p:nvSpPr>
          <p:cNvPr id="35" name="s09-synthesis/node:next-target:frame"/>
          <p:cNvSpPr/>
          <p:nvPr/>
        </p:nvSpPr>
        <p:spPr>
          <a:xfrm>
            <a:off x="6286500" y="4361307"/>
            <a:ext cx="5029200" cy="954786"/>
          </a:xfrm>
          <a:prstGeom prst="rect">
            <a:avLst/>
          </a:prstGeom>
          <a:solidFill>
            <a:srgbClr val="ECF1F7"/>
          </a:solidFill>
          <a:ln w="10478">
            <a:solidFill>
              <a:srgbClr val="CBD6E2"/>
            </a:solidFill>
            <a:prstDash val="dash"/>
          </a:ln>
        </p:spPr>
      </p:sp>
      <p:sp>
        <p:nvSpPr>
          <p:cNvPr id="36" name="s09-synthesis/node:next-target:label-band"/>
          <p:cNvSpPr/>
          <p:nvPr/>
        </p:nvSpPr>
        <p:spPr>
          <a:xfrm>
            <a:off x="6286500" y="4361307"/>
            <a:ext cx="5029200" cy="398526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9-synthesis/node:next-target:label"/>
          <p:cNvSpPr/>
          <p:nvPr/>
        </p:nvSpPr>
        <p:spPr>
          <a:xfrm>
            <a:off x="6400800" y="4427982"/>
            <a:ext cx="48006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提高可归因与可证伪性</a:t>
            </a:r>
            <a:endParaRPr lang="zh-CN" sz="1800" dirty="0"/>
          </a:p>
        </p:txBody>
      </p:sp>
      <p:sp>
        <p:nvSpPr>
          <p:cNvPr id="38" name="s09-synthesis/node:next-target:detail"/>
          <p:cNvSpPr/>
          <p:nvPr/>
        </p:nvSpPr>
        <p:spPr>
          <a:xfrm>
            <a:off x="6400800" y="4816983"/>
            <a:ext cx="4800600" cy="45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机制与推广另需证据</a:t>
            </a:r>
            <a:endParaRPr lang="zh-CN" sz="1650" dirty="0"/>
          </a:p>
        </p:txBody>
      </p:sp>
      <p:sp>
        <p:nvSpPr>
          <p:cNvPr id="39" name="s09-synthesis/composition/conclusion/frame"/>
          <p:cNvSpPr/>
          <p:nvPr/>
        </p:nvSpPr>
        <p:spPr>
          <a:xfrm>
            <a:off x="457200" y="5627370"/>
            <a:ext cx="11277600" cy="516255"/>
          </a:xfrm>
          <a:prstGeom prst="rect">
            <a:avLst/>
          </a:prstGeom>
          <a:solidFill>
            <a:srgbClr val="ECF1F7"/>
          </a:solidFill>
          <a:ln w="9525">
            <a:solidFill>
              <a:srgbClr val="CBD6E2"/>
            </a:solidFill>
            <a:prstDash val="solid"/>
          </a:ln>
        </p:spPr>
      </p:sp>
      <p:sp>
        <p:nvSpPr>
          <p:cNvPr id="40" name="s09-synthesis/composition/conclusion/label-fill"/>
          <p:cNvSpPr/>
          <p:nvPr/>
        </p:nvSpPr>
        <p:spPr>
          <a:xfrm>
            <a:off x="457200" y="5627370"/>
            <a:ext cx="1352550" cy="516255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9-synthesis/composition/conclusion/label"/>
          <p:cNvSpPr/>
          <p:nvPr/>
        </p:nvSpPr>
        <p:spPr>
          <a:xfrm>
            <a:off x="571500" y="5732145"/>
            <a:ext cx="112395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研究推进</a:t>
            </a:r>
            <a:endParaRPr lang="zh-CN" sz="2100" dirty="0"/>
          </a:p>
        </p:txBody>
      </p:sp>
      <p:sp>
        <p:nvSpPr>
          <p:cNvPr id="42" name="s09-synthesis/composition/conclusion/text"/>
          <p:cNvSpPr/>
          <p:nvPr/>
        </p:nvSpPr>
        <p:spPr>
          <a:xfrm>
            <a:off x="1962150" y="5732145"/>
            <a:ext cx="962025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优先完成同批随机对照；明确工艺参数后补表征，再考虑跨批与跨应力推广。</a:t>
            </a:r>
            <a:endParaRPr lang="zh-CN" sz="1800" dirty="0"/>
          </a:p>
        </p:txBody>
      </p:sp>
      <p:sp>
        <p:nvSpPr>
          <p:cNvPr id="43" name="s09-synthesis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 2026  |  [2] 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-sources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10-sources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10</a:t>
            </a:r>
            <a:endParaRPr lang="zh-CN" sz="1050" dirty="0"/>
          </a:p>
        </p:txBody>
      </p:sp>
      <p:sp>
        <p:nvSpPr>
          <p:cNvPr id="4" name="s10-sources/academic-header-band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34A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10-sources/section-label"/>
          <p:cNvSpPr/>
          <p:nvPr/>
        </p:nvSpPr>
        <p:spPr>
          <a:xfrm>
            <a:off x="457200" y="95250"/>
            <a:ext cx="772287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 资料来源</a:t>
            </a:r>
            <a:endParaRPr lang="zh-CN" sz="2250" dirty="0"/>
          </a:p>
        </p:txBody>
      </p:sp>
      <p:sp>
        <p:nvSpPr>
          <p:cNvPr id="6" name="s10-sources/brand-label"/>
          <p:cNvSpPr/>
          <p:nvPr/>
        </p:nvSpPr>
        <p:spPr>
          <a:xfrm>
            <a:off x="8427720" y="133350"/>
            <a:ext cx="33070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 · 材料工程研究进展</a:t>
            </a:r>
            <a:endParaRPr lang="zh-CN" sz="1650" dirty="0"/>
          </a:p>
        </p:txBody>
      </p:sp>
      <p:sp>
        <p:nvSpPr>
          <p:cNvPr id="7" name="s10-sources/title"/>
          <p:cNvSpPr/>
          <p:nvPr/>
        </p:nvSpPr>
        <p:spPr>
          <a:xfrm>
            <a:off x="457200" y="6667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原始资料与来源身份</a:t>
            </a:r>
            <a:endParaRPr lang="zh-CN" sz="3000" dirty="0"/>
          </a:p>
        </p:txBody>
      </p:sp>
      <p:sp>
        <p:nvSpPr>
          <p:cNvPr id="8" name="s10-sources/header-rule"/>
          <p:cNvSpPr/>
          <p:nvPr/>
        </p:nvSpPr>
        <p:spPr>
          <a:xfrm>
            <a:off x="457200" y="1192530"/>
            <a:ext cx="11277600" cy="0"/>
          </a:xfrm>
          <a:prstGeom prst="line">
            <a:avLst/>
          </a:prstGeom>
          <a:noFill/>
          <a:ln w="9525">
            <a:solidFill>
              <a:srgbClr val="CBD6E2"/>
            </a:solidFill>
            <a:prstDash val="solid"/>
          </a:ln>
        </p:spPr>
      </p:sp>
      <p:sp>
        <p:nvSpPr>
          <p:cNvPr id="9" name="s10-sources/ref:protocol:id"/>
          <p:cNvSpPr/>
          <p:nvPr/>
        </p:nvSpPr>
        <p:spPr>
          <a:xfrm>
            <a:off x="457200" y="1276350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</a:t>
            </a:r>
            <a:endParaRPr lang="zh-CN" sz="1650" dirty="0"/>
          </a:p>
        </p:txBody>
      </p:sp>
      <p:sp>
        <p:nvSpPr>
          <p:cNvPr id="10" name="s10-sources/ref:protocol:title"/>
          <p:cNvSpPr/>
          <p:nvPr/>
        </p:nvSpPr>
        <p:spPr>
          <a:xfrm>
            <a:off x="1123950" y="1257300"/>
            <a:ext cx="106108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金属构件疲劳试验记录（教学模拟材料）</a:t>
            </a:r>
            <a:endParaRPr lang="zh-CN" sz="1800" dirty="0"/>
          </a:p>
        </p:txBody>
      </p:sp>
      <p:sp>
        <p:nvSpPr>
          <p:cNvPr id="11" name="s10-sources/ref:protocol:meta"/>
          <p:cNvSpPr/>
          <p:nvPr/>
        </p:nvSpPr>
        <p:spPr>
          <a:xfrm>
            <a:off x="1123950" y="1598295"/>
            <a:ext cx="10610850" cy="212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未署名 · 用户提供的教学模拟资料包（非期刊） · 2026 · inputs/protocol.md · 资料版本1，2026-10-20</a:t>
            </a:r>
            <a:endParaRPr lang="zh-CN" sz="1350" dirty="0"/>
          </a:p>
        </p:txBody>
      </p:sp>
      <p:sp>
        <p:nvSpPr>
          <p:cNvPr id="12" name="s10-sources/ref:protocol:line"/>
          <p:cNvSpPr/>
          <p:nvPr/>
        </p:nvSpPr>
        <p:spPr>
          <a:xfrm>
            <a:off x="1123950" y="1915478"/>
            <a:ext cx="10610850" cy="0"/>
          </a:xfrm>
          <a:prstGeom prst="line">
            <a:avLst/>
          </a:prstGeom>
          <a:noFill/>
          <a:ln w="13335">
            <a:solidFill>
              <a:srgbClr val="CBD6E2"/>
            </a:solidFill>
            <a:prstDash val="solid"/>
          </a:ln>
        </p:spPr>
      </p:sp>
      <p:sp>
        <p:nvSpPr>
          <p:cNvPr id="13" name="s10-sources/ref:fatigue:id"/>
          <p:cNvSpPr/>
          <p:nvPr/>
        </p:nvSpPr>
        <p:spPr>
          <a:xfrm>
            <a:off x="457200" y="2058353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034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</a:t>
            </a:r>
            <a:endParaRPr lang="zh-CN" sz="1650" dirty="0"/>
          </a:p>
        </p:txBody>
      </p:sp>
      <p:sp>
        <p:nvSpPr>
          <p:cNvPr id="14" name="s10-sources/ref:fatigue:title"/>
          <p:cNvSpPr/>
          <p:nvPr/>
        </p:nvSpPr>
        <p:spPr>
          <a:xfrm>
            <a:off x="1123950" y="2039302"/>
            <a:ext cx="106108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fatigue.csv：48件金属构件疲劳观察记录（教学模拟数据）</a:t>
            </a:r>
            <a:endParaRPr lang="zh-CN" sz="1800" dirty="0"/>
          </a:p>
        </p:txBody>
      </p:sp>
      <p:sp>
        <p:nvSpPr>
          <p:cNvPr id="15" name="s10-sources/ref:fatigue:meta"/>
          <p:cNvSpPr/>
          <p:nvPr/>
        </p:nvSpPr>
        <p:spPr>
          <a:xfrm>
            <a:off x="1123950" y="2380298"/>
            <a:ext cx="10610850" cy="212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367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未署名 · 用户提供的合成数据文件（非论文） · 2026 · inputs/fatigue.csv · 随资料版本1提供；2026-10-20</a:t>
            </a:r>
            <a:endParaRPr lang="zh-CN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金属构件改性工艺的疲劳寿命比较</dc:title>
  <dc:subject>在三批条件不完全重叠、非随机取样且存在50万循环行政删失的48件教学模拟记录中，现有证据对工艺寿命差异支持到哪里，下一批同应力试件如何改进归因？</dc:subject>
  <dc:creator>DSH Academic PPT</dc:creator>
  <cp:lastModifiedBy>DSH Academic PPT</cp:lastModifiedBy>
  <cp:revision>1</cp:revision>
  <dcterms:created xsi:type="dcterms:W3CDTF">2026-10-20T12:11:56Z</dcterms:created>
  <dcterms:modified xsi:type="dcterms:W3CDTF">2026-10-20T12:11:56Z</dcterms:modified>
</cp:coreProperties>
</file>