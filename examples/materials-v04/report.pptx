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常规</c:v>
                </c:pt>
              </c:strCache>
            </c:strRef>
          </c:tx>
          <c:spPr>
            <a:solidFill>
              <a:srgbClr val="173F75"/>
            </a:solidFill>
            <a:ln w="25400" cap="flat">
              <a:solidFill>
                <a:srgbClr val="173F75"/>
              </a:solidFill>
              <a:prstDash val="solid"/>
              <a:round/>
            </a:ln>
            <a:effectLst/>
          </c:spPr>
          <c:invertIfNegative val="0"/>
          <c:dLbls>
            <c:numFmt formatCode="0.############" sourceLinked="0"/>
            <c:txPr>
              <a:bodyPr/>
              <a:lstStyle/>
              <a:p>
                <a:pPr>
                  <a:defRPr b="0" i="0" strike="noStrike" sz="1650" u="none">
                    <a:solidFill>
                      <a:srgbClr val="202632"/>
                    </a:solidFill>
                    <a:latin typeface="Noto Sans CJK SC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4"/>
            <c:spPr>
              <a:solidFill>
                <a:srgbClr val="173F75"/>
              </a:solidFill>
              <a:ln w="9525" cap="flat">
                <a:solidFill>
                  <a:srgbClr val="173F7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23.3869</c:v>
                </c:pt>
                <c:pt idx="1">
                  <c:v>26.4025</c:v>
                </c:pt>
                <c:pt idx="2">
                  <c:v>28.8464</c:v>
                </c:pt>
                <c:pt idx="3">
                  <c:v>29.72</c:v>
                </c:pt>
                <c:pt idx="4">
                  <c:v>30.1508</c:v>
                </c:pt>
                <c:pt idx="5">
                  <c:v>30.8647</c:v>
                </c:pt>
                <c:pt idx="6">
                  <c:v>31.1243</c:v>
                </c:pt>
                <c:pt idx="7">
                  <c:v>31.1649</c:v>
                </c:pt>
                <c:pt idx="8">
                  <c:v>31.9524</c:v>
                </c:pt>
                <c:pt idx="9">
                  <c:v>32.7379</c:v>
                </c:pt>
                <c:pt idx="10">
                  <c:v>33.0731</c:v>
                </c:pt>
                <c:pt idx="11">
                  <c:v>34.9955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改性</c:v>
                </c:pt>
              </c:strCache>
            </c:strRef>
          </c:tx>
          <c:spPr>
            <a:solidFill>
              <a:srgbClr val="9B303A"/>
            </a:solidFill>
            <a:ln w="25400" cap="flat">
              <a:solidFill>
                <a:srgbClr val="9B303A"/>
              </a:solidFill>
              <a:prstDash val="solid"/>
              <a:round/>
            </a:ln>
            <a:effectLst/>
          </c:spPr>
          <c:invertIfNegative val="0"/>
          <c:dLbls>
            <c:numFmt formatCode="0.############" sourceLinked="0"/>
            <c:txPr>
              <a:bodyPr/>
              <a:lstStyle/>
              <a:p>
                <a:pPr>
                  <a:defRPr b="0" i="0" strike="noStrike" sz="1650" u="none">
                    <a:solidFill>
                      <a:srgbClr val="202632"/>
                    </a:solidFill>
                    <a:latin typeface="Noto Sans CJK SC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4"/>
            <c:spPr>
              <a:solidFill>
                <a:srgbClr val="9B303A"/>
              </a:solidFill>
              <a:ln w="9525" cap="flat">
                <a:solidFill>
                  <a:srgbClr val="9B303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24.3382</c:v>
                </c:pt>
                <c:pt idx="1">
                  <c:v>27.3827</c:v>
                </c:pt>
                <c:pt idx="2">
                  <c:v>27.512</c:v>
                </c:pt>
                <c:pt idx="3">
                  <c:v>30.5223</c:v>
                </c:pt>
                <c:pt idx="4">
                  <c:v>31.2279</c:v>
                </c:pt>
                <c:pt idx="5">
                  <c:v>31.5384</c:v>
                </c:pt>
                <c:pt idx="6">
                  <c:v>31.914</c:v>
                </c:pt>
                <c:pt idx="7">
                  <c:v>33.7178</c:v>
                </c:pt>
                <c:pt idx="8">
                  <c:v>36.5648</c:v>
                </c:pt>
                <c:pt idx="9">
                  <c:v>37.4917</c:v>
                </c:pt>
                <c:pt idx="10">
                  <c:v>37.8531</c:v>
                </c:pt>
                <c:pt idx="11">
                  <c:v>45.1032</c:v>
                </c:pt>
              </c:numCache>
            </c:numRef>
          </c:val>
          <c:smooth val="0"/>
        </c:ser>
        <c:dLbls>
          <c:numFmt formatCode="0.############" sourceLinked="0"/>
          <c:txPr>
            <a:bodyPr/>
            <a:lstStyle/>
            <a:p>
              <a:pPr>
                <a:defRPr b="0" i="0" strike="noStrike" sz="1650" u="none">
                  <a:solidFill>
                    <a:srgbClr val="202632"/>
                  </a:solidFill>
                  <a:latin typeface="Noto Sans CJK S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CD2DA"/>
            </a:solidFill>
            <a:prstDash val="solid"/>
            <a:round/>
          </a:ln>
        </c:spPr>
        <c:txPr>
          <a:bodyPr/>
          <a:lstStyle/>
          <a:p>
            <a:pPr>
              <a:defRPr sz="1575" b="0" i="0" u="none" strike="noStrike">
                <a:solidFill>
                  <a:srgbClr val="202632"/>
                </a:solidFill>
                <a:latin typeface="Noto Sans CJK S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  <c:min val="0"/>
        </c:scaling>
        <c:delete val="0"/>
        <c:axPos val="l"/>
        <c:majorGridlines>
          <c:spPr>
            <a:ln w="12700" cap="flat">
              <a:solidFill>
                <a:srgbClr val="CCD2DA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425" b="0" i="0" u="none" strike="noStrike">
                    <a:solidFill>
                      <a:srgbClr val="536070"/>
                    </a:solidFill>
                    <a:latin typeface="Noto Sans CJK SC"/>
                  </a:defRPr>
                </a:pPr>
                <a:r>
                  <a:rPr sz="1425" b="0" i="0" u="none" strike="noStrike">
                    <a:solidFill>
                      <a:srgbClr val="536070"/>
                    </a:solidFill>
                    <a:latin typeface="Noto Sans CJK SC"/>
                  </a:rPr>
                  <a:t>失效寿命（万循环）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CCD2DA"/>
            </a:solidFill>
            <a:prstDash val="solid"/>
            <a:round/>
          </a:ln>
        </c:spPr>
        <c:txPr>
          <a:bodyPr/>
          <a:lstStyle/>
          <a:p>
            <a:pPr>
              <a:defRPr sz="1500" b="0" i="0" u="none" strike="noStrike">
                <a:solidFill>
                  <a:srgbClr val="536070"/>
                </a:solidFill>
                <a:latin typeface="Noto Sans CJK SC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425">
              <a:latin typeface="Noto Sans CJK SC"/>
              <a:cs typeface="Noto Sans CJK SC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 w="12700" cap="flat">
      <a:solidFill>
        <a:srgbClr val="FFFFFF"/>
      </a:solidFill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次汇报围绕一个具体问题：改性工艺相对常规工艺是否表现出寿命差异，现有记录能支持到什么程度。全部材料是教学模拟资料，不对应真实实验或项目。我们已完成48件记录的核对与重分析，重点介绍B批次同应力对照，然后说明目前归因边界与下一批验证方案。汇报中的改性效果尚未得到证实。
参考文献（完整题名）
P-protocol · 金属构件疲劳试验记录（教学模拟材料） · 用户提供的教学模拟资料包 · 2026 · 版本1，2026-10-20
P-data · 疲劳试件观察记录（fatigue.csv，教学模拟数据） · 用户提供的48件试件合成记录 · 2026 · 与protocol.md版本1配套，48件试件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我们先看研究设计，而不是先看哪个工艺的平均值更高。每行是一件独立试件，共48件，四个批次与工艺组合各12件。A只有常规、C只有改性，B同时包含两种工艺。A和B的应力幅都是200 MPa，C是180 MPa。因此能在已知批次和应力上对齐的主要比较只有B批次内的两组。B各12件且均失效。协议说明各批次内按可用加工顺序取样，没有随机跨批次分配，也没有给出B内随机化证据。设备和环境没有另作差异记录，只能说未记录差异，不能当成已经充分控制。这决定了后面只能先做条件内描述性比较。来源：protocol.md“试件与条件”；fatigue.csv第2至49行。
参考文献（完整题名）
P-protocol · 金属构件疲劳试验记录（教学模拟材料） · 用户提供的教学模拟资料包 · 2026 · 版本1，2026-10-20
P-data · 疲劳试件观察记录（fatigue.csv，教学模拟数据） · 用户提供的48件试件合成记录 · 2026 · 与protocol.md版本1配套，48件试件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iled和runout必须分开理解。前者给出失效发生的循环数，后者给出在50万循环停止时仍未失效的记录，它的后续寿命未知。C批次有两件runout，不能把它们当作恰好50万循环失效，也不能删除。B批次所有试件都发生了失效，所以B内均值与中位数可以直接由失效寿命计算。主要效应量为改性减常规的样本均值差，同时用中位数帮助判断分布尾部影响。区间用组内按试件独立重抽样的百分位bootstrap，重复10万次并固定随机种子。这个区间只表达采样模型下的不确定性，并不能修正非随机取样偏差。我们也用Welch近似做敏感性核对，结论同样跨零。来源：protocol.md“终点与数据字典”；fatigue.csv B和C记录。
参考文献（完整题名）
P-protocol · 金属构件疲劳试验记录（教学模拟材料） · 用户提供的教学模拟资料包 · 2026 · 版本1，2026-10-20
P-data · 疲劳试件观察记录（fatigue.csv，教学模拟数据） · 用户提供的48件试件合成记录 · 2026 · 与protocol.md版本1配套，48件试件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张图展示B批次全部24件试件的失效寿命。两条线分别把各组12个值从小到大排序，横坐标是组内排序位置，不是加工时间，也不是试件配对。纵轴单位为万循环。可以看出两组分布大量重叠，改性组上尾较长。常规均值30.37万，改性32.93万，均值差2.56万，折合8.44%。但中位数常规30.9945万、改性31.7262万，差0.7317万，仅2.36%。因此不能用一个均值比概括所有试件。均值差的百分位bootstrap 95%区间是负0.8274万至正6.1629万，包含零和负差。Welch近似95%区间为负1.3680万至正6.4924万，也跨零。我们可以说本样本的改性均值较高，但不能宣称差异方向已经可靠，更不能据此宣称等效或没有作用。区间仍然依赖组内独立同分布近似，而且不解决非随机分配问题。来源：fatigue.csv第14至37行；analyze.py，独立组内bootstrap 100000次，seed=20261020。
参考文献（完整题名）
P-protocol · 金属构件疲劳试验记录（教学模拟材料） · 用户提供的教学模拟资料包 · 2026 · 版本1，2026-10-20
P-data · 疲劳试件观察记录（fatigue.csv，教学模拟数据） · 用户提供的48件试件合成记录 · 2026 · 与protocol.md版本1配套，48件试件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如果只按工艺把48件合并，观察时长均值会得到常规27.00万、改性38.21万，相对差41.5%。这个数字明显大于B内的8.4%，但两个数字并不估计同一个对象。常规混合A和B，改性混合B和C，而C又采用较低的180 MPa应力。仅常规工艺在A和B的均值就分别为23.63万和30.37万，说明批次相关差异不能被忽略。我们不能把这个差异进一步拆成具体批次因果效应，因为取样顺序和其他条件仍未控制。另一个问题是C的两件runout，它们在50万循环仍未失效，合并的观察均值包含停止时间，不是完整失效寿命均值。C的未失效比例2/12可以描述，但缺少180 MPa的同批次常规对照，所以不能分别识别工艺或应力作用。来源：fatigue.csv全部记录；protocol.md试件与条件、终点定义。
参考文献（完整题名）
P-protocol · 金属构件疲劳试验记录（教学模拟材料） · 用户提供的教学模拟资料包 · 2026 · 版本1，2026-10-20
P-data · 疲劳试件观察记录（fatigue.csv，教学模拟数据） · 用户提供的48件试件合成记录 · 2026 · 与protocol.md版本1配套，48件试件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目前可以报告的进展有明确层级：48件记录已完成并核对，B内的正均值差是当前观察；均值差区间跨零说明精度不足，缺少随机分配证据意味着即使点估计更大，也仍然需要解决归因。不能把“未证明有效”说成“证明无效”或“等效”。本次资料也没有任何断口、组织、残余应力测量，更没有改性工艺过程参数，因此关于裂纹萌生、扩展路径或残余压应力的解释只能作为今后的假说，不能写成结果。下一步应优先检验控制条件下的工艺差异能否稳定出现；机制表征应与具体工艺过程和可检验假说对应。最终外推还需要跨批次重复。来源：C-B、C-uncertainty的重分析和protocol.md测量缺口。
参考文献（完整题名）
P-protocol · 金属构件疲劳试验记录（教学模拟材料） · 用户提供的教学模拟资料包 · 2026 · 版本1，2026-10-20
P-data · 疲劳试件观察记录（fatigue.csv，教学模拟数据） · 用户提供的48件试件合成记录 · 2026 · 与protocol.md版本1配套，48件试件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下一阶段可申请一批新试件，但目前尚未开展。建议选定200 MPa，与主要比较一致，在同一材料批次中随机分配常规和改性工艺，同时对测试顺序做分块或随机化，防止工艺与顺序系统性重合。两组用相同设备记录、环境记录、失效判据和50万循环停止规则。主要指标预先设为至50万循环的限制平均寿命差，即两组E[min(T,500000)]之差，这样到停止点仍未失效的试件仍进入评价。若所有删失都只发生在统一停止点，该量等于截断观察寿命的均值；若有提前退出则需要相应生存分析和删失假设。实验前由课题组确定具有工程意义的最小增益δ，再结合变异和预期删失做样本量规划，样本量目前尚未确定。判据也事先确定：若差值区间下限超过δ才支持所设优势；上限不超过δ则排除该量级增益；否则仍不确定。新批次验证的适用范围依然是200 MPa与该批次，跨批次稳定性和机制测量需后续研究。
参考文献（完整题名）
P-protocol · 金属构件疲劳试验记录（教学模拟材料） · 用户提供的教学模拟资料包 · 2026 · 版本1，2026-10-20
P-data · 疲劳试件观察记录（fatigue.csv，教学模拟数据） · 用户提供的48件试件合成记录 · 2026 · 与protocol.md版本1配套，48件试件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汇报的研究事实仅来自所列两份材料：协议版本1和对应48件试件CSV。它们全部是教学模拟资料，未引用外部论文或补充未提供的实验。均值、中位数、区间和图中的排序值均来自这些记录的重计算。最终想请课题组讨论的是：在下一批试件申请前，确定200 MPa条件下有工程意义的最小寿命增益δ、可行样本量和随机分配方案。只有预先确定这些问题，后续结果才便于判断。
参考文献（完整题名）
P-protocol · 金属构件疲劳试验记录（教学模拟材料） · 用户提供的教学模拟资料包 · 2026 · 版本1，2026-10-20
P-data · 疲劳试件观察记录（fatigue.csv，教学模拟数据） · 用户提供的48件试件合成记录 · 2026 · 与protocol.md版本1配套，48件试件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1/cover-rule"/>
          <p:cNvSpPr/>
          <p:nvPr/>
        </p:nvSpPr>
        <p:spPr>
          <a:xfrm>
            <a:off x="5638800" y="1524000"/>
            <a:ext cx="914400" cy="0"/>
          </a:xfrm>
          <a:prstGeom prst="line">
            <a:avLst/>
          </a:prstGeom>
          <a:noFill/>
          <a:ln w="38100">
            <a:solidFill>
              <a:srgbClr val="173F75"/>
            </a:solidFill>
            <a:prstDash val="solid"/>
          </a:ln>
        </p:spPr>
      </p:sp>
      <p:sp>
        <p:nvSpPr>
          <p:cNvPr id="3" name="S01/cover-occasion"/>
          <p:cNvSpPr/>
          <p:nvPr/>
        </p:nvSpPr>
        <p:spPr>
          <a:xfrm>
            <a:off x="914400" y="685800"/>
            <a:ext cx="103632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5360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材料工程课题组研究进展汇报</a:t>
            </a:r>
            <a:endParaRPr lang="zh-CN" sz="1800" dirty="0"/>
          </a:p>
        </p:txBody>
      </p:sp>
      <p:sp>
        <p:nvSpPr>
          <p:cNvPr id="4" name="S01/cover-date"/>
          <p:cNvSpPr/>
          <p:nvPr/>
        </p:nvSpPr>
        <p:spPr>
          <a:xfrm>
            <a:off x="914400" y="5855208"/>
            <a:ext cx="10363200" cy="2598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46"/>
              </a:lnSpc>
              <a:buNone/>
            </a:pPr>
            <a:r>
              <a:rPr lang="zh-CN" altLang="en-US" sz="1650" dirty="0">
                <a:solidFill>
                  <a:srgbClr val="5360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2026年10月20日</a:t>
            </a:r>
            <a:endParaRPr lang="zh-CN" sz="1650" dirty="0"/>
          </a:p>
        </p:txBody>
      </p:sp>
      <p:sp>
        <p:nvSpPr>
          <p:cNvPr id="5" name="S01/title"/>
          <p:cNvSpPr/>
          <p:nvPr/>
        </p:nvSpPr>
        <p:spPr>
          <a:xfrm>
            <a:off x="914400" y="1885950"/>
            <a:ext cx="10363200" cy="1314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175"/>
              </a:lnSpc>
              <a:buNone/>
            </a:pPr>
            <a:r>
              <a:rPr lang="zh-CN" altLang="en-US" sz="4500" b="1" dirty="0">
                <a:solidFill>
                  <a:srgbClr val="173F7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金属构件疲劳寿命</a:t>
            </a:r>
            <a:endParaRPr lang="zh-CN" sz="4500" dirty="0"/>
          </a:p>
          <a:p>
            <a:pPr algn="ctr" indent="0" marL="0">
              <a:lnSpc>
                <a:spcPts val="5175"/>
              </a:lnSpc>
              <a:buNone/>
            </a:pPr>
            <a:r>
              <a:rPr lang="zh-CN" altLang="en-US" sz="4500" b="1" dirty="0">
                <a:solidFill>
                  <a:srgbClr val="173F7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研究进展汇报</a:t>
            </a:r>
            <a:endParaRPr lang="zh-CN" sz="4500" dirty="0"/>
          </a:p>
        </p:txBody>
      </p:sp>
      <p:sp>
        <p:nvSpPr>
          <p:cNvPr id="6" name="S01/subtitle"/>
          <p:cNvSpPr/>
          <p:nvPr/>
        </p:nvSpPr>
        <p:spPr>
          <a:xfrm>
            <a:off x="914400" y="3429000"/>
            <a:ext cx="10363200" cy="661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04"/>
              </a:lnSpc>
              <a:buNone/>
            </a:pPr>
            <a:r>
              <a:rPr lang="zh-CN" altLang="en-US" sz="2100" dirty="0">
                <a:solidFill>
                  <a:srgbClr val="5360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常规与改性工艺的条件内比较</a:t>
            </a:r>
            <a:endParaRPr lang="zh-CN" sz="2100" dirty="0"/>
          </a:p>
          <a:p>
            <a:pPr algn="ctr" indent="0" marL="0">
              <a:lnSpc>
                <a:spcPts val="2604"/>
              </a:lnSpc>
              <a:buNone/>
            </a:pPr>
            <a:r>
              <a:rPr lang="zh-CN" altLang="en-US" sz="2100" dirty="0">
                <a:solidFill>
                  <a:srgbClr val="5360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教学模拟数据</a:t>
            </a:r>
            <a:endParaRPr lang="zh-CN" sz="2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2/top-rule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173F7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02/page-number"/>
          <p:cNvSpPr/>
          <p:nvPr/>
        </p:nvSpPr>
        <p:spPr>
          <a:xfrm>
            <a:off x="10744200" y="6534150"/>
            <a:ext cx="9906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344"/>
              </a:lnSpc>
              <a:buNone/>
            </a:pPr>
            <a:r>
              <a:rPr lang="zh-CN" altLang="en-US" sz="1050" dirty="0">
                <a:solidFill>
                  <a:srgbClr val="5360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 / 08</a:t>
            </a:r>
            <a:endParaRPr lang="zh-CN" sz="1050" dirty="0"/>
          </a:p>
        </p:txBody>
      </p:sp>
      <p:sp>
        <p:nvSpPr>
          <p:cNvPr id="4" name="S02/title"/>
          <p:cNvSpPr/>
          <p:nvPr/>
        </p:nvSpPr>
        <p:spPr>
          <a:xfrm>
            <a:off x="457200" y="209550"/>
            <a:ext cx="11277600" cy="438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zh-CN" altLang="en-US" sz="3000" b="1" dirty="0">
                <a:solidFill>
                  <a:srgbClr val="2026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研究问题与可比范围</a:t>
            </a:r>
            <a:endParaRPr lang="zh-CN" sz="3000" dirty="0"/>
          </a:p>
        </p:txBody>
      </p:sp>
      <p:sp>
        <p:nvSpPr>
          <p:cNvPr id="5" name="S02/kicker"/>
          <p:cNvSpPr/>
          <p:nvPr/>
        </p:nvSpPr>
        <p:spPr>
          <a:xfrm>
            <a:off x="457200" y="676275"/>
            <a:ext cx="11277600" cy="25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zh-CN" altLang="en-US" sz="1650" dirty="0">
                <a:solidFill>
                  <a:srgbClr val="5360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教学模拟数据：48件独立试件，4个批次×工艺组合</a:t>
            </a:r>
            <a:endParaRPr lang="zh-CN" sz="1650" dirty="0"/>
          </a:p>
        </p:txBody>
      </p:sp>
      <p:sp>
        <p:nvSpPr>
          <p:cNvPr id="6" name="S02/header-rule"/>
          <p:cNvSpPr/>
          <p:nvPr/>
        </p:nvSpPr>
        <p:spPr>
          <a:xfrm>
            <a:off x="457200" y="1032510"/>
            <a:ext cx="11277600" cy="0"/>
          </a:xfrm>
          <a:prstGeom prst="line">
            <a:avLst/>
          </a:prstGeom>
          <a:noFill/>
          <a:ln w="10478">
            <a:solidFill>
              <a:srgbClr val="CCD2DA"/>
            </a:solidFill>
            <a:prstDash val="solid"/>
          </a:ln>
        </p:spPr>
      </p:sp>
      <p:sp>
        <p:nvSpPr>
          <p:cNvPr id="7" name="S02/header-accent"/>
          <p:cNvSpPr/>
          <p:nvPr/>
        </p:nvSpPr>
        <p:spPr>
          <a:xfrm>
            <a:off x="457200" y="1032510"/>
            <a:ext cx="704850" cy="0"/>
          </a:xfrm>
          <a:prstGeom prst="line">
            <a:avLst/>
          </a:prstGeom>
          <a:noFill/>
          <a:ln w="28575">
            <a:solidFill>
              <a:srgbClr val="173F75"/>
            </a:solidFill>
            <a:prstDash val="solid"/>
          </a:ln>
        </p:spPr>
      </p:sp>
      <p:graphicFrame>
        <p:nvGraphicFramePr>
          <p:cNvPr id="3" name="S02/data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5875"/>
          <a:ext cx="7581900" cy="2270379"/>
        </p:xfrm>
        <a:graphic>
          <a:graphicData uri="http://schemas.openxmlformats.org/drawingml/2006/table">
            <a:tbl>
              <a:tblPr/>
              <a:tblGrid>
                <a:gridCol w="1516380"/>
                <a:gridCol w="1516380"/>
                <a:gridCol w="1516380"/>
                <a:gridCol w="1516380"/>
                <a:gridCol w="1516380"/>
              </a:tblGrid>
              <a:tr h="667893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b="1" dirty="0">
                          <a:solidFill>
                            <a:srgbClr val="173F75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批次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4288" cap="flat" cmpd="sng" algn="ctr">
                      <a:solidFill>
                        <a:srgbClr val="173F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383" cap="flat" cmpd="sng" algn="ctr">
                      <a:solidFill>
                        <a:srgbClr val="173F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b="1" dirty="0">
                          <a:solidFill>
                            <a:srgbClr val="173F75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工艺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4288" cap="flat" cmpd="sng" algn="ctr">
                      <a:solidFill>
                        <a:srgbClr val="173F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383" cap="flat" cmpd="sng" algn="ctr">
                      <a:solidFill>
                        <a:srgbClr val="173F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b="1" dirty="0">
                          <a:solidFill>
                            <a:srgbClr val="173F75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应力幅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4288" cap="flat" cmpd="sng" algn="ctr">
                      <a:solidFill>
                        <a:srgbClr val="173F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383" cap="flat" cmpd="sng" algn="ctr">
                      <a:solidFill>
                        <a:srgbClr val="173F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b="1" dirty="0">
                          <a:solidFill>
                            <a:srgbClr val="173F75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试件数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4288" cap="flat" cmpd="sng" algn="ctr">
                      <a:solidFill>
                        <a:srgbClr val="173F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383" cap="flat" cmpd="sng" algn="ctr">
                      <a:solidFill>
                        <a:srgbClr val="173F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b="1" dirty="0">
                          <a:solidFill>
                            <a:srgbClr val="173F75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失效 / 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b="1" dirty="0">
                          <a:solidFill>
                            <a:srgbClr val="173F75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runout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4288" cap="flat" cmpd="sng" algn="ctr">
                      <a:solidFill>
                        <a:srgbClr val="173F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383" cap="flat" cmpd="sng" algn="ctr">
                      <a:solidFill>
                        <a:srgbClr val="173F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</a:tr>
              <a:tr h="40062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202632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A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CC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202632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常规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CC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202632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200 MPa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CC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202632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12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CC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202632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12 / 0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CC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062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202632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B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CC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202632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常规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CC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202632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200 MPa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CC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202632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12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CC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202632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12 / 0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CC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062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202632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B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CC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202632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改性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CC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202632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200 MPa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CC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202632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12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CC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202632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12 / 0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CC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062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202632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C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383" cap="flat" cmpd="sng" algn="ctr">
                      <a:solidFill>
                        <a:srgbClr val="173F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202632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改性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383" cap="flat" cmpd="sng" algn="ctr">
                      <a:solidFill>
                        <a:srgbClr val="173F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202632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180 MPa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383" cap="flat" cmpd="sng" algn="ctr">
                      <a:solidFill>
                        <a:srgbClr val="173F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202632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12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383" cap="flat" cmpd="sng" algn="ctr">
                      <a:solidFill>
                        <a:srgbClr val="173F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202632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10 / 2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383" cap="flat" cmpd="sng" algn="ctr">
                      <a:solidFill>
                        <a:srgbClr val="173F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02/table-caption"/>
          <p:cNvSpPr/>
          <p:nvPr/>
        </p:nvSpPr>
        <p:spPr>
          <a:xfrm>
            <a:off x="457200" y="3622929"/>
            <a:ext cx="75819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47"/>
              </a:lnSpc>
              <a:buNone/>
            </a:pPr>
            <a:r>
              <a:rPr lang="zh-CN" altLang="en-US" sz="1350" dirty="0">
                <a:solidFill>
                  <a:srgbClr val="5360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来源：protocol.md试件与条件；fatigue.csv全部48件</a:t>
            </a:r>
            <a:endParaRPr lang="zh-CN" sz="1350" dirty="0"/>
          </a:p>
        </p:txBody>
      </p:sp>
      <p:sp>
        <p:nvSpPr>
          <p:cNvPr id="10" name="S02/card/scope/title"/>
          <p:cNvSpPr/>
          <p:nvPr/>
        </p:nvSpPr>
        <p:spPr>
          <a:xfrm>
            <a:off x="8362950" y="1225772"/>
            <a:ext cx="3371850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235E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工艺是否延长寿命？</a:t>
            </a:r>
            <a:endParaRPr lang="zh-CN" sz="1950" dirty="0"/>
          </a:p>
        </p:txBody>
      </p:sp>
      <p:sp>
        <p:nvSpPr>
          <p:cNvPr id="11" name="S02/card/scope/body"/>
          <p:cNvSpPr/>
          <p:nvPr/>
        </p:nvSpPr>
        <p:spPr>
          <a:xfrm>
            <a:off x="8362950" y="1673447"/>
            <a:ext cx="3371850" cy="16910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2026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B批次内，200 MPa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2026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常规12件与改性12件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2026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已知批次和应力一致</a:t>
            </a:r>
            <a:endParaRPr lang="zh-CN" sz="1800" dirty="0"/>
          </a:p>
        </p:txBody>
      </p:sp>
      <p:sp>
        <p:nvSpPr>
          <p:cNvPr id="12" name="S02/card/sampling/heading-rule"/>
          <p:cNvSpPr/>
          <p:nvPr/>
        </p:nvSpPr>
        <p:spPr>
          <a:xfrm>
            <a:off x="457200" y="4403979"/>
            <a:ext cx="11277600" cy="0"/>
          </a:xfrm>
          <a:prstGeom prst="line">
            <a:avLst/>
          </a:prstGeom>
          <a:noFill/>
          <a:ln w="9525">
            <a:solidFill>
              <a:srgbClr val="CCD2DA"/>
            </a:solidFill>
            <a:prstDash val="solid"/>
          </a:ln>
        </p:spPr>
      </p:sp>
      <p:sp>
        <p:nvSpPr>
          <p:cNvPr id="13" name="S02/card/sampling/heading-mark"/>
          <p:cNvSpPr/>
          <p:nvPr/>
        </p:nvSpPr>
        <p:spPr>
          <a:xfrm>
            <a:off x="457200" y="4403979"/>
            <a:ext cx="342900" cy="0"/>
          </a:xfrm>
          <a:prstGeom prst="line">
            <a:avLst/>
          </a:prstGeom>
          <a:noFill/>
          <a:ln w="17145">
            <a:solidFill>
              <a:srgbClr val="A24736"/>
            </a:solidFill>
            <a:prstDash val="solid"/>
          </a:ln>
        </p:spPr>
      </p:sp>
      <p:sp>
        <p:nvSpPr>
          <p:cNvPr id="14" name="S02/card/sampling/title"/>
          <p:cNvSpPr/>
          <p:nvPr/>
        </p:nvSpPr>
        <p:spPr>
          <a:xfrm>
            <a:off x="457200" y="4061079"/>
            <a:ext cx="11277600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A2473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仍保留取样边界</a:t>
            </a:r>
            <a:endParaRPr lang="zh-CN" sz="1950" dirty="0"/>
          </a:p>
        </p:txBody>
      </p:sp>
      <p:sp>
        <p:nvSpPr>
          <p:cNvPr id="15" name="S02/card/sampling/body"/>
          <p:cNvSpPr/>
          <p:nvPr/>
        </p:nvSpPr>
        <p:spPr>
          <a:xfrm>
            <a:off x="457200" y="4537329"/>
            <a:ext cx="11277600" cy="11481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2026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按可用加工顺序取样，未提供随机分配。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2026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已知条件对齐后，工艺差异仍可能混有顺序与未测条件影响。</a:t>
            </a:r>
            <a:endParaRPr lang="zh-CN" sz="1800" dirty="0"/>
          </a:p>
        </p:txBody>
      </p:sp>
      <p:sp>
        <p:nvSpPr>
          <p:cNvPr id="16" name="S02/sources"/>
          <p:cNvSpPr/>
          <p:nvPr/>
        </p:nvSpPr>
        <p:spPr>
          <a:xfrm>
            <a:off x="457200" y="6286500"/>
            <a:ext cx="11277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zh-CN" altLang="en-US" sz="1125" dirty="0">
                <a:solidFill>
                  <a:srgbClr val="5360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[1] 资料未署名 2026  |  [2] 资料未署名 2026</a:t>
            </a:r>
            <a:endParaRPr lang="zh-CN" sz="11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3/top-rule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173F7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03/page-number"/>
          <p:cNvSpPr/>
          <p:nvPr/>
        </p:nvSpPr>
        <p:spPr>
          <a:xfrm>
            <a:off x="10744200" y="6534150"/>
            <a:ext cx="9906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344"/>
              </a:lnSpc>
              <a:buNone/>
            </a:pPr>
            <a:r>
              <a:rPr lang="zh-CN" altLang="en-US" sz="1050" dirty="0">
                <a:solidFill>
                  <a:srgbClr val="5360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 / 08</a:t>
            </a:r>
            <a:endParaRPr lang="zh-CN" sz="1050" dirty="0"/>
          </a:p>
        </p:txBody>
      </p:sp>
      <p:sp>
        <p:nvSpPr>
          <p:cNvPr id="4" name="S03/title"/>
          <p:cNvSpPr/>
          <p:nvPr/>
        </p:nvSpPr>
        <p:spPr>
          <a:xfrm>
            <a:off x="457200" y="209550"/>
            <a:ext cx="11277600" cy="438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zh-CN" altLang="en-US" sz="3000" b="1" dirty="0">
                <a:solidFill>
                  <a:srgbClr val="2026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终点定义与分析方法</a:t>
            </a:r>
            <a:endParaRPr lang="zh-CN" sz="3000" dirty="0"/>
          </a:p>
        </p:txBody>
      </p:sp>
      <p:sp>
        <p:nvSpPr>
          <p:cNvPr id="5" name="S03/kicker"/>
          <p:cNvSpPr/>
          <p:nvPr/>
        </p:nvSpPr>
        <p:spPr>
          <a:xfrm>
            <a:off x="457200" y="676275"/>
            <a:ext cx="11277600" cy="25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zh-CN" altLang="en-US" sz="1650" dirty="0">
                <a:solidFill>
                  <a:srgbClr val="5360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教学模拟数据：以独立试件为单位，保留失效与右删失区别</a:t>
            </a:r>
            <a:endParaRPr lang="zh-CN" sz="1650" dirty="0"/>
          </a:p>
        </p:txBody>
      </p:sp>
      <p:sp>
        <p:nvSpPr>
          <p:cNvPr id="6" name="S03/header-rule"/>
          <p:cNvSpPr/>
          <p:nvPr/>
        </p:nvSpPr>
        <p:spPr>
          <a:xfrm>
            <a:off x="457200" y="1032510"/>
            <a:ext cx="11277600" cy="0"/>
          </a:xfrm>
          <a:prstGeom prst="line">
            <a:avLst/>
          </a:prstGeom>
          <a:noFill/>
          <a:ln w="10478">
            <a:solidFill>
              <a:srgbClr val="CCD2DA"/>
            </a:solidFill>
            <a:prstDash val="solid"/>
          </a:ln>
        </p:spPr>
      </p:sp>
      <p:sp>
        <p:nvSpPr>
          <p:cNvPr id="7" name="S03/header-accent"/>
          <p:cNvSpPr/>
          <p:nvPr/>
        </p:nvSpPr>
        <p:spPr>
          <a:xfrm>
            <a:off x="457200" y="1032510"/>
            <a:ext cx="704850" cy="0"/>
          </a:xfrm>
          <a:prstGeom prst="line">
            <a:avLst/>
          </a:prstGeom>
          <a:noFill/>
          <a:ln w="28575">
            <a:solidFill>
              <a:srgbClr val="173F75"/>
            </a:solidFill>
            <a:prstDash val="solid"/>
          </a:ln>
        </p:spPr>
      </p:sp>
      <p:graphicFrame>
        <p:nvGraphicFramePr>
          <p:cNvPr id="4" name="S03/data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5875"/>
          <a:ext cx="7581900" cy="1602486"/>
        </p:xfrm>
        <a:graphic>
          <a:graphicData uri="http://schemas.openxmlformats.org/drawingml/2006/table">
            <a:tbl>
              <a:tblPr/>
              <a:tblGrid>
                <a:gridCol w="2527300"/>
                <a:gridCol w="2527300"/>
                <a:gridCol w="2527300"/>
              </a:tblGrid>
              <a:tr h="40062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b="1" dirty="0">
                          <a:solidFill>
                            <a:srgbClr val="173F75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记录终点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4288" cap="flat" cmpd="sng" algn="ctr">
                      <a:solidFill>
                        <a:srgbClr val="173F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383" cap="flat" cmpd="sng" algn="ctr">
                      <a:solidFill>
                        <a:srgbClr val="173F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b="1" dirty="0">
                          <a:solidFill>
                            <a:srgbClr val="173F75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记录含义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4288" cap="flat" cmpd="sng" algn="ctr">
                      <a:solidFill>
                        <a:srgbClr val="173F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383" cap="flat" cmpd="sng" algn="ctr">
                      <a:solidFill>
                        <a:srgbClr val="173F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b="1" dirty="0">
                          <a:solidFill>
                            <a:srgbClr val="173F75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分析处理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4288" cap="flat" cmpd="sng" algn="ctr">
                      <a:solidFill>
                        <a:srgbClr val="173F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383" cap="flat" cmpd="sng" algn="ctr">
                      <a:solidFill>
                        <a:srgbClr val="173F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</a:tr>
              <a:tr h="40062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202632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failed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CC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202632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已观察到失效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CC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202632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使用该失效循环数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CC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062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202632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runout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CC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202632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50万循环仍未失效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CC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202632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保留右删失标记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CC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062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202632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B批次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383" cap="flat" cmpd="sng" algn="ctr">
                      <a:solidFill>
                        <a:srgbClr val="173F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202632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两组各12件，全失效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383" cap="flat" cmpd="sng" algn="ctr">
                      <a:solidFill>
                        <a:srgbClr val="173F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202632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均值差与中位数比较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383" cap="flat" cmpd="sng" algn="ctr">
                      <a:solidFill>
                        <a:srgbClr val="173F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03/table-caption"/>
          <p:cNvSpPr/>
          <p:nvPr/>
        </p:nvSpPr>
        <p:spPr>
          <a:xfrm>
            <a:off x="457200" y="2955036"/>
            <a:ext cx="75819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47"/>
              </a:lnSpc>
              <a:buNone/>
            </a:pPr>
            <a:r>
              <a:rPr lang="zh-CN" altLang="en-US" sz="1350" dirty="0">
                <a:solidFill>
                  <a:srgbClr val="5360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runout后续寿命未知，不作500000循环失效处理</a:t>
            </a:r>
            <a:endParaRPr lang="zh-CN" sz="1350" dirty="0"/>
          </a:p>
        </p:txBody>
      </p:sp>
      <p:sp>
        <p:nvSpPr>
          <p:cNvPr id="10" name="S03/card/ci/title"/>
          <p:cNvSpPr/>
          <p:nvPr/>
        </p:nvSpPr>
        <p:spPr>
          <a:xfrm>
            <a:off x="8362950" y="1225772"/>
            <a:ext cx="3371850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235E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差异的不确定性</a:t>
            </a:r>
            <a:endParaRPr lang="zh-CN" sz="1950" dirty="0"/>
          </a:p>
        </p:txBody>
      </p:sp>
      <p:sp>
        <p:nvSpPr>
          <p:cNvPr id="11" name="S03/card/ci/body"/>
          <p:cNvSpPr/>
          <p:nvPr/>
        </p:nvSpPr>
        <p:spPr>
          <a:xfrm>
            <a:off x="8362950" y="1673447"/>
            <a:ext cx="3371850" cy="16910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2026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B组内按试件重抽样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2026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100000次，百分位95%区间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2026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固定种子20261020</a:t>
            </a:r>
            <a:endParaRPr lang="zh-CN" sz="1800" dirty="0"/>
          </a:p>
        </p:txBody>
      </p:sp>
      <p:sp>
        <p:nvSpPr>
          <p:cNvPr id="12" name="S03/card/analysis-limit/heading-rule"/>
          <p:cNvSpPr/>
          <p:nvPr/>
        </p:nvSpPr>
        <p:spPr>
          <a:xfrm>
            <a:off x="457200" y="3974116"/>
            <a:ext cx="11277600" cy="0"/>
          </a:xfrm>
          <a:prstGeom prst="line">
            <a:avLst/>
          </a:prstGeom>
          <a:noFill/>
          <a:ln w="9525">
            <a:solidFill>
              <a:srgbClr val="CCD2DA"/>
            </a:solidFill>
            <a:prstDash val="solid"/>
          </a:ln>
        </p:spPr>
      </p:sp>
      <p:sp>
        <p:nvSpPr>
          <p:cNvPr id="13" name="S03/card/analysis-limit/heading-mark"/>
          <p:cNvSpPr/>
          <p:nvPr/>
        </p:nvSpPr>
        <p:spPr>
          <a:xfrm>
            <a:off x="457200" y="3974116"/>
            <a:ext cx="342900" cy="0"/>
          </a:xfrm>
          <a:prstGeom prst="line">
            <a:avLst/>
          </a:prstGeom>
          <a:noFill/>
          <a:ln w="17145">
            <a:solidFill>
              <a:srgbClr val="A24736"/>
            </a:solidFill>
            <a:prstDash val="solid"/>
          </a:ln>
        </p:spPr>
      </p:sp>
      <p:sp>
        <p:nvSpPr>
          <p:cNvPr id="14" name="S03/card/analysis-limit/title"/>
          <p:cNvSpPr/>
          <p:nvPr/>
        </p:nvSpPr>
        <p:spPr>
          <a:xfrm>
            <a:off x="457200" y="3631216"/>
            <a:ext cx="11277600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A2473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区间的解释范围</a:t>
            </a:r>
            <a:endParaRPr lang="zh-CN" sz="1950" dirty="0"/>
          </a:p>
        </p:txBody>
      </p:sp>
      <p:sp>
        <p:nvSpPr>
          <p:cNvPr id="15" name="S03/card/analysis-limit/body"/>
          <p:cNvSpPr/>
          <p:nvPr/>
        </p:nvSpPr>
        <p:spPr>
          <a:xfrm>
            <a:off x="457200" y="4107466"/>
            <a:ext cx="11277600" cy="11481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2026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主要比较：B批次、200 MPa的两工艺均值差。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2026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区间反映组内波动，不能消除顺序取样或未测条件偏差。</a:t>
            </a:r>
            <a:endParaRPr lang="zh-CN" sz="1800" dirty="0"/>
          </a:p>
        </p:txBody>
      </p:sp>
      <p:sp>
        <p:nvSpPr>
          <p:cNvPr id="16" name="S03/sources"/>
          <p:cNvSpPr/>
          <p:nvPr/>
        </p:nvSpPr>
        <p:spPr>
          <a:xfrm>
            <a:off x="457200" y="6286500"/>
            <a:ext cx="11277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zh-CN" altLang="en-US" sz="1125" dirty="0">
                <a:solidFill>
                  <a:srgbClr val="5360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[1] 资料未署名 2026  |  [2] 资料未署名 2026</a:t>
            </a:r>
            <a:endParaRPr lang="zh-CN" sz="11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4/top-rule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173F7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04/page-number"/>
          <p:cNvSpPr/>
          <p:nvPr/>
        </p:nvSpPr>
        <p:spPr>
          <a:xfrm>
            <a:off x="10744200" y="6534150"/>
            <a:ext cx="9906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344"/>
              </a:lnSpc>
              <a:buNone/>
            </a:pPr>
            <a:r>
              <a:rPr lang="zh-CN" altLang="en-US" sz="1050" dirty="0">
                <a:solidFill>
                  <a:srgbClr val="5360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 / 08</a:t>
            </a:r>
            <a:endParaRPr lang="zh-CN" sz="1050" dirty="0"/>
          </a:p>
        </p:txBody>
      </p:sp>
      <p:sp>
        <p:nvSpPr>
          <p:cNvPr id="4" name="S04/title"/>
          <p:cNvSpPr/>
          <p:nvPr/>
        </p:nvSpPr>
        <p:spPr>
          <a:xfrm>
            <a:off x="457200" y="209550"/>
            <a:ext cx="11277600" cy="438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zh-CN" altLang="en-US" sz="3000" b="1" dirty="0">
                <a:solidFill>
                  <a:srgbClr val="2026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B批次：均值较高，差异仍不确定</a:t>
            </a:r>
            <a:endParaRPr lang="zh-CN" sz="3000" dirty="0"/>
          </a:p>
        </p:txBody>
      </p:sp>
      <p:sp>
        <p:nvSpPr>
          <p:cNvPr id="5" name="S04/kicker"/>
          <p:cNvSpPr/>
          <p:nvPr/>
        </p:nvSpPr>
        <p:spPr>
          <a:xfrm>
            <a:off x="457200" y="676275"/>
            <a:ext cx="11277600" cy="25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zh-CN" altLang="en-US" sz="1650" dirty="0">
                <a:solidFill>
                  <a:srgbClr val="5360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教学模拟数据：200 MPa，两组各12件，均已失效</a:t>
            </a:r>
            <a:endParaRPr lang="zh-CN" sz="1650" dirty="0"/>
          </a:p>
        </p:txBody>
      </p:sp>
      <p:sp>
        <p:nvSpPr>
          <p:cNvPr id="6" name="S04/header-rule"/>
          <p:cNvSpPr/>
          <p:nvPr/>
        </p:nvSpPr>
        <p:spPr>
          <a:xfrm>
            <a:off x="457200" y="1032510"/>
            <a:ext cx="11277600" cy="0"/>
          </a:xfrm>
          <a:prstGeom prst="line">
            <a:avLst/>
          </a:prstGeom>
          <a:noFill/>
          <a:ln w="10478">
            <a:solidFill>
              <a:srgbClr val="CCD2DA"/>
            </a:solidFill>
            <a:prstDash val="solid"/>
          </a:ln>
        </p:spPr>
      </p:sp>
      <p:sp>
        <p:nvSpPr>
          <p:cNvPr id="7" name="S04/header-accent"/>
          <p:cNvSpPr/>
          <p:nvPr/>
        </p:nvSpPr>
        <p:spPr>
          <a:xfrm>
            <a:off x="457200" y="1032510"/>
            <a:ext cx="704850" cy="0"/>
          </a:xfrm>
          <a:prstGeom prst="line">
            <a:avLst/>
          </a:prstGeom>
          <a:noFill/>
          <a:ln w="28575">
            <a:solidFill>
              <a:srgbClr val="173F75"/>
            </a:solidFill>
            <a:prstDash val="solid"/>
          </a:ln>
        </p:spPr>
      </p:sp>
      <p:sp>
        <p:nvSpPr>
          <p:cNvPr id="8" name="S04/takeaway"/>
          <p:cNvSpPr/>
          <p:nvPr/>
        </p:nvSpPr>
        <p:spPr>
          <a:xfrm>
            <a:off x="457200" y="5855684"/>
            <a:ext cx="7696200" cy="276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173F7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横轴为各组独立升序位置（1–12），不表示配对或时间趋势</a:t>
            </a:r>
            <a:endParaRPr lang="zh-CN" sz="1800" dirty="0"/>
          </a:p>
        </p:txBody>
      </p:sp>
      <p:graphicFrame>
        <p:nvGraphicFramePr>
          <p:cNvPr id="9" name="S04/data-chart" descr=""/>
          <p:cNvGraphicFramePr/>
          <p:nvPr/>
        </p:nvGraphicFramePr>
        <p:xfrm>
          <a:off x="457200" y="1226534"/>
          <a:ext cx="7696200" cy="4470845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04/card/means/title"/>
          <p:cNvSpPr/>
          <p:nvPr/>
        </p:nvSpPr>
        <p:spPr>
          <a:xfrm>
            <a:off x="8458200" y="1225772"/>
            <a:ext cx="3276600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146C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均值差 +2.56万循环</a:t>
            </a:r>
            <a:endParaRPr lang="zh-CN" sz="1950" dirty="0"/>
          </a:p>
        </p:txBody>
      </p:sp>
      <p:sp>
        <p:nvSpPr>
          <p:cNvPr id="11" name="S04/card/means/body"/>
          <p:cNvSpPr/>
          <p:nvPr/>
        </p:nvSpPr>
        <p:spPr>
          <a:xfrm>
            <a:off x="8458200" y="1673447"/>
            <a:ext cx="3276600" cy="9393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2026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常规30.37万，改性32.93万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2026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相对常规 +8.4%</a:t>
            </a:r>
            <a:endParaRPr lang="zh-CN" sz="1800" dirty="0"/>
          </a:p>
        </p:txBody>
      </p:sp>
      <p:sp>
        <p:nvSpPr>
          <p:cNvPr id="12" name="S04/card/medians/title"/>
          <p:cNvSpPr/>
          <p:nvPr/>
        </p:nvSpPr>
        <p:spPr>
          <a:xfrm>
            <a:off x="8458200" y="2907316"/>
            <a:ext cx="3276600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146C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中位数差 +0.73万</a:t>
            </a:r>
            <a:endParaRPr lang="zh-CN" sz="1950" dirty="0"/>
          </a:p>
        </p:txBody>
      </p:sp>
      <p:sp>
        <p:nvSpPr>
          <p:cNvPr id="13" name="S04/card/medians/body"/>
          <p:cNvSpPr/>
          <p:nvPr/>
        </p:nvSpPr>
        <p:spPr>
          <a:xfrm>
            <a:off x="8458200" y="3354991"/>
            <a:ext cx="3276600" cy="919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2026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常规30.99万，改性31.73万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2026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相对常规 +2.4%</a:t>
            </a:r>
            <a:endParaRPr lang="zh-CN" sz="1800" dirty="0"/>
          </a:p>
        </p:txBody>
      </p:sp>
      <p:sp>
        <p:nvSpPr>
          <p:cNvPr id="14" name="S04/card/interval/heading-rule"/>
          <p:cNvSpPr/>
          <p:nvPr/>
        </p:nvSpPr>
        <p:spPr>
          <a:xfrm>
            <a:off x="8458200" y="4911947"/>
            <a:ext cx="3276600" cy="0"/>
          </a:xfrm>
          <a:prstGeom prst="line">
            <a:avLst/>
          </a:prstGeom>
          <a:noFill/>
          <a:ln w="9525">
            <a:solidFill>
              <a:srgbClr val="CCD2DA"/>
            </a:solidFill>
            <a:prstDash val="solid"/>
          </a:ln>
        </p:spPr>
      </p:sp>
      <p:sp>
        <p:nvSpPr>
          <p:cNvPr id="15" name="S04/card/interval/heading-mark"/>
          <p:cNvSpPr/>
          <p:nvPr/>
        </p:nvSpPr>
        <p:spPr>
          <a:xfrm>
            <a:off x="8458200" y="4911947"/>
            <a:ext cx="342900" cy="0"/>
          </a:xfrm>
          <a:prstGeom prst="line">
            <a:avLst/>
          </a:prstGeom>
          <a:noFill/>
          <a:ln w="17145">
            <a:solidFill>
              <a:srgbClr val="A24736"/>
            </a:solidFill>
            <a:prstDash val="solid"/>
          </a:ln>
        </p:spPr>
      </p:sp>
      <p:sp>
        <p:nvSpPr>
          <p:cNvPr id="16" name="S04/card/interval/title"/>
          <p:cNvSpPr/>
          <p:nvPr/>
        </p:nvSpPr>
        <p:spPr>
          <a:xfrm>
            <a:off x="8458200" y="4569047"/>
            <a:ext cx="3276600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A2473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均值差95%区间跨0</a:t>
            </a:r>
            <a:endParaRPr lang="zh-CN" sz="1950" dirty="0"/>
          </a:p>
        </p:txBody>
      </p:sp>
      <p:sp>
        <p:nvSpPr>
          <p:cNvPr id="17" name="S04/card/interval/body"/>
          <p:cNvSpPr/>
          <p:nvPr/>
        </p:nvSpPr>
        <p:spPr>
          <a:xfrm>
            <a:off x="8458200" y="5045297"/>
            <a:ext cx="3276600" cy="910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2026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−0.83至 +6.16万循环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2026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探索性bootstrap，非因果证据</a:t>
            </a:r>
            <a:endParaRPr lang="zh-CN" sz="1800" dirty="0"/>
          </a:p>
        </p:txBody>
      </p:sp>
      <p:sp>
        <p:nvSpPr>
          <p:cNvPr id="18" name="S04/sources"/>
          <p:cNvSpPr/>
          <p:nvPr/>
        </p:nvSpPr>
        <p:spPr>
          <a:xfrm>
            <a:off x="457200" y="6286500"/>
            <a:ext cx="11277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zh-CN" altLang="en-US" sz="1125" dirty="0">
                <a:solidFill>
                  <a:srgbClr val="5360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[1] 资料未署名 2026  |  [2] 资料未署名 2026</a:t>
            </a:r>
            <a:endParaRPr lang="zh-CN" sz="11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5/top-rule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173F7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05/page-number"/>
          <p:cNvSpPr/>
          <p:nvPr/>
        </p:nvSpPr>
        <p:spPr>
          <a:xfrm>
            <a:off x="10744200" y="6534150"/>
            <a:ext cx="9906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344"/>
              </a:lnSpc>
              <a:buNone/>
            </a:pPr>
            <a:r>
              <a:rPr lang="zh-CN" altLang="en-US" sz="1050" dirty="0">
                <a:solidFill>
                  <a:srgbClr val="5360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05 / 08</a:t>
            </a:r>
            <a:endParaRPr lang="zh-CN" sz="1050" dirty="0"/>
          </a:p>
        </p:txBody>
      </p:sp>
      <p:sp>
        <p:nvSpPr>
          <p:cNvPr id="4" name="S05/title"/>
          <p:cNvSpPr/>
          <p:nvPr/>
        </p:nvSpPr>
        <p:spPr>
          <a:xfrm>
            <a:off x="457200" y="209550"/>
            <a:ext cx="11277600" cy="438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zh-CN" altLang="en-US" sz="3000" b="1" dirty="0">
                <a:solidFill>
                  <a:srgbClr val="2026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合并差异受到批次、应力与删失影响</a:t>
            </a:r>
            <a:endParaRPr lang="zh-CN" sz="3000" dirty="0"/>
          </a:p>
        </p:txBody>
      </p:sp>
      <p:sp>
        <p:nvSpPr>
          <p:cNvPr id="5" name="S05/kicker"/>
          <p:cNvSpPr/>
          <p:nvPr/>
        </p:nvSpPr>
        <p:spPr>
          <a:xfrm>
            <a:off x="457200" y="676275"/>
            <a:ext cx="11277600" cy="25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zh-CN" altLang="en-US" sz="1650" dirty="0">
                <a:solidFill>
                  <a:srgbClr val="5360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教学模拟数据：两种汇总口径回答不同问题</a:t>
            </a:r>
            <a:endParaRPr lang="zh-CN" sz="1650" dirty="0"/>
          </a:p>
        </p:txBody>
      </p:sp>
      <p:sp>
        <p:nvSpPr>
          <p:cNvPr id="6" name="S05/header-rule"/>
          <p:cNvSpPr/>
          <p:nvPr/>
        </p:nvSpPr>
        <p:spPr>
          <a:xfrm>
            <a:off x="457200" y="1032510"/>
            <a:ext cx="11277600" cy="0"/>
          </a:xfrm>
          <a:prstGeom prst="line">
            <a:avLst/>
          </a:prstGeom>
          <a:noFill/>
          <a:ln w="10478">
            <a:solidFill>
              <a:srgbClr val="CCD2DA"/>
            </a:solidFill>
            <a:prstDash val="solid"/>
          </a:ln>
        </p:spPr>
      </p:sp>
      <p:sp>
        <p:nvSpPr>
          <p:cNvPr id="7" name="S05/header-accent"/>
          <p:cNvSpPr/>
          <p:nvPr/>
        </p:nvSpPr>
        <p:spPr>
          <a:xfrm>
            <a:off x="457200" y="1032510"/>
            <a:ext cx="704850" cy="0"/>
          </a:xfrm>
          <a:prstGeom prst="line">
            <a:avLst/>
          </a:prstGeom>
          <a:noFill/>
          <a:ln w="28575">
            <a:solidFill>
              <a:srgbClr val="173F75"/>
            </a:solidFill>
            <a:prstDash val="solid"/>
          </a:ln>
        </p:spPr>
      </p:sp>
      <p:graphicFrame>
        <p:nvGraphicFramePr>
          <p:cNvPr id="6" name="S05/data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5875"/>
          <a:ext cx="7581900" cy="1201865"/>
        </p:xfrm>
        <a:graphic>
          <a:graphicData uri="http://schemas.openxmlformats.org/drawingml/2006/table">
            <a:tbl>
              <a:tblPr/>
              <a:tblGrid>
                <a:gridCol w="1895475"/>
                <a:gridCol w="1895475"/>
                <a:gridCol w="1895475"/>
                <a:gridCol w="1895475"/>
              </a:tblGrid>
              <a:tr h="40062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b="1" dirty="0">
                          <a:solidFill>
                            <a:srgbClr val="173F75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比较范围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4288" cap="flat" cmpd="sng" algn="ctr">
                      <a:solidFill>
                        <a:srgbClr val="173F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383" cap="flat" cmpd="sng" algn="ctr">
                      <a:solidFill>
                        <a:srgbClr val="173F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b="1" dirty="0">
                          <a:solidFill>
                            <a:srgbClr val="173F75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常规均值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4288" cap="flat" cmpd="sng" algn="ctr">
                      <a:solidFill>
                        <a:srgbClr val="173F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383" cap="flat" cmpd="sng" algn="ctr">
                      <a:solidFill>
                        <a:srgbClr val="173F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b="1" dirty="0">
                          <a:solidFill>
                            <a:srgbClr val="173F75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改性均值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4288" cap="flat" cmpd="sng" algn="ctr">
                      <a:solidFill>
                        <a:srgbClr val="173F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383" cap="flat" cmpd="sng" algn="ctr">
                      <a:solidFill>
                        <a:srgbClr val="173F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b="1" dirty="0">
                          <a:solidFill>
                            <a:srgbClr val="173F75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相对差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4288" cap="flat" cmpd="sng" algn="ctr">
                      <a:solidFill>
                        <a:srgbClr val="173F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383" cap="flat" cmpd="sng" algn="ctr">
                      <a:solidFill>
                        <a:srgbClr val="173F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</a:tr>
              <a:tr h="40062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202632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全体合并*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CC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202632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27.00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CC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202632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38.21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CC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202632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+41.5%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CC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062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202632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B，200 MPa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383" cap="flat" cmpd="sng" algn="ctr">
                      <a:solidFill>
                        <a:srgbClr val="173F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202632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30.37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383" cap="flat" cmpd="sng" algn="ctr">
                      <a:solidFill>
                        <a:srgbClr val="173F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202632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32.93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383" cap="flat" cmpd="sng" algn="ctr">
                      <a:solidFill>
                        <a:srgbClr val="173F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202632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+8.4%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383" cap="flat" cmpd="sng" algn="ctr">
                      <a:solidFill>
                        <a:srgbClr val="173F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05/table-caption"/>
          <p:cNvSpPr/>
          <p:nvPr/>
        </p:nvSpPr>
        <p:spPr>
          <a:xfrm>
            <a:off x="457200" y="2554415"/>
            <a:ext cx="75819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47"/>
              </a:lnSpc>
              <a:buNone/>
            </a:pPr>
            <a:r>
              <a:rPr lang="zh-CN" altLang="en-US" sz="1350" dirty="0">
                <a:solidFill>
                  <a:srgbClr val="5360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均值为观察时长，单位：万循环。*合并各24件、B各12件；含C的2件右删失</a:t>
            </a:r>
            <a:endParaRPr lang="zh-CN" sz="1350" dirty="0"/>
          </a:p>
        </p:txBody>
      </p:sp>
      <p:sp>
        <p:nvSpPr>
          <p:cNvPr id="10" name="S05/card/composition/title"/>
          <p:cNvSpPr/>
          <p:nvPr/>
        </p:nvSpPr>
        <p:spPr>
          <a:xfrm>
            <a:off x="8362950" y="1225772"/>
            <a:ext cx="3371850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A2473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组别构成不同</a:t>
            </a:r>
            <a:endParaRPr lang="zh-CN" sz="1950" dirty="0"/>
          </a:p>
        </p:txBody>
      </p:sp>
      <p:sp>
        <p:nvSpPr>
          <p:cNvPr id="11" name="S05/card/composition/body"/>
          <p:cNvSpPr/>
          <p:nvPr/>
        </p:nvSpPr>
        <p:spPr>
          <a:xfrm>
            <a:off x="8362950" y="1673447"/>
            <a:ext cx="3371850" cy="16910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2026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常规：A与B，200 MPa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2026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改性：B 200、C 180 MPa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2026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A/B常规均值也不同</a:t>
            </a:r>
            <a:endParaRPr lang="zh-CN" sz="1800" dirty="0"/>
          </a:p>
        </p:txBody>
      </p:sp>
      <p:sp>
        <p:nvSpPr>
          <p:cNvPr id="12" name="S05/card/C/heading-rule"/>
          <p:cNvSpPr/>
          <p:nvPr/>
        </p:nvSpPr>
        <p:spPr>
          <a:xfrm>
            <a:off x="457200" y="3974116"/>
            <a:ext cx="11277600" cy="0"/>
          </a:xfrm>
          <a:prstGeom prst="line">
            <a:avLst/>
          </a:prstGeom>
          <a:noFill/>
          <a:ln w="9525">
            <a:solidFill>
              <a:srgbClr val="CCD2DA"/>
            </a:solidFill>
            <a:prstDash val="solid"/>
          </a:ln>
        </p:spPr>
      </p:sp>
      <p:sp>
        <p:nvSpPr>
          <p:cNvPr id="13" name="S05/card/C/heading-mark"/>
          <p:cNvSpPr/>
          <p:nvPr/>
        </p:nvSpPr>
        <p:spPr>
          <a:xfrm>
            <a:off x="457200" y="3974116"/>
            <a:ext cx="342900" cy="0"/>
          </a:xfrm>
          <a:prstGeom prst="line">
            <a:avLst/>
          </a:prstGeom>
          <a:noFill/>
          <a:ln w="17145">
            <a:solidFill>
              <a:srgbClr val="A24736"/>
            </a:solidFill>
            <a:prstDash val="solid"/>
          </a:ln>
        </p:spPr>
      </p:sp>
      <p:sp>
        <p:nvSpPr>
          <p:cNvPr id="14" name="S05/card/C/title"/>
          <p:cNvSpPr/>
          <p:nvPr/>
        </p:nvSpPr>
        <p:spPr>
          <a:xfrm>
            <a:off x="457200" y="3631216"/>
            <a:ext cx="11277600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A2473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C批次单独解释</a:t>
            </a:r>
            <a:endParaRPr lang="zh-CN" sz="1950" dirty="0"/>
          </a:p>
        </p:txBody>
      </p:sp>
      <p:sp>
        <p:nvSpPr>
          <p:cNvPr id="15" name="S05/card/C/body"/>
          <p:cNvSpPr/>
          <p:nvPr/>
        </p:nvSpPr>
        <p:spPr>
          <a:xfrm>
            <a:off x="457200" y="4107466"/>
            <a:ext cx="11277600" cy="11481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2026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12件中2件在50万循环仍未失效，后续寿命未知。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2026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C没有常规对照，不能分离应力、批次与工艺作用。</a:t>
            </a:r>
            <a:endParaRPr lang="zh-CN" sz="1800" dirty="0"/>
          </a:p>
        </p:txBody>
      </p:sp>
      <p:sp>
        <p:nvSpPr>
          <p:cNvPr id="16" name="S05/sources"/>
          <p:cNvSpPr/>
          <p:nvPr/>
        </p:nvSpPr>
        <p:spPr>
          <a:xfrm>
            <a:off x="457200" y="6286500"/>
            <a:ext cx="11277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zh-CN" altLang="en-US" sz="1125" dirty="0">
                <a:solidFill>
                  <a:srgbClr val="5360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[1] 资料未署名 2026  |  [2] 资料未署名 2026</a:t>
            </a:r>
            <a:endParaRPr lang="zh-CN" sz="11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6/top-rule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173F7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06/page-number"/>
          <p:cNvSpPr/>
          <p:nvPr/>
        </p:nvSpPr>
        <p:spPr>
          <a:xfrm>
            <a:off x="10744200" y="6534150"/>
            <a:ext cx="9906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344"/>
              </a:lnSpc>
              <a:buNone/>
            </a:pPr>
            <a:r>
              <a:rPr lang="zh-CN" altLang="en-US" sz="1050" dirty="0">
                <a:solidFill>
                  <a:srgbClr val="5360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06 / 08</a:t>
            </a:r>
            <a:endParaRPr lang="zh-CN" sz="1050" dirty="0"/>
          </a:p>
        </p:txBody>
      </p:sp>
      <p:sp>
        <p:nvSpPr>
          <p:cNvPr id="4" name="S06/title"/>
          <p:cNvSpPr/>
          <p:nvPr/>
        </p:nvSpPr>
        <p:spPr>
          <a:xfrm>
            <a:off x="457200" y="209550"/>
            <a:ext cx="11277600" cy="438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zh-CN" altLang="en-US" sz="3000" b="1" dirty="0">
                <a:solidFill>
                  <a:srgbClr val="2026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目前结论与尚缺的证据</a:t>
            </a:r>
            <a:endParaRPr lang="zh-CN" sz="3000" dirty="0"/>
          </a:p>
        </p:txBody>
      </p:sp>
      <p:sp>
        <p:nvSpPr>
          <p:cNvPr id="5" name="S06/kicker"/>
          <p:cNvSpPr/>
          <p:nvPr/>
        </p:nvSpPr>
        <p:spPr>
          <a:xfrm>
            <a:off x="457200" y="676275"/>
            <a:ext cx="11277600" cy="25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zh-CN" altLang="en-US" sz="1650" dirty="0">
                <a:solidFill>
                  <a:srgbClr val="5360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教学模拟数据：观察、归因与机制分别需要相应证据</a:t>
            </a:r>
            <a:endParaRPr lang="zh-CN" sz="1650" dirty="0"/>
          </a:p>
        </p:txBody>
      </p:sp>
      <p:sp>
        <p:nvSpPr>
          <p:cNvPr id="6" name="S06/header-rule"/>
          <p:cNvSpPr/>
          <p:nvPr/>
        </p:nvSpPr>
        <p:spPr>
          <a:xfrm>
            <a:off x="457200" y="1032510"/>
            <a:ext cx="11277600" cy="0"/>
          </a:xfrm>
          <a:prstGeom prst="line">
            <a:avLst/>
          </a:prstGeom>
          <a:noFill/>
          <a:ln w="10478">
            <a:solidFill>
              <a:srgbClr val="CCD2DA"/>
            </a:solidFill>
            <a:prstDash val="solid"/>
          </a:ln>
        </p:spPr>
      </p:sp>
      <p:sp>
        <p:nvSpPr>
          <p:cNvPr id="7" name="S06/header-accent"/>
          <p:cNvSpPr/>
          <p:nvPr/>
        </p:nvSpPr>
        <p:spPr>
          <a:xfrm>
            <a:off x="457200" y="1032510"/>
            <a:ext cx="704850" cy="0"/>
          </a:xfrm>
          <a:prstGeom prst="line">
            <a:avLst/>
          </a:prstGeom>
          <a:noFill/>
          <a:ln w="28575">
            <a:solidFill>
              <a:srgbClr val="173F75"/>
            </a:solidFill>
            <a:prstDash val="solid"/>
          </a:ln>
        </p:spPr>
      </p:sp>
      <p:sp>
        <p:nvSpPr>
          <p:cNvPr id="8" name="S06/takeaway"/>
          <p:cNvSpPr/>
          <p:nvPr/>
        </p:nvSpPr>
        <p:spPr>
          <a:xfrm>
            <a:off x="457200" y="1257300"/>
            <a:ext cx="11277600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zh-CN" altLang="en-US" sz="1950" b="1" dirty="0">
                <a:solidFill>
                  <a:srgbClr val="173F7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当前判断：存在待验证的正向观察，尚不能确认改性有效</a:t>
            </a:r>
            <a:endParaRPr lang="zh-CN" sz="1950" dirty="0"/>
          </a:p>
        </p:txBody>
      </p:sp>
      <p:sp>
        <p:nvSpPr>
          <p:cNvPr id="9" name="S06/card/observed/heading-rule"/>
          <p:cNvSpPr/>
          <p:nvPr/>
        </p:nvSpPr>
        <p:spPr>
          <a:xfrm>
            <a:off x="457200" y="2314575"/>
            <a:ext cx="5429250" cy="0"/>
          </a:xfrm>
          <a:prstGeom prst="line">
            <a:avLst/>
          </a:prstGeom>
          <a:noFill/>
          <a:ln w="9525">
            <a:solidFill>
              <a:srgbClr val="CCD2DA"/>
            </a:solidFill>
            <a:prstDash val="solid"/>
          </a:ln>
        </p:spPr>
      </p:sp>
      <p:sp>
        <p:nvSpPr>
          <p:cNvPr id="10" name="S06/card/observed/heading-mark"/>
          <p:cNvSpPr/>
          <p:nvPr/>
        </p:nvSpPr>
        <p:spPr>
          <a:xfrm>
            <a:off x="457200" y="2314575"/>
            <a:ext cx="342900" cy="0"/>
          </a:xfrm>
          <a:prstGeom prst="line">
            <a:avLst/>
          </a:prstGeom>
          <a:noFill/>
          <a:ln w="17145">
            <a:solidFill>
              <a:srgbClr val="146C63"/>
            </a:solidFill>
            <a:prstDash val="solid"/>
          </a:ln>
        </p:spPr>
      </p:sp>
      <p:sp>
        <p:nvSpPr>
          <p:cNvPr id="11" name="S06/card/observed/title"/>
          <p:cNvSpPr/>
          <p:nvPr/>
        </p:nvSpPr>
        <p:spPr>
          <a:xfrm>
            <a:off x="457200" y="1971675"/>
            <a:ext cx="5429250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146C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已完成的观察</a:t>
            </a:r>
            <a:endParaRPr lang="zh-CN" sz="1950" dirty="0"/>
          </a:p>
        </p:txBody>
      </p:sp>
      <p:sp>
        <p:nvSpPr>
          <p:cNvPr id="12" name="S06/card/observed/body"/>
          <p:cNvSpPr/>
          <p:nvPr/>
        </p:nvSpPr>
        <p:spPr>
          <a:xfrm>
            <a:off x="457200" y="2447925"/>
            <a:ext cx="5429250" cy="1228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2026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48件记录完成核对。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2026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B内改性均值较高，个体分布重叠，区间跨0。</a:t>
            </a:r>
            <a:endParaRPr lang="zh-CN" sz="1800" dirty="0"/>
          </a:p>
        </p:txBody>
      </p:sp>
      <p:sp>
        <p:nvSpPr>
          <p:cNvPr id="13" name="S06/card/attribution/heading-rule"/>
          <p:cNvSpPr/>
          <p:nvPr/>
        </p:nvSpPr>
        <p:spPr>
          <a:xfrm>
            <a:off x="6305550" y="2314575"/>
            <a:ext cx="5429250" cy="0"/>
          </a:xfrm>
          <a:prstGeom prst="line">
            <a:avLst/>
          </a:prstGeom>
          <a:noFill/>
          <a:ln w="9525">
            <a:solidFill>
              <a:srgbClr val="CCD2DA"/>
            </a:solidFill>
            <a:prstDash val="solid"/>
          </a:ln>
        </p:spPr>
      </p:sp>
      <p:sp>
        <p:nvSpPr>
          <p:cNvPr id="14" name="S06/card/attribution/heading-mark"/>
          <p:cNvSpPr/>
          <p:nvPr/>
        </p:nvSpPr>
        <p:spPr>
          <a:xfrm>
            <a:off x="6305550" y="2314575"/>
            <a:ext cx="342900" cy="0"/>
          </a:xfrm>
          <a:prstGeom prst="line">
            <a:avLst/>
          </a:prstGeom>
          <a:noFill/>
          <a:ln w="17145">
            <a:solidFill>
              <a:srgbClr val="A24736"/>
            </a:solidFill>
            <a:prstDash val="solid"/>
          </a:ln>
        </p:spPr>
      </p:sp>
      <p:sp>
        <p:nvSpPr>
          <p:cNvPr id="15" name="S06/card/attribution/title"/>
          <p:cNvSpPr/>
          <p:nvPr/>
        </p:nvSpPr>
        <p:spPr>
          <a:xfrm>
            <a:off x="6305550" y="1971675"/>
            <a:ext cx="5429250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A2473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因果归因尚未建立</a:t>
            </a:r>
            <a:endParaRPr lang="zh-CN" sz="1950" dirty="0"/>
          </a:p>
        </p:txBody>
      </p:sp>
      <p:sp>
        <p:nvSpPr>
          <p:cNvPr id="16" name="S06/card/attribution/body"/>
          <p:cNvSpPr/>
          <p:nvPr/>
        </p:nvSpPr>
        <p:spPr>
          <a:xfrm>
            <a:off x="6305550" y="2447925"/>
            <a:ext cx="5429250" cy="1228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2026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未提供工艺随机分配记录，组合不完整。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2026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合并差异不能排除批次、应力和取样顺序影响。</a:t>
            </a:r>
            <a:endParaRPr lang="zh-CN" sz="1800" dirty="0"/>
          </a:p>
        </p:txBody>
      </p:sp>
      <p:sp>
        <p:nvSpPr>
          <p:cNvPr id="17" name="S06/card/mechanism/heading-rule"/>
          <p:cNvSpPr/>
          <p:nvPr/>
        </p:nvSpPr>
        <p:spPr>
          <a:xfrm>
            <a:off x="457200" y="4362450"/>
            <a:ext cx="5429250" cy="0"/>
          </a:xfrm>
          <a:prstGeom prst="line">
            <a:avLst/>
          </a:prstGeom>
          <a:noFill/>
          <a:ln w="9525">
            <a:solidFill>
              <a:srgbClr val="CCD2DA"/>
            </a:solidFill>
            <a:prstDash val="solid"/>
          </a:ln>
        </p:spPr>
      </p:sp>
      <p:sp>
        <p:nvSpPr>
          <p:cNvPr id="18" name="S06/card/mechanism/heading-mark"/>
          <p:cNvSpPr/>
          <p:nvPr/>
        </p:nvSpPr>
        <p:spPr>
          <a:xfrm>
            <a:off x="457200" y="4362450"/>
            <a:ext cx="342900" cy="0"/>
          </a:xfrm>
          <a:prstGeom prst="line">
            <a:avLst/>
          </a:prstGeom>
          <a:noFill/>
          <a:ln w="17145">
            <a:solidFill>
              <a:srgbClr val="A24736"/>
            </a:solidFill>
            <a:prstDash val="solid"/>
          </a:ln>
        </p:spPr>
      </p:sp>
      <p:sp>
        <p:nvSpPr>
          <p:cNvPr id="19" name="S06/card/mechanism/title"/>
          <p:cNvSpPr/>
          <p:nvPr/>
        </p:nvSpPr>
        <p:spPr>
          <a:xfrm>
            <a:off x="457200" y="4019550"/>
            <a:ext cx="5429250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A2473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机制证据缺失</a:t>
            </a:r>
            <a:endParaRPr lang="zh-CN" sz="1950" dirty="0"/>
          </a:p>
        </p:txBody>
      </p:sp>
      <p:sp>
        <p:nvSpPr>
          <p:cNvPr id="20" name="S06/card/mechanism/body"/>
          <p:cNvSpPr/>
          <p:nvPr/>
        </p:nvSpPr>
        <p:spPr>
          <a:xfrm>
            <a:off x="457200" y="4495800"/>
            <a:ext cx="5429250" cy="1228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2026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未提供断口、微观组织、残余应力测量。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2026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不能从寿命记录反推改性机制。</a:t>
            </a:r>
            <a:endParaRPr lang="zh-CN" sz="1800" dirty="0"/>
          </a:p>
        </p:txBody>
      </p:sp>
      <p:sp>
        <p:nvSpPr>
          <p:cNvPr id="21" name="S06/card/priority/heading-rule"/>
          <p:cNvSpPr/>
          <p:nvPr/>
        </p:nvSpPr>
        <p:spPr>
          <a:xfrm>
            <a:off x="6305550" y="4362450"/>
            <a:ext cx="5429250" cy="0"/>
          </a:xfrm>
          <a:prstGeom prst="line">
            <a:avLst/>
          </a:prstGeom>
          <a:noFill/>
          <a:ln w="9525">
            <a:solidFill>
              <a:srgbClr val="CCD2DA"/>
            </a:solidFill>
            <a:prstDash val="solid"/>
          </a:ln>
        </p:spPr>
      </p:sp>
      <p:sp>
        <p:nvSpPr>
          <p:cNvPr id="22" name="S06/card/priority/heading-mark"/>
          <p:cNvSpPr/>
          <p:nvPr/>
        </p:nvSpPr>
        <p:spPr>
          <a:xfrm>
            <a:off x="6305550" y="4362450"/>
            <a:ext cx="342900" cy="0"/>
          </a:xfrm>
          <a:prstGeom prst="line">
            <a:avLst/>
          </a:prstGeom>
          <a:noFill/>
          <a:ln w="17145">
            <a:solidFill>
              <a:srgbClr val="6C528E"/>
            </a:solidFill>
            <a:prstDash val="solid"/>
          </a:ln>
        </p:spPr>
      </p:sp>
      <p:sp>
        <p:nvSpPr>
          <p:cNvPr id="23" name="S06/card/priority/title"/>
          <p:cNvSpPr/>
          <p:nvPr/>
        </p:nvSpPr>
        <p:spPr>
          <a:xfrm>
            <a:off x="6305550" y="4019550"/>
            <a:ext cx="5429250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6C528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优先验证的问题</a:t>
            </a:r>
            <a:endParaRPr lang="zh-CN" sz="1950" dirty="0"/>
          </a:p>
        </p:txBody>
      </p:sp>
      <p:sp>
        <p:nvSpPr>
          <p:cNvPr id="24" name="S06/card/priority/body"/>
          <p:cNvSpPr/>
          <p:nvPr/>
        </p:nvSpPr>
        <p:spPr>
          <a:xfrm>
            <a:off x="6305550" y="4495800"/>
            <a:ext cx="5429250" cy="1228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2026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新批次同应力随机对照下，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2026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是否仍出现预定的有意义寿命增益？</a:t>
            </a:r>
            <a:endParaRPr lang="zh-CN" sz="1800" dirty="0"/>
          </a:p>
        </p:txBody>
      </p:sp>
      <p:sp>
        <p:nvSpPr>
          <p:cNvPr id="25" name="S06/sources"/>
          <p:cNvSpPr/>
          <p:nvPr/>
        </p:nvSpPr>
        <p:spPr>
          <a:xfrm>
            <a:off x="457200" y="6286500"/>
            <a:ext cx="11277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zh-CN" altLang="en-US" sz="1125" dirty="0">
                <a:solidFill>
                  <a:srgbClr val="5360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[1] 资料未署名 2026  |  [2] 资料未署名 2026</a:t>
            </a:r>
            <a:endParaRPr lang="zh-CN" sz="11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7/top-rule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173F7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07/page-number"/>
          <p:cNvSpPr/>
          <p:nvPr/>
        </p:nvSpPr>
        <p:spPr>
          <a:xfrm>
            <a:off x="10744200" y="6534150"/>
            <a:ext cx="9906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344"/>
              </a:lnSpc>
              <a:buNone/>
            </a:pPr>
            <a:r>
              <a:rPr lang="zh-CN" altLang="en-US" sz="1050" dirty="0">
                <a:solidFill>
                  <a:srgbClr val="5360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07 / 08</a:t>
            </a:r>
            <a:endParaRPr lang="zh-CN" sz="1050" dirty="0"/>
          </a:p>
        </p:txBody>
      </p:sp>
      <p:sp>
        <p:nvSpPr>
          <p:cNvPr id="4" name="S07/title"/>
          <p:cNvSpPr/>
          <p:nvPr/>
        </p:nvSpPr>
        <p:spPr>
          <a:xfrm>
            <a:off x="457200" y="209550"/>
            <a:ext cx="11277600" cy="438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zh-CN" altLang="en-US" sz="3000" b="1" dirty="0">
                <a:solidFill>
                  <a:srgbClr val="2026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下一步：同批同应力的随机验证</a:t>
            </a:r>
            <a:endParaRPr lang="zh-CN" sz="3000" dirty="0"/>
          </a:p>
        </p:txBody>
      </p:sp>
      <p:sp>
        <p:nvSpPr>
          <p:cNvPr id="5" name="S07/kicker"/>
          <p:cNvSpPr/>
          <p:nvPr/>
        </p:nvSpPr>
        <p:spPr>
          <a:xfrm>
            <a:off x="457200" y="676275"/>
            <a:ext cx="11277600" cy="25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zh-CN" altLang="en-US" sz="1650" dirty="0">
                <a:solidFill>
                  <a:srgbClr val="5360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教学模拟研究的待实施方案：新试件尚未开展</a:t>
            </a:r>
            <a:endParaRPr lang="zh-CN" sz="1650" dirty="0"/>
          </a:p>
        </p:txBody>
      </p:sp>
      <p:sp>
        <p:nvSpPr>
          <p:cNvPr id="6" name="S07/header-rule"/>
          <p:cNvSpPr/>
          <p:nvPr/>
        </p:nvSpPr>
        <p:spPr>
          <a:xfrm>
            <a:off x="457200" y="1032510"/>
            <a:ext cx="11277600" cy="0"/>
          </a:xfrm>
          <a:prstGeom prst="line">
            <a:avLst/>
          </a:prstGeom>
          <a:noFill/>
          <a:ln w="10478">
            <a:solidFill>
              <a:srgbClr val="CCD2DA"/>
            </a:solidFill>
            <a:prstDash val="solid"/>
          </a:ln>
        </p:spPr>
      </p:sp>
      <p:sp>
        <p:nvSpPr>
          <p:cNvPr id="7" name="S07/header-accent"/>
          <p:cNvSpPr/>
          <p:nvPr/>
        </p:nvSpPr>
        <p:spPr>
          <a:xfrm>
            <a:off x="457200" y="1032510"/>
            <a:ext cx="704850" cy="0"/>
          </a:xfrm>
          <a:prstGeom prst="line">
            <a:avLst/>
          </a:prstGeom>
          <a:noFill/>
          <a:ln w="28575">
            <a:solidFill>
              <a:srgbClr val="173F75"/>
            </a:solidFill>
            <a:prstDash val="solid"/>
          </a:ln>
        </p:spPr>
      </p:sp>
      <p:sp>
        <p:nvSpPr>
          <p:cNvPr id="8" name="S07/card/hypothesis/title"/>
          <p:cNvSpPr/>
          <p:nvPr/>
        </p:nvSpPr>
        <p:spPr>
          <a:xfrm>
            <a:off x="457200" y="1225772"/>
            <a:ext cx="5486400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6C528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待检验假说</a:t>
            </a:r>
            <a:endParaRPr lang="zh-CN" sz="1950" dirty="0"/>
          </a:p>
        </p:txBody>
      </p:sp>
      <p:sp>
        <p:nvSpPr>
          <p:cNvPr id="9" name="S07/card/hypothesis/body"/>
          <p:cNvSpPr/>
          <p:nvPr/>
        </p:nvSpPr>
        <p:spPr>
          <a:xfrm>
            <a:off x="457200" y="1673447"/>
            <a:ext cx="5486400" cy="1236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2026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200 MPa下，改性相对常规的限制平均寿命增益超过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2026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预定δ。</a:t>
            </a:r>
            <a:endParaRPr lang="zh-CN" sz="1800" dirty="0"/>
          </a:p>
        </p:txBody>
      </p:sp>
      <p:sp>
        <p:nvSpPr>
          <p:cNvPr id="10" name="S07/card/allocation/title"/>
          <p:cNvSpPr/>
          <p:nvPr/>
        </p:nvSpPr>
        <p:spPr>
          <a:xfrm>
            <a:off x="6248400" y="1225772"/>
            <a:ext cx="5486400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235E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公平对照</a:t>
            </a:r>
            <a:endParaRPr lang="zh-CN" sz="1950" dirty="0"/>
          </a:p>
        </p:txBody>
      </p:sp>
      <p:sp>
        <p:nvSpPr>
          <p:cNvPr id="11" name="S07/card/allocation/body"/>
          <p:cNvSpPr/>
          <p:nvPr/>
        </p:nvSpPr>
        <p:spPr>
          <a:xfrm>
            <a:off x="6248400" y="1673447"/>
            <a:ext cx="5486400" cy="1236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2026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同一新批次内随机分配工艺。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2026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测试顺序分块或随机化。</a:t>
            </a:r>
            <a:endParaRPr lang="zh-CN" sz="1800" dirty="0"/>
          </a:p>
        </p:txBody>
      </p:sp>
      <p:sp>
        <p:nvSpPr>
          <p:cNvPr id="12" name="S07/card/endpoint/heading-rule"/>
          <p:cNvSpPr/>
          <p:nvPr/>
        </p:nvSpPr>
        <p:spPr>
          <a:xfrm>
            <a:off x="457200" y="3645884"/>
            <a:ext cx="3467100" cy="0"/>
          </a:xfrm>
          <a:prstGeom prst="line">
            <a:avLst/>
          </a:prstGeom>
          <a:noFill/>
          <a:ln w="9525">
            <a:solidFill>
              <a:srgbClr val="CCD2DA"/>
            </a:solidFill>
            <a:prstDash val="solid"/>
          </a:ln>
        </p:spPr>
      </p:sp>
      <p:sp>
        <p:nvSpPr>
          <p:cNvPr id="13" name="S07/card/endpoint/heading-mark"/>
          <p:cNvSpPr/>
          <p:nvPr/>
        </p:nvSpPr>
        <p:spPr>
          <a:xfrm>
            <a:off x="457200" y="3645884"/>
            <a:ext cx="342900" cy="0"/>
          </a:xfrm>
          <a:prstGeom prst="line">
            <a:avLst/>
          </a:prstGeom>
          <a:noFill/>
          <a:ln w="17145">
            <a:solidFill>
              <a:srgbClr val="235E96"/>
            </a:solidFill>
            <a:prstDash val="solid"/>
          </a:ln>
        </p:spPr>
      </p:sp>
      <p:sp>
        <p:nvSpPr>
          <p:cNvPr id="14" name="S07/card/endpoint/title"/>
          <p:cNvSpPr/>
          <p:nvPr/>
        </p:nvSpPr>
        <p:spPr>
          <a:xfrm>
            <a:off x="457200" y="3302984"/>
            <a:ext cx="3467100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235E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统一终点</a:t>
            </a:r>
            <a:endParaRPr lang="zh-CN" sz="1950" dirty="0"/>
          </a:p>
        </p:txBody>
      </p:sp>
      <p:sp>
        <p:nvSpPr>
          <p:cNvPr id="15" name="S07/card/endpoint/body"/>
          <p:cNvSpPr/>
          <p:nvPr/>
        </p:nvSpPr>
        <p:spPr>
          <a:xfrm>
            <a:off x="457200" y="3779234"/>
            <a:ext cx="3467100" cy="2196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2026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共同停止点：50万循环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2026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保留失效与runout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2026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主指标：限制平均寿命差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2026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报告差值及置信区间</a:t>
            </a:r>
            <a:endParaRPr lang="zh-CN" sz="1800" dirty="0"/>
          </a:p>
        </p:txBody>
      </p:sp>
      <p:sp>
        <p:nvSpPr>
          <p:cNvPr id="16" name="S07/card/sample/heading-rule"/>
          <p:cNvSpPr/>
          <p:nvPr/>
        </p:nvSpPr>
        <p:spPr>
          <a:xfrm>
            <a:off x="4210050" y="3645884"/>
            <a:ext cx="3467100" cy="0"/>
          </a:xfrm>
          <a:prstGeom prst="line">
            <a:avLst/>
          </a:prstGeom>
          <a:noFill/>
          <a:ln w="9525">
            <a:solidFill>
              <a:srgbClr val="CCD2DA"/>
            </a:solidFill>
            <a:prstDash val="solid"/>
          </a:ln>
        </p:spPr>
      </p:sp>
      <p:sp>
        <p:nvSpPr>
          <p:cNvPr id="17" name="S07/card/sample/heading-mark"/>
          <p:cNvSpPr/>
          <p:nvPr/>
        </p:nvSpPr>
        <p:spPr>
          <a:xfrm>
            <a:off x="4210050" y="3645884"/>
            <a:ext cx="342900" cy="0"/>
          </a:xfrm>
          <a:prstGeom prst="line">
            <a:avLst/>
          </a:prstGeom>
          <a:noFill/>
          <a:ln w="17145">
            <a:solidFill>
              <a:srgbClr val="536A7A"/>
            </a:solidFill>
            <a:prstDash val="solid"/>
          </a:ln>
        </p:spPr>
      </p:sp>
      <p:sp>
        <p:nvSpPr>
          <p:cNvPr id="18" name="S07/card/sample/title"/>
          <p:cNvSpPr/>
          <p:nvPr/>
        </p:nvSpPr>
        <p:spPr>
          <a:xfrm>
            <a:off x="4210050" y="3302984"/>
            <a:ext cx="3467100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536A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试验前确定</a:t>
            </a:r>
            <a:endParaRPr lang="zh-CN" sz="1950" dirty="0"/>
          </a:p>
        </p:txBody>
      </p:sp>
      <p:sp>
        <p:nvSpPr>
          <p:cNvPr id="19" name="S07/card/sample/body"/>
          <p:cNvSpPr/>
          <p:nvPr/>
        </p:nvSpPr>
        <p:spPr>
          <a:xfrm>
            <a:off x="4210050" y="3779234"/>
            <a:ext cx="3467100" cy="2196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2026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按工程意义确定δ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2026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结合变异与删失规划样本量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2026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记录工艺、顺序、环境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2026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固定分析方案</a:t>
            </a:r>
            <a:endParaRPr lang="zh-CN" sz="1800" dirty="0"/>
          </a:p>
        </p:txBody>
      </p:sp>
      <p:sp>
        <p:nvSpPr>
          <p:cNvPr id="20" name="S07/card/falsifiable/heading-rule"/>
          <p:cNvSpPr/>
          <p:nvPr/>
        </p:nvSpPr>
        <p:spPr>
          <a:xfrm>
            <a:off x="7962900" y="3645884"/>
            <a:ext cx="3771900" cy="0"/>
          </a:xfrm>
          <a:prstGeom prst="line">
            <a:avLst/>
          </a:prstGeom>
          <a:noFill/>
          <a:ln w="9525">
            <a:solidFill>
              <a:srgbClr val="CCD2DA"/>
            </a:solidFill>
            <a:prstDash val="solid"/>
          </a:ln>
        </p:spPr>
      </p:sp>
      <p:sp>
        <p:nvSpPr>
          <p:cNvPr id="21" name="S07/card/falsifiable/heading-mark"/>
          <p:cNvSpPr/>
          <p:nvPr/>
        </p:nvSpPr>
        <p:spPr>
          <a:xfrm>
            <a:off x="7962900" y="3645884"/>
            <a:ext cx="342900" cy="0"/>
          </a:xfrm>
          <a:prstGeom prst="line">
            <a:avLst/>
          </a:prstGeom>
          <a:noFill/>
          <a:ln w="17145">
            <a:solidFill>
              <a:srgbClr val="A24736"/>
            </a:solidFill>
            <a:prstDash val="solid"/>
          </a:ln>
        </p:spPr>
      </p:sp>
      <p:sp>
        <p:nvSpPr>
          <p:cNvPr id="22" name="S07/card/falsifiable/title"/>
          <p:cNvSpPr/>
          <p:nvPr/>
        </p:nvSpPr>
        <p:spPr>
          <a:xfrm>
            <a:off x="7962900" y="3302984"/>
            <a:ext cx="3771900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A2473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可反驳的判据</a:t>
            </a:r>
            <a:endParaRPr lang="zh-CN" sz="1950" dirty="0"/>
          </a:p>
        </p:txBody>
      </p:sp>
      <p:sp>
        <p:nvSpPr>
          <p:cNvPr id="23" name="S07/card/falsifiable/body"/>
          <p:cNvSpPr/>
          <p:nvPr/>
        </p:nvSpPr>
        <p:spPr>
          <a:xfrm>
            <a:off x="7962900" y="3779234"/>
            <a:ext cx="3771900" cy="2196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2026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区间下限 &gt; δ：支持优势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2026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区间上限 ≤ δ：排除该量级增益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2026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其余情况：仍不确定</a:t>
            </a:r>
            <a:endParaRPr lang="zh-CN" sz="1800" dirty="0"/>
          </a:p>
        </p:txBody>
      </p:sp>
      <p:sp>
        <p:nvSpPr>
          <p:cNvPr id="24" name="S07/sources"/>
          <p:cNvSpPr/>
          <p:nvPr/>
        </p:nvSpPr>
        <p:spPr>
          <a:xfrm>
            <a:off x="457200" y="6286500"/>
            <a:ext cx="11277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zh-CN" altLang="en-US" sz="1125" dirty="0">
                <a:solidFill>
                  <a:srgbClr val="5360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[1] 资料未署名 2026  |  [2] 资料未署名 2026</a:t>
            </a:r>
            <a:endParaRPr lang="zh-CN" sz="11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8/top-rule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173F7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08/page-number"/>
          <p:cNvSpPr/>
          <p:nvPr/>
        </p:nvSpPr>
        <p:spPr>
          <a:xfrm>
            <a:off x="10744200" y="6534150"/>
            <a:ext cx="9906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344"/>
              </a:lnSpc>
              <a:buNone/>
            </a:pPr>
            <a:r>
              <a:rPr lang="zh-CN" altLang="en-US" sz="1050" dirty="0">
                <a:solidFill>
                  <a:srgbClr val="5360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08 / 08</a:t>
            </a:r>
            <a:endParaRPr lang="zh-CN" sz="1050" dirty="0"/>
          </a:p>
        </p:txBody>
      </p:sp>
      <p:sp>
        <p:nvSpPr>
          <p:cNvPr id="4" name="S08/title"/>
          <p:cNvSpPr/>
          <p:nvPr/>
        </p:nvSpPr>
        <p:spPr>
          <a:xfrm>
            <a:off x="457200" y="209550"/>
            <a:ext cx="11277600" cy="438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zh-CN" altLang="en-US" sz="3000" b="1" dirty="0">
                <a:solidFill>
                  <a:srgbClr val="2026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资料来源与讨论</a:t>
            </a:r>
            <a:endParaRPr lang="zh-CN" sz="3000" dirty="0"/>
          </a:p>
        </p:txBody>
      </p:sp>
      <p:sp>
        <p:nvSpPr>
          <p:cNvPr id="5" name="S08/kicker"/>
          <p:cNvSpPr/>
          <p:nvPr/>
        </p:nvSpPr>
        <p:spPr>
          <a:xfrm>
            <a:off x="457200" y="676275"/>
            <a:ext cx="11277600" cy="25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zh-CN" altLang="en-US" sz="1650" dirty="0">
                <a:solidFill>
                  <a:srgbClr val="5360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教学模拟资料包，版本1，2026-10-20</a:t>
            </a:r>
            <a:endParaRPr lang="zh-CN" sz="1650" dirty="0"/>
          </a:p>
        </p:txBody>
      </p:sp>
      <p:sp>
        <p:nvSpPr>
          <p:cNvPr id="6" name="S08/header-rule"/>
          <p:cNvSpPr/>
          <p:nvPr/>
        </p:nvSpPr>
        <p:spPr>
          <a:xfrm>
            <a:off x="457200" y="1032510"/>
            <a:ext cx="11277600" cy="0"/>
          </a:xfrm>
          <a:prstGeom prst="line">
            <a:avLst/>
          </a:prstGeom>
          <a:noFill/>
          <a:ln w="10478">
            <a:solidFill>
              <a:srgbClr val="CCD2DA"/>
            </a:solidFill>
            <a:prstDash val="solid"/>
          </a:ln>
        </p:spPr>
      </p:sp>
      <p:sp>
        <p:nvSpPr>
          <p:cNvPr id="7" name="S08/header-accent"/>
          <p:cNvSpPr/>
          <p:nvPr/>
        </p:nvSpPr>
        <p:spPr>
          <a:xfrm>
            <a:off x="457200" y="1032510"/>
            <a:ext cx="704850" cy="0"/>
          </a:xfrm>
          <a:prstGeom prst="line">
            <a:avLst/>
          </a:prstGeom>
          <a:noFill/>
          <a:ln w="28575">
            <a:solidFill>
              <a:srgbClr val="173F75"/>
            </a:solidFill>
            <a:prstDash val="solid"/>
          </a:ln>
        </p:spPr>
      </p:sp>
      <p:sp>
        <p:nvSpPr>
          <p:cNvPr id="8" name="S08/ref:P-protocol:id"/>
          <p:cNvSpPr/>
          <p:nvPr/>
        </p:nvSpPr>
        <p:spPr>
          <a:xfrm>
            <a:off x="457200" y="1166432"/>
            <a:ext cx="55245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12"/>
              </a:lnSpc>
              <a:buNone/>
            </a:pPr>
            <a:r>
              <a:rPr lang="zh-CN" altLang="en-US" sz="1650" b="1" dirty="0">
                <a:solidFill>
                  <a:srgbClr val="173F7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[1]</a:t>
            </a:r>
            <a:endParaRPr lang="zh-CN" sz="1650" dirty="0"/>
          </a:p>
        </p:txBody>
      </p:sp>
      <p:sp>
        <p:nvSpPr>
          <p:cNvPr id="9" name="S08/ref:P-protocol:title"/>
          <p:cNvSpPr/>
          <p:nvPr/>
        </p:nvSpPr>
        <p:spPr>
          <a:xfrm>
            <a:off x="1123950" y="1147381"/>
            <a:ext cx="70104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2026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金属构件疲劳试验记录（教学模拟材料）</a:t>
            </a:r>
            <a:endParaRPr lang="zh-CN" sz="1800" dirty="0"/>
          </a:p>
        </p:txBody>
      </p:sp>
      <p:sp>
        <p:nvSpPr>
          <p:cNvPr id="10" name="S08/ref:P-protocol:meta"/>
          <p:cNvSpPr/>
          <p:nvPr/>
        </p:nvSpPr>
        <p:spPr>
          <a:xfrm>
            <a:off x="1123950" y="1488377"/>
            <a:ext cx="7010400" cy="42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74"/>
              </a:lnSpc>
              <a:buNone/>
            </a:pPr>
            <a:r>
              <a:rPr lang="zh-CN" altLang="en-US" sz="1350" dirty="0">
                <a:solidFill>
                  <a:srgbClr val="5360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资料未署名 · 用户提供的教学模拟资料包 · 2026 · protocol.md · 版本1，</a:t>
            </a:r>
            <a:endParaRPr lang="zh-CN" sz="1350" dirty="0"/>
          </a:p>
          <a:p>
            <a:pPr algn="l" indent="0" marL="0">
              <a:lnSpc>
                <a:spcPts val="1674"/>
              </a:lnSpc>
              <a:buNone/>
            </a:pPr>
            <a:r>
              <a:rPr lang="zh-CN" altLang="en-US" sz="1350" dirty="0">
                <a:solidFill>
                  <a:srgbClr val="5360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2026-10-20</a:t>
            </a:r>
            <a:endParaRPr lang="zh-CN" sz="1350" dirty="0"/>
          </a:p>
        </p:txBody>
      </p:sp>
      <p:sp>
        <p:nvSpPr>
          <p:cNvPr id="11" name="S08/ref:P-protocol:line"/>
          <p:cNvSpPr/>
          <p:nvPr/>
        </p:nvSpPr>
        <p:spPr>
          <a:xfrm>
            <a:off x="1123950" y="2017967"/>
            <a:ext cx="7010400" cy="0"/>
          </a:xfrm>
          <a:prstGeom prst="line">
            <a:avLst/>
          </a:prstGeom>
          <a:noFill/>
          <a:ln w="13335">
            <a:solidFill>
              <a:srgbClr val="CCD2DA"/>
            </a:solidFill>
            <a:prstDash val="solid"/>
          </a:ln>
        </p:spPr>
      </p:sp>
      <p:sp>
        <p:nvSpPr>
          <p:cNvPr id="12" name="S08/ref:P-data:id"/>
          <p:cNvSpPr/>
          <p:nvPr/>
        </p:nvSpPr>
        <p:spPr>
          <a:xfrm>
            <a:off x="457200" y="2160842"/>
            <a:ext cx="55245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12"/>
              </a:lnSpc>
              <a:buNone/>
            </a:pPr>
            <a:r>
              <a:rPr lang="zh-CN" altLang="en-US" sz="1650" b="1" dirty="0">
                <a:solidFill>
                  <a:srgbClr val="173F7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[2]</a:t>
            </a:r>
            <a:endParaRPr lang="zh-CN" sz="1650" dirty="0"/>
          </a:p>
        </p:txBody>
      </p:sp>
      <p:sp>
        <p:nvSpPr>
          <p:cNvPr id="13" name="S08/ref:P-data:title"/>
          <p:cNvSpPr/>
          <p:nvPr/>
        </p:nvSpPr>
        <p:spPr>
          <a:xfrm>
            <a:off x="1123950" y="2141792"/>
            <a:ext cx="70104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2026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疲劳试件观察记录（fatigue.csv，教学模拟数据）</a:t>
            </a:r>
            <a:endParaRPr lang="zh-CN" sz="1800" dirty="0"/>
          </a:p>
        </p:txBody>
      </p:sp>
      <p:sp>
        <p:nvSpPr>
          <p:cNvPr id="14" name="S08/ref:P-data:meta"/>
          <p:cNvSpPr/>
          <p:nvPr/>
        </p:nvSpPr>
        <p:spPr>
          <a:xfrm>
            <a:off x="1123950" y="2482787"/>
            <a:ext cx="7010400" cy="42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74"/>
              </a:lnSpc>
              <a:buNone/>
            </a:pPr>
            <a:r>
              <a:rPr lang="zh-CN" altLang="en-US" sz="1350" dirty="0">
                <a:solidFill>
                  <a:srgbClr val="5360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资料未署名 · 用户提供的48件试件合成记录 · 2026 · fatigue.csv · 与protocol.md</a:t>
            </a:r>
            <a:endParaRPr lang="zh-CN" sz="1350" dirty="0"/>
          </a:p>
          <a:p>
            <a:pPr algn="l" indent="0" marL="0">
              <a:lnSpc>
                <a:spcPts val="1674"/>
              </a:lnSpc>
              <a:buNone/>
            </a:pPr>
            <a:r>
              <a:rPr lang="zh-CN" altLang="en-US" sz="1350" dirty="0">
                <a:solidFill>
                  <a:srgbClr val="5360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版本1配套，48件试件</a:t>
            </a:r>
            <a:endParaRPr lang="zh-CN" sz="1350" dirty="0"/>
          </a:p>
        </p:txBody>
      </p:sp>
      <p:sp>
        <p:nvSpPr>
          <p:cNvPr id="15" name="S08/card/scope/title"/>
          <p:cNvSpPr/>
          <p:nvPr/>
        </p:nvSpPr>
        <p:spPr>
          <a:xfrm>
            <a:off x="8477250" y="1245584"/>
            <a:ext cx="3257550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536A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资料范围</a:t>
            </a:r>
            <a:endParaRPr lang="zh-CN" sz="1950" dirty="0"/>
          </a:p>
        </p:txBody>
      </p:sp>
      <p:sp>
        <p:nvSpPr>
          <p:cNvPr id="16" name="S08/card/scope/body"/>
          <p:cNvSpPr/>
          <p:nvPr/>
        </p:nvSpPr>
        <p:spPr>
          <a:xfrm>
            <a:off x="8477250" y="1693259"/>
            <a:ext cx="3257550" cy="1671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2026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protocol.md：条件与终点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2026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fatigue.csv：48件记录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2026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均为合成教学材料</a:t>
            </a:r>
            <a:endParaRPr lang="zh-CN" sz="1800" dirty="0"/>
          </a:p>
        </p:txBody>
      </p:sp>
      <p:sp>
        <p:nvSpPr>
          <p:cNvPr id="17" name="S08/card/discussion/heading-rule"/>
          <p:cNvSpPr/>
          <p:nvPr/>
        </p:nvSpPr>
        <p:spPr>
          <a:xfrm>
            <a:off x="8477250" y="4021741"/>
            <a:ext cx="3257550" cy="0"/>
          </a:xfrm>
          <a:prstGeom prst="line">
            <a:avLst/>
          </a:prstGeom>
          <a:noFill/>
          <a:ln w="9525">
            <a:solidFill>
              <a:srgbClr val="CCD2DA"/>
            </a:solidFill>
            <a:prstDash val="solid"/>
          </a:ln>
        </p:spPr>
      </p:sp>
      <p:sp>
        <p:nvSpPr>
          <p:cNvPr id="18" name="S08/card/discussion/heading-mark"/>
          <p:cNvSpPr/>
          <p:nvPr/>
        </p:nvSpPr>
        <p:spPr>
          <a:xfrm>
            <a:off x="8477250" y="4021741"/>
            <a:ext cx="342900" cy="0"/>
          </a:xfrm>
          <a:prstGeom prst="line">
            <a:avLst/>
          </a:prstGeom>
          <a:noFill/>
          <a:ln w="17145">
            <a:solidFill>
              <a:srgbClr val="173F75"/>
            </a:solidFill>
            <a:prstDash val="solid"/>
          </a:ln>
        </p:spPr>
      </p:sp>
      <p:sp>
        <p:nvSpPr>
          <p:cNvPr id="19" name="S08/card/discussion/title"/>
          <p:cNvSpPr/>
          <p:nvPr/>
        </p:nvSpPr>
        <p:spPr>
          <a:xfrm>
            <a:off x="8477250" y="3678841"/>
            <a:ext cx="3257550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173F7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请课题组讨论</a:t>
            </a:r>
            <a:endParaRPr lang="zh-CN" sz="1950" dirty="0"/>
          </a:p>
        </p:txBody>
      </p:sp>
      <p:sp>
        <p:nvSpPr>
          <p:cNvPr id="20" name="S08/card/discussion/body"/>
          <p:cNvSpPr/>
          <p:nvPr/>
        </p:nvSpPr>
        <p:spPr>
          <a:xfrm>
            <a:off x="8477250" y="4155091"/>
            <a:ext cx="3257550" cy="1820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2026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最小有意义增益δ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2026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可行样本量与分配方案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2026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同批同应力验证的资源</a:t>
            </a:r>
            <a:endParaRPr lang="zh-CN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金属构件疲劳寿命研究进展汇报</dc:title>
  <dc:subject>在已完成的48件教学模拟试件记录中，改性与常规工艺的寿命差异有多大，现有设计能否将差异归因于工艺，下一批同应力试件怎样验证？</dc:subject>
  <dc:creator>DSH Academic PPT</dc:creator>
  <cp:lastModifiedBy>DSH Academic PPT</cp:lastModifiedBy>
  <cp:revision>1</cp:revision>
  <dcterms:created xsi:type="dcterms:W3CDTF">2026-10-20T07:53:43Z</dcterms:created>
  <dcterms:modified xsi:type="dcterms:W3CDTF">2026-10-20T07:53:43Z</dcterms:modified>
</cp:coreProperties>
</file>