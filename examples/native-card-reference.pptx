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academic component sampler. The source user templates were studied for structure, not redistributed. All titles, frames, rules and explanatory text in this file are native editable objects. MIT with the plugin.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page-title"/>
          <p:cNvSpPr/>
          <p:nvPr/>
        </p:nvSpPr>
        <p:spPr>
          <a:xfrm>
            <a:off x="457200" y="285750"/>
            <a:ext cx="11277600" cy="514350"/>
          </a:xfrm>
          <a:prstGeom prst="rect">
            <a:avLst/>
          </a:prstGeom>
          <a:noFill/>
          <a:ln/>
        </p:spPr>
        <p:txBody>
          <a:bodyPr wrap="square" lIns="0" tIns="0" rIns="0" bIns="0" rtlCol="0" anchor="ctr"/>
          <a:lstStyle/>
          <a:p>
            <a:pPr indent="0" marL="0">
              <a:buNone/>
            </a:pPr>
            <a:r>
              <a:rPr lang="en-US" sz="2550" b="1" dirty="0">
                <a:solidFill>
                  <a:srgbClr val="14326C"/>
                </a:solidFill>
                <a:latin typeface="Noto Sans CJK SC" pitchFamily="34" charset="0"/>
                <a:ea typeface="Noto Sans CJK SC" pitchFamily="34" charset="-122"/>
                <a:cs typeface="Noto Sans CJK SC" pitchFamily="34" charset="-120"/>
              </a:rPr>
              <a:t>学术小面板：边框与题签服务内容层级</a:t>
            </a:r>
            <a:endParaRPr lang="en-US" sz="2550" dirty="0"/>
          </a:p>
        </p:txBody>
      </p:sp>
      <p:sp>
        <p:nvSpPr>
          <p:cNvPr id="3" name="title-rule"/>
          <p:cNvSpPr/>
          <p:nvPr/>
        </p:nvSpPr>
        <p:spPr>
          <a:xfrm>
            <a:off x="457200" y="914400"/>
            <a:ext cx="11277600" cy="0"/>
          </a:xfrm>
          <a:prstGeom prst="line">
            <a:avLst/>
          </a:prstGeom>
          <a:noFill/>
          <a:ln w="12700">
            <a:solidFill>
              <a:srgbClr val="184578"/>
            </a:solidFill>
            <a:prstDash val="solid"/>
          </a:ln>
        </p:spPr>
      </p:sp>
      <p:sp>
        <p:nvSpPr>
          <p:cNvPr id="4" name="page-guide"/>
          <p:cNvSpPr/>
          <p:nvPr/>
        </p:nvSpPr>
        <p:spPr>
          <a:xfrm>
            <a:off x="457200" y="1028700"/>
            <a:ext cx="11277600" cy="361950"/>
          </a:xfrm>
          <a:prstGeom prst="rect">
            <a:avLst/>
          </a:prstGeom>
          <a:noFill/>
          <a:ln/>
        </p:spPr>
        <p:txBody>
          <a:bodyPr wrap="square" lIns="0" tIns="0" rIns="0" bIns="0" rtlCol="0" anchor="ctr"/>
          <a:lstStyle/>
          <a:p>
            <a:pPr indent="0" marL="0">
              <a:buNone/>
            </a:pPr>
            <a:r>
              <a:rPr lang="en-US" sz="1575" dirty="0">
                <a:solidFill>
                  <a:srgbClr val="526173"/>
                </a:solidFill>
                <a:latin typeface="Noto Sans CJK SC" pitchFamily="34" charset="0"/>
                <a:ea typeface="Noto Sans CJK SC" pitchFamily="34" charset="-122"/>
                <a:cs typeface="Noto Sans CJK SC" pitchFamily="34" charset="-120"/>
              </a:rPr>
              <a:t>六种局部组件可组合到不同图文页；示例文字用于说明布局，导入时不作为新研究内容。</a:t>
            </a:r>
            <a:endParaRPr lang="en-US" sz="1575" dirty="0"/>
          </a:p>
        </p:txBody>
      </p:sp>
      <p:sp>
        <p:nvSpPr>
          <p:cNvPr id="5" name="academic-evidence-sheet"/>
          <p:cNvSpPr/>
          <p:nvPr/>
        </p:nvSpPr>
        <p:spPr>
          <a:xfrm>
            <a:off x="457200" y="1524000"/>
            <a:ext cx="5486400" cy="1390650"/>
          </a:xfrm>
          <a:prstGeom prst="rect">
            <a:avLst/>
          </a:prstGeom>
          <a:solidFill>
            <a:srgbClr val="FFFFFF"/>
          </a:solidFill>
          <a:ln w="7620">
            <a:solidFill>
              <a:srgbClr val="CBD5E1"/>
            </a:solidFill>
            <a:prstDash val="solid"/>
          </a:ln>
        </p:spPr>
      </p:sp>
      <p:sp>
        <p:nvSpPr>
          <p:cNvPr id="6" name="evidence-heading-band"/>
          <p:cNvSpPr/>
          <p:nvPr/>
        </p:nvSpPr>
        <p:spPr>
          <a:xfrm>
            <a:off x="457200" y="1524000"/>
            <a:ext cx="5486400" cy="381000"/>
          </a:xfrm>
          <a:prstGeom prst="rect">
            <a:avLst/>
          </a:prstGeom>
          <a:solidFill>
            <a:srgbClr val="EBF1F8"/>
          </a:solidFill>
          <a:ln w="7620">
            <a:solidFill>
              <a:srgbClr val="CBD5E1"/>
            </a:solidFill>
            <a:prstDash val="solid"/>
          </a:ln>
        </p:spPr>
      </p:sp>
      <p:sp>
        <p:nvSpPr>
          <p:cNvPr id="7" name="evidence-title"/>
          <p:cNvSpPr/>
          <p:nvPr/>
        </p:nvSpPr>
        <p:spPr>
          <a:xfrm>
            <a:off x="609600" y="1581150"/>
            <a:ext cx="5105400" cy="285750"/>
          </a:xfrm>
          <a:prstGeom prst="rect">
            <a:avLst/>
          </a:prstGeom>
          <a:noFill/>
          <a:ln/>
        </p:spPr>
        <p:txBody>
          <a:bodyPr wrap="square" lIns="0" tIns="0" rIns="0" bIns="0" rtlCol="0" anchor="ctr"/>
          <a:lstStyle/>
          <a:p>
            <a:pPr indent="0" marL="0">
              <a:buNone/>
            </a:pPr>
            <a:r>
              <a:rPr lang="en-US" sz="1725" b="1" dirty="0">
                <a:solidFill>
                  <a:srgbClr val="14326C"/>
                </a:solidFill>
                <a:latin typeface="Noto Sans CJK SC" pitchFamily="34" charset="0"/>
                <a:ea typeface="Noto Sans CJK SC" pitchFamily="34" charset="-122"/>
                <a:cs typeface="Noto Sans CJK SC" pitchFamily="34" charset="-120"/>
              </a:rPr>
              <a:t>淡蓝表头 · 研究方法</a:t>
            </a:r>
            <a:endParaRPr lang="en-US" sz="1725" dirty="0"/>
          </a:p>
        </p:txBody>
      </p:sp>
      <p:sp>
        <p:nvSpPr>
          <p:cNvPr id="8" name="evidence-body"/>
          <p:cNvSpPr/>
          <p:nvPr/>
        </p:nvSpPr>
        <p:spPr>
          <a:xfrm>
            <a:off x="609600" y="2019300"/>
            <a:ext cx="5105400" cy="762000"/>
          </a:xfrm>
          <a:prstGeom prst="rect">
            <a:avLst/>
          </a:prstGeom>
          <a:noFill/>
          <a:ln/>
        </p:spPr>
        <p:txBody>
          <a:bodyPr wrap="square" lIns="0" tIns="0" rIns="0" bIns="0" rtlCol="0" anchor="ctr"/>
          <a:lstStyle/>
          <a:p>
            <a:pPr indent="0" marL="0">
              <a:buNone/>
            </a:pPr>
            <a:r>
              <a:rPr lang="en-US" sz="1725" dirty="0">
                <a:solidFill>
                  <a:srgbClr val="222B36"/>
                </a:solidFill>
                <a:latin typeface="Noto Sans CJK SC" pitchFamily="34" charset="0"/>
                <a:ea typeface="Noto Sans CJK SC" pitchFamily="34" charset="-122"/>
                <a:cs typeface="Noto Sans CJK SC" pitchFamily="34" charset="-120"/>
              </a:rPr>
              <a:t>题签交代区域职责。正文说明输入、处理与输出，图像或流程可在相邻区域展开。</a:t>
            </a:r>
            <a:endParaRPr lang="en-US" sz="1725" dirty="0"/>
          </a:p>
        </p:txBody>
      </p:sp>
      <p:sp>
        <p:nvSpPr>
          <p:cNvPr id="9" name="academic-boundary-fold"/>
          <p:cNvSpPr/>
          <p:nvPr/>
        </p:nvSpPr>
        <p:spPr>
          <a:xfrm>
            <a:off x="6248400" y="1524000"/>
            <a:ext cx="5486400" cy="1390650"/>
          </a:xfrm>
          <a:prstGeom prst="rect">
            <a:avLst/>
          </a:prstGeom>
          <a:solidFill>
            <a:srgbClr val="FFFFFF"/>
          </a:solidFill>
          <a:ln w="7620">
            <a:solidFill>
              <a:srgbClr val="BDA0A4"/>
            </a:solidFill>
            <a:prstDash val="solid"/>
          </a:ln>
        </p:spPr>
      </p:sp>
      <p:sp>
        <p:nvSpPr>
          <p:cNvPr id="10" name="boundary-top-line"/>
          <p:cNvSpPr/>
          <p:nvPr/>
        </p:nvSpPr>
        <p:spPr>
          <a:xfrm>
            <a:off x="6400800" y="1524000"/>
            <a:ext cx="914400" cy="0"/>
          </a:xfrm>
          <a:prstGeom prst="line">
            <a:avLst/>
          </a:prstGeom>
          <a:noFill/>
          <a:ln w="25400">
            <a:solidFill>
              <a:srgbClr val="9B303A"/>
            </a:solidFill>
            <a:prstDash val="solid"/>
          </a:ln>
        </p:spPr>
      </p:sp>
      <p:sp>
        <p:nvSpPr>
          <p:cNvPr id="11" name="boundary-fold-a"/>
          <p:cNvSpPr/>
          <p:nvPr/>
        </p:nvSpPr>
        <p:spPr>
          <a:xfrm>
            <a:off x="11544300" y="1524000"/>
            <a:ext cx="0" cy="190500"/>
          </a:xfrm>
          <a:prstGeom prst="line">
            <a:avLst/>
          </a:prstGeom>
          <a:noFill/>
          <a:ln w="12700">
            <a:solidFill>
              <a:srgbClr val="9B303A"/>
            </a:solidFill>
            <a:prstDash val="solid"/>
          </a:ln>
        </p:spPr>
      </p:sp>
      <p:sp>
        <p:nvSpPr>
          <p:cNvPr id="12" name="boundary-fold-b"/>
          <p:cNvSpPr/>
          <p:nvPr/>
        </p:nvSpPr>
        <p:spPr>
          <a:xfrm>
            <a:off x="11544300" y="1714500"/>
            <a:ext cx="190500" cy="0"/>
          </a:xfrm>
          <a:prstGeom prst="line">
            <a:avLst/>
          </a:prstGeom>
          <a:noFill/>
          <a:ln w="12700">
            <a:solidFill>
              <a:srgbClr val="9B303A"/>
            </a:solidFill>
            <a:prstDash val="solid"/>
          </a:ln>
        </p:spPr>
      </p:sp>
      <p:sp>
        <p:nvSpPr>
          <p:cNvPr id="13" name="boundary-fold-c"/>
          <p:cNvSpPr/>
          <p:nvPr/>
        </p:nvSpPr>
        <p:spPr>
          <a:xfrm>
            <a:off x="11544300" y="1524000"/>
            <a:ext cx="190500" cy="190500"/>
          </a:xfrm>
          <a:prstGeom prst="line">
            <a:avLst/>
          </a:prstGeom>
          <a:noFill/>
          <a:ln w="12700">
            <a:solidFill>
              <a:srgbClr val="9B303A"/>
            </a:solidFill>
            <a:prstDash val="solid"/>
          </a:ln>
        </p:spPr>
      </p:sp>
      <p:sp>
        <p:nvSpPr>
          <p:cNvPr id="14" name="boundary-title"/>
          <p:cNvSpPr/>
          <p:nvPr/>
        </p:nvSpPr>
        <p:spPr>
          <a:xfrm>
            <a:off x="6400800" y="1657350"/>
            <a:ext cx="4953000" cy="285750"/>
          </a:xfrm>
          <a:prstGeom prst="rect">
            <a:avLst/>
          </a:prstGeom>
          <a:noFill/>
          <a:ln/>
        </p:spPr>
        <p:txBody>
          <a:bodyPr wrap="square" lIns="0" tIns="0" rIns="0" bIns="0" rtlCol="0" anchor="ctr"/>
          <a:lstStyle/>
          <a:p>
            <a:pPr indent="0" marL="0">
              <a:buNone/>
            </a:pPr>
            <a:r>
              <a:rPr lang="en-US" sz="1725" b="1" dirty="0">
                <a:solidFill>
                  <a:srgbClr val="9B303A"/>
                </a:solidFill>
                <a:latin typeface="Noto Sans CJK SC" pitchFamily="34" charset="0"/>
                <a:ea typeface="Noto Sans CJK SC" pitchFamily="34" charset="-122"/>
                <a:cs typeface="Noto Sans CJK SC" pitchFamily="34" charset="-120"/>
              </a:rPr>
              <a:t>边界提示 · 适用范围</a:t>
            </a:r>
            <a:endParaRPr lang="en-US" sz="1725" dirty="0"/>
          </a:p>
        </p:txBody>
      </p:sp>
      <p:sp>
        <p:nvSpPr>
          <p:cNvPr id="15" name="boundary-body"/>
          <p:cNvSpPr/>
          <p:nvPr/>
        </p:nvSpPr>
        <p:spPr>
          <a:xfrm>
            <a:off x="6400800" y="2019300"/>
            <a:ext cx="5067300" cy="762000"/>
          </a:xfrm>
          <a:prstGeom prst="rect">
            <a:avLst/>
          </a:prstGeom>
          <a:noFill/>
          <a:ln/>
        </p:spPr>
        <p:txBody>
          <a:bodyPr wrap="square" lIns="0" tIns="0" rIns="0" bIns="0" rtlCol="0" anchor="ctr"/>
          <a:lstStyle/>
          <a:p>
            <a:pPr indent="0" marL="0">
              <a:buNone/>
            </a:pPr>
            <a:r>
              <a:rPr lang="en-US" sz="1725" dirty="0">
                <a:solidFill>
                  <a:srgbClr val="222B36"/>
                </a:solidFill>
                <a:latin typeface="Noto Sans CJK SC" pitchFamily="34" charset="0"/>
                <a:ea typeface="Noto Sans CJK SC" pitchFamily="34" charset="-122"/>
                <a:cs typeface="Noto Sans CJK SC" pitchFamily="34" charset="-120"/>
              </a:rPr>
              <a:t>限定词靠近结果。折角只作定位，保持细线与留白，不用大色块遮盖解释。</a:t>
            </a:r>
            <a:endParaRPr lang="en-US" sz="1725" dirty="0"/>
          </a:p>
        </p:txBody>
      </p:sp>
      <p:sp>
        <p:nvSpPr>
          <p:cNvPr id="16" name="academic-short-tab"/>
          <p:cNvSpPr/>
          <p:nvPr/>
        </p:nvSpPr>
        <p:spPr>
          <a:xfrm>
            <a:off x="457200" y="3143250"/>
            <a:ext cx="5486400" cy="1390650"/>
          </a:xfrm>
          <a:prstGeom prst="rect">
            <a:avLst/>
          </a:prstGeom>
          <a:solidFill>
            <a:srgbClr val="FFFFFF"/>
          </a:solidFill>
          <a:ln w="7620">
            <a:solidFill>
              <a:srgbClr val="CBD5E1"/>
            </a:solidFill>
            <a:prstDash val="solid"/>
          </a:ln>
        </p:spPr>
      </p:sp>
      <p:sp>
        <p:nvSpPr>
          <p:cNvPr id="17" name="short-tab-label"/>
          <p:cNvSpPr/>
          <p:nvPr/>
        </p:nvSpPr>
        <p:spPr>
          <a:xfrm>
            <a:off x="609600" y="3143250"/>
            <a:ext cx="1143000" cy="342900"/>
          </a:xfrm>
          <a:prstGeom prst="rect">
            <a:avLst/>
          </a:prstGeom>
          <a:solidFill>
            <a:srgbClr val="14326C"/>
          </a:solidFill>
          <a:ln w="7620">
            <a:solidFill>
              <a:srgbClr val="14326C"/>
            </a:solidFill>
            <a:prstDash val="solid"/>
          </a:ln>
        </p:spPr>
      </p:sp>
      <p:sp>
        <p:nvSpPr>
          <p:cNvPr id="18" name="short-tab-title"/>
          <p:cNvSpPr/>
          <p:nvPr/>
        </p:nvSpPr>
        <p:spPr>
          <a:xfrm>
            <a:off x="704850" y="3181350"/>
            <a:ext cx="1028700" cy="285750"/>
          </a:xfrm>
          <a:prstGeom prst="rect">
            <a:avLst/>
          </a:prstGeom>
          <a:noFill/>
          <a:ln/>
        </p:spPr>
        <p:txBody>
          <a:bodyPr wrap="square" lIns="0" tIns="0" rIns="0" bIns="0" rtlCol="0" anchor="ctr"/>
          <a:lstStyle/>
          <a:p>
            <a:pPr indent="0" marL="0">
              <a:buNone/>
            </a:pPr>
            <a:r>
              <a:rPr lang="en-US" sz="1725" b="1" dirty="0">
                <a:solidFill>
                  <a:srgbClr val="FFFFFF"/>
                </a:solidFill>
                <a:latin typeface="Noto Sans CJK SC" pitchFamily="34" charset="0"/>
                <a:ea typeface="Noto Sans CJK SC" pitchFamily="34" charset="-122"/>
                <a:cs typeface="Noto Sans CJK SC" pitchFamily="34" charset="-120"/>
              </a:rPr>
              <a:t>研究问题</a:t>
            </a:r>
            <a:endParaRPr lang="en-US" sz="1725" dirty="0"/>
          </a:p>
        </p:txBody>
      </p:sp>
      <p:sp>
        <p:nvSpPr>
          <p:cNvPr id="19" name="short-tab-body"/>
          <p:cNvSpPr/>
          <p:nvPr/>
        </p:nvSpPr>
        <p:spPr>
          <a:xfrm>
            <a:off x="609600" y="3676650"/>
            <a:ext cx="5105400" cy="742950"/>
          </a:xfrm>
          <a:prstGeom prst="rect">
            <a:avLst/>
          </a:prstGeom>
          <a:noFill/>
          <a:ln/>
        </p:spPr>
        <p:txBody>
          <a:bodyPr wrap="square" lIns="0" tIns="0" rIns="0" bIns="0" rtlCol="0" anchor="ctr"/>
          <a:lstStyle/>
          <a:p>
            <a:pPr indent="0" marL="0">
              <a:buNone/>
            </a:pPr>
            <a:r>
              <a:rPr lang="en-US" sz="1725" dirty="0">
                <a:solidFill>
                  <a:srgbClr val="222B36"/>
                </a:solidFill>
                <a:latin typeface="Noto Sans CJK SC" pitchFamily="34" charset="0"/>
                <a:ea typeface="Noto Sans CJK SC" pitchFamily="34" charset="-122"/>
                <a:cs typeface="Noto Sans CJK SC" pitchFamily="34" charset="-120"/>
              </a:rPr>
              <a:t>短签与框体分工：签概括主题，正文提出具体问题、已有证据及需要检验的关系。</a:t>
            </a:r>
            <a:endParaRPr lang="en-US" sz="1725" dirty="0"/>
          </a:p>
        </p:txBody>
      </p:sp>
      <p:sp>
        <p:nvSpPr>
          <p:cNvPr id="20" name="academic-side-label"/>
          <p:cNvSpPr/>
          <p:nvPr/>
        </p:nvSpPr>
        <p:spPr>
          <a:xfrm>
            <a:off x="6248400" y="3143250"/>
            <a:ext cx="5486400" cy="1390650"/>
          </a:xfrm>
          <a:prstGeom prst="rect">
            <a:avLst/>
          </a:prstGeom>
          <a:solidFill>
            <a:srgbClr val="F5F7FA"/>
          </a:solidFill>
          <a:ln w="7620">
            <a:solidFill>
              <a:srgbClr val="CBD5E1"/>
            </a:solidFill>
            <a:prstDash val="solid"/>
          </a:ln>
        </p:spPr>
      </p:sp>
      <p:sp>
        <p:nvSpPr>
          <p:cNvPr id="21" name="side-label-band"/>
          <p:cNvSpPr/>
          <p:nvPr/>
        </p:nvSpPr>
        <p:spPr>
          <a:xfrm>
            <a:off x="6248400" y="3143250"/>
            <a:ext cx="838200" cy="1390650"/>
          </a:xfrm>
          <a:prstGeom prst="rect">
            <a:avLst/>
          </a:prstGeom>
          <a:solidFill>
            <a:srgbClr val="184578"/>
          </a:solidFill>
          <a:ln w="7620">
            <a:solidFill>
              <a:srgbClr val="184578"/>
            </a:solidFill>
            <a:prstDash val="solid"/>
          </a:ln>
        </p:spPr>
      </p:sp>
      <p:sp>
        <p:nvSpPr>
          <p:cNvPr id="22" name="side-label-title"/>
          <p:cNvSpPr/>
          <p:nvPr/>
        </p:nvSpPr>
        <p:spPr>
          <a:xfrm>
            <a:off x="6381750" y="3543300"/>
            <a:ext cx="590550" cy="647700"/>
          </a:xfrm>
          <a:prstGeom prst="rect">
            <a:avLst/>
          </a:prstGeom>
          <a:noFill/>
          <a:ln/>
        </p:spPr>
        <p:txBody>
          <a:bodyPr wrap="square" lIns="0" tIns="0" rIns="0" bIns="0" rtlCol="0" anchor="ctr"/>
          <a:lstStyle/>
          <a:p>
            <a:pPr indent="0" marL="0">
              <a:buNone/>
            </a:pPr>
            <a:r>
              <a:rPr lang="en-US" sz="1800" b="1" dirty="0">
                <a:solidFill>
                  <a:srgbClr val="FFFFFF"/>
                </a:solidFill>
                <a:latin typeface="Noto Sans CJK SC" pitchFamily="34" charset="0"/>
                <a:ea typeface="Noto Sans CJK SC" pitchFamily="34" charset="-122"/>
                <a:cs typeface="Noto Sans CJK SC" pitchFamily="34" charset="-120"/>
              </a:rPr>
              <a:t>实验</a:t>
            </a:r>
            <a:endParaRPr lang="en-US" sz="1800" dirty="0"/>
          </a:p>
          <a:p>
            <a:pPr indent="0" marL="0">
              <a:buNone/>
            </a:pPr>
            <a:r>
              <a:rPr lang="en-US" sz="1800" b="1" dirty="0">
                <a:solidFill>
                  <a:srgbClr val="FFFFFF"/>
                </a:solidFill>
                <a:latin typeface="Noto Sans CJK SC" pitchFamily="34" charset="0"/>
                <a:ea typeface="Noto Sans CJK SC" pitchFamily="34" charset="-122"/>
                <a:cs typeface="Noto Sans CJK SC" pitchFamily="34" charset="-120"/>
              </a:rPr>
              <a:t>设置</a:t>
            </a:r>
            <a:endParaRPr lang="en-US" sz="1800" dirty="0"/>
          </a:p>
        </p:txBody>
      </p:sp>
      <p:sp>
        <p:nvSpPr>
          <p:cNvPr id="23" name="side-label-body"/>
          <p:cNvSpPr/>
          <p:nvPr/>
        </p:nvSpPr>
        <p:spPr>
          <a:xfrm>
            <a:off x="7277100" y="3390900"/>
            <a:ext cx="4286250" cy="1028700"/>
          </a:xfrm>
          <a:prstGeom prst="rect">
            <a:avLst/>
          </a:prstGeom>
          <a:noFill/>
          <a:ln/>
        </p:spPr>
        <p:txBody>
          <a:bodyPr wrap="square" lIns="0" tIns="0" rIns="0" bIns="0" rtlCol="0" anchor="ctr"/>
          <a:lstStyle/>
          <a:p>
            <a:pPr indent="0" marL="0">
              <a:buNone/>
            </a:pPr>
            <a:r>
              <a:rPr lang="en-US" sz="1725" dirty="0">
                <a:solidFill>
                  <a:srgbClr val="222B36"/>
                </a:solidFill>
                <a:latin typeface="Noto Sans CJK SC" pitchFamily="34" charset="0"/>
                <a:ea typeface="Noto Sans CJK SC" pitchFamily="34" charset="-122"/>
                <a:cs typeface="Noto Sans CJK SC" pitchFamily="34" charset="-120"/>
              </a:rPr>
              <a:t>明确样本单位、处理条件和对照。侧签适合短主题；长标题改用顶部题签。</a:t>
            </a:r>
            <a:endParaRPr lang="en-US" sz="1725" dirty="0"/>
          </a:p>
        </p:txBody>
      </p:sp>
      <p:sp>
        <p:nvSpPr>
          <p:cNvPr id="24" name="academic-open-rule"/>
          <p:cNvSpPr/>
          <p:nvPr/>
        </p:nvSpPr>
        <p:spPr>
          <a:xfrm>
            <a:off x="457200" y="4762500"/>
            <a:ext cx="5486400" cy="1390650"/>
          </a:xfrm>
          <a:prstGeom prst="rect">
            <a:avLst/>
          </a:prstGeom>
          <a:solidFill>
            <a:srgbClr val="FFFFFF"/>
          </a:solidFill>
          <a:ln w="7620">
            <a:solidFill>
              <a:srgbClr val="FFFFFF"/>
            </a:solidFill>
            <a:prstDash val="solid"/>
          </a:ln>
        </p:spPr>
      </p:sp>
      <p:sp>
        <p:nvSpPr>
          <p:cNvPr id="25" name="open-rule-top"/>
          <p:cNvSpPr/>
          <p:nvPr/>
        </p:nvSpPr>
        <p:spPr>
          <a:xfrm>
            <a:off x="457200" y="4762500"/>
            <a:ext cx="5486400" cy="0"/>
          </a:xfrm>
          <a:prstGeom prst="line">
            <a:avLst/>
          </a:prstGeom>
          <a:noFill/>
          <a:ln w="12700">
            <a:solidFill>
              <a:srgbClr val="14326C"/>
            </a:solidFill>
            <a:prstDash val="solid"/>
          </a:ln>
        </p:spPr>
      </p:sp>
      <p:sp>
        <p:nvSpPr>
          <p:cNvPr id="26" name="open-rule-left"/>
          <p:cNvSpPr/>
          <p:nvPr/>
        </p:nvSpPr>
        <p:spPr>
          <a:xfrm>
            <a:off x="457200" y="4762500"/>
            <a:ext cx="0" cy="304800"/>
          </a:xfrm>
          <a:prstGeom prst="line">
            <a:avLst/>
          </a:prstGeom>
          <a:noFill/>
          <a:ln w="12700">
            <a:solidFill>
              <a:srgbClr val="14326C"/>
            </a:solidFill>
            <a:prstDash val="solid"/>
          </a:ln>
        </p:spPr>
      </p:sp>
      <p:sp>
        <p:nvSpPr>
          <p:cNvPr id="27" name="open-rule-title"/>
          <p:cNvSpPr/>
          <p:nvPr/>
        </p:nvSpPr>
        <p:spPr>
          <a:xfrm>
            <a:off x="609600" y="4914900"/>
            <a:ext cx="5105400" cy="304800"/>
          </a:xfrm>
          <a:prstGeom prst="rect">
            <a:avLst/>
          </a:prstGeom>
          <a:noFill/>
          <a:ln/>
        </p:spPr>
        <p:txBody>
          <a:bodyPr wrap="square" lIns="0" tIns="0" rIns="0" bIns="0" rtlCol="0" anchor="ctr"/>
          <a:lstStyle/>
          <a:p>
            <a:pPr indent="0" marL="0">
              <a:buNone/>
            </a:pPr>
            <a:r>
              <a:rPr lang="en-US" sz="1725" b="1" dirty="0">
                <a:solidFill>
                  <a:srgbClr val="14326C"/>
                </a:solidFill>
                <a:latin typeface="Noto Sans CJK SC" pitchFamily="34" charset="0"/>
                <a:ea typeface="Noto Sans CJK SC" pitchFamily="34" charset="-122"/>
                <a:cs typeface="Noto Sans CJK SC" pitchFamily="34" charset="-120"/>
              </a:rPr>
              <a:t>开放线框 · 读图说明</a:t>
            </a:r>
            <a:endParaRPr lang="en-US" sz="1725" dirty="0"/>
          </a:p>
        </p:txBody>
      </p:sp>
      <p:sp>
        <p:nvSpPr>
          <p:cNvPr id="28" name="open-rule-body"/>
          <p:cNvSpPr/>
          <p:nvPr/>
        </p:nvSpPr>
        <p:spPr>
          <a:xfrm>
            <a:off x="609600" y="5372100"/>
            <a:ext cx="5105400" cy="704850"/>
          </a:xfrm>
          <a:prstGeom prst="rect">
            <a:avLst/>
          </a:prstGeom>
          <a:noFill/>
          <a:ln/>
        </p:spPr>
        <p:txBody>
          <a:bodyPr wrap="square" lIns="0" tIns="0" rIns="0" bIns="0" rtlCol="0" anchor="ctr"/>
          <a:lstStyle/>
          <a:p>
            <a:pPr indent="0" marL="0">
              <a:buNone/>
            </a:pPr>
            <a:r>
              <a:rPr lang="en-US" sz="1725" dirty="0">
                <a:solidFill>
                  <a:srgbClr val="222B36"/>
                </a:solidFill>
                <a:latin typeface="Noto Sans CJK SC" pitchFamily="34" charset="0"/>
                <a:ea typeface="Noto Sans CJK SC" pitchFamily="34" charset="-122"/>
                <a:cs typeface="Noto Sans CJK SC" pitchFamily="34" charset="-120"/>
              </a:rPr>
              <a:t>解释贴近相应图，指出坐标、颜色和趋势；不要把图注再重复一遍。</a:t>
            </a:r>
            <a:endParaRPr lang="en-US" sz="1725" dirty="0"/>
          </a:p>
        </p:txBody>
      </p:sp>
      <p:sp>
        <p:nvSpPr>
          <p:cNvPr id="29" name="academic-compact-note"/>
          <p:cNvSpPr/>
          <p:nvPr/>
        </p:nvSpPr>
        <p:spPr>
          <a:xfrm>
            <a:off x="6248400" y="4762500"/>
            <a:ext cx="5486400" cy="1390650"/>
          </a:xfrm>
          <a:prstGeom prst="rect">
            <a:avLst/>
          </a:prstGeom>
          <a:solidFill>
            <a:srgbClr val="F3F6FA"/>
          </a:solidFill>
          <a:ln w="7620">
            <a:solidFill>
              <a:srgbClr val="CBD5E1"/>
            </a:solidFill>
            <a:prstDash val="solid"/>
          </a:ln>
        </p:spPr>
      </p:sp>
      <p:sp>
        <p:nvSpPr>
          <p:cNvPr id="30" name="compact-note-accent"/>
          <p:cNvSpPr/>
          <p:nvPr/>
        </p:nvSpPr>
        <p:spPr>
          <a:xfrm>
            <a:off x="6248400" y="4762500"/>
            <a:ext cx="0" cy="1390650"/>
          </a:xfrm>
          <a:prstGeom prst="line">
            <a:avLst/>
          </a:prstGeom>
          <a:noFill/>
          <a:ln w="25400">
            <a:solidFill>
              <a:srgbClr val="14326C"/>
            </a:solidFill>
            <a:prstDash val="solid"/>
          </a:ln>
        </p:spPr>
      </p:sp>
      <p:sp>
        <p:nvSpPr>
          <p:cNvPr id="31" name="compact-note-title"/>
          <p:cNvSpPr/>
          <p:nvPr/>
        </p:nvSpPr>
        <p:spPr>
          <a:xfrm>
            <a:off x="6400800" y="4914900"/>
            <a:ext cx="5105400" cy="304800"/>
          </a:xfrm>
          <a:prstGeom prst="rect">
            <a:avLst/>
          </a:prstGeom>
          <a:noFill/>
          <a:ln/>
        </p:spPr>
        <p:txBody>
          <a:bodyPr wrap="square" lIns="0" tIns="0" rIns="0" bIns="0" rtlCol="0" anchor="ctr"/>
          <a:lstStyle/>
          <a:p>
            <a:pPr indent="0" marL="0">
              <a:buNone/>
            </a:pPr>
            <a:r>
              <a:rPr lang="en-US" sz="1725" b="1" dirty="0">
                <a:solidFill>
                  <a:srgbClr val="14326C"/>
                </a:solidFill>
                <a:latin typeface="Noto Sans CJK SC" pitchFamily="34" charset="0"/>
                <a:ea typeface="Noto Sans CJK SC" pitchFamily="34" charset="-122"/>
                <a:cs typeface="Noto Sans CJK SC" pitchFamily="34" charset="-120"/>
              </a:rPr>
              <a:t>紧凑浅底 · 对照条件</a:t>
            </a:r>
            <a:endParaRPr lang="en-US" sz="1725" dirty="0"/>
          </a:p>
        </p:txBody>
      </p:sp>
      <p:sp>
        <p:nvSpPr>
          <p:cNvPr id="32" name="compact-note-body"/>
          <p:cNvSpPr/>
          <p:nvPr/>
        </p:nvSpPr>
        <p:spPr>
          <a:xfrm>
            <a:off x="6400800" y="5372100"/>
            <a:ext cx="5105400" cy="704850"/>
          </a:xfrm>
          <a:prstGeom prst="rect">
            <a:avLst/>
          </a:prstGeom>
          <a:noFill/>
          <a:ln/>
        </p:spPr>
        <p:txBody>
          <a:bodyPr wrap="square" lIns="0" tIns="0" rIns="0" bIns="0" rtlCol="0" anchor="ctr"/>
          <a:lstStyle/>
          <a:p>
            <a:pPr indent="0" marL="0">
              <a:buNone/>
            </a:pPr>
            <a:r>
              <a:rPr lang="en-US" sz="1725" dirty="0">
                <a:solidFill>
                  <a:srgbClr val="222B36"/>
                </a:solidFill>
                <a:latin typeface="Noto Sans CJK SC" pitchFamily="34" charset="0"/>
                <a:ea typeface="Noto Sans CJK SC" pitchFamily="34" charset="-122"/>
                <a:cs typeface="Noto Sans CJK SC" pitchFamily="34" charset="-120"/>
              </a:rPr>
              <a:t>比较条目维度相同，结构可以一致。数量多时重新组织任务，不机械增加卡片。</a:t>
            </a:r>
            <a:endParaRPr lang="en-US" sz="1725" dirty="0"/>
          </a:p>
        </p:txBody>
      </p:sp>
      <p:sp>
        <p:nvSpPr>
          <p:cNvPr id="33" name="page-source"/>
          <p:cNvSpPr/>
          <p:nvPr/>
        </p:nvSpPr>
        <p:spPr>
          <a:xfrm>
            <a:off x="457200" y="6419850"/>
            <a:ext cx="10668000" cy="228600"/>
          </a:xfrm>
          <a:prstGeom prst="rect">
            <a:avLst/>
          </a:prstGeom>
          <a:noFill/>
          <a:ln/>
        </p:spPr>
        <p:txBody>
          <a:bodyPr wrap="square" lIns="0" tIns="0" rIns="0" bIns="0" rtlCol="0" anchor="ctr"/>
          <a:lstStyle/>
          <a:p>
            <a:pPr indent="0" marL="0">
              <a:buNone/>
            </a:pPr>
            <a:r>
              <a:rPr lang="en-US" sz="1200" dirty="0">
                <a:solidFill>
                  <a:srgbClr val="526173"/>
                </a:solidFill>
                <a:latin typeface="Noto Sans CJK SC" pitchFamily="34" charset="0"/>
                <a:ea typeface="Noto Sans CJK SC" pitchFamily="34" charset="-122"/>
                <a:cs typeface="Noto Sans CJK SC" pitchFamily="34" charset="-120"/>
              </a:rPr>
              <a:t>新制作的原生形状示范；完整内容页型见 references/templates/。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Noto Sans CJK S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oto Sans CJK S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学术小面板与原生组件参考</dc:title>
  <dc:subject>New native shape examples based on observed academic layout principles</dc:subject>
  <dc:creator>DSH Academic PPT</dc:creator>
  <cp:lastModifiedBy>DSH Academic PPT</cp:lastModifiedBy>
  <cp:revision>1</cp:revision>
  <dcterms:created xsi:type="dcterms:W3CDTF">2026-10-20T04:00:14Z</dcterms:created>
  <dcterms:modified xsi:type="dcterms:W3CDTF">2026-10-20T04:00:14Z</dcterms:modified>
</cp:coreProperties>
</file>