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讨论改性工艺与常规工艺的疲劳寿命差异。全部资料均为教学模拟，不对应真实实验或机构。我们已完成48件记录的核对与复算，目标不是预设改性有效，而是判断现有记录能说明什么，以及下一批怎样验证。报告围绕比较条件、同批证据和验证方案三个问题展开。
衔接下一页
先看48件试件如何分布在批次、工艺和应力之间。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48条记录对应48件独立试件，没有重复试验。A批为200 MPa常规工艺12件；B批在200 MPa下有常规和改性各12件；C批为180 MPa改性12件。所有组按可用加工顺序取样，没有随机跨批次分配，不能默认批内随机。C批的两件runout是到50万循环仍未失效的停止观察。只有B批同时具备同批次、同应力的两工艺记录，因此它是本报告主要比较。路线是先界定比较条件，再审查寿命差的证据，最后给出下一批的验证方案。
衔接下一页
比较组的构成已经不平衡；接下来把48件原始观察放在同一尺度，看看这种不平衡如何影响解读。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图中每个点代表一件试件，横轴是观察到的循环次数，空心点加右箭头表示runout。A、B两批常规工艺同为200 MPa，但样本均值分别为23.63万和30.37万循环，相差6.74万，说明批次相关的样本差异不能忽略。这个差异本身也不是已识别的批次因果效应。C批改性的观察更靠右，但它用的是180 MPa，并有两件在50万停止；不能把这种位置差直接归给工艺。即使只保留200 MPa，A加B常规对B改性仍然混入批次构成。最可比的主分析应先收缩到B批内部。
衔接下一页
因此把主要估计限于B批，保留其24件分布，并同时报告差值的不确定性。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将比较限制在B批，常规和改性各12件，均为200 MPa且全部已失效。上方保留每件试件，不仅展示均值。常规均值30.37万循环、样本标准差3.10万；改性均值32.93万、标准差5.66万，改性组的离散更大。样本均值差为2.56万循环。按原尺度Welch方法，95%区间为负1.37到正6.49万循环，区间跨越零，既容许负差异，也容许较大的正差异。它依赖独立样本与分布近似，没有包含加工顺序和非随机选择的偏倚。正的点估计不是因果证据，跨零也不代表两工艺等效。
衔接下一页
即便把B批作为主要比较，观察终点与未测机制仍决定结论不能越过哪些边界。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C批两件记录为例：C-mod-12在48.25万循环发生失效，这个寿命已观察到；C-mod-02到50万循环仍未失效，因此只能说其寿命超过50万，不能把50万写成失效寿命。另一件runout是C-mod-08。在只有共同50万行政停止、没有提前失访时，观察时间的平均值可以描述50万窗口内的限制平均寿命，但不能说明之后的尾部。当前能支持的只是B批正向点估计的线索；因果效应未确立，尾部尚未观察，也没有断口、微观组织或残余应力数据来解释机制。下一步首先要补齐可归因的比较设计。
衔接下一页
这些边界决定了新一批首先要检验工艺归因，并事先定义共同观察窗口和判定规则。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下阶段只提出尚未开展的方案。先固定200 MPa和50万循环停止点，统一试件规范、失效判据和测量记录。在同一材料批次内按可用加工时段分区组，区组内一比一随机分配常规或改性工艺；两组交错或随机安排测试顺序，并记录机台、环境和异常停止。主要效应量建议预先指定为50万循环内限制平均寿命差，也就是改性减常规。在只有共同截止且无提前失访时，它等价于每件min(T,50万)的组均值差；若出现更早失访，需要生存分析处理和相应删失假设，不能当作正常50万runout。实际重要差值δ应按工程价值与成本确定，随后依据目标精度、变异和预计删失规划样本量，不能从这次2.56万差值倒推门槛。B批离散度只是先导参考。单批首先回答该批次、该应力和该窗口内的问题。
衔接下一页
设计之外，还要预先写清什么结果支持方向、什么结果仍不确定，以及何时不能解释区间。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下判据属于下一批的预设方案。L和U是改性减常规这一主要差值的95%区间。先确认随机分配执行、终点记录和失访或删失机制可接受。前提成立时，若下限大于零，支持正向差异，但还须对照事前确定的工程门槛δ，不能把统计方向当作值得采用。若上限小于零，支持反向差异，应检查工艺并调整方案。若区间包含零，正负效应仍被容许，不能判等效；只有事先定义等效范围和相应方法，才讨论等效。第四种情况是随机实施或删失前提失效，此时先核查偏倚，不能硬套前三项。一个反例是区间虽全为正、却低于工程重要程度，这仍不足以宣布有用收益。回到开场：现有教学模拟记录给出了方向性线索，但效应未确立；下一步是同应力随机化并预设估计对象和判据。
衔接下一页
最后列出唯一使用的原始资料与统计口径，便于会后复核。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报告只依据这两份原始资料。协议版本1，日期2026年10月20日；CSV包含48个独立试件。全部数值由逐行记录复算，B批区间是原尺度Welch双侧95%区间，样本标准差使用n减一分母。runout保留右删失身份，不记为失效。本报告中的下一批设计全部尚未开展，资料不对应真实实验、机构、项目或论文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/title"/>
          <p:cNvSpPr/>
          <p:nvPr/>
        </p:nvSpPr>
        <p:spPr>
          <a:xfrm>
            <a:off x="723900" y="1752600"/>
            <a:ext cx="1074420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改性工艺的疲劳寿命差异：</a:t>
            </a:r>
            <a:endParaRPr lang="zh-CN" sz="4800" dirty="0"/>
          </a:p>
          <a:p>
            <a:pPr algn="l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现有证据与下一步验证</a:t>
            </a:r>
            <a:endParaRPr lang="zh-CN" sz="4800" dirty="0"/>
          </a:p>
        </p:txBody>
      </p:sp>
      <p:sp>
        <p:nvSpPr>
          <p:cNvPr id="3" name="s1/subtitle"/>
          <p:cNvSpPr/>
          <p:nvPr/>
        </p:nvSpPr>
        <p:spPr>
          <a:xfrm>
            <a:off x="723900" y="375285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48件记录的比较边界与待检验方案</a:t>
            </a:r>
            <a:endParaRPr lang="zh-CN" sz="2100" dirty="0"/>
          </a:p>
        </p:txBody>
      </p:sp>
      <p:sp>
        <p:nvSpPr>
          <p:cNvPr id="4" name="s1/cover-occasion"/>
          <p:cNvSpPr/>
          <p:nvPr/>
        </p:nvSpPr>
        <p:spPr>
          <a:xfrm>
            <a:off x="723900" y="704850"/>
            <a:ext cx="1047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 · 学术进展报告</a:t>
            </a:r>
            <a:endParaRPr lang="zh-CN" sz="1800" dirty="0"/>
          </a:p>
        </p:txBody>
      </p:sp>
      <p:sp>
        <p:nvSpPr>
          <p:cNvPr id="5" name="s1/cover-date"/>
          <p:cNvSpPr/>
          <p:nvPr/>
        </p:nvSpPr>
        <p:spPr>
          <a:xfrm>
            <a:off x="723900" y="539115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教学模拟数据｜资料版本1 · 2026-10-20</a:t>
            </a:r>
            <a:endParaRPr lang="zh-CN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08</a:t>
            </a:r>
            <a:endParaRPr lang="zh-CN" sz="1350" dirty="0"/>
          </a:p>
        </p:txBody>
      </p:sp>
      <p:sp>
        <p:nvSpPr>
          <p:cNvPr id="3" name="s2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4" name="s2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48件记录：只有B批含同应力工艺对照</a:t>
            </a:r>
            <a:endParaRPr lang="zh-CN" sz="3150" dirty="0"/>
          </a:p>
        </p:txBody>
      </p:sp>
      <p:sp>
        <p:nvSpPr>
          <p:cNvPr id="5" name="s2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6" name="s2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7" name="s2/drawing/record-matrix/unit"/>
          <p:cNvSpPr/>
          <p:nvPr/>
        </p:nvSpPr>
        <p:spPr>
          <a:xfrm>
            <a:off x="457200" y="1390650"/>
            <a:ext cx="7334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每行一件独立试件；无重复试验</a:t>
            </a:r>
            <a:endParaRPr lang="zh-CN" sz="2100" dirty="0"/>
          </a:p>
        </p:txBody>
      </p:sp>
      <p:sp>
        <p:nvSpPr>
          <p:cNvPr id="8" name="s2/drawing/record-matrix/head-0"/>
          <p:cNvSpPr/>
          <p:nvPr/>
        </p:nvSpPr>
        <p:spPr>
          <a:xfrm>
            <a:off x="533400" y="1981200"/>
            <a:ext cx="1047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</a:t>
            </a:r>
            <a:endParaRPr lang="zh-CN" sz="1800" dirty="0"/>
          </a:p>
        </p:txBody>
      </p:sp>
      <p:sp>
        <p:nvSpPr>
          <p:cNvPr id="9" name="s2/drawing/record-matrix/head-1"/>
          <p:cNvSpPr/>
          <p:nvPr/>
        </p:nvSpPr>
        <p:spPr>
          <a:xfrm>
            <a:off x="1676400" y="1981200"/>
            <a:ext cx="1381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应力</a:t>
            </a:r>
            <a:endParaRPr lang="zh-CN" sz="1800" dirty="0"/>
          </a:p>
        </p:txBody>
      </p:sp>
      <p:sp>
        <p:nvSpPr>
          <p:cNvPr id="10" name="s2/drawing/record-matrix/head-2"/>
          <p:cNvSpPr/>
          <p:nvPr/>
        </p:nvSpPr>
        <p:spPr>
          <a:xfrm>
            <a:off x="3143250" y="1981200"/>
            <a:ext cx="1809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</a:t>
            </a:r>
            <a:endParaRPr lang="zh-CN" sz="1800" dirty="0"/>
          </a:p>
        </p:txBody>
      </p:sp>
      <p:sp>
        <p:nvSpPr>
          <p:cNvPr id="11" name="s2/drawing/record-matrix/head-3"/>
          <p:cNvSpPr/>
          <p:nvPr/>
        </p:nvSpPr>
        <p:spPr>
          <a:xfrm>
            <a:off x="5057775" y="1981200"/>
            <a:ext cx="1476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</a:t>
            </a:r>
            <a:endParaRPr lang="zh-CN" sz="1800" dirty="0"/>
          </a:p>
        </p:txBody>
      </p:sp>
      <p:sp>
        <p:nvSpPr>
          <p:cNvPr id="12" name="s2/drawing/record-matrix/head-4"/>
          <p:cNvSpPr/>
          <p:nvPr/>
        </p:nvSpPr>
        <p:spPr>
          <a:xfrm>
            <a:off x="6629400" y="1981200"/>
            <a:ext cx="1238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</a:t>
            </a:r>
            <a:endParaRPr lang="zh-CN" sz="1800" dirty="0"/>
          </a:p>
        </p:txBody>
      </p:sp>
      <p:sp>
        <p:nvSpPr>
          <p:cNvPr id="13" name="s2/drawing/record-matrix/cell-0-0"/>
          <p:cNvSpPr/>
          <p:nvPr/>
        </p:nvSpPr>
        <p:spPr>
          <a:xfrm>
            <a:off x="533400" y="2466975"/>
            <a:ext cx="1047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zh-CN" sz="2100" dirty="0"/>
          </a:p>
        </p:txBody>
      </p:sp>
      <p:sp>
        <p:nvSpPr>
          <p:cNvPr id="14" name="s2/drawing/record-matrix/cell-0-1"/>
          <p:cNvSpPr/>
          <p:nvPr/>
        </p:nvSpPr>
        <p:spPr>
          <a:xfrm>
            <a:off x="1676400" y="2466975"/>
            <a:ext cx="1381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</a:t>
            </a:r>
            <a:endParaRPr lang="zh-CN" sz="2100" dirty="0"/>
          </a:p>
        </p:txBody>
      </p:sp>
      <p:sp>
        <p:nvSpPr>
          <p:cNvPr id="15" name="s2/drawing/record-matrix/cell-0-2"/>
          <p:cNvSpPr/>
          <p:nvPr/>
        </p:nvSpPr>
        <p:spPr>
          <a:xfrm>
            <a:off x="3143250" y="2466975"/>
            <a:ext cx="1809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</a:t>
            </a:r>
            <a:endParaRPr lang="zh-CN" sz="2100" dirty="0"/>
          </a:p>
        </p:txBody>
      </p:sp>
      <p:sp>
        <p:nvSpPr>
          <p:cNvPr id="16" name="s2/drawing/record-matrix/cell-0-3"/>
          <p:cNvSpPr/>
          <p:nvPr/>
        </p:nvSpPr>
        <p:spPr>
          <a:xfrm>
            <a:off x="5057775" y="2466975"/>
            <a:ext cx="14763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zh-CN" sz="2100" dirty="0"/>
          </a:p>
        </p:txBody>
      </p:sp>
      <p:sp>
        <p:nvSpPr>
          <p:cNvPr id="17" name="s2/drawing/record-matrix/cell-0-4"/>
          <p:cNvSpPr/>
          <p:nvPr/>
        </p:nvSpPr>
        <p:spPr>
          <a:xfrm>
            <a:off x="6629400" y="2466975"/>
            <a:ext cx="1238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12失效</a:t>
            </a:r>
            <a:endParaRPr lang="zh-CN" sz="1800" dirty="0"/>
          </a:p>
        </p:txBody>
      </p:sp>
      <p:sp>
        <p:nvSpPr>
          <p:cNvPr id="18" name="s2/drawing/record-matrix/row-0/segment-1"/>
          <p:cNvSpPr/>
          <p:nvPr/>
        </p:nvSpPr>
        <p:spPr>
          <a:xfrm>
            <a:off x="457200" y="3076575"/>
            <a:ext cx="74295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19" name="s2/drawing/record-matrix/b-highlight"/>
          <p:cNvSpPr/>
          <p:nvPr/>
        </p:nvSpPr>
        <p:spPr>
          <a:xfrm>
            <a:off x="457200" y="3190875"/>
            <a:ext cx="7429500" cy="742950"/>
          </a:xfrm>
          <a:prstGeom prst="roundRect">
            <a:avLst>
              <a:gd name="adj" fmla="val 5128"/>
            </a:avLst>
          </a:prstGeom>
          <a:solidFill>
            <a:srgbClr val="F1F4F7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20" name="s2/drawing/record-matrix/cell-1-0"/>
          <p:cNvSpPr/>
          <p:nvPr/>
        </p:nvSpPr>
        <p:spPr>
          <a:xfrm>
            <a:off x="533400" y="3276600"/>
            <a:ext cx="1047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zh-CN" sz="2100" dirty="0"/>
          </a:p>
        </p:txBody>
      </p:sp>
      <p:sp>
        <p:nvSpPr>
          <p:cNvPr id="21" name="s2/drawing/record-matrix/cell-1-1"/>
          <p:cNvSpPr/>
          <p:nvPr/>
        </p:nvSpPr>
        <p:spPr>
          <a:xfrm>
            <a:off x="1676400" y="3276600"/>
            <a:ext cx="1381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</a:t>
            </a:r>
            <a:endParaRPr lang="zh-CN" sz="2100" dirty="0"/>
          </a:p>
        </p:txBody>
      </p:sp>
      <p:sp>
        <p:nvSpPr>
          <p:cNvPr id="22" name="s2/drawing/record-matrix/cell-1-2"/>
          <p:cNvSpPr/>
          <p:nvPr/>
        </p:nvSpPr>
        <p:spPr>
          <a:xfrm>
            <a:off x="3143250" y="3276600"/>
            <a:ext cx="1809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</a:t>
            </a:r>
            <a:endParaRPr lang="zh-CN" sz="2100" dirty="0"/>
          </a:p>
        </p:txBody>
      </p:sp>
      <p:sp>
        <p:nvSpPr>
          <p:cNvPr id="23" name="s2/drawing/record-matrix/cell-1-3"/>
          <p:cNvSpPr/>
          <p:nvPr/>
        </p:nvSpPr>
        <p:spPr>
          <a:xfrm>
            <a:off x="5057775" y="3276600"/>
            <a:ext cx="14763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</a:t>
            </a:r>
            <a:endParaRPr lang="zh-CN" sz="2100" dirty="0"/>
          </a:p>
        </p:txBody>
      </p:sp>
      <p:sp>
        <p:nvSpPr>
          <p:cNvPr id="24" name="s2/drawing/record-matrix/cell-1-4"/>
          <p:cNvSpPr/>
          <p:nvPr/>
        </p:nvSpPr>
        <p:spPr>
          <a:xfrm>
            <a:off x="6629400" y="3276600"/>
            <a:ext cx="1238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24失效</a:t>
            </a:r>
            <a:endParaRPr lang="zh-CN" sz="1800" dirty="0"/>
          </a:p>
        </p:txBody>
      </p:sp>
      <p:sp>
        <p:nvSpPr>
          <p:cNvPr id="25" name="s2/drawing/record-matrix/row-1/segment-1"/>
          <p:cNvSpPr/>
          <p:nvPr/>
        </p:nvSpPr>
        <p:spPr>
          <a:xfrm>
            <a:off x="457200" y="3886200"/>
            <a:ext cx="74295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26" name="s2/drawing/record-matrix/cell-2-0"/>
          <p:cNvSpPr/>
          <p:nvPr/>
        </p:nvSpPr>
        <p:spPr>
          <a:xfrm>
            <a:off x="533400" y="4086225"/>
            <a:ext cx="104775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zh-CN" sz="2100" dirty="0"/>
          </a:p>
        </p:txBody>
      </p:sp>
      <p:sp>
        <p:nvSpPr>
          <p:cNvPr id="27" name="s2/drawing/record-matrix/cell-2-1"/>
          <p:cNvSpPr/>
          <p:nvPr/>
        </p:nvSpPr>
        <p:spPr>
          <a:xfrm>
            <a:off x="1676400" y="4086225"/>
            <a:ext cx="1381125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180 MPa</a:t>
            </a:r>
            <a:endParaRPr lang="zh-CN" sz="2100" dirty="0"/>
          </a:p>
        </p:txBody>
      </p:sp>
      <p:sp>
        <p:nvSpPr>
          <p:cNvPr id="28" name="s2/drawing/record-matrix/cell-2-2"/>
          <p:cNvSpPr/>
          <p:nvPr/>
        </p:nvSpPr>
        <p:spPr>
          <a:xfrm>
            <a:off x="3143250" y="4086225"/>
            <a:ext cx="180975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zh-CN" sz="2100" dirty="0"/>
          </a:p>
        </p:txBody>
      </p:sp>
      <p:sp>
        <p:nvSpPr>
          <p:cNvPr id="29" name="s2/drawing/record-matrix/cell-2-3"/>
          <p:cNvSpPr/>
          <p:nvPr/>
        </p:nvSpPr>
        <p:spPr>
          <a:xfrm>
            <a:off x="5057775" y="4086225"/>
            <a:ext cx="1476375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</a:t>
            </a:r>
            <a:endParaRPr lang="zh-CN" sz="2100" dirty="0"/>
          </a:p>
        </p:txBody>
      </p:sp>
      <p:sp>
        <p:nvSpPr>
          <p:cNvPr id="30" name="s2/drawing/record-matrix/cell-2-4"/>
          <p:cNvSpPr/>
          <p:nvPr/>
        </p:nvSpPr>
        <p:spPr>
          <a:xfrm>
            <a:off x="6629400" y="4086225"/>
            <a:ext cx="123825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10失效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runout</a:t>
            </a:r>
            <a:endParaRPr lang="zh-CN" sz="1800" dirty="0"/>
          </a:p>
        </p:txBody>
      </p:sp>
      <p:sp>
        <p:nvSpPr>
          <p:cNvPr id="31" name="s2/drawing/record-matrix/selection"/>
          <p:cNvSpPr/>
          <p:nvPr/>
        </p:nvSpPr>
        <p:spPr>
          <a:xfrm>
            <a:off x="457200" y="5038725"/>
            <a:ext cx="74295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按可用加工顺序取样；未报告随机分配</a:t>
            </a:r>
            <a:endParaRPr lang="zh-CN" sz="2100" dirty="0"/>
          </a:p>
        </p:txBody>
      </p:sp>
      <p:sp>
        <p:nvSpPr>
          <p:cNvPr id="32" name="s2/drawing/route/route-title"/>
          <p:cNvSpPr/>
          <p:nvPr/>
        </p:nvSpPr>
        <p:spPr>
          <a:xfrm>
            <a:off x="8153400" y="1390650"/>
            <a:ext cx="358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本次汇报的三个问题</a:t>
            </a:r>
            <a:endParaRPr lang="zh-CN" sz="2100" dirty="0"/>
          </a:p>
        </p:txBody>
      </p:sp>
      <p:sp>
        <p:nvSpPr>
          <p:cNvPr id="33" name="s2/drawing/route/q1"/>
          <p:cNvSpPr/>
          <p:nvPr/>
        </p:nvSpPr>
        <p:spPr>
          <a:xfrm>
            <a:off x="8153400" y="2019300"/>
            <a:ext cx="35814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记录与比较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哪些比较条件一致？</a:t>
            </a:r>
            <a:endParaRPr lang="zh-CN" sz="2100" dirty="0"/>
          </a:p>
        </p:txBody>
      </p:sp>
      <p:sp>
        <p:nvSpPr>
          <p:cNvPr id="34" name="s2/drawing/route/q2"/>
          <p:cNvSpPr/>
          <p:nvPr/>
        </p:nvSpPr>
        <p:spPr>
          <a:xfrm>
            <a:off x="8153400" y="3209925"/>
            <a:ext cx="35814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寿命差支持到哪里？</a:t>
            </a:r>
            <a:endParaRPr lang="zh-CN" sz="2100" dirty="0"/>
          </a:p>
        </p:txBody>
      </p:sp>
      <p:sp>
        <p:nvSpPr>
          <p:cNvPr id="35" name="s2/drawing/route/q3"/>
          <p:cNvSpPr/>
          <p:nvPr/>
        </p:nvSpPr>
        <p:spPr>
          <a:xfrm>
            <a:off x="8153400" y="4400550"/>
            <a:ext cx="35814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下一步验证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怎样区分效应与偏倚？</a:t>
            </a:r>
            <a:endParaRPr lang="zh-CN" sz="2100" dirty="0"/>
          </a:p>
        </p:txBody>
      </p:sp>
      <p:sp>
        <p:nvSpPr>
          <p:cNvPr id="36" name="s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08</a:t>
            </a:r>
            <a:endParaRPr lang="zh-CN" sz="1350" dirty="0"/>
          </a:p>
        </p:txBody>
      </p:sp>
      <p:sp>
        <p:nvSpPr>
          <p:cNvPr id="3" name="s3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1950" dirty="0"/>
          </a:p>
        </p:txBody>
      </p:sp>
      <p:sp>
        <p:nvSpPr>
          <p:cNvPr id="4" name="s3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s3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跨批合并会混入应力与批次差异</a:t>
            </a:r>
            <a:endParaRPr lang="zh-CN" sz="3150" dirty="0"/>
          </a:p>
        </p:txBody>
      </p:sp>
      <p:sp>
        <p:nvSpPr>
          <p:cNvPr id="6" name="s3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s3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s3/drawing/all-points/plot-head"/>
          <p:cNvSpPr/>
          <p:nvPr/>
        </p:nvSpPr>
        <p:spPr>
          <a:xfrm>
            <a:off x="457200" y="1352550"/>
            <a:ext cx="7562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48件原始观察：横向位置对应循环数</a:t>
            </a:r>
            <a:endParaRPr lang="zh-CN" sz="2100" dirty="0"/>
          </a:p>
        </p:txBody>
      </p:sp>
      <p:sp>
        <p:nvSpPr>
          <p:cNvPr id="9" name="s3/drawing/all-points/g-0/segment-1"/>
          <p:cNvSpPr/>
          <p:nvPr/>
        </p:nvSpPr>
        <p:spPr>
          <a:xfrm>
            <a:off x="2409825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0" name="s3/drawing/all-points/gt-0"/>
          <p:cNvSpPr/>
          <p:nvPr/>
        </p:nvSpPr>
        <p:spPr>
          <a:xfrm>
            <a:off x="2219325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11" name="s3/drawing/all-points/g-10/segment-1"/>
          <p:cNvSpPr/>
          <p:nvPr/>
        </p:nvSpPr>
        <p:spPr>
          <a:xfrm>
            <a:off x="3360593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2" name="s3/drawing/all-points/gt-10"/>
          <p:cNvSpPr/>
          <p:nvPr/>
        </p:nvSpPr>
        <p:spPr>
          <a:xfrm>
            <a:off x="3170093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zh-CN" sz="1800" dirty="0"/>
          </a:p>
        </p:txBody>
      </p:sp>
      <p:sp>
        <p:nvSpPr>
          <p:cNvPr id="13" name="s3/drawing/all-points/g-20/segment-1"/>
          <p:cNvSpPr/>
          <p:nvPr/>
        </p:nvSpPr>
        <p:spPr>
          <a:xfrm>
            <a:off x="4311361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4" name="s3/drawing/all-points/gt-20"/>
          <p:cNvSpPr/>
          <p:nvPr/>
        </p:nvSpPr>
        <p:spPr>
          <a:xfrm>
            <a:off x="4120861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800" dirty="0"/>
          </a:p>
        </p:txBody>
      </p:sp>
      <p:sp>
        <p:nvSpPr>
          <p:cNvPr id="15" name="s3/drawing/all-points/g-30/segment-1"/>
          <p:cNvSpPr/>
          <p:nvPr/>
        </p:nvSpPr>
        <p:spPr>
          <a:xfrm>
            <a:off x="5262130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6" name="s3/drawing/all-points/gt-30"/>
          <p:cNvSpPr/>
          <p:nvPr/>
        </p:nvSpPr>
        <p:spPr>
          <a:xfrm>
            <a:off x="5071630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800" dirty="0"/>
          </a:p>
        </p:txBody>
      </p:sp>
      <p:sp>
        <p:nvSpPr>
          <p:cNvPr id="17" name="s3/drawing/all-points/g-40/segment-1"/>
          <p:cNvSpPr/>
          <p:nvPr/>
        </p:nvSpPr>
        <p:spPr>
          <a:xfrm>
            <a:off x="6212898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8" name="s3/drawing/all-points/gt-40"/>
          <p:cNvSpPr/>
          <p:nvPr/>
        </p:nvSpPr>
        <p:spPr>
          <a:xfrm>
            <a:off x="6022398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800" dirty="0"/>
          </a:p>
        </p:txBody>
      </p:sp>
      <p:sp>
        <p:nvSpPr>
          <p:cNvPr id="19" name="s3/drawing/all-points/g-50/segment-1"/>
          <p:cNvSpPr/>
          <p:nvPr/>
        </p:nvSpPr>
        <p:spPr>
          <a:xfrm>
            <a:off x="7163666" y="1876425"/>
            <a:ext cx="0" cy="3286125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0" name="s3/drawing/all-points/gt-50"/>
          <p:cNvSpPr/>
          <p:nvPr/>
        </p:nvSpPr>
        <p:spPr>
          <a:xfrm>
            <a:off x="6973166" y="5238750"/>
            <a:ext cx="381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800" dirty="0"/>
          </a:p>
        </p:txBody>
      </p:sp>
      <p:sp>
        <p:nvSpPr>
          <p:cNvPr id="21" name="s3/drawing/all-points/group-0"/>
          <p:cNvSpPr/>
          <p:nvPr/>
        </p:nvSpPr>
        <p:spPr>
          <a:xfrm>
            <a:off x="457200" y="2009775"/>
            <a:ext cx="1838325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常规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</a:t>
            </a:r>
            <a:endParaRPr lang="zh-CN" sz="1800" dirty="0"/>
          </a:p>
        </p:txBody>
      </p:sp>
      <p:sp>
        <p:nvSpPr>
          <p:cNvPr id="22" name="s3/drawing/all-points/p-A-con-01"/>
          <p:cNvSpPr/>
          <p:nvPr/>
        </p:nvSpPr>
        <p:spPr>
          <a:xfrm>
            <a:off x="3591162" y="20050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3" name="s3/drawing/all-points/p-A-con-02"/>
          <p:cNvSpPr/>
          <p:nvPr/>
        </p:nvSpPr>
        <p:spPr>
          <a:xfrm>
            <a:off x="6448991" y="210026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4" name="s3/drawing/all-points/p-A-con-03"/>
          <p:cNvSpPr/>
          <p:nvPr/>
        </p:nvSpPr>
        <p:spPr>
          <a:xfrm>
            <a:off x="5223460" y="21955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5" name="s3/drawing/all-points/p-A-con-04"/>
          <p:cNvSpPr/>
          <p:nvPr/>
        </p:nvSpPr>
        <p:spPr>
          <a:xfrm>
            <a:off x="4363157" y="229076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6" name="s3/drawing/all-points/p-A-con-05"/>
          <p:cNvSpPr/>
          <p:nvPr/>
        </p:nvSpPr>
        <p:spPr>
          <a:xfrm>
            <a:off x="4048425" y="23860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7" name="s3/drawing/all-points/p-A-con-06"/>
          <p:cNvSpPr/>
          <p:nvPr/>
        </p:nvSpPr>
        <p:spPr>
          <a:xfrm>
            <a:off x="5382419" y="2052637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8" name="s3/drawing/all-points/p-A-con-07"/>
          <p:cNvSpPr/>
          <p:nvPr/>
        </p:nvSpPr>
        <p:spPr>
          <a:xfrm>
            <a:off x="3701109" y="214788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29" name="s3/drawing/all-points/p-A-con-08"/>
          <p:cNvSpPr/>
          <p:nvPr/>
        </p:nvSpPr>
        <p:spPr>
          <a:xfrm>
            <a:off x="3557096" y="224313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0" name="s3/drawing/all-points/p-A-con-09"/>
          <p:cNvSpPr/>
          <p:nvPr/>
        </p:nvSpPr>
        <p:spPr>
          <a:xfrm>
            <a:off x="5019425" y="233838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1" name="s3/drawing/all-points/p-A-con-10"/>
          <p:cNvSpPr/>
          <p:nvPr/>
        </p:nvSpPr>
        <p:spPr>
          <a:xfrm>
            <a:off x="4588204" y="20050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2" name="s3/drawing/all-points/p-A-con-11"/>
          <p:cNvSpPr/>
          <p:nvPr/>
        </p:nvSpPr>
        <p:spPr>
          <a:xfrm>
            <a:off x="4238398" y="21955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3" name="s3/drawing/all-points/p-A-con-12"/>
          <p:cNvSpPr/>
          <p:nvPr/>
        </p:nvSpPr>
        <p:spPr>
          <a:xfrm>
            <a:off x="5197799" y="23860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4" name="s3/drawing/all-points/group-1"/>
          <p:cNvSpPr/>
          <p:nvPr/>
        </p:nvSpPr>
        <p:spPr>
          <a:xfrm>
            <a:off x="457200" y="2847975"/>
            <a:ext cx="1838325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常规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</a:t>
            </a:r>
            <a:endParaRPr lang="zh-CN" sz="1800" dirty="0"/>
          </a:p>
        </p:txBody>
      </p:sp>
      <p:sp>
        <p:nvSpPr>
          <p:cNvPr id="35" name="s3/drawing/all-points/p-B-con-01"/>
          <p:cNvSpPr/>
          <p:nvPr/>
        </p:nvSpPr>
        <p:spPr>
          <a:xfrm>
            <a:off x="5233605" y="28432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6" name="s3/drawing/all-points/p-B-con-02"/>
          <p:cNvSpPr/>
          <p:nvPr/>
        </p:nvSpPr>
        <p:spPr>
          <a:xfrm>
            <a:off x="5301480" y="293846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7" name="s3/drawing/all-points/p-B-con-03"/>
          <p:cNvSpPr/>
          <p:nvPr/>
        </p:nvSpPr>
        <p:spPr>
          <a:xfrm>
            <a:off x="5326162" y="30337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8" name="s3/drawing/all-points/p-B-con-04"/>
          <p:cNvSpPr/>
          <p:nvPr/>
        </p:nvSpPr>
        <p:spPr>
          <a:xfrm>
            <a:off x="5109586" y="312896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39" name="s3/drawing/all-points/p-B-con-05"/>
          <p:cNvSpPr/>
          <p:nvPr/>
        </p:nvSpPr>
        <p:spPr>
          <a:xfrm>
            <a:off x="5694223" y="32242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0" name="s3/drawing/all-points/p-B-con-06"/>
          <p:cNvSpPr/>
          <p:nvPr/>
        </p:nvSpPr>
        <p:spPr>
          <a:xfrm>
            <a:off x="4590515" y="289083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1" name="s3/drawing/all-points/p-B-con-07"/>
          <p:cNvSpPr/>
          <p:nvPr/>
        </p:nvSpPr>
        <p:spPr>
          <a:xfrm>
            <a:off x="5192646" y="298608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2" name="s3/drawing/all-points/p-B-con-08"/>
          <p:cNvSpPr/>
          <p:nvPr/>
        </p:nvSpPr>
        <p:spPr>
          <a:xfrm>
            <a:off x="5404895" y="308133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3" name="s3/drawing/all-points/p-B-con-09"/>
          <p:cNvSpPr/>
          <p:nvPr/>
        </p:nvSpPr>
        <p:spPr>
          <a:xfrm>
            <a:off x="5479578" y="3176588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4" name="s3/drawing/all-points/p-B-con-10"/>
          <p:cNvSpPr/>
          <p:nvPr/>
        </p:nvSpPr>
        <p:spPr>
          <a:xfrm>
            <a:off x="4877228" y="28432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5" name="s3/drawing/all-points/p-B-con-11"/>
          <p:cNvSpPr/>
          <p:nvPr/>
        </p:nvSpPr>
        <p:spPr>
          <a:xfrm>
            <a:off x="5330022" y="30337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6" name="s3/drawing/all-points/p-B-con-12"/>
          <p:cNvSpPr/>
          <p:nvPr/>
        </p:nvSpPr>
        <p:spPr>
          <a:xfrm>
            <a:off x="5511448" y="3224213"/>
            <a:ext cx="85725" cy="85725"/>
          </a:xfrm>
          <a:prstGeom prst="ellipse">
            <a:avLst/>
          </a:prstGeom>
          <a:solidFill>
            <a:srgbClr val="254B6E"/>
          </a:solidFill>
          <a:ln w="13335">
            <a:solidFill>
              <a:srgbClr val="254B6E"/>
            </a:solidFill>
            <a:prstDash val="solid"/>
          </a:ln>
        </p:spPr>
      </p:sp>
      <p:sp>
        <p:nvSpPr>
          <p:cNvPr id="47" name="s3/drawing/all-points/group-2"/>
          <p:cNvSpPr/>
          <p:nvPr/>
        </p:nvSpPr>
        <p:spPr>
          <a:xfrm>
            <a:off x="457200" y="3686175"/>
            <a:ext cx="1838325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改性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</a:t>
            </a:r>
            <a:endParaRPr lang="zh-CN" sz="1800" dirty="0"/>
          </a:p>
        </p:txBody>
      </p:sp>
      <p:sp>
        <p:nvSpPr>
          <p:cNvPr id="48" name="s3/drawing/all-points/p-B-mod-01"/>
          <p:cNvSpPr/>
          <p:nvPr/>
        </p:nvSpPr>
        <p:spPr>
          <a:xfrm>
            <a:off x="4680961" y="36814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49" name="s3/drawing/all-points/p-B-mod-02"/>
          <p:cNvSpPr/>
          <p:nvPr/>
        </p:nvSpPr>
        <p:spPr>
          <a:xfrm>
            <a:off x="5336012" y="3776662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0" name="s3/drawing/all-points/p-B-mod-03"/>
          <p:cNvSpPr/>
          <p:nvPr/>
        </p:nvSpPr>
        <p:spPr>
          <a:xfrm>
            <a:off x="5365533" y="38719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1" name="s3/drawing/all-points/p-B-mod-04"/>
          <p:cNvSpPr/>
          <p:nvPr/>
        </p:nvSpPr>
        <p:spPr>
          <a:xfrm>
            <a:off x="6655231" y="396716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2" name="s3/drawing/all-points/p-B-mod-05"/>
          <p:cNvSpPr/>
          <p:nvPr/>
        </p:nvSpPr>
        <p:spPr>
          <a:xfrm>
            <a:off x="5572744" y="4062412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3" name="s3/drawing/all-points/p-B-mod-06"/>
          <p:cNvSpPr/>
          <p:nvPr/>
        </p:nvSpPr>
        <p:spPr>
          <a:xfrm>
            <a:off x="5843427" y="372903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4" name="s3/drawing/all-points/p-B-mod-07"/>
          <p:cNvSpPr/>
          <p:nvPr/>
        </p:nvSpPr>
        <p:spPr>
          <a:xfrm>
            <a:off x="5965915" y="382428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5" name="s3/drawing/all-points/p-B-mod-08"/>
          <p:cNvSpPr/>
          <p:nvPr/>
        </p:nvSpPr>
        <p:spPr>
          <a:xfrm>
            <a:off x="5268926" y="3919537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6" name="s3/drawing/all-points/p-B-mod-09"/>
          <p:cNvSpPr/>
          <p:nvPr/>
        </p:nvSpPr>
        <p:spPr>
          <a:xfrm>
            <a:off x="5401244" y="401478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7" name="s3/drawing/all-points/p-B-mod-10"/>
          <p:cNvSpPr/>
          <p:nvPr/>
        </p:nvSpPr>
        <p:spPr>
          <a:xfrm>
            <a:off x="5931554" y="36814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8" name="s3/drawing/all-points/p-B-mod-11"/>
          <p:cNvSpPr/>
          <p:nvPr/>
        </p:nvSpPr>
        <p:spPr>
          <a:xfrm>
            <a:off x="4982716" y="38719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59" name="s3/drawing/all-points/p-B-mod-12"/>
          <p:cNvSpPr/>
          <p:nvPr/>
        </p:nvSpPr>
        <p:spPr>
          <a:xfrm>
            <a:off x="4970422" y="4062412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0" name="s3/drawing/all-points/group-3"/>
          <p:cNvSpPr/>
          <p:nvPr/>
        </p:nvSpPr>
        <p:spPr>
          <a:xfrm>
            <a:off x="457200" y="4524375"/>
            <a:ext cx="1838325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改性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180 MPa</a:t>
            </a:r>
            <a:endParaRPr lang="zh-CN" sz="1800" dirty="0"/>
          </a:p>
        </p:txBody>
      </p:sp>
      <p:sp>
        <p:nvSpPr>
          <p:cNvPr id="61" name="s3/drawing/all-points/p-C-mod-01"/>
          <p:cNvSpPr/>
          <p:nvPr/>
        </p:nvSpPr>
        <p:spPr>
          <a:xfrm>
            <a:off x="6021040" y="45196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2" name="s3/drawing/all-points/p-C-mod-02"/>
          <p:cNvSpPr/>
          <p:nvPr/>
        </p:nvSpPr>
        <p:spPr>
          <a:xfrm>
            <a:off x="7120803" y="4614863"/>
            <a:ext cx="85725" cy="8572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3" name="s3/drawing/all-points/runout-1/segment-1"/>
          <p:cNvSpPr/>
          <p:nvPr/>
        </p:nvSpPr>
        <p:spPr>
          <a:xfrm>
            <a:off x="7230341" y="4657725"/>
            <a:ext cx="228600" cy="0"/>
          </a:xfrm>
          <a:prstGeom prst="line">
            <a:avLst/>
          </a:prstGeom>
          <a:noFill/>
          <a:ln w="15240">
            <a:solidFill>
              <a:srgbClr val="86673F"/>
            </a:solidFill>
            <a:prstDash val="solid"/>
            <a:tailEnd type="triangle"/>
          </a:ln>
        </p:spPr>
      </p:sp>
      <p:sp>
        <p:nvSpPr>
          <p:cNvPr id="64" name="s3/drawing/all-points/p-C-mod-03"/>
          <p:cNvSpPr/>
          <p:nvPr/>
        </p:nvSpPr>
        <p:spPr>
          <a:xfrm>
            <a:off x="6511931" y="47101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5" name="s3/drawing/all-points/p-C-mod-04"/>
          <p:cNvSpPr/>
          <p:nvPr/>
        </p:nvSpPr>
        <p:spPr>
          <a:xfrm>
            <a:off x="6064357" y="480536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6" name="s3/drawing/all-points/p-C-mod-05"/>
          <p:cNvSpPr/>
          <p:nvPr/>
        </p:nvSpPr>
        <p:spPr>
          <a:xfrm>
            <a:off x="6042300" y="49006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7" name="s3/drawing/all-points/p-C-mod-06"/>
          <p:cNvSpPr/>
          <p:nvPr/>
        </p:nvSpPr>
        <p:spPr>
          <a:xfrm>
            <a:off x="6266861" y="456723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8" name="s3/drawing/all-points/p-C-mod-07"/>
          <p:cNvSpPr/>
          <p:nvPr/>
        </p:nvSpPr>
        <p:spPr>
          <a:xfrm>
            <a:off x="6439293" y="466248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69" name="s3/drawing/all-points/p-C-mod-08"/>
          <p:cNvSpPr/>
          <p:nvPr/>
        </p:nvSpPr>
        <p:spPr>
          <a:xfrm>
            <a:off x="7120803" y="4757738"/>
            <a:ext cx="85725" cy="8572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70" name="s3/drawing/all-points/runout-7/segment-1"/>
          <p:cNvSpPr/>
          <p:nvPr/>
        </p:nvSpPr>
        <p:spPr>
          <a:xfrm>
            <a:off x="7230341" y="4800600"/>
            <a:ext cx="228600" cy="0"/>
          </a:xfrm>
          <a:prstGeom prst="line">
            <a:avLst/>
          </a:prstGeom>
          <a:noFill/>
          <a:ln w="15240">
            <a:solidFill>
              <a:srgbClr val="86673F"/>
            </a:solidFill>
            <a:prstDash val="solid"/>
            <a:tailEnd type="triangle"/>
          </a:ln>
        </p:spPr>
      </p:sp>
      <p:sp>
        <p:nvSpPr>
          <p:cNvPr id="71" name="s3/drawing/all-points/p-C-mod-09"/>
          <p:cNvSpPr/>
          <p:nvPr/>
        </p:nvSpPr>
        <p:spPr>
          <a:xfrm>
            <a:off x="6855986" y="4852988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72" name="s3/drawing/all-points/p-C-mod-10"/>
          <p:cNvSpPr/>
          <p:nvPr/>
        </p:nvSpPr>
        <p:spPr>
          <a:xfrm>
            <a:off x="6436640" y="45196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73" name="s3/drawing/all-points/p-C-mod-11"/>
          <p:cNvSpPr/>
          <p:nvPr/>
        </p:nvSpPr>
        <p:spPr>
          <a:xfrm>
            <a:off x="6179201" y="47101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74" name="s3/drawing/all-points/p-C-mod-12"/>
          <p:cNvSpPr/>
          <p:nvPr/>
        </p:nvSpPr>
        <p:spPr>
          <a:xfrm>
            <a:off x="6954390" y="4900613"/>
            <a:ext cx="85725" cy="85725"/>
          </a:xfrm>
          <a:prstGeom prst="ellipse">
            <a:avLst/>
          </a:prstGeom>
          <a:solidFill>
            <a:srgbClr val="86673F"/>
          </a:solidFill>
          <a:ln w="13335">
            <a:solidFill>
              <a:srgbClr val="86673F"/>
            </a:solidFill>
            <a:prstDash val="solid"/>
          </a:ln>
        </p:spPr>
      </p:sp>
      <p:sp>
        <p:nvSpPr>
          <p:cNvPr id="75" name="s3/drawing/all-points/xunit"/>
          <p:cNvSpPr/>
          <p:nvPr/>
        </p:nvSpPr>
        <p:spPr>
          <a:xfrm>
            <a:off x="457200" y="5676900"/>
            <a:ext cx="7562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观察时间（万循环）；每组n=12</a:t>
            </a:r>
            <a:endParaRPr lang="zh-CN" sz="1800" dirty="0"/>
          </a:p>
        </p:txBody>
      </p:sp>
      <p:sp>
        <p:nvSpPr>
          <p:cNvPr id="76" name="s3/drawing/all-reading/same-condition"/>
          <p:cNvSpPr/>
          <p:nvPr/>
        </p:nvSpPr>
        <p:spPr>
          <a:xfrm>
            <a:off x="8305800" y="1352550"/>
            <a:ext cx="3429000" cy="2400300"/>
          </a:xfrm>
          <a:prstGeom prst="roundRect">
            <a:avLst>
              <a:gd name="adj" fmla="val 1587"/>
            </a:avLst>
          </a:prstGeom>
          <a:ln w="11430">
            <a:solidFill>
              <a:srgbClr val="BAC6D2"/>
            </a:solidFill>
            <a:prstDash val="solid"/>
          </a:ln>
        </p:spPr>
      </p:sp>
      <p:sp>
        <p:nvSpPr>
          <p:cNvPr id="77" name="s3/drawing/all-reading/same-h"/>
          <p:cNvSpPr/>
          <p:nvPr/>
        </p:nvSpPr>
        <p:spPr>
          <a:xfrm>
            <a:off x="8477250" y="1514475"/>
            <a:ext cx="3086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同工艺、同应力</a:t>
            </a:r>
            <a:endParaRPr lang="zh-CN" sz="2100" dirty="0"/>
          </a:p>
        </p:txBody>
      </p:sp>
      <p:sp>
        <p:nvSpPr>
          <p:cNvPr id="78" name="s3/drawing/all-reading/means"/>
          <p:cNvSpPr/>
          <p:nvPr/>
        </p:nvSpPr>
        <p:spPr>
          <a:xfrm>
            <a:off x="8477250" y="2019300"/>
            <a:ext cx="30861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A常规：23.63万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B常规：30.37万</a:t>
            </a:r>
            <a:endParaRPr lang="zh-CN" sz="2100" dirty="0"/>
          </a:p>
        </p:txBody>
      </p:sp>
      <p:sp>
        <p:nvSpPr>
          <p:cNvPr id="79" name="s3/drawing/all-reading/same-c"/>
          <p:cNvSpPr/>
          <p:nvPr/>
        </p:nvSpPr>
        <p:spPr>
          <a:xfrm>
            <a:off x="8477250" y="2895600"/>
            <a:ext cx="30861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均值差6.74万循环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仍是描述，未能归因</a:t>
            </a:r>
            <a:endParaRPr lang="zh-CN" sz="2100" dirty="0"/>
          </a:p>
        </p:txBody>
      </p:sp>
      <p:sp>
        <p:nvSpPr>
          <p:cNvPr id="80" name="s3/drawing/all-reading/c-h"/>
          <p:cNvSpPr/>
          <p:nvPr/>
        </p:nvSpPr>
        <p:spPr>
          <a:xfrm>
            <a:off x="8305800" y="4095750"/>
            <a:ext cx="3429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C批的比较条件不同</a:t>
            </a:r>
            <a:endParaRPr lang="zh-CN" sz="2100" dirty="0"/>
          </a:p>
        </p:txBody>
      </p:sp>
      <p:sp>
        <p:nvSpPr>
          <p:cNvPr id="81" name="s3/drawing/all-reading/c-c"/>
          <p:cNvSpPr/>
          <p:nvPr/>
        </p:nvSpPr>
        <p:spPr>
          <a:xfrm>
            <a:off x="8305800" y="4572000"/>
            <a:ext cx="3429000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180 MPa；2件runout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50万时仍未失效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不能并作工艺收益</a:t>
            </a:r>
            <a:endParaRPr lang="zh-CN" sz="2100" dirty="0"/>
          </a:p>
        </p:txBody>
      </p:sp>
      <p:sp>
        <p:nvSpPr>
          <p:cNvPr id="82" name="s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08</a:t>
            </a:r>
            <a:endParaRPr lang="zh-CN" sz="1350" dirty="0"/>
          </a:p>
        </p:txBody>
      </p:sp>
      <p:sp>
        <p:nvSpPr>
          <p:cNvPr id="3" name="s4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1950" dirty="0"/>
          </a:p>
        </p:txBody>
      </p:sp>
      <p:sp>
        <p:nvSpPr>
          <p:cNvPr id="4" name="s4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s4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B批均值偏高，区间仍跨越零差异</a:t>
            </a:r>
            <a:endParaRPr lang="zh-CN" sz="3150" dirty="0"/>
          </a:p>
        </p:txBody>
      </p:sp>
      <p:sp>
        <p:nvSpPr>
          <p:cNvPr id="6" name="s4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s4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s4/drawing/b-raw-horizontal/condition"/>
          <p:cNvSpPr/>
          <p:nvPr/>
        </p:nvSpPr>
        <p:spPr>
          <a:xfrm>
            <a:off x="457200" y="13335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 · 200 MPa · 每组12件 · 全部失效</a:t>
            </a:r>
            <a:endParaRPr lang="zh-CN" sz="2100" dirty="0"/>
          </a:p>
        </p:txBody>
      </p:sp>
      <p:sp>
        <p:nvSpPr>
          <p:cNvPr id="9" name="s4/drawing/b-raw-horizontal/grid-20/segment-1"/>
          <p:cNvSpPr/>
          <p:nvPr/>
        </p:nvSpPr>
        <p:spPr>
          <a:xfrm>
            <a:off x="26479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0" name="s4/drawing/b-raw-horizontal/tick-20"/>
          <p:cNvSpPr/>
          <p:nvPr/>
        </p:nvSpPr>
        <p:spPr>
          <a:xfrm>
            <a:off x="24098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800" dirty="0"/>
          </a:p>
        </p:txBody>
      </p:sp>
      <p:sp>
        <p:nvSpPr>
          <p:cNvPr id="11" name="s4/drawing/b-raw-horizontal/grid-25/segment-1"/>
          <p:cNvSpPr/>
          <p:nvPr/>
        </p:nvSpPr>
        <p:spPr>
          <a:xfrm>
            <a:off x="40576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2" name="s4/drawing/b-raw-horizontal/tick-25"/>
          <p:cNvSpPr/>
          <p:nvPr/>
        </p:nvSpPr>
        <p:spPr>
          <a:xfrm>
            <a:off x="38195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800" dirty="0"/>
          </a:p>
        </p:txBody>
      </p:sp>
      <p:sp>
        <p:nvSpPr>
          <p:cNvPr id="13" name="s4/drawing/b-raw-horizontal/grid-30/segment-1"/>
          <p:cNvSpPr/>
          <p:nvPr/>
        </p:nvSpPr>
        <p:spPr>
          <a:xfrm>
            <a:off x="54673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4" name="s4/drawing/b-raw-horizontal/tick-30"/>
          <p:cNvSpPr/>
          <p:nvPr/>
        </p:nvSpPr>
        <p:spPr>
          <a:xfrm>
            <a:off x="52292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800" dirty="0"/>
          </a:p>
        </p:txBody>
      </p:sp>
      <p:sp>
        <p:nvSpPr>
          <p:cNvPr id="15" name="s4/drawing/b-raw-horizontal/grid-35/segment-1"/>
          <p:cNvSpPr/>
          <p:nvPr/>
        </p:nvSpPr>
        <p:spPr>
          <a:xfrm>
            <a:off x="68770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6" name="s4/drawing/b-raw-horizontal/tick-35"/>
          <p:cNvSpPr/>
          <p:nvPr/>
        </p:nvSpPr>
        <p:spPr>
          <a:xfrm>
            <a:off x="66389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zh-CN" sz="1800" dirty="0"/>
          </a:p>
        </p:txBody>
      </p:sp>
      <p:sp>
        <p:nvSpPr>
          <p:cNvPr id="17" name="s4/drawing/b-raw-horizontal/grid-40/segment-1"/>
          <p:cNvSpPr/>
          <p:nvPr/>
        </p:nvSpPr>
        <p:spPr>
          <a:xfrm>
            <a:off x="82867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8" name="s4/drawing/b-raw-horizontal/tick-40"/>
          <p:cNvSpPr/>
          <p:nvPr/>
        </p:nvSpPr>
        <p:spPr>
          <a:xfrm>
            <a:off x="80486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800" dirty="0"/>
          </a:p>
        </p:txBody>
      </p:sp>
      <p:sp>
        <p:nvSpPr>
          <p:cNvPr id="19" name="s4/drawing/b-raw-horizontal/grid-45/segment-1"/>
          <p:cNvSpPr/>
          <p:nvPr/>
        </p:nvSpPr>
        <p:spPr>
          <a:xfrm>
            <a:off x="96964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0" name="s4/drawing/b-raw-horizontal/tick-45"/>
          <p:cNvSpPr/>
          <p:nvPr/>
        </p:nvSpPr>
        <p:spPr>
          <a:xfrm>
            <a:off x="94583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zh-CN" sz="1800" dirty="0"/>
          </a:p>
        </p:txBody>
      </p:sp>
      <p:sp>
        <p:nvSpPr>
          <p:cNvPr id="21" name="s4/drawing/b-raw-horizontal/grid-50/segment-1"/>
          <p:cNvSpPr/>
          <p:nvPr/>
        </p:nvSpPr>
        <p:spPr>
          <a:xfrm>
            <a:off x="111061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2" name="s4/drawing/b-raw-horizontal/tick-50"/>
          <p:cNvSpPr/>
          <p:nvPr/>
        </p:nvSpPr>
        <p:spPr>
          <a:xfrm>
            <a:off x="108680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800" dirty="0"/>
          </a:p>
        </p:txBody>
      </p:sp>
      <p:sp>
        <p:nvSpPr>
          <p:cNvPr id="23" name="s4/drawing/b-raw-horizontal/label-_u5e38_u89c4"/>
          <p:cNvSpPr/>
          <p:nvPr/>
        </p:nvSpPr>
        <p:spPr>
          <a:xfrm>
            <a:off x="457200" y="2047875"/>
            <a:ext cx="1047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</a:t>
            </a:r>
            <a:endParaRPr lang="zh-CN" sz="2100" dirty="0"/>
          </a:p>
        </p:txBody>
      </p:sp>
      <p:sp>
        <p:nvSpPr>
          <p:cNvPr id="24" name="s4/drawing/b-raw-horizontal/n-_u5e38_u89c4"/>
          <p:cNvSpPr/>
          <p:nvPr/>
        </p:nvSpPr>
        <p:spPr>
          <a:xfrm>
            <a:off x="1514475" y="2066925"/>
            <a:ext cx="952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12</a:t>
            </a:r>
            <a:endParaRPr lang="zh-CN" sz="1800" dirty="0"/>
          </a:p>
        </p:txBody>
      </p:sp>
      <p:sp>
        <p:nvSpPr>
          <p:cNvPr id="25" name="s4/drawing/b-raw-horizontal/dot-B-con-01"/>
          <p:cNvSpPr/>
          <p:nvPr/>
        </p:nvSpPr>
        <p:spPr>
          <a:xfrm>
            <a:off x="5462242" y="203835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4/drawing/b-raw-horizontal/dot-B-con-02"/>
          <p:cNvSpPr/>
          <p:nvPr/>
        </p:nvSpPr>
        <p:spPr>
          <a:xfrm>
            <a:off x="5663519" y="2100263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4/drawing/b-raw-horizontal/dot-B-con-03"/>
          <p:cNvSpPr/>
          <p:nvPr/>
        </p:nvSpPr>
        <p:spPr>
          <a:xfrm>
            <a:off x="5736710" y="2162175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4/drawing/b-raw-horizontal/dot-B-con-04"/>
          <p:cNvSpPr/>
          <p:nvPr/>
        </p:nvSpPr>
        <p:spPr>
          <a:xfrm>
            <a:off x="5094479" y="2224088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4/drawing/b-raw-horizontal/dot-B-con-05"/>
          <p:cNvSpPr/>
          <p:nvPr/>
        </p:nvSpPr>
        <p:spPr>
          <a:xfrm>
            <a:off x="6828156" y="228600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4/drawing/b-raw-horizontal/dot-B-con-06"/>
          <p:cNvSpPr/>
          <p:nvPr/>
        </p:nvSpPr>
        <p:spPr>
          <a:xfrm>
            <a:off x="3555228" y="2069306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4/drawing/b-raw-horizontal/dot-B-con-07"/>
          <p:cNvSpPr/>
          <p:nvPr/>
        </p:nvSpPr>
        <p:spPr>
          <a:xfrm>
            <a:off x="5340782" y="2131219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4/drawing/b-raw-horizontal/dot-B-con-08"/>
          <p:cNvSpPr/>
          <p:nvPr/>
        </p:nvSpPr>
        <p:spPr>
          <a:xfrm>
            <a:off x="5970185" y="219313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4/drawing/b-raw-horizontal/dot-B-con-09"/>
          <p:cNvSpPr/>
          <p:nvPr/>
        </p:nvSpPr>
        <p:spPr>
          <a:xfrm>
            <a:off x="6191649" y="2255044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4/drawing/b-raw-horizontal/dot-B-con-10"/>
          <p:cNvSpPr/>
          <p:nvPr/>
        </p:nvSpPr>
        <p:spPr>
          <a:xfrm>
            <a:off x="4405446" y="203835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4/drawing/b-raw-horizontal/dot-B-con-11"/>
          <p:cNvSpPr/>
          <p:nvPr/>
        </p:nvSpPr>
        <p:spPr>
          <a:xfrm>
            <a:off x="5748157" y="2162175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4/drawing/b-raw-horizontal/dot-B-con-12"/>
          <p:cNvSpPr/>
          <p:nvPr/>
        </p:nvSpPr>
        <p:spPr>
          <a:xfrm>
            <a:off x="6286155" y="228600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4/drawing/b-raw-horizontal/mean-_u5e38_u89c4/segment-1"/>
          <p:cNvSpPr/>
          <p:nvPr/>
        </p:nvSpPr>
        <p:spPr>
          <a:xfrm>
            <a:off x="5571184" y="1971675"/>
            <a:ext cx="0" cy="47625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38" name="s4/drawing/b-raw-horizontal/label-_u6539_u6027"/>
          <p:cNvSpPr/>
          <p:nvPr/>
        </p:nvSpPr>
        <p:spPr>
          <a:xfrm>
            <a:off x="457200" y="2609850"/>
            <a:ext cx="1047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</a:t>
            </a:r>
            <a:endParaRPr lang="zh-CN" sz="2100" dirty="0"/>
          </a:p>
        </p:txBody>
      </p:sp>
      <p:sp>
        <p:nvSpPr>
          <p:cNvPr id="39" name="s4/drawing/b-raw-horizontal/n-_u6539_u6027"/>
          <p:cNvSpPr/>
          <p:nvPr/>
        </p:nvSpPr>
        <p:spPr>
          <a:xfrm>
            <a:off x="1514475" y="2628900"/>
            <a:ext cx="952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12</a:t>
            </a:r>
            <a:endParaRPr lang="zh-CN" sz="1800" dirty="0"/>
          </a:p>
        </p:txBody>
      </p:sp>
      <p:sp>
        <p:nvSpPr>
          <p:cNvPr id="40" name="s4/drawing/b-raw-horizontal/dot-B-mod-01"/>
          <p:cNvSpPr/>
          <p:nvPr/>
        </p:nvSpPr>
        <p:spPr>
          <a:xfrm>
            <a:off x="3823437" y="260032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4/drawing/b-raw-horizontal/dot-B-mod-02"/>
          <p:cNvSpPr/>
          <p:nvPr/>
        </p:nvSpPr>
        <p:spPr>
          <a:xfrm>
            <a:off x="5765919" y="2662238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4/drawing/b-raw-horizontal/dot-B-mod-03"/>
          <p:cNvSpPr/>
          <p:nvPr/>
        </p:nvSpPr>
        <p:spPr>
          <a:xfrm>
            <a:off x="5853461" y="272415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4/drawing/b-raw-horizontal/dot-B-mod-04"/>
          <p:cNvSpPr/>
          <p:nvPr/>
        </p:nvSpPr>
        <p:spPr>
          <a:xfrm>
            <a:off x="9677921" y="2786063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4/drawing/b-raw-horizontal/dot-B-mod-05"/>
          <p:cNvSpPr/>
          <p:nvPr/>
        </p:nvSpPr>
        <p:spPr>
          <a:xfrm>
            <a:off x="6467922" y="284797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4/drawing/b-raw-horizontal/dot-B-mod-06"/>
          <p:cNvSpPr/>
          <p:nvPr/>
        </p:nvSpPr>
        <p:spPr>
          <a:xfrm>
            <a:off x="7270605" y="2631281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4/drawing/b-raw-horizontal/dot-B-mod-07"/>
          <p:cNvSpPr/>
          <p:nvPr/>
        </p:nvSpPr>
        <p:spPr>
          <a:xfrm>
            <a:off x="7633828" y="2693194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4/drawing/b-raw-horizontal/dot-B-mod-08"/>
          <p:cNvSpPr/>
          <p:nvPr/>
        </p:nvSpPr>
        <p:spPr>
          <a:xfrm>
            <a:off x="5566982" y="2755106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4/drawing/b-raw-horizontal/dot-B-mod-09"/>
          <p:cNvSpPr/>
          <p:nvPr/>
        </p:nvSpPr>
        <p:spPr>
          <a:xfrm>
            <a:off x="5959358" y="2817019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4/drawing/b-raw-horizontal/dot-B-mod-10"/>
          <p:cNvSpPr/>
          <p:nvPr/>
        </p:nvSpPr>
        <p:spPr>
          <a:xfrm>
            <a:off x="7531935" y="260032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4/drawing/b-raw-horizontal/dot-B-mod-11"/>
          <p:cNvSpPr/>
          <p:nvPr/>
        </p:nvSpPr>
        <p:spPr>
          <a:xfrm>
            <a:off x="4718258" y="272415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4/drawing/b-raw-horizontal/dot-B-mod-12"/>
          <p:cNvSpPr/>
          <p:nvPr/>
        </p:nvSpPr>
        <p:spPr>
          <a:xfrm>
            <a:off x="4681803" y="284797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4/drawing/b-raw-horizontal/mean-_u6539_u6027/segment-1"/>
          <p:cNvSpPr/>
          <p:nvPr/>
        </p:nvSpPr>
        <p:spPr>
          <a:xfrm>
            <a:off x="6293578" y="2533650"/>
            <a:ext cx="0" cy="476250"/>
          </a:xfrm>
          <a:prstGeom prst="line">
            <a:avLst/>
          </a:prstGeom>
          <a:noFill/>
          <a:ln w="28575">
            <a:solidFill>
              <a:srgbClr val="86673F"/>
            </a:solidFill>
            <a:prstDash val="solid"/>
          </a:ln>
        </p:spPr>
      </p:sp>
      <p:sp>
        <p:nvSpPr>
          <p:cNvPr id="53" name="s4/drawing/b-raw-horizontal/axis"/>
          <p:cNvSpPr/>
          <p:nvPr/>
        </p:nvSpPr>
        <p:spPr>
          <a:xfrm>
            <a:off x="7505700" y="3371850"/>
            <a:ext cx="3619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失效寿命（万循环）</a:t>
            </a:r>
            <a:endParaRPr lang="zh-CN" sz="1800" dirty="0"/>
          </a:p>
        </p:txBody>
      </p:sp>
      <p:sp>
        <p:nvSpPr>
          <p:cNvPr id="54" name="s4/drawing/b-raw-horizontal/legend"/>
          <p:cNvSpPr/>
          <p:nvPr/>
        </p:nvSpPr>
        <p:spPr>
          <a:xfrm>
            <a:off x="457200" y="3371850"/>
            <a:ext cx="6762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圆点：独立试件；短竖线：组均值</a:t>
            </a:r>
            <a:endParaRPr lang="zh-CN" sz="1800" dirty="0"/>
          </a:p>
        </p:txBody>
      </p:sp>
      <p:sp>
        <p:nvSpPr>
          <p:cNvPr id="55" name="s4/drawing/b-ci/ci-title"/>
          <p:cNvSpPr/>
          <p:nvPr/>
        </p:nvSpPr>
        <p:spPr>
          <a:xfrm>
            <a:off x="457200" y="3771900"/>
            <a:ext cx="6667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均值差：改性 − 常规</a:t>
            </a:r>
            <a:endParaRPr lang="zh-CN" sz="2100" dirty="0"/>
          </a:p>
        </p:txBody>
      </p:sp>
      <p:sp>
        <p:nvSpPr>
          <p:cNvPr id="56" name="s4/drawing/b-ci/ci-zero/segment-1"/>
          <p:cNvSpPr/>
          <p:nvPr/>
        </p:nvSpPr>
        <p:spPr>
          <a:xfrm>
            <a:off x="2347383" y="4191000"/>
            <a:ext cx="0" cy="685800"/>
          </a:xfrm>
          <a:prstGeom prst="line">
            <a:avLst/>
          </a:prstGeom>
          <a:noFill/>
          <a:ln w="11430">
            <a:solidFill>
              <a:srgbClr val="526170"/>
            </a:solidFill>
            <a:prstDash val="dash"/>
          </a:ln>
        </p:spPr>
      </p:sp>
      <p:sp>
        <p:nvSpPr>
          <p:cNvPr id="57" name="s4/drawing/b-ci/ci-range/segment-1"/>
          <p:cNvSpPr/>
          <p:nvPr/>
        </p:nvSpPr>
        <p:spPr>
          <a:xfrm>
            <a:off x="1484507" y="4505325"/>
            <a:ext cx="4958084" cy="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58" name="s4/drawing/b-ci/ci-cap-low/segment-1"/>
          <p:cNvSpPr/>
          <p:nvPr/>
        </p:nvSpPr>
        <p:spPr>
          <a:xfrm>
            <a:off x="1484507" y="4410075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59" name="s4/drawing/b-ci/ci-cap-high/segment-1"/>
          <p:cNvSpPr/>
          <p:nvPr/>
        </p:nvSpPr>
        <p:spPr>
          <a:xfrm>
            <a:off x="6442592" y="4410075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60" name="s4/drawing/b-ci/ci-estimate"/>
          <p:cNvSpPr/>
          <p:nvPr/>
        </p:nvSpPr>
        <p:spPr>
          <a:xfrm>
            <a:off x="3896874" y="4438650"/>
            <a:ext cx="133350" cy="1333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4/drawing/b-ci/ci-tick--2/segment-1"/>
          <p:cNvSpPr/>
          <p:nvPr/>
        </p:nvSpPr>
        <p:spPr>
          <a:xfrm>
            <a:off x="1085850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2" name="s4/drawing/b-ci/ci-label--2"/>
          <p:cNvSpPr/>
          <p:nvPr/>
        </p:nvSpPr>
        <p:spPr>
          <a:xfrm>
            <a:off x="876300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</a:t>
            </a:r>
            <a:endParaRPr lang="zh-CN" sz="1800" dirty="0"/>
          </a:p>
        </p:txBody>
      </p:sp>
      <p:sp>
        <p:nvSpPr>
          <p:cNvPr id="63" name="s4/drawing/b-ci/ci-tick-0/segment-1"/>
          <p:cNvSpPr/>
          <p:nvPr/>
        </p:nvSpPr>
        <p:spPr>
          <a:xfrm>
            <a:off x="2347383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4" name="s4/drawing/b-ci/ci-label-0"/>
          <p:cNvSpPr/>
          <p:nvPr/>
        </p:nvSpPr>
        <p:spPr>
          <a:xfrm>
            <a:off x="2137833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65" name="s4/drawing/b-ci/ci-tick-2/segment-1"/>
          <p:cNvSpPr/>
          <p:nvPr/>
        </p:nvSpPr>
        <p:spPr>
          <a:xfrm>
            <a:off x="3608917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6" name="s4/drawing/b-ci/ci-label-2"/>
          <p:cNvSpPr/>
          <p:nvPr/>
        </p:nvSpPr>
        <p:spPr>
          <a:xfrm>
            <a:off x="3399367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zh-CN" sz="1800" dirty="0"/>
          </a:p>
        </p:txBody>
      </p:sp>
      <p:sp>
        <p:nvSpPr>
          <p:cNvPr id="67" name="s4/drawing/b-ci/ci-tick-4/segment-1"/>
          <p:cNvSpPr/>
          <p:nvPr/>
        </p:nvSpPr>
        <p:spPr>
          <a:xfrm>
            <a:off x="4870450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8" name="s4/drawing/b-ci/ci-label-4"/>
          <p:cNvSpPr/>
          <p:nvPr/>
        </p:nvSpPr>
        <p:spPr>
          <a:xfrm>
            <a:off x="4660900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zh-CN" sz="1800" dirty="0"/>
          </a:p>
        </p:txBody>
      </p:sp>
      <p:sp>
        <p:nvSpPr>
          <p:cNvPr id="69" name="s4/drawing/b-ci/ci-tick-6/segment-1"/>
          <p:cNvSpPr/>
          <p:nvPr/>
        </p:nvSpPr>
        <p:spPr>
          <a:xfrm>
            <a:off x="6131983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70" name="s4/drawing/b-ci/ci-label-6"/>
          <p:cNvSpPr/>
          <p:nvPr/>
        </p:nvSpPr>
        <p:spPr>
          <a:xfrm>
            <a:off x="5922433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zh-CN" sz="1800" dirty="0"/>
          </a:p>
        </p:txBody>
      </p:sp>
      <p:sp>
        <p:nvSpPr>
          <p:cNvPr id="71" name="s4/drawing/b-ci/ci-axis"/>
          <p:cNvSpPr/>
          <p:nvPr/>
        </p:nvSpPr>
        <p:spPr>
          <a:xfrm>
            <a:off x="457200" y="5305425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万循环；线段为Welch 95%区间</a:t>
            </a:r>
            <a:endParaRPr lang="zh-CN" sz="1800" dirty="0"/>
          </a:p>
        </p:txBody>
      </p:sp>
      <p:sp>
        <p:nvSpPr>
          <p:cNvPr id="72" name="s4/drawing/b-summary/means"/>
          <p:cNvSpPr/>
          <p:nvPr/>
        </p:nvSpPr>
        <p:spPr>
          <a:xfrm>
            <a:off x="7391400" y="3771900"/>
            <a:ext cx="43434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常规：30.37 ± 3.10万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改性：32.93 ± 5.66万</a:t>
            </a:r>
            <a:endParaRPr lang="zh-CN" sz="2100" dirty="0"/>
          </a:p>
        </p:txBody>
      </p:sp>
      <p:sp>
        <p:nvSpPr>
          <p:cNvPr id="73" name="s4/drawing/b-summary/sd"/>
          <p:cNvSpPr/>
          <p:nvPr/>
        </p:nvSpPr>
        <p:spPr>
          <a:xfrm>
            <a:off x="7391400" y="4562475"/>
            <a:ext cx="4343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以上为均值 ± 样本SD</a:t>
            </a:r>
            <a:endParaRPr lang="zh-CN" sz="1800" dirty="0"/>
          </a:p>
        </p:txBody>
      </p:sp>
      <p:sp>
        <p:nvSpPr>
          <p:cNvPr id="74" name="s4/drawing/b-summary/difference"/>
          <p:cNvSpPr/>
          <p:nvPr/>
        </p:nvSpPr>
        <p:spPr>
          <a:xfrm>
            <a:off x="7391400" y="4953000"/>
            <a:ext cx="43434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 +2.56万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95%区间 [−1.37, 6.49]万</a:t>
            </a:r>
            <a:endParaRPr lang="zh-CN" sz="2100" dirty="0"/>
          </a:p>
        </p:txBody>
      </p:sp>
      <p:sp>
        <p:nvSpPr>
          <p:cNvPr id="75" name="s4/drawing/b-boundary/b-boundary-text"/>
          <p:cNvSpPr/>
          <p:nvPr/>
        </p:nvSpPr>
        <p:spPr>
          <a:xfrm>
            <a:off x="457200" y="56769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近似均值推断，未报告随机分配；跨零不等于等效。</a:t>
            </a:r>
            <a:endParaRPr lang="zh-CN" sz="2100" dirty="0"/>
          </a:p>
        </p:txBody>
      </p:sp>
      <p:sp>
        <p:nvSpPr>
          <p:cNvPr id="76" name="s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08</a:t>
            </a:r>
            <a:endParaRPr lang="zh-CN" sz="1350" dirty="0"/>
          </a:p>
        </p:txBody>
      </p:sp>
      <p:sp>
        <p:nvSpPr>
          <p:cNvPr id="3" name="s5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1950" dirty="0"/>
          </a:p>
        </p:txBody>
      </p:sp>
      <p:sp>
        <p:nvSpPr>
          <p:cNvPr id="4" name="s5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s5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删失与机制缺项限定了结论范围</a:t>
            </a:r>
            <a:endParaRPr lang="zh-CN" sz="3150" dirty="0"/>
          </a:p>
        </p:txBody>
      </p:sp>
      <p:sp>
        <p:nvSpPr>
          <p:cNvPr id="6" name="s5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s5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s5/drawing/endpoint-examples/scope"/>
          <p:cNvSpPr/>
          <p:nvPr/>
        </p:nvSpPr>
        <p:spPr>
          <a:xfrm>
            <a:off x="457200" y="1352550"/>
            <a:ext cx="5715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C批 · 180 MPa：两条实际记录示意</a:t>
            </a:r>
            <a:endParaRPr lang="zh-CN" sz="2100" dirty="0"/>
          </a:p>
        </p:txBody>
      </p:sp>
      <p:sp>
        <p:nvSpPr>
          <p:cNvPr id="9" name="s5/drawing/endpoint-examples/failure-id"/>
          <p:cNvSpPr/>
          <p:nvPr/>
        </p:nvSpPr>
        <p:spPr>
          <a:xfrm>
            <a:off x="457200" y="1933575"/>
            <a:ext cx="552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C-mod-12</a:t>
            </a:r>
            <a:endParaRPr lang="zh-CN" sz="1800" dirty="0"/>
          </a:p>
        </p:txBody>
      </p:sp>
      <p:sp>
        <p:nvSpPr>
          <p:cNvPr id="10" name="s5/drawing/endpoint-examples/failure-line/segment-1"/>
          <p:cNvSpPr/>
          <p:nvPr/>
        </p:nvSpPr>
        <p:spPr>
          <a:xfrm>
            <a:off x="1028700" y="2457450"/>
            <a:ext cx="4094426" cy="0"/>
          </a:xfrm>
          <a:prstGeom prst="line">
            <a:avLst/>
          </a:prstGeom>
          <a:noFill/>
          <a:ln w="19050">
            <a:solidFill>
              <a:srgbClr val="86673F"/>
            </a:solidFill>
            <a:prstDash val="solid"/>
          </a:ln>
        </p:spPr>
      </p:sp>
      <p:sp>
        <p:nvSpPr>
          <p:cNvPr id="11" name="s5/drawing/endpoint-examples/failure-dot"/>
          <p:cNvSpPr/>
          <p:nvPr/>
        </p:nvSpPr>
        <p:spPr>
          <a:xfrm>
            <a:off x="5065976" y="2400300"/>
            <a:ext cx="114300" cy="11430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5/drawing/endpoint-examples/failure-explain"/>
          <p:cNvSpPr/>
          <p:nvPr/>
        </p:nvSpPr>
        <p:spPr>
          <a:xfrm>
            <a:off x="457200" y="2705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48.25万循环：失效已观察</a:t>
            </a:r>
            <a:endParaRPr lang="zh-CN" sz="2100" dirty="0"/>
          </a:p>
        </p:txBody>
      </p:sp>
      <p:sp>
        <p:nvSpPr>
          <p:cNvPr id="13" name="s5/drawing/endpoint-examples/runout-id"/>
          <p:cNvSpPr/>
          <p:nvPr/>
        </p:nvSpPr>
        <p:spPr>
          <a:xfrm>
            <a:off x="457200" y="3305175"/>
            <a:ext cx="571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C-mod-02（另一件：C-mod-08）</a:t>
            </a:r>
            <a:endParaRPr lang="zh-CN" sz="1800" dirty="0"/>
          </a:p>
        </p:txBody>
      </p:sp>
      <p:sp>
        <p:nvSpPr>
          <p:cNvPr id="14" name="s5/drawing/endpoint-examples/runout-line/segment-1"/>
          <p:cNvSpPr/>
          <p:nvPr/>
        </p:nvSpPr>
        <p:spPr>
          <a:xfrm>
            <a:off x="1028700" y="3819525"/>
            <a:ext cx="4242955" cy="0"/>
          </a:xfrm>
          <a:prstGeom prst="line">
            <a:avLst/>
          </a:prstGeom>
          <a:noFill/>
          <a:ln w="19050">
            <a:solidFill>
              <a:srgbClr val="86673F"/>
            </a:solidFill>
            <a:prstDash val="solid"/>
          </a:ln>
        </p:spPr>
      </p:sp>
      <p:sp>
        <p:nvSpPr>
          <p:cNvPr id="15" name="s5/drawing/endpoint-examples/runout-dot"/>
          <p:cNvSpPr/>
          <p:nvPr/>
        </p:nvSpPr>
        <p:spPr>
          <a:xfrm>
            <a:off x="5214505" y="376237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6673F"/>
            </a:solidFill>
            <a:prstDash val="solid"/>
          </a:ln>
        </p:spPr>
      </p:sp>
      <p:sp>
        <p:nvSpPr>
          <p:cNvPr id="16" name="s5/drawing/endpoint-examples/runout-arrow/segment-1"/>
          <p:cNvSpPr/>
          <p:nvPr/>
        </p:nvSpPr>
        <p:spPr>
          <a:xfrm>
            <a:off x="5357380" y="3819525"/>
            <a:ext cx="490970" cy="0"/>
          </a:xfrm>
          <a:prstGeom prst="line">
            <a:avLst/>
          </a:prstGeom>
          <a:noFill/>
          <a:ln w="19050">
            <a:solidFill>
              <a:srgbClr val="86673F"/>
            </a:solidFill>
            <a:prstDash val="solid"/>
            <a:tailEnd type="triangle"/>
          </a:ln>
        </p:spPr>
      </p:sp>
      <p:sp>
        <p:nvSpPr>
          <p:cNvPr id="17" name="s5/drawing/endpoint-examples/runout-explain"/>
          <p:cNvSpPr/>
          <p:nvPr/>
        </p:nvSpPr>
        <p:spPr>
          <a:xfrm>
            <a:off x="457200" y="4067175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50万循环：未失效，寿命 &gt; 50万</a:t>
            </a:r>
            <a:endParaRPr lang="zh-CN" sz="2100" dirty="0"/>
          </a:p>
        </p:txBody>
      </p:sp>
      <p:sp>
        <p:nvSpPr>
          <p:cNvPr id="18" name="s5/drawing/endpoint-examples/time-axis/segment-1"/>
          <p:cNvSpPr/>
          <p:nvPr/>
        </p:nvSpPr>
        <p:spPr>
          <a:xfrm>
            <a:off x="1028700" y="4705350"/>
            <a:ext cx="466725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19" name="s5/drawing/endpoint-examples/time-tick-0/segment-1"/>
          <p:cNvSpPr/>
          <p:nvPr/>
        </p:nvSpPr>
        <p:spPr>
          <a:xfrm>
            <a:off x="1028700" y="4648200"/>
            <a:ext cx="0" cy="11430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20" name="s5/drawing/endpoint-examples/time-label-0"/>
          <p:cNvSpPr/>
          <p:nvPr/>
        </p:nvSpPr>
        <p:spPr>
          <a:xfrm>
            <a:off x="819150" y="4829175"/>
            <a:ext cx="41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21" name="s5/drawing/endpoint-examples/time-tick-25/segment-1"/>
          <p:cNvSpPr/>
          <p:nvPr/>
        </p:nvSpPr>
        <p:spPr>
          <a:xfrm>
            <a:off x="3150177" y="4648200"/>
            <a:ext cx="0" cy="11430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22" name="s5/drawing/endpoint-examples/time-label-25"/>
          <p:cNvSpPr/>
          <p:nvPr/>
        </p:nvSpPr>
        <p:spPr>
          <a:xfrm>
            <a:off x="2940627" y="4829175"/>
            <a:ext cx="41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800" dirty="0"/>
          </a:p>
        </p:txBody>
      </p:sp>
      <p:sp>
        <p:nvSpPr>
          <p:cNvPr id="23" name="s5/drawing/endpoint-examples/time-tick-50/segment-1"/>
          <p:cNvSpPr/>
          <p:nvPr/>
        </p:nvSpPr>
        <p:spPr>
          <a:xfrm>
            <a:off x="5271655" y="4648200"/>
            <a:ext cx="0" cy="11430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24" name="s5/drawing/endpoint-examples/time-label-50"/>
          <p:cNvSpPr/>
          <p:nvPr/>
        </p:nvSpPr>
        <p:spPr>
          <a:xfrm>
            <a:off x="5062105" y="4829175"/>
            <a:ext cx="41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800" dirty="0"/>
          </a:p>
        </p:txBody>
      </p:sp>
      <p:sp>
        <p:nvSpPr>
          <p:cNvPr id="25" name="s5/drawing/endpoint-examples/time-unit"/>
          <p:cNvSpPr/>
          <p:nvPr/>
        </p:nvSpPr>
        <p:spPr>
          <a:xfrm>
            <a:off x="457200" y="5210175"/>
            <a:ext cx="5715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循环数（万）；两条记录采用同一尺度</a:t>
            </a:r>
            <a:endParaRPr lang="zh-CN" sz="1800" dirty="0"/>
          </a:p>
        </p:txBody>
      </p:sp>
      <p:sp>
        <p:nvSpPr>
          <p:cNvPr id="26" name="s5/drawing/endpoint-examples/window"/>
          <p:cNvSpPr/>
          <p:nvPr/>
        </p:nvSpPr>
        <p:spPr>
          <a:xfrm>
            <a:off x="457200" y="5657850"/>
            <a:ext cx="5715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两件runout保留为右删失</a:t>
            </a:r>
            <a:endParaRPr lang="zh-CN" sz="2100" dirty="0"/>
          </a:p>
        </p:txBody>
      </p:sp>
      <p:sp>
        <p:nvSpPr>
          <p:cNvPr id="27" name="s5/drawing/boundaries/bounds-h"/>
          <p:cNvSpPr/>
          <p:nvPr/>
        </p:nvSpPr>
        <p:spPr>
          <a:xfrm>
            <a:off x="6515100" y="1352550"/>
            <a:ext cx="5219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当前记录支持到哪里</a:t>
            </a:r>
            <a:endParaRPr lang="zh-CN" sz="2100" dirty="0"/>
          </a:p>
        </p:txBody>
      </p:sp>
      <p:sp>
        <p:nvSpPr>
          <p:cNvPr id="28" name="s5/drawing/boundaries/bound1"/>
          <p:cNvSpPr/>
          <p:nvPr/>
        </p:nvSpPr>
        <p:spPr>
          <a:xfrm>
            <a:off x="6515100" y="2038350"/>
            <a:ext cx="52197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工艺效应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B批正差值是线索；因果未确立</a:t>
            </a:r>
            <a:endParaRPr lang="zh-CN" sz="2100" dirty="0"/>
          </a:p>
        </p:txBody>
      </p:sp>
      <p:sp>
        <p:nvSpPr>
          <p:cNvPr id="29" name="s5/drawing/boundaries/sep1/segment-1"/>
          <p:cNvSpPr/>
          <p:nvPr/>
        </p:nvSpPr>
        <p:spPr>
          <a:xfrm>
            <a:off x="6515100" y="2962275"/>
            <a:ext cx="52197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30" name="s5/drawing/boundaries/bound2"/>
          <p:cNvSpPr/>
          <p:nvPr/>
        </p:nvSpPr>
        <p:spPr>
          <a:xfrm>
            <a:off x="6515100" y="3209925"/>
            <a:ext cx="52197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观察窗口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50万后寿命尾部仍未知</a:t>
            </a:r>
            <a:endParaRPr lang="zh-CN" sz="2100" dirty="0"/>
          </a:p>
        </p:txBody>
      </p:sp>
      <p:sp>
        <p:nvSpPr>
          <p:cNvPr id="31" name="s5/drawing/boundaries/sep2/segment-1"/>
          <p:cNvSpPr/>
          <p:nvPr/>
        </p:nvSpPr>
        <p:spPr>
          <a:xfrm>
            <a:off x="6515100" y="4152900"/>
            <a:ext cx="52197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32" name="s5/drawing/boundaries/bound3"/>
          <p:cNvSpPr/>
          <p:nvPr/>
        </p:nvSpPr>
        <p:spPr>
          <a:xfrm>
            <a:off x="6515100" y="4419600"/>
            <a:ext cx="5219700" cy="10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材料机制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未提供断口、组织或残余应力测量</a:t>
            </a:r>
            <a:endParaRPr lang="zh-CN" sz="2100" dirty="0"/>
          </a:p>
        </p:txBody>
      </p:sp>
      <p:sp>
        <p:nvSpPr>
          <p:cNvPr id="33" name="s5/drawing/boundaries/no-mechanism"/>
          <p:cNvSpPr/>
          <p:nvPr/>
        </p:nvSpPr>
        <p:spPr>
          <a:xfrm>
            <a:off x="6515100" y="5648325"/>
            <a:ext cx="52197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不以寿命差补写机制解释</a:t>
            </a:r>
            <a:endParaRPr lang="zh-CN" sz="1800" dirty="0"/>
          </a:p>
        </p:txBody>
      </p:sp>
      <p:sp>
        <p:nvSpPr>
          <p:cNvPr id="34" name="s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08</a:t>
            </a:r>
            <a:endParaRPr lang="zh-CN" sz="1350" dirty="0"/>
          </a:p>
        </p:txBody>
      </p:sp>
      <p:sp>
        <p:nvSpPr>
          <p:cNvPr id="3" name="s6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下一步验证</a:t>
            </a:r>
            <a:endParaRPr lang="zh-CN" sz="1950" dirty="0"/>
          </a:p>
        </p:txBody>
      </p:sp>
      <p:sp>
        <p:nvSpPr>
          <p:cNvPr id="4" name="s6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s6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下一批：固定应力并随机分配工艺</a:t>
            </a:r>
            <a:endParaRPr lang="zh-CN" sz="3150" dirty="0"/>
          </a:p>
        </p:txBody>
      </p:sp>
      <p:sp>
        <p:nvSpPr>
          <p:cNvPr id="6" name="s6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s6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s6/drawing/new-study/not-done"/>
          <p:cNvSpPr/>
          <p:nvPr/>
        </p:nvSpPr>
        <p:spPr>
          <a:xfrm>
            <a:off x="457200" y="13525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待检验方案｜尚未开展</a:t>
            </a:r>
            <a:endParaRPr lang="zh-CN" sz="2100" dirty="0"/>
          </a:p>
        </p:txBody>
      </p:sp>
      <p:sp>
        <p:nvSpPr>
          <p:cNvPr id="9" name="s6/drawing/new-study/node-batch"/>
          <p:cNvSpPr/>
          <p:nvPr/>
        </p:nvSpPr>
        <p:spPr>
          <a:xfrm>
            <a:off x="457200" y="2133600"/>
            <a:ext cx="2381250" cy="11239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10" name="s6/drawing/new-study/text-batch"/>
          <p:cNvSpPr/>
          <p:nvPr/>
        </p:nvSpPr>
        <p:spPr>
          <a:xfrm>
            <a:off x="609600" y="2295525"/>
            <a:ext cx="207645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同一材料批次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固定200 MPa</a:t>
            </a:r>
            <a:endParaRPr lang="zh-CN" sz="2100" dirty="0"/>
          </a:p>
        </p:txBody>
      </p:sp>
      <p:sp>
        <p:nvSpPr>
          <p:cNvPr id="11" name="s6/drawing/new-study/node-random"/>
          <p:cNvSpPr/>
          <p:nvPr/>
        </p:nvSpPr>
        <p:spPr>
          <a:xfrm>
            <a:off x="3371850" y="2133600"/>
            <a:ext cx="2476500" cy="11239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12" name="s6/drawing/new-study/text-random"/>
          <p:cNvSpPr/>
          <p:nvPr/>
        </p:nvSpPr>
        <p:spPr>
          <a:xfrm>
            <a:off x="3524250" y="2295525"/>
            <a:ext cx="217170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区组内随机分配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: 1</a:t>
            </a:r>
            <a:endParaRPr lang="zh-CN" sz="2100" dirty="0"/>
          </a:p>
        </p:txBody>
      </p:sp>
      <p:sp>
        <p:nvSpPr>
          <p:cNvPr id="13" name="s6/drawing/new-study/node-con"/>
          <p:cNvSpPr/>
          <p:nvPr/>
        </p:nvSpPr>
        <p:spPr>
          <a:xfrm>
            <a:off x="6534150" y="1943100"/>
            <a:ext cx="20955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14" name="s6/drawing/new-study/text-con"/>
          <p:cNvSpPr/>
          <p:nvPr/>
        </p:nvSpPr>
        <p:spPr>
          <a:xfrm>
            <a:off x="6686550" y="2105025"/>
            <a:ext cx="17907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常规工艺</a:t>
            </a:r>
            <a:endParaRPr lang="zh-CN" sz="2100" dirty="0"/>
          </a:p>
        </p:txBody>
      </p:sp>
      <p:sp>
        <p:nvSpPr>
          <p:cNvPr id="15" name="s6/drawing/new-study/node-mod"/>
          <p:cNvSpPr/>
          <p:nvPr/>
        </p:nvSpPr>
        <p:spPr>
          <a:xfrm>
            <a:off x="6534150" y="2867025"/>
            <a:ext cx="209550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16" name="s6/drawing/new-study/text-mod"/>
          <p:cNvSpPr/>
          <p:nvPr/>
        </p:nvSpPr>
        <p:spPr>
          <a:xfrm>
            <a:off x="6686550" y="3028950"/>
            <a:ext cx="179070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</a:t>
            </a:r>
            <a:endParaRPr lang="zh-CN" sz="2100" dirty="0"/>
          </a:p>
        </p:txBody>
      </p:sp>
      <p:sp>
        <p:nvSpPr>
          <p:cNvPr id="17" name="s6/drawing/new-study/node-end"/>
          <p:cNvSpPr/>
          <p:nvPr/>
        </p:nvSpPr>
        <p:spPr>
          <a:xfrm>
            <a:off x="9315450" y="2133600"/>
            <a:ext cx="2419350" cy="1276350"/>
          </a:xfrm>
          <a:prstGeom prst="roundRect">
            <a:avLst>
              <a:gd name="adj" fmla="val 2985"/>
            </a:avLst>
          </a:prstGeom>
          <a:solidFill>
            <a:srgbClr val="F1F4F7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18" name="s6/drawing/new-study/text-end"/>
          <p:cNvSpPr/>
          <p:nvPr/>
        </p:nvSpPr>
        <p:spPr>
          <a:xfrm>
            <a:off x="9467850" y="2295525"/>
            <a:ext cx="211455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失效则记录时刻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50万未失效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登记runout</a:t>
            </a:r>
            <a:endParaRPr lang="zh-CN" sz="1950" dirty="0"/>
          </a:p>
        </p:txBody>
      </p:sp>
      <p:sp>
        <p:nvSpPr>
          <p:cNvPr id="19" name="s6/drawing/new-study/a1/segment-1"/>
          <p:cNvSpPr/>
          <p:nvPr/>
        </p:nvSpPr>
        <p:spPr>
          <a:xfrm>
            <a:off x="2857500" y="2695575"/>
            <a:ext cx="457200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  <a:tailEnd type="triangle"/>
          </a:ln>
        </p:spPr>
      </p:sp>
      <p:sp>
        <p:nvSpPr>
          <p:cNvPr id="20" name="s6/drawing/new-study/a2/segment-1"/>
          <p:cNvSpPr/>
          <p:nvPr/>
        </p:nvSpPr>
        <p:spPr>
          <a:xfrm>
            <a:off x="5867400" y="2543175"/>
            <a:ext cx="29527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1" name="s6/drawing/new-study/a2/segment-2"/>
          <p:cNvSpPr/>
          <p:nvPr/>
        </p:nvSpPr>
        <p:spPr>
          <a:xfrm flipV="1">
            <a:off x="6162675" y="2295525"/>
            <a:ext cx="0" cy="24765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2" name="s6/drawing/new-study/a2/segment-3"/>
          <p:cNvSpPr/>
          <p:nvPr/>
        </p:nvSpPr>
        <p:spPr>
          <a:xfrm>
            <a:off x="6162675" y="2295525"/>
            <a:ext cx="31432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  <a:tailEnd type="triangle"/>
          </a:ln>
        </p:spPr>
      </p:sp>
      <p:sp>
        <p:nvSpPr>
          <p:cNvPr id="23" name="s6/drawing/new-study/a3/segment-1"/>
          <p:cNvSpPr/>
          <p:nvPr/>
        </p:nvSpPr>
        <p:spPr>
          <a:xfrm>
            <a:off x="5867400" y="2867025"/>
            <a:ext cx="29527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4" name="s6/drawing/new-study/a3/segment-2"/>
          <p:cNvSpPr/>
          <p:nvPr/>
        </p:nvSpPr>
        <p:spPr>
          <a:xfrm>
            <a:off x="6162675" y="2867025"/>
            <a:ext cx="0" cy="36195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5" name="s6/drawing/new-study/a3/segment-3"/>
          <p:cNvSpPr/>
          <p:nvPr/>
        </p:nvSpPr>
        <p:spPr>
          <a:xfrm>
            <a:off x="6162675" y="3228975"/>
            <a:ext cx="31432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  <a:tailEnd type="triangle"/>
          </a:ln>
        </p:spPr>
      </p:sp>
      <p:sp>
        <p:nvSpPr>
          <p:cNvPr id="26" name="s6/drawing/new-study/a4/segment-1"/>
          <p:cNvSpPr/>
          <p:nvPr/>
        </p:nvSpPr>
        <p:spPr>
          <a:xfrm>
            <a:off x="8648700" y="2295525"/>
            <a:ext cx="33337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7" name="s6/drawing/new-study/a4/segment-2"/>
          <p:cNvSpPr/>
          <p:nvPr/>
        </p:nvSpPr>
        <p:spPr>
          <a:xfrm>
            <a:off x="8982075" y="2295525"/>
            <a:ext cx="0" cy="257175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8" name="s6/drawing/new-study/a4/segment-3"/>
          <p:cNvSpPr/>
          <p:nvPr/>
        </p:nvSpPr>
        <p:spPr>
          <a:xfrm>
            <a:off x="8982075" y="2552700"/>
            <a:ext cx="27622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  <a:tailEnd type="triangle"/>
          </a:ln>
        </p:spPr>
      </p:sp>
      <p:sp>
        <p:nvSpPr>
          <p:cNvPr id="29" name="s6/drawing/new-study/a5/segment-1"/>
          <p:cNvSpPr/>
          <p:nvPr/>
        </p:nvSpPr>
        <p:spPr>
          <a:xfrm>
            <a:off x="8648700" y="3228975"/>
            <a:ext cx="33337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30" name="s6/drawing/new-study/a5/segment-2"/>
          <p:cNvSpPr/>
          <p:nvPr/>
        </p:nvSpPr>
        <p:spPr>
          <a:xfrm flipV="1">
            <a:off x="8982075" y="3048000"/>
            <a:ext cx="0" cy="180975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31" name="s6/drawing/new-study/a5/segment-3"/>
          <p:cNvSpPr/>
          <p:nvPr/>
        </p:nvSpPr>
        <p:spPr>
          <a:xfrm>
            <a:off x="8982075" y="3048000"/>
            <a:ext cx="276225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  <a:tailEnd type="triangle"/>
          </a:ln>
        </p:spPr>
      </p:sp>
      <p:sp>
        <p:nvSpPr>
          <p:cNvPr id="32" name="s6/drawing/new-study/order"/>
          <p:cNvSpPr/>
          <p:nvPr/>
        </p:nvSpPr>
        <p:spPr>
          <a:xfrm>
            <a:off x="457200" y="38671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交错/随机测试顺序；记录机台、环境、加工时段与异常停止</a:t>
            </a:r>
            <a:endParaRPr lang="zh-CN" sz="2100" dirty="0"/>
          </a:p>
        </p:txBody>
      </p:sp>
      <p:sp>
        <p:nvSpPr>
          <p:cNvPr id="33" name="s6/drawing/new-study/section-line/segment-1"/>
          <p:cNvSpPr/>
          <p:nvPr/>
        </p:nvSpPr>
        <p:spPr>
          <a:xfrm>
            <a:off x="457200" y="4429125"/>
            <a:ext cx="112776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34" name="s6/drawing/new-study/estimate-h"/>
          <p:cNvSpPr/>
          <p:nvPr/>
        </p:nvSpPr>
        <p:spPr>
          <a:xfrm>
            <a:off x="457200" y="4638675"/>
            <a:ext cx="6191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主要效应量（事先指定）</a:t>
            </a:r>
            <a:endParaRPr lang="zh-CN" sz="2100" dirty="0"/>
          </a:p>
        </p:txBody>
      </p:sp>
      <p:sp>
        <p:nvSpPr>
          <p:cNvPr id="35" name="s6/drawing/new-study/estimate"/>
          <p:cNvSpPr/>
          <p:nvPr/>
        </p:nvSpPr>
        <p:spPr>
          <a:xfrm>
            <a:off x="457200" y="5095875"/>
            <a:ext cx="61912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50万循环内限制平均寿命差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RMST改性 − RMST常规</a:t>
            </a:r>
            <a:endParaRPr lang="zh-CN" sz="2100" dirty="0"/>
          </a:p>
        </p:txBody>
      </p:sp>
      <p:sp>
        <p:nvSpPr>
          <p:cNvPr id="36" name="s6/drawing/new-study/size-h"/>
          <p:cNvSpPr/>
          <p:nvPr/>
        </p:nvSpPr>
        <p:spPr>
          <a:xfrm>
            <a:off x="7162800" y="4638675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样本量与实际意义</a:t>
            </a:r>
            <a:endParaRPr lang="zh-CN" sz="2100" dirty="0"/>
          </a:p>
        </p:txBody>
      </p:sp>
      <p:sp>
        <p:nvSpPr>
          <p:cNvPr id="37" name="s6/drawing/new-study/size"/>
          <p:cNvSpPr/>
          <p:nvPr/>
        </p:nvSpPr>
        <p:spPr>
          <a:xfrm>
            <a:off x="7162800" y="5095875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先定最小重要差值δ与目标精度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再用先导变异和删失率规划</a:t>
            </a:r>
            <a:endParaRPr lang="zh-CN" sz="2100" dirty="0"/>
          </a:p>
        </p:txBody>
      </p:sp>
      <p:sp>
        <p:nvSpPr>
          <p:cNvPr id="38" name="s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08</a:t>
            </a:r>
            <a:endParaRPr lang="zh-CN" sz="1350" dirty="0"/>
          </a:p>
        </p:txBody>
      </p:sp>
      <p:sp>
        <p:nvSpPr>
          <p:cNvPr id="3" name="s7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下一步验证</a:t>
            </a:r>
            <a:endParaRPr lang="zh-CN" sz="1950" dirty="0"/>
          </a:p>
        </p:txBody>
      </p:sp>
      <p:sp>
        <p:nvSpPr>
          <p:cNvPr id="4" name="s7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s7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预先写明判据，区分四种可能结果</a:t>
            </a:r>
            <a:endParaRPr lang="zh-CN" sz="3150" dirty="0"/>
          </a:p>
        </p:txBody>
      </p:sp>
      <p:sp>
        <p:nvSpPr>
          <p:cNvPr id="6" name="s7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s7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s7/drawing/decisions/definition"/>
          <p:cNvSpPr/>
          <p:nvPr/>
        </p:nvSpPr>
        <p:spPr>
          <a:xfrm>
            <a:off x="457200" y="13335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L、U：主要差值Δ的预设95%区间；Δ &gt; 0表示改性较长</a:t>
            </a:r>
            <a:endParaRPr lang="zh-CN" sz="2100" dirty="0"/>
          </a:p>
        </p:txBody>
      </p:sp>
      <p:sp>
        <p:nvSpPr>
          <p:cNvPr id="9" name="s7/drawing/decisions/valid"/>
          <p:cNvSpPr/>
          <p:nvPr/>
        </p:nvSpPr>
        <p:spPr>
          <a:xfrm>
            <a:off x="457200" y="18288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先确认：随机实施、终点记录与删失/失访机制可接受</a:t>
            </a:r>
            <a:endParaRPr lang="zh-CN" sz="2100" dirty="0"/>
          </a:p>
        </p:txBody>
      </p:sp>
      <p:sp>
        <p:nvSpPr>
          <p:cNvPr id="10" name="s7/drawing/decisions/d-head-0"/>
          <p:cNvSpPr/>
          <p:nvPr/>
        </p:nvSpPr>
        <p:spPr>
          <a:xfrm>
            <a:off x="571500" y="2466975"/>
            <a:ext cx="1866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区间结果</a:t>
            </a:r>
            <a:endParaRPr lang="zh-CN" sz="1800" dirty="0"/>
          </a:p>
        </p:txBody>
      </p:sp>
      <p:sp>
        <p:nvSpPr>
          <p:cNvPr id="11" name="s7/drawing/decisions/d-head-1"/>
          <p:cNvSpPr/>
          <p:nvPr/>
        </p:nvSpPr>
        <p:spPr>
          <a:xfrm>
            <a:off x="2819400" y="2466975"/>
            <a:ext cx="4038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可作判断</a:t>
            </a:r>
            <a:endParaRPr lang="zh-CN" sz="1800" dirty="0"/>
          </a:p>
        </p:txBody>
      </p:sp>
      <p:sp>
        <p:nvSpPr>
          <p:cNvPr id="12" name="s7/drawing/decisions/d-head-2"/>
          <p:cNvSpPr/>
          <p:nvPr/>
        </p:nvSpPr>
        <p:spPr>
          <a:xfrm>
            <a:off x="7277100" y="2466975"/>
            <a:ext cx="4343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行动与限定</a:t>
            </a:r>
            <a:endParaRPr lang="zh-CN" sz="1800" dirty="0"/>
          </a:p>
        </p:txBody>
      </p:sp>
      <p:sp>
        <p:nvSpPr>
          <p:cNvPr id="13" name="s7/drawing/decisions/d-line-0/segment-1"/>
          <p:cNvSpPr/>
          <p:nvPr/>
        </p:nvSpPr>
        <p:spPr>
          <a:xfrm>
            <a:off x="457200" y="2857500"/>
            <a:ext cx="112776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14" name="s7/drawing/decisions/d-cell-0-0"/>
          <p:cNvSpPr/>
          <p:nvPr/>
        </p:nvSpPr>
        <p:spPr>
          <a:xfrm>
            <a:off x="571500" y="2952750"/>
            <a:ext cx="1866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 &gt; 0</a:t>
            </a:r>
            <a:endParaRPr lang="zh-CN" sz="2100" dirty="0"/>
          </a:p>
        </p:txBody>
      </p:sp>
      <p:sp>
        <p:nvSpPr>
          <p:cNvPr id="15" name="s7/drawing/decisions/d-cell-0-1"/>
          <p:cNvSpPr/>
          <p:nvPr/>
        </p:nvSpPr>
        <p:spPr>
          <a:xfrm>
            <a:off x="2819400" y="2952750"/>
            <a:ext cx="4038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支持正向差异</a:t>
            </a:r>
            <a:endParaRPr lang="zh-CN" sz="2100" dirty="0"/>
          </a:p>
        </p:txBody>
      </p:sp>
      <p:sp>
        <p:nvSpPr>
          <p:cNvPr id="16" name="s7/drawing/decisions/d-cell-0-2"/>
          <p:cNvSpPr/>
          <p:nvPr/>
        </p:nvSpPr>
        <p:spPr>
          <a:xfrm>
            <a:off x="7277100" y="2952750"/>
            <a:ext cx="4343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再对照工程门槛δ</a:t>
            </a:r>
            <a:endParaRPr lang="zh-CN" sz="2100" dirty="0"/>
          </a:p>
        </p:txBody>
      </p:sp>
      <p:sp>
        <p:nvSpPr>
          <p:cNvPr id="17" name="s7/drawing/decisions/d-line-1/segment-1"/>
          <p:cNvSpPr/>
          <p:nvPr/>
        </p:nvSpPr>
        <p:spPr>
          <a:xfrm>
            <a:off x="457200" y="3486150"/>
            <a:ext cx="112776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18" name="s7/drawing/decisions/d-cell-1-0"/>
          <p:cNvSpPr/>
          <p:nvPr/>
        </p:nvSpPr>
        <p:spPr>
          <a:xfrm>
            <a:off x="571500" y="3581400"/>
            <a:ext cx="1866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 &lt; 0</a:t>
            </a:r>
            <a:endParaRPr lang="zh-CN" sz="2100" dirty="0"/>
          </a:p>
        </p:txBody>
      </p:sp>
      <p:sp>
        <p:nvSpPr>
          <p:cNvPr id="19" name="s7/drawing/decisions/d-cell-1-1"/>
          <p:cNvSpPr/>
          <p:nvPr/>
        </p:nvSpPr>
        <p:spPr>
          <a:xfrm>
            <a:off x="2819400" y="3581400"/>
            <a:ext cx="4038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支持反向差异</a:t>
            </a:r>
            <a:endParaRPr lang="zh-CN" sz="2100" dirty="0"/>
          </a:p>
        </p:txBody>
      </p:sp>
      <p:sp>
        <p:nvSpPr>
          <p:cNvPr id="20" name="s7/drawing/decisions/d-cell-1-2"/>
          <p:cNvSpPr/>
          <p:nvPr/>
        </p:nvSpPr>
        <p:spPr>
          <a:xfrm>
            <a:off x="7277100" y="3581400"/>
            <a:ext cx="4343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核查工艺并调整方案</a:t>
            </a:r>
            <a:endParaRPr lang="zh-CN" sz="2100" dirty="0"/>
          </a:p>
        </p:txBody>
      </p:sp>
      <p:sp>
        <p:nvSpPr>
          <p:cNvPr id="21" name="s7/drawing/decisions/d-line-2/segment-1"/>
          <p:cNvSpPr/>
          <p:nvPr/>
        </p:nvSpPr>
        <p:spPr>
          <a:xfrm>
            <a:off x="457200" y="4114800"/>
            <a:ext cx="11277600" cy="0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22" name="s7/drawing/decisions/d-cell-2-0"/>
          <p:cNvSpPr/>
          <p:nvPr/>
        </p:nvSpPr>
        <p:spPr>
          <a:xfrm>
            <a:off x="571500" y="4210050"/>
            <a:ext cx="1866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 ≤ 0 ≤ U</a:t>
            </a:r>
            <a:endParaRPr lang="zh-CN" sz="2100" dirty="0"/>
          </a:p>
        </p:txBody>
      </p:sp>
      <p:sp>
        <p:nvSpPr>
          <p:cNvPr id="23" name="s7/drawing/decisions/d-cell-2-1"/>
          <p:cNvSpPr/>
          <p:nvPr/>
        </p:nvSpPr>
        <p:spPr>
          <a:xfrm>
            <a:off x="2819400" y="4210050"/>
            <a:ext cx="4038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方向仍不确定</a:t>
            </a:r>
            <a:endParaRPr lang="zh-CN" sz="2100" dirty="0"/>
          </a:p>
        </p:txBody>
      </p:sp>
      <p:sp>
        <p:nvSpPr>
          <p:cNvPr id="24" name="s7/drawing/decisions/d-cell-2-2"/>
          <p:cNvSpPr/>
          <p:nvPr/>
        </p:nvSpPr>
        <p:spPr>
          <a:xfrm>
            <a:off x="7277100" y="4210050"/>
            <a:ext cx="4343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不能据此判等效</a:t>
            </a:r>
            <a:endParaRPr lang="zh-CN" sz="2100" dirty="0"/>
          </a:p>
        </p:txBody>
      </p:sp>
      <p:sp>
        <p:nvSpPr>
          <p:cNvPr id="25" name="s7/drawing/decisions/invalid"/>
          <p:cNvSpPr/>
          <p:nvPr/>
        </p:nvSpPr>
        <p:spPr>
          <a:xfrm>
            <a:off x="457200" y="4876800"/>
            <a:ext cx="11277600" cy="609600"/>
          </a:xfrm>
          <a:prstGeom prst="roundRect">
            <a:avLst>
              <a:gd name="adj" fmla="val 6250"/>
            </a:avLst>
          </a:prstGeom>
          <a:solidFill>
            <a:srgbClr val="F1F4F7"/>
          </a:solidFill>
          <a:ln w="11430">
            <a:solidFill>
              <a:srgbClr val="BAC6D2"/>
            </a:solidFill>
            <a:prstDash val="solid"/>
          </a:ln>
        </p:spPr>
      </p:sp>
      <p:sp>
        <p:nvSpPr>
          <p:cNvPr id="26" name="s7/drawing/decisions/invalid-text"/>
          <p:cNvSpPr/>
          <p:nvPr/>
        </p:nvSpPr>
        <p:spPr>
          <a:xfrm>
            <a:off x="628650" y="5019675"/>
            <a:ext cx="10934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前提不成立 → 先核查偏倚与方案；不直接解释上述区间</a:t>
            </a:r>
            <a:endParaRPr lang="zh-CN" sz="2100" dirty="0"/>
          </a:p>
        </p:txBody>
      </p:sp>
      <p:sp>
        <p:nvSpPr>
          <p:cNvPr id="27" name="s7/drawing/decisions/answer"/>
          <p:cNvSpPr/>
          <p:nvPr/>
        </p:nvSpPr>
        <p:spPr>
          <a:xfrm>
            <a:off x="457200" y="5686425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当前：方向性线索，效应未确立；下一步：随机同应力验证。</a:t>
            </a:r>
            <a:endParaRPr lang="zh-CN" sz="2100" dirty="0"/>
          </a:p>
        </p:txBody>
      </p:sp>
      <p:sp>
        <p:nvSpPr>
          <p:cNvPr id="28" name="s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08</a:t>
            </a:r>
            <a:endParaRPr lang="zh-CN" sz="1350" dirty="0"/>
          </a:p>
        </p:txBody>
      </p:sp>
      <p:sp>
        <p:nvSpPr>
          <p:cNvPr id="3" name="s8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4" name="s8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来源与分析口径</a:t>
            </a:r>
            <a:endParaRPr lang="zh-CN" sz="3150" dirty="0"/>
          </a:p>
        </p:txBody>
      </p:sp>
      <p:sp>
        <p:nvSpPr>
          <p:cNvPr id="5" name="s8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6" name="s8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7" name="s8/reference/protocol/title"/>
          <p:cNvSpPr/>
          <p:nvPr/>
        </p:nvSpPr>
        <p:spPr>
          <a:xfrm>
            <a:off x="457200" y="1252156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金属构件疲劳试验记录（教学模拟材料）</a:t>
            </a:r>
            <a:endParaRPr lang="zh-CN" sz="1800" dirty="0"/>
          </a:p>
        </p:txBody>
      </p:sp>
      <p:sp>
        <p:nvSpPr>
          <p:cNvPr id="8" name="s8/reference/protocol/metadata"/>
          <p:cNvSpPr/>
          <p:nvPr/>
        </p:nvSpPr>
        <p:spPr>
          <a:xfrm>
            <a:off x="457200" y="1583626"/>
            <a:ext cx="112776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未署名（原资料未提供） · 用户提供的教学模拟资料；非期刊 · 2026 · sources/protocol.md · 版本1，2026-10-20</a:t>
            </a:r>
            <a:endParaRPr lang="zh-CN" sz="1350" dirty="0"/>
          </a:p>
        </p:txBody>
      </p:sp>
      <p:sp>
        <p:nvSpPr>
          <p:cNvPr id="9" name="s8/reference/fatigue/title"/>
          <p:cNvSpPr/>
          <p:nvPr/>
        </p:nvSpPr>
        <p:spPr>
          <a:xfrm>
            <a:off x="457200" y="1948624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fatigue.csv：48件金属构件疲劳试件记录（教学模拟数据）</a:t>
            </a:r>
            <a:endParaRPr lang="zh-CN" sz="1800" dirty="0"/>
          </a:p>
        </p:txBody>
      </p:sp>
      <p:sp>
        <p:nvSpPr>
          <p:cNvPr id="10" name="s8/reference/fatigue/metadata"/>
          <p:cNvSpPr/>
          <p:nvPr/>
        </p:nvSpPr>
        <p:spPr>
          <a:xfrm>
            <a:off x="457200" y="2280095"/>
            <a:ext cx="112776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未署名（原资料未提供） · 用户提供的合成数据文件；非期刊 · 2026 · sources/fatigue.csv · 随资料版本1提供，2026-10-20</a:t>
            </a:r>
            <a:endParaRPr lang="zh-CN" sz="1350" dirty="0"/>
          </a:p>
        </p:txBody>
      </p:sp>
      <p:sp>
        <p:nvSpPr>
          <p:cNvPr id="11" name="s8/drawing/source-methods/method-h"/>
          <p:cNvSpPr/>
          <p:nvPr/>
        </p:nvSpPr>
        <p:spPr>
          <a:xfrm>
            <a:off x="457200" y="41148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分析口径</a:t>
            </a:r>
            <a:endParaRPr lang="zh-CN" sz="2100" dirty="0"/>
          </a:p>
        </p:txBody>
      </p:sp>
      <p:sp>
        <p:nvSpPr>
          <p:cNvPr id="12" name="s8/drawing/source-methods/method-1"/>
          <p:cNvSpPr/>
          <p:nvPr/>
        </p:nvSpPr>
        <p:spPr>
          <a:xfrm>
            <a:off x="457200" y="45720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逐试件复算；SD采用n−1分母；B批采用原尺度Welch 95%区间</a:t>
            </a:r>
            <a:endParaRPr lang="zh-CN" sz="2100" dirty="0"/>
          </a:p>
        </p:txBody>
      </p:sp>
      <p:sp>
        <p:nvSpPr>
          <p:cNvPr id="13" name="s8/drawing/source-methods/method-2"/>
          <p:cNvSpPr/>
          <p:nvPr/>
        </p:nvSpPr>
        <p:spPr>
          <a:xfrm>
            <a:off x="457200" y="5076825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runout保留右删失；下一批设计为尚未实施的方案</a:t>
            </a:r>
            <a:endParaRPr lang="zh-CN" sz="2100" dirty="0"/>
          </a:p>
        </p:txBody>
      </p:sp>
      <p:sp>
        <p:nvSpPr>
          <p:cNvPr id="14" name="s8/drawing/source-methods/identity"/>
          <p:cNvSpPr/>
          <p:nvPr/>
        </p:nvSpPr>
        <p:spPr>
          <a:xfrm>
            <a:off x="457200" y="558165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全部为教学模拟数据，不对应真实实验、机构、项目或论文。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改性工艺的疲劳寿命差异：现有证据与下一步验证</dc:title>
  <dc:subject>现有记录能否支持改性工艺延长疲劳寿命，下一批怎样更可靠地验证？</dc:subject>
  <dc:creator>DSH Academic PPT</dc:creator>
  <cp:lastModifiedBy>DSH Academic PPT</cp:lastModifiedBy>
  <cp:revision>1</cp:revision>
  <dcterms:created xsi:type="dcterms:W3CDTF">2026-10-25T05:46:45Z</dcterms:created>
  <dcterms:modified xsi:type="dcterms:W3CDTF">2026-10-25T05:46:45Z</dcterms:modified>
</cp:coreProperties>
</file>