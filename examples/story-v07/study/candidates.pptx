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次汇报讨论改性工艺与常规工艺的疲劳寿命差异。全部资料均为教学模拟，不对应真实实验或机构。我们已完成48件记录的核对与复算，目标不是预设改性有效，而是判断现有记录能说明什么，以及下一批怎样验证。报告围绕比较条件、同批证据和验证方案三个问题展开。
衔接下一页
先看48件试件如何分布在批次、工艺和应力之间。
参考文献（完整题名）
protocol · 金属构件疲劳试验记录（教学模拟材料） · 用户提供的教学模拟资料；非期刊 · 2026 · 版本1，2026-10-20
fatigue · fatigue.csv：48件金属构件疲劳试件记录（教学模拟数据） · 用户提供的合成数据文件；非期刊 · 2026 · 随资料版本1提供，2026-10-20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次汇报讨论改性工艺与常规工艺的疲劳寿命差异。全部资料均为教学模拟，不对应真实实验或机构。我们已完成48件记录的核对与复算，目标不是预设改性有效，而是判断现有记录能说明什么，以及下一批怎样验证。报告围绕比较条件、同批证据和验证方案三个问题展开。
衔接下一页
先看48件试件如何分布在批次、工艺和应力之间。
参考文献（完整题名）
protocol · 金属构件疲劳试验记录（教学模拟材料） · 用户提供的教学模拟资料；非期刊 · 2026 · 版本1，2026-10-20
fatigue · fatigue.csv：48件金属构件疲劳试件记录（教学模拟数据） · 用户提供的合成数据文件；非期刊 · 2026 · 随资料版本1提供，2026-10-20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将比较限制在B批，常规和改性各12件，均为200 MPa且全部已失效。上方保留每件试件，不仅展示均值。常规均值30.37万循环、样本标准差3.10万；改性均值32.93万、标准差5.66万，改性组的离散更大。样本均值差为2.56万循环。按原尺度Welch方法，95%区间为负1.37到正6.49万循环，区间跨越零，既容许负差异，也容许较大的正差异。它依赖独立样本与分布近似，没有包含加工顺序和非随机选择的偏倚。正的点估计不是因果证据，跨零也不代表两工艺等效。
衔接下一页
即便把B批作为主要比较，观察终点与未测机制仍决定结论不能越过哪些边界。
参考文献（完整题名）
protocol · 金属构件疲劳试验记录（教学模拟材料） · 用户提供的教学模拟资料；非期刊 · 2026 · 版本1，2026-10-20
fatigue · fatigue.csv：48件金属构件疲劳试件记录（教学模拟数据） · 用户提供的合成数据文件；非期刊 · 2026 · 随资料版本1提供，2026-10-20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将比较限制在B批，常规和改性各12件，均为200 MPa且全部已失效。上方保留每件试件，不仅展示均值。常规均值30.37万循环、样本标准差3.10万；改性均值32.93万、标准差5.66万，改性组的离散更大。样本均值差为2.56万循环。按原尺度Welch方法，95%区间为负1.37到正6.49万循环，区间跨越零，既容许负差异，也容许较大的正差异。它依赖独立样本与分布近似，没有包含加工顺序和非随机选择的偏倚。正的点估计不是因果证据，跨零也不代表两工艺等效。
衔接下一页
即便把B批作为主要比较，观察终点与未测机制仍决定结论不能越过哪些边界。
参考文献（完整题名）
protocol · 金属构件疲劳试验记录（教学模拟材料） · 用户提供的教学模拟资料；非期刊 · 2026 · 版本1，2026-10-20
fatigue · fatigue.csv：48件金属构件疲劳试件记录（教学模拟数据） · 用户提供的合成数据文件；非期刊 · 2026 · 随资料版本1提供，2026-10-20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left/title"/>
          <p:cNvSpPr/>
          <p:nvPr/>
        </p:nvSpPr>
        <p:spPr>
          <a:xfrm>
            <a:off x="723900" y="1752600"/>
            <a:ext cx="10744200" cy="157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76"/>
              </a:lnSpc>
              <a:buNone/>
            </a:pPr>
            <a:r>
              <a:rPr lang="zh-CN" altLang="en-US" sz="4800" b="1" dirty="0">
                <a:solidFill>
                  <a:srgbClr val="254B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改性工艺的疲劳寿命差异：</a:t>
            </a:r>
            <a:endParaRPr lang="zh-CN" sz="4800" dirty="0"/>
          </a:p>
          <a:p>
            <a:pPr algn="l" indent="0" marL="0">
              <a:lnSpc>
                <a:spcPts val="5376"/>
              </a:lnSpc>
              <a:buNone/>
            </a:pPr>
            <a:r>
              <a:rPr lang="zh-CN" altLang="en-US" sz="4800" b="1" dirty="0">
                <a:solidFill>
                  <a:srgbClr val="254B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现有证据与下一步验证</a:t>
            </a:r>
            <a:endParaRPr lang="zh-CN" sz="4800" dirty="0"/>
          </a:p>
        </p:txBody>
      </p:sp>
      <p:sp>
        <p:nvSpPr>
          <p:cNvPr id="3" name="cover-left/subtitle"/>
          <p:cNvSpPr/>
          <p:nvPr/>
        </p:nvSpPr>
        <p:spPr>
          <a:xfrm>
            <a:off x="723900" y="3752850"/>
            <a:ext cx="1066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62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48件记录的比较边界与待检验方案</a:t>
            </a:r>
            <a:endParaRPr lang="zh-CN" sz="2100" dirty="0"/>
          </a:p>
        </p:txBody>
      </p:sp>
      <p:sp>
        <p:nvSpPr>
          <p:cNvPr id="4" name="cover-left/cover-occasion"/>
          <p:cNvSpPr/>
          <p:nvPr/>
        </p:nvSpPr>
        <p:spPr>
          <a:xfrm>
            <a:off x="723900" y="704850"/>
            <a:ext cx="10477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8"/>
              </a:lnSpc>
              <a:buNone/>
            </a:pPr>
            <a:r>
              <a:rPr lang="zh-CN" altLang="en-US" sz="180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材料工程课题组 · 学术进展报告</a:t>
            </a:r>
            <a:endParaRPr lang="zh-CN" sz="1800" dirty="0"/>
          </a:p>
        </p:txBody>
      </p:sp>
      <p:sp>
        <p:nvSpPr>
          <p:cNvPr id="5" name="cover-left/cover-date"/>
          <p:cNvSpPr/>
          <p:nvPr/>
        </p:nvSpPr>
        <p:spPr>
          <a:xfrm>
            <a:off x="723900" y="5391150"/>
            <a:ext cx="104775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zh-CN" altLang="en-US" sz="16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教学模拟数据｜资料版本1 · 2026-10-20</a:t>
            </a:r>
            <a:endParaRPr lang="zh-CN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center/title"/>
          <p:cNvSpPr/>
          <p:nvPr/>
        </p:nvSpPr>
        <p:spPr>
          <a:xfrm>
            <a:off x="685800" y="2095500"/>
            <a:ext cx="10820400" cy="157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376"/>
              </a:lnSpc>
              <a:buNone/>
            </a:pPr>
            <a:r>
              <a:rPr lang="zh-CN" altLang="en-US" sz="4800" b="1" dirty="0">
                <a:solidFill>
                  <a:srgbClr val="254B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改性工艺的疲劳寿命差异：</a:t>
            </a:r>
            <a:endParaRPr lang="zh-CN" sz="4800" dirty="0"/>
          </a:p>
          <a:p>
            <a:pPr algn="ctr" indent="0" marL="0">
              <a:lnSpc>
                <a:spcPts val="5376"/>
              </a:lnSpc>
              <a:buNone/>
            </a:pPr>
            <a:r>
              <a:rPr lang="zh-CN" altLang="en-US" sz="4800" b="1" dirty="0">
                <a:solidFill>
                  <a:srgbClr val="254B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现有证据与下一步验证</a:t>
            </a:r>
            <a:endParaRPr lang="zh-CN" sz="4800" dirty="0"/>
          </a:p>
        </p:txBody>
      </p:sp>
      <p:sp>
        <p:nvSpPr>
          <p:cNvPr id="3" name="cover-center/subtitle"/>
          <p:cNvSpPr/>
          <p:nvPr/>
        </p:nvSpPr>
        <p:spPr>
          <a:xfrm>
            <a:off x="857250" y="4048125"/>
            <a:ext cx="10477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62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48件记录的比较边界与待检验方案</a:t>
            </a:r>
            <a:endParaRPr lang="zh-CN" sz="2100" dirty="0"/>
          </a:p>
        </p:txBody>
      </p:sp>
      <p:sp>
        <p:nvSpPr>
          <p:cNvPr id="4" name="cover-center/cover-occasion"/>
          <p:cNvSpPr/>
          <p:nvPr/>
        </p:nvSpPr>
        <p:spPr>
          <a:xfrm>
            <a:off x="857250" y="590550"/>
            <a:ext cx="10477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材料工程课题组 · 学术进展报告</a:t>
            </a:r>
            <a:endParaRPr lang="zh-CN" sz="1800" dirty="0"/>
          </a:p>
        </p:txBody>
      </p:sp>
      <p:sp>
        <p:nvSpPr>
          <p:cNvPr id="5" name="cover-center/cover-date"/>
          <p:cNvSpPr/>
          <p:nvPr/>
        </p:nvSpPr>
        <p:spPr>
          <a:xfrm>
            <a:off x="857250" y="5810250"/>
            <a:ext cx="104775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80"/>
              </a:lnSpc>
              <a:buNone/>
            </a:pPr>
            <a:r>
              <a:rPr lang="zh-CN" altLang="en-US" sz="16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教学模拟数据｜资料版本1 · 2026-10-20</a:t>
            </a:r>
            <a:endParaRPr lang="zh-CN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vidence-horizontal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/ 04</a:t>
            </a:r>
            <a:endParaRPr lang="zh-CN" sz="1350" dirty="0"/>
          </a:p>
        </p:txBody>
      </p:sp>
      <p:sp>
        <p:nvSpPr>
          <p:cNvPr id="3" name="evidence-horizontal/section-label"/>
          <p:cNvSpPr/>
          <p:nvPr/>
        </p:nvSpPr>
        <p:spPr>
          <a:xfrm>
            <a:off x="457200" y="133350"/>
            <a:ext cx="96202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zh-CN" altLang="en-US" sz="1950" b="1" dirty="0">
                <a:solidFill>
                  <a:srgbClr val="254B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 证据与边界</a:t>
            </a:r>
            <a:endParaRPr lang="zh-CN" sz="1950" dirty="0"/>
          </a:p>
        </p:txBody>
      </p:sp>
      <p:sp>
        <p:nvSpPr>
          <p:cNvPr id="4" name="evidence-horizontal/brand-label"/>
          <p:cNvSpPr/>
          <p:nvPr/>
        </p:nvSpPr>
        <p:spPr>
          <a:xfrm>
            <a:off x="10325100" y="171450"/>
            <a:ext cx="14097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zh-CN" altLang="en-US" sz="1800" b="1" dirty="0">
                <a:solidFill>
                  <a:srgbClr val="254B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教学模拟数据</a:t>
            </a:r>
            <a:endParaRPr lang="zh-CN" sz="1800" dirty="0"/>
          </a:p>
        </p:txBody>
      </p:sp>
      <p:sp>
        <p:nvSpPr>
          <p:cNvPr id="5" name="evidence-horizontal/title"/>
          <p:cNvSpPr/>
          <p:nvPr/>
        </p:nvSpPr>
        <p:spPr>
          <a:xfrm>
            <a:off x="457200" y="552450"/>
            <a:ext cx="11277600" cy="45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60"/>
              </a:lnSpc>
              <a:buNone/>
            </a:pPr>
            <a:r>
              <a:rPr lang="zh-CN" altLang="en-US" sz="315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B批均值偏高，区间仍跨越零差异</a:t>
            </a:r>
            <a:endParaRPr lang="zh-CN" sz="3150" dirty="0"/>
          </a:p>
        </p:txBody>
      </p:sp>
      <p:sp>
        <p:nvSpPr>
          <p:cNvPr id="6" name="evidence-horizontal/header-rule"/>
          <p:cNvSpPr/>
          <p:nvPr/>
        </p:nvSpPr>
        <p:spPr>
          <a:xfrm>
            <a:off x="457200" y="1099757"/>
            <a:ext cx="11277600" cy="0"/>
          </a:xfrm>
          <a:prstGeom prst="line">
            <a:avLst/>
          </a:prstGeom>
          <a:noFill/>
          <a:ln w="9525">
            <a:solidFill>
              <a:srgbClr val="BAC6D2"/>
            </a:solidFill>
            <a:prstDash val="solid"/>
          </a:ln>
        </p:spPr>
      </p:sp>
      <p:sp>
        <p:nvSpPr>
          <p:cNvPr id="7" name="evidence-horizontal/header-accent"/>
          <p:cNvSpPr/>
          <p:nvPr/>
        </p:nvSpPr>
        <p:spPr>
          <a:xfrm>
            <a:off x="457200" y="1099757"/>
            <a:ext cx="1181100" cy="0"/>
          </a:xfrm>
          <a:prstGeom prst="line">
            <a:avLst/>
          </a:prstGeom>
          <a:noFill/>
          <a:ln w="15240">
            <a:solidFill>
              <a:srgbClr val="254B6E"/>
            </a:solidFill>
            <a:prstDash val="solid"/>
          </a:ln>
        </p:spPr>
      </p:sp>
      <p:sp>
        <p:nvSpPr>
          <p:cNvPr id="8" name="evidence-horizontal/drawing/b-raw-horizontal/condition"/>
          <p:cNvSpPr/>
          <p:nvPr/>
        </p:nvSpPr>
        <p:spPr>
          <a:xfrm>
            <a:off x="457200" y="1333500"/>
            <a:ext cx="112776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B批 · 200 MPa · 每组12件 · 全部失效</a:t>
            </a:r>
            <a:endParaRPr lang="zh-CN" sz="2100" dirty="0"/>
          </a:p>
        </p:txBody>
      </p:sp>
      <p:sp>
        <p:nvSpPr>
          <p:cNvPr id="9" name="evidence-horizontal/drawing/b-raw-horizontal/grid-20/segment-1"/>
          <p:cNvSpPr/>
          <p:nvPr/>
        </p:nvSpPr>
        <p:spPr>
          <a:xfrm>
            <a:off x="2647950" y="1866900"/>
            <a:ext cx="0" cy="1123950"/>
          </a:xfrm>
          <a:prstGeom prst="line">
            <a:avLst/>
          </a:prstGeom>
          <a:noFill/>
          <a:ln w="11430">
            <a:solidFill>
              <a:srgbClr val="DCE3E9"/>
            </a:solidFill>
            <a:prstDash val="solid"/>
          </a:ln>
        </p:spPr>
      </p:sp>
      <p:sp>
        <p:nvSpPr>
          <p:cNvPr id="10" name="evidence-horizontal/drawing/b-raw-horizontal/tick-20"/>
          <p:cNvSpPr/>
          <p:nvPr/>
        </p:nvSpPr>
        <p:spPr>
          <a:xfrm>
            <a:off x="2409825" y="3028950"/>
            <a:ext cx="4762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</a:t>
            </a:r>
            <a:endParaRPr lang="zh-CN" sz="1800" dirty="0"/>
          </a:p>
        </p:txBody>
      </p:sp>
      <p:sp>
        <p:nvSpPr>
          <p:cNvPr id="11" name="evidence-horizontal/drawing/b-raw-horizontal/grid-25/segment-1"/>
          <p:cNvSpPr/>
          <p:nvPr/>
        </p:nvSpPr>
        <p:spPr>
          <a:xfrm>
            <a:off x="4057650" y="1866900"/>
            <a:ext cx="0" cy="1123950"/>
          </a:xfrm>
          <a:prstGeom prst="line">
            <a:avLst/>
          </a:prstGeom>
          <a:noFill/>
          <a:ln w="11430">
            <a:solidFill>
              <a:srgbClr val="DCE3E9"/>
            </a:solidFill>
            <a:prstDash val="solid"/>
          </a:ln>
        </p:spPr>
      </p:sp>
      <p:sp>
        <p:nvSpPr>
          <p:cNvPr id="12" name="evidence-horizontal/drawing/b-raw-horizontal/tick-25"/>
          <p:cNvSpPr/>
          <p:nvPr/>
        </p:nvSpPr>
        <p:spPr>
          <a:xfrm>
            <a:off x="3819525" y="3028950"/>
            <a:ext cx="4762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25</a:t>
            </a:r>
            <a:endParaRPr lang="zh-CN" sz="1800" dirty="0"/>
          </a:p>
        </p:txBody>
      </p:sp>
      <p:sp>
        <p:nvSpPr>
          <p:cNvPr id="13" name="evidence-horizontal/drawing/b-raw-horizontal/grid-30/segment-1"/>
          <p:cNvSpPr/>
          <p:nvPr/>
        </p:nvSpPr>
        <p:spPr>
          <a:xfrm>
            <a:off x="5467350" y="1866900"/>
            <a:ext cx="0" cy="1123950"/>
          </a:xfrm>
          <a:prstGeom prst="line">
            <a:avLst/>
          </a:prstGeom>
          <a:noFill/>
          <a:ln w="11430">
            <a:solidFill>
              <a:srgbClr val="DCE3E9"/>
            </a:solidFill>
            <a:prstDash val="solid"/>
          </a:ln>
        </p:spPr>
      </p:sp>
      <p:sp>
        <p:nvSpPr>
          <p:cNvPr id="14" name="evidence-horizontal/drawing/b-raw-horizontal/tick-30"/>
          <p:cNvSpPr/>
          <p:nvPr/>
        </p:nvSpPr>
        <p:spPr>
          <a:xfrm>
            <a:off x="5229225" y="3028950"/>
            <a:ext cx="4762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30</a:t>
            </a:r>
            <a:endParaRPr lang="zh-CN" sz="1800" dirty="0"/>
          </a:p>
        </p:txBody>
      </p:sp>
      <p:sp>
        <p:nvSpPr>
          <p:cNvPr id="15" name="evidence-horizontal/drawing/b-raw-horizontal/grid-35/segment-1"/>
          <p:cNvSpPr/>
          <p:nvPr/>
        </p:nvSpPr>
        <p:spPr>
          <a:xfrm>
            <a:off x="6877050" y="1866900"/>
            <a:ext cx="0" cy="1123950"/>
          </a:xfrm>
          <a:prstGeom prst="line">
            <a:avLst/>
          </a:prstGeom>
          <a:noFill/>
          <a:ln w="11430">
            <a:solidFill>
              <a:srgbClr val="DCE3E9"/>
            </a:solidFill>
            <a:prstDash val="solid"/>
          </a:ln>
        </p:spPr>
      </p:sp>
      <p:sp>
        <p:nvSpPr>
          <p:cNvPr id="16" name="evidence-horizontal/drawing/b-raw-horizontal/tick-35"/>
          <p:cNvSpPr/>
          <p:nvPr/>
        </p:nvSpPr>
        <p:spPr>
          <a:xfrm>
            <a:off x="6638925" y="3028950"/>
            <a:ext cx="4762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35</a:t>
            </a:r>
            <a:endParaRPr lang="zh-CN" sz="1800" dirty="0"/>
          </a:p>
        </p:txBody>
      </p:sp>
      <p:sp>
        <p:nvSpPr>
          <p:cNvPr id="17" name="evidence-horizontal/drawing/b-raw-horizontal/grid-40/segment-1"/>
          <p:cNvSpPr/>
          <p:nvPr/>
        </p:nvSpPr>
        <p:spPr>
          <a:xfrm>
            <a:off x="8286750" y="1866900"/>
            <a:ext cx="0" cy="1123950"/>
          </a:xfrm>
          <a:prstGeom prst="line">
            <a:avLst/>
          </a:prstGeom>
          <a:noFill/>
          <a:ln w="11430">
            <a:solidFill>
              <a:srgbClr val="DCE3E9"/>
            </a:solidFill>
            <a:prstDash val="solid"/>
          </a:ln>
        </p:spPr>
      </p:sp>
      <p:sp>
        <p:nvSpPr>
          <p:cNvPr id="18" name="evidence-horizontal/drawing/b-raw-horizontal/tick-40"/>
          <p:cNvSpPr/>
          <p:nvPr/>
        </p:nvSpPr>
        <p:spPr>
          <a:xfrm>
            <a:off x="8048625" y="3028950"/>
            <a:ext cx="4762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40</a:t>
            </a:r>
            <a:endParaRPr lang="zh-CN" sz="1800" dirty="0"/>
          </a:p>
        </p:txBody>
      </p:sp>
      <p:sp>
        <p:nvSpPr>
          <p:cNvPr id="19" name="evidence-horizontal/drawing/b-raw-horizontal/grid-45/segment-1"/>
          <p:cNvSpPr/>
          <p:nvPr/>
        </p:nvSpPr>
        <p:spPr>
          <a:xfrm>
            <a:off x="9696450" y="1866900"/>
            <a:ext cx="0" cy="1123950"/>
          </a:xfrm>
          <a:prstGeom prst="line">
            <a:avLst/>
          </a:prstGeom>
          <a:noFill/>
          <a:ln w="11430">
            <a:solidFill>
              <a:srgbClr val="DCE3E9"/>
            </a:solidFill>
            <a:prstDash val="solid"/>
          </a:ln>
        </p:spPr>
      </p:sp>
      <p:sp>
        <p:nvSpPr>
          <p:cNvPr id="20" name="evidence-horizontal/drawing/b-raw-horizontal/tick-45"/>
          <p:cNvSpPr/>
          <p:nvPr/>
        </p:nvSpPr>
        <p:spPr>
          <a:xfrm>
            <a:off x="9458325" y="3028950"/>
            <a:ext cx="4762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45</a:t>
            </a:r>
            <a:endParaRPr lang="zh-CN" sz="1800" dirty="0"/>
          </a:p>
        </p:txBody>
      </p:sp>
      <p:sp>
        <p:nvSpPr>
          <p:cNvPr id="21" name="evidence-horizontal/drawing/b-raw-horizontal/grid-50/segment-1"/>
          <p:cNvSpPr/>
          <p:nvPr/>
        </p:nvSpPr>
        <p:spPr>
          <a:xfrm>
            <a:off x="11106150" y="1866900"/>
            <a:ext cx="0" cy="1123950"/>
          </a:xfrm>
          <a:prstGeom prst="line">
            <a:avLst/>
          </a:prstGeom>
          <a:noFill/>
          <a:ln w="11430">
            <a:solidFill>
              <a:srgbClr val="DCE3E9"/>
            </a:solidFill>
            <a:prstDash val="solid"/>
          </a:ln>
        </p:spPr>
      </p:sp>
      <p:sp>
        <p:nvSpPr>
          <p:cNvPr id="22" name="evidence-horizontal/drawing/b-raw-horizontal/tick-50"/>
          <p:cNvSpPr/>
          <p:nvPr/>
        </p:nvSpPr>
        <p:spPr>
          <a:xfrm>
            <a:off x="10868025" y="3028950"/>
            <a:ext cx="4762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50</a:t>
            </a:r>
            <a:endParaRPr lang="zh-CN" sz="1800" dirty="0"/>
          </a:p>
        </p:txBody>
      </p:sp>
      <p:sp>
        <p:nvSpPr>
          <p:cNvPr id="23" name="evidence-horizontal/drawing/b-raw-horizontal/label-_u5e38_u89c4"/>
          <p:cNvSpPr/>
          <p:nvPr/>
        </p:nvSpPr>
        <p:spPr>
          <a:xfrm>
            <a:off x="457200" y="2047875"/>
            <a:ext cx="104775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254B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常规</a:t>
            </a:r>
            <a:endParaRPr lang="zh-CN" sz="2100" dirty="0"/>
          </a:p>
        </p:txBody>
      </p:sp>
      <p:sp>
        <p:nvSpPr>
          <p:cNvPr id="24" name="evidence-horizontal/drawing/b-raw-horizontal/n-_u5e38_u89c4"/>
          <p:cNvSpPr/>
          <p:nvPr/>
        </p:nvSpPr>
        <p:spPr>
          <a:xfrm>
            <a:off x="1514475" y="2066925"/>
            <a:ext cx="9525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 = 12</a:t>
            </a:r>
            <a:endParaRPr lang="zh-CN" sz="1800" dirty="0"/>
          </a:p>
        </p:txBody>
      </p:sp>
      <p:sp>
        <p:nvSpPr>
          <p:cNvPr id="25" name="evidence-horizontal/drawing/b-raw-horizontal/dot-B-con-01"/>
          <p:cNvSpPr/>
          <p:nvPr/>
        </p:nvSpPr>
        <p:spPr>
          <a:xfrm>
            <a:off x="5462242" y="2038350"/>
            <a:ext cx="95250" cy="95250"/>
          </a:xfrm>
          <a:prstGeom prst="ellipse">
            <a:avLst/>
          </a:prstGeom>
          <a:solidFill>
            <a:srgbClr val="254B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evidence-horizontal/drawing/b-raw-horizontal/dot-B-con-02"/>
          <p:cNvSpPr/>
          <p:nvPr/>
        </p:nvSpPr>
        <p:spPr>
          <a:xfrm>
            <a:off x="5663519" y="2100263"/>
            <a:ext cx="95250" cy="95250"/>
          </a:xfrm>
          <a:prstGeom prst="ellipse">
            <a:avLst/>
          </a:prstGeom>
          <a:solidFill>
            <a:srgbClr val="254B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evidence-horizontal/drawing/b-raw-horizontal/dot-B-con-03"/>
          <p:cNvSpPr/>
          <p:nvPr/>
        </p:nvSpPr>
        <p:spPr>
          <a:xfrm>
            <a:off x="5736710" y="2162175"/>
            <a:ext cx="95250" cy="95250"/>
          </a:xfrm>
          <a:prstGeom prst="ellipse">
            <a:avLst/>
          </a:prstGeom>
          <a:solidFill>
            <a:srgbClr val="254B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evidence-horizontal/drawing/b-raw-horizontal/dot-B-con-04"/>
          <p:cNvSpPr/>
          <p:nvPr/>
        </p:nvSpPr>
        <p:spPr>
          <a:xfrm>
            <a:off x="5094479" y="2224088"/>
            <a:ext cx="95250" cy="95250"/>
          </a:xfrm>
          <a:prstGeom prst="ellipse">
            <a:avLst/>
          </a:prstGeom>
          <a:solidFill>
            <a:srgbClr val="254B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evidence-horizontal/drawing/b-raw-horizontal/dot-B-con-05"/>
          <p:cNvSpPr/>
          <p:nvPr/>
        </p:nvSpPr>
        <p:spPr>
          <a:xfrm>
            <a:off x="6828156" y="2286000"/>
            <a:ext cx="95250" cy="95250"/>
          </a:xfrm>
          <a:prstGeom prst="ellipse">
            <a:avLst/>
          </a:prstGeom>
          <a:solidFill>
            <a:srgbClr val="254B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evidence-horizontal/drawing/b-raw-horizontal/dot-B-con-06"/>
          <p:cNvSpPr/>
          <p:nvPr/>
        </p:nvSpPr>
        <p:spPr>
          <a:xfrm>
            <a:off x="3555228" y="2069306"/>
            <a:ext cx="95250" cy="95250"/>
          </a:xfrm>
          <a:prstGeom prst="ellipse">
            <a:avLst/>
          </a:prstGeom>
          <a:solidFill>
            <a:srgbClr val="254B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evidence-horizontal/drawing/b-raw-horizontal/dot-B-con-07"/>
          <p:cNvSpPr/>
          <p:nvPr/>
        </p:nvSpPr>
        <p:spPr>
          <a:xfrm>
            <a:off x="5340782" y="2131219"/>
            <a:ext cx="95250" cy="95250"/>
          </a:xfrm>
          <a:prstGeom prst="ellipse">
            <a:avLst/>
          </a:prstGeom>
          <a:solidFill>
            <a:srgbClr val="254B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evidence-horizontal/drawing/b-raw-horizontal/dot-B-con-08"/>
          <p:cNvSpPr/>
          <p:nvPr/>
        </p:nvSpPr>
        <p:spPr>
          <a:xfrm>
            <a:off x="5970185" y="2193131"/>
            <a:ext cx="95250" cy="95250"/>
          </a:xfrm>
          <a:prstGeom prst="ellipse">
            <a:avLst/>
          </a:prstGeom>
          <a:solidFill>
            <a:srgbClr val="254B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evidence-horizontal/drawing/b-raw-horizontal/dot-B-con-09"/>
          <p:cNvSpPr/>
          <p:nvPr/>
        </p:nvSpPr>
        <p:spPr>
          <a:xfrm>
            <a:off x="6191649" y="2255044"/>
            <a:ext cx="95250" cy="95250"/>
          </a:xfrm>
          <a:prstGeom prst="ellipse">
            <a:avLst/>
          </a:prstGeom>
          <a:solidFill>
            <a:srgbClr val="254B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evidence-horizontal/drawing/b-raw-horizontal/dot-B-con-10"/>
          <p:cNvSpPr/>
          <p:nvPr/>
        </p:nvSpPr>
        <p:spPr>
          <a:xfrm>
            <a:off x="4405446" y="2038350"/>
            <a:ext cx="95250" cy="95250"/>
          </a:xfrm>
          <a:prstGeom prst="ellipse">
            <a:avLst/>
          </a:prstGeom>
          <a:solidFill>
            <a:srgbClr val="254B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evidence-horizontal/drawing/b-raw-horizontal/dot-B-con-11"/>
          <p:cNvSpPr/>
          <p:nvPr/>
        </p:nvSpPr>
        <p:spPr>
          <a:xfrm>
            <a:off x="5748157" y="2162175"/>
            <a:ext cx="95250" cy="95250"/>
          </a:xfrm>
          <a:prstGeom prst="ellipse">
            <a:avLst/>
          </a:prstGeom>
          <a:solidFill>
            <a:srgbClr val="254B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evidence-horizontal/drawing/b-raw-horizontal/dot-B-con-12"/>
          <p:cNvSpPr/>
          <p:nvPr/>
        </p:nvSpPr>
        <p:spPr>
          <a:xfrm>
            <a:off x="6286155" y="2286000"/>
            <a:ext cx="95250" cy="95250"/>
          </a:xfrm>
          <a:prstGeom prst="ellipse">
            <a:avLst/>
          </a:prstGeom>
          <a:solidFill>
            <a:srgbClr val="254B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evidence-horizontal/drawing/b-raw-horizontal/mean-_u5e38_u89c4/segment-1"/>
          <p:cNvSpPr/>
          <p:nvPr/>
        </p:nvSpPr>
        <p:spPr>
          <a:xfrm>
            <a:off x="5571184" y="1971675"/>
            <a:ext cx="0" cy="476250"/>
          </a:xfrm>
          <a:prstGeom prst="line">
            <a:avLst/>
          </a:prstGeom>
          <a:noFill/>
          <a:ln w="28575">
            <a:solidFill>
              <a:srgbClr val="254B6E"/>
            </a:solidFill>
            <a:prstDash val="solid"/>
          </a:ln>
        </p:spPr>
      </p:sp>
      <p:sp>
        <p:nvSpPr>
          <p:cNvPr id="38" name="evidence-horizontal/drawing/b-raw-horizontal/label-_u6539_u6027"/>
          <p:cNvSpPr/>
          <p:nvPr/>
        </p:nvSpPr>
        <p:spPr>
          <a:xfrm>
            <a:off x="457200" y="2609850"/>
            <a:ext cx="104775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8667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改性</a:t>
            </a:r>
            <a:endParaRPr lang="zh-CN" sz="2100" dirty="0"/>
          </a:p>
        </p:txBody>
      </p:sp>
      <p:sp>
        <p:nvSpPr>
          <p:cNvPr id="39" name="evidence-horizontal/drawing/b-raw-horizontal/n-_u6539_u6027"/>
          <p:cNvSpPr/>
          <p:nvPr/>
        </p:nvSpPr>
        <p:spPr>
          <a:xfrm>
            <a:off x="1514475" y="2628900"/>
            <a:ext cx="9525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 = 12</a:t>
            </a:r>
            <a:endParaRPr lang="zh-CN" sz="1800" dirty="0"/>
          </a:p>
        </p:txBody>
      </p:sp>
      <p:sp>
        <p:nvSpPr>
          <p:cNvPr id="40" name="evidence-horizontal/drawing/b-raw-horizontal/dot-B-mod-01"/>
          <p:cNvSpPr/>
          <p:nvPr/>
        </p:nvSpPr>
        <p:spPr>
          <a:xfrm>
            <a:off x="3823437" y="2600325"/>
            <a:ext cx="95250" cy="95250"/>
          </a:xfrm>
          <a:prstGeom prst="ellipse">
            <a:avLst/>
          </a:prstGeom>
          <a:solidFill>
            <a:srgbClr val="8667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evidence-horizontal/drawing/b-raw-horizontal/dot-B-mod-02"/>
          <p:cNvSpPr/>
          <p:nvPr/>
        </p:nvSpPr>
        <p:spPr>
          <a:xfrm>
            <a:off x="5765919" y="2662238"/>
            <a:ext cx="95250" cy="95250"/>
          </a:xfrm>
          <a:prstGeom prst="ellipse">
            <a:avLst/>
          </a:prstGeom>
          <a:solidFill>
            <a:srgbClr val="8667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evidence-horizontal/drawing/b-raw-horizontal/dot-B-mod-03"/>
          <p:cNvSpPr/>
          <p:nvPr/>
        </p:nvSpPr>
        <p:spPr>
          <a:xfrm>
            <a:off x="5853461" y="2724150"/>
            <a:ext cx="95250" cy="95250"/>
          </a:xfrm>
          <a:prstGeom prst="ellipse">
            <a:avLst/>
          </a:prstGeom>
          <a:solidFill>
            <a:srgbClr val="8667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evidence-horizontal/drawing/b-raw-horizontal/dot-B-mod-04"/>
          <p:cNvSpPr/>
          <p:nvPr/>
        </p:nvSpPr>
        <p:spPr>
          <a:xfrm>
            <a:off x="9677921" y="2786063"/>
            <a:ext cx="95250" cy="95250"/>
          </a:xfrm>
          <a:prstGeom prst="ellipse">
            <a:avLst/>
          </a:prstGeom>
          <a:solidFill>
            <a:srgbClr val="8667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evidence-horizontal/drawing/b-raw-horizontal/dot-B-mod-05"/>
          <p:cNvSpPr/>
          <p:nvPr/>
        </p:nvSpPr>
        <p:spPr>
          <a:xfrm>
            <a:off x="6467922" y="2847975"/>
            <a:ext cx="95250" cy="95250"/>
          </a:xfrm>
          <a:prstGeom prst="ellipse">
            <a:avLst/>
          </a:prstGeom>
          <a:solidFill>
            <a:srgbClr val="8667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evidence-horizontal/drawing/b-raw-horizontal/dot-B-mod-06"/>
          <p:cNvSpPr/>
          <p:nvPr/>
        </p:nvSpPr>
        <p:spPr>
          <a:xfrm>
            <a:off x="7270605" y="2631281"/>
            <a:ext cx="95250" cy="95250"/>
          </a:xfrm>
          <a:prstGeom prst="ellipse">
            <a:avLst/>
          </a:prstGeom>
          <a:solidFill>
            <a:srgbClr val="8667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evidence-horizontal/drawing/b-raw-horizontal/dot-B-mod-07"/>
          <p:cNvSpPr/>
          <p:nvPr/>
        </p:nvSpPr>
        <p:spPr>
          <a:xfrm>
            <a:off x="7633828" y="2693194"/>
            <a:ext cx="95250" cy="95250"/>
          </a:xfrm>
          <a:prstGeom prst="ellipse">
            <a:avLst/>
          </a:prstGeom>
          <a:solidFill>
            <a:srgbClr val="8667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evidence-horizontal/drawing/b-raw-horizontal/dot-B-mod-08"/>
          <p:cNvSpPr/>
          <p:nvPr/>
        </p:nvSpPr>
        <p:spPr>
          <a:xfrm>
            <a:off x="5566982" y="2755106"/>
            <a:ext cx="95250" cy="95250"/>
          </a:xfrm>
          <a:prstGeom prst="ellipse">
            <a:avLst/>
          </a:prstGeom>
          <a:solidFill>
            <a:srgbClr val="8667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evidence-horizontal/drawing/b-raw-horizontal/dot-B-mod-09"/>
          <p:cNvSpPr/>
          <p:nvPr/>
        </p:nvSpPr>
        <p:spPr>
          <a:xfrm>
            <a:off x="5959358" y="2817019"/>
            <a:ext cx="95250" cy="95250"/>
          </a:xfrm>
          <a:prstGeom prst="ellipse">
            <a:avLst/>
          </a:prstGeom>
          <a:solidFill>
            <a:srgbClr val="8667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evidence-horizontal/drawing/b-raw-horizontal/dot-B-mod-10"/>
          <p:cNvSpPr/>
          <p:nvPr/>
        </p:nvSpPr>
        <p:spPr>
          <a:xfrm>
            <a:off x="7531935" y="2600325"/>
            <a:ext cx="95250" cy="95250"/>
          </a:xfrm>
          <a:prstGeom prst="ellipse">
            <a:avLst/>
          </a:prstGeom>
          <a:solidFill>
            <a:srgbClr val="8667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evidence-horizontal/drawing/b-raw-horizontal/dot-B-mod-11"/>
          <p:cNvSpPr/>
          <p:nvPr/>
        </p:nvSpPr>
        <p:spPr>
          <a:xfrm>
            <a:off x="4718258" y="2724150"/>
            <a:ext cx="95250" cy="95250"/>
          </a:xfrm>
          <a:prstGeom prst="ellipse">
            <a:avLst/>
          </a:prstGeom>
          <a:solidFill>
            <a:srgbClr val="8667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evidence-horizontal/drawing/b-raw-horizontal/dot-B-mod-12"/>
          <p:cNvSpPr/>
          <p:nvPr/>
        </p:nvSpPr>
        <p:spPr>
          <a:xfrm>
            <a:off x="4681803" y="2847975"/>
            <a:ext cx="95250" cy="95250"/>
          </a:xfrm>
          <a:prstGeom prst="ellipse">
            <a:avLst/>
          </a:prstGeom>
          <a:solidFill>
            <a:srgbClr val="8667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evidence-horizontal/drawing/b-raw-horizontal/mean-_u6539_u6027/segment-1"/>
          <p:cNvSpPr/>
          <p:nvPr/>
        </p:nvSpPr>
        <p:spPr>
          <a:xfrm>
            <a:off x="6293578" y="2533650"/>
            <a:ext cx="0" cy="476250"/>
          </a:xfrm>
          <a:prstGeom prst="line">
            <a:avLst/>
          </a:prstGeom>
          <a:noFill/>
          <a:ln w="28575">
            <a:solidFill>
              <a:srgbClr val="86673F"/>
            </a:solidFill>
            <a:prstDash val="solid"/>
          </a:ln>
        </p:spPr>
      </p:sp>
      <p:sp>
        <p:nvSpPr>
          <p:cNvPr id="53" name="evidence-horizontal/drawing/b-raw-horizontal/axis"/>
          <p:cNvSpPr/>
          <p:nvPr/>
        </p:nvSpPr>
        <p:spPr>
          <a:xfrm>
            <a:off x="7505700" y="3371850"/>
            <a:ext cx="36195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失效寿命（万循环）</a:t>
            </a:r>
            <a:endParaRPr lang="zh-CN" sz="1800" dirty="0"/>
          </a:p>
        </p:txBody>
      </p:sp>
      <p:sp>
        <p:nvSpPr>
          <p:cNvPr id="54" name="evidence-horizontal/drawing/b-raw-horizontal/legend"/>
          <p:cNvSpPr/>
          <p:nvPr/>
        </p:nvSpPr>
        <p:spPr>
          <a:xfrm>
            <a:off x="457200" y="3371850"/>
            <a:ext cx="67627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圆点：独立试件；短竖线：组均值</a:t>
            </a:r>
            <a:endParaRPr lang="zh-CN" sz="1800" dirty="0"/>
          </a:p>
        </p:txBody>
      </p:sp>
      <p:sp>
        <p:nvSpPr>
          <p:cNvPr id="55" name="evidence-horizontal/drawing/b-ci/ci-title"/>
          <p:cNvSpPr/>
          <p:nvPr/>
        </p:nvSpPr>
        <p:spPr>
          <a:xfrm>
            <a:off x="457200" y="3771900"/>
            <a:ext cx="66675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均值差：改性 − 常规</a:t>
            </a:r>
            <a:endParaRPr lang="zh-CN" sz="2100" dirty="0"/>
          </a:p>
        </p:txBody>
      </p:sp>
      <p:sp>
        <p:nvSpPr>
          <p:cNvPr id="56" name="evidence-horizontal/drawing/b-ci/ci-zero/segment-1"/>
          <p:cNvSpPr/>
          <p:nvPr/>
        </p:nvSpPr>
        <p:spPr>
          <a:xfrm>
            <a:off x="2347383" y="4191000"/>
            <a:ext cx="0" cy="685800"/>
          </a:xfrm>
          <a:prstGeom prst="line">
            <a:avLst/>
          </a:prstGeom>
          <a:noFill/>
          <a:ln w="11430">
            <a:solidFill>
              <a:srgbClr val="526170"/>
            </a:solidFill>
            <a:prstDash val="dash"/>
          </a:ln>
        </p:spPr>
      </p:sp>
      <p:sp>
        <p:nvSpPr>
          <p:cNvPr id="57" name="evidence-horizontal/drawing/b-ci/ci-range/segment-1"/>
          <p:cNvSpPr/>
          <p:nvPr/>
        </p:nvSpPr>
        <p:spPr>
          <a:xfrm>
            <a:off x="1484507" y="4505325"/>
            <a:ext cx="4958084" cy="0"/>
          </a:xfrm>
          <a:prstGeom prst="line">
            <a:avLst/>
          </a:prstGeom>
          <a:noFill/>
          <a:ln w="28575">
            <a:solidFill>
              <a:srgbClr val="254B6E"/>
            </a:solidFill>
            <a:prstDash val="solid"/>
          </a:ln>
        </p:spPr>
      </p:sp>
      <p:sp>
        <p:nvSpPr>
          <p:cNvPr id="58" name="evidence-horizontal/drawing/b-ci/ci-cap-low/segment-1"/>
          <p:cNvSpPr/>
          <p:nvPr/>
        </p:nvSpPr>
        <p:spPr>
          <a:xfrm>
            <a:off x="1484507" y="4410075"/>
            <a:ext cx="0" cy="190500"/>
          </a:xfrm>
          <a:prstGeom prst="line">
            <a:avLst/>
          </a:prstGeom>
          <a:noFill/>
          <a:ln w="19050">
            <a:solidFill>
              <a:srgbClr val="254B6E"/>
            </a:solidFill>
            <a:prstDash val="solid"/>
          </a:ln>
        </p:spPr>
      </p:sp>
      <p:sp>
        <p:nvSpPr>
          <p:cNvPr id="59" name="evidence-horizontal/drawing/b-ci/ci-cap-high/segment-1"/>
          <p:cNvSpPr/>
          <p:nvPr/>
        </p:nvSpPr>
        <p:spPr>
          <a:xfrm>
            <a:off x="6442592" y="4410075"/>
            <a:ext cx="0" cy="190500"/>
          </a:xfrm>
          <a:prstGeom prst="line">
            <a:avLst/>
          </a:prstGeom>
          <a:noFill/>
          <a:ln w="19050">
            <a:solidFill>
              <a:srgbClr val="254B6E"/>
            </a:solidFill>
            <a:prstDash val="solid"/>
          </a:ln>
        </p:spPr>
      </p:sp>
      <p:sp>
        <p:nvSpPr>
          <p:cNvPr id="60" name="evidence-horizontal/drawing/b-ci/ci-estimate"/>
          <p:cNvSpPr/>
          <p:nvPr/>
        </p:nvSpPr>
        <p:spPr>
          <a:xfrm>
            <a:off x="3896874" y="4438650"/>
            <a:ext cx="133350" cy="133350"/>
          </a:xfrm>
          <a:prstGeom prst="ellipse">
            <a:avLst/>
          </a:prstGeom>
          <a:solidFill>
            <a:srgbClr val="254B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evidence-horizontal/drawing/b-ci/ci-tick--2/segment-1"/>
          <p:cNvSpPr/>
          <p:nvPr/>
        </p:nvSpPr>
        <p:spPr>
          <a:xfrm>
            <a:off x="1085850" y="4886325"/>
            <a:ext cx="0" cy="47625"/>
          </a:xfrm>
          <a:prstGeom prst="line">
            <a:avLst/>
          </a:prstGeom>
          <a:noFill/>
          <a:ln w="11430">
            <a:solidFill>
              <a:srgbClr val="BAC6D2"/>
            </a:solidFill>
            <a:prstDash val="solid"/>
          </a:ln>
        </p:spPr>
      </p:sp>
      <p:sp>
        <p:nvSpPr>
          <p:cNvPr id="62" name="evidence-horizontal/drawing/b-ci/ci-label--2"/>
          <p:cNvSpPr/>
          <p:nvPr/>
        </p:nvSpPr>
        <p:spPr>
          <a:xfrm>
            <a:off x="876300" y="4972050"/>
            <a:ext cx="4191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-2</a:t>
            </a:r>
            <a:endParaRPr lang="zh-CN" sz="1800" dirty="0"/>
          </a:p>
        </p:txBody>
      </p:sp>
      <p:sp>
        <p:nvSpPr>
          <p:cNvPr id="63" name="evidence-horizontal/drawing/b-ci/ci-tick-0/segment-1"/>
          <p:cNvSpPr/>
          <p:nvPr/>
        </p:nvSpPr>
        <p:spPr>
          <a:xfrm>
            <a:off x="2347383" y="4886325"/>
            <a:ext cx="0" cy="47625"/>
          </a:xfrm>
          <a:prstGeom prst="line">
            <a:avLst/>
          </a:prstGeom>
          <a:noFill/>
          <a:ln w="11430">
            <a:solidFill>
              <a:srgbClr val="BAC6D2"/>
            </a:solidFill>
            <a:prstDash val="solid"/>
          </a:ln>
        </p:spPr>
      </p:sp>
      <p:sp>
        <p:nvSpPr>
          <p:cNvPr id="64" name="evidence-horizontal/drawing/b-ci/ci-label-0"/>
          <p:cNvSpPr/>
          <p:nvPr/>
        </p:nvSpPr>
        <p:spPr>
          <a:xfrm>
            <a:off x="2137833" y="4972050"/>
            <a:ext cx="4191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</a:t>
            </a:r>
            <a:endParaRPr lang="zh-CN" sz="1800" dirty="0"/>
          </a:p>
        </p:txBody>
      </p:sp>
      <p:sp>
        <p:nvSpPr>
          <p:cNvPr id="65" name="evidence-horizontal/drawing/b-ci/ci-tick-2/segment-1"/>
          <p:cNvSpPr/>
          <p:nvPr/>
        </p:nvSpPr>
        <p:spPr>
          <a:xfrm>
            <a:off x="3608917" y="4886325"/>
            <a:ext cx="0" cy="47625"/>
          </a:xfrm>
          <a:prstGeom prst="line">
            <a:avLst/>
          </a:prstGeom>
          <a:noFill/>
          <a:ln w="11430">
            <a:solidFill>
              <a:srgbClr val="BAC6D2"/>
            </a:solidFill>
            <a:prstDash val="solid"/>
          </a:ln>
        </p:spPr>
      </p:sp>
      <p:sp>
        <p:nvSpPr>
          <p:cNvPr id="66" name="evidence-horizontal/drawing/b-ci/ci-label-2"/>
          <p:cNvSpPr/>
          <p:nvPr/>
        </p:nvSpPr>
        <p:spPr>
          <a:xfrm>
            <a:off x="3399367" y="4972050"/>
            <a:ext cx="4191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zh-CN" sz="1800" dirty="0"/>
          </a:p>
        </p:txBody>
      </p:sp>
      <p:sp>
        <p:nvSpPr>
          <p:cNvPr id="67" name="evidence-horizontal/drawing/b-ci/ci-tick-4/segment-1"/>
          <p:cNvSpPr/>
          <p:nvPr/>
        </p:nvSpPr>
        <p:spPr>
          <a:xfrm>
            <a:off x="4870450" y="4886325"/>
            <a:ext cx="0" cy="47625"/>
          </a:xfrm>
          <a:prstGeom prst="line">
            <a:avLst/>
          </a:prstGeom>
          <a:noFill/>
          <a:ln w="11430">
            <a:solidFill>
              <a:srgbClr val="BAC6D2"/>
            </a:solidFill>
            <a:prstDash val="solid"/>
          </a:ln>
        </p:spPr>
      </p:sp>
      <p:sp>
        <p:nvSpPr>
          <p:cNvPr id="68" name="evidence-horizontal/drawing/b-ci/ci-label-4"/>
          <p:cNvSpPr/>
          <p:nvPr/>
        </p:nvSpPr>
        <p:spPr>
          <a:xfrm>
            <a:off x="4660900" y="4972050"/>
            <a:ext cx="4191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zh-CN" sz="1800" dirty="0"/>
          </a:p>
        </p:txBody>
      </p:sp>
      <p:sp>
        <p:nvSpPr>
          <p:cNvPr id="69" name="evidence-horizontal/drawing/b-ci/ci-tick-6/segment-1"/>
          <p:cNvSpPr/>
          <p:nvPr/>
        </p:nvSpPr>
        <p:spPr>
          <a:xfrm>
            <a:off x="6131983" y="4886325"/>
            <a:ext cx="0" cy="47625"/>
          </a:xfrm>
          <a:prstGeom prst="line">
            <a:avLst/>
          </a:prstGeom>
          <a:noFill/>
          <a:ln w="11430">
            <a:solidFill>
              <a:srgbClr val="BAC6D2"/>
            </a:solidFill>
            <a:prstDash val="solid"/>
          </a:ln>
        </p:spPr>
      </p:sp>
      <p:sp>
        <p:nvSpPr>
          <p:cNvPr id="70" name="evidence-horizontal/drawing/b-ci/ci-label-6"/>
          <p:cNvSpPr/>
          <p:nvPr/>
        </p:nvSpPr>
        <p:spPr>
          <a:xfrm>
            <a:off x="5922433" y="4972050"/>
            <a:ext cx="4191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zh-CN" sz="1800" dirty="0"/>
          </a:p>
        </p:txBody>
      </p:sp>
      <p:sp>
        <p:nvSpPr>
          <p:cNvPr id="71" name="evidence-horizontal/drawing/b-ci/ci-axis"/>
          <p:cNvSpPr/>
          <p:nvPr/>
        </p:nvSpPr>
        <p:spPr>
          <a:xfrm>
            <a:off x="457200" y="5305425"/>
            <a:ext cx="6667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万循环；线段为Welch 95%区间</a:t>
            </a:r>
            <a:endParaRPr lang="zh-CN" sz="1800" dirty="0"/>
          </a:p>
        </p:txBody>
      </p:sp>
      <p:sp>
        <p:nvSpPr>
          <p:cNvPr id="72" name="evidence-horizontal/drawing/b-summary/means"/>
          <p:cNvSpPr/>
          <p:nvPr/>
        </p:nvSpPr>
        <p:spPr>
          <a:xfrm>
            <a:off x="7391400" y="3771900"/>
            <a:ext cx="4343400" cy="723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常规：30.37 ± 3.10万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改性：32.93 ± 5.66万</a:t>
            </a:r>
            <a:endParaRPr lang="zh-CN" sz="2100" dirty="0"/>
          </a:p>
        </p:txBody>
      </p:sp>
      <p:sp>
        <p:nvSpPr>
          <p:cNvPr id="73" name="evidence-horizontal/drawing/b-summary/sd"/>
          <p:cNvSpPr/>
          <p:nvPr/>
        </p:nvSpPr>
        <p:spPr>
          <a:xfrm>
            <a:off x="7391400" y="4562475"/>
            <a:ext cx="43434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以上为均值 ± 样本SD</a:t>
            </a:r>
            <a:endParaRPr lang="zh-CN" sz="1800" dirty="0"/>
          </a:p>
        </p:txBody>
      </p:sp>
      <p:sp>
        <p:nvSpPr>
          <p:cNvPr id="74" name="evidence-horizontal/drawing/b-summary/difference"/>
          <p:cNvSpPr/>
          <p:nvPr/>
        </p:nvSpPr>
        <p:spPr>
          <a:xfrm>
            <a:off x="7391400" y="4953000"/>
            <a:ext cx="4343400" cy="647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254B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差值 +2.56万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254B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95%区间 [−1.37, 6.49]万</a:t>
            </a:r>
            <a:endParaRPr lang="zh-CN" sz="2100" dirty="0"/>
          </a:p>
        </p:txBody>
      </p:sp>
      <p:sp>
        <p:nvSpPr>
          <p:cNvPr id="75" name="evidence-horizontal/drawing/b-boundary/b-boundary-text"/>
          <p:cNvSpPr/>
          <p:nvPr/>
        </p:nvSpPr>
        <p:spPr>
          <a:xfrm>
            <a:off x="457200" y="5676900"/>
            <a:ext cx="112776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6D5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近似均值推断，未随机分配；跨零不等于等效。</a:t>
            </a:r>
            <a:endParaRPr lang="zh-CN" sz="2100" dirty="0"/>
          </a:p>
        </p:txBody>
      </p:sp>
      <p:sp>
        <p:nvSpPr>
          <p:cNvPr id="76" name="evidence-horizontal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[1] 未署名（原资料未提供） 2026  |  [2] 未署名（原资料未提供） 2026</a:t>
            </a:r>
            <a:endParaRPr lang="zh-CN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vidence-vertical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/ 04</a:t>
            </a:r>
            <a:endParaRPr lang="zh-CN" sz="1350" dirty="0"/>
          </a:p>
        </p:txBody>
      </p:sp>
      <p:sp>
        <p:nvSpPr>
          <p:cNvPr id="3" name="evidence-vertical/section-label"/>
          <p:cNvSpPr/>
          <p:nvPr/>
        </p:nvSpPr>
        <p:spPr>
          <a:xfrm>
            <a:off x="457200" y="133350"/>
            <a:ext cx="96202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zh-CN" altLang="en-US" sz="1950" b="1" dirty="0">
                <a:solidFill>
                  <a:srgbClr val="254B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 证据与边界</a:t>
            </a:r>
            <a:endParaRPr lang="zh-CN" sz="1950" dirty="0"/>
          </a:p>
        </p:txBody>
      </p:sp>
      <p:sp>
        <p:nvSpPr>
          <p:cNvPr id="4" name="evidence-vertical/brand-label"/>
          <p:cNvSpPr/>
          <p:nvPr/>
        </p:nvSpPr>
        <p:spPr>
          <a:xfrm>
            <a:off x="10325100" y="171450"/>
            <a:ext cx="14097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zh-CN" altLang="en-US" sz="1800" b="1" dirty="0">
                <a:solidFill>
                  <a:srgbClr val="254B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教学模拟数据</a:t>
            </a:r>
            <a:endParaRPr lang="zh-CN" sz="1800" dirty="0"/>
          </a:p>
        </p:txBody>
      </p:sp>
      <p:sp>
        <p:nvSpPr>
          <p:cNvPr id="5" name="evidence-vertical/title"/>
          <p:cNvSpPr/>
          <p:nvPr/>
        </p:nvSpPr>
        <p:spPr>
          <a:xfrm>
            <a:off x="457200" y="552450"/>
            <a:ext cx="11277600" cy="45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60"/>
              </a:lnSpc>
              <a:buNone/>
            </a:pPr>
            <a:r>
              <a:rPr lang="zh-CN" altLang="en-US" sz="315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B批均值偏高，区间仍跨越零差异</a:t>
            </a:r>
            <a:endParaRPr lang="zh-CN" sz="3150" dirty="0"/>
          </a:p>
        </p:txBody>
      </p:sp>
      <p:sp>
        <p:nvSpPr>
          <p:cNvPr id="6" name="evidence-vertical/header-rule"/>
          <p:cNvSpPr/>
          <p:nvPr/>
        </p:nvSpPr>
        <p:spPr>
          <a:xfrm>
            <a:off x="457200" y="1099757"/>
            <a:ext cx="11277600" cy="0"/>
          </a:xfrm>
          <a:prstGeom prst="line">
            <a:avLst/>
          </a:prstGeom>
          <a:noFill/>
          <a:ln w="9525">
            <a:solidFill>
              <a:srgbClr val="BAC6D2"/>
            </a:solidFill>
            <a:prstDash val="solid"/>
          </a:ln>
        </p:spPr>
      </p:sp>
      <p:sp>
        <p:nvSpPr>
          <p:cNvPr id="7" name="evidence-vertical/header-accent"/>
          <p:cNvSpPr/>
          <p:nvPr/>
        </p:nvSpPr>
        <p:spPr>
          <a:xfrm>
            <a:off x="457200" y="1099757"/>
            <a:ext cx="1181100" cy="0"/>
          </a:xfrm>
          <a:prstGeom prst="line">
            <a:avLst/>
          </a:prstGeom>
          <a:noFill/>
          <a:ln w="15240">
            <a:solidFill>
              <a:srgbClr val="254B6E"/>
            </a:solidFill>
            <a:prstDash val="solid"/>
          </a:ln>
        </p:spPr>
      </p:sp>
      <p:sp>
        <p:nvSpPr>
          <p:cNvPr id="8" name="evidence-vertical/drawing/b-raw-vertical/v-condition"/>
          <p:cNvSpPr/>
          <p:nvPr/>
        </p:nvSpPr>
        <p:spPr>
          <a:xfrm>
            <a:off x="457200" y="1333500"/>
            <a:ext cx="6667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B批 · 200 MPa · 各12件</a:t>
            </a:r>
            <a:endParaRPr lang="zh-CN" sz="2100" dirty="0"/>
          </a:p>
        </p:txBody>
      </p:sp>
      <p:sp>
        <p:nvSpPr>
          <p:cNvPr id="9" name="evidence-vertical/drawing/b-raw-vertical/v-grid-20/segment-1"/>
          <p:cNvSpPr/>
          <p:nvPr/>
        </p:nvSpPr>
        <p:spPr>
          <a:xfrm>
            <a:off x="1409700" y="5048250"/>
            <a:ext cx="5048250" cy="0"/>
          </a:xfrm>
          <a:prstGeom prst="line">
            <a:avLst/>
          </a:prstGeom>
          <a:noFill/>
          <a:ln w="11430">
            <a:solidFill>
              <a:srgbClr val="DCE3E9"/>
            </a:solidFill>
            <a:prstDash val="solid"/>
          </a:ln>
        </p:spPr>
      </p:sp>
      <p:sp>
        <p:nvSpPr>
          <p:cNvPr id="10" name="evidence-vertical/drawing/b-raw-vertical/v-tick-20"/>
          <p:cNvSpPr/>
          <p:nvPr/>
        </p:nvSpPr>
        <p:spPr>
          <a:xfrm>
            <a:off x="742950" y="4905375"/>
            <a:ext cx="52387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</a:t>
            </a:r>
            <a:endParaRPr lang="zh-CN" sz="1800" dirty="0"/>
          </a:p>
        </p:txBody>
      </p:sp>
      <p:sp>
        <p:nvSpPr>
          <p:cNvPr id="11" name="evidence-vertical/drawing/b-raw-vertical/v-grid-25/segment-1"/>
          <p:cNvSpPr/>
          <p:nvPr/>
        </p:nvSpPr>
        <p:spPr>
          <a:xfrm>
            <a:off x="1409700" y="4540250"/>
            <a:ext cx="5048250" cy="0"/>
          </a:xfrm>
          <a:prstGeom prst="line">
            <a:avLst/>
          </a:prstGeom>
          <a:noFill/>
          <a:ln w="11430">
            <a:solidFill>
              <a:srgbClr val="DCE3E9"/>
            </a:solidFill>
            <a:prstDash val="solid"/>
          </a:ln>
        </p:spPr>
      </p:sp>
      <p:sp>
        <p:nvSpPr>
          <p:cNvPr id="12" name="evidence-vertical/drawing/b-raw-vertical/v-tick-25"/>
          <p:cNvSpPr/>
          <p:nvPr/>
        </p:nvSpPr>
        <p:spPr>
          <a:xfrm>
            <a:off x="742950" y="4397375"/>
            <a:ext cx="52387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25</a:t>
            </a:r>
            <a:endParaRPr lang="zh-CN" sz="1800" dirty="0"/>
          </a:p>
        </p:txBody>
      </p:sp>
      <p:sp>
        <p:nvSpPr>
          <p:cNvPr id="13" name="evidence-vertical/drawing/b-raw-vertical/v-grid-30/segment-1"/>
          <p:cNvSpPr/>
          <p:nvPr/>
        </p:nvSpPr>
        <p:spPr>
          <a:xfrm>
            <a:off x="1409700" y="4032250"/>
            <a:ext cx="5048250" cy="0"/>
          </a:xfrm>
          <a:prstGeom prst="line">
            <a:avLst/>
          </a:prstGeom>
          <a:noFill/>
          <a:ln w="11430">
            <a:solidFill>
              <a:srgbClr val="DCE3E9"/>
            </a:solidFill>
            <a:prstDash val="solid"/>
          </a:ln>
        </p:spPr>
      </p:sp>
      <p:sp>
        <p:nvSpPr>
          <p:cNvPr id="14" name="evidence-vertical/drawing/b-raw-vertical/v-tick-30"/>
          <p:cNvSpPr/>
          <p:nvPr/>
        </p:nvSpPr>
        <p:spPr>
          <a:xfrm>
            <a:off x="742950" y="3889375"/>
            <a:ext cx="52387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30</a:t>
            </a:r>
            <a:endParaRPr lang="zh-CN" sz="1800" dirty="0"/>
          </a:p>
        </p:txBody>
      </p:sp>
      <p:sp>
        <p:nvSpPr>
          <p:cNvPr id="15" name="evidence-vertical/drawing/b-raw-vertical/v-grid-35/segment-1"/>
          <p:cNvSpPr/>
          <p:nvPr/>
        </p:nvSpPr>
        <p:spPr>
          <a:xfrm>
            <a:off x="1409700" y="3524250"/>
            <a:ext cx="5048250" cy="0"/>
          </a:xfrm>
          <a:prstGeom prst="line">
            <a:avLst/>
          </a:prstGeom>
          <a:noFill/>
          <a:ln w="11430">
            <a:solidFill>
              <a:srgbClr val="DCE3E9"/>
            </a:solidFill>
            <a:prstDash val="solid"/>
          </a:ln>
        </p:spPr>
      </p:sp>
      <p:sp>
        <p:nvSpPr>
          <p:cNvPr id="16" name="evidence-vertical/drawing/b-raw-vertical/v-tick-35"/>
          <p:cNvSpPr/>
          <p:nvPr/>
        </p:nvSpPr>
        <p:spPr>
          <a:xfrm>
            <a:off x="742950" y="3381375"/>
            <a:ext cx="52387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35</a:t>
            </a:r>
            <a:endParaRPr lang="zh-CN" sz="1800" dirty="0"/>
          </a:p>
        </p:txBody>
      </p:sp>
      <p:sp>
        <p:nvSpPr>
          <p:cNvPr id="17" name="evidence-vertical/drawing/b-raw-vertical/v-grid-40/segment-1"/>
          <p:cNvSpPr/>
          <p:nvPr/>
        </p:nvSpPr>
        <p:spPr>
          <a:xfrm>
            <a:off x="1409700" y="3016250"/>
            <a:ext cx="5048250" cy="0"/>
          </a:xfrm>
          <a:prstGeom prst="line">
            <a:avLst/>
          </a:prstGeom>
          <a:noFill/>
          <a:ln w="11430">
            <a:solidFill>
              <a:srgbClr val="DCE3E9"/>
            </a:solidFill>
            <a:prstDash val="solid"/>
          </a:ln>
        </p:spPr>
      </p:sp>
      <p:sp>
        <p:nvSpPr>
          <p:cNvPr id="18" name="evidence-vertical/drawing/b-raw-vertical/v-tick-40"/>
          <p:cNvSpPr/>
          <p:nvPr/>
        </p:nvSpPr>
        <p:spPr>
          <a:xfrm>
            <a:off x="742950" y="2873375"/>
            <a:ext cx="52387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40</a:t>
            </a:r>
            <a:endParaRPr lang="zh-CN" sz="1800" dirty="0"/>
          </a:p>
        </p:txBody>
      </p:sp>
      <p:sp>
        <p:nvSpPr>
          <p:cNvPr id="19" name="evidence-vertical/drawing/b-raw-vertical/v-grid-45/segment-1"/>
          <p:cNvSpPr/>
          <p:nvPr/>
        </p:nvSpPr>
        <p:spPr>
          <a:xfrm>
            <a:off x="1409700" y="2508250"/>
            <a:ext cx="5048250" cy="0"/>
          </a:xfrm>
          <a:prstGeom prst="line">
            <a:avLst/>
          </a:prstGeom>
          <a:noFill/>
          <a:ln w="11430">
            <a:solidFill>
              <a:srgbClr val="DCE3E9"/>
            </a:solidFill>
            <a:prstDash val="solid"/>
          </a:ln>
        </p:spPr>
      </p:sp>
      <p:sp>
        <p:nvSpPr>
          <p:cNvPr id="20" name="evidence-vertical/drawing/b-raw-vertical/v-tick-45"/>
          <p:cNvSpPr/>
          <p:nvPr/>
        </p:nvSpPr>
        <p:spPr>
          <a:xfrm>
            <a:off x="742950" y="2365375"/>
            <a:ext cx="52387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45</a:t>
            </a:r>
            <a:endParaRPr lang="zh-CN" sz="1800" dirty="0"/>
          </a:p>
        </p:txBody>
      </p:sp>
      <p:sp>
        <p:nvSpPr>
          <p:cNvPr id="21" name="evidence-vertical/drawing/b-raw-vertical/v-grid-50/segment-1"/>
          <p:cNvSpPr/>
          <p:nvPr/>
        </p:nvSpPr>
        <p:spPr>
          <a:xfrm>
            <a:off x="1409700" y="2000250"/>
            <a:ext cx="5048250" cy="0"/>
          </a:xfrm>
          <a:prstGeom prst="line">
            <a:avLst/>
          </a:prstGeom>
          <a:noFill/>
          <a:ln w="11430">
            <a:solidFill>
              <a:srgbClr val="DCE3E9"/>
            </a:solidFill>
            <a:prstDash val="solid"/>
          </a:ln>
        </p:spPr>
      </p:sp>
      <p:sp>
        <p:nvSpPr>
          <p:cNvPr id="22" name="evidence-vertical/drawing/b-raw-vertical/v-tick-50"/>
          <p:cNvSpPr/>
          <p:nvPr/>
        </p:nvSpPr>
        <p:spPr>
          <a:xfrm>
            <a:off x="742950" y="1857375"/>
            <a:ext cx="52387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50</a:t>
            </a:r>
            <a:endParaRPr lang="zh-CN" sz="1800" dirty="0"/>
          </a:p>
        </p:txBody>
      </p:sp>
      <p:sp>
        <p:nvSpPr>
          <p:cNvPr id="23" name="evidence-vertical/drawing/b-raw-vertical/v-B-con-01"/>
          <p:cNvSpPr/>
          <p:nvPr/>
        </p:nvSpPr>
        <p:spPr>
          <a:xfrm>
            <a:off x="2657475" y="3969304"/>
            <a:ext cx="95250" cy="95250"/>
          </a:xfrm>
          <a:prstGeom prst="ellipse">
            <a:avLst/>
          </a:prstGeom>
          <a:solidFill>
            <a:srgbClr val="254B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evidence-vertical/drawing/b-raw-vertical/v-B-con-02"/>
          <p:cNvSpPr/>
          <p:nvPr/>
        </p:nvSpPr>
        <p:spPr>
          <a:xfrm>
            <a:off x="2771775" y="3896771"/>
            <a:ext cx="95250" cy="95250"/>
          </a:xfrm>
          <a:prstGeom prst="ellipse">
            <a:avLst/>
          </a:prstGeom>
          <a:solidFill>
            <a:srgbClr val="254B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evidence-vertical/drawing/b-raw-vertical/v-B-con-03"/>
          <p:cNvSpPr/>
          <p:nvPr/>
        </p:nvSpPr>
        <p:spPr>
          <a:xfrm>
            <a:off x="2886075" y="3870396"/>
            <a:ext cx="95250" cy="95250"/>
          </a:xfrm>
          <a:prstGeom prst="ellipse">
            <a:avLst/>
          </a:prstGeom>
          <a:solidFill>
            <a:srgbClr val="254B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evidence-vertical/drawing/b-raw-vertical/v-B-con-04"/>
          <p:cNvSpPr/>
          <p:nvPr/>
        </p:nvSpPr>
        <p:spPr>
          <a:xfrm>
            <a:off x="3000375" y="4101831"/>
            <a:ext cx="95250" cy="95250"/>
          </a:xfrm>
          <a:prstGeom prst="ellipse">
            <a:avLst/>
          </a:prstGeom>
          <a:solidFill>
            <a:srgbClr val="254B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evidence-vertical/drawing/b-raw-vertical/v-B-con-05"/>
          <p:cNvSpPr/>
          <p:nvPr/>
        </p:nvSpPr>
        <p:spPr>
          <a:xfrm>
            <a:off x="3114675" y="3477082"/>
            <a:ext cx="95250" cy="95250"/>
          </a:xfrm>
          <a:prstGeom prst="ellipse">
            <a:avLst/>
          </a:prstGeom>
          <a:solidFill>
            <a:srgbClr val="254B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evidence-vertical/drawing/b-raw-vertical/v-B-con-06"/>
          <p:cNvSpPr/>
          <p:nvPr/>
        </p:nvSpPr>
        <p:spPr>
          <a:xfrm>
            <a:off x="2714625" y="4656516"/>
            <a:ext cx="95250" cy="95250"/>
          </a:xfrm>
          <a:prstGeom prst="ellipse">
            <a:avLst/>
          </a:prstGeom>
          <a:solidFill>
            <a:srgbClr val="254B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evidence-vertical/drawing/b-raw-vertical/v-B-con-07"/>
          <p:cNvSpPr/>
          <p:nvPr/>
        </p:nvSpPr>
        <p:spPr>
          <a:xfrm>
            <a:off x="2828925" y="4013073"/>
            <a:ext cx="95250" cy="95250"/>
          </a:xfrm>
          <a:prstGeom prst="ellipse">
            <a:avLst/>
          </a:prstGeom>
          <a:solidFill>
            <a:srgbClr val="254B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evidence-vertical/drawing/b-raw-vertical/v-B-con-08"/>
          <p:cNvSpPr/>
          <p:nvPr/>
        </p:nvSpPr>
        <p:spPr>
          <a:xfrm>
            <a:off x="2943225" y="3786261"/>
            <a:ext cx="95250" cy="95250"/>
          </a:xfrm>
          <a:prstGeom prst="ellipse">
            <a:avLst/>
          </a:prstGeom>
          <a:solidFill>
            <a:srgbClr val="254B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evidence-vertical/drawing/b-raw-vertical/v-B-con-09"/>
          <p:cNvSpPr/>
          <p:nvPr/>
        </p:nvSpPr>
        <p:spPr>
          <a:xfrm>
            <a:off x="3057525" y="3706454"/>
            <a:ext cx="95250" cy="95250"/>
          </a:xfrm>
          <a:prstGeom prst="ellipse">
            <a:avLst/>
          </a:prstGeom>
          <a:solidFill>
            <a:srgbClr val="254B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evidence-vertical/drawing/b-raw-vertical/v-B-con-10"/>
          <p:cNvSpPr/>
          <p:nvPr/>
        </p:nvSpPr>
        <p:spPr>
          <a:xfrm>
            <a:off x="2657475" y="4350131"/>
            <a:ext cx="95250" cy="95250"/>
          </a:xfrm>
          <a:prstGeom prst="ellipse">
            <a:avLst/>
          </a:prstGeom>
          <a:solidFill>
            <a:srgbClr val="254B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evidence-vertical/drawing/b-raw-vertical/v-B-con-11"/>
          <p:cNvSpPr/>
          <p:nvPr/>
        </p:nvSpPr>
        <p:spPr>
          <a:xfrm>
            <a:off x="2886075" y="3866271"/>
            <a:ext cx="95250" cy="95250"/>
          </a:xfrm>
          <a:prstGeom prst="ellipse">
            <a:avLst/>
          </a:prstGeom>
          <a:solidFill>
            <a:srgbClr val="254B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evidence-vertical/drawing/b-raw-vertical/v-B-con-12"/>
          <p:cNvSpPr/>
          <p:nvPr/>
        </p:nvSpPr>
        <p:spPr>
          <a:xfrm>
            <a:off x="3114675" y="3672398"/>
            <a:ext cx="95250" cy="95250"/>
          </a:xfrm>
          <a:prstGeom prst="ellipse">
            <a:avLst/>
          </a:prstGeom>
          <a:solidFill>
            <a:srgbClr val="254B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evidence-vertical/drawing/b-raw-vertical/v-mean-_u5e38_u89c4/segment-1"/>
          <p:cNvSpPr/>
          <p:nvPr/>
        </p:nvSpPr>
        <p:spPr>
          <a:xfrm>
            <a:off x="2438400" y="3994832"/>
            <a:ext cx="990600" cy="0"/>
          </a:xfrm>
          <a:prstGeom prst="line">
            <a:avLst/>
          </a:prstGeom>
          <a:noFill/>
          <a:ln w="28575">
            <a:solidFill>
              <a:srgbClr val="254B6E"/>
            </a:solidFill>
            <a:prstDash val="solid"/>
          </a:ln>
        </p:spPr>
      </p:sp>
      <p:sp>
        <p:nvSpPr>
          <p:cNvPr id="36" name="evidence-vertical/drawing/b-raw-vertical/v-name-_u5e38_u89c4"/>
          <p:cNvSpPr/>
          <p:nvPr/>
        </p:nvSpPr>
        <p:spPr>
          <a:xfrm>
            <a:off x="2266950" y="5200650"/>
            <a:ext cx="1333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254B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常规</a:t>
            </a:r>
            <a:endParaRPr lang="zh-CN" sz="2100" dirty="0"/>
          </a:p>
        </p:txBody>
      </p:sp>
      <p:sp>
        <p:nvSpPr>
          <p:cNvPr id="37" name="evidence-vertical/drawing/b-raw-vertical/v-B-mod-01"/>
          <p:cNvSpPr/>
          <p:nvPr/>
        </p:nvSpPr>
        <p:spPr>
          <a:xfrm>
            <a:off x="4943475" y="4559864"/>
            <a:ext cx="95250" cy="95250"/>
          </a:xfrm>
          <a:prstGeom prst="ellipse">
            <a:avLst/>
          </a:prstGeom>
          <a:solidFill>
            <a:srgbClr val="8667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evidence-vertical/drawing/b-raw-vertical/v-B-mod-02"/>
          <p:cNvSpPr/>
          <p:nvPr/>
        </p:nvSpPr>
        <p:spPr>
          <a:xfrm>
            <a:off x="5057775" y="3859870"/>
            <a:ext cx="95250" cy="95250"/>
          </a:xfrm>
          <a:prstGeom prst="ellipse">
            <a:avLst/>
          </a:prstGeom>
          <a:solidFill>
            <a:srgbClr val="8667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evidence-vertical/drawing/b-raw-vertical/v-B-mod-03"/>
          <p:cNvSpPr/>
          <p:nvPr/>
        </p:nvSpPr>
        <p:spPr>
          <a:xfrm>
            <a:off x="5172075" y="3828324"/>
            <a:ext cx="95250" cy="95250"/>
          </a:xfrm>
          <a:prstGeom prst="ellipse">
            <a:avLst/>
          </a:prstGeom>
          <a:solidFill>
            <a:srgbClr val="8667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evidence-vertical/drawing/b-raw-vertical/v-B-mod-04"/>
          <p:cNvSpPr/>
          <p:nvPr/>
        </p:nvSpPr>
        <p:spPr>
          <a:xfrm>
            <a:off x="5286375" y="2450140"/>
            <a:ext cx="95250" cy="95250"/>
          </a:xfrm>
          <a:prstGeom prst="ellipse">
            <a:avLst/>
          </a:prstGeom>
          <a:solidFill>
            <a:srgbClr val="8667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evidence-vertical/drawing/b-raw-vertical/v-B-mod-05"/>
          <p:cNvSpPr/>
          <p:nvPr/>
        </p:nvSpPr>
        <p:spPr>
          <a:xfrm>
            <a:off x="5400675" y="3606897"/>
            <a:ext cx="95250" cy="95250"/>
          </a:xfrm>
          <a:prstGeom prst="ellipse">
            <a:avLst/>
          </a:prstGeom>
          <a:solidFill>
            <a:srgbClr val="8667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evidence-vertical/drawing/b-raw-vertical/v-B-mod-06"/>
          <p:cNvSpPr/>
          <p:nvPr/>
        </p:nvSpPr>
        <p:spPr>
          <a:xfrm>
            <a:off x="5000625" y="3317641"/>
            <a:ext cx="95250" cy="95250"/>
          </a:xfrm>
          <a:prstGeom prst="ellipse">
            <a:avLst/>
          </a:prstGeom>
          <a:solidFill>
            <a:srgbClr val="8667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evidence-vertical/drawing/b-raw-vertical/v-B-mod-07"/>
          <p:cNvSpPr/>
          <p:nvPr/>
        </p:nvSpPr>
        <p:spPr>
          <a:xfrm>
            <a:off x="5114925" y="3186750"/>
            <a:ext cx="95250" cy="95250"/>
          </a:xfrm>
          <a:prstGeom prst="ellipse">
            <a:avLst/>
          </a:prstGeom>
          <a:solidFill>
            <a:srgbClr val="8667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evidence-vertical/drawing/b-raw-vertical/v-B-mod-08"/>
          <p:cNvSpPr/>
          <p:nvPr/>
        </p:nvSpPr>
        <p:spPr>
          <a:xfrm>
            <a:off x="5229225" y="3931559"/>
            <a:ext cx="95250" cy="95250"/>
          </a:xfrm>
          <a:prstGeom prst="ellipse">
            <a:avLst/>
          </a:prstGeom>
          <a:solidFill>
            <a:srgbClr val="8667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evidence-vertical/drawing/b-raw-vertical/v-B-mod-09"/>
          <p:cNvSpPr/>
          <p:nvPr/>
        </p:nvSpPr>
        <p:spPr>
          <a:xfrm>
            <a:off x="5343525" y="3790163"/>
            <a:ext cx="95250" cy="95250"/>
          </a:xfrm>
          <a:prstGeom prst="ellipse">
            <a:avLst/>
          </a:prstGeom>
          <a:solidFill>
            <a:srgbClr val="8667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evidence-vertical/drawing/b-raw-vertical/v-B-mod-10"/>
          <p:cNvSpPr/>
          <p:nvPr/>
        </p:nvSpPr>
        <p:spPr>
          <a:xfrm>
            <a:off x="4943475" y="3223468"/>
            <a:ext cx="95250" cy="95250"/>
          </a:xfrm>
          <a:prstGeom prst="ellipse">
            <a:avLst/>
          </a:prstGeom>
          <a:solidFill>
            <a:srgbClr val="8667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evidence-vertical/drawing/b-raw-vertical/v-B-mod-11"/>
          <p:cNvSpPr/>
          <p:nvPr/>
        </p:nvSpPr>
        <p:spPr>
          <a:xfrm>
            <a:off x="5172075" y="4237406"/>
            <a:ext cx="95250" cy="95250"/>
          </a:xfrm>
          <a:prstGeom prst="ellipse">
            <a:avLst/>
          </a:prstGeom>
          <a:solidFill>
            <a:srgbClr val="8667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evidence-vertical/drawing/b-raw-vertical/v-B-mod-12"/>
          <p:cNvSpPr/>
          <p:nvPr/>
        </p:nvSpPr>
        <p:spPr>
          <a:xfrm>
            <a:off x="5400675" y="4250543"/>
            <a:ext cx="95250" cy="95250"/>
          </a:xfrm>
          <a:prstGeom prst="ellipse">
            <a:avLst/>
          </a:prstGeom>
          <a:solidFill>
            <a:srgbClr val="8667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evidence-vertical/drawing/b-raw-vertical/v-mean-_u6539_u6027/segment-1"/>
          <p:cNvSpPr/>
          <p:nvPr/>
        </p:nvSpPr>
        <p:spPr>
          <a:xfrm>
            <a:off x="4724400" y="3734510"/>
            <a:ext cx="990600" cy="0"/>
          </a:xfrm>
          <a:prstGeom prst="line">
            <a:avLst/>
          </a:prstGeom>
          <a:noFill/>
          <a:ln w="28575">
            <a:solidFill>
              <a:srgbClr val="86673F"/>
            </a:solidFill>
            <a:prstDash val="solid"/>
          </a:ln>
        </p:spPr>
      </p:sp>
      <p:sp>
        <p:nvSpPr>
          <p:cNvPr id="50" name="evidence-vertical/drawing/b-raw-vertical/v-name-_u6539_u6027"/>
          <p:cNvSpPr/>
          <p:nvPr/>
        </p:nvSpPr>
        <p:spPr>
          <a:xfrm>
            <a:off x="4552950" y="5200650"/>
            <a:ext cx="1333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8667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改性</a:t>
            </a:r>
            <a:endParaRPr lang="zh-CN" sz="2100" dirty="0"/>
          </a:p>
        </p:txBody>
      </p:sp>
      <p:sp>
        <p:nvSpPr>
          <p:cNvPr id="51" name="evidence-vertical/drawing/b-raw-vertical/v-unit"/>
          <p:cNvSpPr/>
          <p:nvPr/>
        </p:nvSpPr>
        <p:spPr>
          <a:xfrm>
            <a:off x="457200" y="5648325"/>
            <a:ext cx="66675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失效寿命（万循环）</a:t>
            </a:r>
            <a:endParaRPr lang="zh-CN" sz="1800" dirty="0"/>
          </a:p>
        </p:txBody>
      </p:sp>
      <p:sp>
        <p:nvSpPr>
          <p:cNvPr id="52" name="evidence-vertical/drawing/v-summary/v-means"/>
          <p:cNvSpPr/>
          <p:nvPr/>
        </p:nvSpPr>
        <p:spPr>
          <a:xfrm>
            <a:off x="7391400" y="1333500"/>
            <a:ext cx="4343400" cy="723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常规 30.37 ± 3.10万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改性 32.93 ± 5.66万</a:t>
            </a:r>
            <a:endParaRPr lang="zh-CN" sz="2100" dirty="0"/>
          </a:p>
        </p:txBody>
      </p:sp>
      <p:sp>
        <p:nvSpPr>
          <p:cNvPr id="53" name="evidence-vertical/drawing/v-summary/v-sd"/>
          <p:cNvSpPr/>
          <p:nvPr/>
        </p:nvSpPr>
        <p:spPr>
          <a:xfrm>
            <a:off x="7391400" y="2124075"/>
            <a:ext cx="43434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均值 ± 样本SD；全部失效</a:t>
            </a:r>
            <a:endParaRPr lang="zh-CN" sz="1800" dirty="0"/>
          </a:p>
        </p:txBody>
      </p:sp>
      <p:sp>
        <p:nvSpPr>
          <p:cNvPr id="54" name="evidence-vertical/drawing/v-summary/v-diff"/>
          <p:cNvSpPr/>
          <p:nvPr/>
        </p:nvSpPr>
        <p:spPr>
          <a:xfrm>
            <a:off x="7391400" y="2590800"/>
            <a:ext cx="4343400" cy="704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254B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差值 +2.56万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254B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95%区间 [−1.37, 6.49]万</a:t>
            </a:r>
            <a:endParaRPr lang="zh-CN" sz="2100" dirty="0"/>
          </a:p>
        </p:txBody>
      </p:sp>
      <p:sp>
        <p:nvSpPr>
          <p:cNvPr id="55" name="evidence-vertical/drawing/v-summary/v-lim"/>
          <p:cNvSpPr/>
          <p:nvPr/>
        </p:nvSpPr>
        <p:spPr>
          <a:xfrm>
            <a:off x="7391400" y="3429000"/>
            <a:ext cx="43434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6D58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未随机分配；跨零不等效</a:t>
            </a:r>
            <a:endParaRPr lang="zh-CN" sz="2100" dirty="0"/>
          </a:p>
        </p:txBody>
      </p:sp>
      <p:sp>
        <p:nvSpPr>
          <p:cNvPr id="56" name="evidence-vertical/drawing/b-ci/ci-title"/>
          <p:cNvSpPr/>
          <p:nvPr/>
        </p:nvSpPr>
        <p:spPr>
          <a:xfrm>
            <a:off x="7391400" y="4010025"/>
            <a:ext cx="43434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均值差：改性 − 常规</a:t>
            </a:r>
            <a:endParaRPr lang="zh-CN" sz="2100" dirty="0"/>
          </a:p>
        </p:txBody>
      </p:sp>
      <p:sp>
        <p:nvSpPr>
          <p:cNvPr id="57" name="evidence-vertical/drawing/b-ci/ci-zero/segment-1"/>
          <p:cNvSpPr/>
          <p:nvPr/>
        </p:nvSpPr>
        <p:spPr>
          <a:xfrm>
            <a:off x="8765117" y="4429125"/>
            <a:ext cx="0" cy="685800"/>
          </a:xfrm>
          <a:prstGeom prst="line">
            <a:avLst/>
          </a:prstGeom>
          <a:noFill/>
          <a:ln w="11430">
            <a:solidFill>
              <a:srgbClr val="526170"/>
            </a:solidFill>
            <a:prstDash val="dash"/>
          </a:ln>
        </p:spPr>
      </p:sp>
      <p:sp>
        <p:nvSpPr>
          <p:cNvPr id="58" name="evidence-vertical/drawing/b-ci/ci-range/segment-1"/>
          <p:cNvSpPr/>
          <p:nvPr/>
        </p:nvSpPr>
        <p:spPr>
          <a:xfrm>
            <a:off x="8255499" y="4743450"/>
            <a:ext cx="2928265" cy="0"/>
          </a:xfrm>
          <a:prstGeom prst="line">
            <a:avLst/>
          </a:prstGeom>
          <a:noFill/>
          <a:ln w="28575">
            <a:solidFill>
              <a:srgbClr val="254B6E"/>
            </a:solidFill>
            <a:prstDash val="solid"/>
          </a:ln>
        </p:spPr>
      </p:sp>
      <p:sp>
        <p:nvSpPr>
          <p:cNvPr id="59" name="evidence-vertical/drawing/b-ci/ci-cap-low/segment-1"/>
          <p:cNvSpPr/>
          <p:nvPr/>
        </p:nvSpPr>
        <p:spPr>
          <a:xfrm>
            <a:off x="8255499" y="4648200"/>
            <a:ext cx="0" cy="190500"/>
          </a:xfrm>
          <a:prstGeom prst="line">
            <a:avLst/>
          </a:prstGeom>
          <a:noFill/>
          <a:ln w="19050">
            <a:solidFill>
              <a:srgbClr val="254B6E"/>
            </a:solidFill>
            <a:prstDash val="solid"/>
          </a:ln>
        </p:spPr>
      </p:sp>
      <p:sp>
        <p:nvSpPr>
          <p:cNvPr id="60" name="evidence-vertical/drawing/b-ci/ci-cap-high/segment-1"/>
          <p:cNvSpPr/>
          <p:nvPr/>
        </p:nvSpPr>
        <p:spPr>
          <a:xfrm>
            <a:off x="11183763" y="4648200"/>
            <a:ext cx="0" cy="190500"/>
          </a:xfrm>
          <a:prstGeom prst="line">
            <a:avLst/>
          </a:prstGeom>
          <a:noFill/>
          <a:ln w="19050">
            <a:solidFill>
              <a:srgbClr val="254B6E"/>
            </a:solidFill>
            <a:prstDash val="solid"/>
          </a:ln>
        </p:spPr>
      </p:sp>
      <p:sp>
        <p:nvSpPr>
          <p:cNvPr id="61" name="evidence-vertical/drawing/b-ci/ci-estimate"/>
          <p:cNvSpPr/>
          <p:nvPr/>
        </p:nvSpPr>
        <p:spPr>
          <a:xfrm>
            <a:off x="9652956" y="4676775"/>
            <a:ext cx="133350" cy="133350"/>
          </a:xfrm>
          <a:prstGeom prst="ellipse">
            <a:avLst/>
          </a:prstGeom>
          <a:solidFill>
            <a:srgbClr val="254B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evidence-vertical/drawing/b-ci/ci-tick--2/segment-1"/>
          <p:cNvSpPr/>
          <p:nvPr/>
        </p:nvSpPr>
        <p:spPr>
          <a:xfrm>
            <a:off x="8020050" y="5124450"/>
            <a:ext cx="0" cy="47625"/>
          </a:xfrm>
          <a:prstGeom prst="line">
            <a:avLst/>
          </a:prstGeom>
          <a:noFill/>
          <a:ln w="11430">
            <a:solidFill>
              <a:srgbClr val="BAC6D2"/>
            </a:solidFill>
            <a:prstDash val="solid"/>
          </a:ln>
        </p:spPr>
      </p:sp>
      <p:sp>
        <p:nvSpPr>
          <p:cNvPr id="63" name="evidence-vertical/drawing/b-ci/ci-label--2"/>
          <p:cNvSpPr/>
          <p:nvPr/>
        </p:nvSpPr>
        <p:spPr>
          <a:xfrm>
            <a:off x="7810500" y="5210175"/>
            <a:ext cx="4191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-2</a:t>
            </a:r>
            <a:endParaRPr lang="zh-CN" sz="1800" dirty="0"/>
          </a:p>
        </p:txBody>
      </p:sp>
      <p:sp>
        <p:nvSpPr>
          <p:cNvPr id="64" name="evidence-vertical/drawing/b-ci/ci-tick-0/segment-1"/>
          <p:cNvSpPr/>
          <p:nvPr/>
        </p:nvSpPr>
        <p:spPr>
          <a:xfrm>
            <a:off x="8765117" y="5124450"/>
            <a:ext cx="0" cy="47625"/>
          </a:xfrm>
          <a:prstGeom prst="line">
            <a:avLst/>
          </a:prstGeom>
          <a:noFill/>
          <a:ln w="11430">
            <a:solidFill>
              <a:srgbClr val="BAC6D2"/>
            </a:solidFill>
            <a:prstDash val="solid"/>
          </a:ln>
        </p:spPr>
      </p:sp>
      <p:sp>
        <p:nvSpPr>
          <p:cNvPr id="65" name="evidence-vertical/drawing/b-ci/ci-label-0"/>
          <p:cNvSpPr/>
          <p:nvPr/>
        </p:nvSpPr>
        <p:spPr>
          <a:xfrm>
            <a:off x="8555567" y="5210175"/>
            <a:ext cx="4191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</a:t>
            </a:r>
            <a:endParaRPr lang="zh-CN" sz="1800" dirty="0"/>
          </a:p>
        </p:txBody>
      </p:sp>
      <p:sp>
        <p:nvSpPr>
          <p:cNvPr id="66" name="evidence-vertical/drawing/b-ci/ci-tick-2/segment-1"/>
          <p:cNvSpPr/>
          <p:nvPr/>
        </p:nvSpPr>
        <p:spPr>
          <a:xfrm>
            <a:off x="9510183" y="5124450"/>
            <a:ext cx="0" cy="47625"/>
          </a:xfrm>
          <a:prstGeom prst="line">
            <a:avLst/>
          </a:prstGeom>
          <a:noFill/>
          <a:ln w="11430">
            <a:solidFill>
              <a:srgbClr val="BAC6D2"/>
            </a:solidFill>
            <a:prstDash val="solid"/>
          </a:ln>
        </p:spPr>
      </p:sp>
      <p:sp>
        <p:nvSpPr>
          <p:cNvPr id="67" name="evidence-vertical/drawing/b-ci/ci-label-2"/>
          <p:cNvSpPr/>
          <p:nvPr/>
        </p:nvSpPr>
        <p:spPr>
          <a:xfrm>
            <a:off x="9300633" y="5210175"/>
            <a:ext cx="4191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zh-CN" sz="1800" dirty="0"/>
          </a:p>
        </p:txBody>
      </p:sp>
      <p:sp>
        <p:nvSpPr>
          <p:cNvPr id="68" name="evidence-vertical/drawing/b-ci/ci-tick-4/segment-1"/>
          <p:cNvSpPr/>
          <p:nvPr/>
        </p:nvSpPr>
        <p:spPr>
          <a:xfrm>
            <a:off x="10255250" y="5124450"/>
            <a:ext cx="0" cy="47625"/>
          </a:xfrm>
          <a:prstGeom prst="line">
            <a:avLst/>
          </a:prstGeom>
          <a:noFill/>
          <a:ln w="11430">
            <a:solidFill>
              <a:srgbClr val="BAC6D2"/>
            </a:solidFill>
            <a:prstDash val="solid"/>
          </a:ln>
        </p:spPr>
      </p:sp>
      <p:sp>
        <p:nvSpPr>
          <p:cNvPr id="69" name="evidence-vertical/drawing/b-ci/ci-label-4"/>
          <p:cNvSpPr/>
          <p:nvPr/>
        </p:nvSpPr>
        <p:spPr>
          <a:xfrm>
            <a:off x="10045700" y="5210175"/>
            <a:ext cx="4191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zh-CN" sz="1800" dirty="0"/>
          </a:p>
        </p:txBody>
      </p:sp>
      <p:sp>
        <p:nvSpPr>
          <p:cNvPr id="70" name="evidence-vertical/drawing/b-ci/ci-tick-6/segment-1"/>
          <p:cNvSpPr/>
          <p:nvPr/>
        </p:nvSpPr>
        <p:spPr>
          <a:xfrm>
            <a:off x="11000317" y="5124450"/>
            <a:ext cx="0" cy="47625"/>
          </a:xfrm>
          <a:prstGeom prst="line">
            <a:avLst/>
          </a:prstGeom>
          <a:noFill/>
          <a:ln w="11430">
            <a:solidFill>
              <a:srgbClr val="BAC6D2"/>
            </a:solidFill>
            <a:prstDash val="solid"/>
          </a:ln>
        </p:spPr>
      </p:sp>
      <p:sp>
        <p:nvSpPr>
          <p:cNvPr id="71" name="evidence-vertical/drawing/b-ci/ci-label-6"/>
          <p:cNvSpPr/>
          <p:nvPr/>
        </p:nvSpPr>
        <p:spPr>
          <a:xfrm>
            <a:off x="10790767" y="5210175"/>
            <a:ext cx="4191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zh-CN" sz="1800" dirty="0"/>
          </a:p>
        </p:txBody>
      </p:sp>
      <p:sp>
        <p:nvSpPr>
          <p:cNvPr id="72" name="evidence-vertical/drawing/b-ci/ci-axis"/>
          <p:cNvSpPr/>
          <p:nvPr/>
        </p:nvSpPr>
        <p:spPr>
          <a:xfrm>
            <a:off x="7391400" y="5543550"/>
            <a:ext cx="43434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万循环；线段为Welch 95%区间</a:t>
            </a:r>
            <a:endParaRPr lang="zh-CN" sz="1800" dirty="0"/>
          </a:p>
        </p:txBody>
      </p:sp>
      <p:sp>
        <p:nvSpPr>
          <p:cNvPr id="73" name="evidence-vertical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[1] 未署名（原资料未提供） 2026  |  [2] 未署名（原资料未提供） 2026</a:t>
            </a:r>
            <a:endParaRPr lang="zh-CN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改性工艺的疲劳寿命差异：现有证据与下一步验证</dc:title>
  <dc:subject>现有记录能否支持改性工艺延长疲劳寿命，下一批怎样更可靠地验证？</dc:subject>
  <dc:creator>DSH Academic PPT</dc:creator>
  <cp:lastModifiedBy>DSH Academic PPT</cp:lastModifiedBy>
  <cp:revision>1</cp:revision>
  <dcterms:created xsi:type="dcterms:W3CDTF">2026-10-25T05:38:28Z</dcterms:created>
  <dcterms:modified xsi:type="dcterms:W3CDTF">2026-10-25T05:38:28Z</dcterms:modified>
</cp:coreProperties>
</file>