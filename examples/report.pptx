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任务数</c:v>
                </c:pt>
              </c:strCache>
            </c:strRef>
          </c:tx>
          <c:spPr>
            <a:solidFill>
              <a:srgbClr val="183B66"/>
            </a:solidFill>
            <a:effectLst/>
          </c:spPr>
          <c:invertIfNegative val="0"/>
          <c:dLbls>
            <c:numFmt formatCode="0.############" sourceLinked="0"/>
            <c:txPr>
              <a:bodyPr/>
              <a:lstStyle/>
              <a:p>
                <a:pPr>
                  <a:defRPr b="0" i="0" strike="noStrike" sz="1650" u="none">
                    <a:solidFill>
                      <a:srgbClr val="171C22"/>
                    </a:solidFill>
                    <a:latin typeface="Noto Sans CJK S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83B6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55C7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正确</c:v>
                  </c:pt>
                  <c:pt idx="1">
                    <c:v>失败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</c:v>
                </c:pt>
                <c:pt idx="1">
                  <c:v>3</c:v>
                </c:pt>
              </c:numCache>
            </c:numRef>
          </c:val>
        </c:ser>
        <c:dLbls>
          <c:numFmt formatCode="0.############" sourceLinked="0"/>
          <c:txPr>
            <a:bodyPr/>
            <a:lstStyle/>
            <a:p>
              <a:pPr>
                <a:defRPr b="0" i="0" strike="noStrike" sz="1650" u="none">
                  <a:solidFill>
                    <a:srgbClr val="171C22"/>
                  </a:solidFill>
                  <a:latin typeface="Noto Sans CJK S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5CFDA"/>
            </a:solidFill>
            <a:prstDash val="solid"/>
            <a:round/>
          </a:ln>
        </c:spPr>
        <c:txPr>
          <a:bodyPr/>
          <a:lstStyle/>
          <a:p>
            <a:pPr>
              <a:defRPr sz="1575" b="0" i="0" u="none" strike="noStrike">
                <a:solidFill>
                  <a:srgbClr val="171C22"/>
                </a:solidFill>
                <a:latin typeface="Noto Sans CJK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12700" cap="flat">
              <a:solidFill>
                <a:srgbClr val="C5CFD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25" b="0" i="0" u="none" strike="noStrike">
                    <a:solidFill>
                      <a:srgbClr val="4F5D6A"/>
                    </a:solidFill>
                    <a:latin typeface="Noto Sans CJK SC"/>
                  </a:defRPr>
                </a:pPr>
                <a:r>
                  <a:rPr sz="1425" b="0" i="0" u="none" strike="noStrike">
                    <a:solidFill>
                      <a:srgbClr val="4F5D6A"/>
                    </a:solidFill>
                    <a:latin typeface="Noto Sans CJK SC"/>
                  </a:rPr>
                  <a:t>项任务（n = 20）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5CFDA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4F5D6A"/>
                </a:solidFill>
                <a:latin typeface="Noto Sans CJK SC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今天精读 Chen 等发表于 Nature Communications 的 PhenoAssistant。研究面向一个实际问题：植物图像分析往往需要连续切换模型、表型计算、统计和编程工具。系统让用户用自然语言描述任务，由中央 manager 编排这些专门工具。右侧概括问题、改变与评价范围，左边直接使用论文任务一的原图。汇报先解释系统结构和三个案例，再区分几种评价口径，最后讨论从读图错误出发的可检验方案。这是一篇论文的研究讨论，结论范围限定为表型分析。
论文：Chen F., Stogiannidis I., Wood A., et al. A conversational multi-agent AI system for automated plant phenotyping. Nature Communications 17, 6391 (2026). DOI: 10.1038/s41467-026-71090-y. https://www.nature.com/articles/s41467-026-71090-y
原文位置：论文精读 · Chen et al., Nature Communications, 2026
原图来源：P1
Fig. 3
任务 1 的输入植株照片
Chen et al., 2026 · CC BY 4.0
https://www.nature.com/articles/s41467-026-71090-y/figures/3
Version of Record · 2026-07-16
CC BY 4.0
只显示任务1中的四幅输入植株照片；完整原始高清图保留。此图说明输入对象，不供定量读数。
参考文献（完整题名）
P1 · A conversational multi-agent AI system for automated plant phenotyping · Nature Communications 17, 6391 · 2026 · 10.1038/s41467-026-71090-y · Version of Record · 2026-07-16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系统的核心是一个中央 manager，角色分配预先定义。用户提供任务和数据，manager 选工具并组织参数。左路是视觉模型与表型计算，负责把图像转成测量值；中路是统计、表格、绘图和代码代理；右路是文献 RAG。输出可以是 CSV、图、解释或保存的流程。用户仍能调整计划和参数。因而系统评价要区分两个层次：是否选对工具，以及执行后的结果是否正确。图为依据 Design 和 Methods 的概念重绘，未复制含第三方图标的 Figure 1。
论文：Chen F., Stogiannidis I., Wood A., et al. A conversational multi-agent AI system for automated plant phenotyping. Nature Communications 17, 6391 (2026). DOI: 10.1038/s41467-026-71090-y. https://www.nature.com/articles/s41467-026-71090-y
原文位置：系统设计 · Design / Methods
参考文献（完整题名）
P1 · A conversational multi-agent AI system for automated plant phenotyping · Nature Communications 17, 6391 · 2026 · 10.1038/s41467-026-71090-y · Version of Record · 2026-07-16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第一个案例使用 Phenotiki 数据，关注不同生态型的生长模式。共有二十四株植物、五个生态型，连续二十六天每十二小时采图，总计一千二百四十八幅。这里最重要的是区分植株与观测：同一株在不同时间点重复出现，图像量不能当成独立生物学样本量。Col-0、ctr1、ein2.1 和 pgm 各五株，adh1 四株。后续均值曲线、标准差和重复测量检验都必须依据这个层级理解。这一案例复现既有数据的分析流程，没有设置新的栽培管理干预。
论文：Chen F., Stogiannidis I., Wood A., et al. A conversational multi-agent AI system for automated plant phenotyping. Nature Communications 17, 6391 (2026). DOI: 10.1038/s41467-026-71090-y. https://www.nature.com/articles/s41467-026-71090-y
原文位置：案例 1 · 数据与实验单位
参考文献（完整题名）
P1 · A conversational multi-agent AI system for automated plant phenotyping · Nature Communications 17, 6391 · 2026 · 10.1038/s41467-026-71090-y · Version of Record · 2026-07-16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本页使用作者官方代码仓库保存的独立 PLA 输出，对应正文 Fig. 3 任务二。横轴是播种后天数，纵轴是投影叶面积。此独立图轴没有印出单位；平方厘米来自 Fig. 3 的 CSV 表头，不能误称是图轴原文。不同颜色对应不同生态型，阴影表示标准差。随生长推进，各组的平均曲线逐渐分离。这个图提供描述性证据，曲线间的视觉距离或阴影重叠都不能代替统计检验。下一页再结合作者的重复测量模型理解生态型分组。完整原始图和裁切范围保留在配套资产中。
出处：Chen et al., 2026, Fig. 3, https://www.nature.com/articles/s41467-026-71090-y
原图来源：P1
Fig. 3 对应的作者输出
PLA 生长曲线
作者 PhenoAssistant Case1 的独立 PLA 原始输出，对应 Chen et al. Fig. 3；MIT，Copyright 2025 Feng Chen。
https://raw.githubusercontent.com/vios-s/PhenoAssistant/aff85512073d9629dfcd501474641eb1919fbe87/results/Case1/pla_plot.png
PhenoAssistant author repository aff85512073d9629dfcd501474641eb1919fbe87
MIT · Copyright 2025 Feng Chen · see LICENSE-PhenoAssistant.txt
显示作者独立原始输出，裁去图外围空白；完整保留标题、横纵轴、五生态型图例和标准差带。没有重新计算或重画曲线。
辅助图例（据原图转录，标签与颜色须核对）：
adh1: #1F77B4
col0: #FF7F0E
ctr: #2CA02C
ein2: #D62728
pgm: #9467BD
参考文献（完整题名）
P1 · A conversational multi-agent AI system for automated plant phenotyping · Nature Communications 17, 6391 · 2026 · 10.1038/s41467-026-71090-y · Version of Record · 2026-07-16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原图任务四进一步说明统计模型。因变量是 PLA，组内因素是播种后天数，组间因素是生态型。系统调用统计工具进行混合设计重复测量 ANOVA，再用 Tukey–Kramer 进行事后比较。结果汇总将 ein2.1 和 Col-0 归为较大，adh1 与 pgm 归为中等，ctr 归为较小，并报告时间与生态型的交互。这个结论针对当前数据及检验设计，同时与既有 Phenotiki 研究对照。统计工具能返回一个结果，并不免除研究者检查模型假设、分组名称和原始数据的责任。
论文：Chen F., Stogiannidis I., Wood A., et al. A conversational multi-agent AI system for automated plant phenotyping. Nature Communications 17, 6391 (2026). DOI: 10.1038/s41467-026-71090-y. https://www.nature.com/articles/s41467-026-71090-y
原文位置：案例 1 · Fig. 3 任务 4
原图来源：P1
Fig. 3
统计结果的 Summary 分组
Chen et al., 2026 · CC BY 4.0
https://www.nature.com/articles/s41467-026-71090-y/figures/3
Version of Record · 2026-07-16
CC BY 4.0
只展示任务4的结果汇总段落，保留交互说明、Tukey–Kramer 分组及全部生态型名称；完整原图仍在文件中。
参考文献（完整题名）
P1 · A conversational multi-agent AI system for automated plant phenotyping · Nature Communications 17, 6391 · 2026 · 10.1038/s41467-026-71090-y · Version of Record · 2026-07-16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第二个案例研究马铃薯叶片。作者提供三十二幅图像和人工叶面积、干重标注，用 leaf-only SAM 提取投影叶面积。因为 Pearson 相关分析没有预先定义为固定工具，系统让代码代理生成并执行计算。下方是原图结果区域：人工叶面积与干重的相关系数为零点八九一一，PLA 与干重为零点七五七七。后一项提示图像表型与干重存在关联，也暴露测量替代的误差。这里不能把相关系数当作预测准确率，或仅凭两个数的差别宣称显著差异；原图没有给出该差异的正式检验。
论文：Chen F., Stogiannidis I., Wood A., et al. A conversational multi-agent AI system for automated plant phenotyping. Nature Communications 17, 6391 (2026). DOI: 10.1038/s41467-026-71090-y. https://www.nature.com/articles/s41467-026-71090-y
原文位置：案例 2 · 32 幅图像 / Fig. 4
原图来源：P1
Fig. 4
两项 Pearson 相关系数结果
Chen et al., 2026 · CC BY 4.0
https://www.nature.com/articles/s41467-026-71090-y/figures/4
Version of Record · 2026-07-16
CC BY 4.0
放大结果摘要中的两项相关系数及其比较段落；未显示其后重复解释段落。完整出版方原图保留，未改写数字。
参考文献（完整题名）
P1 · A conversational multi-agent AI system for automated plant phenotyping · Nature Communications 17, 6391 · 2026 · 10.1038/s41467-026-71090-y · Version of Record · 2026-07-16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个案例补充了工具库没有现成模型时的处理方式。任务是从冬小麦田间图像识别营养缺乏。系统先判断这是分类任务，要求带标注的数据，再进行数据预处理、训练或微调、评价，最后把模型保存进模型库。论文支持全量微调和 LoRA 等方式。这展示了工具库的扩展路径，但需要明确：田间采集图像是数据来源，模型训练与验证属于算法评价，不能直接表述为系统已经在田间闭环优化施肥。跨地点、季节和成像条件的独立测试仍是另一层问题。
论文：Chen F., Stogiannidis I., Wood A., et al. A conversational multi-agent AI system for automated plant phenotyping. Nature Communications 17, 6391 (2026). DOI: 10.1038/s41467-026-71090-y. https://www.nature.com/articles/s41467-026-71090-y
原文位置：案例 3 · 冬小麦营养缺乏识别
参考文献（完整题名）
P1 · A conversational multi-agent AI system for automated plant phenotyping · Nature Communications 17, 6391 · 2026 · 10.1038/s41467-026-71090-y · Version of Record · 2026-07-16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接下来分开看评价对象。表一评价工具链计划：让系统为二十项任务输出工具顺序和参数，由 GPT-4o 依据工具定义评分，评价阶段不执行工具。四个维度是整体链、工具是否存在、工具适用性和参数。增加同样基于 GPT-4o 的 critic 后，报告平均分从四点五五变为四点六六。适用性这一列从四点六五到四点九零。这个比较说明计划的模型评分发生变化，但它不是任务成功率，也没有在这里直接证明执行结果更准确。评判模型与 critic 的关系也是后续独立评价值得考察的条件。
论文：Chen F., Stogiannidis I., Wood A., et al. A conversational multi-agent AI system for automated plant phenotyping. Nature Communications 17, 6391 (2026). DOI: 10.1038/s41467-026-71090-y. https://www.nature.com/articles/s41467-026-71090-y
原文位置：评价 1 · Table 1 / 工具选择任务
参考文献（完整题名）
P1 · A conversational multi-agent AI system for automated plant phenotyping · Nature Communications 17, 6391 · 2026 · 10.1038/s41467-026-71090-y · Version of Record · 2026-07-16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模型选择还分成两个层次。第一组是五十项任务，考察系统能否选择分割、分类或回归这样的模型类型。第二组是二十项任务，考察具体模型匹配，其中十五项有合适模型，五项没有；系统需要识别没有合适模型的情况。作者报告这两组全部正确。数据分析是另外二十项真实数据任务，只报告十七项正确。所以几种数字不能混成一个总准确率，更不能用路由正确代替最终结果正确。论文还说明评价过程中没有实时人工反馈，事后人工判定与运行时人工帮助需要分清。
论文：Chen F., Stogiannidis I., Wood A., et al. A conversational multi-agent AI system for automated plant phenotyping. Nature Communications 17, 6391 (2026). DOI: 10.1038/s41467-026-71090-y. https://www.nature.com/articles/s41467-026-71090-y
原文位置：评价 2 · 模型选择与结果检查
参考文献（完整题名）
P1 · A conversational multi-agent AI system for automated plant phenotyping · Nature Communications 17, 6391 · 2026 · 10.1038/s41467-026-71090-y · Version of Record · 2026-07-16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把数据分析的任务计数单独呈现。与工具链评分不同，这里执行分析并由人检查输出，二十项中十七项正确，三项失败。图是依据原文计数绘制的可编辑数据图，不添加置信区间或未经报告的精度。这个结果支持部分分析任务可由系统完成，也清楚显示剩余错误。分母是任务，不是田间重复试验、植株或农业操作。三项失败集中在细粒度读图，提示下一步可以研究数值核对和适当人工介入，而不必笼统追求更多代理。
论文：Chen F., Stogiannidis I., Wood A., et al. A conversational multi-agent AI system for automated plant phenotyping. Nature Communications 17, 6391 (2026). DOI: 10.1038/s41467-026-71090-y. https://www.nature.com/articles/s41467-026-71090-y
原文位置：评价 3 · 实际数据分析任务
参考文献（完整题名）
P1 · A conversational multi-agent AI system for automated plant phenotyping · Nature Communications 17, 6391 · 2026 · 10.1038/s41467-026-71090-y · Version of Record · 2026-07-16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失败类型看，误差可能发生在表型数据已经生成之后。数据先编码为统计图，图表代理再从图像读取细节，最后形成语言答案。轴、图例和时间点的对应关系在这一步仍可能出错，因此工具调用完成不等于数值解释正确。此处重绘的是依据论文数据链形成的机制分析，没有虚构某项失败的原始回答。一个具体切入口是让关键数字回到 CSV 等结构化源数据，而不是依赖图像估读；同时记录来源与时间点，便于查错。该建议仍要在同等条件下验证。
论文：Chen F., Stogiannidis I., Wood A., et al. A conversational multi-agent AI system for automated plant phenotyping. Nature Communications 17, 6391 (2026). DOI: 10.1038/s41467-026-71090-y. https://www.nature.com/articles/s41467-026-71090-y
原文位置：失败机制分析 · 根据原文任务链重绘
参考文献（完整题名）
P1 · A conversational multi-agent AI system for automated plant phenotyping · Nature Communications 17, 6391 · 2026 · 10.1038/s41467-026-71090-y · Version of Record · 2026-07-16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全文合起来，可以区分几类限制。工具和模型库决定当前支持哪些输入；作者构造的任务集还需要外部任务和重复运行来验证；若要将改进归因于某个编排组件，需要同工具与同预算的消融；若要声称改善栽培，则必须有施肥、灌溉等处理以及实际农艺终点。另一个不可省略的条件是模型版本：官方仓库说明案例和评价采用 Azure 上的 GPT-4o，版本为二零二四年八月六日。这些是原文实验结果，不是 DeepSeek 或这个汇报插件的测试成绩。
论文：Chen F., Stogiannidis I., Wood A., et al. A conversational multi-agent AI system for automated plant phenotyping. Nature Communications 17, 6391 (2026). DOI: 10.1038/s41467-026-71090-y. https://www.nature.com/articles/s41467-026-71090-y
原文位置：综合讨论 · Discussion / Methods / 官方代码
参考文献（完整题名）
P1 · A conversational multi-agent AI system for automated plant phenotyping · Nature Communications 17, 6391 · 2026 · 10.1038/s41467-026-71090-y · Version of Record · 2026-07-16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据此提出可证伪的假说：当两组能够访问完全相同的源数据、图像和工具，且模型与预算相同，强制核对关键读数能否降低错误。比较同一个 manager 的常规策略和增加核验要求的策略，使用配对留出任务、多次运行及盲评。两组都有 CSV，不能只给干预组额外真值。主要终点是预先定义的关键错误率，同时报告复核比例、耗时和核验调用成本。先做试验估计方差，再确定样本量。如果错误没有下降，或优势只在额外信息、更多预算或更多人工时出现，这个预算受限的假说就不获支持。这是一份待实施的研究设计，没有改善幅度或实验结果。
论文：Chen F., Stogiannidis I., Wood A., et al. A conversational multi-agent AI system for automated plant phenotyping. Nature Communications 17, 6391 (2026). DOI: 10.1038/s41467-026-71090-y. https://www.nature.com/articles/s41467-026-71090-y
原文位置：研究提议 · 尚未实施
参考文献（完整题名）
P1 · A conversational multi-agent AI system for automated plant phenotyping · Nature Communications 17, 6391 · 2026 · 10.1038/s41467-026-71090-y · Version of Record · 2026-07-16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篇论文的进展是把植物专用模型与分析工具组织成可交互、可复用的表型工作流。案例、工具链评分和实际任务正确率提供了不同层次的证据。细粒度读图错误则给出了一个具体研究方向：在共同资源条件下检验可追溯数值核验。参考文献、正式版本、原图授权和官方代码均在这里与配套材料中保留，便于进一步讨论或复现。
论文：Chen F., Stogiannidis I., Wood A., et al. A conversational multi-agent AI system for automated plant phenotyping. Nature Communications 17, 6391 (2026). DOI: 10.1038/s41467-026-71090-y. https://www.nature.com/articles/s41467-026-71090-y
参考文献（完整题名）
P1 · A conversational multi-agent AI system for automated plant phenotyping · Nature Communications 17, 6391 · 2026 · 10.1038/s41467-026-71090-y · Version of Record · 2026-07-16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1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83B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01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/ 14</a:t>
            </a:r>
            <a:endParaRPr lang="zh-CN" sz="1050" dirty="0"/>
          </a:p>
        </p:txBody>
      </p:sp>
      <p:sp>
        <p:nvSpPr>
          <p:cNvPr id="4" name="S01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PhenoAssistant：植物表型分析的智能体工作流</a:t>
            </a:r>
            <a:endParaRPr lang="zh-CN" sz="3000" dirty="0"/>
          </a:p>
        </p:txBody>
      </p:sp>
      <p:sp>
        <p:nvSpPr>
          <p:cNvPr id="5" name="S01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C5CFDA"/>
            </a:solidFill>
            <a:prstDash val="solid"/>
          </a:ln>
        </p:spPr>
      </p:sp>
      <p:sp>
        <p:nvSpPr>
          <p:cNvPr id="6" name="S01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83B66"/>
            </a:solidFill>
            <a:prstDash val="solid"/>
          </a:ln>
        </p:spPr>
      </p:sp>
      <p:sp>
        <p:nvSpPr>
          <p:cNvPr id="7" name="S01/panel:0:frame"/>
          <p:cNvSpPr/>
          <p:nvPr/>
        </p:nvSpPr>
        <p:spPr>
          <a:xfrm>
            <a:off x="457200" y="2373916"/>
            <a:ext cx="6496050" cy="3659791"/>
          </a:xfrm>
          <a:prstGeom prst="rect">
            <a:avLst/>
          </a:prstGeom>
          <a:solidFill>
            <a:srgbClr val="FFFFFF"/>
          </a:solidFill>
          <a:ln w="10478">
            <a:solidFill>
              <a:srgbClr val="C5CFDA"/>
            </a:solidFill>
            <a:prstDash val="solid"/>
          </a:ln>
        </p:spPr>
      </p:sp>
      <p:sp>
        <p:nvSpPr>
          <p:cNvPr id="8" name="S01/panel:0:heading-fill"/>
          <p:cNvSpPr/>
          <p:nvPr/>
        </p:nvSpPr>
        <p:spPr>
          <a:xfrm>
            <a:off x="466725" y="2383441"/>
            <a:ext cx="6477000" cy="381000"/>
          </a:xfrm>
          <a:prstGeom prst="rect">
            <a:avLst/>
          </a:prstGeom>
          <a:solidFill>
            <a:srgbClr val="E9F4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01/panel:0:heading-rule"/>
          <p:cNvSpPr/>
          <p:nvPr/>
        </p:nvSpPr>
        <p:spPr>
          <a:xfrm>
            <a:off x="457200" y="2764441"/>
            <a:ext cx="6496050" cy="0"/>
          </a:xfrm>
          <a:prstGeom prst="line">
            <a:avLst/>
          </a:prstGeom>
          <a:noFill/>
          <a:ln w="9525">
            <a:solidFill>
              <a:srgbClr val="C5CFDA"/>
            </a:solidFill>
            <a:prstDash val="solid"/>
          </a:ln>
        </p:spPr>
      </p:sp>
      <p:sp>
        <p:nvSpPr>
          <p:cNvPr id="10" name="S01/panel:0:title"/>
          <p:cNvSpPr/>
          <p:nvPr/>
        </p:nvSpPr>
        <p:spPr>
          <a:xfrm>
            <a:off x="581025" y="2421541"/>
            <a:ext cx="6248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输入对象：拟南芥顶视图</a:t>
            </a:r>
            <a:endParaRPr lang="zh-CN" sz="1950" dirty="0"/>
          </a:p>
        </p:txBody>
      </p:sp>
      <p:sp>
        <p:nvSpPr>
          <p:cNvPr id="11" name="S01/paper-title"/>
          <p:cNvSpPr/>
          <p:nvPr/>
        </p:nvSpPr>
        <p:spPr>
          <a:xfrm>
            <a:off x="457200" y="1028700"/>
            <a:ext cx="112776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zh-CN" altLang="en-US" sz="1875" b="1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conversational multi-agent AI system for automated plant phenotyping</a:t>
            </a:r>
            <a:endParaRPr lang="zh-CN" sz="1875" dirty="0"/>
          </a:p>
        </p:txBody>
      </p:sp>
      <p:sp>
        <p:nvSpPr>
          <p:cNvPr id="12" name="S01/paper-bibliography"/>
          <p:cNvSpPr/>
          <p:nvPr/>
        </p:nvSpPr>
        <p:spPr>
          <a:xfrm>
            <a:off x="457200" y="1371600"/>
            <a:ext cx="11277600" cy="844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6"/>
              </a:lnSpc>
              <a:buNone/>
            </a:pPr>
            <a:r>
              <a:rPr lang="zh-CN" altLang="en-US" sz="1275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Chen F., Stogiannidis I., Wood A., et al. · Nature Communications 17, 6391 · 2026 · DOI: 10.1038/s41467-026-71090-y</a:t>
            </a:r>
            <a:endParaRPr lang="zh-CN" sz="1275" dirty="0"/>
          </a:p>
        </p:txBody>
      </p:sp>
      <p:sp>
        <p:nvSpPr>
          <p:cNvPr id="13" name="S01/figure:0:paper"/>
          <p:cNvSpPr/>
          <p:nvPr/>
        </p:nvSpPr>
        <p:spPr>
          <a:xfrm>
            <a:off x="609600" y="3352654"/>
            <a:ext cx="6191250" cy="1676025"/>
          </a:xfrm>
          <a:prstGeom prst="rect">
            <a:avLst/>
          </a:prstGeom>
          <a:solidFill>
            <a:srgbClr val="FFFFFF"/>
          </a:solidFill>
          <a:ln w="7620">
            <a:solidFill>
              <a:srgbClr val="CCD4DD"/>
            </a:solidFill>
            <a:prstDash val="solid"/>
          </a:ln>
          <a:effectLst>
            <a:outerShdw sx="100000" sy="100000" kx="0" ky="0" algn="bl" rotWithShape="0" blurRad="28575" dist="19050" dir="5400000">
              <a:srgbClr val="263B50">
                <a:alpha val="12000"/>
              </a:srgbClr>
            </a:outerShdw>
          </a:effectLst>
        </p:spPr>
      </p:sp>
      <p:pic>
        <p:nvPicPr>
          <p:cNvPr id="14" name="S01/figure:0:image" descr="Fig. 3 局部 · Chen et al., 2026 · CC BY 4.0">    </p:cNvPr>
          <p:cNvPicPr>
            <a:picLocks noChangeAspect="1"/>
          </p:cNvPicPr>
          <p:nvPr/>
        </p:nvPicPr>
        <p:blipFill>
          <a:blip r:embed="rId1"/>
          <a:srcRect l="53285" r="12409" t="6774" b="87976"/>
          <a:stretch/>
        </p:blipFill>
        <p:spPr>
          <a:xfrm>
            <a:off x="638175" y="3381229"/>
            <a:ext cx="6134100" cy="1618875"/>
          </a:xfrm>
          <a:prstGeom prst="rect">
            <a:avLst/>
          </a:prstGeom>
        </p:spPr>
      </p:pic>
      <p:sp>
        <p:nvSpPr>
          <p:cNvPr id="15" name="S01/figure:0:caption"/>
          <p:cNvSpPr/>
          <p:nvPr/>
        </p:nvSpPr>
        <p:spPr>
          <a:xfrm>
            <a:off x="590550" y="5618321"/>
            <a:ext cx="62293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Fig. 3 局部 · Chen et al., 2026 · CC BY 4.0</a:t>
            </a:r>
            <a:endParaRPr lang="zh-CN" sz="1350" dirty="0"/>
          </a:p>
        </p:txBody>
      </p:sp>
      <p:sp>
        <p:nvSpPr>
          <p:cNvPr id="16" name="S01/card/question/base-rule"/>
          <p:cNvSpPr/>
          <p:nvPr/>
        </p:nvSpPr>
        <p:spPr>
          <a:xfrm>
            <a:off x="7200900" y="3541109"/>
            <a:ext cx="4533900" cy="0"/>
          </a:xfrm>
          <a:prstGeom prst="line">
            <a:avLst/>
          </a:prstGeom>
          <a:noFill/>
          <a:ln w="10478">
            <a:solidFill>
              <a:srgbClr val="C5CFDA"/>
            </a:solidFill>
            <a:prstDash val="solid"/>
          </a:ln>
        </p:spPr>
      </p:sp>
      <p:sp>
        <p:nvSpPr>
          <p:cNvPr id="17" name="S01/card/question/side-mark"/>
          <p:cNvSpPr/>
          <p:nvPr/>
        </p:nvSpPr>
        <p:spPr>
          <a:xfrm>
            <a:off x="7200900" y="2392966"/>
            <a:ext cx="47625" cy="295275"/>
          </a:xfrm>
          <a:prstGeom prst="rect">
            <a:avLst/>
          </a:prstGeom>
          <a:solidFill>
            <a:srgbClr val="183B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01/card/question/title"/>
          <p:cNvSpPr/>
          <p:nvPr/>
        </p:nvSpPr>
        <p:spPr>
          <a:xfrm>
            <a:off x="7353300" y="2392966"/>
            <a:ext cx="4381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83B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研究问题</a:t>
            </a:r>
            <a:endParaRPr lang="zh-CN" sz="1950" dirty="0"/>
          </a:p>
        </p:txBody>
      </p:sp>
      <p:sp>
        <p:nvSpPr>
          <p:cNvPr id="19" name="S01/card/question/body"/>
          <p:cNvSpPr/>
          <p:nvPr/>
        </p:nvSpPr>
        <p:spPr>
          <a:xfrm>
            <a:off x="7353300" y="2812066"/>
            <a:ext cx="4381500" cy="633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183B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视觉、统计与编程工具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彼此分散，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连续分析需要串联多个步骤。</a:t>
            </a:r>
            <a:endParaRPr lang="zh-CN" sz="1800" dirty="0"/>
          </a:p>
        </p:txBody>
      </p:sp>
      <p:sp>
        <p:nvSpPr>
          <p:cNvPr id="20" name="S01/card/change/title"/>
          <p:cNvSpPr/>
          <p:nvPr/>
        </p:nvSpPr>
        <p:spPr>
          <a:xfrm>
            <a:off x="7200900" y="3678841"/>
            <a:ext cx="45339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系统改变</a:t>
            </a:r>
            <a:endParaRPr lang="zh-CN" sz="1950" dirty="0"/>
          </a:p>
        </p:txBody>
      </p:sp>
      <p:sp>
        <p:nvSpPr>
          <p:cNvPr id="21" name="S01/card/change/body"/>
          <p:cNvSpPr/>
          <p:nvPr/>
        </p:nvSpPr>
        <p:spPr>
          <a:xfrm>
            <a:off x="7200900" y="4059841"/>
            <a:ext cx="4533900" cy="669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Manager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串联专用工具，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保存可重复执行的流程。</a:t>
            </a:r>
            <a:endParaRPr lang="zh-CN" sz="1800" dirty="0"/>
          </a:p>
        </p:txBody>
      </p:sp>
      <p:sp>
        <p:nvSpPr>
          <p:cNvPr id="22" name="S01/card/scope/heading-rule"/>
          <p:cNvSpPr/>
          <p:nvPr/>
        </p:nvSpPr>
        <p:spPr>
          <a:xfrm>
            <a:off x="7200900" y="5248275"/>
            <a:ext cx="4533900" cy="0"/>
          </a:xfrm>
          <a:prstGeom prst="line">
            <a:avLst/>
          </a:prstGeom>
          <a:noFill/>
          <a:ln w="9525">
            <a:solidFill>
              <a:srgbClr val="C5CFDA"/>
            </a:solidFill>
            <a:prstDash val="solid"/>
          </a:ln>
        </p:spPr>
      </p:sp>
      <p:sp>
        <p:nvSpPr>
          <p:cNvPr id="23" name="S01/card/scope/heading-mark"/>
          <p:cNvSpPr/>
          <p:nvPr/>
        </p:nvSpPr>
        <p:spPr>
          <a:xfrm>
            <a:off x="7200900" y="5248275"/>
            <a:ext cx="342900" cy="0"/>
          </a:xfrm>
          <a:prstGeom prst="line">
            <a:avLst/>
          </a:prstGeom>
          <a:noFill/>
          <a:ln w="17145">
            <a:solidFill>
              <a:srgbClr val="536A7A"/>
            </a:solidFill>
            <a:prstDash val="solid"/>
          </a:ln>
        </p:spPr>
      </p:sp>
      <p:sp>
        <p:nvSpPr>
          <p:cNvPr id="24" name="S01/card/scope/title"/>
          <p:cNvSpPr/>
          <p:nvPr/>
        </p:nvSpPr>
        <p:spPr>
          <a:xfrm>
            <a:off x="7200900" y="4905375"/>
            <a:ext cx="45339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评价范围</a:t>
            </a:r>
            <a:endParaRPr lang="zh-CN" sz="1950" dirty="0"/>
          </a:p>
        </p:txBody>
      </p:sp>
      <p:sp>
        <p:nvSpPr>
          <p:cNvPr id="25" name="S01/card/scope/body"/>
          <p:cNvSpPr/>
          <p:nvPr/>
        </p:nvSpPr>
        <p:spPr>
          <a:xfrm>
            <a:off x="7200900" y="5381625"/>
            <a:ext cx="4533900" cy="613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三类植物案例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；另设工具选择、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模型选择与数据分析任务评价。</a:t>
            </a:r>
            <a:endParaRPr lang="zh-CN" sz="1800" dirty="0"/>
          </a:p>
        </p:txBody>
      </p:sp>
      <p:sp>
        <p:nvSpPr>
          <p:cNvPr id="26" name="S01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P1 · 2026 · 10.1038/s41467-026-71090-y</a:t>
            </a:r>
            <a:endParaRPr lang="zh-CN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2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83B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02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/ 14</a:t>
            </a:r>
            <a:endParaRPr lang="zh-CN" sz="1050" dirty="0"/>
          </a:p>
        </p:txBody>
      </p:sp>
      <p:sp>
        <p:nvSpPr>
          <p:cNvPr id="4" name="S02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Manager 的规划与专用工具的计算分工</a:t>
            </a:r>
            <a:endParaRPr lang="zh-CN" sz="3000" dirty="0"/>
          </a:p>
        </p:txBody>
      </p:sp>
      <p:sp>
        <p:nvSpPr>
          <p:cNvPr id="5" name="S02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C5CFDA"/>
            </a:solidFill>
            <a:prstDash val="solid"/>
          </a:ln>
        </p:spPr>
      </p:sp>
      <p:sp>
        <p:nvSpPr>
          <p:cNvPr id="6" name="S02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83B66"/>
            </a:solidFill>
            <a:prstDash val="solid"/>
          </a:ln>
        </p:spPr>
      </p:sp>
      <p:sp>
        <p:nvSpPr>
          <p:cNvPr id="7" name="S02/panel:0:frame"/>
          <p:cNvSpPr/>
          <p:nvPr/>
        </p:nvSpPr>
        <p:spPr>
          <a:xfrm>
            <a:off x="457200" y="1241870"/>
            <a:ext cx="7905750" cy="4791837"/>
          </a:xfrm>
          <a:prstGeom prst="rect">
            <a:avLst/>
          </a:prstGeom>
          <a:solidFill>
            <a:srgbClr val="FFFFFF"/>
          </a:solidFill>
          <a:ln w="10478">
            <a:solidFill>
              <a:srgbClr val="C5CFDA"/>
            </a:solidFill>
            <a:prstDash val="solid"/>
          </a:ln>
        </p:spPr>
      </p:sp>
      <p:sp>
        <p:nvSpPr>
          <p:cNvPr id="8" name="S02/panel:0:tab"/>
          <p:cNvSpPr/>
          <p:nvPr/>
        </p:nvSpPr>
        <p:spPr>
          <a:xfrm>
            <a:off x="571500" y="1127570"/>
            <a:ext cx="1352550" cy="342900"/>
          </a:xfrm>
          <a:prstGeom prst="rect">
            <a:avLst/>
          </a:prstGeom>
          <a:solidFill>
            <a:srgbClr val="235E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02/panel:0:title"/>
          <p:cNvSpPr/>
          <p:nvPr/>
        </p:nvSpPr>
        <p:spPr>
          <a:xfrm>
            <a:off x="676275" y="1156145"/>
            <a:ext cx="11430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工具路由</a:t>
            </a:r>
            <a:endParaRPr lang="zh-CN" sz="1950" dirty="0"/>
          </a:p>
        </p:txBody>
      </p:sp>
      <p:sp>
        <p:nvSpPr>
          <p:cNvPr id="10" name="S02/edge:0:segment:0"/>
          <p:cNvSpPr/>
          <p:nvPr/>
        </p:nvSpPr>
        <p:spPr>
          <a:xfrm>
            <a:off x="4324350" y="2413445"/>
            <a:ext cx="0" cy="375904"/>
          </a:xfrm>
          <a:prstGeom prst="line">
            <a:avLst/>
          </a:prstGeom>
          <a:noFill/>
          <a:ln w="15240">
            <a:solidFill>
              <a:srgbClr val="455C76"/>
            </a:solidFill>
            <a:prstDash val="solid"/>
          </a:ln>
        </p:spPr>
      </p:sp>
      <p:sp>
        <p:nvSpPr>
          <p:cNvPr id="11" name="S02/edge:0:segment:1"/>
          <p:cNvSpPr/>
          <p:nvPr/>
        </p:nvSpPr>
        <p:spPr>
          <a:xfrm flipH="1">
            <a:off x="1704975" y="2789349"/>
            <a:ext cx="2619375" cy="0"/>
          </a:xfrm>
          <a:prstGeom prst="line">
            <a:avLst/>
          </a:prstGeom>
          <a:noFill/>
          <a:ln w="15240">
            <a:solidFill>
              <a:srgbClr val="455C76"/>
            </a:solidFill>
            <a:prstDash val="solid"/>
          </a:ln>
        </p:spPr>
      </p:sp>
      <p:sp>
        <p:nvSpPr>
          <p:cNvPr id="12" name="S02/edge:0:segment:2"/>
          <p:cNvSpPr/>
          <p:nvPr/>
        </p:nvSpPr>
        <p:spPr>
          <a:xfrm>
            <a:off x="1704975" y="2789349"/>
            <a:ext cx="0" cy="375904"/>
          </a:xfrm>
          <a:prstGeom prst="line">
            <a:avLst/>
          </a:prstGeom>
          <a:noFill/>
          <a:ln w="15240">
            <a:solidFill>
              <a:srgbClr val="455C76"/>
            </a:solidFill>
            <a:prstDash val="solid"/>
            <a:tailEnd type="triangle"/>
          </a:ln>
        </p:spPr>
      </p:sp>
      <p:sp>
        <p:nvSpPr>
          <p:cNvPr id="13" name="S02/edge:0:label"/>
          <p:cNvSpPr/>
          <p:nvPr/>
        </p:nvSpPr>
        <p:spPr>
          <a:xfrm>
            <a:off x="2633663" y="2560749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3"/>
              </a:lnSpc>
              <a:buNone/>
            </a:pPr>
            <a:r>
              <a:rPr lang="zh-CN" altLang="en-US" sz="1275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模型选择</a:t>
            </a:r>
            <a:endParaRPr lang="zh-CN" sz="1275" dirty="0"/>
          </a:p>
        </p:txBody>
      </p:sp>
      <p:sp>
        <p:nvSpPr>
          <p:cNvPr id="14" name="S02/edge:1:segment:0"/>
          <p:cNvSpPr/>
          <p:nvPr/>
        </p:nvSpPr>
        <p:spPr>
          <a:xfrm>
            <a:off x="4324350" y="2413445"/>
            <a:ext cx="0" cy="375904"/>
          </a:xfrm>
          <a:prstGeom prst="line">
            <a:avLst/>
          </a:prstGeom>
          <a:noFill/>
          <a:ln w="15240">
            <a:solidFill>
              <a:srgbClr val="455C76"/>
            </a:solidFill>
            <a:prstDash val="solid"/>
          </a:ln>
        </p:spPr>
      </p:sp>
      <p:sp>
        <p:nvSpPr>
          <p:cNvPr id="15" name="S02/edge:1:segment:1"/>
          <p:cNvSpPr/>
          <p:nvPr/>
        </p:nvSpPr>
        <p:spPr>
          <a:xfrm>
            <a:off x="4324350" y="2789349"/>
            <a:ext cx="161925" cy="0"/>
          </a:xfrm>
          <a:prstGeom prst="line">
            <a:avLst/>
          </a:prstGeom>
          <a:noFill/>
          <a:ln w="15240">
            <a:solidFill>
              <a:srgbClr val="455C76"/>
            </a:solidFill>
            <a:prstDash val="solid"/>
          </a:ln>
        </p:spPr>
      </p:sp>
      <p:sp>
        <p:nvSpPr>
          <p:cNvPr id="16" name="S02/edge:1:segment:2"/>
          <p:cNvSpPr/>
          <p:nvPr/>
        </p:nvSpPr>
        <p:spPr>
          <a:xfrm>
            <a:off x="4486275" y="2789349"/>
            <a:ext cx="0" cy="375904"/>
          </a:xfrm>
          <a:prstGeom prst="line">
            <a:avLst/>
          </a:prstGeom>
          <a:noFill/>
          <a:ln w="15240">
            <a:solidFill>
              <a:srgbClr val="455C76"/>
            </a:solidFill>
            <a:prstDash val="solid"/>
            <a:tailEnd type="triangle"/>
          </a:ln>
        </p:spPr>
      </p:sp>
      <p:sp>
        <p:nvSpPr>
          <p:cNvPr id="17" name="S02/edge:1:label"/>
          <p:cNvSpPr/>
          <p:nvPr/>
        </p:nvSpPr>
        <p:spPr>
          <a:xfrm>
            <a:off x="4024313" y="2560749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3"/>
              </a:lnSpc>
              <a:buNone/>
            </a:pPr>
            <a:r>
              <a:rPr lang="zh-CN" altLang="en-US" sz="1275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分析计划</a:t>
            </a:r>
            <a:endParaRPr lang="zh-CN" sz="1275" dirty="0"/>
          </a:p>
        </p:txBody>
      </p:sp>
      <p:sp>
        <p:nvSpPr>
          <p:cNvPr id="18" name="S02/edge:2:segment:0"/>
          <p:cNvSpPr/>
          <p:nvPr/>
        </p:nvSpPr>
        <p:spPr>
          <a:xfrm>
            <a:off x="5600700" y="2027682"/>
            <a:ext cx="276225" cy="0"/>
          </a:xfrm>
          <a:prstGeom prst="line">
            <a:avLst/>
          </a:prstGeom>
          <a:noFill/>
          <a:ln w="15240">
            <a:solidFill>
              <a:srgbClr val="455C76"/>
            </a:solidFill>
            <a:prstDash val="solid"/>
          </a:ln>
        </p:spPr>
      </p:sp>
      <p:sp>
        <p:nvSpPr>
          <p:cNvPr id="19" name="S02/edge:2:segment:1"/>
          <p:cNvSpPr/>
          <p:nvPr/>
        </p:nvSpPr>
        <p:spPr>
          <a:xfrm>
            <a:off x="5876925" y="2027682"/>
            <a:ext cx="0" cy="1681591"/>
          </a:xfrm>
          <a:prstGeom prst="line">
            <a:avLst/>
          </a:prstGeom>
          <a:noFill/>
          <a:ln w="15240">
            <a:solidFill>
              <a:srgbClr val="455C76"/>
            </a:solidFill>
            <a:prstDash val="solid"/>
          </a:ln>
        </p:spPr>
      </p:sp>
      <p:sp>
        <p:nvSpPr>
          <p:cNvPr id="20" name="S02/edge:2:segment:2"/>
          <p:cNvSpPr/>
          <p:nvPr/>
        </p:nvSpPr>
        <p:spPr>
          <a:xfrm>
            <a:off x="5876925" y="3709273"/>
            <a:ext cx="276225" cy="0"/>
          </a:xfrm>
          <a:prstGeom prst="line">
            <a:avLst/>
          </a:prstGeom>
          <a:noFill/>
          <a:ln w="15240">
            <a:solidFill>
              <a:srgbClr val="455C76"/>
            </a:solidFill>
            <a:prstDash val="solid"/>
            <a:tailEnd type="triangle"/>
          </a:ln>
        </p:spPr>
      </p:sp>
      <p:sp>
        <p:nvSpPr>
          <p:cNvPr id="21" name="S02/edge:2:label"/>
          <p:cNvSpPr/>
          <p:nvPr/>
        </p:nvSpPr>
        <p:spPr>
          <a:xfrm>
            <a:off x="5495925" y="2639878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3"/>
              </a:lnSpc>
              <a:buNone/>
            </a:pPr>
            <a:r>
              <a:rPr lang="zh-CN" altLang="en-US" sz="1275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检索问题</a:t>
            </a:r>
            <a:endParaRPr lang="zh-CN" sz="1275" dirty="0"/>
          </a:p>
        </p:txBody>
      </p:sp>
      <p:sp>
        <p:nvSpPr>
          <p:cNvPr id="22" name="S02/edge:3:segment:0"/>
          <p:cNvSpPr/>
          <p:nvPr/>
        </p:nvSpPr>
        <p:spPr>
          <a:xfrm>
            <a:off x="2800350" y="3709273"/>
            <a:ext cx="123825" cy="0"/>
          </a:xfrm>
          <a:prstGeom prst="line">
            <a:avLst/>
          </a:prstGeom>
          <a:noFill/>
          <a:ln w="15240">
            <a:solidFill>
              <a:srgbClr val="455C76"/>
            </a:solidFill>
            <a:prstDash val="solid"/>
          </a:ln>
        </p:spPr>
      </p:sp>
      <p:sp>
        <p:nvSpPr>
          <p:cNvPr id="23" name="S02/edge:3:segment:1"/>
          <p:cNvSpPr/>
          <p:nvPr/>
        </p:nvSpPr>
        <p:spPr>
          <a:xfrm>
            <a:off x="2924175" y="3709273"/>
            <a:ext cx="0" cy="1829848"/>
          </a:xfrm>
          <a:prstGeom prst="line">
            <a:avLst/>
          </a:prstGeom>
          <a:noFill/>
          <a:ln w="15240">
            <a:solidFill>
              <a:srgbClr val="455C76"/>
            </a:solidFill>
            <a:prstDash val="solid"/>
          </a:ln>
        </p:spPr>
      </p:sp>
      <p:sp>
        <p:nvSpPr>
          <p:cNvPr id="24" name="S02/edge:3:segment:2"/>
          <p:cNvSpPr/>
          <p:nvPr/>
        </p:nvSpPr>
        <p:spPr>
          <a:xfrm>
            <a:off x="2924175" y="5539121"/>
            <a:ext cx="123825" cy="0"/>
          </a:xfrm>
          <a:prstGeom prst="line">
            <a:avLst/>
          </a:prstGeom>
          <a:noFill/>
          <a:ln w="15240">
            <a:solidFill>
              <a:srgbClr val="455C76"/>
            </a:solidFill>
            <a:prstDash val="solid"/>
            <a:tailEnd type="triangle"/>
          </a:ln>
        </p:spPr>
      </p:sp>
      <p:sp>
        <p:nvSpPr>
          <p:cNvPr id="25" name="S02/edge:4:segment:0"/>
          <p:cNvSpPr/>
          <p:nvPr/>
        </p:nvSpPr>
        <p:spPr>
          <a:xfrm>
            <a:off x="4486275" y="4253294"/>
            <a:ext cx="0" cy="464868"/>
          </a:xfrm>
          <a:prstGeom prst="line">
            <a:avLst/>
          </a:prstGeom>
          <a:noFill/>
          <a:ln w="15240">
            <a:solidFill>
              <a:srgbClr val="455C76"/>
            </a:solidFill>
            <a:prstDash val="solid"/>
          </a:ln>
        </p:spPr>
      </p:sp>
      <p:sp>
        <p:nvSpPr>
          <p:cNvPr id="26" name="S02/edge:4:segment:1"/>
          <p:cNvSpPr/>
          <p:nvPr/>
        </p:nvSpPr>
        <p:spPr>
          <a:xfrm flipH="1">
            <a:off x="4324350" y="4718161"/>
            <a:ext cx="161925" cy="0"/>
          </a:xfrm>
          <a:prstGeom prst="line">
            <a:avLst/>
          </a:prstGeom>
          <a:noFill/>
          <a:ln w="15240">
            <a:solidFill>
              <a:srgbClr val="455C76"/>
            </a:solidFill>
            <a:prstDash val="solid"/>
          </a:ln>
        </p:spPr>
      </p:sp>
      <p:sp>
        <p:nvSpPr>
          <p:cNvPr id="27" name="S02/edge:4:segment:2"/>
          <p:cNvSpPr/>
          <p:nvPr/>
        </p:nvSpPr>
        <p:spPr>
          <a:xfrm>
            <a:off x="4324350" y="4718161"/>
            <a:ext cx="0" cy="464868"/>
          </a:xfrm>
          <a:prstGeom prst="line">
            <a:avLst/>
          </a:prstGeom>
          <a:noFill/>
          <a:ln w="15240">
            <a:solidFill>
              <a:srgbClr val="455C76"/>
            </a:solidFill>
            <a:prstDash val="solid"/>
            <a:tailEnd type="triangle"/>
          </a:ln>
        </p:spPr>
      </p:sp>
      <p:sp>
        <p:nvSpPr>
          <p:cNvPr id="28" name="S02/edge:5:segment:0"/>
          <p:cNvSpPr/>
          <p:nvPr/>
        </p:nvSpPr>
        <p:spPr>
          <a:xfrm>
            <a:off x="7181850" y="4253294"/>
            <a:ext cx="0" cy="464868"/>
          </a:xfrm>
          <a:prstGeom prst="line">
            <a:avLst/>
          </a:prstGeom>
          <a:noFill/>
          <a:ln w="15240">
            <a:solidFill>
              <a:srgbClr val="455C76"/>
            </a:solidFill>
            <a:prstDash val="solid"/>
          </a:ln>
        </p:spPr>
      </p:sp>
      <p:sp>
        <p:nvSpPr>
          <p:cNvPr id="29" name="S02/edge:5:segment:1"/>
          <p:cNvSpPr/>
          <p:nvPr/>
        </p:nvSpPr>
        <p:spPr>
          <a:xfrm flipH="1">
            <a:off x="4324350" y="4718161"/>
            <a:ext cx="2857500" cy="0"/>
          </a:xfrm>
          <a:prstGeom prst="line">
            <a:avLst/>
          </a:prstGeom>
          <a:noFill/>
          <a:ln w="15240">
            <a:solidFill>
              <a:srgbClr val="455C76"/>
            </a:solidFill>
            <a:prstDash val="solid"/>
          </a:ln>
        </p:spPr>
      </p:sp>
      <p:sp>
        <p:nvSpPr>
          <p:cNvPr id="30" name="S02/edge:5:segment:2"/>
          <p:cNvSpPr/>
          <p:nvPr/>
        </p:nvSpPr>
        <p:spPr>
          <a:xfrm>
            <a:off x="4324350" y="4718161"/>
            <a:ext cx="0" cy="464868"/>
          </a:xfrm>
          <a:prstGeom prst="line">
            <a:avLst/>
          </a:prstGeom>
          <a:noFill/>
          <a:ln w="15240">
            <a:solidFill>
              <a:srgbClr val="455C76"/>
            </a:solidFill>
            <a:prstDash val="solid"/>
            <a:tailEnd type="triangle"/>
          </a:ln>
        </p:spPr>
      </p:sp>
      <p:sp>
        <p:nvSpPr>
          <p:cNvPr id="31" name="S02/node:manager:frame"/>
          <p:cNvSpPr/>
          <p:nvPr/>
        </p:nvSpPr>
        <p:spPr>
          <a:xfrm>
            <a:off x="3048000" y="1641920"/>
            <a:ext cx="2552700" cy="771525"/>
          </a:xfrm>
          <a:prstGeom prst="rect">
            <a:avLst/>
          </a:prstGeom>
          <a:solidFill>
            <a:srgbClr val="EAF2FA"/>
          </a:solidFill>
          <a:ln w="11430">
            <a:solidFill>
              <a:srgbClr val="C5CFDA"/>
            </a:solidFill>
            <a:prstDash val="solid"/>
          </a:ln>
        </p:spPr>
      </p:sp>
      <p:sp>
        <p:nvSpPr>
          <p:cNvPr id="32" name="S02/node:manager:heading-rule"/>
          <p:cNvSpPr/>
          <p:nvPr/>
        </p:nvSpPr>
        <p:spPr>
          <a:xfrm>
            <a:off x="3048000" y="1641920"/>
            <a:ext cx="255270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33" name="S02/node:manager:label"/>
          <p:cNvSpPr/>
          <p:nvPr/>
        </p:nvSpPr>
        <p:spPr>
          <a:xfrm>
            <a:off x="3162300" y="1699070"/>
            <a:ext cx="23241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中央 manager</a:t>
            </a:r>
            <a:endParaRPr lang="zh-CN" sz="1800" dirty="0"/>
          </a:p>
        </p:txBody>
      </p:sp>
      <p:sp>
        <p:nvSpPr>
          <p:cNvPr id="34" name="S02/node:manager:detail"/>
          <p:cNvSpPr/>
          <p:nvPr/>
        </p:nvSpPr>
        <p:spPr>
          <a:xfrm>
            <a:off x="3162300" y="1984819"/>
            <a:ext cx="23241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任务、数据与参数</a:t>
            </a:r>
            <a:endParaRPr lang="zh-CN" sz="1650" dirty="0"/>
          </a:p>
        </p:txBody>
      </p:sp>
      <p:sp>
        <p:nvSpPr>
          <p:cNvPr id="35" name="S02/node:vision:frame"/>
          <p:cNvSpPr/>
          <p:nvPr/>
        </p:nvSpPr>
        <p:spPr>
          <a:xfrm>
            <a:off x="609600" y="3165253"/>
            <a:ext cx="2190750" cy="1088041"/>
          </a:xfrm>
          <a:prstGeom prst="rect">
            <a:avLst/>
          </a:prstGeom>
          <a:solidFill>
            <a:srgbClr val="EAF2FA"/>
          </a:solidFill>
          <a:ln w="11430">
            <a:solidFill>
              <a:srgbClr val="C5CFDA"/>
            </a:solidFill>
            <a:prstDash val="solid"/>
          </a:ln>
        </p:spPr>
      </p:sp>
      <p:sp>
        <p:nvSpPr>
          <p:cNvPr id="36" name="S02/node:vision:heading-rule"/>
          <p:cNvSpPr/>
          <p:nvPr/>
        </p:nvSpPr>
        <p:spPr>
          <a:xfrm>
            <a:off x="609600" y="3165253"/>
            <a:ext cx="219075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37" name="S02/node:vision:label"/>
          <p:cNvSpPr/>
          <p:nvPr/>
        </p:nvSpPr>
        <p:spPr>
          <a:xfrm>
            <a:off x="723900" y="3260503"/>
            <a:ext cx="19621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视觉与表型工具</a:t>
            </a:r>
            <a:endParaRPr lang="zh-CN" sz="1800" dirty="0"/>
          </a:p>
        </p:txBody>
      </p:sp>
      <p:sp>
        <p:nvSpPr>
          <p:cNvPr id="38" name="S02/node:vision:detail"/>
          <p:cNvSpPr/>
          <p:nvPr/>
        </p:nvSpPr>
        <p:spPr>
          <a:xfrm>
            <a:off x="723900" y="3574828"/>
            <a:ext cx="1962150" cy="592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实例分割、分类</a:t>
            </a:r>
            <a:endParaRPr lang="zh-CN" sz="1650" dirty="0"/>
          </a:p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表型数值计算</a:t>
            </a:r>
            <a:endParaRPr lang="zh-CN" sz="1650" dirty="0"/>
          </a:p>
        </p:txBody>
      </p:sp>
      <p:sp>
        <p:nvSpPr>
          <p:cNvPr id="39" name="S02/node:analysis:frame"/>
          <p:cNvSpPr/>
          <p:nvPr/>
        </p:nvSpPr>
        <p:spPr>
          <a:xfrm>
            <a:off x="3390900" y="3165253"/>
            <a:ext cx="2190750" cy="1088041"/>
          </a:xfrm>
          <a:prstGeom prst="rect">
            <a:avLst/>
          </a:prstGeom>
          <a:solidFill>
            <a:srgbClr val="EAF2FA"/>
          </a:solidFill>
          <a:ln w="11430">
            <a:solidFill>
              <a:srgbClr val="C5CFDA"/>
            </a:solidFill>
            <a:prstDash val="solid"/>
          </a:ln>
        </p:spPr>
      </p:sp>
      <p:sp>
        <p:nvSpPr>
          <p:cNvPr id="40" name="S02/node:analysis:heading-rule"/>
          <p:cNvSpPr/>
          <p:nvPr/>
        </p:nvSpPr>
        <p:spPr>
          <a:xfrm>
            <a:off x="3390900" y="3165253"/>
            <a:ext cx="219075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41" name="S02/node:analysis:label"/>
          <p:cNvSpPr/>
          <p:nvPr/>
        </p:nvSpPr>
        <p:spPr>
          <a:xfrm>
            <a:off x="3505200" y="3260503"/>
            <a:ext cx="19621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数据分析工具</a:t>
            </a:r>
            <a:endParaRPr lang="zh-CN" sz="1800" dirty="0"/>
          </a:p>
        </p:txBody>
      </p:sp>
      <p:sp>
        <p:nvSpPr>
          <p:cNvPr id="42" name="S02/node:analysis:detail"/>
          <p:cNvSpPr/>
          <p:nvPr/>
        </p:nvSpPr>
        <p:spPr>
          <a:xfrm>
            <a:off x="3505200" y="3574828"/>
            <a:ext cx="1962150" cy="592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统计、表格、绘图</a:t>
            </a:r>
            <a:endParaRPr lang="zh-CN" sz="1650" dirty="0"/>
          </a:p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代码生成与执行</a:t>
            </a:r>
            <a:endParaRPr lang="zh-CN" sz="1650" dirty="0"/>
          </a:p>
        </p:txBody>
      </p:sp>
      <p:sp>
        <p:nvSpPr>
          <p:cNvPr id="43" name="S02/node:knowledge:frame"/>
          <p:cNvSpPr/>
          <p:nvPr/>
        </p:nvSpPr>
        <p:spPr>
          <a:xfrm>
            <a:off x="6153150" y="3165253"/>
            <a:ext cx="2057400" cy="1088041"/>
          </a:xfrm>
          <a:prstGeom prst="rect">
            <a:avLst/>
          </a:prstGeom>
          <a:solidFill>
            <a:srgbClr val="EAF2FA"/>
          </a:solidFill>
          <a:ln w="11430">
            <a:solidFill>
              <a:srgbClr val="C5CFDA"/>
            </a:solidFill>
            <a:prstDash val="solid"/>
          </a:ln>
        </p:spPr>
      </p:sp>
      <p:sp>
        <p:nvSpPr>
          <p:cNvPr id="44" name="S02/node:knowledge:heading-rule"/>
          <p:cNvSpPr/>
          <p:nvPr/>
        </p:nvSpPr>
        <p:spPr>
          <a:xfrm>
            <a:off x="6153150" y="3165253"/>
            <a:ext cx="205740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45" name="S02/node:knowledge:label"/>
          <p:cNvSpPr/>
          <p:nvPr/>
        </p:nvSpPr>
        <p:spPr>
          <a:xfrm>
            <a:off x="6267450" y="3260503"/>
            <a:ext cx="18288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文献 RAG</a:t>
            </a:r>
            <a:endParaRPr lang="zh-CN" sz="1800" dirty="0"/>
          </a:p>
        </p:txBody>
      </p:sp>
      <p:sp>
        <p:nvSpPr>
          <p:cNvPr id="46" name="S02/node:knowledge:detail"/>
          <p:cNvSpPr/>
          <p:nvPr/>
        </p:nvSpPr>
        <p:spPr>
          <a:xfrm>
            <a:off x="6267450" y="3574828"/>
            <a:ext cx="1828800" cy="592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检索植物科学文献</a:t>
            </a:r>
            <a:endParaRPr lang="zh-CN" sz="1650" dirty="0"/>
          </a:p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核对既有发现</a:t>
            </a:r>
            <a:endParaRPr lang="zh-CN" sz="1650" dirty="0"/>
          </a:p>
        </p:txBody>
      </p:sp>
      <p:sp>
        <p:nvSpPr>
          <p:cNvPr id="47" name="S02/node:outputs:frame"/>
          <p:cNvSpPr/>
          <p:nvPr/>
        </p:nvSpPr>
        <p:spPr>
          <a:xfrm>
            <a:off x="3048000" y="5183029"/>
            <a:ext cx="2552700" cy="712184"/>
          </a:xfrm>
          <a:prstGeom prst="rect">
            <a:avLst/>
          </a:prstGeom>
          <a:solidFill>
            <a:srgbClr val="E9F4F0"/>
          </a:solidFill>
          <a:ln w="11430">
            <a:solidFill>
              <a:srgbClr val="C5CFDA"/>
            </a:solidFill>
            <a:prstDash val="solid"/>
          </a:ln>
        </p:spPr>
      </p:sp>
      <p:sp>
        <p:nvSpPr>
          <p:cNvPr id="48" name="S02/node:outputs:heading-rule"/>
          <p:cNvSpPr/>
          <p:nvPr/>
        </p:nvSpPr>
        <p:spPr>
          <a:xfrm>
            <a:off x="3048000" y="5183029"/>
            <a:ext cx="2552700" cy="0"/>
          </a:xfrm>
          <a:prstGeom prst="line">
            <a:avLst/>
          </a:prstGeom>
          <a:noFill/>
          <a:ln w="19050">
            <a:solidFill>
              <a:srgbClr val="146C63"/>
            </a:solidFill>
            <a:prstDash val="solid"/>
          </a:ln>
        </p:spPr>
      </p:sp>
      <p:sp>
        <p:nvSpPr>
          <p:cNvPr id="49" name="S02/node:outputs:label"/>
          <p:cNvSpPr/>
          <p:nvPr/>
        </p:nvSpPr>
        <p:spPr>
          <a:xfrm>
            <a:off x="3162300" y="5405771"/>
            <a:ext cx="23241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结果与复用流程</a:t>
            </a:r>
            <a:endParaRPr lang="zh-CN" sz="1800" dirty="0"/>
          </a:p>
        </p:txBody>
      </p:sp>
      <p:sp>
        <p:nvSpPr>
          <p:cNvPr id="50" name="S02/card/interface/frame"/>
          <p:cNvSpPr/>
          <p:nvPr/>
        </p:nvSpPr>
        <p:spPr>
          <a:xfrm>
            <a:off x="8648700" y="1187006"/>
            <a:ext cx="3086100" cy="2136553"/>
          </a:xfrm>
          <a:prstGeom prst="rect">
            <a:avLst/>
          </a:prstGeom>
          <a:solidFill>
            <a:srgbClr val="FFFFFF"/>
          </a:solidFill>
          <a:ln w="10478">
            <a:solidFill>
              <a:srgbClr val="C5CFDA"/>
            </a:solidFill>
            <a:prstDash val="solid"/>
          </a:ln>
        </p:spPr>
      </p:sp>
      <p:sp>
        <p:nvSpPr>
          <p:cNvPr id="51" name="S02/card/interface/heading-fill"/>
          <p:cNvSpPr/>
          <p:nvPr/>
        </p:nvSpPr>
        <p:spPr>
          <a:xfrm>
            <a:off x="8658225" y="1196531"/>
            <a:ext cx="3067050" cy="371475"/>
          </a:xfrm>
          <a:prstGeom prst="rect">
            <a:avLst/>
          </a:prstGeom>
          <a:solidFill>
            <a:srgbClr val="EA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02/card/interface/heading-rule"/>
          <p:cNvSpPr/>
          <p:nvPr/>
        </p:nvSpPr>
        <p:spPr>
          <a:xfrm>
            <a:off x="8648700" y="1568006"/>
            <a:ext cx="3086100" cy="0"/>
          </a:xfrm>
          <a:prstGeom prst="line">
            <a:avLst/>
          </a:prstGeom>
          <a:noFill/>
          <a:ln w="9525">
            <a:solidFill>
              <a:srgbClr val="C5CFDA"/>
            </a:solidFill>
            <a:prstDash val="solid"/>
          </a:ln>
        </p:spPr>
      </p:sp>
      <p:sp>
        <p:nvSpPr>
          <p:cNvPr id="53" name="S02/card/interface/title"/>
          <p:cNvSpPr/>
          <p:nvPr/>
        </p:nvSpPr>
        <p:spPr>
          <a:xfrm>
            <a:off x="8772525" y="1234631"/>
            <a:ext cx="28384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明确的输入接口</a:t>
            </a:r>
            <a:endParaRPr lang="zh-CN" sz="1950" dirty="0"/>
          </a:p>
        </p:txBody>
      </p:sp>
      <p:sp>
        <p:nvSpPr>
          <p:cNvPr id="54" name="S02/card/interface/body"/>
          <p:cNvSpPr/>
          <p:nvPr/>
        </p:nvSpPr>
        <p:spPr>
          <a:xfrm>
            <a:off x="8782050" y="1672781"/>
            <a:ext cx="2819400" cy="1555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工具有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预定功能与参数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新任务先检查模型/工具是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否可用。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用户可调整计划、工具与参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数。</a:t>
            </a:r>
            <a:endParaRPr lang="zh-CN" sz="1800" dirty="0"/>
          </a:p>
        </p:txBody>
      </p:sp>
      <p:sp>
        <p:nvSpPr>
          <p:cNvPr id="55" name="S02/card/reuse/frame"/>
          <p:cNvSpPr/>
          <p:nvPr/>
        </p:nvSpPr>
        <p:spPr>
          <a:xfrm>
            <a:off x="8648700" y="3734562"/>
            <a:ext cx="3086100" cy="2259616"/>
          </a:xfrm>
          <a:prstGeom prst="rect">
            <a:avLst/>
          </a:prstGeom>
          <a:solidFill>
            <a:srgbClr val="FFFFFF"/>
          </a:solidFill>
          <a:ln w="10478">
            <a:solidFill>
              <a:srgbClr val="C5CFDA"/>
            </a:solidFill>
            <a:prstDash val="solid"/>
          </a:ln>
        </p:spPr>
      </p:sp>
      <p:sp>
        <p:nvSpPr>
          <p:cNvPr id="56" name="S02/card/reuse/tab"/>
          <p:cNvSpPr/>
          <p:nvPr/>
        </p:nvSpPr>
        <p:spPr>
          <a:xfrm>
            <a:off x="8763000" y="3620262"/>
            <a:ext cx="1752600" cy="342900"/>
          </a:xfrm>
          <a:prstGeom prst="rect">
            <a:avLst/>
          </a:prstGeom>
          <a:solidFill>
            <a:srgbClr val="536A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02/card/reuse/title"/>
          <p:cNvSpPr/>
          <p:nvPr/>
        </p:nvSpPr>
        <p:spPr>
          <a:xfrm>
            <a:off x="8867775" y="3648837"/>
            <a:ext cx="15430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流程复现对象</a:t>
            </a:r>
            <a:endParaRPr lang="zh-CN" sz="1950" dirty="0"/>
          </a:p>
        </p:txBody>
      </p:sp>
      <p:sp>
        <p:nvSpPr>
          <p:cNvPr id="58" name="S02/card/reuse/body"/>
          <p:cNvSpPr/>
          <p:nvPr/>
        </p:nvSpPr>
        <p:spPr>
          <a:xfrm>
            <a:off x="8782050" y="4106037"/>
            <a:ext cx="2819400" cy="179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Pipeline Reproducer 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存工具调用与代码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相似数据可再次执行流程。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复现计算仍需匹配数据与环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境。</a:t>
            </a:r>
            <a:endParaRPr lang="zh-CN" sz="1800" dirty="0"/>
          </a:p>
        </p:txBody>
      </p:sp>
      <p:sp>
        <p:nvSpPr>
          <p:cNvPr id="59" name="S02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P1 · 2026 · 10.1038/s41467-026-71090-y</a:t>
            </a:r>
            <a:endParaRPr lang="zh-CN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3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83B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03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/ 14</a:t>
            </a:r>
            <a:endParaRPr lang="zh-CN" sz="1050" dirty="0"/>
          </a:p>
        </p:txBody>
      </p:sp>
      <p:sp>
        <p:nvSpPr>
          <p:cNvPr id="4" name="S03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24 株拟南芥与 1,248 次图像观测</a:t>
            </a:r>
            <a:endParaRPr lang="zh-CN" sz="3000" dirty="0"/>
          </a:p>
        </p:txBody>
      </p:sp>
      <p:sp>
        <p:nvSpPr>
          <p:cNvPr id="5" name="S03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C5CFDA"/>
            </a:solidFill>
            <a:prstDash val="solid"/>
          </a:ln>
        </p:spPr>
      </p:sp>
      <p:sp>
        <p:nvSpPr>
          <p:cNvPr id="6" name="S03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83B66"/>
            </a:solidFill>
            <a:prstDash val="solid"/>
          </a:ln>
        </p:spPr>
      </p:sp>
      <p:sp>
        <p:nvSpPr>
          <p:cNvPr id="7" name="S03/edge:0"/>
          <p:cNvSpPr/>
          <p:nvPr/>
        </p:nvSpPr>
        <p:spPr>
          <a:xfrm>
            <a:off x="2533650" y="2017824"/>
            <a:ext cx="590550" cy="0"/>
          </a:xfrm>
          <a:prstGeom prst="line">
            <a:avLst/>
          </a:prstGeom>
          <a:noFill/>
          <a:ln w="15240">
            <a:solidFill>
              <a:srgbClr val="455C76"/>
            </a:solidFill>
            <a:prstDash val="solid"/>
            <a:tailEnd type="triangle"/>
          </a:ln>
        </p:spPr>
      </p:sp>
      <p:sp>
        <p:nvSpPr>
          <p:cNvPr id="8" name="S03/edge:1"/>
          <p:cNvSpPr/>
          <p:nvPr/>
        </p:nvSpPr>
        <p:spPr>
          <a:xfrm>
            <a:off x="5200650" y="2017824"/>
            <a:ext cx="590550" cy="0"/>
          </a:xfrm>
          <a:prstGeom prst="line">
            <a:avLst/>
          </a:prstGeom>
          <a:noFill/>
          <a:ln w="15240">
            <a:solidFill>
              <a:srgbClr val="455C76"/>
            </a:solidFill>
            <a:prstDash val="solid"/>
            <a:tailEnd type="triangle"/>
          </a:ln>
        </p:spPr>
      </p:sp>
      <p:sp>
        <p:nvSpPr>
          <p:cNvPr id="9" name="S03/edge:1:label"/>
          <p:cNvSpPr/>
          <p:nvPr/>
        </p:nvSpPr>
        <p:spPr>
          <a:xfrm>
            <a:off x="5114925" y="1789224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3"/>
              </a:lnSpc>
              <a:buNone/>
            </a:pPr>
            <a:r>
              <a:rPr lang="zh-CN" altLang="en-US" sz="1275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分组</a:t>
            </a:r>
            <a:endParaRPr lang="zh-CN" sz="1275" dirty="0"/>
          </a:p>
        </p:txBody>
      </p:sp>
      <p:sp>
        <p:nvSpPr>
          <p:cNvPr id="10" name="S03/edge:2"/>
          <p:cNvSpPr/>
          <p:nvPr/>
        </p:nvSpPr>
        <p:spPr>
          <a:xfrm>
            <a:off x="4162425" y="2571750"/>
            <a:ext cx="0" cy="652844"/>
          </a:xfrm>
          <a:prstGeom prst="line">
            <a:avLst/>
          </a:prstGeom>
          <a:noFill/>
          <a:ln w="15240">
            <a:solidFill>
              <a:srgbClr val="455C76"/>
            </a:solidFill>
            <a:prstDash val="solid"/>
            <a:tailEnd type="triangle"/>
          </a:ln>
        </p:spPr>
      </p:sp>
      <p:sp>
        <p:nvSpPr>
          <p:cNvPr id="11" name="S03/edge:2:label"/>
          <p:cNvSpPr/>
          <p:nvPr/>
        </p:nvSpPr>
        <p:spPr>
          <a:xfrm>
            <a:off x="3781425" y="2669572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3"/>
              </a:lnSpc>
              <a:buNone/>
            </a:pPr>
            <a:r>
              <a:rPr lang="zh-CN" altLang="en-US" sz="1275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重复观测</a:t>
            </a:r>
            <a:endParaRPr lang="zh-CN" sz="1275" dirty="0"/>
          </a:p>
        </p:txBody>
      </p:sp>
      <p:sp>
        <p:nvSpPr>
          <p:cNvPr id="12" name="S03/node:data:frame"/>
          <p:cNvSpPr/>
          <p:nvPr/>
        </p:nvSpPr>
        <p:spPr>
          <a:xfrm>
            <a:off x="457200" y="1463897"/>
            <a:ext cx="2076450" cy="1107853"/>
          </a:xfrm>
          <a:prstGeom prst="rect">
            <a:avLst/>
          </a:prstGeom>
          <a:solidFill>
            <a:srgbClr val="F0F3F6"/>
          </a:solidFill>
          <a:ln w="11430">
            <a:solidFill>
              <a:srgbClr val="C5CFDA"/>
            </a:solidFill>
            <a:prstDash val="solid"/>
          </a:ln>
        </p:spPr>
      </p:sp>
      <p:sp>
        <p:nvSpPr>
          <p:cNvPr id="13" name="S03/node:data:heading-rule"/>
          <p:cNvSpPr/>
          <p:nvPr/>
        </p:nvSpPr>
        <p:spPr>
          <a:xfrm>
            <a:off x="457200" y="1463897"/>
            <a:ext cx="2076450" cy="0"/>
          </a:xfrm>
          <a:prstGeom prst="line">
            <a:avLst/>
          </a:prstGeom>
          <a:noFill/>
          <a:ln w="19050">
            <a:solidFill>
              <a:srgbClr val="536A7A"/>
            </a:solidFill>
            <a:prstDash val="solid"/>
          </a:ln>
        </p:spPr>
      </p:sp>
      <p:sp>
        <p:nvSpPr>
          <p:cNvPr id="14" name="S03/node:data:label"/>
          <p:cNvSpPr/>
          <p:nvPr/>
        </p:nvSpPr>
        <p:spPr>
          <a:xfrm>
            <a:off x="571500" y="1559147"/>
            <a:ext cx="18478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Phenotiki 数据</a:t>
            </a:r>
            <a:endParaRPr lang="zh-CN" sz="1800" dirty="0"/>
          </a:p>
        </p:txBody>
      </p:sp>
      <p:sp>
        <p:nvSpPr>
          <p:cNvPr id="15" name="S03/node:data:detail"/>
          <p:cNvSpPr/>
          <p:nvPr/>
        </p:nvSpPr>
        <p:spPr>
          <a:xfrm>
            <a:off x="571500" y="1873472"/>
            <a:ext cx="1847850" cy="612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拟南芥生长观测</a:t>
            </a:r>
            <a:endParaRPr lang="zh-CN" sz="1650" dirty="0"/>
          </a:p>
        </p:txBody>
      </p:sp>
      <p:sp>
        <p:nvSpPr>
          <p:cNvPr id="16" name="S03/node:plants:frame"/>
          <p:cNvSpPr/>
          <p:nvPr/>
        </p:nvSpPr>
        <p:spPr>
          <a:xfrm>
            <a:off x="3124200" y="1463897"/>
            <a:ext cx="2076450" cy="1107853"/>
          </a:xfrm>
          <a:prstGeom prst="rect">
            <a:avLst/>
          </a:prstGeom>
          <a:solidFill>
            <a:srgbClr val="F0F3F6"/>
          </a:solidFill>
          <a:ln w="11430">
            <a:solidFill>
              <a:srgbClr val="C5CFDA"/>
            </a:solidFill>
            <a:prstDash val="solid"/>
          </a:ln>
        </p:spPr>
      </p:sp>
      <p:sp>
        <p:nvSpPr>
          <p:cNvPr id="17" name="S03/node:plants:heading-rule"/>
          <p:cNvSpPr/>
          <p:nvPr/>
        </p:nvSpPr>
        <p:spPr>
          <a:xfrm>
            <a:off x="3124200" y="1463897"/>
            <a:ext cx="2076450" cy="0"/>
          </a:xfrm>
          <a:prstGeom prst="line">
            <a:avLst/>
          </a:prstGeom>
          <a:noFill/>
          <a:ln w="19050">
            <a:solidFill>
              <a:srgbClr val="536A7A"/>
            </a:solidFill>
            <a:prstDash val="solid"/>
          </a:ln>
        </p:spPr>
      </p:sp>
      <p:sp>
        <p:nvSpPr>
          <p:cNvPr id="18" name="S03/node:plants:label"/>
          <p:cNvSpPr/>
          <p:nvPr/>
        </p:nvSpPr>
        <p:spPr>
          <a:xfrm>
            <a:off x="3238500" y="1559147"/>
            <a:ext cx="18478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24 株植物</a:t>
            </a:r>
            <a:endParaRPr lang="zh-CN" sz="1800" dirty="0"/>
          </a:p>
        </p:txBody>
      </p:sp>
      <p:sp>
        <p:nvSpPr>
          <p:cNvPr id="19" name="S03/node:plants:detail"/>
          <p:cNvSpPr/>
          <p:nvPr/>
        </p:nvSpPr>
        <p:spPr>
          <a:xfrm>
            <a:off x="3238500" y="1873472"/>
            <a:ext cx="1847850" cy="612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重复测量主体</a:t>
            </a:r>
            <a:endParaRPr lang="zh-CN" sz="1650" dirty="0"/>
          </a:p>
        </p:txBody>
      </p:sp>
      <p:sp>
        <p:nvSpPr>
          <p:cNvPr id="20" name="S03/node:groups:frame"/>
          <p:cNvSpPr/>
          <p:nvPr/>
        </p:nvSpPr>
        <p:spPr>
          <a:xfrm>
            <a:off x="5791200" y="1463897"/>
            <a:ext cx="2076450" cy="1107853"/>
          </a:xfrm>
          <a:prstGeom prst="rect">
            <a:avLst/>
          </a:prstGeom>
          <a:solidFill>
            <a:srgbClr val="F0F3F6"/>
          </a:solidFill>
          <a:ln w="11430">
            <a:solidFill>
              <a:srgbClr val="C5CFDA"/>
            </a:solidFill>
            <a:prstDash val="solid"/>
          </a:ln>
        </p:spPr>
      </p:sp>
      <p:sp>
        <p:nvSpPr>
          <p:cNvPr id="21" name="S03/node:groups:heading-rule"/>
          <p:cNvSpPr/>
          <p:nvPr/>
        </p:nvSpPr>
        <p:spPr>
          <a:xfrm>
            <a:off x="5791200" y="1463897"/>
            <a:ext cx="2076450" cy="0"/>
          </a:xfrm>
          <a:prstGeom prst="line">
            <a:avLst/>
          </a:prstGeom>
          <a:noFill/>
          <a:ln w="19050">
            <a:solidFill>
              <a:srgbClr val="536A7A"/>
            </a:solidFill>
            <a:prstDash val="solid"/>
          </a:ln>
        </p:spPr>
      </p:sp>
      <p:sp>
        <p:nvSpPr>
          <p:cNvPr id="22" name="S03/node:groups:label"/>
          <p:cNvSpPr/>
          <p:nvPr/>
        </p:nvSpPr>
        <p:spPr>
          <a:xfrm>
            <a:off x="5905500" y="1559147"/>
            <a:ext cx="18478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 个生态型</a:t>
            </a:r>
            <a:endParaRPr lang="zh-CN" sz="1800" dirty="0"/>
          </a:p>
        </p:txBody>
      </p:sp>
      <p:sp>
        <p:nvSpPr>
          <p:cNvPr id="23" name="S03/node:groups:detail"/>
          <p:cNvSpPr/>
          <p:nvPr/>
        </p:nvSpPr>
        <p:spPr>
          <a:xfrm>
            <a:off x="5905500" y="1873472"/>
            <a:ext cx="1847850" cy="612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每组 4–5 株</a:t>
            </a:r>
            <a:endParaRPr lang="zh-CN" sz="1650" dirty="0"/>
          </a:p>
        </p:txBody>
      </p:sp>
      <p:sp>
        <p:nvSpPr>
          <p:cNvPr id="24" name="S03/node:time:frame"/>
          <p:cNvSpPr/>
          <p:nvPr/>
        </p:nvSpPr>
        <p:spPr>
          <a:xfrm>
            <a:off x="3124200" y="3224594"/>
            <a:ext cx="2076450" cy="929831"/>
          </a:xfrm>
          <a:prstGeom prst="rect">
            <a:avLst/>
          </a:prstGeom>
          <a:solidFill>
            <a:srgbClr val="F0F3F6"/>
          </a:solidFill>
          <a:ln w="11430">
            <a:solidFill>
              <a:srgbClr val="C5CFDA"/>
            </a:solidFill>
            <a:prstDash val="solid"/>
          </a:ln>
        </p:spPr>
      </p:sp>
      <p:sp>
        <p:nvSpPr>
          <p:cNvPr id="25" name="S03/node:time:heading-rule"/>
          <p:cNvSpPr/>
          <p:nvPr/>
        </p:nvSpPr>
        <p:spPr>
          <a:xfrm>
            <a:off x="3124200" y="3224594"/>
            <a:ext cx="2076450" cy="0"/>
          </a:xfrm>
          <a:prstGeom prst="line">
            <a:avLst/>
          </a:prstGeom>
          <a:noFill/>
          <a:ln w="19050">
            <a:solidFill>
              <a:srgbClr val="536A7A"/>
            </a:solidFill>
            <a:prstDash val="solid"/>
          </a:ln>
        </p:spPr>
      </p:sp>
      <p:sp>
        <p:nvSpPr>
          <p:cNvPr id="26" name="S03/node:time:label"/>
          <p:cNvSpPr/>
          <p:nvPr/>
        </p:nvSpPr>
        <p:spPr>
          <a:xfrm>
            <a:off x="3238500" y="3319844"/>
            <a:ext cx="18478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 12 小时成像</a:t>
            </a:r>
            <a:endParaRPr lang="zh-CN" sz="1800" dirty="0"/>
          </a:p>
        </p:txBody>
      </p:sp>
      <p:sp>
        <p:nvSpPr>
          <p:cNvPr id="27" name="S03/node:time:detail"/>
          <p:cNvSpPr/>
          <p:nvPr/>
        </p:nvSpPr>
        <p:spPr>
          <a:xfrm>
            <a:off x="3238500" y="3634169"/>
            <a:ext cx="1847850" cy="434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连续 26 天</a:t>
            </a:r>
            <a:endParaRPr lang="zh-CN" sz="1650" dirty="0"/>
          </a:p>
        </p:txBody>
      </p:sp>
      <p:sp>
        <p:nvSpPr>
          <p:cNvPr id="28" name="S03/card/unit/frame"/>
          <p:cNvSpPr/>
          <p:nvPr/>
        </p:nvSpPr>
        <p:spPr>
          <a:xfrm>
            <a:off x="8229600" y="1187006"/>
            <a:ext cx="3505200" cy="2136553"/>
          </a:xfrm>
          <a:prstGeom prst="rect">
            <a:avLst/>
          </a:prstGeom>
          <a:solidFill>
            <a:srgbClr val="FFFFFF"/>
          </a:solidFill>
          <a:ln w="10478">
            <a:solidFill>
              <a:srgbClr val="C5CFDA"/>
            </a:solidFill>
            <a:prstDash val="solid"/>
          </a:ln>
        </p:spPr>
      </p:sp>
      <p:sp>
        <p:nvSpPr>
          <p:cNvPr id="29" name="S03/card/unit/heading-fill"/>
          <p:cNvSpPr/>
          <p:nvPr/>
        </p:nvSpPr>
        <p:spPr>
          <a:xfrm>
            <a:off x="8239125" y="1196531"/>
            <a:ext cx="3486150" cy="371475"/>
          </a:xfrm>
          <a:prstGeom prst="rect">
            <a:avLst/>
          </a:prstGeom>
          <a:solidFill>
            <a:srgbClr val="F0F3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03/card/unit/heading-rule"/>
          <p:cNvSpPr/>
          <p:nvPr/>
        </p:nvSpPr>
        <p:spPr>
          <a:xfrm>
            <a:off x="8229600" y="1568006"/>
            <a:ext cx="3505200" cy="0"/>
          </a:xfrm>
          <a:prstGeom prst="line">
            <a:avLst/>
          </a:prstGeom>
          <a:noFill/>
          <a:ln w="9525">
            <a:solidFill>
              <a:srgbClr val="C5CFDA"/>
            </a:solidFill>
            <a:prstDash val="solid"/>
          </a:ln>
        </p:spPr>
      </p:sp>
      <p:sp>
        <p:nvSpPr>
          <p:cNvPr id="31" name="S03/card/unit/title"/>
          <p:cNvSpPr/>
          <p:nvPr/>
        </p:nvSpPr>
        <p:spPr>
          <a:xfrm>
            <a:off x="8353425" y="1234631"/>
            <a:ext cx="32575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独立生物学单位</a:t>
            </a:r>
            <a:endParaRPr lang="zh-CN" sz="1950" dirty="0"/>
          </a:p>
        </p:txBody>
      </p:sp>
      <p:sp>
        <p:nvSpPr>
          <p:cNvPr id="32" name="S03/card/unit/body"/>
          <p:cNvSpPr/>
          <p:nvPr/>
        </p:nvSpPr>
        <p:spPr>
          <a:xfrm>
            <a:off x="8362950" y="1672781"/>
            <a:ext cx="3238500" cy="1555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 = 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24 株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同株多个时点具有重复测量结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构。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1,248 幅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图像是观测总量。</a:t>
            </a:r>
            <a:endParaRPr lang="zh-CN" sz="1800" dirty="0"/>
          </a:p>
        </p:txBody>
      </p:sp>
      <p:sp>
        <p:nvSpPr>
          <p:cNvPr id="33" name="S03/card/measurement/frame"/>
          <p:cNvSpPr/>
          <p:nvPr/>
        </p:nvSpPr>
        <p:spPr>
          <a:xfrm>
            <a:off x="8229600" y="3742563"/>
            <a:ext cx="3505200" cy="2291144"/>
          </a:xfrm>
          <a:prstGeom prst="rect">
            <a:avLst/>
          </a:prstGeom>
          <a:solidFill>
            <a:srgbClr val="FFFFFF"/>
          </a:solidFill>
          <a:ln w="14288">
            <a:solidFill>
              <a:srgbClr val="536A7A"/>
            </a:solidFill>
            <a:prstDash val="solid"/>
          </a:ln>
        </p:spPr>
      </p:sp>
      <p:sp>
        <p:nvSpPr>
          <p:cNvPr id="34" name="S03/card/measurement/title-cutout"/>
          <p:cNvSpPr/>
          <p:nvPr/>
        </p:nvSpPr>
        <p:spPr>
          <a:xfrm>
            <a:off x="8362950" y="3590163"/>
            <a:ext cx="1085850" cy="3238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03/card/measurement/base-rule"/>
          <p:cNvSpPr/>
          <p:nvPr/>
        </p:nvSpPr>
        <p:spPr>
          <a:xfrm>
            <a:off x="8420100" y="5881307"/>
            <a:ext cx="333375" cy="0"/>
          </a:xfrm>
          <a:prstGeom prst="line">
            <a:avLst/>
          </a:prstGeom>
          <a:noFill/>
          <a:ln w="28575">
            <a:solidFill>
              <a:srgbClr val="536A7A"/>
            </a:solidFill>
            <a:prstDash val="solid"/>
          </a:ln>
        </p:spPr>
      </p:sp>
      <p:sp>
        <p:nvSpPr>
          <p:cNvPr id="36" name="S03/card/measurement/title"/>
          <p:cNvSpPr/>
          <p:nvPr/>
        </p:nvSpPr>
        <p:spPr>
          <a:xfrm>
            <a:off x="8420100" y="3599688"/>
            <a:ext cx="31242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测量输出</a:t>
            </a:r>
            <a:endParaRPr lang="zh-CN" sz="1950" dirty="0"/>
          </a:p>
        </p:txBody>
      </p:sp>
      <p:sp>
        <p:nvSpPr>
          <p:cNvPr id="37" name="S03/card/measurement/body"/>
          <p:cNvSpPr/>
          <p:nvPr/>
        </p:nvSpPr>
        <p:spPr>
          <a:xfrm>
            <a:off x="8420100" y="4133088"/>
            <a:ext cx="3124200" cy="17101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叶片数、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投影叶面积 PLA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、周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长和直径。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数据按植株、生态型与播种后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天数关联。</a:t>
            </a:r>
            <a:endParaRPr lang="zh-CN" sz="1800" dirty="0"/>
          </a:p>
        </p:txBody>
      </p:sp>
      <p:sp>
        <p:nvSpPr>
          <p:cNvPr id="38" name="S03/card/groups-note/heading-rule"/>
          <p:cNvSpPr/>
          <p:nvPr/>
        </p:nvSpPr>
        <p:spPr>
          <a:xfrm>
            <a:off x="457200" y="4931759"/>
            <a:ext cx="7410450" cy="0"/>
          </a:xfrm>
          <a:prstGeom prst="line">
            <a:avLst/>
          </a:prstGeom>
          <a:noFill/>
          <a:ln w="9525">
            <a:solidFill>
              <a:srgbClr val="C5CFDA"/>
            </a:solidFill>
            <a:prstDash val="solid"/>
          </a:ln>
        </p:spPr>
      </p:sp>
      <p:sp>
        <p:nvSpPr>
          <p:cNvPr id="39" name="S03/card/groups-note/heading-mark"/>
          <p:cNvSpPr/>
          <p:nvPr/>
        </p:nvSpPr>
        <p:spPr>
          <a:xfrm>
            <a:off x="457200" y="4931759"/>
            <a:ext cx="342900" cy="0"/>
          </a:xfrm>
          <a:prstGeom prst="line">
            <a:avLst/>
          </a:prstGeom>
          <a:noFill/>
          <a:ln w="17145">
            <a:solidFill>
              <a:srgbClr val="536A7A"/>
            </a:solidFill>
            <a:prstDash val="solid"/>
          </a:ln>
        </p:spPr>
      </p:sp>
      <p:sp>
        <p:nvSpPr>
          <p:cNvPr id="40" name="S03/card/groups-note/title"/>
          <p:cNvSpPr/>
          <p:nvPr/>
        </p:nvSpPr>
        <p:spPr>
          <a:xfrm>
            <a:off x="457200" y="4588859"/>
            <a:ext cx="74104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生态型构成</a:t>
            </a:r>
            <a:endParaRPr lang="zh-CN" sz="1950" dirty="0"/>
          </a:p>
        </p:txBody>
      </p:sp>
      <p:sp>
        <p:nvSpPr>
          <p:cNvPr id="41" name="S03/card/groups-note/body"/>
          <p:cNvSpPr/>
          <p:nvPr/>
        </p:nvSpPr>
        <p:spPr>
          <a:xfrm>
            <a:off x="457200" y="5065109"/>
            <a:ext cx="7410450" cy="930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Col-0、ctr1、ein2.1、pgm 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各 5 株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，adh1 为 4 株。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原图使用 col0、ctr、ein2 等缩写。</a:t>
            </a:r>
            <a:endParaRPr lang="zh-CN" sz="1800" dirty="0"/>
          </a:p>
        </p:txBody>
      </p:sp>
      <p:sp>
        <p:nvSpPr>
          <p:cNvPr id="42" name="S03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P1 · 2026 · 10.1038/s41467-026-71090-y</a:t>
            </a:r>
            <a:endParaRPr lang="zh-CN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4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83B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04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/ 14</a:t>
            </a:r>
            <a:endParaRPr lang="zh-CN" sz="1050" dirty="0"/>
          </a:p>
        </p:txBody>
      </p:sp>
      <p:sp>
        <p:nvSpPr>
          <p:cNvPr id="4" name="S04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PLA 生长曲线显示生态型间的差异</a:t>
            </a:r>
            <a:endParaRPr lang="zh-CN" sz="3000" dirty="0"/>
          </a:p>
        </p:txBody>
      </p:sp>
      <p:sp>
        <p:nvSpPr>
          <p:cNvPr id="5" name="S04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C5CFDA"/>
            </a:solidFill>
            <a:prstDash val="solid"/>
          </a:ln>
        </p:spPr>
      </p:sp>
      <p:sp>
        <p:nvSpPr>
          <p:cNvPr id="6" name="S04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83B66"/>
            </a:solidFill>
            <a:prstDash val="solid"/>
          </a:ln>
        </p:spPr>
      </p:sp>
      <p:sp>
        <p:nvSpPr>
          <p:cNvPr id="7" name="S04/figure:0:paper"/>
          <p:cNvSpPr/>
          <p:nvPr/>
        </p:nvSpPr>
        <p:spPr>
          <a:xfrm>
            <a:off x="1104621" y="1276350"/>
            <a:ext cx="6515658" cy="4133850"/>
          </a:xfrm>
          <a:prstGeom prst="rect">
            <a:avLst/>
          </a:prstGeom>
          <a:solidFill>
            <a:srgbClr val="FFFFFF"/>
          </a:solidFill>
          <a:ln w="7620">
            <a:solidFill>
              <a:srgbClr val="CCD4DD"/>
            </a:solidFill>
            <a:prstDash val="solid"/>
          </a:ln>
          <a:effectLst>
            <a:outerShdw sx="100000" sy="100000" kx="0" ky="0" algn="bl" rotWithShape="0" blurRad="28575" dist="19050" dir="5400000">
              <a:srgbClr val="263B50">
                <a:alpha val="12000"/>
              </a:srgbClr>
            </a:outerShdw>
          </a:effectLst>
        </p:spPr>
      </p:sp>
      <p:pic>
        <p:nvPicPr>
          <p:cNvPr id="8" name="S04/figure:0:image" descr="作者 Case1 原始输出 · 对应 Fig. 3 · MIT">    </p:cNvPr>
          <p:cNvPicPr>
            <a:picLocks noChangeAspect="1"/>
          </p:cNvPicPr>
          <p:nvPr/>
        </p:nvPicPr>
        <p:blipFill>
          <a:blip r:embed="rId1"/>
          <a:srcRect l="6000" r="7500" t="6500" b="2500"/>
          <a:stretch/>
        </p:blipFill>
        <p:spPr>
          <a:xfrm>
            <a:off x="1133196" y="1304925"/>
            <a:ext cx="6458508" cy="4076700"/>
          </a:xfrm>
          <a:prstGeom prst="rect">
            <a:avLst/>
          </a:prstGeom>
        </p:spPr>
      </p:pic>
      <p:sp>
        <p:nvSpPr>
          <p:cNvPr id="9" name="S04/figure:0:legend:0:line"/>
          <p:cNvSpPr/>
          <p:nvPr/>
        </p:nvSpPr>
        <p:spPr>
          <a:xfrm>
            <a:off x="2024634" y="5695950"/>
            <a:ext cx="228600" cy="0"/>
          </a:xfrm>
          <a:prstGeom prst="line">
            <a:avLst/>
          </a:prstGeom>
          <a:noFill/>
          <a:ln w="28575">
            <a:solidFill>
              <a:srgbClr val="1F77B4"/>
            </a:solidFill>
            <a:prstDash val="solid"/>
          </a:ln>
        </p:spPr>
      </p:sp>
      <p:sp>
        <p:nvSpPr>
          <p:cNvPr id="10" name="S04/figure:0:legend:0:label"/>
          <p:cNvSpPr/>
          <p:nvPr/>
        </p:nvSpPr>
        <p:spPr>
          <a:xfrm>
            <a:off x="2338959" y="5562600"/>
            <a:ext cx="48234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zh-CN" altLang="en-US" sz="165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adh1</a:t>
            </a:r>
            <a:endParaRPr lang="zh-CN" sz="1650" dirty="0"/>
          </a:p>
        </p:txBody>
      </p:sp>
      <p:sp>
        <p:nvSpPr>
          <p:cNvPr id="11" name="S04/figure:0:legend:1:line"/>
          <p:cNvSpPr/>
          <p:nvPr/>
        </p:nvSpPr>
        <p:spPr>
          <a:xfrm>
            <a:off x="3049905" y="5695950"/>
            <a:ext cx="228600" cy="0"/>
          </a:xfrm>
          <a:prstGeom prst="line">
            <a:avLst/>
          </a:prstGeom>
          <a:noFill/>
          <a:ln w="28575">
            <a:solidFill>
              <a:srgbClr val="FF7F0E"/>
            </a:solidFill>
            <a:prstDash val="solid"/>
          </a:ln>
        </p:spPr>
      </p:sp>
      <p:sp>
        <p:nvSpPr>
          <p:cNvPr id="12" name="S04/figure:0:legend:1:label"/>
          <p:cNvSpPr/>
          <p:nvPr/>
        </p:nvSpPr>
        <p:spPr>
          <a:xfrm>
            <a:off x="3364230" y="5562600"/>
            <a:ext cx="48234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zh-CN" altLang="en-US" sz="165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col0</a:t>
            </a:r>
            <a:endParaRPr lang="zh-CN" sz="1650" dirty="0"/>
          </a:p>
        </p:txBody>
      </p:sp>
      <p:sp>
        <p:nvSpPr>
          <p:cNvPr id="13" name="S04/figure:0:legend:2:line"/>
          <p:cNvSpPr/>
          <p:nvPr/>
        </p:nvSpPr>
        <p:spPr>
          <a:xfrm>
            <a:off x="4075176" y="5695950"/>
            <a:ext cx="228600" cy="0"/>
          </a:xfrm>
          <a:prstGeom prst="line">
            <a:avLst/>
          </a:prstGeom>
          <a:noFill/>
          <a:ln w="28575">
            <a:solidFill>
              <a:srgbClr val="2CA02C"/>
            </a:solidFill>
            <a:prstDash val="solid"/>
          </a:ln>
        </p:spPr>
      </p:sp>
      <p:sp>
        <p:nvSpPr>
          <p:cNvPr id="14" name="S04/figure:0:legend:2:label"/>
          <p:cNvSpPr/>
          <p:nvPr/>
        </p:nvSpPr>
        <p:spPr>
          <a:xfrm>
            <a:off x="4389501" y="5562600"/>
            <a:ext cx="37128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zh-CN" altLang="en-US" sz="165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ctr</a:t>
            </a:r>
            <a:endParaRPr lang="zh-CN" sz="1650" dirty="0"/>
          </a:p>
        </p:txBody>
      </p:sp>
      <p:sp>
        <p:nvSpPr>
          <p:cNvPr id="15" name="S04/figure:0:legend:3:line"/>
          <p:cNvSpPr/>
          <p:nvPr/>
        </p:nvSpPr>
        <p:spPr>
          <a:xfrm>
            <a:off x="4989386" y="5695950"/>
            <a:ext cx="228600" cy="0"/>
          </a:xfrm>
          <a:prstGeom prst="line">
            <a:avLst/>
          </a:prstGeom>
          <a:noFill/>
          <a:ln w="28575">
            <a:solidFill>
              <a:srgbClr val="D62728"/>
            </a:solidFill>
            <a:prstDash val="solid"/>
          </a:ln>
        </p:spPr>
      </p:sp>
      <p:sp>
        <p:nvSpPr>
          <p:cNvPr id="16" name="S04/figure:0:legend:3:label"/>
          <p:cNvSpPr/>
          <p:nvPr/>
        </p:nvSpPr>
        <p:spPr>
          <a:xfrm>
            <a:off x="5303711" y="5562600"/>
            <a:ext cx="48234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zh-CN" altLang="en-US" sz="165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ein2</a:t>
            </a:r>
            <a:endParaRPr lang="zh-CN" sz="1650" dirty="0"/>
          </a:p>
        </p:txBody>
      </p:sp>
      <p:sp>
        <p:nvSpPr>
          <p:cNvPr id="17" name="S04/figure:0:legend:4:line"/>
          <p:cNvSpPr/>
          <p:nvPr/>
        </p:nvSpPr>
        <p:spPr>
          <a:xfrm>
            <a:off x="6014657" y="5695950"/>
            <a:ext cx="228600" cy="0"/>
          </a:xfrm>
          <a:prstGeom prst="line">
            <a:avLst/>
          </a:prstGeom>
          <a:noFill/>
          <a:ln w="28575">
            <a:solidFill>
              <a:srgbClr val="9467BD"/>
            </a:solidFill>
            <a:prstDash val="solid"/>
          </a:ln>
        </p:spPr>
      </p:sp>
      <p:sp>
        <p:nvSpPr>
          <p:cNvPr id="18" name="S04/figure:0:legend:4:label"/>
          <p:cNvSpPr/>
          <p:nvPr/>
        </p:nvSpPr>
        <p:spPr>
          <a:xfrm>
            <a:off x="6328982" y="5562600"/>
            <a:ext cx="37128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zh-CN" altLang="en-US" sz="165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pgm</a:t>
            </a:r>
            <a:endParaRPr lang="zh-CN" sz="1650" dirty="0"/>
          </a:p>
        </p:txBody>
      </p:sp>
      <p:sp>
        <p:nvSpPr>
          <p:cNvPr id="19" name="S04/figure:0:caption"/>
          <p:cNvSpPr/>
          <p:nvPr/>
        </p:nvSpPr>
        <p:spPr>
          <a:xfrm>
            <a:off x="457200" y="5915025"/>
            <a:ext cx="78105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作者 Case1 原始输出 · 对应 Fig. 3 · MIT</a:t>
            </a:r>
            <a:endParaRPr lang="zh-CN" sz="1350" dirty="0"/>
          </a:p>
        </p:txBody>
      </p:sp>
      <p:sp>
        <p:nvSpPr>
          <p:cNvPr id="20" name="S04/card/trend/frame"/>
          <p:cNvSpPr/>
          <p:nvPr/>
        </p:nvSpPr>
        <p:spPr>
          <a:xfrm>
            <a:off x="8553450" y="1257300"/>
            <a:ext cx="3181350" cy="1771650"/>
          </a:xfrm>
          <a:prstGeom prst="rect">
            <a:avLst/>
          </a:prstGeom>
          <a:solidFill>
            <a:srgbClr val="FFFFFF"/>
          </a:solidFill>
          <a:ln w="9525">
            <a:solidFill>
              <a:srgbClr val="C5CFDA"/>
            </a:solidFill>
            <a:prstDash val="solid"/>
          </a:ln>
          <a:effectLst>
            <a:outerShdw sx="100000" sy="100000" kx="0" ky="0" algn="bl" rotWithShape="0" blurRad="28575" dist="19050" dir="5400000">
              <a:srgbClr val="20334A">
                <a:alpha val="10000"/>
              </a:srgbClr>
            </a:outerShdw>
          </a:effectLst>
        </p:spPr>
      </p:sp>
      <p:sp>
        <p:nvSpPr>
          <p:cNvPr id="21" name="S04/card/trend/top-accent"/>
          <p:cNvSpPr/>
          <p:nvPr/>
        </p:nvSpPr>
        <p:spPr>
          <a:xfrm>
            <a:off x="8743950" y="1371600"/>
            <a:ext cx="400050" cy="0"/>
          </a:xfrm>
          <a:prstGeom prst="line">
            <a:avLst/>
          </a:prstGeom>
          <a:noFill/>
          <a:ln w="28575">
            <a:solidFill>
              <a:srgbClr val="146C63"/>
            </a:solidFill>
            <a:prstDash val="solid"/>
          </a:ln>
        </p:spPr>
      </p:sp>
      <p:sp>
        <p:nvSpPr>
          <p:cNvPr id="22" name="S04/card/trend/title"/>
          <p:cNvSpPr/>
          <p:nvPr/>
        </p:nvSpPr>
        <p:spPr>
          <a:xfrm>
            <a:off x="8743950" y="1457325"/>
            <a:ext cx="28003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曲线呈现的差异</a:t>
            </a:r>
            <a:endParaRPr lang="zh-CN" sz="1950" dirty="0"/>
          </a:p>
        </p:txBody>
      </p:sp>
      <p:sp>
        <p:nvSpPr>
          <p:cNvPr id="23" name="S04/card/trend/body"/>
          <p:cNvSpPr/>
          <p:nvPr/>
        </p:nvSpPr>
        <p:spPr>
          <a:xfrm>
            <a:off x="8743950" y="1924050"/>
            <a:ext cx="2800350" cy="914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平均 PLA 曲线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逐渐分离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ein2、col0 后期较高。</a:t>
            </a:r>
            <a:endParaRPr lang="zh-CN" sz="1800" dirty="0"/>
          </a:p>
        </p:txBody>
      </p:sp>
      <p:sp>
        <p:nvSpPr>
          <p:cNvPr id="24" name="S04/card/axis/base-rule"/>
          <p:cNvSpPr/>
          <p:nvPr/>
        </p:nvSpPr>
        <p:spPr>
          <a:xfrm>
            <a:off x="8553450" y="4667250"/>
            <a:ext cx="3181350" cy="0"/>
          </a:xfrm>
          <a:prstGeom prst="line">
            <a:avLst/>
          </a:prstGeom>
          <a:noFill/>
          <a:ln w="10478">
            <a:solidFill>
              <a:srgbClr val="C5CFDA"/>
            </a:solidFill>
            <a:prstDash val="solid"/>
          </a:ln>
        </p:spPr>
      </p:sp>
      <p:sp>
        <p:nvSpPr>
          <p:cNvPr id="25" name="S04/card/axis/side-mark"/>
          <p:cNvSpPr/>
          <p:nvPr/>
        </p:nvSpPr>
        <p:spPr>
          <a:xfrm>
            <a:off x="8553450" y="3162300"/>
            <a:ext cx="47625" cy="295275"/>
          </a:xfrm>
          <a:prstGeom prst="rect">
            <a:avLst/>
          </a:prstGeom>
          <a:solidFill>
            <a:srgbClr val="536A7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04/card/axis/title"/>
          <p:cNvSpPr/>
          <p:nvPr/>
        </p:nvSpPr>
        <p:spPr>
          <a:xfrm>
            <a:off x="8705850" y="3162300"/>
            <a:ext cx="30289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坐标与误差含义</a:t>
            </a:r>
            <a:endParaRPr lang="zh-CN" sz="1950" dirty="0"/>
          </a:p>
        </p:txBody>
      </p:sp>
      <p:sp>
        <p:nvSpPr>
          <p:cNvPr id="27" name="S04/card/axis/body"/>
          <p:cNvSpPr/>
          <p:nvPr/>
        </p:nvSpPr>
        <p:spPr>
          <a:xfrm>
            <a:off x="8705850" y="3581400"/>
            <a:ext cx="3028950" cy="990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横轴：播种后天数。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纵轴：投影叶面积。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阴影：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标准差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zh-CN" sz="1800" dirty="0"/>
          </a:p>
        </p:txBody>
      </p:sp>
      <p:sp>
        <p:nvSpPr>
          <p:cNvPr id="28" name="S04/card/test/frame"/>
          <p:cNvSpPr/>
          <p:nvPr/>
        </p:nvSpPr>
        <p:spPr>
          <a:xfrm>
            <a:off x="8553450" y="4895850"/>
            <a:ext cx="3181350" cy="1276350"/>
          </a:xfrm>
          <a:prstGeom prst="rect">
            <a:avLst/>
          </a:prstGeom>
          <a:solidFill>
            <a:srgbClr val="FFFFFF"/>
          </a:solidFill>
          <a:ln w="10478">
            <a:solidFill>
              <a:srgbClr val="C5CFDA"/>
            </a:solidFill>
            <a:prstDash val="solid"/>
          </a:ln>
        </p:spPr>
      </p:sp>
      <p:sp>
        <p:nvSpPr>
          <p:cNvPr id="29" name="S04/card/test/tab"/>
          <p:cNvSpPr/>
          <p:nvPr/>
        </p:nvSpPr>
        <p:spPr>
          <a:xfrm>
            <a:off x="8667750" y="4781550"/>
            <a:ext cx="1752600" cy="342900"/>
          </a:xfrm>
          <a:prstGeom prst="rect">
            <a:avLst/>
          </a:prstGeom>
          <a:solidFill>
            <a:srgbClr val="A247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04/card/test/title"/>
          <p:cNvSpPr/>
          <p:nvPr/>
        </p:nvSpPr>
        <p:spPr>
          <a:xfrm>
            <a:off x="8772525" y="4810125"/>
            <a:ext cx="15430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统计解释边界</a:t>
            </a:r>
            <a:endParaRPr lang="zh-CN" sz="1950" dirty="0"/>
          </a:p>
        </p:txBody>
      </p:sp>
      <p:sp>
        <p:nvSpPr>
          <p:cNvPr id="31" name="S04/card/test/body"/>
          <p:cNvSpPr/>
          <p:nvPr/>
        </p:nvSpPr>
        <p:spPr>
          <a:xfrm>
            <a:off x="8686800" y="5267325"/>
            <a:ext cx="2914650" cy="809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结论需结合统计检验。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下一页说明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重复测量模型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zh-CN" sz="1800" dirty="0"/>
          </a:p>
        </p:txBody>
      </p:sp>
      <p:sp>
        <p:nvSpPr>
          <p:cNvPr id="32" name="S04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P1 · 2026 · 10.1038/s41467-026-71090-y</a:t>
            </a:r>
            <a:endParaRPr lang="zh-CN" sz="11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5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83B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05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/ 14</a:t>
            </a:r>
            <a:endParaRPr lang="zh-CN" sz="1050" dirty="0"/>
          </a:p>
        </p:txBody>
      </p:sp>
      <p:sp>
        <p:nvSpPr>
          <p:cNvPr id="4" name="S05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重复测量检验支持案例内的生态型分组</a:t>
            </a:r>
            <a:endParaRPr lang="zh-CN" sz="3000" dirty="0"/>
          </a:p>
        </p:txBody>
      </p:sp>
      <p:sp>
        <p:nvSpPr>
          <p:cNvPr id="5" name="S05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C5CFDA"/>
            </a:solidFill>
            <a:prstDash val="solid"/>
          </a:ln>
        </p:spPr>
      </p:sp>
      <p:sp>
        <p:nvSpPr>
          <p:cNvPr id="6" name="S05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83B66"/>
            </a:solidFill>
            <a:prstDash val="solid"/>
          </a:ln>
        </p:spPr>
      </p:sp>
      <p:sp>
        <p:nvSpPr>
          <p:cNvPr id="7" name="S05/figure:0:paper"/>
          <p:cNvSpPr/>
          <p:nvPr/>
        </p:nvSpPr>
        <p:spPr>
          <a:xfrm>
            <a:off x="1938814" y="1390650"/>
            <a:ext cx="8314371" cy="1790700"/>
          </a:xfrm>
          <a:prstGeom prst="rect">
            <a:avLst/>
          </a:prstGeom>
          <a:solidFill>
            <a:srgbClr val="FFFFFF"/>
          </a:solidFill>
          <a:ln w="7620">
            <a:solidFill>
              <a:srgbClr val="CCD4DD"/>
            </a:solidFill>
            <a:prstDash val="solid"/>
          </a:ln>
          <a:effectLst>
            <a:outerShdw sx="100000" sy="100000" kx="0" ky="0" algn="bl" rotWithShape="0" blurRad="28575" dist="19050" dir="5400000">
              <a:srgbClr val="263B50">
                <a:alpha val="12000"/>
              </a:srgbClr>
            </a:outerShdw>
          </a:effectLst>
        </p:spPr>
      </p:sp>
      <p:pic>
        <p:nvPicPr>
          <p:cNvPr id="8" name="S05/figure:0:image" descr="Fig. 3 局部 · Chen et al., 2026 · CC BY 4.0">    </p:cNvPr>
          <p:cNvPicPr>
            <a:picLocks noChangeAspect="1"/>
          </p:cNvPicPr>
          <p:nvPr/>
        </p:nvPicPr>
        <p:blipFill>
          <a:blip r:embed="rId1"/>
          <a:srcRect l="50657" r="2044" t="75783" b="18459"/>
          <a:stretch/>
        </p:blipFill>
        <p:spPr>
          <a:xfrm>
            <a:off x="1967389" y="1419225"/>
            <a:ext cx="8257221" cy="1733550"/>
          </a:xfrm>
          <a:prstGeom prst="rect">
            <a:avLst/>
          </a:prstGeom>
        </p:spPr>
      </p:pic>
      <p:sp>
        <p:nvSpPr>
          <p:cNvPr id="9" name="S05/figure:0:caption"/>
          <p:cNvSpPr/>
          <p:nvPr/>
        </p:nvSpPr>
        <p:spPr>
          <a:xfrm>
            <a:off x="457200" y="3286125"/>
            <a:ext cx="112776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Fig. 3 局部 · Chen et al., 2026 · CC BY 4.0</a:t>
            </a:r>
            <a:endParaRPr lang="zh-CN" sz="1350" dirty="0"/>
          </a:p>
        </p:txBody>
      </p:sp>
      <p:sp>
        <p:nvSpPr>
          <p:cNvPr id="10" name="S05/card/model/title"/>
          <p:cNvSpPr/>
          <p:nvPr/>
        </p:nvSpPr>
        <p:spPr>
          <a:xfrm>
            <a:off x="457200" y="3829050"/>
            <a:ext cx="36385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检验模型</a:t>
            </a:r>
            <a:endParaRPr lang="zh-CN" sz="1950" dirty="0"/>
          </a:p>
        </p:txBody>
      </p:sp>
      <p:sp>
        <p:nvSpPr>
          <p:cNvPr id="11" name="S05/card/model/body"/>
          <p:cNvSpPr/>
          <p:nvPr/>
        </p:nvSpPr>
        <p:spPr>
          <a:xfrm>
            <a:off x="457200" y="4210050"/>
            <a:ext cx="3638550" cy="1847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因变量：PLA。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组内：播种后天数。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组间：生态型。</a:t>
            </a:r>
            <a:endParaRPr lang="zh-CN" sz="1800" dirty="0"/>
          </a:p>
        </p:txBody>
      </p:sp>
      <p:sp>
        <p:nvSpPr>
          <p:cNvPr id="12" name="S05/card/groups-result/frame"/>
          <p:cNvSpPr/>
          <p:nvPr/>
        </p:nvSpPr>
        <p:spPr>
          <a:xfrm>
            <a:off x="4276725" y="3810000"/>
            <a:ext cx="363855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FDA"/>
            </a:solidFill>
            <a:prstDash val="solid"/>
          </a:ln>
          <a:effectLst>
            <a:outerShdw sx="100000" sy="100000" kx="0" ky="0" algn="bl" rotWithShape="0" blurRad="28575" dist="19050" dir="5400000">
              <a:srgbClr val="20334A">
                <a:alpha val="10000"/>
              </a:srgbClr>
            </a:outerShdw>
          </a:effectLst>
        </p:spPr>
      </p:sp>
      <p:sp>
        <p:nvSpPr>
          <p:cNvPr id="13" name="S05/card/groups-result/top-accent"/>
          <p:cNvSpPr/>
          <p:nvPr/>
        </p:nvSpPr>
        <p:spPr>
          <a:xfrm>
            <a:off x="4467225" y="3924300"/>
            <a:ext cx="400050" cy="0"/>
          </a:xfrm>
          <a:prstGeom prst="line">
            <a:avLst/>
          </a:prstGeom>
          <a:noFill/>
          <a:ln w="28575">
            <a:solidFill>
              <a:srgbClr val="146C63"/>
            </a:solidFill>
            <a:prstDash val="solid"/>
          </a:ln>
        </p:spPr>
      </p:sp>
      <p:sp>
        <p:nvSpPr>
          <p:cNvPr id="14" name="S05/card/groups-result/title"/>
          <p:cNvSpPr/>
          <p:nvPr/>
        </p:nvSpPr>
        <p:spPr>
          <a:xfrm>
            <a:off x="4467225" y="4010025"/>
            <a:ext cx="325755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原文的分组</a:t>
            </a:r>
            <a:endParaRPr lang="zh-CN" sz="1950" dirty="0"/>
          </a:p>
        </p:txBody>
      </p:sp>
      <p:sp>
        <p:nvSpPr>
          <p:cNvPr id="15" name="S05/card/groups-result/body"/>
          <p:cNvSpPr/>
          <p:nvPr/>
        </p:nvSpPr>
        <p:spPr>
          <a:xfrm>
            <a:off x="4467225" y="4476750"/>
            <a:ext cx="3257550" cy="142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较大：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ein2.1、Col-0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中等：adh1、pgm。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较小：ctr1（图中 ctr）。</a:t>
            </a:r>
            <a:endParaRPr lang="zh-CN" sz="1800" dirty="0"/>
          </a:p>
        </p:txBody>
      </p:sp>
      <p:sp>
        <p:nvSpPr>
          <p:cNvPr id="16" name="S05/card/interpretation/frame"/>
          <p:cNvSpPr/>
          <p:nvPr/>
        </p:nvSpPr>
        <p:spPr>
          <a:xfrm>
            <a:off x="8096250" y="3924300"/>
            <a:ext cx="3638550" cy="2171700"/>
          </a:xfrm>
          <a:prstGeom prst="rect">
            <a:avLst/>
          </a:prstGeom>
          <a:solidFill>
            <a:srgbClr val="FFFFFF"/>
          </a:solidFill>
          <a:ln w="10478">
            <a:solidFill>
              <a:srgbClr val="C5CFDA"/>
            </a:solidFill>
            <a:prstDash val="solid"/>
          </a:ln>
        </p:spPr>
      </p:sp>
      <p:sp>
        <p:nvSpPr>
          <p:cNvPr id="17" name="S05/card/interpretation/tab"/>
          <p:cNvSpPr/>
          <p:nvPr/>
        </p:nvSpPr>
        <p:spPr>
          <a:xfrm>
            <a:off x="8210550" y="3810000"/>
            <a:ext cx="1257300" cy="342900"/>
          </a:xfrm>
          <a:prstGeom prst="rect">
            <a:avLst/>
          </a:prstGeom>
          <a:solidFill>
            <a:srgbClr val="A247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05/card/interpretation/title"/>
          <p:cNvSpPr/>
          <p:nvPr/>
        </p:nvSpPr>
        <p:spPr>
          <a:xfrm>
            <a:off x="8315325" y="3838575"/>
            <a:ext cx="1047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结论范围</a:t>
            </a:r>
            <a:endParaRPr lang="zh-CN" sz="1950" dirty="0"/>
          </a:p>
        </p:txBody>
      </p:sp>
      <p:sp>
        <p:nvSpPr>
          <p:cNvPr id="19" name="S05/card/interpretation/body"/>
          <p:cNvSpPr/>
          <p:nvPr/>
        </p:nvSpPr>
        <p:spPr>
          <a:xfrm>
            <a:off x="8229600" y="4295775"/>
            <a:ext cx="3371850" cy="1704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当前数据的重复测量分析。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阴影是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标准差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，不能直接当作显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著性检验。</a:t>
            </a:r>
            <a:endParaRPr lang="zh-CN" sz="1800" dirty="0"/>
          </a:p>
        </p:txBody>
      </p:sp>
      <p:sp>
        <p:nvSpPr>
          <p:cNvPr id="20" name="S05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P1 · 2026 · 10.1038/s41467-026-71090-y</a:t>
            </a:r>
            <a:endParaRPr lang="zh-CN" sz="11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6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83B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06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/ 14</a:t>
            </a:r>
            <a:endParaRPr lang="zh-CN" sz="1050" dirty="0"/>
          </a:p>
        </p:txBody>
      </p:sp>
      <p:sp>
        <p:nvSpPr>
          <p:cNvPr id="4" name="S06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马铃薯案例：PLA 与叶片干重的相关性</a:t>
            </a:r>
            <a:endParaRPr lang="zh-CN" sz="3000" dirty="0"/>
          </a:p>
        </p:txBody>
      </p:sp>
      <p:sp>
        <p:nvSpPr>
          <p:cNvPr id="5" name="S06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C5CFDA"/>
            </a:solidFill>
            <a:prstDash val="solid"/>
          </a:ln>
        </p:spPr>
      </p:sp>
      <p:sp>
        <p:nvSpPr>
          <p:cNvPr id="6" name="S06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83B66"/>
            </a:solidFill>
            <a:prstDash val="solid"/>
          </a:ln>
        </p:spPr>
      </p:sp>
      <p:sp>
        <p:nvSpPr>
          <p:cNvPr id="7" name="S06/figure:0:paper"/>
          <p:cNvSpPr/>
          <p:nvPr/>
        </p:nvSpPr>
        <p:spPr>
          <a:xfrm>
            <a:off x="476250" y="1417369"/>
            <a:ext cx="11239500" cy="2423062"/>
          </a:xfrm>
          <a:prstGeom prst="rect">
            <a:avLst/>
          </a:prstGeom>
          <a:solidFill>
            <a:srgbClr val="FFFFFF"/>
          </a:solidFill>
          <a:ln w="7620">
            <a:solidFill>
              <a:srgbClr val="CCD4DD"/>
            </a:solidFill>
            <a:prstDash val="solid"/>
          </a:ln>
          <a:effectLst>
            <a:outerShdw sx="100000" sy="100000" kx="0" ky="0" algn="bl" rotWithShape="0" blurRad="28575" dist="19050" dir="5400000">
              <a:srgbClr val="263B50">
                <a:alpha val="12000"/>
              </a:srgbClr>
            </a:outerShdw>
          </a:effectLst>
        </p:spPr>
      </p:sp>
      <p:pic>
        <p:nvPicPr>
          <p:cNvPr id="8" name="S06/figure:0:image" descr="Fig. 4 局部 · Chen et al., 2026 · CC BY 4.0">    </p:cNvPr>
          <p:cNvPicPr>
            <a:picLocks noChangeAspect="1"/>
          </p:cNvPicPr>
          <p:nvPr/>
        </p:nvPicPr>
        <p:blipFill>
          <a:blip r:embed="rId1"/>
          <a:srcRect l="1238" r="2477" t="72837" b="13982"/>
          <a:stretch/>
        </p:blipFill>
        <p:spPr>
          <a:xfrm>
            <a:off x="504825" y="1445944"/>
            <a:ext cx="11182350" cy="2365912"/>
          </a:xfrm>
          <a:prstGeom prst="rect">
            <a:avLst/>
          </a:prstGeom>
        </p:spPr>
      </p:pic>
      <p:sp>
        <p:nvSpPr>
          <p:cNvPr id="9" name="S06/figure:0:caption"/>
          <p:cNvSpPr/>
          <p:nvPr/>
        </p:nvSpPr>
        <p:spPr>
          <a:xfrm>
            <a:off x="457200" y="4086225"/>
            <a:ext cx="112776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Fig. 4 局部 · Chen et al., 2026 · CC BY 4.0</a:t>
            </a:r>
            <a:endParaRPr lang="zh-CN" sz="1350" dirty="0"/>
          </a:p>
        </p:txBody>
      </p:sp>
      <p:sp>
        <p:nvSpPr>
          <p:cNvPr id="10" name="S06/card/manual/base-rule"/>
          <p:cNvSpPr/>
          <p:nvPr/>
        </p:nvSpPr>
        <p:spPr>
          <a:xfrm>
            <a:off x="457200" y="6172200"/>
            <a:ext cx="3543300" cy="0"/>
          </a:xfrm>
          <a:prstGeom prst="line">
            <a:avLst/>
          </a:prstGeom>
          <a:noFill/>
          <a:ln w="10478">
            <a:solidFill>
              <a:srgbClr val="C5CFDA"/>
            </a:solidFill>
            <a:prstDash val="solid"/>
          </a:ln>
        </p:spPr>
      </p:sp>
      <p:sp>
        <p:nvSpPr>
          <p:cNvPr id="11" name="S06/card/manual/side-mark"/>
          <p:cNvSpPr/>
          <p:nvPr/>
        </p:nvSpPr>
        <p:spPr>
          <a:xfrm>
            <a:off x="457200" y="4591050"/>
            <a:ext cx="47625" cy="295275"/>
          </a:xfrm>
          <a:prstGeom prst="rect">
            <a:avLst/>
          </a:prstGeom>
          <a:solidFill>
            <a:srgbClr val="146C6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06/card/manual/title"/>
          <p:cNvSpPr/>
          <p:nvPr/>
        </p:nvSpPr>
        <p:spPr>
          <a:xfrm>
            <a:off x="609600" y="4591050"/>
            <a:ext cx="33909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人工叶面积 A</a:t>
            </a:r>
            <a:endParaRPr lang="zh-CN" sz="1950" dirty="0"/>
          </a:p>
        </p:txBody>
      </p:sp>
      <p:sp>
        <p:nvSpPr>
          <p:cNvPr id="13" name="S06/card/manual/metric"/>
          <p:cNvSpPr/>
          <p:nvPr/>
        </p:nvSpPr>
        <p:spPr>
          <a:xfrm>
            <a:off x="609600" y="5010150"/>
            <a:ext cx="3390900" cy="41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35"/>
              </a:lnSpc>
              <a:buNone/>
            </a:pPr>
            <a:r>
              <a:rPr lang="zh-CN" altLang="en-US" sz="28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0.8911 Pearson r</a:t>
            </a:r>
            <a:endParaRPr lang="zh-CN" sz="2850" dirty="0"/>
          </a:p>
        </p:txBody>
      </p:sp>
      <p:sp>
        <p:nvSpPr>
          <p:cNvPr id="14" name="S06/card/manual/metric-label"/>
          <p:cNvSpPr/>
          <p:nvPr/>
        </p:nvSpPr>
        <p:spPr>
          <a:xfrm>
            <a:off x="609600" y="5468112"/>
            <a:ext cx="3390900" cy="269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人工叶面积 A 与干重 W</a:t>
            </a:r>
            <a:endParaRPr lang="zh-CN" sz="1800" dirty="0"/>
          </a:p>
        </p:txBody>
      </p:sp>
      <p:sp>
        <p:nvSpPr>
          <p:cNvPr id="15" name="S06/card/manual/metric-context"/>
          <p:cNvSpPr/>
          <p:nvPr/>
        </p:nvSpPr>
        <p:spPr>
          <a:xfrm>
            <a:off x="609600" y="5775960"/>
            <a:ext cx="33909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同一案例的 32 幅图像</a:t>
            </a:r>
            <a:endParaRPr lang="zh-CN" sz="1800" dirty="0"/>
          </a:p>
        </p:txBody>
      </p:sp>
      <p:sp>
        <p:nvSpPr>
          <p:cNvPr id="16" name="S06/card/image-area/heading-rule"/>
          <p:cNvSpPr/>
          <p:nvPr/>
        </p:nvSpPr>
        <p:spPr>
          <a:xfrm>
            <a:off x="4324350" y="4933950"/>
            <a:ext cx="3543300" cy="0"/>
          </a:xfrm>
          <a:prstGeom prst="line">
            <a:avLst/>
          </a:prstGeom>
          <a:noFill/>
          <a:ln w="9525">
            <a:solidFill>
              <a:srgbClr val="C5CFDA"/>
            </a:solidFill>
            <a:prstDash val="solid"/>
          </a:ln>
        </p:spPr>
      </p:sp>
      <p:sp>
        <p:nvSpPr>
          <p:cNvPr id="17" name="S06/card/image-area/heading-mark"/>
          <p:cNvSpPr/>
          <p:nvPr/>
        </p:nvSpPr>
        <p:spPr>
          <a:xfrm>
            <a:off x="4324350" y="4933950"/>
            <a:ext cx="342900" cy="0"/>
          </a:xfrm>
          <a:prstGeom prst="line">
            <a:avLst/>
          </a:prstGeom>
          <a:noFill/>
          <a:ln w="17145">
            <a:solidFill>
              <a:srgbClr val="146C63"/>
            </a:solidFill>
            <a:prstDash val="solid"/>
          </a:ln>
        </p:spPr>
      </p:sp>
      <p:sp>
        <p:nvSpPr>
          <p:cNvPr id="18" name="S06/card/image-area/title"/>
          <p:cNvSpPr/>
          <p:nvPr/>
        </p:nvSpPr>
        <p:spPr>
          <a:xfrm>
            <a:off x="4324350" y="4591050"/>
            <a:ext cx="35433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图像表型 PLA</a:t>
            </a:r>
            <a:endParaRPr lang="zh-CN" sz="1950" dirty="0"/>
          </a:p>
        </p:txBody>
      </p:sp>
      <p:sp>
        <p:nvSpPr>
          <p:cNvPr id="19" name="S06/card/image-area/metric"/>
          <p:cNvSpPr/>
          <p:nvPr/>
        </p:nvSpPr>
        <p:spPr>
          <a:xfrm>
            <a:off x="4324350" y="5067300"/>
            <a:ext cx="3543300" cy="41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35"/>
              </a:lnSpc>
              <a:buNone/>
            </a:pPr>
            <a:r>
              <a:rPr lang="zh-CN" altLang="en-US" sz="28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0.7577 Pearson r</a:t>
            </a:r>
            <a:endParaRPr lang="zh-CN" sz="2850" dirty="0"/>
          </a:p>
        </p:txBody>
      </p:sp>
      <p:sp>
        <p:nvSpPr>
          <p:cNvPr id="20" name="S06/card/image-area/metric-label"/>
          <p:cNvSpPr/>
          <p:nvPr/>
        </p:nvSpPr>
        <p:spPr>
          <a:xfrm>
            <a:off x="4324350" y="5525262"/>
            <a:ext cx="3543300" cy="269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图像表型 PLA 与干重 W</a:t>
            </a:r>
            <a:endParaRPr lang="zh-CN" sz="1800" dirty="0"/>
          </a:p>
        </p:txBody>
      </p:sp>
      <p:sp>
        <p:nvSpPr>
          <p:cNvPr id="21" name="S06/card/image-area/metric-context"/>
          <p:cNvSpPr/>
          <p:nvPr/>
        </p:nvSpPr>
        <p:spPr>
          <a:xfrm>
            <a:off x="4324350" y="5833110"/>
            <a:ext cx="35433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模型：leaf-only SAM</a:t>
            </a:r>
            <a:endParaRPr lang="zh-CN" sz="1800" dirty="0"/>
          </a:p>
        </p:txBody>
      </p:sp>
      <p:sp>
        <p:nvSpPr>
          <p:cNvPr id="22" name="S06/card/correlation/frame"/>
          <p:cNvSpPr/>
          <p:nvPr/>
        </p:nvSpPr>
        <p:spPr>
          <a:xfrm>
            <a:off x="8191500" y="4686300"/>
            <a:ext cx="3543300" cy="1485900"/>
          </a:xfrm>
          <a:prstGeom prst="rect">
            <a:avLst/>
          </a:prstGeom>
          <a:solidFill>
            <a:srgbClr val="FFFFFF"/>
          </a:solidFill>
          <a:ln w="10478">
            <a:solidFill>
              <a:srgbClr val="C5CFDA"/>
            </a:solidFill>
            <a:prstDash val="solid"/>
          </a:ln>
        </p:spPr>
      </p:sp>
      <p:sp>
        <p:nvSpPr>
          <p:cNvPr id="23" name="S06/card/correlation/tab"/>
          <p:cNvSpPr/>
          <p:nvPr/>
        </p:nvSpPr>
        <p:spPr>
          <a:xfrm>
            <a:off x="8305800" y="4572000"/>
            <a:ext cx="1752600" cy="342900"/>
          </a:xfrm>
          <a:prstGeom prst="rect">
            <a:avLst/>
          </a:prstGeom>
          <a:solidFill>
            <a:srgbClr val="A247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06/card/correlation/title"/>
          <p:cNvSpPr/>
          <p:nvPr/>
        </p:nvSpPr>
        <p:spPr>
          <a:xfrm>
            <a:off x="8410575" y="4600575"/>
            <a:ext cx="15430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相关性的口径</a:t>
            </a:r>
            <a:endParaRPr lang="zh-CN" sz="1950" dirty="0"/>
          </a:p>
        </p:txBody>
      </p:sp>
      <p:sp>
        <p:nvSpPr>
          <p:cNvPr id="25" name="S06/card/correlation/body"/>
          <p:cNvSpPr/>
          <p:nvPr/>
        </p:nvSpPr>
        <p:spPr>
          <a:xfrm>
            <a:off x="8324850" y="5057775"/>
            <a:ext cx="3276600" cy="1019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32 幅图像的对应记录。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相关系数差异未作正式检验。</a:t>
            </a:r>
            <a:endParaRPr lang="zh-CN" sz="1800" dirty="0"/>
          </a:p>
        </p:txBody>
      </p:sp>
      <p:sp>
        <p:nvSpPr>
          <p:cNvPr id="26" name="S06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P1 · 2026 · 10.1038/s41467-026-71090-y</a:t>
            </a:r>
            <a:endParaRPr lang="zh-CN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7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83B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07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 / 14</a:t>
            </a:r>
            <a:endParaRPr lang="zh-CN" sz="1050" dirty="0"/>
          </a:p>
        </p:txBody>
      </p:sp>
      <p:sp>
        <p:nvSpPr>
          <p:cNvPr id="4" name="S07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冬小麦案例把新分类模型训练接入工具库</a:t>
            </a:r>
            <a:endParaRPr lang="zh-CN" sz="3000" dirty="0"/>
          </a:p>
        </p:txBody>
      </p:sp>
      <p:sp>
        <p:nvSpPr>
          <p:cNvPr id="5" name="S07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C5CFDA"/>
            </a:solidFill>
            <a:prstDash val="solid"/>
          </a:ln>
        </p:spPr>
      </p:sp>
      <p:sp>
        <p:nvSpPr>
          <p:cNvPr id="6" name="S07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83B66"/>
            </a:solidFill>
            <a:prstDash val="solid"/>
          </a:ln>
        </p:spPr>
      </p:sp>
      <p:sp>
        <p:nvSpPr>
          <p:cNvPr id="7" name="S07/panel:0:frame"/>
          <p:cNvSpPr/>
          <p:nvPr/>
        </p:nvSpPr>
        <p:spPr>
          <a:xfrm>
            <a:off x="457200" y="1167194"/>
            <a:ext cx="11277600" cy="1879378"/>
          </a:xfrm>
          <a:prstGeom prst="rect">
            <a:avLst/>
          </a:prstGeom>
          <a:solidFill>
            <a:srgbClr val="FFFFFF"/>
          </a:solidFill>
          <a:ln w="10478">
            <a:solidFill>
              <a:srgbClr val="C5CFDA"/>
            </a:solidFill>
            <a:prstDash val="solid"/>
          </a:ln>
        </p:spPr>
      </p:sp>
      <p:sp>
        <p:nvSpPr>
          <p:cNvPr id="8" name="S07/panel:0:heading-fill"/>
          <p:cNvSpPr/>
          <p:nvPr/>
        </p:nvSpPr>
        <p:spPr>
          <a:xfrm>
            <a:off x="466725" y="1176719"/>
            <a:ext cx="11258550" cy="381000"/>
          </a:xfrm>
          <a:prstGeom prst="rect">
            <a:avLst/>
          </a:prstGeom>
          <a:solidFill>
            <a:srgbClr val="EA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07/panel:0:heading-rule"/>
          <p:cNvSpPr/>
          <p:nvPr/>
        </p:nvSpPr>
        <p:spPr>
          <a:xfrm>
            <a:off x="457200" y="1557719"/>
            <a:ext cx="11277600" cy="0"/>
          </a:xfrm>
          <a:prstGeom prst="line">
            <a:avLst/>
          </a:prstGeom>
          <a:noFill/>
          <a:ln w="9525">
            <a:solidFill>
              <a:srgbClr val="C5CFDA"/>
            </a:solidFill>
            <a:prstDash val="solid"/>
          </a:ln>
        </p:spPr>
      </p:sp>
      <p:sp>
        <p:nvSpPr>
          <p:cNvPr id="10" name="S07/panel:0:title"/>
          <p:cNvSpPr/>
          <p:nvPr/>
        </p:nvSpPr>
        <p:spPr>
          <a:xfrm>
            <a:off x="581025" y="1214819"/>
            <a:ext cx="110299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从标注图像到可调用模型</a:t>
            </a:r>
            <a:endParaRPr lang="zh-CN" sz="1950" dirty="0"/>
          </a:p>
        </p:txBody>
      </p:sp>
      <p:sp>
        <p:nvSpPr>
          <p:cNvPr id="11" name="S07/edge:0"/>
          <p:cNvSpPr/>
          <p:nvPr/>
        </p:nvSpPr>
        <p:spPr>
          <a:xfrm>
            <a:off x="2762250" y="2275046"/>
            <a:ext cx="723900" cy="0"/>
          </a:xfrm>
          <a:prstGeom prst="line">
            <a:avLst/>
          </a:prstGeom>
          <a:noFill/>
          <a:ln w="15240">
            <a:solidFill>
              <a:srgbClr val="455C76"/>
            </a:solidFill>
            <a:prstDash val="solid"/>
            <a:tailEnd type="triangle"/>
          </a:ln>
        </p:spPr>
      </p:sp>
      <p:sp>
        <p:nvSpPr>
          <p:cNvPr id="12" name="S07/edge:1"/>
          <p:cNvSpPr/>
          <p:nvPr/>
        </p:nvSpPr>
        <p:spPr>
          <a:xfrm>
            <a:off x="5638800" y="2275046"/>
            <a:ext cx="742950" cy="0"/>
          </a:xfrm>
          <a:prstGeom prst="line">
            <a:avLst/>
          </a:prstGeom>
          <a:noFill/>
          <a:ln w="15240">
            <a:solidFill>
              <a:srgbClr val="455C76"/>
            </a:solidFill>
            <a:prstDash val="solid"/>
            <a:tailEnd type="triangle"/>
          </a:ln>
        </p:spPr>
      </p:sp>
      <p:sp>
        <p:nvSpPr>
          <p:cNvPr id="13" name="S07/edge:2"/>
          <p:cNvSpPr/>
          <p:nvPr/>
        </p:nvSpPr>
        <p:spPr>
          <a:xfrm>
            <a:off x="8534400" y="2275046"/>
            <a:ext cx="742950" cy="0"/>
          </a:xfrm>
          <a:prstGeom prst="line">
            <a:avLst/>
          </a:prstGeom>
          <a:noFill/>
          <a:ln w="15240">
            <a:solidFill>
              <a:srgbClr val="455C76"/>
            </a:solidFill>
            <a:prstDash val="solid"/>
            <a:tailEnd type="triangle"/>
          </a:ln>
        </p:spPr>
      </p:sp>
      <p:sp>
        <p:nvSpPr>
          <p:cNvPr id="14" name="S07/node:labelled-data:frame"/>
          <p:cNvSpPr/>
          <p:nvPr/>
        </p:nvSpPr>
        <p:spPr>
          <a:xfrm>
            <a:off x="609600" y="1701356"/>
            <a:ext cx="2152650" cy="1147381"/>
          </a:xfrm>
          <a:prstGeom prst="rect">
            <a:avLst/>
          </a:prstGeom>
          <a:solidFill>
            <a:srgbClr val="EAF2FA"/>
          </a:solidFill>
          <a:ln w="11430">
            <a:solidFill>
              <a:srgbClr val="C5CFDA"/>
            </a:solidFill>
            <a:prstDash val="solid"/>
          </a:ln>
        </p:spPr>
      </p:sp>
      <p:sp>
        <p:nvSpPr>
          <p:cNvPr id="15" name="S07/node:labelled-data:heading-rule"/>
          <p:cNvSpPr/>
          <p:nvPr/>
        </p:nvSpPr>
        <p:spPr>
          <a:xfrm>
            <a:off x="609600" y="1701356"/>
            <a:ext cx="215265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16" name="S07/node:labelled-data:label"/>
          <p:cNvSpPr/>
          <p:nvPr/>
        </p:nvSpPr>
        <p:spPr>
          <a:xfrm>
            <a:off x="723900" y="1796606"/>
            <a:ext cx="19240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标注图像</a:t>
            </a:r>
            <a:endParaRPr lang="zh-CN" sz="1800" dirty="0"/>
          </a:p>
        </p:txBody>
      </p:sp>
      <p:sp>
        <p:nvSpPr>
          <p:cNvPr id="17" name="S07/node:labelled-data:detail"/>
          <p:cNvSpPr/>
          <p:nvPr/>
        </p:nvSpPr>
        <p:spPr>
          <a:xfrm>
            <a:off x="723900" y="2110931"/>
            <a:ext cx="1924050" cy="652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冬小麦营养类别</a:t>
            </a:r>
            <a:endParaRPr lang="zh-CN" sz="1650" dirty="0"/>
          </a:p>
        </p:txBody>
      </p:sp>
      <p:sp>
        <p:nvSpPr>
          <p:cNvPr id="18" name="S07/node:prepare:frame"/>
          <p:cNvSpPr/>
          <p:nvPr/>
        </p:nvSpPr>
        <p:spPr>
          <a:xfrm>
            <a:off x="3486150" y="1701356"/>
            <a:ext cx="2152650" cy="1147381"/>
          </a:xfrm>
          <a:prstGeom prst="rect">
            <a:avLst/>
          </a:prstGeom>
          <a:solidFill>
            <a:srgbClr val="EAF2FA"/>
          </a:solidFill>
          <a:ln w="11430">
            <a:solidFill>
              <a:srgbClr val="C5CFDA"/>
            </a:solidFill>
            <a:prstDash val="solid"/>
          </a:ln>
        </p:spPr>
      </p:sp>
      <p:sp>
        <p:nvSpPr>
          <p:cNvPr id="19" name="S07/node:prepare:heading-rule"/>
          <p:cNvSpPr/>
          <p:nvPr/>
        </p:nvSpPr>
        <p:spPr>
          <a:xfrm>
            <a:off x="3486150" y="1701356"/>
            <a:ext cx="215265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20" name="S07/node:prepare:label"/>
          <p:cNvSpPr/>
          <p:nvPr/>
        </p:nvSpPr>
        <p:spPr>
          <a:xfrm>
            <a:off x="3600450" y="1796606"/>
            <a:ext cx="19240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数据预处理</a:t>
            </a:r>
            <a:endParaRPr lang="zh-CN" sz="1800" dirty="0"/>
          </a:p>
        </p:txBody>
      </p:sp>
      <p:sp>
        <p:nvSpPr>
          <p:cNvPr id="21" name="S07/node:prepare:detail"/>
          <p:cNvSpPr/>
          <p:nvPr/>
        </p:nvSpPr>
        <p:spPr>
          <a:xfrm>
            <a:off x="3600450" y="2110931"/>
            <a:ext cx="1924050" cy="652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划分与增强</a:t>
            </a:r>
            <a:endParaRPr lang="zh-CN" sz="1650" dirty="0"/>
          </a:p>
        </p:txBody>
      </p:sp>
      <p:sp>
        <p:nvSpPr>
          <p:cNvPr id="22" name="S07/node:train:frame"/>
          <p:cNvSpPr/>
          <p:nvPr/>
        </p:nvSpPr>
        <p:spPr>
          <a:xfrm>
            <a:off x="6381750" y="1701356"/>
            <a:ext cx="2152650" cy="1147381"/>
          </a:xfrm>
          <a:prstGeom prst="rect">
            <a:avLst/>
          </a:prstGeom>
          <a:solidFill>
            <a:srgbClr val="EAF2FA"/>
          </a:solidFill>
          <a:ln w="11430">
            <a:solidFill>
              <a:srgbClr val="C5CFDA"/>
            </a:solidFill>
            <a:prstDash val="solid"/>
          </a:ln>
        </p:spPr>
      </p:sp>
      <p:sp>
        <p:nvSpPr>
          <p:cNvPr id="23" name="S07/node:train:heading-rule"/>
          <p:cNvSpPr/>
          <p:nvPr/>
        </p:nvSpPr>
        <p:spPr>
          <a:xfrm>
            <a:off x="6381750" y="1701356"/>
            <a:ext cx="215265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24" name="S07/node:train:label"/>
          <p:cNvSpPr/>
          <p:nvPr/>
        </p:nvSpPr>
        <p:spPr>
          <a:xfrm>
            <a:off x="6496050" y="1796606"/>
            <a:ext cx="19240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训练视觉分类器</a:t>
            </a:r>
            <a:endParaRPr lang="zh-CN" sz="1800" dirty="0"/>
          </a:p>
        </p:txBody>
      </p:sp>
      <p:sp>
        <p:nvSpPr>
          <p:cNvPr id="25" name="S07/node:train:detail"/>
          <p:cNvSpPr/>
          <p:nvPr/>
        </p:nvSpPr>
        <p:spPr>
          <a:xfrm>
            <a:off x="6496050" y="2110931"/>
            <a:ext cx="1924050" cy="652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全量微调 / LoRA</a:t>
            </a:r>
            <a:endParaRPr lang="zh-CN" sz="1650" dirty="0"/>
          </a:p>
        </p:txBody>
      </p:sp>
      <p:sp>
        <p:nvSpPr>
          <p:cNvPr id="26" name="S07/node:save:frame"/>
          <p:cNvSpPr/>
          <p:nvPr/>
        </p:nvSpPr>
        <p:spPr>
          <a:xfrm>
            <a:off x="9277350" y="1701356"/>
            <a:ext cx="2305050" cy="1147381"/>
          </a:xfrm>
          <a:prstGeom prst="rect">
            <a:avLst/>
          </a:prstGeom>
          <a:solidFill>
            <a:srgbClr val="E9F4F0"/>
          </a:solidFill>
          <a:ln w="11430">
            <a:solidFill>
              <a:srgbClr val="C5CFDA"/>
            </a:solidFill>
            <a:prstDash val="solid"/>
          </a:ln>
        </p:spPr>
      </p:sp>
      <p:sp>
        <p:nvSpPr>
          <p:cNvPr id="27" name="S07/node:save:heading-rule"/>
          <p:cNvSpPr/>
          <p:nvPr/>
        </p:nvSpPr>
        <p:spPr>
          <a:xfrm>
            <a:off x="9277350" y="1701356"/>
            <a:ext cx="2305050" cy="0"/>
          </a:xfrm>
          <a:prstGeom prst="line">
            <a:avLst/>
          </a:prstGeom>
          <a:noFill/>
          <a:ln w="19050">
            <a:solidFill>
              <a:srgbClr val="146C63"/>
            </a:solidFill>
            <a:prstDash val="solid"/>
          </a:ln>
        </p:spPr>
      </p:sp>
      <p:sp>
        <p:nvSpPr>
          <p:cNvPr id="28" name="S07/node:save:label"/>
          <p:cNvSpPr/>
          <p:nvPr/>
        </p:nvSpPr>
        <p:spPr>
          <a:xfrm>
            <a:off x="9391650" y="1796606"/>
            <a:ext cx="20764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评价并入库</a:t>
            </a:r>
            <a:endParaRPr lang="zh-CN" sz="1800" dirty="0"/>
          </a:p>
        </p:txBody>
      </p:sp>
      <p:sp>
        <p:nvSpPr>
          <p:cNvPr id="29" name="S07/node:save:detail"/>
          <p:cNvSpPr/>
          <p:nvPr/>
        </p:nvSpPr>
        <p:spPr>
          <a:xfrm>
            <a:off x="9391650" y="2110931"/>
            <a:ext cx="2076450" cy="652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保存供后续选择</a:t>
            </a:r>
            <a:endParaRPr lang="zh-CN" sz="1650" dirty="0"/>
          </a:p>
        </p:txBody>
      </p:sp>
      <p:sp>
        <p:nvSpPr>
          <p:cNvPr id="30" name="S07/card/new-capability/frame"/>
          <p:cNvSpPr/>
          <p:nvPr/>
        </p:nvSpPr>
        <p:spPr>
          <a:xfrm>
            <a:off x="457200" y="3461956"/>
            <a:ext cx="3486150" cy="2492597"/>
          </a:xfrm>
          <a:prstGeom prst="rect">
            <a:avLst/>
          </a:prstGeom>
          <a:solidFill>
            <a:srgbClr val="FFFFFF"/>
          </a:solidFill>
          <a:ln w="9525">
            <a:solidFill>
              <a:srgbClr val="C5CFDA"/>
            </a:solidFill>
            <a:prstDash val="solid"/>
          </a:ln>
        </p:spPr>
      </p:sp>
      <p:sp>
        <p:nvSpPr>
          <p:cNvPr id="31" name="S07/card/new-capability/label"/>
          <p:cNvSpPr/>
          <p:nvPr/>
        </p:nvSpPr>
        <p:spPr>
          <a:xfrm>
            <a:off x="457200" y="3461956"/>
            <a:ext cx="1010983" cy="2492597"/>
          </a:xfrm>
          <a:prstGeom prst="rect">
            <a:avLst/>
          </a:prstGeom>
          <a:solidFill>
            <a:srgbClr val="EA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07/card/new-capability/split"/>
          <p:cNvSpPr/>
          <p:nvPr/>
        </p:nvSpPr>
        <p:spPr>
          <a:xfrm>
            <a:off x="1468183" y="3633406"/>
            <a:ext cx="0" cy="2149697"/>
          </a:xfrm>
          <a:prstGeom prst="line">
            <a:avLst/>
          </a:prstGeom>
          <a:noFill/>
          <a:ln w="13335">
            <a:solidFill>
              <a:srgbClr val="235E96"/>
            </a:solidFill>
            <a:prstDash val="solid"/>
          </a:ln>
        </p:spPr>
      </p:sp>
      <p:sp>
        <p:nvSpPr>
          <p:cNvPr id="33" name="S07/card/new-capability/title"/>
          <p:cNvSpPr/>
          <p:nvPr/>
        </p:nvSpPr>
        <p:spPr>
          <a:xfrm>
            <a:off x="600075" y="3652457"/>
            <a:ext cx="725233" cy="2092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</a:t>
            </a:r>
            <a:endParaRPr lang="zh-CN" sz="1950" dirty="0"/>
          </a:p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扩展</a:t>
            </a:r>
            <a:endParaRPr lang="zh-CN" sz="1950" dirty="0"/>
          </a:p>
        </p:txBody>
      </p:sp>
      <p:sp>
        <p:nvSpPr>
          <p:cNvPr id="34" name="S07/card/new-capability/body"/>
          <p:cNvSpPr/>
          <p:nvPr/>
        </p:nvSpPr>
        <p:spPr>
          <a:xfrm>
            <a:off x="1639633" y="3642932"/>
            <a:ext cx="2141792" cy="2121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缺少合适模型时，系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统提出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训练需求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并调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用训练工具。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用户仍需提供与目标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任务对应的标注数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据。</a:t>
            </a:r>
            <a:endParaRPr lang="zh-CN" sz="1800" dirty="0"/>
          </a:p>
        </p:txBody>
      </p:sp>
      <p:sp>
        <p:nvSpPr>
          <p:cNvPr id="35" name="S07/card/evaluation-unit/frame"/>
          <p:cNvSpPr/>
          <p:nvPr/>
        </p:nvSpPr>
        <p:spPr>
          <a:xfrm>
            <a:off x="4210050" y="3461956"/>
            <a:ext cx="3505200" cy="2492597"/>
          </a:xfrm>
          <a:prstGeom prst="rect">
            <a:avLst/>
          </a:prstGeom>
          <a:solidFill>
            <a:srgbClr val="FFFFFF"/>
          </a:solidFill>
          <a:ln w="10478">
            <a:solidFill>
              <a:srgbClr val="C5CFDA"/>
            </a:solidFill>
            <a:prstDash val="solid"/>
          </a:ln>
        </p:spPr>
      </p:sp>
      <p:sp>
        <p:nvSpPr>
          <p:cNvPr id="36" name="S07/card/evaluation-unit/heading-fill"/>
          <p:cNvSpPr/>
          <p:nvPr/>
        </p:nvSpPr>
        <p:spPr>
          <a:xfrm>
            <a:off x="4219575" y="3471482"/>
            <a:ext cx="3486150" cy="371475"/>
          </a:xfrm>
          <a:prstGeom prst="rect">
            <a:avLst/>
          </a:prstGeom>
          <a:solidFill>
            <a:srgbClr val="F0F3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07/card/evaluation-unit/heading-rule"/>
          <p:cNvSpPr/>
          <p:nvPr/>
        </p:nvSpPr>
        <p:spPr>
          <a:xfrm>
            <a:off x="4210050" y="3842956"/>
            <a:ext cx="3505200" cy="0"/>
          </a:xfrm>
          <a:prstGeom prst="line">
            <a:avLst/>
          </a:prstGeom>
          <a:noFill/>
          <a:ln w="9525">
            <a:solidFill>
              <a:srgbClr val="C5CFDA"/>
            </a:solidFill>
            <a:prstDash val="solid"/>
          </a:ln>
        </p:spPr>
      </p:sp>
      <p:sp>
        <p:nvSpPr>
          <p:cNvPr id="38" name="S07/card/evaluation-unit/title"/>
          <p:cNvSpPr/>
          <p:nvPr/>
        </p:nvSpPr>
        <p:spPr>
          <a:xfrm>
            <a:off x="4333875" y="3509582"/>
            <a:ext cx="32575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评价层级</a:t>
            </a:r>
            <a:endParaRPr lang="zh-CN" sz="1950" dirty="0"/>
          </a:p>
        </p:txBody>
      </p:sp>
      <p:sp>
        <p:nvSpPr>
          <p:cNvPr id="39" name="S07/card/evaluation-unit/body"/>
          <p:cNvSpPr/>
          <p:nvPr/>
        </p:nvSpPr>
        <p:spPr>
          <a:xfrm>
            <a:off x="4343400" y="3947732"/>
            <a:ext cx="3238500" cy="1911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训练与验证反映当前模型建立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过程。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跨地点、季节和采集条件的泛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化，需要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独立数据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zh-CN" sz="1800" dirty="0"/>
          </a:p>
        </p:txBody>
      </p:sp>
      <p:sp>
        <p:nvSpPr>
          <p:cNvPr id="40" name="S07/card/agronomic/frame"/>
          <p:cNvSpPr/>
          <p:nvPr/>
        </p:nvSpPr>
        <p:spPr>
          <a:xfrm>
            <a:off x="7981950" y="3576256"/>
            <a:ext cx="3752850" cy="2378297"/>
          </a:xfrm>
          <a:prstGeom prst="rect">
            <a:avLst/>
          </a:prstGeom>
          <a:solidFill>
            <a:srgbClr val="FFFFFF"/>
          </a:solidFill>
          <a:ln w="10478">
            <a:solidFill>
              <a:srgbClr val="C5CFDA"/>
            </a:solidFill>
            <a:prstDash val="solid"/>
          </a:ln>
        </p:spPr>
      </p:sp>
      <p:sp>
        <p:nvSpPr>
          <p:cNvPr id="41" name="S07/card/agronomic/tab"/>
          <p:cNvSpPr/>
          <p:nvPr/>
        </p:nvSpPr>
        <p:spPr>
          <a:xfrm>
            <a:off x="8096250" y="3461956"/>
            <a:ext cx="1257300" cy="342900"/>
          </a:xfrm>
          <a:prstGeom prst="rect">
            <a:avLst/>
          </a:prstGeom>
          <a:solidFill>
            <a:srgbClr val="A247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07/card/agronomic/title"/>
          <p:cNvSpPr/>
          <p:nvPr/>
        </p:nvSpPr>
        <p:spPr>
          <a:xfrm>
            <a:off x="8201025" y="3490531"/>
            <a:ext cx="1047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农艺解释</a:t>
            </a:r>
            <a:endParaRPr lang="zh-CN" sz="1950" dirty="0"/>
          </a:p>
        </p:txBody>
      </p:sp>
      <p:sp>
        <p:nvSpPr>
          <p:cNvPr id="43" name="S07/card/agronomic/body"/>
          <p:cNvSpPr/>
          <p:nvPr/>
        </p:nvSpPr>
        <p:spPr>
          <a:xfrm>
            <a:off x="8115300" y="3947732"/>
            <a:ext cx="3486150" cy="1911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识别营养类别不等于确定施肥动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决策收益需要处理对照、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实际执行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与农艺终点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zh-CN" sz="1800" dirty="0"/>
          </a:p>
        </p:txBody>
      </p:sp>
      <p:sp>
        <p:nvSpPr>
          <p:cNvPr id="44" name="S07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P1 · 2026 · 10.1038/s41467-026-71090-y</a:t>
            </a:r>
            <a:endParaRPr lang="zh-CN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8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83B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08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 / 14</a:t>
            </a:r>
            <a:endParaRPr lang="zh-CN" sz="1050" dirty="0"/>
          </a:p>
        </p:txBody>
      </p:sp>
      <p:sp>
        <p:nvSpPr>
          <p:cNvPr id="4" name="S08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Critic 提高了工具链评分，执行正确性仍需另测</a:t>
            </a:r>
            <a:endParaRPr lang="zh-CN" sz="3000" dirty="0"/>
          </a:p>
        </p:txBody>
      </p:sp>
      <p:sp>
        <p:nvSpPr>
          <p:cNvPr id="5" name="S08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C5CFDA"/>
            </a:solidFill>
            <a:prstDash val="solid"/>
          </a:ln>
        </p:spPr>
      </p:sp>
      <p:sp>
        <p:nvSpPr>
          <p:cNvPr id="6" name="S08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83B66"/>
            </a:solidFill>
            <a:prstDash val="solid"/>
          </a:ln>
        </p:spPr>
      </p:sp>
      <p:graphicFrame>
        <p:nvGraphicFramePr>
          <p:cNvPr id="9" name="S08/dat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7381"/>
          <a:ext cx="7200900" cy="2403729"/>
        </p:xfrm>
        <a:graphic>
          <a:graphicData uri="http://schemas.openxmlformats.org/drawingml/2006/table">
            <a:tbl>
              <a:tblPr/>
              <a:tblGrid>
                <a:gridCol w="2400300"/>
                <a:gridCol w="2400300"/>
                <a:gridCol w="2400300"/>
              </a:tblGrid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83B66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评分维度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83B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83B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83B66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Manager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83B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83B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83B66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Manager + Critic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83B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83B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71C2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整体工具链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5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71C2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4.25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5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71C2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4.35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5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71C2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工具存在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5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71C2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5.00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5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71C2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5.00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5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71C2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工具适用性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5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71C2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4.65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5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71C2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4.90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5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71C2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参数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5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71C2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4.30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5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71C2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4.40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5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71C2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报告平均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83B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71C2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4.55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83B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71C2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4.66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83B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08/table-caption"/>
          <p:cNvSpPr/>
          <p:nvPr/>
        </p:nvSpPr>
        <p:spPr>
          <a:xfrm>
            <a:off x="457200" y="3617786"/>
            <a:ext cx="72009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47"/>
              </a:lnSpc>
              <a:buNone/>
            </a:pPr>
            <a:r>
              <a:rPr lang="zh-CN" altLang="en-US" sz="1350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1–5 分，各列对同一 20 项工具选择任务平均。按 Table 1 转录。</a:t>
            </a:r>
            <a:endParaRPr lang="zh-CN" sz="1350" dirty="0"/>
          </a:p>
        </p:txBody>
      </p:sp>
      <p:sp>
        <p:nvSpPr>
          <p:cNvPr id="9" name="S08/card/judge/frame"/>
          <p:cNvSpPr/>
          <p:nvPr/>
        </p:nvSpPr>
        <p:spPr>
          <a:xfrm>
            <a:off x="7981950" y="1147381"/>
            <a:ext cx="3752850" cy="2096929"/>
          </a:xfrm>
          <a:prstGeom prst="rect">
            <a:avLst/>
          </a:prstGeom>
          <a:solidFill>
            <a:srgbClr val="FFFFFF"/>
          </a:solidFill>
          <a:ln w="10478">
            <a:solidFill>
              <a:srgbClr val="C5CFDA"/>
            </a:solidFill>
            <a:prstDash val="solid"/>
          </a:ln>
        </p:spPr>
      </p:sp>
      <p:sp>
        <p:nvSpPr>
          <p:cNvPr id="10" name="S08/card/judge/heading-fill"/>
          <p:cNvSpPr/>
          <p:nvPr/>
        </p:nvSpPr>
        <p:spPr>
          <a:xfrm>
            <a:off x="7991475" y="1156907"/>
            <a:ext cx="3733800" cy="371475"/>
          </a:xfrm>
          <a:prstGeom prst="rect">
            <a:avLst/>
          </a:prstGeom>
          <a:solidFill>
            <a:srgbClr val="F0F3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08/card/judge/heading-rule"/>
          <p:cNvSpPr/>
          <p:nvPr/>
        </p:nvSpPr>
        <p:spPr>
          <a:xfrm>
            <a:off x="7981950" y="1528381"/>
            <a:ext cx="3752850" cy="0"/>
          </a:xfrm>
          <a:prstGeom prst="line">
            <a:avLst/>
          </a:prstGeom>
          <a:noFill/>
          <a:ln w="9525">
            <a:solidFill>
              <a:srgbClr val="C5CFDA"/>
            </a:solidFill>
            <a:prstDash val="solid"/>
          </a:ln>
        </p:spPr>
      </p:sp>
      <p:sp>
        <p:nvSpPr>
          <p:cNvPr id="12" name="S08/card/judge/title"/>
          <p:cNvSpPr/>
          <p:nvPr/>
        </p:nvSpPr>
        <p:spPr>
          <a:xfrm>
            <a:off x="8105775" y="1195007"/>
            <a:ext cx="35052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评价者与输入</a:t>
            </a:r>
            <a:endParaRPr lang="zh-CN" sz="1950" dirty="0"/>
          </a:p>
        </p:txBody>
      </p:sp>
      <p:sp>
        <p:nvSpPr>
          <p:cNvPr id="13" name="S08/card/judge/body"/>
          <p:cNvSpPr/>
          <p:nvPr/>
        </p:nvSpPr>
        <p:spPr>
          <a:xfrm>
            <a:off x="8115300" y="1633156"/>
            <a:ext cx="3486150" cy="1515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GPT-4o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读取任务、工具定义与计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划。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Critic 检查并修订 manager 的工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具链。</a:t>
            </a:r>
            <a:endParaRPr lang="zh-CN" sz="1800" dirty="0"/>
          </a:p>
        </p:txBody>
      </p:sp>
      <p:sp>
        <p:nvSpPr>
          <p:cNvPr id="14" name="S08/card/execution/frame"/>
          <p:cNvSpPr/>
          <p:nvPr/>
        </p:nvSpPr>
        <p:spPr>
          <a:xfrm>
            <a:off x="7981950" y="3596069"/>
            <a:ext cx="3752850" cy="2398109"/>
          </a:xfrm>
          <a:prstGeom prst="rect">
            <a:avLst/>
          </a:prstGeom>
          <a:solidFill>
            <a:srgbClr val="FFFFFF"/>
          </a:solidFill>
          <a:ln w="10478">
            <a:solidFill>
              <a:srgbClr val="C5CFDA"/>
            </a:solidFill>
            <a:prstDash val="solid"/>
          </a:ln>
        </p:spPr>
      </p:sp>
      <p:sp>
        <p:nvSpPr>
          <p:cNvPr id="15" name="S08/card/execution/tab"/>
          <p:cNvSpPr/>
          <p:nvPr/>
        </p:nvSpPr>
        <p:spPr>
          <a:xfrm>
            <a:off x="8096250" y="3481769"/>
            <a:ext cx="2000250" cy="342900"/>
          </a:xfrm>
          <a:prstGeom prst="rect">
            <a:avLst/>
          </a:prstGeom>
          <a:solidFill>
            <a:srgbClr val="A247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08/card/execution/title"/>
          <p:cNvSpPr/>
          <p:nvPr/>
        </p:nvSpPr>
        <p:spPr>
          <a:xfrm>
            <a:off x="8201025" y="3510344"/>
            <a:ext cx="17907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本项未执行工具</a:t>
            </a:r>
            <a:endParaRPr lang="zh-CN" sz="1950" dirty="0"/>
          </a:p>
        </p:txBody>
      </p:sp>
      <p:sp>
        <p:nvSpPr>
          <p:cNvPr id="17" name="S08/card/execution/body"/>
          <p:cNvSpPr/>
          <p:nvPr/>
        </p:nvSpPr>
        <p:spPr>
          <a:xfrm>
            <a:off x="8115300" y="3967544"/>
            <a:ext cx="3486150" cy="1931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评分对象为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计划的选择与顺序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分数不能换算成任务成功率，也不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能替代结果核查。</a:t>
            </a:r>
            <a:endParaRPr lang="zh-CN" sz="1800" dirty="0"/>
          </a:p>
        </p:txBody>
      </p:sp>
      <p:sp>
        <p:nvSpPr>
          <p:cNvPr id="18" name="S08/card/effect-size/frame"/>
          <p:cNvSpPr/>
          <p:nvPr/>
        </p:nvSpPr>
        <p:spPr>
          <a:xfrm>
            <a:off x="457200" y="4017835"/>
            <a:ext cx="7200900" cy="1879378"/>
          </a:xfrm>
          <a:prstGeom prst="rect">
            <a:avLst/>
          </a:prstGeom>
          <a:solidFill>
            <a:srgbClr val="FFFFFF"/>
          </a:solidFill>
          <a:ln w="10478">
            <a:solidFill>
              <a:srgbClr val="C5CFDA"/>
            </a:solidFill>
            <a:prstDash val="solid"/>
          </a:ln>
        </p:spPr>
      </p:sp>
      <p:sp>
        <p:nvSpPr>
          <p:cNvPr id="19" name="S08/card/effect-size/heading-fill"/>
          <p:cNvSpPr/>
          <p:nvPr/>
        </p:nvSpPr>
        <p:spPr>
          <a:xfrm>
            <a:off x="466725" y="4027361"/>
            <a:ext cx="7181850" cy="371475"/>
          </a:xfrm>
          <a:prstGeom prst="rect">
            <a:avLst/>
          </a:prstGeom>
          <a:solidFill>
            <a:srgbClr val="E9F4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08/card/effect-size/heading-rule"/>
          <p:cNvSpPr/>
          <p:nvPr/>
        </p:nvSpPr>
        <p:spPr>
          <a:xfrm>
            <a:off x="457200" y="4398836"/>
            <a:ext cx="7200900" cy="0"/>
          </a:xfrm>
          <a:prstGeom prst="line">
            <a:avLst/>
          </a:prstGeom>
          <a:noFill/>
          <a:ln w="9525">
            <a:solidFill>
              <a:srgbClr val="C5CFDA"/>
            </a:solidFill>
            <a:prstDash val="solid"/>
          </a:ln>
        </p:spPr>
      </p:sp>
      <p:sp>
        <p:nvSpPr>
          <p:cNvPr id="21" name="S08/card/effect-size/title"/>
          <p:cNvSpPr/>
          <p:nvPr/>
        </p:nvSpPr>
        <p:spPr>
          <a:xfrm>
            <a:off x="581025" y="4065461"/>
            <a:ext cx="69532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可支持的结论</a:t>
            </a:r>
            <a:endParaRPr lang="zh-CN" sz="1950" dirty="0"/>
          </a:p>
        </p:txBody>
      </p:sp>
      <p:sp>
        <p:nvSpPr>
          <p:cNvPr id="22" name="S08/card/effect-size/metric"/>
          <p:cNvSpPr/>
          <p:nvPr/>
        </p:nvSpPr>
        <p:spPr>
          <a:xfrm>
            <a:off x="590550" y="4503611"/>
            <a:ext cx="6934200" cy="41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35"/>
              </a:lnSpc>
              <a:buNone/>
            </a:pPr>
            <a:r>
              <a:rPr lang="zh-CN" altLang="en-US" sz="28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4.55 → 4.66 /5</a:t>
            </a:r>
            <a:endParaRPr lang="zh-CN" sz="2850" dirty="0"/>
          </a:p>
        </p:txBody>
      </p:sp>
      <p:sp>
        <p:nvSpPr>
          <p:cNvPr id="23" name="S08/card/effect-size/metric-label"/>
          <p:cNvSpPr/>
          <p:nvPr/>
        </p:nvSpPr>
        <p:spPr>
          <a:xfrm>
            <a:off x="590550" y="4961573"/>
            <a:ext cx="6934200" cy="269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 20 项任务的报告平均</a:t>
            </a:r>
            <a:endParaRPr lang="zh-CN" sz="1800" dirty="0"/>
          </a:p>
        </p:txBody>
      </p:sp>
      <p:sp>
        <p:nvSpPr>
          <p:cNvPr id="24" name="S08/card/effect-size/metric-context"/>
          <p:cNvSpPr/>
          <p:nvPr/>
        </p:nvSpPr>
        <p:spPr>
          <a:xfrm>
            <a:off x="590550" y="5269421"/>
            <a:ext cx="6934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GPT-4o 对工具链计划评分，未执行工具</a:t>
            </a:r>
            <a:endParaRPr lang="zh-CN" sz="1800" dirty="0"/>
          </a:p>
        </p:txBody>
      </p:sp>
      <p:sp>
        <p:nvSpPr>
          <p:cNvPr id="25" name="S08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P1 · 2026 · 10.1038/s41467-026-71090-y</a:t>
            </a:r>
            <a:endParaRPr lang="zh-CN" sz="11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9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83B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09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 / 14</a:t>
            </a:r>
            <a:endParaRPr lang="zh-CN" sz="1050" dirty="0"/>
          </a:p>
        </p:txBody>
      </p:sp>
      <p:sp>
        <p:nvSpPr>
          <p:cNvPr id="4" name="S09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模型选择与数据分析使用不同任务集</a:t>
            </a:r>
            <a:endParaRPr lang="zh-CN" sz="3000" dirty="0"/>
          </a:p>
        </p:txBody>
      </p:sp>
      <p:sp>
        <p:nvSpPr>
          <p:cNvPr id="5" name="S09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C5CFDA"/>
            </a:solidFill>
            <a:prstDash val="solid"/>
          </a:ln>
        </p:spPr>
      </p:sp>
      <p:sp>
        <p:nvSpPr>
          <p:cNvPr id="6" name="S09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83B66"/>
            </a:solidFill>
            <a:prstDash val="solid"/>
          </a:ln>
        </p:spPr>
      </p:sp>
      <p:graphicFrame>
        <p:nvGraphicFramePr>
          <p:cNvPr id="10" name="S09/dat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75046"/>
          <a:ext cx="11277600" cy="1602486"/>
        </p:xfrm>
        <a:graphic>
          <a:graphicData uri="http://schemas.openxmlformats.org/drawingml/2006/table">
            <a:tbl>
              <a:tblPr/>
              <a:tblGrid>
                <a:gridCol w="2819400"/>
                <a:gridCol w="2819400"/>
                <a:gridCol w="2819400"/>
                <a:gridCol w="2819400"/>
              </a:tblGrid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83B66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评价对象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83B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83B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83B66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任务数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83B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83B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83B66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评价方式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83B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83B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83B66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正确项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83B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83B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71C2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模型类型选择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5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71C2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50 项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5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71C2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人工检查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5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71C2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50/50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5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71C2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具体模型选择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5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71C2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20 项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5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71C2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人工检查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5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71C2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20/20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5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71C2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数据分析输出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83B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71C2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20 项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83B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71C2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人工检查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83B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71C2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17/20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83B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09/table-caption"/>
          <p:cNvSpPr/>
          <p:nvPr/>
        </p:nvSpPr>
        <p:spPr>
          <a:xfrm>
            <a:off x="457200" y="3944207"/>
            <a:ext cx="11277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47"/>
              </a:lnSpc>
              <a:buNone/>
            </a:pPr>
            <a:r>
              <a:rPr lang="zh-CN" altLang="en-US" sz="1350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各行为独立定义的评价任务集，不能合并为同一种准确率。</a:t>
            </a:r>
            <a:endParaRPr lang="zh-CN" sz="1350" dirty="0"/>
          </a:p>
        </p:txBody>
      </p:sp>
      <p:sp>
        <p:nvSpPr>
          <p:cNvPr id="9" name="S09/card/set-design/frame"/>
          <p:cNvSpPr/>
          <p:nvPr/>
        </p:nvSpPr>
        <p:spPr>
          <a:xfrm>
            <a:off x="457200" y="4363307"/>
            <a:ext cx="5467350" cy="1760696"/>
          </a:xfrm>
          <a:prstGeom prst="rect">
            <a:avLst/>
          </a:prstGeom>
          <a:solidFill>
            <a:srgbClr val="FFFFFF"/>
          </a:solidFill>
          <a:ln w="10478">
            <a:solidFill>
              <a:srgbClr val="C5CFDA"/>
            </a:solidFill>
            <a:prstDash val="solid"/>
          </a:ln>
        </p:spPr>
      </p:sp>
      <p:sp>
        <p:nvSpPr>
          <p:cNvPr id="10" name="S09/card/set-design/heading-fill"/>
          <p:cNvSpPr/>
          <p:nvPr/>
        </p:nvSpPr>
        <p:spPr>
          <a:xfrm>
            <a:off x="466725" y="4372832"/>
            <a:ext cx="5448300" cy="371475"/>
          </a:xfrm>
          <a:prstGeom prst="rect">
            <a:avLst/>
          </a:prstGeom>
          <a:solidFill>
            <a:srgbClr val="F0F3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09/card/set-design/heading-rule"/>
          <p:cNvSpPr/>
          <p:nvPr/>
        </p:nvSpPr>
        <p:spPr>
          <a:xfrm>
            <a:off x="457200" y="4744307"/>
            <a:ext cx="5467350" cy="0"/>
          </a:xfrm>
          <a:prstGeom prst="line">
            <a:avLst/>
          </a:prstGeom>
          <a:noFill/>
          <a:ln w="9525">
            <a:solidFill>
              <a:srgbClr val="C5CFDA"/>
            </a:solidFill>
            <a:prstDash val="solid"/>
          </a:ln>
        </p:spPr>
      </p:sp>
      <p:sp>
        <p:nvSpPr>
          <p:cNvPr id="12" name="S09/card/set-design/title"/>
          <p:cNvSpPr/>
          <p:nvPr/>
        </p:nvSpPr>
        <p:spPr>
          <a:xfrm>
            <a:off x="581025" y="4410932"/>
            <a:ext cx="52197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模型任务怎样构造</a:t>
            </a:r>
            <a:endParaRPr lang="zh-CN" sz="1950" dirty="0"/>
          </a:p>
        </p:txBody>
      </p:sp>
      <p:sp>
        <p:nvSpPr>
          <p:cNvPr id="13" name="S09/card/set-design/body"/>
          <p:cNvSpPr/>
          <p:nvPr/>
        </p:nvSpPr>
        <p:spPr>
          <a:xfrm>
            <a:off x="590550" y="4849082"/>
            <a:ext cx="5200650" cy="1179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类型选择：分割、分类或回归。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具体模型：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 项可匹配，5 项无合适模型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zh-CN" sz="1800" dirty="0"/>
          </a:p>
        </p:txBody>
      </p:sp>
      <p:sp>
        <p:nvSpPr>
          <p:cNvPr id="14" name="S09/card/generality/frame"/>
          <p:cNvSpPr/>
          <p:nvPr/>
        </p:nvSpPr>
        <p:spPr>
          <a:xfrm>
            <a:off x="6248400" y="4477607"/>
            <a:ext cx="5486400" cy="1646396"/>
          </a:xfrm>
          <a:prstGeom prst="rect">
            <a:avLst/>
          </a:prstGeom>
          <a:solidFill>
            <a:srgbClr val="FFFFFF"/>
          </a:solidFill>
          <a:ln w="10478">
            <a:solidFill>
              <a:srgbClr val="C5CFDA"/>
            </a:solidFill>
            <a:prstDash val="solid"/>
          </a:ln>
        </p:spPr>
      </p:sp>
      <p:sp>
        <p:nvSpPr>
          <p:cNvPr id="15" name="S09/card/generality/tab"/>
          <p:cNvSpPr/>
          <p:nvPr/>
        </p:nvSpPr>
        <p:spPr>
          <a:xfrm>
            <a:off x="6362700" y="4363307"/>
            <a:ext cx="2000250" cy="342900"/>
          </a:xfrm>
          <a:prstGeom prst="rect">
            <a:avLst/>
          </a:prstGeom>
          <a:solidFill>
            <a:srgbClr val="A247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09/card/generality/title"/>
          <p:cNvSpPr/>
          <p:nvPr/>
        </p:nvSpPr>
        <p:spPr>
          <a:xfrm>
            <a:off x="6467475" y="4391882"/>
            <a:ext cx="17907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满分结果的外推</a:t>
            </a:r>
            <a:endParaRPr lang="zh-CN" sz="1950" dirty="0"/>
          </a:p>
        </p:txBody>
      </p:sp>
      <p:sp>
        <p:nvSpPr>
          <p:cNvPr id="17" name="S09/card/generality/body"/>
          <p:cNvSpPr/>
          <p:nvPr/>
        </p:nvSpPr>
        <p:spPr>
          <a:xfrm>
            <a:off x="6381750" y="4849082"/>
            <a:ext cx="5219700" cy="1179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100% 对应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作者构造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的模型选择集合。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路由正确仍需继续检查执行结果与新场景。</a:t>
            </a:r>
            <a:endParaRPr lang="zh-CN" sz="1800" dirty="0"/>
          </a:p>
        </p:txBody>
      </p:sp>
      <p:sp>
        <p:nvSpPr>
          <p:cNvPr id="18" name="S09/card/feedback/title"/>
          <p:cNvSpPr/>
          <p:nvPr/>
        </p:nvSpPr>
        <p:spPr>
          <a:xfrm>
            <a:off x="457200" y="1146620"/>
            <a:ext cx="112776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运行与核查</a:t>
            </a:r>
            <a:endParaRPr lang="zh-CN" sz="1950" dirty="0"/>
          </a:p>
        </p:txBody>
      </p:sp>
      <p:sp>
        <p:nvSpPr>
          <p:cNvPr id="19" name="S09/card/feedback/body"/>
          <p:cNvSpPr/>
          <p:nvPr/>
        </p:nvSpPr>
        <p:spPr>
          <a:xfrm>
            <a:off x="457200" y="1527620"/>
            <a:ext cx="11277600" cy="511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评价中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无实时人工反馈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；人工检查发生在结果评价阶段。</a:t>
            </a:r>
            <a:endParaRPr lang="zh-CN" sz="1800" dirty="0"/>
          </a:p>
        </p:txBody>
      </p:sp>
      <p:sp>
        <p:nvSpPr>
          <p:cNvPr id="20" name="S09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P1 · 2026 · 10.1038/s41467-026-71090-y</a:t>
            </a:r>
            <a:endParaRPr lang="zh-CN" sz="11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0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83B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10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 / 14</a:t>
            </a:r>
            <a:endParaRPr lang="zh-CN" sz="1050" dirty="0"/>
          </a:p>
        </p:txBody>
      </p:sp>
      <p:sp>
        <p:nvSpPr>
          <p:cNvPr id="4" name="S10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 项数据分析中，17 项输出通过人工检查</a:t>
            </a:r>
            <a:endParaRPr lang="zh-CN" sz="3000" dirty="0"/>
          </a:p>
        </p:txBody>
      </p:sp>
      <p:sp>
        <p:nvSpPr>
          <p:cNvPr id="5" name="S10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C5CFDA"/>
            </a:solidFill>
            <a:prstDash val="solid"/>
          </a:ln>
        </p:spPr>
      </p:sp>
      <p:sp>
        <p:nvSpPr>
          <p:cNvPr id="6" name="S10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83B66"/>
            </a:solidFill>
            <a:prstDash val="solid"/>
          </a:ln>
        </p:spPr>
      </p:sp>
      <p:sp>
        <p:nvSpPr>
          <p:cNvPr id="7" name="S10/takeaway"/>
          <p:cNvSpPr/>
          <p:nvPr/>
        </p:nvSpPr>
        <p:spPr>
          <a:xfrm>
            <a:off x="457200" y="5855684"/>
            <a:ext cx="7696200" cy="276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83B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任务输出的正确性由人工检查，图为原文计数重绘。</a:t>
            </a:r>
            <a:endParaRPr lang="zh-CN" sz="1800" dirty="0"/>
          </a:p>
        </p:txBody>
      </p:sp>
      <p:graphicFrame>
        <p:nvGraphicFramePr>
          <p:cNvPr id="8" name="S10/data-chart" descr=""/>
          <p:cNvGraphicFramePr/>
          <p:nvPr/>
        </p:nvGraphicFramePr>
        <p:xfrm>
          <a:off x="457200" y="1226534"/>
          <a:ext cx="7696200" cy="447084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10/card/count/frame"/>
          <p:cNvSpPr/>
          <p:nvPr/>
        </p:nvSpPr>
        <p:spPr>
          <a:xfrm>
            <a:off x="8458200" y="1200150"/>
            <a:ext cx="3276600" cy="1638300"/>
          </a:xfrm>
          <a:prstGeom prst="rect">
            <a:avLst/>
          </a:prstGeom>
          <a:solidFill>
            <a:srgbClr val="FFFFFF"/>
          </a:solidFill>
          <a:ln w="10478">
            <a:solidFill>
              <a:srgbClr val="C5CFDA"/>
            </a:solidFill>
            <a:prstDash val="solid"/>
          </a:ln>
        </p:spPr>
      </p:sp>
      <p:sp>
        <p:nvSpPr>
          <p:cNvPr id="10" name="S10/card/count/heading-fill"/>
          <p:cNvSpPr/>
          <p:nvPr/>
        </p:nvSpPr>
        <p:spPr>
          <a:xfrm>
            <a:off x="8467725" y="1209675"/>
            <a:ext cx="3257550" cy="371475"/>
          </a:xfrm>
          <a:prstGeom prst="rect">
            <a:avLst/>
          </a:prstGeom>
          <a:solidFill>
            <a:srgbClr val="E9F4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10/card/count/heading-rule"/>
          <p:cNvSpPr/>
          <p:nvPr/>
        </p:nvSpPr>
        <p:spPr>
          <a:xfrm>
            <a:off x="8458200" y="1581150"/>
            <a:ext cx="3276600" cy="0"/>
          </a:xfrm>
          <a:prstGeom prst="line">
            <a:avLst/>
          </a:prstGeom>
          <a:noFill/>
          <a:ln w="9525">
            <a:solidFill>
              <a:srgbClr val="C5CFDA"/>
            </a:solidFill>
            <a:prstDash val="solid"/>
          </a:ln>
        </p:spPr>
      </p:sp>
      <p:sp>
        <p:nvSpPr>
          <p:cNvPr id="12" name="S10/card/count/title"/>
          <p:cNvSpPr/>
          <p:nvPr/>
        </p:nvSpPr>
        <p:spPr>
          <a:xfrm>
            <a:off x="8582025" y="1247775"/>
            <a:ext cx="30289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评价结果</a:t>
            </a:r>
            <a:endParaRPr lang="zh-CN" sz="1950" dirty="0"/>
          </a:p>
        </p:txBody>
      </p:sp>
      <p:sp>
        <p:nvSpPr>
          <p:cNvPr id="13" name="S10/card/count/metric"/>
          <p:cNvSpPr/>
          <p:nvPr/>
        </p:nvSpPr>
        <p:spPr>
          <a:xfrm>
            <a:off x="8591550" y="1685925"/>
            <a:ext cx="3009900" cy="41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35"/>
              </a:lnSpc>
              <a:buNone/>
            </a:pPr>
            <a:r>
              <a:rPr lang="zh-CN" altLang="en-US" sz="28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 / 20 项任务</a:t>
            </a:r>
            <a:endParaRPr lang="zh-CN" sz="2850" dirty="0"/>
          </a:p>
        </p:txBody>
      </p:sp>
      <p:sp>
        <p:nvSpPr>
          <p:cNvPr id="14" name="S10/card/count/metric-label"/>
          <p:cNvSpPr/>
          <p:nvPr/>
        </p:nvSpPr>
        <p:spPr>
          <a:xfrm>
            <a:off x="8591550" y="2143887"/>
            <a:ext cx="3009900" cy="269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人工检查正确项</a:t>
            </a:r>
            <a:endParaRPr lang="zh-CN" sz="1800" dirty="0"/>
          </a:p>
        </p:txBody>
      </p:sp>
      <p:sp>
        <p:nvSpPr>
          <p:cNvPr id="15" name="S10/card/count/metric-context"/>
          <p:cNvSpPr/>
          <p:nvPr/>
        </p:nvSpPr>
        <p:spPr>
          <a:xfrm>
            <a:off x="8591550" y="2451735"/>
            <a:ext cx="30099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分母：20 项分析任务</a:t>
            </a:r>
            <a:endParaRPr lang="zh-CN" sz="1800" dirty="0"/>
          </a:p>
        </p:txBody>
      </p:sp>
      <p:sp>
        <p:nvSpPr>
          <p:cNvPr id="16" name="S10/card/failure/heading-rule"/>
          <p:cNvSpPr/>
          <p:nvPr/>
        </p:nvSpPr>
        <p:spPr>
          <a:xfrm>
            <a:off x="8458200" y="3467100"/>
            <a:ext cx="3276600" cy="0"/>
          </a:xfrm>
          <a:prstGeom prst="line">
            <a:avLst/>
          </a:prstGeom>
          <a:noFill/>
          <a:ln w="9525">
            <a:solidFill>
              <a:srgbClr val="C5CFDA"/>
            </a:solidFill>
            <a:prstDash val="solid"/>
          </a:ln>
        </p:spPr>
      </p:sp>
      <p:sp>
        <p:nvSpPr>
          <p:cNvPr id="17" name="S10/card/failure/heading-mark"/>
          <p:cNvSpPr/>
          <p:nvPr/>
        </p:nvSpPr>
        <p:spPr>
          <a:xfrm>
            <a:off x="8458200" y="3467100"/>
            <a:ext cx="342900" cy="0"/>
          </a:xfrm>
          <a:prstGeom prst="line">
            <a:avLst/>
          </a:prstGeom>
          <a:noFill/>
          <a:ln w="17145">
            <a:solidFill>
              <a:srgbClr val="A24736"/>
            </a:solidFill>
            <a:prstDash val="solid"/>
          </a:ln>
        </p:spPr>
      </p:sp>
      <p:sp>
        <p:nvSpPr>
          <p:cNvPr id="18" name="S10/card/failure/title"/>
          <p:cNvSpPr/>
          <p:nvPr/>
        </p:nvSpPr>
        <p:spPr>
          <a:xfrm>
            <a:off x="8458200" y="3124200"/>
            <a:ext cx="32766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失败类型</a:t>
            </a:r>
            <a:endParaRPr lang="zh-CN" sz="1950" dirty="0"/>
          </a:p>
        </p:txBody>
      </p:sp>
      <p:sp>
        <p:nvSpPr>
          <p:cNvPr id="19" name="S10/card/failure/body"/>
          <p:cNvSpPr/>
          <p:nvPr/>
        </p:nvSpPr>
        <p:spPr>
          <a:xfrm>
            <a:off x="8458200" y="3600450"/>
            <a:ext cx="3276600" cy="723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项失败均涉及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细粒度图表读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取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zh-CN" sz="1800" dirty="0"/>
          </a:p>
        </p:txBody>
      </p:sp>
      <p:sp>
        <p:nvSpPr>
          <p:cNvPr id="20" name="S10/card/scope-limit/base-rule"/>
          <p:cNvSpPr/>
          <p:nvPr/>
        </p:nvSpPr>
        <p:spPr>
          <a:xfrm>
            <a:off x="8458200" y="5994178"/>
            <a:ext cx="3276600" cy="0"/>
          </a:xfrm>
          <a:prstGeom prst="line">
            <a:avLst/>
          </a:prstGeom>
          <a:noFill/>
          <a:ln w="10478">
            <a:solidFill>
              <a:srgbClr val="C5CFDA"/>
            </a:solidFill>
            <a:prstDash val="solid"/>
          </a:ln>
        </p:spPr>
      </p:sp>
      <p:sp>
        <p:nvSpPr>
          <p:cNvPr id="21" name="S10/card/scope-limit/side-mark"/>
          <p:cNvSpPr/>
          <p:nvPr/>
        </p:nvSpPr>
        <p:spPr>
          <a:xfrm>
            <a:off x="8458200" y="4569047"/>
            <a:ext cx="47625" cy="295275"/>
          </a:xfrm>
          <a:prstGeom prst="rect">
            <a:avLst/>
          </a:prstGeom>
          <a:solidFill>
            <a:srgbClr val="A247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10/card/scope-limit/title"/>
          <p:cNvSpPr/>
          <p:nvPr/>
        </p:nvSpPr>
        <p:spPr>
          <a:xfrm>
            <a:off x="8610600" y="4569047"/>
            <a:ext cx="31242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适用范围</a:t>
            </a:r>
            <a:endParaRPr lang="zh-CN" sz="1950" dirty="0"/>
          </a:p>
        </p:txBody>
      </p:sp>
      <p:sp>
        <p:nvSpPr>
          <p:cNvPr id="23" name="S10/card/scope-limit/body"/>
          <p:cNvSpPr/>
          <p:nvPr/>
        </p:nvSpPr>
        <p:spPr>
          <a:xfrm>
            <a:off x="8610600" y="4988147"/>
            <a:ext cx="3124200" cy="910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未评价灌溉、施肥决策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及增产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收益。</a:t>
            </a:r>
            <a:endParaRPr lang="zh-CN" sz="1800" dirty="0"/>
          </a:p>
        </p:txBody>
      </p:sp>
      <p:sp>
        <p:nvSpPr>
          <p:cNvPr id="24" name="S10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P1 · 2026 · 10.1038/s41467-026-71090-y</a:t>
            </a:r>
            <a:endParaRPr lang="zh-CN" sz="11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1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83B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11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 / 14</a:t>
            </a:r>
            <a:endParaRPr lang="zh-CN" sz="1050" dirty="0"/>
          </a:p>
        </p:txBody>
      </p:sp>
      <p:sp>
        <p:nvSpPr>
          <p:cNvPr id="4" name="S11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细粒度读图是数据链中的解释风险</a:t>
            </a:r>
            <a:endParaRPr lang="zh-CN" sz="3000" dirty="0"/>
          </a:p>
        </p:txBody>
      </p:sp>
      <p:sp>
        <p:nvSpPr>
          <p:cNvPr id="5" name="S11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C5CFDA"/>
            </a:solidFill>
            <a:prstDash val="solid"/>
          </a:ln>
        </p:spPr>
      </p:sp>
      <p:sp>
        <p:nvSpPr>
          <p:cNvPr id="6" name="S11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83B66"/>
            </a:solidFill>
            <a:prstDash val="solid"/>
          </a:ln>
        </p:spPr>
      </p:sp>
      <p:sp>
        <p:nvSpPr>
          <p:cNvPr id="7" name="S11/edge:0"/>
          <p:cNvSpPr/>
          <p:nvPr/>
        </p:nvSpPr>
        <p:spPr>
          <a:xfrm>
            <a:off x="2819400" y="2017871"/>
            <a:ext cx="628650" cy="0"/>
          </a:xfrm>
          <a:prstGeom prst="line">
            <a:avLst/>
          </a:prstGeom>
          <a:noFill/>
          <a:ln w="15240">
            <a:solidFill>
              <a:srgbClr val="455C76"/>
            </a:solidFill>
            <a:prstDash val="solid"/>
            <a:tailEnd type="triangle"/>
          </a:ln>
        </p:spPr>
      </p:sp>
      <p:sp>
        <p:nvSpPr>
          <p:cNvPr id="8" name="S11/edge:0:label"/>
          <p:cNvSpPr/>
          <p:nvPr/>
        </p:nvSpPr>
        <p:spPr>
          <a:xfrm>
            <a:off x="2752725" y="1789271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3"/>
              </a:lnSpc>
              <a:buNone/>
            </a:pPr>
            <a:r>
              <a:rPr lang="zh-CN" altLang="en-US" sz="1275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绘图</a:t>
            </a:r>
            <a:endParaRPr lang="zh-CN" sz="1275" dirty="0"/>
          </a:p>
        </p:txBody>
      </p:sp>
      <p:sp>
        <p:nvSpPr>
          <p:cNvPr id="9" name="S11/edge:1"/>
          <p:cNvSpPr/>
          <p:nvPr/>
        </p:nvSpPr>
        <p:spPr>
          <a:xfrm>
            <a:off x="5810250" y="2017871"/>
            <a:ext cx="628650" cy="0"/>
          </a:xfrm>
          <a:prstGeom prst="line">
            <a:avLst/>
          </a:prstGeom>
          <a:noFill/>
          <a:ln w="15240">
            <a:solidFill>
              <a:srgbClr val="455C76"/>
            </a:solidFill>
            <a:prstDash val="solid"/>
            <a:tailEnd type="triangle"/>
          </a:ln>
        </p:spPr>
      </p:sp>
      <p:sp>
        <p:nvSpPr>
          <p:cNvPr id="10" name="S11/edge:1:label"/>
          <p:cNvSpPr/>
          <p:nvPr/>
        </p:nvSpPr>
        <p:spPr>
          <a:xfrm>
            <a:off x="5743575" y="1789271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3"/>
              </a:lnSpc>
              <a:buNone/>
            </a:pPr>
            <a:r>
              <a:rPr lang="zh-CN" altLang="en-US" sz="1275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图像判读</a:t>
            </a:r>
            <a:endParaRPr lang="zh-CN" sz="1275" dirty="0"/>
          </a:p>
        </p:txBody>
      </p:sp>
      <p:sp>
        <p:nvSpPr>
          <p:cNvPr id="11" name="S11/edge:2"/>
          <p:cNvSpPr/>
          <p:nvPr/>
        </p:nvSpPr>
        <p:spPr>
          <a:xfrm>
            <a:off x="8801100" y="2017871"/>
            <a:ext cx="628650" cy="0"/>
          </a:xfrm>
          <a:prstGeom prst="line">
            <a:avLst/>
          </a:prstGeom>
          <a:noFill/>
          <a:ln w="15240">
            <a:solidFill>
              <a:srgbClr val="455C76"/>
            </a:solidFill>
            <a:prstDash val="solid"/>
            <a:tailEnd type="triangle"/>
          </a:ln>
        </p:spPr>
      </p:sp>
      <p:sp>
        <p:nvSpPr>
          <p:cNvPr id="12" name="S11/edge:2:label"/>
          <p:cNvSpPr/>
          <p:nvPr/>
        </p:nvSpPr>
        <p:spPr>
          <a:xfrm>
            <a:off x="8734425" y="1789271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3"/>
              </a:lnSpc>
              <a:buNone/>
            </a:pPr>
            <a:r>
              <a:rPr lang="zh-CN" altLang="en-US" sz="1275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汇总</a:t>
            </a:r>
            <a:endParaRPr lang="zh-CN" sz="1275" dirty="0"/>
          </a:p>
        </p:txBody>
      </p:sp>
      <p:sp>
        <p:nvSpPr>
          <p:cNvPr id="13" name="S11/node:csv:frame"/>
          <p:cNvSpPr/>
          <p:nvPr/>
        </p:nvSpPr>
        <p:spPr>
          <a:xfrm>
            <a:off x="457200" y="1365028"/>
            <a:ext cx="2362200" cy="1305687"/>
          </a:xfrm>
          <a:prstGeom prst="rect">
            <a:avLst/>
          </a:prstGeom>
          <a:solidFill>
            <a:srgbClr val="EAF2FA"/>
          </a:solidFill>
          <a:ln w="11430">
            <a:solidFill>
              <a:srgbClr val="C5CFDA"/>
            </a:solidFill>
            <a:prstDash val="solid"/>
          </a:ln>
        </p:spPr>
      </p:sp>
      <p:sp>
        <p:nvSpPr>
          <p:cNvPr id="14" name="S11/node:csv:heading-rule"/>
          <p:cNvSpPr/>
          <p:nvPr/>
        </p:nvSpPr>
        <p:spPr>
          <a:xfrm>
            <a:off x="457200" y="1365028"/>
            <a:ext cx="236220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15" name="S11/node:csv:label"/>
          <p:cNvSpPr/>
          <p:nvPr/>
        </p:nvSpPr>
        <p:spPr>
          <a:xfrm>
            <a:off x="571500" y="1460278"/>
            <a:ext cx="21336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原始表型表</a:t>
            </a:r>
            <a:endParaRPr lang="zh-CN" sz="1800" dirty="0"/>
          </a:p>
        </p:txBody>
      </p:sp>
      <p:sp>
        <p:nvSpPr>
          <p:cNvPr id="16" name="S11/node:csv:detail"/>
          <p:cNvSpPr/>
          <p:nvPr/>
        </p:nvSpPr>
        <p:spPr>
          <a:xfrm>
            <a:off x="571500" y="1774603"/>
            <a:ext cx="2133600" cy="810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数值、时间与生态型</a:t>
            </a:r>
            <a:endParaRPr lang="zh-CN" sz="1650" dirty="0"/>
          </a:p>
        </p:txBody>
      </p:sp>
      <p:sp>
        <p:nvSpPr>
          <p:cNvPr id="17" name="S11/node:plot:frame"/>
          <p:cNvSpPr/>
          <p:nvPr/>
        </p:nvSpPr>
        <p:spPr>
          <a:xfrm>
            <a:off x="3448050" y="1365028"/>
            <a:ext cx="2362200" cy="1305687"/>
          </a:xfrm>
          <a:prstGeom prst="rect">
            <a:avLst/>
          </a:prstGeom>
          <a:solidFill>
            <a:srgbClr val="EAF2FA"/>
          </a:solidFill>
          <a:ln w="11430">
            <a:solidFill>
              <a:srgbClr val="C5CFDA"/>
            </a:solidFill>
            <a:prstDash val="solid"/>
          </a:ln>
        </p:spPr>
      </p:sp>
      <p:sp>
        <p:nvSpPr>
          <p:cNvPr id="18" name="S11/node:plot:heading-rule"/>
          <p:cNvSpPr/>
          <p:nvPr/>
        </p:nvSpPr>
        <p:spPr>
          <a:xfrm>
            <a:off x="3448050" y="1365028"/>
            <a:ext cx="236220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19" name="S11/node:plot:label"/>
          <p:cNvSpPr/>
          <p:nvPr/>
        </p:nvSpPr>
        <p:spPr>
          <a:xfrm>
            <a:off x="3562350" y="1460278"/>
            <a:ext cx="21336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统计图</a:t>
            </a:r>
            <a:endParaRPr lang="zh-CN" sz="1800" dirty="0"/>
          </a:p>
        </p:txBody>
      </p:sp>
      <p:sp>
        <p:nvSpPr>
          <p:cNvPr id="20" name="S11/node:plot:detail"/>
          <p:cNvSpPr/>
          <p:nvPr/>
        </p:nvSpPr>
        <p:spPr>
          <a:xfrm>
            <a:off x="3562350" y="1774603"/>
            <a:ext cx="2133600" cy="810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坐标、曲线与图例</a:t>
            </a:r>
            <a:endParaRPr lang="zh-CN" sz="1650" dirty="0"/>
          </a:p>
        </p:txBody>
      </p:sp>
      <p:sp>
        <p:nvSpPr>
          <p:cNvPr id="21" name="S11/node:read:frame"/>
          <p:cNvSpPr/>
          <p:nvPr/>
        </p:nvSpPr>
        <p:spPr>
          <a:xfrm>
            <a:off x="6438900" y="1365028"/>
            <a:ext cx="2362200" cy="1305687"/>
          </a:xfrm>
          <a:prstGeom prst="rect">
            <a:avLst/>
          </a:prstGeom>
          <a:solidFill>
            <a:srgbClr val="FAEEE8"/>
          </a:solidFill>
          <a:ln w="11430">
            <a:solidFill>
              <a:srgbClr val="C5CFDA"/>
            </a:solidFill>
            <a:prstDash val="solid"/>
          </a:ln>
        </p:spPr>
      </p:sp>
      <p:sp>
        <p:nvSpPr>
          <p:cNvPr id="22" name="S11/node:read:heading-rule"/>
          <p:cNvSpPr/>
          <p:nvPr/>
        </p:nvSpPr>
        <p:spPr>
          <a:xfrm>
            <a:off x="6438900" y="1365028"/>
            <a:ext cx="2362200" cy="0"/>
          </a:xfrm>
          <a:prstGeom prst="line">
            <a:avLst/>
          </a:prstGeom>
          <a:noFill/>
          <a:ln w="19050">
            <a:solidFill>
              <a:srgbClr val="A24736"/>
            </a:solidFill>
            <a:prstDash val="solid"/>
          </a:ln>
        </p:spPr>
      </p:sp>
      <p:sp>
        <p:nvSpPr>
          <p:cNvPr id="23" name="S11/node:read:label"/>
          <p:cNvSpPr/>
          <p:nvPr/>
        </p:nvSpPr>
        <p:spPr>
          <a:xfrm>
            <a:off x="6553200" y="1460278"/>
            <a:ext cx="21336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Plot analyser</a:t>
            </a:r>
            <a:endParaRPr lang="zh-CN" sz="1800" dirty="0"/>
          </a:p>
        </p:txBody>
      </p:sp>
      <p:sp>
        <p:nvSpPr>
          <p:cNvPr id="24" name="S11/node:read:detail"/>
          <p:cNvSpPr/>
          <p:nvPr/>
        </p:nvSpPr>
        <p:spPr>
          <a:xfrm>
            <a:off x="6553200" y="1774603"/>
            <a:ext cx="2133600" cy="810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读取细节并解释</a:t>
            </a:r>
            <a:endParaRPr lang="zh-CN" sz="1650" dirty="0"/>
          </a:p>
        </p:txBody>
      </p:sp>
      <p:sp>
        <p:nvSpPr>
          <p:cNvPr id="25" name="S11/node:answer:frame"/>
          <p:cNvSpPr/>
          <p:nvPr/>
        </p:nvSpPr>
        <p:spPr>
          <a:xfrm>
            <a:off x="9429750" y="1365028"/>
            <a:ext cx="2305050" cy="1305687"/>
          </a:xfrm>
          <a:prstGeom prst="rect">
            <a:avLst/>
          </a:prstGeom>
          <a:solidFill>
            <a:srgbClr val="E9F4F0"/>
          </a:solidFill>
          <a:ln w="11430">
            <a:solidFill>
              <a:srgbClr val="C5CFDA"/>
            </a:solidFill>
            <a:prstDash val="solid"/>
          </a:ln>
        </p:spPr>
      </p:sp>
      <p:sp>
        <p:nvSpPr>
          <p:cNvPr id="26" name="S11/node:answer:heading-rule"/>
          <p:cNvSpPr/>
          <p:nvPr/>
        </p:nvSpPr>
        <p:spPr>
          <a:xfrm>
            <a:off x="9429750" y="1365028"/>
            <a:ext cx="2305050" cy="0"/>
          </a:xfrm>
          <a:prstGeom prst="line">
            <a:avLst/>
          </a:prstGeom>
          <a:noFill/>
          <a:ln w="19050">
            <a:solidFill>
              <a:srgbClr val="146C63"/>
            </a:solidFill>
            <a:prstDash val="solid"/>
          </a:ln>
        </p:spPr>
      </p:sp>
      <p:sp>
        <p:nvSpPr>
          <p:cNvPr id="27" name="S11/node:answer:label"/>
          <p:cNvSpPr/>
          <p:nvPr/>
        </p:nvSpPr>
        <p:spPr>
          <a:xfrm>
            <a:off x="9544050" y="1460278"/>
            <a:ext cx="20764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语言答案</a:t>
            </a:r>
            <a:endParaRPr lang="zh-CN" sz="1800" dirty="0"/>
          </a:p>
        </p:txBody>
      </p:sp>
      <p:sp>
        <p:nvSpPr>
          <p:cNvPr id="28" name="S11/node:answer:detail"/>
          <p:cNvSpPr/>
          <p:nvPr/>
        </p:nvSpPr>
        <p:spPr>
          <a:xfrm>
            <a:off x="9544050" y="1774603"/>
            <a:ext cx="2076450" cy="810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排序、时间点或结论</a:t>
            </a:r>
            <a:endParaRPr lang="zh-CN" sz="1650" dirty="0"/>
          </a:p>
        </p:txBody>
      </p:sp>
      <p:sp>
        <p:nvSpPr>
          <p:cNvPr id="29" name="S11/card/observed/frame"/>
          <p:cNvSpPr/>
          <p:nvPr/>
        </p:nvSpPr>
        <p:spPr>
          <a:xfrm>
            <a:off x="457200" y="4130231"/>
            <a:ext cx="5486400" cy="1883759"/>
          </a:xfrm>
          <a:prstGeom prst="rect">
            <a:avLst/>
          </a:prstGeom>
          <a:solidFill>
            <a:srgbClr val="FFFFFF"/>
          </a:solidFill>
          <a:ln w="10478">
            <a:solidFill>
              <a:srgbClr val="C5CFDA"/>
            </a:solidFill>
            <a:prstDash val="solid"/>
          </a:ln>
        </p:spPr>
      </p:sp>
      <p:sp>
        <p:nvSpPr>
          <p:cNvPr id="30" name="S11/card/observed/tab"/>
          <p:cNvSpPr/>
          <p:nvPr/>
        </p:nvSpPr>
        <p:spPr>
          <a:xfrm>
            <a:off x="571500" y="4015931"/>
            <a:ext cx="1257300" cy="342900"/>
          </a:xfrm>
          <a:prstGeom prst="rect">
            <a:avLst/>
          </a:prstGeom>
          <a:solidFill>
            <a:srgbClr val="A247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11/card/observed/title"/>
          <p:cNvSpPr/>
          <p:nvPr/>
        </p:nvSpPr>
        <p:spPr>
          <a:xfrm>
            <a:off x="676275" y="4044506"/>
            <a:ext cx="1047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原文观察</a:t>
            </a:r>
            <a:endParaRPr lang="zh-CN" sz="1950" dirty="0"/>
          </a:p>
        </p:txBody>
      </p:sp>
      <p:sp>
        <p:nvSpPr>
          <p:cNvPr id="32" name="S11/card/observed/body"/>
          <p:cNvSpPr/>
          <p:nvPr/>
        </p:nvSpPr>
        <p:spPr>
          <a:xfrm>
            <a:off x="590550" y="4501706"/>
            <a:ext cx="5219700" cy="1417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失败集中在需要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A2473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精细图表信息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的任务。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它揭示了局部读数的可靠性问题，不能推广为所有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视觉理解均无效。</a:t>
            </a:r>
            <a:endParaRPr lang="zh-CN" sz="1800" dirty="0"/>
          </a:p>
        </p:txBody>
      </p:sp>
      <p:sp>
        <p:nvSpPr>
          <p:cNvPr id="33" name="S11/card/traceable/heading-rule"/>
          <p:cNvSpPr/>
          <p:nvPr/>
        </p:nvSpPr>
        <p:spPr>
          <a:xfrm>
            <a:off x="6248400" y="4377881"/>
            <a:ext cx="5486400" cy="0"/>
          </a:xfrm>
          <a:prstGeom prst="line">
            <a:avLst/>
          </a:prstGeom>
          <a:noFill/>
          <a:ln w="9525">
            <a:solidFill>
              <a:srgbClr val="C5CFDA"/>
            </a:solidFill>
            <a:prstDash val="solid"/>
          </a:ln>
        </p:spPr>
      </p:sp>
      <p:sp>
        <p:nvSpPr>
          <p:cNvPr id="34" name="S11/card/traceable/heading-mark"/>
          <p:cNvSpPr/>
          <p:nvPr/>
        </p:nvSpPr>
        <p:spPr>
          <a:xfrm>
            <a:off x="6248400" y="4377881"/>
            <a:ext cx="342900" cy="0"/>
          </a:xfrm>
          <a:prstGeom prst="line">
            <a:avLst/>
          </a:prstGeom>
          <a:noFill/>
          <a:ln w="17145">
            <a:solidFill>
              <a:srgbClr val="6C528E"/>
            </a:solidFill>
            <a:prstDash val="solid"/>
          </a:ln>
        </p:spPr>
      </p:sp>
      <p:sp>
        <p:nvSpPr>
          <p:cNvPr id="35" name="S11/card/traceable/title"/>
          <p:cNvSpPr/>
          <p:nvPr/>
        </p:nvSpPr>
        <p:spPr>
          <a:xfrm>
            <a:off x="6248400" y="4034981"/>
            <a:ext cx="548640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6C528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待检验的修复方向</a:t>
            </a:r>
            <a:endParaRPr lang="zh-CN" sz="1950" dirty="0"/>
          </a:p>
        </p:txBody>
      </p:sp>
      <p:sp>
        <p:nvSpPr>
          <p:cNvPr id="36" name="S11/card/traceable/body"/>
          <p:cNvSpPr/>
          <p:nvPr/>
        </p:nvSpPr>
        <p:spPr>
          <a:xfrm>
            <a:off x="6248400" y="4511231"/>
            <a:ext cx="5486400" cy="1464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关键读数回查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6C528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结构化源数据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，保留变量、单位和时间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点。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无法追溯或相互矛盾时触发复核。</a:t>
            </a:r>
            <a:endParaRPr lang="zh-CN" sz="1800" dirty="0"/>
          </a:p>
        </p:txBody>
      </p:sp>
      <p:sp>
        <p:nvSpPr>
          <p:cNvPr id="37" name="S11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P1 · 2026 · 10.1038/s41467-026-71090-y</a:t>
            </a:r>
            <a:endParaRPr lang="zh-CN" sz="11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2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83B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12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 / 14</a:t>
            </a:r>
            <a:endParaRPr lang="zh-CN" sz="1050" dirty="0"/>
          </a:p>
        </p:txBody>
      </p:sp>
      <p:sp>
        <p:nvSpPr>
          <p:cNvPr id="4" name="S12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现有证据的覆盖范围与外推条件</a:t>
            </a:r>
            <a:endParaRPr lang="zh-CN" sz="3000" dirty="0"/>
          </a:p>
        </p:txBody>
      </p:sp>
      <p:sp>
        <p:nvSpPr>
          <p:cNvPr id="5" name="S12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C5CFDA"/>
            </a:solidFill>
            <a:prstDash val="solid"/>
          </a:ln>
        </p:spPr>
      </p:sp>
      <p:sp>
        <p:nvSpPr>
          <p:cNvPr id="6" name="S12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83B66"/>
            </a:solidFill>
            <a:prstDash val="solid"/>
          </a:ln>
        </p:spPr>
      </p:sp>
      <p:graphicFrame>
        <p:nvGraphicFramePr>
          <p:cNvPr id="13" name="S12/dat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68229"/>
          <a:ext cx="11277600" cy="2003108"/>
        </p:xfrm>
        <a:graphic>
          <a:graphicData uri="http://schemas.openxmlformats.org/drawingml/2006/table">
            <a:tbl>
              <a:tblPr/>
              <a:tblGrid>
                <a:gridCol w="3759200"/>
                <a:gridCol w="3759200"/>
                <a:gridCol w="3759200"/>
              </a:tblGrid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83B66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问题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83B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83B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83B66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当前证据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83B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83B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b="1" dirty="0">
                          <a:solidFill>
                            <a:srgbClr val="183B66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需要的验证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183B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183B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6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71C2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工具覆盖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5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71C2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专用模型与固定工具库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5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71C2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新作物与条件适配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5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71C2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评价范围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5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71C2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作者构造的任务集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5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71C2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外部任务与重复运行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5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71C2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组件归因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5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71C2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系统与部分计划比较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5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71C2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同工具、同预算消融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8" cap="flat" cmpd="sng" algn="ctr">
                      <a:solidFill>
                        <a:srgbClr val="C5CF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62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71C2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栽培控制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83B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71C2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未设置农艺控制动作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83B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105"/>
                        </a:lnSpc>
                        <a:buNone/>
                      </a:pPr>
                      <a:r>
                        <a:rPr lang="zh-CN" altLang="en-US" sz="1725" dirty="0">
                          <a:solidFill>
                            <a:srgbClr val="171C22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处理对照与农艺终点</a:t>
                      </a:r>
                      <a:endParaRPr lang="zh-CN" sz="1725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183B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12/table-caption"/>
          <p:cNvSpPr/>
          <p:nvPr/>
        </p:nvSpPr>
        <p:spPr>
          <a:xfrm>
            <a:off x="457200" y="3138011"/>
            <a:ext cx="11277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47"/>
              </a:lnSpc>
              <a:buNone/>
            </a:pPr>
            <a:r>
              <a:rPr lang="zh-CN" altLang="en-US" sz="1350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前两项来自研究设计与讨论；归因和栽培范围为本汇报的证据边界分析。</a:t>
            </a:r>
            <a:endParaRPr lang="zh-CN" sz="1350" dirty="0"/>
          </a:p>
        </p:txBody>
      </p:sp>
      <p:sp>
        <p:nvSpPr>
          <p:cNvPr id="9" name="S12/card/model-version/frame"/>
          <p:cNvSpPr/>
          <p:nvPr/>
        </p:nvSpPr>
        <p:spPr>
          <a:xfrm>
            <a:off x="457200" y="3557111"/>
            <a:ext cx="5467350" cy="1701356"/>
          </a:xfrm>
          <a:prstGeom prst="rect">
            <a:avLst/>
          </a:prstGeom>
          <a:solidFill>
            <a:srgbClr val="FFFFFF"/>
          </a:solidFill>
          <a:ln w="10478">
            <a:solidFill>
              <a:srgbClr val="C5CFDA"/>
            </a:solidFill>
            <a:prstDash val="solid"/>
          </a:ln>
        </p:spPr>
      </p:sp>
      <p:sp>
        <p:nvSpPr>
          <p:cNvPr id="10" name="S12/card/model-version/heading-fill"/>
          <p:cNvSpPr/>
          <p:nvPr/>
        </p:nvSpPr>
        <p:spPr>
          <a:xfrm>
            <a:off x="466725" y="3566636"/>
            <a:ext cx="5448300" cy="371475"/>
          </a:xfrm>
          <a:prstGeom prst="rect">
            <a:avLst/>
          </a:prstGeom>
          <a:solidFill>
            <a:srgbClr val="F0F3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12/card/model-version/heading-rule"/>
          <p:cNvSpPr/>
          <p:nvPr/>
        </p:nvSpPr>
        <p:spPr>
          <a:xfrm>
            <a:off x="457200" y="3938111"/>
            <a:ext cx="5467350" cy="0"/>
          </a:xfrm>
          <a:prstGeom prst="line">
            <a:avLst/>
          </a:prstGeom>
          <a:noFill/>
          <a:ln w="9525">
            <a:solidFill>
              <a:srgbClr val="C5CFDA"/>
            </a:solidFill>
            <a:prstDash val="solid"/>
          </a:ln>
        </p:spPr>
      </p:sp>
      <p:sp>
        <p:nvSpPr>
          <p:cNvPr id="12" name="S12/card/model-version/title"/>
          <p:cNvSpPr/>
          <p:nvPr/>
        </p:nvSpPr>
        <p:spPr>
          <a:xfrm>
            <a:off x="581025" y="3604736"/>
            <a:ext cx="52197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实验模型</a:t>
            </a:r>
            <a:endParaRPr lang="zh-CN" sz="1950" dirty="0"/>
          </a:p>
        </p:txBody>
      </p:sp>
      <p:sp>
        <p:nvSpPr>
          <p:cNvPr id="13" name="S12/card/model-version/body"/>
          <p:cNvSpPr/>
          <p:nvPr/>
        </p:nvSpPr>
        <p:spPr>
          <a:xfrm>
            <a:off x="590550" y="4042886"/>
            <a:ext cx="5200650" cy="1120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案例和评测使用 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GPT-4o 2024-08-06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，经 Azure 调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 DeepSeek 效果测试。</a:t>
            </a:r>
            <a:endParaRPr lang="zh-CN" sz="1800" dirty="0"/>
          </a:p>
        </p:txBody>
      </p:sp>
      <p:sp>
        <p:nvSpPr>
          <p:cNvPr id="14" name="S12/card/priority/frame"/>
          <p:cNvSpPr/>
          <p:nvPr/>
        </p:nvSpPr>
        <p:spPr>
          <a:xfrm>
            <a:off x="6248400" y="3557111"/>
            <a:ext cx="5486400" cy="1701356"/>
          </a:xfrm>
          <a:prstGeom prst="rect">
            <a:avLst/>
          </a:prstGeom>
          <a:solidFill>
            <a:srgbClr val="EDF2F7"/>
          </a:solidFill>
          <a:ln w="12383">
            <a:solidFill>
              <a:srgbClr val="183B66"/>
            </a:solidFill>
            <a:prstDash val="dash"/>
          </a:ln>
        </p:spPr>
      </p:sp>
      <p:sp>
        <p:nvSpPr>
          <p:cNvPr id="15" name="S12/card/priority/corner-white"/>
          <p:cNvSpPr/>
          <p:nvPr/>
        </p:nvSpPr>
        <p:spPr>
          <a:xfrm>
            <a:off x="11468100" y="3557111"/>
            <a:ext cx="266700" cy="2667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12/card/priority/fold-diagonal"/>
          <p:cNvSpPr/>
          <p:nvPr/>
        </p:nvSpPr>
        <p:spPr>
          <a:xfrm>
            <a:off x="11468100" y="3557111"/>
            <a:ext cx="266700" cy="266700"/>
          </a:xfrm>
          <a:prstGeom prst="line">
            <a:avLst/>
          </a:prstGeom>
          <a:noFill/>
          <a:ln w="13335">
            <a:solidFill>
              <a:srgbClr val="183B66"/>
            </a:solidFill>
            <a:prstDash val="solid"/>
          </a:ln>
        </p:spPr>
      </p:sp>
      <p:sp>
        <p:nvSpPr>
          <p:cNvPr id="17" name="S12/card/priority/fold-left"/>
          <p:cNvSpPr/>
          <p:nvPr/>
        </p:nvSpPr>
        <p:spPr>
          <a:xfrm>
            <a:off x="11468100" y="3557111"/>
            <a:ext cx="0" cy="266700"/>
          </a:xfrm>
          <a:prstGeom prst="line">
            <a:avLst/>
          </a:prstGeom>
          <a:noFill/>
          <a:ln w="13335">
            <a:solidFill>
              <a:srgbClr val="183B66"/>
            </a:solidFill>
            <a:prstDash val="solid"/>
          </a:ln>
        </p:spPr>
      </p:sp>
      <p:sp>
        <p:nvSpPr>
          <p:cNvPr id="18" name="S12/card/priority/fold-bottom"/>
          <p:cNvSpPr/>
          <p:nvPr/>
        </p:nvSpPr>
        <p:spPr>
          <a:xfrm>
            <a:off x="11468100" y="3823811"/>
            <a:ext cx="266700" cy="0"/>
          </a:xfrm>
          <a:prstGeom prst="line">
            <a:avLst/>
          </a:prstGeom>
          <a:noFill/>
          <a:ln w="13335">
            <a:solidFill>
              <a:srgbClr val="183B66"/>
            </a:solidFill>
            <a:prstDash val="solid"/>
          </a:ln>
        </p:spPr>
      </p:sp>
      <p:sp>
        <p:nvSpPr>
          <p:cNvPr id="19" name="S12/card/priority/title"/>
          <p:cNvSpPr/>
          <p:nvPr/>
        </p:nvSpPr>
        <p:spPr>
          <a:xfrm>
            <a:off x="6438900" y="3719036"/>
            <a:ext cx="49149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83B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研究优先级</a:t>
            </a:r>
            <a:endParaRPr lang="zh-CN" sz="1950" dirty="0"/>
          </a:p>
        </p:txBody>
      </p:sp>
      <p:sp>
        <p:nvSpPr>
          <p:cNvPr id="20" name="S12/card/priority/body"/>
          <p:cNvSpPr/>
          <p:nvPr/>
        </p:nvSpPr>
        <p:spPr>
          <a:xfrm>
            <a:off x="6438900" y="4176236"/>
            <a:ext cx="5105400" cy="891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先研究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183B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关键分析错误与核验代价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田间控制需要单独设计试验。</a:t>
            </a:r>
            <a:endParaRPr lang="zh-CN" sz="1800" dirty="0"/>
          </a:p>
        </p:txBody>
      </p:sp>
      <p:sp>
        <p:nvSpPr>
          <p:cNvPr id="21" name="S12/takeaway"/>
          <p:cNvSpPr/>
          <p:nvPr/>
        </p:nvSpPr>
        <p:spPr>
          <a:xfrm>
            <a:off x="457200" y="5372767"/>
            <a:ext cx="11277600" cy="356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83B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表型分析可靠性与农艺决策收益，需要不同层级的验证。</a:t>
            </a:r>
            <a:endParaRPr lang="zh-CN" sz="1800" dirty="0"/>
          </a:p>
        </p:txBody>
      </p:sp>
      <p:sp>
        <p:nvSpPr>
          <p:cNvPr id="22" name="S12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P1 · 2026 · 10.1038/s41467-026-71090-y</a:t>
            </a:r>
            <a:endParaRPr lang="zh-CN" sz="11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3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83B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13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 / 14</a:t>
            </a:r>
            <a:endParaRPr lang="zh-CN" sz="1050" dirty="0"/>
          </a:p>
        </p:txBody>
      </p:sp>
      <p:sp>
        <p:nvSpPr>
          <p:cNvPr id="4" name="S13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研究方案：在共同预算下检验读数核验</a:t>
            </a:r>
            <a:endParaRPr lang="zh-CN" sz="3000" dirty="0"/>
          </a:p>
        </p:txBody>
      </p:sp>
      <p:sp>
        <p:nvSpPr>
          <p:cNvPr id="5" name="S13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C5CFDA"/>
            </a:solidFill>
            <a:prstDash val="solid"/>
          </a:ln>
        </p:spPr>
      </p:sp>
      <p:sp>
        <p:nvSpPr>
          <p:cNvPr id="6" name="S13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83B66"/>
            </a:solidFill>
            <a:prstDash val="solid"/>
          </a:ln>
        </p:spPr>
      </p:sp>
      <p:sp>
        <p:nvSpPr>
          <p:cNvPr id="7" name="S13/edge:0:segment:0"/>
          <p:cNvSpPr/>
          <p:nvPr/>
        </p:nvSpPr>
        <p:spPr>
          <a:xfrm>
            <a:off x="4362450" y="2156365"/>
            <a:ext cx="0" cy="435197"/>
          </a:xfrm>
          <a:prstGeom prst="line">
            <a:avLst/>
          </a:prstGeom>
          <a:noFill/>
          <a:ln w="15240">
            <a:solidFill>
              <a:srgbClr val="455C76"/>
            </a:solidFill>
            <a:prstDash val="solid"/>
          </a:ln>
        </p:spPr>
      </p:sp>
      <p:sp>
        <p:nvSpPr>
          <p:cNvPr id="8" name="S13/edge:0:segment:1"/>
          <p:cNvSpPr/>
          <p:nvPr/>
        </p:nvSpPr>
        <p:spPr>
          <a:xfrm flipH="1">
            <a:off x="1876425" y="2591562"/>
            <a:ext cx="2486025" cy="0"/>
          </a:xfrm>
          <a:prstGeom prst="line">
            <a:avLst/>
          </a:prstGeom>
          <a:noFill/>
          <a:ln w="15240">
            <a:solidFill>
              <a:srgbClr val="455C76"/>
            </a:solidFill>
            <a:prstDash val="solid"/>
          </a:ln>
        </p:spPr>
      </p:sp>
      <p:sp>
        <p:nvSpPr>
          <p:cNvPr id="9" name="S13/edge:0:segment:2"/>
          <p:cNvSpPr/>
          <p:nvPr/>
        </p:nvSpPr>
        <p:spPr>
          <a:xfrm>
            <a:off x="1876425" y="2591562"/>
            <a:ext cx="0" cy="435197"/>
          </a:xfrm>
          <a:prstGeom prst="line">
            <a:avLst/>
          </a:prstGeom>
          <a:noFill/>
          <a:ln w="15240">
            <a:solidFill>
              <a:srgbClr val="455C76"/>
            </a:solidFill>
            <a:prstDash val="solid"/>
            <a:tailEnd type="triangle"/>
          </a:ln>
        </p:spPr>
      </p:sp>
      <p:sp>
        <p:nvSpPr>
          <p:cNvPr id="10" name="S13/edge:0:label"/>
          <p:cNvSpPr/>
          <p:nvPr/>
        </p:nvSpPr>
        <p:spPr>
          <a:xfrm>
            <a:off x="2738438" y="2362962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3"/>
              </a:lnSpc>
              <a:buNone/>
            </a:pPr>
            <a:r>
              <a:rPr lang="zh-CN" altLang="en-US" sz="1275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相同任务</a:t>
            </a:r>
            <a:endParaRPr lang="zh-CN" sz="1275" dirty="0"/>
          </a:p>
        </p:txBody>
      </p:sp>
      <p:sp>
        <p:nvSpPr>
          <p:cNvPr id="11" name="S13/edge:1:segment:0"/>
          <p:cNvSpPr/>
          <p:nvPr/>
        </p:nvSpPr>
        <p:spPr>
          <a:xfrm>
            <a:off x="4362450" y="2156365"/>
            <a:ext cx="0" cy="435197"/>
          </a:xfrm>
          <a:prstGeom prst="line">
            <a:avLst/>
          </a:prstGeom>
          <a:noFill/>
          <a:ln w="15240">
            <a:solidFill>
              <a:srgbClr val="455C76"/>
            </a:solidFill>
            <a:prstDash val="solid"/>
          </a:ln>
        </p:spPr>
      </p:sp>
      <p:sp>
        <p:nvSpPr>
          <p:cNvPr id="12" name="S13/edge:1:segment:1"/>
          <p:cNvSpPr/>
          <p:nvPr/>
        </p:nvSpPr>
        <p:spPr>
          <a:xfrm>
            <a:off x="4362450" y="2591562"/>
            <a:ext cx="2181225" cy="0"/>
          </a:xfrm>
          <a:prstGeom prst="line">
            <a:avLst/>
          </a:prstGeom>
          <a:noFill/>
          <a:ln w="15240">
            <a:solidFill>
              <a:srgbClr val="455C76"/>
            </a:solidFill>
            <a:prstDash val="solid"/>
          </a:ln>
        </p:spPr>
      </p:sp>
      <p:sp>
        <p:nvSpPr>
          <p:cNvPr id="13" name="S13/edge:1:segment:2"/>
          <p:cNvSpPr/>
          <p:nvPr/>
        </p:nvSpPr>
        <p:spPr>
          <a:xfrm>
            <a:off x="6543675" y="2591562"/>
            <a:ext cx="0" cy="435197"/>
          </a:xfrm>
          <a:prstGeom prst="line">
            <a:avLst/>
          </a:prstGeom>
          <a:noFill/>
          <a:ln w="15240">
            <a:solidFill>
              <a:srgbClr val="455C76"/>
            </a:solidFill>
            <a:prstDash val="solid"/>
            <a:tailEnd type="triangle"/>
          </a:ln>
        </p:spPr>
      </p:sp>
      <p:sp>
        <p:nvSpPr>
          <p:cNvPr id="14" name="S13/edge:1:label"/>
          <p:cNvSpPr/>
          <p:nvPr/>
        </p:nvSpPr>
        <p:spPr>
          <a:xfrm>
            <a:off x="5072063" y="2362962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403"/>
              </a:lnSpc>
              <a:buNone/>
            </a:pPr>
            <a:r>
              <a:rPr lang="zh-CN" altLang="en-US" sz="1275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相同任务</a:t>
            </a:r>
            <a:endParaRPr lang="zh-CN" sz="1275" dirty="0"/>
          </a:p>
        </p:txBody>
      </p:sp>
      <p:sp>
        <p:nvSpPr>
          <p:cNvPr id="15" name="S13/edge:2:segment:0"/>
          <p:cNvSpPr/>
          <p:nvPr/>
        </p:nvSpPr>
        <p:spPr>
          <a:xfrm>
            <a:off x="3086100" y="3659791"/>
            <a:ext cx="47625" cy="0"/>
          </a:xfrm>
          <a:prstGeom prst="line">
            <a:avLst/>
          </a:prstGeom>
          <a:noFill/>
          <a:ln w="15240">
            <a:solidFill>
              <a:srgbClr val="455C76"/>
            </a:solidFill>
            <a:prstDash val="solid"/>
          </a:ln>
        </p:spPr>
      </p:sp>
      <p:sp>
        <p:nvSpPr>
          <p:cNvPr id="16" name="S13/edge:2:segment:1"/>
          <p:cNvSpPr/>
          <p:nvPr/>
        </p:nvSpPr>
        <p:spPr>
          <a:xfrm>
            <a:off x="3133725" y="3659791"/>
            <a:ext cx="0" cy="1829895"/>
          </a:xfrm>
          <a:prstGeom prst="line">
            <a:avLst/>
          </a:prstGeom>
          <a:noFill/>
          <a:ln w="15240">
            <a:solidFill>
              <a:srgbClr val="455C76"/>
            </a:solidFill>
            <a:prstDash val="solid"/>
          </a:ln>
        </p:spPr>
      </p:sp>
      <p:sp>
        <p:nvSpPr>
          <p:cNvPr id="17" name="S13/edge:2:segment:2"/>
          <p:cNvSpPr/>
          <p:nvPr/>
        </p:nvSpPr>
        <p:spPr>
          <a:xfrm>
            <a:off x="3133725" y="5489686"/>
            <a:ext cx="47625" cy="0"/>
          </a:xfrm>
          <a:prstGeom prst="line">
            <a:avLst/>
          </a:prstGeom>
          <a:noFill/>
          <a:ln w="15240">
            <a:solidFill>
              <a:srgbClr val="455C76"/>
            </a:solidFill>
            <a:prstDash val="solid"/>
            <a:tailEnd type="triangle"/>
          </a:ln>
        </p:spPr>
      </p:sp>
      <p:sp>
        <p:nvSpPr>
          <p:cNvPr id="18" name="S13/edge:3:segment:0"/>
          <p:cNvSpPr/>
          <p:nvPr/>
        </p:nvSpPr>
        <p:spPr>
          <a:xfrm>
            <a:off x="6543675" y="4292822"/>
            <a:ext cx="0" cy="356092"/>
          </a:xfrm>
          <a:prstGeom prst="line">
            <a:avLst/>
          </a:prstGeom>
          <a:noFill/>
          <a:ln w="15240">
            <a:solidFill>
              <a:srgbClr val="455C76"/>
            </a:solidFill>
            <a:prstDash val="solid"/>
          </a:ln>
        </p:spPr>
      </p:sp>
      <p:sp>
        <p:nvSpPr>
          <p:cNvPr id="19" name="S13/edge:3:segment:1"/>
          <p:cNvSpPr/>
          <p:nvPr/>
        </p:nvSpPr>
        <p:spPr>
          <a:xfrm flipH="1">
            <a:off x="4362450" y="4648914"/>
            <a:ext cx="2181225" cy="0"/>
          </a:xfrm>
          <a:prstGeom prst="line">
            <a:avLst/>
          </a:prstGeom>
          <a:noFill/>
          <a:ln w="15240">
            <a:solidFill>
              <a:srgbClr val="455C76"/>
            </a:solidFill>
            <a:prstDash val="solid"/>
          </a:ln>
        </p:spPr>
      </p:sp>
      <p:sp>
        <p:nvSpPr>
          <p:cNvPr id="20" name="S13/edge:3:segment:2"/>
          <p:cNvSpPr/>
          <p:nvPr/>
        </p:nvSpPr>
        <p:spPr>
          <a:xfrm>
            <a:off x="4362450" y="4648914"/>
            <a:ext cx="0" cy="356092"/>
          </a:xfrm>
          <a:prstGeom prst="line">
            <a:avLst/>
          </a:prstGeom>
          <a:noFill/>
          <a:ln w="15240">
            <a:solidFill>
              <a:srgbClr val="455C76"/>
            </a:solidFill>
            <a:prstDash val="solid"/>
            <a:tailEnd type="triangle"/>
          </a:ln>
        </p:spPr>
      </p:sp>
      <p:sp>
        <p:nvSpPr>
          <p:cNvPr id="21" name="S13/node:tasks:frame"/>
          <p:cNvSpPr/>
          <p:nvPr/>
        </p:nvSpPr>
        <p:spPr>
          <a:xfrm>
            <a:off x="3181350" y="1226534"/>
            <a:ext cx="2362200" cy="929831"/>
          </a:xfrm>
          <a:prstGeom prst="rect">
            <a:avLst/>
          </a:prstGeom>
          <a:solidFill>
            <a:srgbClr val="F0F3F6"/>
          </a:solidFill>
          <a:ln w="11430">
            <a:solidFill>
              <a:srgbClr val="C5CFDA"/>
            </a:solidFill>
            <a:prstDash val="solid"/>
          </a:ln>
        </p:spPr>
      </p:sp>
      <p:sp>
        <p:nvSpPr>
          <p:cNvPr id="22" name="S13/node:tasks:heading-rule"/>
          <p:cNvSpPr/>
          <p:nvPr/>
        </p:nvSpPr>
        <p:spPr>
          <a:xfrm>
            <a:off x="3181350" y="1226534"/>
            <a:ext cx="2362200" cy="0"/>
          </a:xfrm>
          <a:prstGeom prst="line">
            <a:avLst/>
          </a:prstGeom>
          <a:noFill/>
          <a:ln w="19050">
            <a:solidFill>
              <a:srgbClr val="536A7A"/>
            </a:solidFill>
            <a:prstDash val="solid"/>
          </a:ln>
        </p:spPr>
      </p:sp>
      <p:sp>
        <p:nvSpPr>
          <p:cNvPr id="23" name="S13/node:tasks:label"/>
          <p:cNvSpPr/>
          <p:nvPr/>
        </p:nvSpPr>
        <p:spPr>
          <a:xfrm>
            <a:off x="3295650" y="1321784"/>
            <a:ext cx="21336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同一留出任务集</a:t>
            </a:r>
            <a:endParaRPr lang="zh-CN" sz="1800" dirty="0"/>
          </a:p>
        </p:txBody>
      </p:sp>
      <p:sp>
        <p:nvSpPr>
          <p:cNvPr id="24" name="S13/node:tasks:detail"/>
          <p:cNvSpPr/>
          <p:nvPr/>
        </p:nvSpPr>
        <p:spPr>
          <a:xfrm>
            <a:off x="3295650" y="1636109"/>
            <a:ext cx="2133600" cy="434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源数据与图表配对</a:t>
            </a:r>
            <a:endParaRPr lang="zh-CN" sz="1650" dirty="0"/>
          </a:p>
        </p:txBody>
      </p:sp>
      <p:sp>
        <p:nvSpPr>
          <p:cNvPr id="25" name="S13/node:control:frame"/>
          <p:cNvSpPr/>
          <p:nvPr/>
        </p:nvSpPr>
        <p:spPr>
          <a:xfrm>
            <a:off x="666750" y="3026759"/>
            <a:ext cx="2419350" cy="1266063"/>
          </a:xfrm>
          <a:prstGeom prst="rect">
            <a:avLst/>
          </a:prstGeom>
          <a:solidFill>
            <a:srgbClr val="EAF2FA"/>
          </a:solidFill>
          <a:ln w="11430">
            <a:solidFill>
              <a:srgbClr val="C5CFDA"/>
            </a:solidFill>
            <a:prstDash val="solid"/>
          </a:ln>
        </p:spPr>
      </p:sp>
      <p:sp>
        <p:nvSpPr>
          <p:cNvPr id="26" name="S13/node:control:heading-rule"/>
          <p:cNvSpPr/>
          <p:nvPr/>
        </p:nvSpPr>
        <p:spPr>
          <a:xfrm>
            <a:off x="666750" y="3026759"/>
            <a:ext cx="241935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27" name="S13/node:control:label"/>
          <p:cNvSpPr/>
          <p:nvPr/>
        </p:nvSpPr>
        <p:spPr>
          <a:xfrm>
            <a:off x="781050" y="3122009"/>
            <a:ext cx="21907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Manager 基线</a:t>
            </a:r>
            <a:endParaRPr lang="zh-CN" sz="1800" dirty="0"/>
          </a:p>
        </p:txBody>
      </p:sp>
      <p:sp>
        <p:nvSpPr>
          <p:cNvPr id="28" name="S13/node:control:detail"/>
          <p:cNvSpPr/>
          <p:nvPr/>
        </p:nvSpPr>
        <p:spPr>
          <a:xfrm>
            <a:off x="781050" y="3436334"/>
            <a:ext cx="2190750" cy="770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常规工具编排</a:t>
            </a:r>
            <a:endParaRPr lang="zh-CN" sz="1650" dirty="0"/>
          </a:p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可读同一源数据</a:t>
            </a:r>
            <a:endParaRPr lang="zh-CN" sz="1650" dirty="0"/>
          </a:p>
        </p:txBody>
      </p:sp>
      <p:sp>
        <p:nvSpPr>
          <p:cNvPr id="29" name="S13/node:verify:frame"/>
          <p:cNvSpPr/>
          <p:nvPr/>
        </p:nvSpPr>
        <p:spPr>
          <a:xfrm>
            <a:off x="5334000" y="3026759"/>
            <a:ext cx="2419350" cy="1266063"/>
          </a:xfrm>
          <a:prstGeom prst="rect">
            <a:avLst/>
          </a:prstGeom>
          <a:solidFill>
            <a:srgbClr val="F2EDF7"/>
          </a:solidFill>
          <a:ln w="11430">
            <a:solidFill>
              <a:srgbClr val="C5CFDA"/>
            </a:solidFill>
            <a:prstDash val="dash"/>
          </a:ln>
        </p:spPr>
      </p:sp>
      <p:sp>
        <p:nvSpPr>
          <p:cNvPr id="30" name="S13/node:verify:heading-rule"/>
          <p:cNvSpPr/>
          <p:nvPr/>
        </p:nvSpPr>
        <p:spPr>
          <a:xfrm>
            <a:off x="5334000" y="3026759"/>
            <a:ext cx="2419350" cy="0"/>
          </a:xfrm>
          <a:prstGeom prst="line">
            <a:avLst/>
          </a:prstGeom>
          <a:noFill/>
          <a:ln w="19050">
            <a:solidFill>
              <a:srgbClr val="6C528E"/>
            </a:solidFill>
            <a:prstDash val="solid"/>
          </a:ln>
        </p:spPr>
      </p:sp>
      <p:sp>
        <p:nvSpPr>
          <p:cNvPr id="31" name="S13/node:verify:label"/>
          <p:cNvSpPr/>
          <p:nvPr/>
        </p:nvSpPr>
        <p:spPr>
          <a:xfrm>
            <a:off x="5448300" y="3122009"/>
            <a:ext cx="219075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6C528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Manager + 核验</a:t>
            </a:r>
            <a:endParaRPr lang="zh-CN" sz="1800" dirty="0"/>
          </a:p>
        </p:txBody>
      </p:sp>
      <p:sp>
        <p:nvSpPr>
          <p:cNvPr id="32" name="S13/node:verify:detail"/>
          <p:cNvSpPr/>
          <p:nvPr/>
        </p:nvSpPr>
        <p:spPr>
          <a:xfrm>
            <a:off x="5448300" y="3436334"/>
            <a:ext cx="2190750" cy="770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强制核对关键读数</a:t>
            </a:r>
            <a:endParaRPr lang="zh-CN" sz="1650" dirty="0"/>
          </a:p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异常时触发复核</a:t>
            </a:r>
            <a:endParaRPr lang="zh-CN" sz="1650" dirty="0"/>
          </a:p>
        </p:txBody>
      </p:sp>
      <p:sp>
        <p:nvSpPr>
          <p:cNvPr id="33" name="S13/node:evaluation:frame"/>
          <p:cNvSpPr/>
          <p:nvPr/>
        </p:nvSpPr>
        <p:spPr>
          <a:xfrm>
            <a:off x="3181350" y="5005007"/>
            <a:ext cx="2362200" cy="969359"/>
          </a:xfrm>
          <a:prstGeom prst="rect">
            <a:avLst/>
          </a:prstGeom>
          <a:solidFill>
            <a:srgbClr val="EAF2FA"/>
          </a:solidFill>
          <a:ln w="11430">
            <a:solidFill>
              <a:srgbClr val="C5CFDA"/>
            </a:solidFill>
            <a:prstDash val="solid"/>
          </a:ln>
        </p:spPr>
      </p:sp>
      <p:sp>
        <p:nvSpPr>
          <p:cNvPr id="34" name="S13/node:evaluation:heading-rule"/>
          <p:cNvSpPr/>
          <p:nvPr/>
        </p:nvSpPr>
        <p:spPr>
          <a:xfrm>
            <a:off x="3181350" y="5005007"/>
            <a:ext cx="2362200" cy="0"/>
          </a:xfrm>
          <a:prstGeom prst="line">
            <a:avLst/>
          </a:prstGeom>
          <a:noFill/>
          <a:ln w="19050">
            <a:solidFill>
              <a:srgbClr val="235E96"/>
            </a:solidFill>
            <a:prstDash val="solid"/>
          </a:ln>
        </p:spPr>
      </p:sp>
      <p:sp>
        <p:nvSpPr>
          <p:cNvPr id="35" name="S13/node:evaluation:label"/>
          <p:cNvSpPr/>
          <p:nvPr/>
        </p:nvSpPr>
        <p:spPr>
          <a:xfrm>
            <a:off x="3295650" y="5100257"/>
            <a:ext cx="21336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8"/>
              </a:lnSpc>
              <a:buNone/>
            </a:pPr>
            <a:r>
              <a:rPr lang="zh-CN" altLang="en-US" sz="1800" b="1" dirty="0">
                <a:solidFill>
                  <a:srgbClr val="235E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统一盲评</a:t>
            </a:r>
            <a:endParaRPr lang="zh-CN" sz="1800" dirty="0"/>
          </a:p>
        </p:txBody>
      </p:sp>
      <p:sp>
        <p:nvSpPr>
          <p:cNvPr id="36" name="S13/node:evaluation:detail"/>
          <p:cNvSpPr/>
          <p:nvPr/>
        </p:nvSpPr>
        <p:spPr>
          <a:xfrm>
            <a:off x="3295650" y="5414582"/>
            <a:ext cx="2133600" cy="474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47"/>
              </a:lnSpc>
              <a:buNone/>
            </a:pPr>
            <a:r>
              <a:rPr lang="zh-CN" altLang="en-US" sz="165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关键错误与复核负担</a:t>
            </a:r>
            <a:endParaRPr lang="zh-CN" sz="1650" dirty="0"/>
          </a:p>
        </p:txBody>
      </p:sp>
      <p:sp>
        <p:nvSpPr>
          <p:cNvPr id="37" name="S13/card/hypothesis/frame"/>
          <p:cNvSpPr/>
          <p:nvPr/>
        </p:nvSpPr>
        <p:spPr>
          <a:xfrm>
            <a:off x="8610600" y="1206722"/>
            <a:ext cx="3124200" cy="2176082"/>
          </a:xfrm>
          <a:prstGeom prst="rect">
            <a:avLst/>
          </a:prstGeom>
          <a:solidFill>
            <a:srgbClr val="FFFFFF"/>
          </a:solidFill>
          <a:ln w="10478">
            <a:solidFill>
              <a:srgbClr val="C5CFDA"/>
            </a:solidFill>
            <a:prstDash val="solid"/>
          </a:ln>
        </p:spPr>
      </p:sp>
      <p:sp>
        <p:nvSpPr>
          <p:cNvPr id="38" name="S13/card/hypothesis/heading-fill"/>
          <p:cNvSpPr/>
          <p:nvPr/>
        </p:nvSpPr>
        <p:spPr>
          <a:xfrm>
            <a:off x="8620125" y="1216247"/>
            <a:ext cx="3105150" cy="371475"/>
          </a:xfrm>
          <a:prstGeom prst="rect">
            <a:avLst/>
          </a:prstGeom>
          <a:solidFill>
            <a:srgbClr val="F2ED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13/card/hypothesis/heading-rule"/>
          <p:cNvSpPr/>
          <p:nvPr/>
        </p:nvSpPr>
        <p:spPr>
          <a:xfrm>
            <a:off x="8610600" y="1587722"/>
            <a:ext cx="3124200" cy="0"/>
          </a:xfrm>
          <a:prstGeom prst="line">
            <a:avLst/>
          </a:prstGeom>
          <a:noFill/>
          <a:ln w="9525">
            <a:solidFill>
              <a:srgbClr val="C5CFDA"/>
            </a:solidFill>
            <a:prstDash val="solid"/>
          </a:ln>
        </p:spPr>
      </p:sp>
      <p:sp>
        <p:nvSpPr>
          <p:cNvPr id="40" name="S13/card/hypothesis/title"/>
          <p:cNvSpPr/>
          <p:nvPr/>
        </p:nvSpPr>
        <p:spPr>
          <a:xfrm>
            <a:off x="8734425" y="1254347"/>
            <a:ext cx="28765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6C528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假说与共同条件</a:t>
            </a:r>
            <a:endParaRPr lang="zh-CN" sz="1950" dirty="0"/>
          </a:p>
        </p:txBody>
      </p:sp>
      <p:sp>
        <p:nvSpPr>
          <p:cNvPr id="41" name="S13/card/hypothesis/body"/>
          <p:cNvSpPr/>
          <p:nvPr/>
        </p:nvSpPr>
        <p:spPr>
          <a:xfrm>
            <a:off x="8743950" y="1692497"/>
            <a:ext cx="2857500" cy="1595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H：源数据核验降低关键错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误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 CSV、图像、工具与模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型，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6C528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统一预算上限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zh-CN" sz="1800" dirty="0"/>
          </a:p>
        </p:txBody>
      </p:sp>
      <p:sp>
        <p:nvSpPr>
          <p:cNvPr id="42" name="S13/card/falsify/frame"/>
          <p:cNvSpPr/>
          <p:nvPr/>
        </p:nvSpPr>
        <p:spPr>
          <a:xfrm>
            <a:off x="8610600" y="3734562"/>
            <a:ext cx="3124200" cy="2259616"/>
          </a:xfrm>
          <a:prstGeom prst="rect">
            <a:avLst/>
          </a:prstGeom>
          <a:solidFill>
            <a:srgbClr val="FFFFFF"/>
          </a:solidFill>
          <a:ln w="10478">
            <a:solidFill>
              <a:srgbClr val="C5CFDA"/>
            </a:solidFill>
            <a:prstDash val="solid"/>
          </a:ln>
        </p:spPr>
      </p:sp>
      <p:sp>
        <p:nvSpPr>
          <p:cNvPr id="43" name="S13/card/falsify/tab"/>
          <p:cNvSpPr/>
          <p:nvPr/>
        </p:nvSpPr>
        <p:spPr>
          <a:xfrm>
            <a:off x="8724900" y="3620262"/>
            <a:ext cx="1504950" cy="342900"/>
          </a:xfrm>
          <a:prstGeom prst="rect">
            <a:avLst/>
          </a:prstGeom>
          <a:solidFill>
            <a:srgbClr val="6C528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13/card/falsify/title"/>
          <p:cNvSpPr/>
          <p:nvPr/>
        </p:nvSpPr>
        <p:spPr>
          <a:xfrm>
            <a:off x="8829675" y="3648837"/>
            <a:ext cx="12954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终点与反证</a:t>
            </a:r>
            <a:endParaRPr lang="zh-CN" sz="1950" dirty="0"/>
          </a:p>
        </p:txBody>
      </p:sp>
      <p:sp>
        <p:nvSpPr>
          <p:cNvPr id="45" name="S13/card/falsify/body"/>
          <p:cNvSpPr/>
          <p:nvPr/>
        </p:nvSpPr>
        <p:spPr>
          <a:xfrm>
            <a:off x="8743950" y="4106037"/>
            <a:ext cx="2857500" cy="1792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主要终点：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6C528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关键错误率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同时报告复核比例与耗时。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误差不降或仅靠额外资源，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假说不获支持。</a:t>
            </a:r>
            <a:endParaRPr lang="zh-CN" sz="1800" dirty="0"/>
          </a:p>
        </p:txBody>
      </p:sp>
      <p:sp>
        <p:nvSpPr>
          <p:cNvPr id="46" name="S13/sources"/>
          <p:cNvSpPr/>
          <p:nvPr/>
        </p:nvSpPr>
        <p:spPr>
          <a:xfrm>
            <a:off x="457200" y="62865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zh-CN" altLang="en-US" sz="1125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P1 · 2026 · 10.1038/s41467-026-71090-y</a:t>
            </a:r>
            <a:endParaRPr lang="zh-CN" sz="11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4/top-rule"/>
          <p:cNvSpPr/>
          <p:nvPr/>
        </p:nvSpPr>
        <p:spPr>
          <a:xfrm>
            <a:off x="0" y="0"/>
            <a:ext cx="12192000" cy="19050"/>
          </a:xfrm>
          <a:prstGeom prst="rect">
            <a:avLst/>
          </a:prstGeom>
          <a:solidFill>
            <a:srgbClr val="183B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14/page-number"/>
          <p:cNvSpPr/>
          <p:nvPr/>
        </p:nvSpPr>
        <p:spPr>
          <a:xfrm>
            <a:off x="10744200" y="6534150"/>
            <a:ext cx="99060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zh-CN" altLang="en-US" sz="1050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 / 14</a:t>
            </a:r>
            <a:endParaRPr lang="zh-CN" sz="1050" dirty="0"/>
          </a:p>
        </p:txBody>
      </p:sp>
      <p:sp>
        <p:nvSpPr>
          <p:cNvPr id="4" name="S14/title"/>
          <p:cNvSpPr/>
          <p:nvPr/>
        </p:nvSpPr>
        <p:spPr>
          <a:xfrm>
            <a:off x="457200" y="209550"/>
            <a:ext cx="1127760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zh-CN" altLang="en-US" sz="3000" b="1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结论与资料来源</a:t>
            </a:r>
            <a:endParaRPr lang="zh-CN" sz="3000" dirty="0"/>
          </a:p>
        </p:txBody>
      </p:sp>
      <p:sp>
        <p:nvSpPr>
          <p:cNvPr id="5" name="S14/header-rule"/>
          <p:cNvSpPr/>
          <p:nvPr/>
        </p:nvSpPr>
        <p:spPr>
          <a:xfrm>
            <a:off x="457200" y="752475"/>
            <a:ext cx="11277600" cy="0"/>
          </a:xfrm>
          <a:prstGeom prst="line">
            <a:avLst/>
          </a:prstGeom>
          <a:noFill/>
          <a:ln w="10478">
            <a:solidFill>
              <a:srgbClr val="C5CFDA"/>
            </a:solidFill>
            <a:prstDash val="solid"/>
          </a:ln>
        </p:spPr>
      </p:sp>
      <p:sp>
        <p:nvSpPr>
          <p:cNvPr id="6" name="S14/header-accent"/>
          <p:cNvSpPr/>
          <p:nvPr/>
        </p:nvSpPr>
        <p:spPr>
          <a:xfrm>
            <a:off x="457200" y="752475"/>
            <a:ext cx="704850" cy="0"/>
          </a:xfrm>
          <a:prstGeom prst="line">
            <a:avLst/>
          </a:prstGeom>
          <a:noFill/>
          <a:ln w="28575">
            <a:solidFill>
              <a:srgbClr val="183B66"/>
            </a:solidFill>
            <a:prstDash val="solid"/>
          </a:ln>
        </p:spPr>
      </p:sp>
      <p:sp>
        <p:nvSpPr>
          <p:cNvPr id="7" name="S14/ref:P1:id"/>
          <p:cNvSpPr/>
          <p:nvPr/>
        </p:nvSpPr>
        <p:spPr>
          <a:xfrm>
            <a:off x="457200" y="1166432"/>
            <a:ext cx="5524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12"/>
              </a:lnSpc>
              <a:buNone/>
            </a:pPr>
            <a:r>
              <a:rPr lang="zh-CN" altLang="en-US" sz="1650" b="1" dirty="0">
                <a:solidFill>
                  <a:srgbClr val="183B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P1</a:t>
            </a:r>
            <a:endParaRPr lang="zh-CN" sz="1650" dirty="0"/>
          </a:p>
        </p:txBody>
      </p:sp>
      <p:sp>
        <p:nvSpPr>
          <p:cNvPr id="8" name="S14/ref:P1:title"/>
          <p:cNvSpPr/>
          <p:nvPr/>
        </p:nvSpPr>
        <p:spPr>
          <a:xfrm>
            <a:off x="1123950" y="1147381"/>
            <a:ext cx="7010400" cy="548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conversational multi-agent AI system for automated plant </a:t>
            </a:r>
            <a:endParaRPr lang="zh-CN" sz="1800" dirty="0"/>
          </a:p>
          <a:p>
            <a:pPr algn="l" indent="0" marL="0">
              <a:lnSpc>
                <a:spcPts val="2160"/>
              </a:lnSpc>
              <a:buNone/>
            </a:pPr>
            <a:r>
              <a:rPr lang="zh-CN" altLang="en-US" sz="1800" b="1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phenotyping</a:t>
            </a:r>
            <a:endParaRPr lang="zh-CN" sz="1800" dirty="0"/>
          </a:p>
        </p:txBody>
      </p:sp>
      <p:sp>
        <p:nvSpPr>
          <p:cNvPr id="9" name="S14/ref:P1:meta"/>
          <p:cNvSpPr/>
          <p:nvPr/>
        </p:nvSpPr>
        <p:spPr>
          <a:xfrm>
            <a:off x="1123950" y="1762697"/>
            <a:ext cx="7010400" cy="42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Chen F., Stogiannidis I., Wood A., et al. · Nature Communications 17, 6391 · 2026 · </a:t>
            </a:r>
            <a:endParaRPr lang="zh-CN" sz="1350" dirty="0"/>
          </a:p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DOI: 10.1038/s41467-026-71090-y · Version of Record · 2026-07-16</a:t>
            </a:r>
            <a:endParaRPr lang="zh-CN" sz="1350" dirty="0"/>
          </a:p>
        </p:txBody>
      </p:sp>
      <p:sp>
        <p:nvSpPr>
          <p:cNvPr id="10" name="S14/ref:P1:detail"/>
          <p:cNvSpPr/>
          <p:nvPr/>
        </p:nvSpPr>
        <p:spPr>
          <a:xfrm>
            <a:off x="1123950" y="2492311"/>
            <a:ext cx="7010400" cy="3462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zh-CN" altLang="en-US" sz="1500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https://www.nature.com/articles/s41467-026-71090-y</a:t>
            </a:r>
            <a:endParaRPr lang="zh-CN" sz="1500" dirty="0"/>
          </a:p>
          <a:p>
            <a:pPr algn="l" indent="0" marL="0">
              <a:lnSpc>
                <a:spcPts val="2025"/>
              </a:lnSpc>
              <a:buNone/>
            </a:pPr>
            <a:r>
              <a:rPr lang="zh-CN" altLang="en-US" sz="1500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全文阅读范围：Introduction · Design · Case studies 1–3 · Evaluation · </a:t>
            </a:r>
            <a:endParaRPr lang="zh-CN" sz="1500" dirty="0"/>
          </a:p>
          <a:p>
            <a:pPr algn="l" indent="0" marL="0">
              <a:lnSpc>
                <a:spcPts val="2025"/>
              </a:lnSpc>
              <a:buNone/>
            </a:pPr>
            <a:r>
              <a:rPr lang="zh-CN" altLang="en-US" sz="1500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Discussion · Methods</a:t>
            </a:r>
            <a:endParaRPr lang="zh-CN" sz="1500" dirty="0"/>
          </a:p>
          <a:p>
            <a:pPr algn="l" indent="0" marL="0">
              <a:lnSpc>
                <a:spcPts val="2025"/>
              </a:lnSpc>
              <a:buNone/>
            </a:pPr>
            <a:r>
              <a:rPr lang="zh-CN" altLang="en-US" sz="1500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原图授权：</a:t>
            </a:r>
            <a:endParaRPr lang="zh-CN" sz="1500" dirty="0"/>
          </a:p>
          <a:p>
            <a:pPr algn="l" indent="0" marL="0">
              <a:lnSpc>
                <a:spcPts val="2025"/>
              </a:lnSpc>
              <a:buNone/>
            </a:pPr>
            <a:r>
              <a:rPr lang="zh-CN" altLang="en-US" sz="1500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Fig. 3 · 任务 1 的输入植株照片 · CC BY 4.0</a:t>
            </a:r>
            <a:endParaRPr lang="zh-CN" sz="1500" dirty="0"/>
          </a:p>
          <a:p>
            <a:pPr algn="l" indent="0" marL="0">
              <a:lnSpc>
                <a:spcPts val="2025"/>
              </a:lnSpc>
              <a:buNone/>
            </a:pPr>
            <a:r>
              <a:rPr lang="zh-CN" altLang="en-US" sz="1500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Fig. 3 对应的作者输出 · PLA 生长曲线 · MIT · Copyright 2025 Feng Chen · see </a:t>
            </a:r>
            <a:endParaRPr lang="zh-CN" sz="1500" dirty="0"/>
          </a:p>
          <a:p>
            <a:pPr algn="l" indent="0" marL="0">
              <a:lnSpc>
                <a:spcPts val="2025"/>
              </a:lnSpc>
              <a:buNone/>
            </a:pPr>
            <a:r>
              <a:rPr lang="zh-CN" altLang="en-US" sz="1500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LICENSE-PhenoAssistant.txt</a:t>
            </a:r>
            <a:endParaRPr lang="zh-CN" sz="1500" dirty="0"/>
          </a:p>
          <a:p>
            <a:pPr algn="l" indent="0" marL="0">
              <a:lnSpc>
                <a:spcPts val="2025"/>
              </a:lnSpc>
              <a:buNone/>
            </a:pPr>
            <a:r>
              <a:rPr lang="zh-CN" altLang="en-US" sz="1500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Fig. 3 · 统计结果的 Summary 分组 · CC BY 4.0</a:t>
            </a:r>
            <a:endParaRPr lang="zh-CN" sz="1500" dirty="0"/>
          </a:p>
          <a:p>
            <a:pPr algn="l" indent="0" marL="0">
              <a:lnSpc>
                <a:spcPts val="2025"/>
              </a:lnSpc>
              <a:buNone/>
            </a:pPr>
            <a:r>
              <a:rPr lang="zh-CN" altLang="en-US" sz="1500" dirty="0">
                <a:solidFill>
                  <a:srgbClr val="4F5D6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Fig. 4 · 两项 Pearson 相关系数结果 · CC BY 4.0</a:t>
            </a:r>
            <a:endParaRPr lang="zh-CN" sz="1500" dirty="0"/>
          </a:p>
        </p:txBody>
      </p:sp>
      <p:sp>
        <p:nvSpPr>
          <p:cNvPr id="11" name="S14/card/conclusions/base-rule"/>
          <p:cNvSpPr/>
          <p:nvPr/>
        </p:nvSpPr>
        <p:spPr>
          <a:xfrm>
            <a:off x="8477250" y="3402616"/>
            <a:ext cx="3257550" cy="0"/>
          </a:xfrm>
          <a:prstGeom prst="line">
            <a:avLst/>
          </a:prstGeom>
          <a:noFill/>
          <a:ln w="10478">
            <a:solidFill>
              <a:srgbClr val="C5CFDA"/>
            </a:solidFill>
            <a:prstDash val="solid"/>
          </a:ln>
        </p:spPr>
      </p:sp>
      <p:sp>
        <p:nvSpPr>
          <p:cNvPr id="12" name="S14/card/conclusions/side-mark"/>
          <p:cNvSpPr/>
          <p:nvPr/>
        </p:nvSpPr>
        <p:spPr>
          <a:xfrm>
            <a:off x="8477250" y="1245584"/>
            <a:ext cx="47625" cy="295275"/>
          </a:xfrm>
          <a:prstGeom prst="rect">
            <a:avLst/>
          </a:prstGeom>
          <a:solidFill>
            <a:srgbClr val="146C6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14/card/conclusions/title"/>
          <p:cNvSpPr/>
          <p:nvPr/>
        </p:nvSpPr>
        <p:spPr>
          <a:xfrm>
            <a:off x="8629650" y="1245584"/>
            <a:ext cx="310515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主要判断</a:t>
            </a:r>
            <a:endParaRPr lang="zh-CN" sz="1950" dirty="0"/>
          </a:p>
        </p:txBody>
      </p:sp>
      <p:sp>
        <p:nvSpPr>
          <p:cNvPr id="14" name="S14/card/conclusions/body"/>
          <p:cNvSpPr/>
          <p:nvPr/>
        </p:nvSpPr>
        <p:spPr>
          <a:xfrm>
            <a:off x="8629650" y="1664684"/>
            <a:ext cx="3105150" cy="1642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工具编排扩展了表型分析流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程。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146C6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局部读数可靠性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仍需核验。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农艺控制收益尚待独立验证。</a:t>
            </a:r>
            <a:endParaRPr lang="zh-CN" sz="1800" dirty="0"/>
          </a:p>
        </p:txBody>
      </p:sp>
      <p:sp>
        <p:nvSpPr>
          <p:cNvPr id="15" name="S14/card/materials/heading-rule"/>
          <p:cNvSpPr/>
          <p:nvPr/>
        </p:nvSpPr>
        <p:spPr>
          <a:xfrm>
            <a:off x="8477250" y="4021741"/>
            <a:ext cx="3257550" cy="0"/>
          </a:xfrm>
          <a:prstGeom prst="line">
            <a:avLst/>
          </a:prstGeom>
          <a:noFill/>
          <a:ln w="9525">
            <a:solidFill>
              <a:srgbClr val="C5CFDA"/>
            </a:solidFill>
            <a:prstDash val="solid"/>
          </a:ln>
        </p:spPr>
      </p:sp>
      <p:sp>
        <p:nvSpPr>
          <p:cNvPr id="16" name="S14/card/materials/heading-mark"/>
          <p:cNvSpPr/>
          <p:nvPr/>
        </p:nvSpPr>
        <p:spPr>
          <a:xfrm>
            <a:off x="8477250" y="4021741"/>
            <a:ext cx="342900" cy="0"/>
          </a:xfrm>
          <a:prstGeom prst="line">
            <a:avLst/>
          </a:prstGeom>
          <a:noFill/>
          <a:ln w="17145">
            <a:solidFill>
              <a:srgbClr val="536A7A"/>
            </a:solidFill>
            <a:prstDash val="solid"/>
          </a:ln>
        </p:spPr>
      </p:sp>
      <p:sp>
        <p:nvSpPr>
          <p:cNvPr id="17" name="S14/card/materials/title"/>
          <p:cNvSpPr/>
          <p:nvPr/>
        </p:nvSpPr>
        <p:spPr>
          <a:xfrm>
            <a:off x="8477250" y="3678841"/>
            <a:ext cx="3257550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2"/>
              </a:lnSpc>
              <a:buNone/>
            </a:pPr>
            <a:r>
              <a:rPr lang="zh-CN" altLang="en-US" sz="195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进一步阅读</a:t>
            </a:r>
            <a:endParaRPr lang="zh-CN" sz="1950" dirty="0"/>
          </a:p>
        </p:txBody>
      </p:sp>
      <p:sp>
        <p:nvSpPr>
          <p:cNvPr id="18" name="S14/card/materials/body"/>
          <p:cNvSpPr/>
          <p:nvPr/>
        </p:nvSpPr>
        <p:spPr>
          <a:xfrm>
            <a:off x="8477250" y="4155091"/>
            <a:ext cx="3257550" cy="1820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b="1" dirty="0">
                <a:solidFill>
                  <a:srgbClr val="536A7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正式全文与补充材料</a:t>
            </a:r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Fig. 3/4，CC BY 4.0。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官方代码：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171C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vios-s/PhenoAssistant。</a:t>
            </a:r>
            <a:endParaRPr lang="zh-CN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PhenoAssistant 论文精读：植物表型智能体的方法、证据与局限</dc:title>
  <dc:subject>PhenoAssistant 如何连接植物表型分析工具，它的案例与任务评价分别支持什么结论，怎样检验图表读数核验的价值？</dc:subject>
  <dc:creator>DSH Academic PPT</dc:creator>
  <cp:lastModifiedBy>DSH Academic PPT</cp:lastModifiedBy>
  <cp:revision>1</cp:revision>
  <dcterms:created xsi:type="dcterms:W3CDTF">2026-10-20T05:41:19Z</dcterms:created>
  <dcterms:modified xsi:type="dcterms:W3CDTF">2026-10-20T05:41:19Z</dcterms:modified>
</cp:coreProperties>
</file>