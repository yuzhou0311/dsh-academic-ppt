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任务数</c:v>
                </c:pt>
              </c:strCache>
            </c:strRef>
          </c:tx>
          <c:spPr>
            <a:solidFill>
              <a:srgbClr val="315B70"/>
            </a:solidFill>
            <a:effectLst/>
          </c:spPr>
          <c:invertIfNegative val="0"/>
          <c:dLbls>
            <c:numFmt formatCode="0.############" sourceLinked="0"/>
            <c:txPr>
              <a:bodyPr/>
              <a:lstStyle/>
              <a:p>
                <a:pPr>
                  <a:defRPr b="0" i="0" strike="noStrike" sz="1350" u="none">
                    <a:solidFill>
                      <a:srgbClr val="243648"/>
                    </a:solidFill>
                    <a:latin typeface="Noto Sans CJK SC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315B70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527F7E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人工核查通过</c:v>
                  </c:pt>
                  <c:pt idx="1">
                    <c:v>人工核查失败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17</c:v>
                </c:pt>
                <c:pt idx="1">
                  <c:v>3</c:v>
                </c:pt>
              </c:numCache>
            </c:numRef>
          </c:val>
        </c:ser>
        <c:dLbls>
          <c:numFmt formatCode="0.############" sourceLinked="0"/>
          <c:txPr>
            <a:bodyPr/>
            <a:lstStyle/>
            <a:p>
              <a:pPr>
                <a:defRPr b="0" i="0" strike="noStrike" sz="1350" u="none">
                  <a:solidFill>
                    <a:srgbClr val="243648"/>
                  </a:solidFill>
                  <a:latin typeface="Noto Sans CJK SC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FD7DA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43648"/>
                </a:solidFill>
                <a:latin typeface="Noto Sans CJK S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"/>
          <c:min val="0"/>
        </c:scaling>
        <c:delete val="0"/>
        <c:axPos val="l"/>
        <c:majorGridlines>
          <c:spPr>
            <a:ln w="12700" cap="flat">
              <a:solidFill>
                <a:srgbClr val="CFD7DA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607080"/>
                    </a:solidFill>
                    <a:latin typeface="Noto Sans CJK SC"/>
                  </a:defRPr>
                </a:pPr>
                <a:r>
                  <a:rPr sz="1200" b="0" i="0" u="none" strike="noStrike">
                    <a:solidFill>
                      <a:srgbClr val="607080"/>
                    </a:solidFill>
                    <a:latin typeface="Noto Sans CJK SC"/>
                  </a:rPr>
                  <a:t>项任务（共 20 项）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CFD7DA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07080"/>
                </a:solidFill>
                <a:latin typeface="Noto Sans CJK SC"/>
              </a:defRPr>
            </a:pPr>
            <a:endParaRPr lang="en-US"/>
          </a:p>
        </c:txPr>
        <c:crossAx val="2094734554"/>
        <c:crosses val="autoZero"/>
        <c:crossBetween val="between"/>
        <c:majorUnit val="5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 w="12700" cap="flat">
      <a:solidFill>
        <a:srgbClr val="FFFFFF"/>
      </a:solidFill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今天用一篇真实的 Nature Communications 研究，讨论三个问题：智能体把哪些分析环节串了起来；现有结果究竟证明了什么；以及我们怎样从失败案例中提出一个可检验的研究切入口。这是一个单篇论文的七分钟示例，重点是证据组织和研究判断。文中的表型分析能力与灌溉、施肥或产量控制，属于不同的验证对象。
参考文献（完整题名）
P1 · A conversational multi-agent AI system for automated plant phenotyping · Nature Communications 17, 6391 · 2026 · 10.1038/s41467-026-71090-y · Version of Record · updated 2026-07-16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论文的完整题名在这里。PhenoAssistant 的主要对象，是植物表型分析流程：用户通过自然语言提出问题，系统选择合适的视觉模型和分析工具，并组织后续处理。阅读这篇研究时，首先要限定验证对象。它展示了图像到表型再到统计解释的连接，也进行了任务评价；但这不能直接变成农业生产中的灌溉、施肥或增产结论。右侧把这个边界单独写出，是为了让后续数字有明确的适用范围。
参考文献（完整题名）
P1 · A conversational multi-agent AI system for automated plant phenotyping · Nature Communications 17, 6391 · 2026 · 10.1038/s41467-026-71090-y · Version of Record · updated 2026-07-16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这张图依据原文重新绘制，所有文字和连线都可编辑。用户先给出任务目标，中央 manager 负责分解和编排，实际计算由工具库完成。这个工具库既包括植物专用视觉模型，也包括统计、绘图和文献检索等能力。最后输出表型数据、图形和解释，并能够保存执行过的流程，再用于相似数据。这里值得关注的是语言交互与专门工具的协同：manager 的选择是否合理，以及工具的输出是否可靠，必须分开评价。
参考文献（完整题名）
P1 · A conversational multi-agent AI system for automated plant phenotyping · Nature Communications 17, 6391 · 2026 · 10.1038/s41467-026-71090-y · Version of Record · updated 2026-07-16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左边是论文的完整 Figure 3，没有裁掉任何面板。因为原图是竖向多任务图，汇报时用它定位流程，不要求听众逐字阅读原图中的小字；右边给出可编辑的解读。数据包含二十四株植物、五个生态型、二十六天，共一千二百四十八幅图像。这个数是重复观测的图像量，不能当成独立植物样本数。读图时，灰色表示任务，蓝色表示工具，白色表示结果，依次看到表型提取、绘图、读图、统计检验和文献对照。
参考文献（完整题名）
P1 · A conversational multi-agent AI system for automated plant phenotyping · Nature Communications 17, 6391 · 2026 · 10.1038/s41467-026-71090-y · Version of Record · updated 2026-07-16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下面看一个容易被误读的结果。论文用实际数据设计了二十项分析任务，人工检查输出后，十七项被判定为正确，三项失败。图中的柱形是依据原文计数重绘的可编辑图表，分母是任务数。三项失败都发生在需要精细读取图表的任务上。这提示，系统能把流程跑通，并不意味着每一步的细节解释都正确。也不能把这个比例写成农业栽培成功率，因为这些任务没有评价田间灌溉、施肥或产量控制。
参考文献（完整题名）
P1 · A conversational multi-agent AI system for automated plant phenotyping · Nature Communications 17, 6391 · 2026 · 10.1038/s41467-026-71090-y · Version of Record · updated 2026-07-16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些结果提供了很有价值的起点，也留下了三个层面的边界。首先是工具覆盖：哪些作物、哪些任务和成像条件有相应工具？其次是分布外场景：当新数据与原有模型的适用范围不一致，系统还能否可靠工作？最后是农业决策收益：要证明它改善施肥、灌溉或产量，需要另外设计真实的控制与效果验证。因此研究讨论中应同时写明适用范围、失败案例和用户核查机制。
参考文献（完整题名）
P1 · A conversational multi-agent AI system for automated plant phenotyping · Nature Communications 17, 6391 · 2026 · 10.1038/s41467-026-71090-y · Version of Record · updated 2026-07-16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基于细粒度读图错误，我们提出一个范围明确的研究问题：在保留 manager 工具编排的条件下，增加图表读数核验，能否降低关键错误？一种待检验的做法，是把关键读数与结构化源数据对照，在不一致或无法追溯时触发人工复核，并保留核验记录。这里的措辞是研究假说，而不是已证实的改进。我们也不能只考察错误减少多少，还要计算人工复核发生得多不多、是否增加了不可接受的工作负担。
参考文献（完整题名）
P1 · A conversational multi-agent AI system for automated plant phenotyping · Nature Communications 17, 6391 · 2026 · 10.1038/s41467-026-71090-y · Version of Record · updated 2026-07-16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最后，把研究想法落到比较设计上。预先定义同一组表型分析任务，让固定工作流与 manager 编排在相同工具、数据、信息和预算下运行。然后用预先规定的关键错误标准进行核查，最好让评价者不知道结果来自哪种设置。在这个基础上，再检验核验模块与风险触发人工复核带来的变化。主要观察错误率，同时记录复核比例和耗时。先把这些评价规则写清楚，才能分辨改进来自编排策略、额外工具，还是更多人工投入。
参考文献（完整题名）
P1 · A conversational multi-agent AI system for automated plant phenotyping · Nature Communications 17, 6391 · 2026 · 10.1038/s41467-026-71090-y · Version of Record · updated 2026-07-16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页给出完整书目、官方链接、阅读范围和原图授权。今天的核心判断是：多智能体已经把多类表型工具接成可交互分析流程，关键结果仍需按评价任务理解。新的研究切入口，应从明确的失败类型出发，并同时检验错误与人工负担。
参考文献（完整题名）
P1 · A conversational multi-agent AI system for automated plant phenotyping · Nature Communications 17, 6391 · 2026 · 10.1038/s41467-026-71090-y · Version of Record · updated 2026-07-16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01/top-rule"/>
          <p:cNvSpPr/>
          <p:nvPr/>
        </p:nvSpPr>
        <p:spPr>
          <a:xfrm>
            <a:off x="0" y="0"/>
            <a:ext cx="12192000" cy="66675"/>
          </a:xfrm>
          <a:prstGeom prst="rect">
            <a:avLst/>
          </a:prstGeom>
          <a:solidFill>
            <a:srgbClr val="315B7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01/footer-label"/>
          <p:cNvSpPr/>
          <p:nvPr/>
        </p:nvSpPr>
        <p:spPr>
          <a:xfrm>
            <a:off x="495300" y="6505575"/>
            <a:ext cx="990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975" dirty="0">
                <a:solidFill>
                  <a:srgbClr val="6070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学术研究汇报</a:t>
            </a:r>
            <a:endParaRPr lang="zh-CN" sz="975" dirty="0"/>
          </a:p>
        </p:txBody>
      </p:sp>
      <p:sp>
        <p:nvSpPr>
          <p:cNvPr id="4" name="S01/page-number"/>
          <p:cNvSpPr/>
          <p:nvPr/>
        </p:nvSpPr>
        <p:spPr>
          <a:xfrm>
            <a:off x="10706100" y="6477000"/>
            <a:ext cx="9906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ct val="128000"/>
              </a:lnSpc>
              <a:buNone/>
            </a:pPr>
            <a:r>
              <a:rPr lang="zh-CN" altLang="en-US" sz="1125" dirty="0">
                <a:solidFill>
                  <a:srgbClr val="6070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01 / 09</a:t>
            </a:r>
            <a:endParaRPr lang="zh-CN" sz="1125" dirty="0"/>
          </a:p>
        </p:txBody>
      </p:sp>
      <p:sp>
        <p:nvSpPr>
          <p:cNvPr id="5" name="S01/cover-sidebar"/>
          <p:cNvSpPr/>
          <p:nvPr/>
        </p:nvSpPr>
        <p:spPr>
          <a:xfrm>
            <a:off x="8791575" y="66675"/>
            <a:ext cx="3400425" cy="6248400"/>
          </a:xfrm>
          <a:prstGeom prst="rect">
            <a:avLst/>
          </a:prstGeom>
          <a:solidFill>
            <a:srgbClr val="315B7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S01/cover-sidebar-inset"/>
          <p:cNvSpPr/>
          <p:nvPr/>
        </p:nvSpPr>
        <p:spPr>
          <a:xfrm>
            <a:off x="9039225" y="419100"/>
            <a:ext cx="2686050" cy="5429250"/>
          </a:xfrm>
          <a:prstGeom prst="rect">
            <a:avLst/>
          </a:prstGeom>
          <a:ln w="11430">
            <a:solidFill>
              <a:srgbClr val="7893A0"/>
            </a:solidFill>
            <a:prstDash val="solid"/>
          </a:ln>
        </p:spPr>
      </p:sp>
      <p:sp>
        <p:nvSpPr>
          <p:cNvPr id="7" name="S01/kicker"/>
          <p:cNvSpPr/>
          <p:nvPr/>
        </p:nvSpPr>
        <p:spPr>
          <a:xfrm>
            <a:off x="552450" y="714375"/>
            <a:ext cx="7591425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zh-CN" altLang="en-US" sz="1350" b="1" dirty="0">
                <a:solidFill>
                  <a:srgbClr val="527F7E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PHENOASSISTANT · 单篇论文深读示例</a:t>
            </a:r>
            <a:endParaRPr lang="zh-CN" sz="1350" dirty="0"/>
          </a:p>
        </p:txBody>
      </p:sp>
      <p:sp>
        <p:nvSpPr>
          <p:cNvPr id="8" name="S01/title"/>
          <p:cNvSpPr/>
          <p:nvPr/>
        </p:nvSpPr>
        <p:spPr>
          <a:xfrm>
            <a:off x="552450" y="1590675"/>
            <a:ext cx="7648575" cy="23050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zh-CN" altLang="en-US" sz="4200" b="1" dirty="0">
                <a:solidFill>
                  <a:srgbClr val="2436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AI 智能体怎样进入</a:t>
            </a:r>
            <a:endParaRPr lang="zh-CN" sz="4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zh-CN" altLang="en-US" sz="4200" b="1" dirty="0">
                <a:solidFill>
                  <a:srgbClr val="2436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植物表型研究？</a:t>
            </a:r>
            <a:endParaRPr lang="zh-CN" sz="4200" dirty="0"/>
          </a:p>
        </p:txBody>
      </p:sp>
      <p:sp>
        <p:nvSpPr>
          <p:cNvPr id="9" name="S01/cover-rule"/>
          <p:cNvSpPr/>
          <p:nvPr/>
        </p:nvSpPr>
        <p:spPr>
          <a:xfrm>
            <a:off x="590550" y="4276725"/>
            <a:ext cx="1304925" cy="0"/>
          </a:xfrm>
          <a:prstGeom prst="line">
            <a:avLst/>
          </a:prstGeom>
          <a:noFill/>
          <a:ln w="47625">
            <a:solidFill>
              <a:srgbClr val="B38D56"/>
            </a:solidFill>
            <a:prstDash val="solid"/>
          </a:ln>
        </p:spPr>
      </p:sp>
      <p:sp>
        <p:nvSpPr>
          <p:cNvPr id="10" name="S01/subtitle"/>
          <p:cNvSpPr/>
          <p:nvPr/>
        </p:nvSpPr>
        <p:spPr>
          <a:xfrm>
            <a:off x="590550" y="4600575"/>
            <a:ext cx="7315200" cy="990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zh-CN" altLang="en-US" sz="1875" dirty="0">
                <a:solidFill>
                  <a:srgbClr val="6070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从系统编排、实验证据到可检验的研究切入口</a:t>
            </a:r>
            <a:endParaRPr lang="zh-CN" sz="1875" dirty="0"/>
          </a:p>
        </p:txBody>
      </p:sp>
      <p:sp>
        <p:nvSpPr>
          <p:cNvPr id="11" name="S01/cover-side-title"/>
          <p:cNvSpPr/>
          <p:nvPr/>
        </p:nvSpPr>
        <p:spPr>
          <a:xfrm>
            <a:off x="9334500" y="1381125"/>
            <a:ext cx="2095500" cy="2476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72000"/>
              </a:lnSpc>
              <a:buNone/>
            </a:pPr>
            <a:r>
              <a:rPr lang="zh-CN" altLang="en-US" sz="2925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问题</a:t>
            </a:r>
            <a:endParaRPr lang="zh-CN" sz="2925" dirty="0"/>
          </a:p>
          <a:p>
            <a:pPr algn="l" indent="0" marL="0">
              <a:lnSpc>
                <a:spcPct val="172000"/>
              </a:lnSpc>
              <a:buNone/>
            </a:pPr>
            <a:r>
              <a:rPr lang="zh-CN" altLang="en-US" sz="2925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证据</a:t>
            </a:r>
            <a:endParaRPr lang="zh-CN" sz="2925" dirty="0"/>
          </a:p>
          <a:p>
            <a:pPr algn="l" indent="0" marL="0">
              <a:lnSpc>
                <a:spcPct val="172000"/>
              </a:lnSpc>
              <a:buNone/>
            </a:pPr>
            <a:r>
              <a:rPr lang="zh-CN" altLang="en-US" sz="2925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研究切口</a:t>
            </a:r>
            <a:endParaRPr lang="zh-CN" sz="2925" dirty="0"/>
          </a:p>
        </p:txBody>
      </p:sp>
      <p:sp>
        <p:nvSpPr>
          <p:cNvPr id="12" name="S01/cover-duration"/>
          <p:cNvSpPr/>
          <p:nvPr/>
        </p:nvSpPr>
        <p:spPr>
          <a:xfrm>
            <a:off x="9334500" y="5086350"/>
            <a:ext cx="1905000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zh-CN" altLang="en-US" sz="1875" dirty="0">
                <a:solidFill>
                  <a:srgbClr val="D9E4E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7 MIN</a:t>
            </a:r>
            <a:endParaRPr lang="zh-CN" sz="1875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02/top-rule"/>
          <p:cNvSpPr/>
          <p:nvPr/>
        </p:nvSpPr>
        <p:spPr>
          <a:xfrm>
            <a:off x="0" y="0"/>
            <a:ext cx="12192000" cy="66675"/>
          </a:xfrm>
          <a:prstGeom prst="rect">
            <a:avLst/>
          </a:prstGeom>
          <a:solidFill>
            <a:srgbClr val="315B7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02/footer-label"/>
          <p:cNvSpPr/>
          <p:nvPr/>
        </p:nvSpPr>
        <p:spPr>
          <a:xfrm>
            <a:off x="495300" y="6505575"/>
            <a:ext cx="990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975" dirty="0">
                <a:solidFill>
                  <a:srgbClr val="6070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学术研究汇报</a:t>
            </a:r>
            <a:endParaRPr lang="zh-CN" sz="975" dirty="0"/>
          </a:p>
        </p:txBody>
      </p:sp>
      <p:sp>
        <p:nvSpPr>
          <p:cNvPr id="4" name="S02/page-number"/>
          <p:cNvSpPr/>
          <p:nvPr/>
        </p:nvSpPr>
        <p:spPr>
          <a:xfrm>
            <a:off x="10706100" y="6477000"/>
            <a:ext cx="9906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ct val="128000"/>
              </a:lnSpc>
              <a:buNone/>
            </a:pPr>
            <a:r>
              <a:rPr lang="zh-CN" altLang="en-US" sz="1125" dirty="0">
                <a:solidFill>
                  <a:srgbClr val="6070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02 / 09</a:t>
            </a:r>
            <a:endParaRPr lang="zh-CN" sz="1125" dirty="0"/>
          </a:p>
        </p:txBody>
      </p:sp>
      <p:sp>
        <p:nvSpPr>
          <p:cNvPr id="5" name="S02/kicker"/>
          <p:cNvSpPr/>
          <p:nvPr/>
        </p:nvSpPr>
        <p:spPr>
          <a:xfrm>
            <a:off x="495300" y="285750"/>
            <a:ext cx="10858500" cy="2381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125" b="1" dirty="0">
                <a:solidFill>
                  <a:srgbClr val="527F7E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P1 · 研究对象与证据边界</a:t>
            </a:r>
            <a:endParaRPr lang="zh-CN" sz="1125" dirty="0"/>
          </a:p>
        </p:txBody>
      </p:sp>
      <p:sp>
        <p:nvSpPr>
          <p:cNvPr id="6" name="S02/title"/>
          <p:cNvSpPr/>
          <p:nvPr/>
        </p:nvSpPr>
        <p:spPr>
          <a:xfrm>
            <a:off x="495300" y="619125"/>
            <a:ext cx="11201400" cy="9620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zh-CN" altLang="en-US" sz="2775" b="1" dirty="0">
                <a:solidFill>
                  <a:srgbClr val="2436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先确认这项研究解决了什么问题</a:t>
            </a:r>
            <a:endParaRPr lang="zh-CN" sz="2775" dirty="0"/>
          </a:p>
        </p:txBody>
      </p:sp>
      <p:sp>
        <p:nvSpPr>
          <p:cNvPr id="7" name="S02/header-rule"/>
          <p:cNvSpPr/>
          <p:nvPr/>
        </p:nvSpPr>
        <p:spPr>
          <a:xfrm>
            <a:off x="495300" y="1562100"/>
            <a:ext cx="11201400" cy="0"/>
          </a:xfrm>
          <a:prstGeom prst="line">
            <a:avLst/>
          </a:prstGeom>
          <a:noFill/>
          <a:ln w="13335">
            <a:solidFill>
              <a:srgbClr val="CFD7DA"/>
            </a:solidFill>
            <a:prstDash val="solid"/>
          </a:ln>
        </p:spPr>
      </p:sp>
      <p:sp>
        <p:nvSpPr>
          <p:cNvPr id="8" name="S02/paper-title"/>
          <p:cNvSpPr/>
          <p:nvPr/>
        </p:nvSpPr>
        <p:spPr>
          <a:xfrm>
            <a:off x="495300" y="1809750"/>
            <a:ext cx="11201400" cy="8477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zh-CN" altLang="en-US" sz="1725" b="1" dirty="0">
                <a:solidFill>
                  <a:srgbClr val="2436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A conversational multi-agent AI system for automated plant phenotyping</a:t>
            </a:r>
            <a:endParaRPr lang="zh-CN" sz="1725" dirty="0"/>
          </a:p>
        </p:txBody>
      </p:sp>
      <p:sp>
        <p:nvSpPr>
          <p:cNvPr id="9" name="S02/paper-bibliography"/>
          <p:cNvSpPr/>
          <p:nvPr/>
        </p:nvSpPr>
        <p:spPr>
          <a:xfrm>
            <a:off x="495300" y="2705100"/>
            <a:ext cx="11201400" cy="4476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zh-CN" altLang="en-US" sz="1050" dirty="0">
                <a:solidFill>
                  <a:srgbClr val="6070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Chen F., Stogiannidis I., Wood A., et al. · Nature Communications 17, 6391 · 2026 · DOI: 10.1038/s41467-026-71090-y</a:t>
            </a:r>
            <a:endParaRPr lang="zh-CN" sz="1050" dirty="0"/>
          </a:p>
        </p:txBody>
      </p:sp>
      <p:sp>
        <p:nvSpPr>
          <p:cNvPr id="10" name="S02/card/scope/template/0"/>
          <p:cNvSpPr/>
          <p:nvPr/>
        </p:nvSpPr>
        <p:spPr>
          <a:xfrm>
            <a:off x="495300" y="3286125"/>
            <a:ext cx="5495925" cy="2657475"/>
          </a:xfrm>
          <a:prstGeom prst="rect">
            <a:avLst/>
          </a:prstGeom>
          <a:solidFill>
            <a:srgbClr val="FFFFFF"/>
          </a:solidFill>
          <a:ln w="9525">
            <a:solidFill>
              <a:srgbClr val="CFD7DA"/>
            </a:solidFill>
            <a:prstDash val="solid"/>
          </a:ln>
        </p:spPr>
      </p:sp>
      <p:sp>
        <p:nvSpPr>
          <p:cNvPr id="11" name="S02/card/scope/template/1"/>
          <p:cNvSpPr/>
          <p:nvPr/>
        </p:nvSpPr>
        <p:spPr>
          <a:xfrm>
            <a:off x="495300" y="3286125"/>
            <a:ext cx="66791" cy="2657475"/>
          </a:xfrm>
          <a:prstGeom prst="rect">
            <a:avLst/>
          </a:prstGeom>
          <a:solidFill>
            <a:srgbClr val="315B70"/>
          </a:solidFill>
          <a:ln w="9525">
            <a:solidFill>
              <a:srgbClr val="315B70"/>
            </a:solidFill>
            <a:prstDash val="solid"/>
          </a:ln>
        </p:spPr>
      </p:sp>
      <p:sp>
        <p:nvSpPr>
          <p:cNvPr id="12" name="S02/card/scope/template/2"/>
          <p:cNvSpPr/>
          <p:nvPr/>
        </p:nvSpPr>
        <p:spPr>
          <a:xfrm>
            <a:off x="724297" y="3819525"/>
            <a:ext cx="5037931" cy="0"/>
          </a:xfrm>
          <a:prstGeom prst="line">
            <a:avLst/>
          </a:prstGeom>
          <a:noFill/>
          <a:ln w="12700">
            <a:solidFill>
              <a:srgbClr val="CFD7DA"/>
            </a:solidFill>
            <a:prstDash val="solid"/>
          </a:ln>
        </p:spPr>
      </p:sp>
      <p:sp>
        <p:nvSpPr>
          <p:cNvPr id="13" name="S02/card/scope/template/3"/>
          <p:cNvSpPr/>
          <p:nvPr/>
        </p:nvSpPr>
        <p:spPr>
          <a:xfrm>
            <a:off x="724297" y="5762625"/>
            <a:ext cx="534326" cy="0"/>
          </a:xfrm>
          <a:prstGeom prst="line">
            <a:avLst/>
          </a:prstGeom>
          <a:noFill/>
          <a:ln w="28575">
            <a:solidFill>
              <a:srgbClr val="B38D56"/>
            </a:solidFill>
            <a:prstDash val="solid"/>
          </a:ln>
        </p:spPr>
      </p:sp>
      <p:sp>
        <p:nvSpPr>
          <p:cNvPr id="14" name="S02/card/scope/template/4"/>
          <p:cNvSpPr/>
          <p:nvPr/>
        </p:nvSpPr>
        <p:spPr>
          <a:xfrm>
            <a:off x="5437816" y="3419475"/>
            <a:ext cx="400745" cy="0"/>
          </a:xfrm>
          <a:prstGeom prst="line">
            <a:avLst/>
          </a:prstGeom>
          <a:noFill/>
          <a:ln w="19050">
            <a:solidFill>
              <a:srgbClr val="527F7E"/>
            </a:solidFill>
            <a:prstDash val="solid"/>
          </a:ln>
        </p:spPr>
      </p:sp>
      <p:sp>
        <p:nvSpPr>
          <p:cNvPr id="15" name="S02/card/scope/title"/>
          <p:cNvSpPr/>
          <p:nvPr/>
        </p:nvSpPr>
        <p:spPr>
          <a:xfrm>
            <a:off x="743380" y="3457575"/>
            <a:ext cx="4961599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zh-CN" altLang="en-US" sz="1800" b="1" dirty="0">
                <a:solidFill>
                  <a:srgbClr val="315B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实际进展</a:t>
            </a:r>
            <a:endParaRPr lang="zh-CN" sz="1800" dirty="0"/>
          </a:p>
        </p:txBody>
      </p:sp>
      <p:sp>
        <p:nvSpPr>
          <p:cNvPr id="16" name="S02/card/scope/body"/>
          <p:cNvSpPr/>
          <p:nvPr/>
        </p:nvSpPr>
        <p:spPr>
          <a:xfrm>
            <a:off x="743380" y="3981450"/>
            <a:ext cx="4961599" cy="17716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2000"/>
              </a:lnSpc>
              <a:buNone/>
            </a:pPr>
            <a:r>
              <a:rPr lang="zh-CN" altLang="en-US" sz="1650" dirty="0">
                <a:solidFill>
                  <a:srgbClr val="2436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自然语言驱动表型提取与分析。</a:t>
            </a:r>
            <a:endParaRPr lang="zh-CN" sz="1650" dirty="0"/>
          </a:p>
          <a:p>
            <a:pPr algn="l" indent="0" marL="0">
              <a:lnSpc>
                <a:spcPct val="132000"/>
              </a:lnSpc>
              <a:buNone/>
            </a:pPr>
            <a:r>
              <a:rPr lang="zh-CN" altLang="en-US" sz="1650" dirty="0">
                <a:solidFill>
                  <a:srgbClr val="2436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连接专用模型、统计、绘图和文献工具。</a:t>
            </a:r>
            <a:endParaRPr lang="zh-CN" sz="1650" dirty="0"/>
          </a:p>
          <a:p>
            <a:pPr algn="l" indent="0" marL="0">
              <a:lnSpc>
                <a:spcPct val="132000"/>
              </a:lnSpc>
              <a:buNone/>
            </a:pPr>
            <a:r>
              <a:rPr lang="zh-CN" altLang="en-US" sz="1650" dirty="0">
                <a:solidFill>
                  <a:srgbClr val="2436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可保存并再次执行分析流程。</a:t>
            </a:r>
            <a:endParaRPr lang="zh-CN" sz="1650" dirty="0"/>
          </a:p>
        </p:txBody>
      </p:sp>
      <p:sp>
        <p:nvSpPr>
          <p:cNvPr id="17" name="S02/card/boundary/template/0"/>
          <p:cNvSpPr/>
          <p:nvPr/>
        </p:nvSpPr>
        <p:spPr>
          <a:xfrm>
            <a:off x="6200775" y="3286125"/>
            <a:ext cx="5495925" cy="2657475"/>
          </a:xfrm>
          <a:prstGeom prst="rect">
            <a:avLst/>
          </a:prstGeom>
          <a:solidFill>
            <a:srgbClr val="FFFFFF"/>
          </a:solidFill>
          <a:ln w="12700">
            <a:solidFill>
              <a:srgbClr val="B38D56"/>
            </a:solidFill>
            <a:prstDash val="dash"/>
          </a:ln>
        </p:spPr>
      </p:sp>
      <p:sp>
        <p:nvSpPr>
          <p:cNvPr id="18" name="S02/card/boundary/template/1"/>
          <p:cNvSpPr/>
          <p:nvPr/>
        </p:nvSpPr>
        <p:spPr>
          <a:xfrm>
            <a:off x="6410689" y="3286125"/>
            <a:ext cx="877821" cy="57150"/>
          </a:xfrm>
          <a:prstGeom prst="rect">
            <a:avLst/>
          </a:prstGeom>
          <a:solidFill>
            <a:srgbClr val="B38D56"/>
          </a:solidFill>
          <a:ln w="9525">
            <a:solidFill>
              <a:srgbClr val="B38D56"/>
            </a:solidFill>
            <a:prstDash val="solid"/>
          </a:ln>
        </p:spPr>
      </p:sp>
      <p:sp>
        <p:nvSpPr>
          <p:cNvPr id="19" name="S02/card/boundary/template/2"/>
          <p:cNvSpPr/>
          <p:nvPr/>
        </p:nvSpPr>
        <p:spPr>
          <a:xfrm>
            <a:off x="11391371" y="3286125"/>
            <a:ext cx="305329" cy="304800"/>
          </a:xfrm>
          <a:prstGeom prst="line">
            <a:avLst/>
          </a:prstGeom>
          <a:noFill/>
          <a:ln w="12700">
            <a:solidFill>
              <a:srgbClr val="B38D56"/>
            </a:solidFill>
            <a:prstDash val="solid"/>
          </a:ln>
        </p:spPr>
      </p:sp>
      <p:sp>
        <p:nvSpPr>
          <p:cNvPr id="20" name="S02/card/boundary/template/3"/>
          <p:cNvSpPr/>
          <p:nvPr/>
        </p:nvSpPr>
        <p:spPr>
          <a:xfrm>
            <a:off x="11391371" y="3286125"/>
            <a:ext cx="0" cy="304800"/>
          </a:xfrm>
          <a:prstGeom prst="line">
            <a:avLst/>
          </a:prstGeom>
          <a:noFill/>
          <a:ln w="12700">
            <a:solidFill>
              <a:srgbClr val="B38D56"/>
            </a:solidFill>
            <a:prstDash val="solid"/>
          </a:ln>
        </p:spPr>
      </p:sp>
      <p:sp>
        <p:nvSpPr>
          <p:cNvPr id="21" name="S02/card/boundary/template/4"/>
          <p:cNvSpPr/>
          <p:nvPr/>
        </p:nvSpPr>
        <p:spPr>
          <a:xfrm>
            <a:off x="11391371" y="3590925"/>
            <a:ext cx="305329" cy="0"/>
          </a:xfrm>
          <a:prstGeom prst="line">
            <a:avLst/>
          </a:prstGeom>
          <a:noFill/>
          <a:ln w="12700">
            <a:solidFill>
              <a:srgbClr val="B38D56"/>
            </a:solidFill>
            <a:prstDash val="solid"/>
          </a:ln>
        </p:spPr>
      </p:sp>
      <p:sp>
        <p:nvSpPr>
          <p:cNvPr id="22" name="S02/card/boundary/template/5"/>
          <p:cNvSpPr/>
          <p:nvPr/>
        </p:nvSpPr>
        <p:spPr>
          <a:xfrm>
            <a:off x="6429772" y="3819525"/>
            <a:ext cx="4866184" cy="0"/>
          </a:xfrm>
          <a:prstGeom prst="line">
            <a:avLst/>
          </a:prstGeom>
          <a:noFill/>
          <a:ln w="12700">
            <a:solidFill>
              <a:srgbClr val="CFD7DA"/>
            </a:solidFill>
            <a:prstDash val="solid"/>
          </a:ln>
        </p:spPr>
      </p:sp>
      <p:sp>
        <p:nvSpPr>
          <p:cNvPr id="23" name="S02/card/boundary/title"/>
          <p:cNvSpPr/>
          <p:nvPr/>
        </p:nvSpPr>
        <p:spPr>
          <a:xfrm>
            <a:off x="6448855" y="3457575"/>
            <a:ext cx="4713519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zh-CN" altLang="en-US" sz="1800" b="1" dirty="0">
                <a:solidFill>
                  <a:srgbClr val="B38D5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验证对象</a:t>
            </a:r>
            <a:endParaRPr lang="zh-CN" sz="1800" dirty="0"/>
          </a:p>
        </p:txBody>
      </p:sp>
      <p:sp>
        <p:nvSpPr>
          <p:cNvPr id="24" name="S02/card/boundary/body"/>
          <p:cNvSpPr/>
          <p:nvPr/>
        </p:nvSpPr>
        <p:spPr>
          <a:xfrm>
            <a:off x="6448855" y="3981450"/>
            <a:ext cx="4961599" cy="17716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2000"/>
              </a:lnSpc>
              <a:buNone/>
            </a:pPr>
            <a:r>
              <a:rPr lang="zh-CN" altLang="en-US" sz="1650" dirty="0">
                <a:solidFill>
                  <a:srgbClr val="2436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研究评价的是分析任务。</a:t>
            </a:r>
            <a:endParaRPr lang="zh-CN" sz="1650" dirty="0"/>
          </a:p>
          <a:p>
            <a:pPr algn="l" indent="0" marL="0">
              <a:lnSpc>
                <a:spcPct val="132000"/>
              </a:lnSpc>
              <a:buNone/>
            </a:pPr>
            <a:r>
              <a:rPr lang="zh-CN" altLang="en-US" sz="1650" dirty="0">
                <a:solidFill>
                  <a:srgbClr val="2436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灌溉、施肥控制及增产收益，</a:t>
            </a:r>
            <a:endParaRPr lang="zh-CN" sz="1650" dirty="0"/>
          </a:p>
          <a:p>
            <a:pPr algn="l" indent="0" marL="0">
              <a:lnSpc>
                <a:spcPct val="132000"/>
              </a:lnSpc>
              <a:buNone/>
            </a:pPr>
            <a:r>
              <a:rPr lang="zh-CN" altLang="en-US" sz="1650" dirty="0">
                <a:solidFill>
                  <a:srgbClr val="2436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需要额外的独立验证。</a:t>
            </a:r>
            <a:endParaRPr lang="zh-CN" sz="1650" dirty="0"/>
          </a:p>
        </p:txBody>
      </p:sp>
      <p:sp>
        <p:nvSpPr>
          <p:cNvPr id="25" name="S02/sources"/>
          <p:cNvSpPr/>
          <p:nvPr/>
        </p:nvSpPr>
        <p:spPr>
          <a:xfrm>
            <a:off x="495300" y="6143625"/>
            <a:ext cx="11201400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zh-CN" altLang="en-US" sz="900" dirty="0">
                <a:solidFill>
                  <a:srgbClr val="6070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P1 · 2026 · 10.1038/s41467-026-71090-y</a:t>
            </a:r>
            <a:endParaRPr lang="zh-CN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03/top-rule"/>
          <p:cNvSpPr/>
          <p:nvPr/>
        </p:nvSpPr>
        <p:spPr>
          <a:xfrm>
            <a:off x="0" y="0"/>
            <a:ext cx="12192000" cy="66675"/>
          </a:xfrm>
          <a:prstGeom prst="rect">
            <a:avLst/>
          </a:prstGeom>
          <a:solidFill>
            <a:srgbClr val="315B7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03/footer-label"/>
          <p:cNvSpPr/>
          <p:nvPr/>
        </p:nvSpPr>
        <p:spPr>
          <a:xfrm>
            <a:off x="495300" y="6505575"/>
            <a:ext cx="990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975" dirty="0">
                <a:solidFill>
                  <a:srgbClr val="6070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学术研究汇报</a:t>
            </a:r>
            <a:endParaRPr lang="zh-CN" sz="975" dirty="0"/>
          </a:p>
        </p:txBody>
      </p:sp>
      <p:sp>
        <p:nvSpPr>
          <p:cNvPr id="4" name="S03/page-number"/>
          <p:cNvSpPr/>
          <p:nvPr/>
        </p:nvSpPr>
        <p:spPr>
          <a:xfrm>
            <a:off x="10706100" y="6477000"/>
            <a:ext cx="9906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ct val="128000"/>
              </a:lnSpc>
              <a:buNone/>
            </a:pPr>
            <a:r>
              <a:rPr lang="zh-CN" altLang="en-US" sz="1125" dirty="0">
                <a:solidFill>
                  <a:srgbClr val="6070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03 / 09</a:t>
            </a:r>
            <a:endParaRPr lang="zh-CN" sz="1125" dirty="0"/>
          </a:p>
        </p:txBody>
      </p:sp>
      <p:sp>
        <p:nvSpPr>
          <p:cNvPr id="5" name="S03/kicker"/>
          <p:cNvSpPr/>
          <p:nvPr/>
        </p:nvSpPr>
        <p:spPr>
          <a:xfrm>
            <a:off x="495300" y="285750"/>
            <a:ext cx="10858500" cy="2381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125" b="1" dirty="0">
                <a:solidFill>
                  <a:srgbClr val="527F7E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P1 · 系统原理（依据原文重绘）</a:t>
            </a:r>
            <a:endParaRPr lang="zh-CN" sz="1125" dirty="0"/>
          </a:p>
        </p:txBody>
      </p:sp>
      <p:sp>
        <p:nvSpPr>
          <p:cNvPr id="6" name="S03/title"/>
          <p:cNvSpPr/>
          <p:nvPr/>
        </p:nvSpPr>
        <p:spPr>
          <a:xfrm>
            <a:off x="495300" y="619125"/>
            <a:ext cx="11201400" cy="9620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zh-CN" altLang="en-US" sz="2775" b="1" dirty="0">
                <a:solidFill>
                  <a:srgbClr val="2436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把自然语言转为可复用分析流程</a:t>
            </a:r>
            <a:endParaRPr lang="zh-CN" sz="2775" dirty="0"/>
          </a:p>
        </p:txBody>
      </p:sp>
      <p:sp>
        <p:nvSpPr>
          <p:cNvPr id="7" name="S03/header-rule"/>
          <p:cNvSpPr/>
          <p:nvPr/>
        </p:nvSpPr>
        <p:spPr>
          <a:xfrm>
            <a:off x="495300" y="1562100"/>
            <a:ext cx="11201400" cy="0"/>
          </a:xfrm>
          <a:prstGeom prst="line">
            <a:avLst/>
          </a:prstGeom>
          <a:noFill/>
          <a:ln w="13335">
            <a:solidFill>
              <a:srgbClr val="CFD7DA"/>
            </a:solidFill>
            <a:prstDash val="solid"/>
          </a:ln>
        </p:spPr>
      </p:sp>
      <p:sp>
        <p:nvSpPr>
          <p:cNvPr id="8" name="S03/edge:0"/>
          <p:cNvSpPr/>
          <p:nvPr/>
        </p:nvSpPr>
        <p:spPr>
          <a:xfrm>
            <a:off x="2978944" y="3152775"/>
            <a:ext cx="523875" cy="0"/>
          </a:xfrm>
          <a:prstGeom prst="line">
            <a:avLst/>
          </a:prstGeom>
          <a:noFill/>
          <a:ln w="19050">
            <a:solidFill>
              <a:srgbClr val="527F7E"/>
            </a:solidFill>
            <a:prstDash val="solid"/>
            <a:tailEnd type="triangle"/>
          </a:ln>
        </p:spPr>
      </p:sp>
      <p:sp>
        <p:nvSpPr>
          <p:cNvPr id="9" name="S03/edge:0:label"/>
          <p:cNvSpPr/>
          <p:nvPr/>
        </p:nvSpPr>
        <p:spPr>
          <a:xfrm>
            <a:off x="2593181" y="2781300"/>
            <a:ext cx="1295400" cy="3238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28000"/>
              </a:lnSpc>
              <a:buNone/>
            </a:pPr>
            <a:r>
              <a:rPr lang="zh-CN" altLang="en-US" sz="1050" dirty="0">
                <a:solidFill>
                  <a:srgbClr val="6070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解析</a:t>
            </a:r>
            <a:endParaRPr lang="zh-CN" sz="1050" dirty="0"/>
          </a:p>
        </p:txBody>
      </p:sp>
      <p:sp>
        <p:nvSpPr>
          <p:cNvPr id="10" name="S03/edge:1"/>
          <p:cNvSpPr/>
          <p:nvPr/>
        </p:nvSpPr>
        <p:spPr>
          <a:xfrm>
            <a:off x="5834063" y="3152775"/>
            <a:ext cx="523875" cy="0"/>
          </a:xfrm>
          <a:prstGeom prst="line">
            <a:avLst/>
          </a:prstGeom>
          <a:noFill/>
          <a:ln w="19050">
            <a:solidFill>
              <a:srgbClr val="527F7E"/>
            </a:solidFill>
            <a:prstDash val="solid"/>
            <a:tailEnd type="triangle"/>
          </a:ln>
        </p:spPr>
      </p:sp>
      <p:sp>
        <p:nvSpPr>
          <p:cNvPr id="11" name="S03/edge:1:label"/>
          <p:cNvSpPr/>
          <p:nvPr/>
        </p:nvSpPr>
        <p:spPr>
          <a:xfrm>
            <a:off x="5448300" y="2781300"/>
            <a:ext cx="1295400" cy="3238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28000"/>
              </a:lnSpc>
              <a:buNone/>
            </a:pPr>
            <a:r>
              <a:rPr lang="zh-CN" altLang="en-US" sz="1050" dirty="0">
                <a:solidFill>
                  <a:srgbClr val="6070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调用</a:t>
            </a:r>
            <a:endParaRPr lang="zh-CN" sz="1050" dirty="0"/>
          </a:p>
        </p:txBody>
      </p:sp>
      <p:sp>
        <p:nvSpPr>
          <p:cNvPr id="12" name="S03/edge:2"/>
          <p:cNvSpPr/>
          <p:nvPr/>
        </p:nvSpPr>
        <p:spPr>
          <a:xfrm>
            <a:off x="8689181" y="3152775"/>
            <a:ext cx="523875" cy="0"/>
          </a:xfrm>
          <a:prstGeom prst="line">
            <a:avLst/>
          </a:prstGeom>
          <a:noFill/>
          <a:ln w="19050">
            <a:solidFill>
              <a:srgbClr val="527F7E"/>
            </a:solidFill>
            <a:prstDash val="solid"/>
            <a:tailEnd type="triangle"/>
          </a:ln>
        </p:spPr>
      </p:sp>
      <p:sp>
        <p:nvSpPr>
          <p:cNvPr id="13" name="S03/edge:2:label"/>
          <p:cNvSpPr/>
          <p:nvPr/>
        </p:nvSpPr>
        <p:spPr>
          <a:xfrm>
            <a:off x="8303419" y="2781300"/>
            <a:ext cx="1295400" cy="3238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28000"/>
              </a:lnSpc>
              <a:buNone/>
            </a:pPr>
            <a:r>
              <a:rPr lang="zh-CN" altLang="en-US" sz="1050" dirty="0">
                <a:solidFill>
                  <a:srgbClr val="6070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组织</a:t>
            </a:r>
            <a:endParaRPr lang="zh-CN" sz="1050" dirty="0"/>
          </a:p>
        </p:txBody>
      </p:sp>
      <p:sp>
        <p:nvSpPr>
          <p:cNvPr id="14" name="S03/node:request:frame"/>
          <p:cNvSpPr/>
          <p:nvPr/>
        </p:nvSpPr>
        <p:spPr>
          <a:xfrm>
            <a:off x="647700" y="1943100"/>
            <a:ext cx="2331244" cy="2419350"/>
          </a:xfrm>
          <a:prstGeom prst="rect">
            <a:avLst/>
          </a:prstGeom>
          <a:solidFill>
            <a:srgbClr val="E6EDEA"/>
          </a:solidFill>
          <a:ln w="14288">
            <a:solidFill>
              <a:srgbClr val="527F7E"/>
            </a:solidFill>
            <a:prstDash val="solid"/>
          </a:ln>
        </p:spPr>
      </p:sp>
      <p:sp>
        <p:nvSpPr>
          <p:cNvPr id="15" name="S03/node:request:label"/>
          <p:cNvSpPr/>
          <p:nvPr/>
        </p:nvSpPr>
        <p:spPr>
          <a:xfrm>
            <a:off x="819150" y="2085975"/>
            <a:ext cx="1988344" cy="10161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zh-CN" altLang="en-US" sz="2025" b="1" dirty="0">
                <a:solidFill>
                  <a:srgbClr val="2436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自然语言问题</a:t>
            </a:r>
            <a:endParaRPr lang="zh-CN" sz="2025" dirty="0"/>
          </a:p>
        </p:txBody>
      </p:sp>
      <p:sp>
        <p:nvSpPr>
          <p:cNvPr id="16" name="S03/node:request:detail"/>
          <p:cNvSpPr/>
          <p:nvPr/>
        </p:nvSpPr>
        <p:spPr>
          <a:xfrm>
            <a:off x="819150" y="3249549"/>
            <a:ext cx="1988344" cy="8724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zh-CN" altLang="en-US" sz="1425" dirty="0">
                <a:solidFill>
                  <a:srgbClr val="6070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任务目标与参数</a:t>
            </a:r>
            <a:endParaRPr lang="zh-CN" sz="1425" dirty="0"/>
          </a:p>
        </p:txBody>
      </p:sp>
      <p:sp>
        <p:nvSpPr>
          <p:cNvPr id="17" name="S03/node:manager:frame"/>
          <p:cNvSpPr/>
          <p:nvPr/>
        </p:nvSpPr>
        <p:spPr>
          <a:xfrm>
            <a:off x="3502819" y="1943100"/>
            <a:ext cx="2331244" cy="2419350"/>
          </a:xfrm>
          <a:prstGeom prst="rect">
            <a:avLst/>
          </a:prstGeom>
          <a:solidFill>
            <a:srgbClr val="FFFFFF"/>
          </a:solidFill>
          <a:ln w="14288">
            <a:solidFill>
              <a:srgbClr val="CFD7DA"/>
            </a:solidFill>
            <a:prstDash val="solid"/>
          </a:ln>
        </p:spPr>
      </p:sp>
      <p:sp>
        <p:nvSpPr>
          <p:cNvPr id="18" name="S03/node:manager:label"/>
          <p:cNvSpPr/>
          <p:nvPr/>
        </p:nvSpPr>
        <p:spPr>
          <a:xfrm>
            <a:off x="3674269" y="2085975"/>
            <a:ext cx="1988344" cy="10161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zh-CN" altLang="en-US" sz="2025" b="1" dirty="0">
                <a:solidFill>
                  <a:srgbClr val="2436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中央 manager</a:t>
            </a:r>
            <a:endParaRPr lang="zh-CN" sz="2025" dirty="0"/>
          </a:p>
        </p:txBody>
      </p:sp>
      <p:sp>
        <p:nvSpPr>
          <p:cNvPr id="19" name="S03/node:manager:detail"/>
          <p:cNvSpPr/>
          <p:nvPr/>
        </p:nvSpPr>
        <p:spPr>
          <a:xfrm>
            <a:off x="3674269" y="3249549"/>
            <a:ext cx="1988344" cy="8724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zh-CN" altLang="en-US" sz="1425" dirty="0">
                <a:solidFill>
                  <a:srgbClr val="6070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分解任务</a:t>
            </a:r>
            <a:endParaRPr lang="zh-CN" sz="1425" dirty="0"/>
          </a:p>
          <a:p>
            <a:pPr algn="ctr" indent="0" marL="0">
              <a:lnSpc>
                <a:spcPct val="122000"/>
              </a:lnSpc>
              <a:buNone/>
            </a:pPr>
            <a:r>
              <a:rPr lang="zh-CN" altLang="en-US" sz="1425" dirty="0">
                <a:solidFill>
                  <a:srgbClr val="6070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安排工具与参数</a:t>
            </a:r>
            <a:endParaRPr lang="zh-CN" sz="1425" dirty="0"/>
          </a:p>
        </p:txBody>
      </p:sp>
      <p:sp>
        <p:nvSpPr>
          <p:cNvPr id="20" name="S03/node:toolkit:frame"/>
          <p:cNvSpPr/>
          <p:nvPr/>
        </p:nvSpPr>
        <p:spPr>
          <a:xfrm>
            <a:off x="6357938" y="1943100"/>
            <a:ext cx="2331244" cy="2419350"/>
          </a:xfrm>
          <a:prstGeom prst="rect">
            <a:avLst/>
          </a:prstGeom>
          <a:solidFill>
            <a:srgbClr val="FFFFFF"/>
          </a:solidFill>
          <a:ln w="14288">
            <a:solidFill>
              <a:srgbClr val="CFD7DA"/>
            </a:solidFill>
            <a:prstDash val="solid"/>
          </a:ln>
        </p:spPr>
      </p:sp>
      <p:sp>
        <p:nvSpPr>
          <p:cNvPr id="21" name="S03/node:toolkit:label"/>
          <p:cNvSpPr/>
          <p:nvPr/>
        </p:nvSpPr>
        <p:spPr>
          <a:xfrm>
            <a:off x="6529388" y="2085975"/>
            <a:ext cx="1988344" cy="10161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zh-CN" altLang="en-US" sz="2025" b="1" dirty="0">
                <a:solidFill>
                  <a:srgbClr val="2436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有界工具库</a:t>
            </a:r>
            <a:endParaRPr lang="zh-CN" sz="2025" dirty="0"/>
          </a:p>
        </p:txBody>
      </p:sp>
      <p:sp>
        <p:nvSpPr>
          <p:cNvPr id="22" name="S03/node:toolkit:detail"/>
          <p:cNvSpPr/>
          <p:nvPr/>
        </p:nvSpPr>
        <p:spPr>
          <a:xfrm>
            <a:off x="6529388" y="3249549"/>
            <a:ext cx="1988344" cy="8724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zh-CN" altLang="en-US" sz="1425" dirty="0">
                <a:solidFill>
                  <a:srgbClr val="6070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专用视觉模型</a:t>
            </a:r>
            <a:endParaRPr lang="zh-CN" sz="1425" dirty="0"/>
          </a:p>
          <a:p>
            <a:pPr algn="ctr" indent="0" marL="0">
              <a:lnSpc>
                <a:spcPct val="122000"/>
              </a:lnSpc>
              <a:buNone/>
            </a:pPr>
            <a:r>
              <a:rPr lang="zh-CN" altLang="en-US" sz="1425" dirty="0">
                <a:solidFill>
                  <a:srgbClr val="6070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统计、绘图、RAG</a:t>
            </a:r>
            <a:endParaRPr lang="zh-CN" sz="1425" dirty="0"/>
          </a:p>
        </p:txBody>
      </p:sp>
      <p:sp>
        <p:nvSpPr>
          <p:cNvPr id="23" name="S03/node:output:frame"/>
          <p:cNvSpPr/>
          <p:nvPr/>
        </p:nvSpPr>
        <p:spPr>
          <a:xfrm>
            <a:off x="9213056" y="1943100"/>
            <a:ext cx="2331244" cy="2419350"/>
          </a:xfrm>
          <a:prstGeom prst="rect">
            <a:avLst/>
          </a:prstGeom>
          <a:solidFill>
            <a:srgbClr val="FFFFFF"/>
          </a:solidFill>
          <a:ln w="14288">
            <a:solidFill>
              <a:srgbClr val="CFD7DA"/>
            </a:solidFill>
            <a:prstDash val="solid"/>
          </a:ln>
        </p:spPr>
      </p:sp>
      <p:sp>
        <p:nvSpPr>
          <p:cNvPr id="24" name="S03/node:output:label"/>
          <p:cNvSpPr/>
          <p:nvPr/>
        </p:nvSpPr>
        <p:spPr>
          <a:xfrm>
            <a:off x="9384506" y="2085975"/>
            <a:ext cx="1988344" cy="10161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zh-CN" altLang="en-US" sz="2025" b="1" dirty="0">
                <a:solidFill>
                  <a:srgbClr val="2436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结果与流程</a:t>
            </a:r>
            <a:endParaRPr lang="zh-CN" sz="2025" dirty="0"/>
          </a:p>
        </p:txBody>
      </p:sp>
      <p:sp>
        <p:nvSpPr>
          <p:cNvPr id="25" name="S03/node:output:detail"/>
          <p:cNvSpPr/>
          <p:nvPr/>
        </p:nvSpPr>
        <p:spPr>
          <a:xfrm>
            <a:off x="9384506" y="3249549"/>
            <a:ext cx="1988344" cy="8724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zh-CN" altLang="en-US" sz="1425" dirty="0">
                <a:solidFill>
                  <a:srgbClr val="6070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表型数据与解释</a:t>
            </a:r>
            <a:endParaRPr lang="zh-CN" sz="1425" dirty="0"/>
          </a:p>
          <a:p>
            <a:pPr algn="ctr" indent="0" marL="0">
              <a:lnSpc>
                <a:spcPct val="122000"/>
              </a:lnSpc>
              <a:buNone/>
            </a:pPr>
            <a:r>
              <a:rPr lang="zh-CN" altLang="en-US" sz="1425" dirty="0">
                <a:solidFill>
                  <a:srgbClr val="6070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保存并再次执行</a:t>
            </a:r>
            <a:endParaRPr lang="zh-CN" sz="1425" dirty="0"/>
          </a:p>
        </p:txBody>
      </p:sp>
      <p:sp>
        <p:nvSpPr>
          <p:cNvPr id="26" name="S03/card/division/frame"/>
          <p:cNvSpPr/>
          <p:nvPr/>
        </p:nvSpPr>
        <p:spPr>
          <a:xfrm>
            <a:off x="495300" y="4819650"/>
            <a:ext cx="5495925" cy="1133475"/>
          </a:xfrm>
          <a:prstGeom prst="rect">
            <a:avLst/>
          </a:prstGeom>
          <a:solidFill>
            <a:srgbClr val="FFFFFF"/>
          </a:solidFill>
          <a:ln w="14288">
            <a:solidFill>
              <a:srgbClr val="315B70"/>
            </a:solidFill>
            <a:prstDash val="solid"/>
          </a:ln>
        </p:spPr>
      </p:sp>
      <p:sp>
        <p:nvSpPr>
          <p:cNvPr id="27" name="S03/card/division/title-cutout"/>
          <p:cNvSpPr/>
          <p:nvPr/>
        </p:nvSpPr>
        <p:spPr>
          <a:xfrm>
            <a:off x="628650" y="4667250"/>
            <a:ext cx="1304925" cy="323850"/>
          </a:xfrm>
          <a:prstGeom prst="rect">
            <a:avLst/>
          </a:prstGeom>
          <a:solidFill>
            <a:srgbClr val="F5F3E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S03/card/division/base-rule"/>
          <p:cNvSpPr/>
          <p:nvPr/>
        </p:nvSpPr>
        <p:spPr>
          <a:xfrm>
            <a:off x="685800" y="5800725"/>
            <a:ext cx="333375" cy="0"/>
          </a:xfrm>
          <a:prstGeom prst="line">
            <a:avLst/>
          </a:prstGeom>
          <a:noFill/>
          <a:ln w="28575">
            <a:solidFill>
              <a:srgbClr val="315B70"/>
            </a:solidFill>
            <a:prstDash val="solid"/>
          </a:ln>
        </p:spPr>
      </p:sp>
      <p:sp>
        <p:nvSpPr>
          <p:cNvPr id="29" name="S03/card/division/title"/>
          <p:cNvSpPr/>
          <p:nvPr/>
        </p:nvSpPr>
        <p:spPr>
          <a:xfrm>
            <a:off x="685800" y="4676775"/>
            <a:ext cx="5114925" cy="3619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zh-CN" altLang="en-US" sz="1800" b="1" dirty="0">
                <a:solidFill>
                  <a:srgbClr val="315B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评价要拆开</a:t>
            </a:r>
            <a:endParaRPr lang="zh-CN" sz="1800" dirty="0"/>
          </a:p>
        </p:txBody>
      </p:sp>
      <p:sp>
        <p:nvSpPr>
          <p:cNvPr id="30" name="S03/card/division/body"/>
          <p:cNvSpPr/>
          <p:nvPr/>
        </p:nvSpPr>
        <p:spPr>
          <a:xfrm>
            <a:off x="685800" y="5210175"/>
            <a:ext cx="5114925" cy="552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2000"/>
              </a:lnSpc>
              <a:buNone/>
            </a:pPr>
            <a:r>
              <a:rPr lang="zh-CN" altLang="en-US" sz="1650" dirty="0">
                <a:solidFill>
                  <a:srgbClr val="2436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工具编排是否合理；结果输出是否可靠。</a:t>
            </a:r>
            <a:endParaRPr lang="zh-CN" sz="1650" dirty="0"/>
          </a:p>
        </p:txBody>
      </p:sp>
      <p:sp>
        <p:nvSpPr>
          <p:cNvPr id="31" name="S03/card/reuse/shadow"/>
          <p:cNvSpPr/>
          <p:nvPr/>
        </p:nvSpPr>
        <p:spPr>
          <a:xfrm>
            <a:off x="6238875" y="4695825"/>
            <a:ext cx="5457825" cy="1257300"/>
          </a:xfrm>
          <a:prstGeom prst="rect">
            <a:avLst/>
          </a:prstGeom>
          <a:solidFill>
            <a:srgbClr val="D9E0E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S03/card/reuse/frame"/>
          <p:cNvSpPr/>
          <p:nvPr/>
        </p:nvSpPr>
        <p:spPr>
          <a:xfrm>
            <a:off x="6200775" y="4657725"/>
            <a:ext cx="5457825" cy="1257300"/>
          </a:xfrm>
          <a:prstGeom prst="rect">
            <a:avLst/>
          </a:prstGeom>
          <a:solidFill>
            <a:srgbClr val="FFFFFF"/>
          </a:solidFill>
          <a:ln w="9525">
            <a:solidFill>
              <a:srgbClr val="CFD7DA"/>
            </a:solidFill>
            <a:prstDash val="solid"/>
          </a:ln>
        </p:spPr>
      </p:sp>
      <p:sp>
        <p:nvSpPr>
          <p:cNvPr id="33" name="S03/card/reuse/top-accent"/>
          <p:cNvSpPr/>
          <p:nvPr/>
        </p:nvSpPr>
        <p:spPr>
          <a:xfrm>
            <a:off x="6391275" y="4772025"/>
            <a:ext cx="400050" cy="0"/>
          </a:xfrm>
          <a:prstGeom prst="line">
            <a:avLst/>
          </a:prstGeom>
          <a:noFill/>
          <a:ln w="28575">
            <a:solidFill>
              <a:srgbClr val="315B70"/>
            </a:solidFill>
            <a:prstDash val="solid"/>
          </a:ln>
        </p:spPr>
      </p:sp>
      <p:sp>
        <p:nvSpPr>
          <p:cNvPr id="34" name="S03/card/reuse/title"/>
          <p:cNvSpPr/>
          <p:nvPr/>
        </p:nvSpPr>
        <p:spPr>
          <a:xfrm>
            <a:off x="6391275" y="4857750"/>
            <a:ext cx="5114925" cy="3619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zh-CN" altLang="en-US" sz="1800" b="1" dirty="0">
                <a:solidFill>
                  <a:srgbClr val="315B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复现对象</a:t>
            </a:r>
            <a:endParaRPr lang="zh-CN" sz="1800" dirty="0"/>
          </a:p>
        </p:txBody>
      </p:sp>
      <p:sp>
        <p:nvSpPr>
          <p:cNvPr id="35" name="S03/card/reuse/body"/>
          <p:cNvSpPr/>
          <p:nvPr/>
        </p:nvSpPr>
        <p:spPr>
          <a:xfrm>
            <a:off x="6391275" y="5324475"/>
            <a:ext cx="5114925" cy="4381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2000"/>
              </a:lnSpc>
              <a:buNone/>
            </a:pPr>
            <a:r>
              <a:rPr lang="zh-CN" altLang="en-US" sz="1650" dirty="0">
                <a:solidFill>
                  <a:srgbClr val="2436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保存工具调用与代码，重跑相似流程。</a:t>
            </a:r>
            <a:endParaRPr lang="zh-CN" sz="1650" dirty="0"/>
          </a:p>
        </p:txBody>
      </p:sp>
      <p:sp>
        <p:nvSpPr>
          <p:cNvPr id="36" name="S03/sources"/>
          <p:cNvSpPr/>
          <p:nvPr/>
        </p:nvSpPr>
        <p:spPr>
          <a:xfrm>
            <a:off x="495300" y="6143625"/>
            <a:ext cx="11201400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zh-CN" altLang="en-US" sz="900" dirty="0">
                <a:solidFill>
                  <a:srgbClr val="6070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P1 · 2026 · 10.1038/s41467-026-71090-y</a:t>
            </a:r>
            <a:endParaRPr lang="zh-CN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04/top-rule"/>
          <p:cNvSpPr/>
          <p:nvPr/>
        </p:nvSpPr>
        <p:spPr>
          <a:xfrm>
            <a:off x="0" y="0"/>
            <a:ext cx="12192000" cy="66675"/>
          </a:xfrm>
          <a:prstGeom prst="rect">
            <a:avLst/>
          </a:prstGeom>
          <a:solidFill>
            <a:srgbClr val="315B7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04/footer-label"/>
          <p:cNvSpPr/>
          <p:nvPr/>
        </p:nvSpPr>
        <p:spPr>
          <a:xfrm>
            <a:off x="495300" y="6505575"/>
            <a:ext cx="990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975" dirty="0">
                <a:solidFill>
                  <a:srgbClr val="6070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学术研究汇报</a:t>
            </a:r>
            <a:endParaRPr lang="zh-CN" sz="975" dirty="0"/>
          </a:p>
        </p:txBody>
      </p:sp>
      <p:sp>
        <p:nvSpPr>
          <p:cNvPr id="4" name="S04/page-number"/>
          <p:cNvSpPr/>
          <p:nvPr/>
        </p:nvSpPr>
        <p:spPr>
          <a:xfrm>
            <a:off x="10706100" y="6477000"/>
            <a:ext cx="9906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ct val="128000"/>
              </a:lnSpc>
              <a:buNone/>
            </a:pPr>
            <a:r>
              <a:rPr lang="zh-CN" altLang="en-US" sz="1125" dirty="0">
                <a:solidFill>
                  <a:srgbClr val="6070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04 / 09</a:t>
            </a:r>
            <a:endParaRPr lang="zh-CN" sz="1125" dirty="0"/>
          </a:p>
        </p:txBody>
      </p:sp>
      <p:sp>
        <p:nvSpPr>
          <p:cNvPr id="5" name="S04/kicker"/>
          <p:cNvSpPr/>
          <p:nvPr/>
        </p:nvSpPr>
        <p:spPr>
          <a:xfrm>
            <a:off x="495300" y="285750"/>
            <a:ext cx="10858500" cy="2381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125" b="1" dirty="0">
                <a:solidFill>
                  <a:srgbClr val="527F7E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P1 · Case study 1 / Fig. 3</a:t>
            </a:r>
            <a:endParaRPr lang="zh-CN" sz="1125" dirty="0"/>
          </a:p>
        </p:txBody>
      </p:sp>
      <p:sp>
        <p:nvSpPr>
          <p:cNvPr id="6" name="S04/title"/>
          <p:cNvSpPr/>
          <p:nvPr/>
        </p:nvSpPr>
        <p:spPr>
          <a:xfrm>
            <a:off x="495300" y="619125"/>
            <a:ext cx="11201400" cy="9620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zh-CN" altLang="en-US" sz="2775" b="1" dirty="0">
                <a:solidFill>
                  <a:srgbClr val="2436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案例：24 株植物的重复成像分析</a:t>
            </a:r>
            <a:endParaRPr lang="zh-CN" sz="2775" dirty="0"/>
          </a:p>
        </p:txBody>
      </p:sp>
      <p:sp>
        <p:nvSpPr>
          <p:cNvPr id="7" name="S04/header-rule"/>
          <p:cNvSpPr/>
          <p:nvPr/>
        </p:nvSpPr>
        <p:spPr>
          <a:xfrm>
            <a:off x="495300" y="1562100"/>
            <a:ext cx="11201400" cy="0"/>
          </a:xfrm>
          <a:prstGeom prst="line">
            <a:avLst/>
          </a:prstGeom>
          <a:noFill/>
          <a:ln w="13335">
            <a:solidFill>
              <a:srgbClr val="CFD7DA"/>
            </a:solidFill>
            <a:prstDash val="solid"/>
          </a:ln>
        </p:spPr>
      </p:sp>
      <p:sp>
        <p:nvSpPr>
          <p:cNvPr id="8" name="S04/figure:0:paper"/>
          <p:cNvSpPr/>
          <p:nvPr/>
        </p:nvSpPr>
        <p:spPr>
          <a:xfrm>
            <a:off x="495300" y="1790700"/>
            <a:ext cx="3857625" cy="4181475"/>
          </a:xfrm>
          <a:prstGeom prst="rect">
            <a:avLst/>
          </a:prstGeom>
          <a:solidFill>
            <a:srgbClr val="FFFFFF"/>
          </a:solidFill>
          <a:ln w="9525">
            <a:solidFill>
              <a:srgbClr val="CFD7DA"/>
            </a:solidFill>
            <a:prstDash val="solid"/>
          </a:ln>
        </p:spPr>
      </p:sp>
      <p:pic>
        <p:nvPicPr>
          <p:cNvPr id="9" name="S04/figure:0:image" descr="P1 · Fig. 3 · 拟南芥生长模式分析 · Chen et al. (2026) CC BY 4.0 · 完整原图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04812" y="1914525"/>
            <a:ext cx="2038600" cy="3514725"/>
          </a:xfrm>
          <a:prstGeom prst="rect">
            <a:avLst/>
          </a:prstGeom>
        </p:spPr>
      </p:pic>
      <p:sp>
        <p:nvSpPr>
          <p:cNvPr id="10" name="S04/figure:0:caption"/>
          <p:cNvSpPr/>
          <p:nvPr/>
        </p:nvSpPr>
        <p:spPr>
          <a:xfrm>
            <a:off x="638175" y="5476875"/>
            <a:ext cx="3571875" cy="419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3000"/>
              </a:lnSpc>
              <a:buNone/>
            </a:pPr>
            <a:r>
              <a:rPr lang="zh-CN" altLang="en-US" sz="1050" dirty="0">
                <a:solidFill>
                  <a:srgbClr val="6070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P1 · Fig. 3 · 拟南芥生长模式分析 · Chen et al. (2026)</a:t>
            </a:r>
            <a:endParaRPr lang="zh-CN" sz="1050" dirty="0"/>
          </a:p>
          <a:p>
            <a:pPr algn="l" indent="0" marL="0">
              <a:lnSpc>
                <a:spcPct val="123000"/>
              </a:lnSpc>
              <a:buNone/>
            </a:pPr>
            <a:r>
              <a:rPr lang="zh-CN" altLang="en-US" sz="1050" dirty="0">
                <a:solidFill>
                  <a:srgbClr val="6070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CC BY 4.0 · 完整原图</a:t>
            </a:r>
            <a:endParaRPr lang="zh-CN" sz="1050" dirty="0"/>
          </a:p>
        </p:txBody>
      </p:sp>
      <p:sp>
        <p:nvSpPr>
          <p:cNvPr id="11" name="S04/card/design/frame"/>
          <p:cNvSpPr/>
          <p:nvPr/>
        </p:nvSpPr>
        <p:spPr>
          <a:xfrm>
            <a:off x="4676775" y="1790700"/>
            <a:ext cx="7019925" cy="2200275"/>
          </a:xfrm>
          <a:prstGeom prst="rect">
            <a:avLst/>
          </a:prstGeom>
          <a:solidFill>
            <a:srgbClr val="FFFFFF"/>
          </a:solidFill>
          <a:ln w="9525">
            <a:solidFill>
              <a:srgbClr val="CFD7DA"/>
            </a:solidFill>
            <a:prstDash val="solid"/>
          </a:ln>
        </p:spPr>
      </p:sp>
      <p:sp>
        <p:nvSpPr>
          <p:cNvPr id="12" name="S04/card/design/ledger-accent"/>
          <p:cNvSpPr/>
          <p:nvPr/>
        </p:nvSpPr>
        <p:spPr>
          <a:xfrm>
            <a:off x="4676775" y="1790700"/>
            <a:ext cx="57150" cy="2200275"/>
          </a:xfrm>
          <a:prstGeom prst="rect">
            <a:avLst/>
          </a:prstGeom>
          <a:solidFill>
            <a:srgbClr val="315B7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04/card/design/ledger-rule"/>
          <p:cNvSpPr/>
          <p:nvPr/>
        </p:nvSpPr>
        <p:spPr>
          <a:xfrm>
            <a:off x="4867275" y="2333625"/>
            <a:ext cx="6638925" cy="0"/>
          </a:xfrm>
          <a:prstGeom prst="line">
            <a:avLst/>
          </a:prstGeom>
          <a:noFill/>
          <a:ln w="13335">
            <a:solidFill>
              <a:srgbClr val="CFD7DA"/>
            </a:solidFill>
            <a:prstDash val="solid"/>
          </a:ln>
        </p:spPr>
      </p:sp>
      <p:sp>
        <p:nvSpPr>
          <p:cNvPr id="14" name="S04/card/design/title"/>
          <p:cNvSpPr/>
          <p:nvPr/>
        </p:nvSpPr>
        <p:spPr>
          <a:xfrm>
            <a:off x="4867275" y="1952625"/>
            <a:ext cx="6638925" cy="3619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zh-CN" altLang="en-US" sz="1800" b="1" dirty="0">
                <a:solidFill>
                  <a:srgbClr val="315B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重复测量数据</a:t>
            </a:r>
            <a:endParaRPr lang="zh-CN" sz="1800" dirty="0"/>
          </a:p>
        </p:txBody>
      </p:sp>
      <p:sp>
        <p:nvSpPr>
          <p:cNvPr id="15" name="S04/card/design/metric"/>
          <p:cNvSpPr/>
          <p:nvPr/>
        </p:nvSpPr>
        <p:spPr>
          <a:xfrm>
            <a:off x="4867275" y="2476500"/>
            <a:ext cx="6638925" cy="5619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2925" b="1" dirty="0">
                <a:solidFill>
                  <a:srgbClr val="315B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24 株植物</a:t>
            </a:r>
            <a:endParaRPr lang="zh-CN" sz="2925" dirty="0"/>
          </a:p>
        </p:txBody>
      </p:sp>
      <p:sp>
        <p:nvSpPr>
          <p:cNvPr id="16" name="S04/card/design/metric-label"/>
          <p:cNvSpPr/>
          <p:nvPr/>
        </p:nvSpPr>
        <p:spPr>
          <a:xfrm>
            <a:off x="4867275" y="3086100"/>
            <a:ext cx="6638925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zh-CN" altLang="en-US" sz="1275" dirty="0">
                <a:solidFill>
                  <a:srgbClr val="6070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5 个生态型 · 连续 26 天</a:t>
            </a:r>
            <a:endParaRPr lang="zh-CN" sz="1275" dirty="0"/>
          </a:p>
        </p:txBody>
      </p:sp>
      <p:sp>
        <p:nvSpPr>
          <p:cNvPr id="17" name="S04/card/design/metric-context"/>
          <p:cNvSpPr/>
          <p:nvPr/>
        </p:nvSpPr>
        <p:spPr>
          <a:xfrm>
            <a:off x="4867275" y="3381375"/>
            <a:ext cx="66389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zh-CN" altLang="en-US" sz="1200" dirty="0">
                <a:solidFill>
                  <a:srgbClr val="6070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共 1,248 幅图像；独立生物学单位为植物。</a:t>
            </a:r>
            <a:endParaRPr lang="zh-CN" sz="1200" dirty="0"/>
          </a:p>
        </p:txBody>
      </p:sp>
      <p:sp>
        <p:nvSpPr>
          <p:cNvPr id="18" name="S04/card/reading/shadow"/>
          <p:cNvSpPr/>
          <p:nvPr/>
        </p:nvSpPr>
        <p:spPr>
          <a:xfrm>
            <a:off x="4714875" y="4238625"/>
            <a:ext cx="6981825" cy="1733550"/>
          </a:xfrm>
          <a:prstGeom prst="rect">
            <a:avLst/>
          </a:prstGeom>
          <a:solidFill>
            <a:srgbClr val="D9E0E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04/card/reading/frame"/>
          <p:cNvSpPr/>
          <p:nvPr/>
        </p:nvSpPr>
        <p:spPr>
          <a:xfrm>
            <a:off x="4676775" y="4200525"/>
            <a:ext cx="6981825" cy="1733550"/>
          </a:xfrm>
          <a:prstGeom prst="rect">
            <a:avLst/>
          </a:prstGeom>
          <a:solidFill>
            <a:srgbClr val="FFFFFF"/>
          </a:solidFill>
          <a:ln w="9525">
            <a:solidFill>
              <a:srgbClr val="CFD7DA"/>
            </a:solidFill>
            <a:prstDash val="solid"/>
          </a:ln>
        </p:spPr>
      </p:sp>
      <p:sp>
        <p:nvSpPr>
          <p:cNvPr id="20" name="S04/card/reading/top-accent"/>
          <p:cNvSpPr/>
          <p:nvPr/>
        </p:nvSpPr>
        <p:spPr>
          <a:xfrm>
            <a:off x="4867275" y="4314825"/>
            <a:ext cx="400050" cy="0"/>
          </a:xfrm>
          <a:prstGeom prst="line">
            <a:avLst/>
          </a:prstGeom>
          <a:noFill/>
          <a:ln w="28575">
            <a:solidFill>
              <a:srgbClr val="315B70"/>
            </a:solidFill>
            <a:prstDash val="solid"/>
          </a:ln>
        </p:spPr>
      </p:sp>
      <p:sp>
        <p:nvSpPr>
          <p:cNvPr id="21" name="S04/card/reading/title"/>
          <p:cNvSpPr/>
          <p:nvPr/>
        </p:nvSpPr>
        <p:spPr>
          <a:xfrm>
            <a:off x="4867275" y="4400550"/>
            <a:ext cx="6638925" cy="3619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zh-CN" altLang="en-US" sz="1800" b="1" dirty="0">
                <a:solidFill>
                  <a:srgbClr val="315B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读图顺序</a:t>
            </a:r>
            <a:endParaRPr lang="zh-CN" sz="1800" dirty="0"/>
          </a:p>
        </p:txBody>
      </p:sp>
      <p:sp>
        <p:nvSpPr>
          <p:cNvPr id="22" name="S04/card/reading/body"/>
          <p:cNvSpPr/>
          <p:nvPr/>
        </p:nvSpPr>
        <p:spPr>
          <a:xfrm>
            <a:off x="4867275" y="4867275"/>
            <a:ext cx="6638925" cy="914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2000"/>
              </a:lnSpc>
              <a:buNone/>
            </a:pPr>
            <a:r>
              <a:rPr lang="zh-CN" altLang="en-US" sz="1650" dirty="0">
                <a:solidFill>
                  <a:srgbClr val="2436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灰色：任务；蓝色：工具；白色：结果。</a:t>
            </a:r>
            <a:endParaRPr lang="zh-CN" sz="1650" dirty="0"/>
          </a:p>
          <a:p>
            <a:pPr algn="l" indent="0" marL="0">
              <a:lnSpc>
                <a:spcPct val="132000"/>
              </a:lnSpc>
              <a:buNone/>
            </a:pPr>
            <a:r>
              <a:rPr lang="zh-CN" altLang="en-US" sz="1650" dirty="0">
                <a:solidFill>
                  <a:srgbClr val="2436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从表型提取，到绘图、读图、统计检验与文献对照。</a:t>
            </a:r>
            <a:endParaRPr lang="zh-CN" sz="1650" dirty="0"/>
          </a:p>
        </p:txBody>
      </p:sp>
      <p:sp>
        <p:nvSpPr>
          <p:cNvPr id="23" name="S04/sources"/>
          <p:cNvSpPr/>
          <p:nvPr/>
        </p:nvSpPr>
        <p:spPr>
          <a:xfrm>
            <a:off x="495300" y="6143625"/>
            <a:ext cx="11201400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zh-CN" altLang="en-US" sz="900" dirty="0">
                <a:solidFill>
                  <a:srgbClr val="6070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P1 · 2026 · 10.1038/s41467-026-71090-y</a:t>
            </a:r>
            <a:endParaRPr lang="zh-CN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05/top-rule"/>
          <p:cNvSpPr/>
          <p:nvPr/>
        </p:nvSpPr>
        <p:spPr>
          <a:xfrm>
            <a:off x="0" y="0"/>
            <a:ext cx="12192000" cy="66675"/>
          </a:xfrm>
          <a:prstGeom prst="rect">
            <a:avLst/>
          </a:prstGeom>
          <a:solidFill>
            <a:srgbClr val="315B7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05/footer-label"/>
          <p:cNvSpPr/>
          <p:nvPr/>
        </p:nvSpPr>
        <p:spPr>
          <a:xfrm>
            <a:off x="495300" y="6505575"/>
            <a:ext cx="990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975" dirty="0">
                <a:solidFill>
                  <a:srgbClr val="6070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学术研究汇报</a:t>
            </a:r>
            <a:endParaRPr lang="zh-CN" sz="975" dirty="0"/>
          </a:p>
        </p:txBody>
      </p:sp>
      <p:sp>
        <p:nvSpPr>
          <p:cNvPr id="4" name="S05/page-number"/>
          <p:cNvSpPr/>
          <p:nvPr/>
        </p:nvSpPr>
        <p:spPr>
          <a:xfrm>
            <a:off x="10706100" y="6477000"/>
            <a:ext cx="9906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ct val="128000"/>
              </a:lnSpc>
              <a:buNone/>
            </a:pPr>
            <a:r>
              <a:rPr lang="zh-CN" altLang="en-US" sz="1125" dirty="0">
                <a:solidFill>
                  <a:srgbClr val="6070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05 / 09</a:t>
            </a:r>
            <a:endParaRPr lang="zh-CN" sz="1125" dirty="0"/>
          </a:p>
        </p:txBody>
      </p:sp>
      <p:sp>
        <p:nvSpPr>
          <p:cNvPr id="5" name="S05/kicker"/>
          <p:cNvSpPr/>
          <p:nvPr/>
        </p:nvSpPr>
        <p:spPr>
          <a:xfrm>
            <a:off x="495300" y="285750"/>
            <a:ext cx="10858500" cy="2381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125" b="1" dirty="0">
                <a:solidFill>
                  <a:srgbClr val="527F7E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P1 · Evaluation / data analysis</a:t>
            </a:r>
            <a:endParaRPr lang="zh-CN" sz="1125" dirty="0"/>
          </a:p>
        </p:txBody>
      </p:sp>
      <p:sp>
        <p:nvSpPr>
          <p:cNvPr id="6" name="S05/title"/>
          <p:cNvSpPr/>
          <p:nvPr/>
        </p:nvSpPr>
        <p:spPr>
          <a:xfrm>
            <a:off x="495300" y="619125"/>
            <a:ext cx="11201400" cy="9620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zh-CN" altLang="en-US" sz="2775" b="1" dirty="0">
                <a:solidFill>
                  <a:srgbClr val="2436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20 项分析任务：17 项通过人工核查</a:t>
            </a:r>
            <a:endParaRPr lang="zh-CN" sz="2775" dirty="0"/>
          </a:p>
        </p:txBody>
      </p:sp>
      <p:sp>
        <p:nvSpPr>
          <p:cNvPr id="7" name="S05/header-rule"/>
          <p:cNvSpPr/>
          <p:nvPr/>
        </p:nvSpPr>
        <p:spPr>
          <a:xfrm>
            <a:off x="495300" y="1562100"/>
            <a:ext cx="11201400" cy="0"/>
          </a:xfrm>
          <a:prstGeom prst="line">
            <a:avLst/>
          </a:prstGeom>
          <a:noFill/>
          <a:ln w="13335">
            <a:solidFill>
              <a:srgbClr val="CFD7DA"/>
            </a:solidFill>
            <a:prstDash val="solid"/>
          </a:ln>
        </p:spPr>
      </p:sp>
      <p:graphicFrame>
        <p:nvGraphicFramePr>
          <p:cNvPr id="8" name="S05/data-chart" descr=""/>
          <p:cNvGraphicFramePr/>
          <p:nvPr/>
        </p:nvGraphicFramePr>
        <p:xfrm>
          <a:off x="495300" y="1809750"/>
          <a:ext cx="7191375" cy="4143375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05/card/failure/frame"/>
          <p:cNvSpPr/>
          <p:nvPr/>
        </p:nvSpPr>
        <p:spPr>
          <a:xfrm>
            <a:off x="7943850" y="1809750"/>
            <a:ext cx="3752850" cy="4143375"/>
          </a:xfrm>
          <a:prstGeom prst="rect">
            <a:avLst/>
          </a:prstGeom>
          <a:solidFill>
            <a:srgbClr val="FFFFFF"/>
          </a:solidFill>
          <a:ln w="9525">
            <a:solidFill>
              <a:srgbClr val="CFD7DA"/>
            </a:solidFill>
            <a:prstDash val="solid"/>
          </a:ln>
        </p:spPr>
      </p:sp>
      <p:sp>
        <p:nvSpPr>
          <p:cNvPr id="10" name="S05/card/failure/band"/>
          <p:cNvSpPr/>
          <p:nvPr/>
        </p:nvSpPr>
        <p:spPr>
          <a:xfrm>
            <a:off x="7943850" y="1809750"/>
            <a:ext cx="3752850" cy="476250"/>
          </a:xfrm>
          <a:prstGeom prst="rect">
            <a:avLst/>
          </a:prstGeom>
          <a:solidFill>
            <a:srgbClr val="315B7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05/card/failure/title"/>
          <p:cNvSpPr/>
          <p:nvPr/>
        </p:nvSpPr>
        <p:spPr>
          <a:xfrm>
            <a:off x="8134350" y="1905000"/>
            <a:ext cx="3371850" cy="3619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失败集中在细粒度读图</a:t>
            </a:r>
            <a:endParaRPr lang="zh-CN" sz="1800" dirty="0"/>
          </a:p>
        </p:txBody>
      </p:sp>
      <p:sp>
        <p:nvSpPr>
          <p:cNvPr id="12" name="S05/card/failure/metric"/>
          <p:cNvSpPr/>
          <p:nvPr/>
        </p:nvSpPr>
        <p:spPr>
          <a:xfrm>
            <a:off x="8134350" y="2447925"/>
            <a:ext cx="3371850" cy="5619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2925" b="1" dirty="0">
                <a:solidFill>
                  <a:srgbClr val="315B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 / 20 项</a:t>
            </a:r>
            <a:endParaRPr lang="zh-CN" sz="2925" dirty="0"/>
          </a:p>
        </p:txBody>
      </p:sp>
      <p:sp>
        <p:nvSpPr>
          <p:cNvPr id="13" name="S05/card/failure/metric-label"/>
          <p:cNvSpPr/>
          <p:nvPr/>
        </p:nvSpPr>
        <p:spPr>
          <a:xfrm>
            <a:off x="8134350" y="3057525"/>
            <a:ext cx="3371850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zh-CN" altLang="en-US" sz="1275" dirty="0">
                <a:solidFill>
                  <a:srgbClr val="6070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人工核查判定失败</a:t>
            </a:r>
            <a:endParaRPr lang="zh-CN" sz="1275" dirty="0"/>
          </a:p>
        </p:txBody>
      </p:sp>
      <p:sp>
        <p:nvSpPr>
          <p:cNvPr id="14" name="S05/card/failure/metric-context"/>
          <p:cNvSpPr/>
          <p:nvPr/>
        </p:nvSpPr>
        <p:spPr>
          <a:xfrm>
            <a:off x="8134350" y="3352800"/>
            <a:ext cx="33718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zh-CN" altLang="en-US" sz="1200" dirty="0">
                <a:solidFill>
                  <a:srgbClr val="6070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 项失败均属于图表分析任务。</a:t>
            </a:r>
            <a:endParaRPr lang="zh-CN" sz="1200" dirty="0"/>
          </a:p>
        </p:txBody>
      </p:sp>
      <p:sp>
        <p:nvSpPr>
          <p:cNvPr id="15" name="S05/card/failure/body"/>
          <p:cNvSpPr/>
          <p:nvPr/>
        </p:nvSpPr>
        <p:spPr>
          <a:xfrm>
            <a:off x="8134350" y="3609975"/>
            <a:ext cx="3371850" cy="21526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2000"/>
              </a:lnSpc>
              <a:buNone/>
            </a:pPr>
            <a:r>
              <a:rPr lang="zh-CN" altLang="en-US" sz="1650" dirty="0">
                <a:solidFill>
                  <a:srgbClr val="2436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需要从图中提取和解释细节。</a:t>
            </a:r>
            <a:endParaRPr lang="zh-CN" sz="1650" dirty="0"/>
          </a:p>
          <a:p>
            <a:pPr algn="l" indent="0" marL="0">
              <a:lnSpc>
                <a:spcPct val="132000"/>
              </a:lnSpc>
              <a:buNone/>
            </a:pPr>
            <a:endParaRPr lang="zh-CN" sz="1650" dirty="0"/>
          </a:p>
          <a:p>
            <a:pPr algn="l" indent="0" marL="0">
              <a:lnSpc>
                <a:spcPct val="132000"/>
              </a:lnSpc>
              <a:buNone/>
            </a:pPr>
            <a:r>
              <a:rPr lang="zh-CN" altLang="en-US" sz="1650" dirty="0">
                <a:solidFill>
                  <a:srgbClr val="2436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统计分母是分析任务，</a:t>
            </a:r>
            <a:endParaRPr lang="zh-CN" sz="1650" dirty="0"/>
          </a:p>
          <a:p>
            <a:pPr algn="l" indent="0" marL="0">
              <a:lnSpc>
                <a:spcPct val="132000"/>
              </a:lnSpc>
              <a:buNone/>
            </a:pPr>
            <a:r>
              <a:rPr lang="zh-CN" altLang="en-US" sz="1650" dirty="0">
                <a:solidFill>
                  <a:srgbClr val="2436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不代表田间栽培控制效果。</a:t>
            </a:r>
            <a:endParaRPr lang="zh-CN" sz="1650" dirty="0"/>
          </a:p>
        </p:txBody>
      </p:sp>
      <p:sp>
        <p:nvSpPr>
          <p:cNvPr id="16" name="S05/sources"/>
          <p:cNvSpPr/>
          <p:nvPr/>
        </p:nvSpPr>
        <p:spPr>
          <a:xfrm>
            <a:off x="495300" y="6143625"/>
            <a:ext cx="11201400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zh-CN" altLang="en-US" sz="900" dirty="0">
                <a:solidFill>
                  <a:srgbClr val="6070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P1 · 2026 · 10.1038/s41467-026-71090-y</a:t>
            </a:r>
            <a:endParaRPr lang="zh-CN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06/top-rule"/>
          <p:cNvSpPr/>
          <p:nvPr/>
        </p:nvSpPr>
        <p:spPr>
          <a:xfrm>
            <a:off x="0" y="0"/>
            <a:ext cx="12192000" cy="66675"/>
          </a:xfrm>
          <a:prstGeom prst="rect">
            <a:avLst/>
          </a:prstGeom>
          <a:solidFill>
            <a:srgbClr val="315B7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06/footer-label"/>
          <p:cNvSpPr/>
          <p:nvPr/>
        </p:nvSpPr>
        <p:spPr>
          <a:xfrm>
            <a:off x="495300" y="6505575"/>
            <a:ext cx="990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975" dirty="0">
                <a:solidFill>
                  <a:srgbClr val="6070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学术研究汇报</a:t>
            </a:r>
            <a:endParaRPr lang="zh-CN" sz="975" dirty="0"/>
          </a:p>
        </p:txBody>
      </p:sp>
      <p:sp>
        <p:nvSpPr>
          <p:cNvPr id="4" name="S06/page-number"/>
          <p:cNvSpPr/>
          <p:nvPr/>
        </p:nvSpPr>
        <p:spPr>
          <a:xfrm>
            <a:off x="10706100" y="6477000"/>
            <a:ext cx="9906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ct val="128000"/>
              </a:lnSpc>
              <a:buNone/>
            </a:pPr>
            <a:r>
              <a:rPr lang="zh-CN" altLang="en-US" sz="1125" dirty="0">
                <a:solidFill>
                  <a:srgbClr val="6070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06 / 09</a:t>
            </a:r>
            <a:endParaRPr lang="zh-CN" sz="1125" dirty="0"/>
          </a:p>
        </p:txBody>
      </p:sp>
      <p:sp>
        <p:nvSpPr>
          <p:cNvPr id="5" name="S06/kicker"/>
          <p:cNvSpPr/>
          <p:nvPr/>
        </p:nvSpPr>
        <p:spPr>
          <a:xfrm>
            <a:off x="495300" y="285750"/>
            <a:ext cx="10858500" cy="2381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125" b="1" dirty="0">
                <a:solidFill>
                  <a:srgbClr val="527F7E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P1 · Discussion 与适用范围判断</a:t>
            </a:r>
            <a:endParaRPr lang="zh-CN" sz="1125" dirty="0"/>
          </a:p>
        </p:txBody>
      </p:sp>
      <p:sp>
        <p:nvSpPr>
          <p:cNvPr id="6" name="S06/title"/>
          <p:cNvSpPr/>
          <p:nvPr/>
        </p:nvSpPr>
        <p:spPr>
          <a:xfrm>
            <a:off x="495300" y="619125"/>
            <a:ext cx="11201400" cy="9620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zh-CN" altLang="en-US" sz="2775" b="1" dirty="0">
                <a:solidFill>
                  <a:srgbClr val="2436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从表型分析走向栽培控制，还缺什么？</a:t>
            </a:r>
            <a:endParaRPr lang="zh-CN" sz="2775" dirty="0"/>
          </a:p>
        </p:txBody>
      </p:sp>
      <p:sp>
        <p:nvSpPr>
          <p:cNvPr id="7" name="S06/header-rule"/>
          <p:cNvSpPr/>
          <p:nvPr/>
        </p:nvSpPr>
        <p:spPr>
          <a:xfrm>
            <a:off x="495300" y="1562100"/>
            <a:ext cx="11201400" cy="0"/>
          </a:xfrm>
          <a:prstGeom prst="line">
            <a:avLst/>
          </a:prstGeom>
          <a:noFill/>
          <a:ln w="13335">
            <a:solidFill>
              <a:srgbClr val="CFD7DA"/>
            </a:solidFill>
            <a:prstDash val="solid"/>
          </a:ln>
        </p:spPr>
      </p:sp>
      <p:sp>
        <p:nvSpPr>
          <p:cNvPr id="8" name="S06/takeaway-band"/>
          <p:cNvSpPr/>
          <p:nvPr/>
        </p:nvSpPr>
        <p:spPr>
          <a:xfrm>
            <a:off x="495300" y="1790700"/>
            <a:ext cx="11201400" cy="819150"/>
          </a:xfrm>
          <a:prstGeom prst="rect">
            <a:avLst/>
          </a:prstGeom>
          <a:solidFill>
            <a:srgbClr val="E6EDE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06/takeaway"/>
          <p:cNvSpPr/>
          <p:nvPr/>
        </p:nvSpPr>
        <p:spPr>
          <a:xfrm>
            <a:off x="723900" y="1933575"/>
            <a:ext cx="10744200" cy="5619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zh-CN" altLang="en-US" sz="1875" b="1" dirty="0">
                <a:solidFill>
                  <a:srgbClr val="315B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目前证据支持有界分析任务；农业决策收益仍需独立验证。</a:t>
            </a:r>
            <a:endParaRPr lang="zh-CN" sz="1875" dirty="0"/>
          </a:p>
        </p:txBody>
      </p:sp>
      <p:sp>
        <p:nvSpPr>
          <p:cNvPr id="10" name="S06/card/generalisation/frame"/>
          <p:cNvSpPr/>
          <p:nvPr/>
        </p:nvSpPr>
        <p:spPr>
          <a:xfrm>
            <a:off x="495300" y="3028950"/>
            <a:ext cx="7086600" cy="2924175"/>
          </a:xfrm>
          <a:prstGeom prst="rect">
            <a:avLst/>
          </a:prstGeom>
          <a:solidFill>
            <a:srgbClr val="FFFFFF"/>
          </a:solidFill>
          <a:ln w="14288">
            <a:solidFill>
              <a:srgbClr val="B38D56"/>
            </a:solidFill>
            <a:prstDash val="solid"/>
          </a:ln>
        </p:spPr>
      </p:sp>
      <p:sp>
        <p:nvSpPr>
          <p:cNvPr id="11" name="S06/card/generalisation/title-cutout"/>
          <p:cNvSpPr/>
          <p:nvPr/>
        </p:nvSpPr>
        <p:spPr>
          <a:xfrm>
            <a:off x="628650" y="2876550"/>
            <a:ext cx="1524000" cy="323850"/>
          </a:xfrm>
          <a:prstGeom prst="rect">
            <a:avLst/>
          </a:prstGeom>
          <a:solidFill>
            <a:srgbClr val="F5F3E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06/card/generalisation/base-rule"/>
          <p:cNvSpPr/>
          <p:nvPr/>
        </p:nvSpPr>
        <p:spPr>
          <a:xfrm>
            <a:off x="685800" y="5800725"/>
            <a:ext cx="333375" cy="0"/>
          </a:xfrm>
          <a:prstGeom prst="line">
            <a:avLst/>
          </a:prstGeom>
          <a:noFill/>
          <a:ln w="28575">
            <a:solidFill>
              <a:srgbClr val="B38D56"/>
            </a:solidFill>
            <a:prstDash val="solid"/>
          </a:ln>
        </p:spPr>
      </p:sp>
      <p:sp>
        <p:nvSpPr>
          <p:cNvPr id="13" name="S06/card/generalisation/title"/>
          <p:cNvSpPr/>
          <p:nvPr/>
        </p:nvSpPr>
        <p:spPr>
          <a:xfrm>
            <a:off x="685800" y="2886075"/>
            <a:ext cx="6705600" cy="3619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zh-CN" altLang="en-US" sz="1800" b="1" dirty="0">
                <a:solidFill>
                  <a:srgbClr val="B38D5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跨场景可靠性</a:t>
            </a:r>
            <a:endParaRPr lang="zh-CN" sz="1800" dirty="0"/>
          </a:p>
        </p:txBody>
      </p:sp>
      <p:sp>
        <p:nvSpPr>
          <p:cNvPr id="14" name="S06/card/generalisation/body"/>
          <p:cNvSpPr/>
          <p:nvPr/>
        </p:nvSpPr>
        <p:spPr>
          <a:xfrm>
            <a:off x="685800" y="3419475"/>
            <a:ext cx="6705600" cy="23431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2000"/>
              </a:lnSpc>
              <a:buNone/>
            </a:pPr>
            <a:r>
              <a:rPr lang="zh-CN" altLang="en-US" sz="1650" dirty="0">
                <a:solidFill>
                  <a:srgbClr val="2436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工具库覆盖哪些作物、任务与成像条件？</a:t>
            </a:r>
            <a:endParaRPr lang="zh-CN" sz="1650" dirty="0"/>
          </a:p>
          <a:p>
            <a:pPr algn="l" indent="0" marL="0">
              <a:lnSpc>
                <a:spcPct val="132000"/>
              </a:lnSpc>
              <a:buNone/>
            </a:pPr>
            <a:r>
              <a:rPr lang="zh-CN" altLang="en-US" sz="1650" dirty="0">
                <a:solidFill>
                  <a:srgbClr val="2436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新数据或新环境是否超出模型适用范围？</a:t>
            </a:r>
            <a:endParaRPr lang="zh-CN" sz="1650" dirty="0"/>
          </a:p>
          <a:p>
            <a:pPr algn="l" indent="0" marL="0">
              <a:lnSpc>
                <a:spcPct val="132000"/>
              </a:lnSpc>
              <a:buNone/>
            </a:pPr>
            <a:endParaRPr lang="zh-CN" sz="1650" dirty="0"/>
          </a:p>
          <a:p>
            <a:pPr algn="l" indent="0" marL="0">
              <a:lnSpc>
                <a:spcPct val="132000"/>
              </a:lnSpc>
              <a:buNone/>
            </a:pPr>
            <a:r>
              <a:rPr lang="zh-CN" altLang="en-US" sz="1650" dirty="0">
                <a:solidFill>
                  <a:srgbClr val="2436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报告工具覆盖、输入条件与失败案例。</a:t>
            </a:r>
            <a:endParaRPr lang="zh-CN" sz="1650" dirty="0"/>
          </a:p>
        </p:txBody>
      </p:sp>
      <p:sp>
        <p:nvSpPr>
          <p:cNvPr id="15" name="S06/card/control/frame"/>
          <p:cNvSpPr/>
          <p:nvPr/>
        </p:nvSpPr>
        <p:spPr>
          <a:xfrm>
            <a:off x="7829550" y="2867025"/>
            <a:ext cx="3867150" cy="3086100"/>
          </a:xfrm>
          <a:prstGeom prst="rect">
            <a:avLst/>
          </a:prstGeom>
          <a:solidFill>
            <a:srgbClr val="FFFFFF"/>
          </a:solidFill>
          <a:ln w="14288">
            <a:solidFill>
              <a:srgbClr val="B38D56"/>
            </a:solidFill>
            <a:prstDash val="dash"/>
          </a:ln>
        </p:spPr>
      </p:sp>
      <p:sp>
        <p:nvSpPr>
          <p:cNvPr id="16" name="S06/card/control/corner-white"/>
          <p:cNvSpPr/>
          <p:nvPr/>
        </p:nvSpPr>
        <p:spPr>
          <a:xfrm>
            <a:off x="11430000" y="2867025"/>
            <a:ext cx="266700" cy="266700"/>
          </a:xfrm>
          <a:prstGeom prst="rect">
            <a:avLst/>
          </a:prstGeom>
          <a:solidFill>
            <a:srgbClr val="F5F3E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S06/card/control/fold-diagonal"/>
          <p:cNvSpPr/>
          <p:nvPr/>
        </p:nvSpPr>
        <p:spPr>
          <a:xfrm>
            <a:off x="11430000" y="2867025"/>
            <a:ext cx="266700" cy="266700"/>
          </a:xfrm>
          <a:prstGeom prst="line">
            <a:avLst/>
          </a:prstGeom>
          <a:noFill/>
          <a:ln w="13335">
            <a:solidFill>
              <a:srgbClr val="B38D56"/>
            </a:solidFill>
            <a:prstDash val="solid"/>
          </a:ln>
        </p:spPr>
      </p:sp>
      <p:sp>
        <p:nvSpPr>
          <p:cNvPr id="18" name="S06/card/control/fold-left"/>
          <p:cNvSpPr/>
          <p:nvPr/>
        </p:nvSpPr>
        <p:spPr>
          <a:xfrm>
            <a:off x="11430000" y="2867025"/>
            <a:ext cx="0" cy="266700"/>
          </a:xfrm>
          <a:prstGeom prst="line">
            <a:avLst/>
          </a:prstGeom>
          <a:noFill/>
          <a:ln w="13335">
            <a:solidFill>
              <a:srgbClr val="B38D56"/>
            </a:solidFill>
            <a:prstDash val="solid"/>
          </a:ln>
        </p:spPr>
      </p:sp>
      <p:sp>
        <p:nvSpPr>
          <p:cNvPr id="19" name="S06/card/control/fold-bottom"/>
          <p:cNvSpPr/>
          <p:nvPr/>
        </p:nvSpPr>
        <p:spPr>
          <a:xfrm>
            <a:off x="11430000" y="3133725"/>
            <a:ext cx="266700" cy="0"/>
          </a:xfrm>
          <a:prstGeom prst="line">
            <a:avLst/>
          </a:prstGeom>
          <a:noFill/>
          <a:ln w="13335">
            <a:solidFill>
              <a:srgbClr val="B38D56"/>
            </a:solidFill>
            <a:prstDash val="solid"/>
          </a:ln>
        </p:spPr>
      </p:sp>
      <p:sp>
        <p:nvSpPr>
          <p:cNvPr id="20" name="S06/card/control/title"/>
          <p:cNvSpPr/>
          <p:nvPr/>
        </p:nvSpPr>
        <p:spPr>
          <a:xfrm>
            <a:off x="8020050" y="3028950"/>
            <a:ext cx="3295650" cy="3619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zh-CN" altLang="en-US" sz="1800" b="1" dirty="0">
                <a:solidFill>
                  <a:srgbClr val="B38D5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栽培控制证据</a:t>
            </a:r>
            <a:endParaRPr lang="zh-CN" sz="1800" dirty="0"/>
          </a:p>
        </p:txBody>
      </p:sp>
      <p:sp>
        <p:nvSpPr>
          <p:cNvPr id="21" name="S06/card/control/body"/>
          <p:cNvSpPr/>
          <p:nvPr/>
        </p:nvSpPr>
        <p:spPr>
          <a:xfrm>
            <a:off x="8020050" y="3486150"/>
            <a:ext cx="3486150" cy="22764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2000"/>
              </a:lnSpc>
              <a:buNone/>
            </a:pPr>
            <a:r>
              <a:rPr lang="zh-CN" altLang="en-US" sz="1650" dirty="0">
                <a:solidFill>
                  <a:srgbClr val="2436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尚未验证：</a:t>
            </a:r>
            <a:endParaRPr lang="zh-CN" sz="1650" dirty="0"/>
          </a:p>
          <a:p>
            <a:pPr algn="l" indent="0" marL="0">
              <a:lnSpc>
                <a:spcPct val="132000"/>
              </a:lnSpc>
              <a:buNone/>
            </a:pPr>
            <a:r>
              <a:rPr lang="zh-CN" altLang="en-US" sz="1650" dirty="0">
                <a:solidFill>
                  <a:srgbClr val="2436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灌溉与施肥动作</a:t>
            </a:r>
            <a:endParaRPr lang="zh-CN" sz="1650" dirty="0"/>
          </a:p>
          <a:p>
            <a:pPr algn="l" indent="0" marL="0">
              <a:lnSpc>
                <a:spcPct val="132000"/>
              </a:lnSpc>
              <a:buNone/>
            </a:pPr>
            <a:r>
              <a:rPr lang="zh-CN" altLang="en-US" sz="1650" dirty="0">
                <a:solidFill>
                  <a:srgbClr val="2436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产量及资源收益</a:t>
            </a:r>
            <a:endParaRPr lang="zh-CN" sz="1650" dirty="0"/>
          </a:p>
          <a:p>
            <a:pPr algn="l" indent="0" marL="0">
              <a:lnSpc>
                <a:spcPct val="132000"/>
              </a:lnSpc>
              <a:buNone/>
            </a:pPr>
            <a:r>
              <a:rPr lang="zh-CN" altLang="en-US" sz="1650" dirty="0">
                <a:solidFill>
                  <a:srgbClr val="2436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真实生产中的长期可靠性</a:t>
            </a:r>
            <a:endParaRPr lang="zh-CN" sz="1650" dirty="0"/>
          </a:p>
        </p:txBody>
      </p:sp>
      <p:sp>
        <p:nvSpPr>
          <p:cNvPr id="22" name="S06/sources"/>
          <p:cNvSpPr/>
          <p:nvPr/>
        </p:nvSpPr>
        <p:spPr>
          <a:xfrm>
            <a:off x="495300" y="6143625"/>
            <a:ext cx="11201400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zh-CN" altLang="en-US" sz="900" dirty="0">
                <a:solidFill>
                  <a:srgbClr val="6070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P1 · 2026 · 10.1038/s41467-026-71090-y</a:t>
            </a:r>
            <a:endParaRPr lang="zh-CN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07/top-rule"/>
          <p:cNvSpPr/>
          <p:nvPr/>
        </p:nvSpPr>
        <p:spPr>
          <a:xfrm>
            <a:off x="0" y="0"/>
            <a:ext cx="12192000" cy="66675"/>
          </a:xfrm>
          <a:prstGeom prst="rect">
            <a:avLst/>
          </a:prstGeom>
          <a:solidFill>
            <a:srgbClr val="315B7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07/footer-label"/>
          <p:cNvSpPr/>
          <p:nvPr/>
        </p:nvSpPr>
        <p:spPr>
          <a:xfrm>
            <a:off x="495300" y="6505575"/>
            <a:ext cx="990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975" dirty="0">
                <a:solidFill>
                  <a:srgbClr val="6070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学术研究汇报</a:t>
            </a:r>
            <a:endParaRPr lang="zh-CN" sz="975" dirty="0"/>
          </a:p>
        </p:txBody>
      </p:sp>
      <p:sp>
        <p:nvSpPr>
          <p:cNvPr id="4" name="S07/page-number"/>
          <p:cNvSpPr/>
          <p:nvPr/>
        </p:nvSpPr>
        <p:spPr>
          <a:xfrm>
            <a:off x="10706100" y="6477000"/>
            <a:ext cx="9906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ct val="128000"/>
              </a:lnSpc>
              <a:buNone/>
            </a:pPr>
            <a:r>
              <a:rPr lang="zh-CN" altLang="en-US" sz="1125" dirty="0">
                <a:solidFill>
                  <a:srgbClr val="6070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07 / 09</a:t>
            </a:r>
            <a:endParaRPr lang="zh-CN" sz="1125" dirty="0"/>
          </a:p>
        </p:txBody>
      </p:sp>
      <p:sp>
        <p:nvSpPr>
          <p:cNvPr id="5" name="S07/kicker"/>
          <p:cNvSpPr/>
          <p:nvPr/>
        </p:nvSpPr>
        <p:spPr>
          <a:xfrm>
            <a:off x="495300" y="285750"/>
            <a:ext cx="10858500" cy="2381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125" b="1" dirty="0">
                <a:solidFill>
                  <a:srgbClr val="527F7E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研究提议 · 尚未验证</a:t>
            </a:r>
            <a:endParaRPr lang="zh-CN" sz="1125" dirty="0"/>
          </a:p>
        </p:txBody>
      </p:sp>
      <p:sp>
        <p:nvSpPr>
          <p:cNvPr id="6" name="S07/title"/>
          <p:cNvSpPr/>
          <p:nvPr/>
        </p:nvSpPr>
        <p:spPr>
          <a:xfrm>
            <a:off x="495300" y="619125"/>
            <a:ext cx="11201400" cy="9620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zh-CN" altLang="en-US" sz="2775" b="1" dirty="0">
                <a:solidFill>
                  <a:srgbClr val="2436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切入口：为图表读数加一道核验</a:t>
            </a:r>
            <a:endParaRPr lang="zh-CN" sz="2775" dirty="0"/>
          </a:p>
        </p:txBody>
      </p:sp>
      <p:sp>
        <p:nvSpPr>
          <p:cNvPr id="7" name="S07/header-rule"/>
          <p:cNvSpPr/>
          <p:nvPr/>
        </p:nvSpPr>
        <p:spPr>
          <a:xfrm>
            <a:off x="495300" y="1562100"/>
            <a:ext cx="11201400" cy="0"/>
          </a:xfrm>
          <a:prstGeom prst="line">
            <a:avLst/>
          </a:prstGeom>
          <a:noFill/>
          <a:ln w="13335">
            <a:solidFill>
              <a:srgbClr val="CFD7DA"/>
            </a:solidFill>
            <a:prstDash val="solid"/>
          </a:ln>
        </p:spPr>
      </p:sp>
      <p:sp>
        <p:nvSpPr>
          <p:cNvPr id="8" name="S07/takeaway-band"/>
          <p:cNvSpPr/>
          <p:nvPr/>
        </p:nvSpPr>
        <p:spPr>
          <a:xfrm>
            <a:off x="495300" y="1790700"/>
            <a:ext cx="11201400" cy="819150"/>
          </a:xfrm>
          <a:prstGeom prst="rect">
            <a:avLst/>
          </a:prstGeom>
          <a:solidFill>
            <a:srgbClr val="E6EDE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07/takeaway"/>
          <p:cNvSpPr/>
          <p:nvPr/>
        </p:nvSpPr>
        <p:spPr>
          <a:xfrm>
            <a:off x="723900" y="1933575"/>
            <a:ext cx="10744200" cy="5619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zh-CN" altLang="en-US" sz="1875" b="1" dirty="0">
                <a:solidFill>
                  <a:srgbClr val="315B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把已观察到的失败类型，转化为可以验证的系统改进问题。</a:t>
            </a:r>
            <a:endParaRPr lang="zh-CN" sz="1875" dirty="0"/>
          </a:p>
        </p:txBody>
      </p:sp>
      <p:sp>
        <p:nvSpPr>
          <p:cNvPr id="10" name="S07/card/hypothesis/rear"/>
          <p:cNvSpPr/>
          <p:nvPr/>
        </p:nvSpPr>
        <p:spPr>
          <a:xfrm>
            <a:off x="571500" y="2943225"/>
            <a:ext cx="5410200" cy="3009900"/>
          </a:xfrm>
          <a:prstGeom prst="rect">
            <a:avLst/>
          </a:prstGeom>
          <a:solidFill>
            <a:srgbClr val="F5F3EF"/>
          </a:solidFill>
          <a:ln w="9525">
            <a:solidFill>
              <a:srgbClr val="527F7E"/>
            </a:solidFill>
            <a:prstDash val="solid"/>
          </a:ln>
        </p:spPr>
      </p:sp>
      <p:sp>
        <p:nvSpPr>
          <p:cNvPr id="11" name="S07/card/hypothesis/middle"/>
          <p:cNvSpPr/>
          <p:nvPr/>
        </p:nvSpPr>
        <p:spPr>
          <a:xfrm>
            <a:off x="533400" y="2905125"/>
            <a:ext cx="5410200" cy="3009900"/>
          </a:xfrm>
          <a:prstGeom prst="rect">
            <a:avLst/>
          </a:prstGeom>
          <a:solidFill>
            <a:srgbClr val="E6EDEA"/>
          </a:solidFill>
          <a:ln w="9525">
            <a:solidFill>
              <a:srgbClr val="527F7E"/>
            </a:solidFill>
            <a:prstDash val="solid"/>
          </a:ln>
        </p:spPr>
      </p:sp>
      <p:sp>
        <p:nvSpPr>
          <p:cNvPr id="12" name="S07/card/hypothesis/frame"/>
          <p:cNvSpPr/>
          <p:nvPr/>
        </p:nvSpPr>
        <p:spPr>
          <a:xfrm>
            <a:off x="495300" y="2867025"/>
            <a:ext cx="5410200" cy="3009900"/>
          </a:xfrm>
          <a:prstGeom prst="rect">
            <a:avLst/>
          </a:prstGeom>
          <a:solidFill>
            <a:srgbClr val="FFFFFF"/>
          </a:solidFill>
          <a:ln w="9525">
            <a:solidFill>
              <a:srgbClr val="527F7E"/>
            </a:solidFill>
            <a:prstDash val="solid"/>
          </a:ln>
        </p:spPr>
      </p:sp>
      <p:sp>
        <p:nvSpPr>
          <p:cNvPr id="13" name="S07/card/hypothesis/title-rule"/>
          <p:cNvSpPr/>
          <p:nvPr/>
        </p:nvSpPr>
        <p:spPr>
          <a:xfrm>
            <a:off x="685800" y="3400425"/>
            <a:ext cx="5029200" cy="0"/>
          </a:xfrm>
          <a:prstGeom prst="line">
            <a:avLst/>
          </a:prstGeom>
          <a:noFill/>
          <a:ln w="13335">
            <a:solidFill>
              <a:srgbClr val="CFD7DA"/>
            </a:solidFill>
            <a:prstDash val="solid"/>
          </a:ln>
        </p:spPr>
      </p:sp>
      <p:sp>
        <p:nvSpPr>
          <p:cNvPr id="14" name="S07/card/hypothesis/title"/>
          <p:cNvSpPr/>
          <p:nvPr/>
        </p:nvSpPr>
        <p:spPr>
          <a:xfrm>
            <a:off x="685800" y="3028950"/>
            <a:ext cx="5029200" cy="3619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zh-CN" altLang="en-US" sz="1800" b="1" dirty="0">
                <a:solidFill>
                  <a:srgbClr val="527F7E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可检验假说</a:t>
            </a:r>
            <a:endParaRPr lang="zh-CN" sz="1800" dirty="0"/>
          </a:p>
        </p:txBody>
      </p:sp>
      <p:sp>
        <p:nvSpPr>
          <p:cNvPr id="15" name="S07/card/hypothesis/body"/>
          <p:cNvSpPr/>
          <p:nvPr/>
        </p:nvSpPr>
        <p:spPr>
          <a:xfrm>
            <a:off x="685800" y="3562350"/>
            <a:ext cx="5029200" cy="2200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2000"/>
              </a:lnSpc>
              <a:buNone/>
            </a:pPr>
            <a:r>
              <a:rPr lang="zh-CN" altLang="en-US" sz="1650" dirty="0">
                <a:solidFill>
                  <a:srgbClr val="2436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保留 manager 的工具编排。</a:t>
            </a:r>
            <a:endParaRPr lang="zh-CN" sz="1650" dirty="0"/>
          </a:p>
          <a:p>
            <a:pPr algn="l" indent="0" marL="0">
              <a:lnSpc>
                <a:spcPct val="132000"/>
              </a:lnSpc>
              <a:buNone/>
            </a:pPr>
            <a:r>
              <a:rPr lang="zh-CN" altLang="en-US" sz="1650" dirty="0">
                <a:solidFill>
                  <a:srgbClr val="2436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加入数值核对与风险触发复核，</a:t>
            </a:r>
            <a:endParaRPr lang="zh-CN" sz="1650" dirty="0"/>
          </a:p>
          <a:p>
            <a:pPr algn="l" indent="0" marL="0">
              <a:lnSpc>
                <a:spcPct val="132000"/>
              </a:lnSpc>
              <a:buNone/>
            </a:pPr>
            <a:r>
              <a:rPr lang="zh-CN" altLang="en-US" sz="1650" dirty="0">
                <a:solidFill>
                  <a:srgbClr val="2436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能否降低关键读图错误？</a:t>
            </a:r>
            <a:endParaRPr lang="zh-CN" sz="1650" dirty="0"/>
          </a:p>
          <a:p>
            <a:pPr algn="l" indent="0" marL="0">
              <a:lnSpc>
                <a:spcPct val="132000"/>
              </a:lnSpc>
              <a:buNone/>
            </a:pPr>
            <a:endParaRPr lang="zh-CN" sz="1650" dirty="0"/>
          </a:p>
          <a:p>
            <a:pPr algn="l" indent="0" marL="0">
              <a:lnSpc>
                <a:spcPct val="132000"/>
              </a:lnSpc>
              <a:buNone/>
            </a:pPr>
            <a:r>
              <a:rPr lang="zh-CN" altLang="en-US" sz="1650" dirty="0">
                <a:solidFill>
                  <a:srgbClr val="2436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尚无改善幅度或实验结果。</a:t>
            </a:r>
            <a:endParaRPr lang="zh-CN" sz="1650" dirty="0"/>
          </a:p>
        </p:txBody>
      </p:sp>
      <p:sp>
        <p:nvSpPr>
          <p:cNvPr id="16" name="S07/card/trigger/shadow"/>
          <p:cNvSpPr/>
          <p:nvPr/>
        </p:nvSpPr>
        <p:spPr>
          <a:xfrm>
            <a:off x="6248400" y="3086100"/>
            <a:ext cx="5448300" cy="2867025"/>
          </a:xfrm>
          <a:prstGeom prst="rect">
            <a:avLst/>
          </a:prstGeom>
          <a:solidFill>
            <a:srgbClr val="DEE5E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S07/card/trigger/frame"/>
          <p:cNvSpPr/>
          <p:nvPr/>
        </p:nvSpPr>
        <p:spPr>
          <a:xfrm>
            <a:off x="6210300" y="3048000"/>
            <a:ext cx="5448300" cy="2867025"/>
          </a:xfrm>
          <a:prstGeom prst="rect">
            <a:avLst/>
          </a:prstGeom>
          <a:solidFill>
            <a:srgbClr val="FFFFFF"/>
          </a:solidFill>
          <a:ln w="9525">
            <a:solidFill>
              <a:srgbClr val="CFD7DA"/>
            </a:solidFill>
            <a:prstDash val="solid"/>
          </a:ln>
        </p:spPr>
      </p:sp>
      <p:sp>
        <p:nvSpPr>
          <p:cNvPr id="18" name="S07/card/trigger/tab"/>
          <p:cNvSpPr/>
          <p:nvPr/>
        </p:nvSpPr>
        <p:spPr>
          <a:xfrm>
            <a:off x="6362700" y="2867025"/>
            <a:ext cx="1428750" cy="400050"/>
          </a:xfrm>
          <a:prstGeom prst="rect">
            <a:avLst/>
          </a:prstGeom>
          <a:solidFill>
            <a:srgbClr val="315B7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07/card/trigger/title"/>
          <p:cNvSpPr/>
          <p:nvPr/>
        </p:nvSpPr>
        <p:spPr>
          <a:xfrm>
            <a:off x="6477000" y="2924175"/>
            <a:ext cx="4972050" cy="3619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触发与处置</a:t>
            </a:r>
            <a:endParaRPr lang="zh-CN" sz="1800" dirty="0"/>
          </a:p>
        </p:txBody>
      </p:sp>
      <p:sp>
        <p:nvSpPr>
          <p:cNvPr id="20" name="S07/card/trigger/body"/>
          <p:cNvSpPr/>
          <p:nvPr/>
        </p:nvSpPr>
        <p:spPr>
          <a:xfrm>
            <a:off x="6400800" y="3514725"/>
            <a:ext cx="5105400" cy="2247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2000"/>
              </a:lnSpc>
              <a:buNone/>
            </a:pPr>
            <a:r>
              <a:rPr lang="zh-CN" altLang="en-US" sz="1650" dirty="0">
                <a:solidFill>
                  <a:srgbClr val="2436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读数与结构化源数据不一致，</a:t>
            </a:r>
            <a:endParaRPr lang="zh-CN" sz="1650" dirty="0"/>
          </a:p>
          <a:p>
            <a:pPr algn="l" indent="0" marL="0">
              <a:lnSpc>
                <a:spcPct val="132000"/>
              </a:lnSpc>
              <a:buNone/>
            </a:pPr>
            <a:r>
              <a:rPr lang="zh-CN" altLang="en-US" sz="1650" dirty="0">
                <a:solidFill>
                  <a:srgbClr val="2436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或结果缺乏可追溯依据时，</a:t>
            </a:r>
            <a:endParaRPr lang="zh-CN" sz="1650" dirty="0"/>
          </a:p>
          <a:p>
            <a:pPr algn="l" indent="0" marL="0">
              <a:lnSpc>
                <a:spcPct val="132000"/>
              </a:lnSpc>
              <a:buNone/>
            </a:pPr>
            <a:r>
              <a:rPr lang="zh-CN" altLang="en-US" sz="1650" dirty="0">
                <a:solidFill>
                  <a:srgbClr val="2436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请求人工检查并保存核验记录。</a:t>
            </a:r>
            <a:endParaRPr lang="zh-CN" sz="1650" dirty="0"/>
          </a:p>
          <a:p>
            <a:pPr algn="l" indent="0" marL="0">
              <a:lnSpc>
                <a:spcPct val="132000"/>
              </a:lnSpc>
              <a:buNone/>
            </a:pPr>
            <a:endParaRPr lang="zh-CN" sz="1650" dirty="0"/>
          </a:p>
          <a:p>
            <a:pPr algn="l" indent="0" marL="0">
              <a:lnSpc>
                <a:spcPct val="132000"/>
              </a:lnSpc>
              <a:buNone/>
            </a:pPr>
            <a:r>
              <a:rPr lang="zh-CN" altLang="en-US" sz="1650" dirty="0">
                <a:solidFill>
                  <a:srgbClr val="2436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同步测量复核负担。</a:t>
            </a:r>
            <a:endParaRPr lang="zh-CN" sz="1650" dirty="0"/>
          </a:p>
        </p:txBody>
      </p:sp>
      <p:sp>
        <p:nvSpPr>
          <p:cNvPr id="21" name="S07/sources"/>
          <p:cNvSpPr/>
          <p:nvPr/>
        </p:nvSpPr>
        <p:spPr>
          <a:xfrm>
            <a:off x="495300" y="6143625"/>
            <a:ext cx="11201400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zh-CN" altLang="en-US" sz="900" dirty="0">
                <a:solidFill>
                  <a:srgbClr val="6070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P1 · 2026 · 10.1038/s41467-026-71090-y</a:t>
            </a:r>
            <a:endParaRPr lang="zh-CN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08/top-rule"/>
          <p:cNvSpPr/>
          <p:nvPr/>
        </p:nvSpPr>
        <p:spPr>
          <a:xfrm>
            <a:off x="0" y="0"/>
            <a:ext cx="12192000" cy="66675"/>
          </a:xfrm>
          <a:prstGeom prst="rect">
            <a:avLst/>
          </a:prstGeom>
          <a:solidFill>
            <a:srgbClr val="315B7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08/footer-label"/>
          <p:cNvSpPr/>
          <p:nvPr/>
        </p:nvSpPr>
        <p:spPr>
          <a:xfrm>
            <a:off x="495300" y="6505575"/>
            <a:ext cx="990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975" dirty="0">
                <a:solidFill>
                  <a:srgbClr val="6070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学术研究汇报</a:t>
            </a:r>
            <a:endParaRPr lang="zh-CN" sz="975" dirty="0"/>
          </a:p>
        </p:txBody>
      </p:sp>
      <p:sp>
        <p:nvSpPr>
          <p:cNvPr id="4" name="S08/page-number"/>
          <p:cNvSpPr/>
          <p:nvPr/>
        </p:nvSpPr>
        <p:spPr>
          <a:xfrm>
            <a:off x="10706100" y="6477000"/>
            <a:ext cx="9906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ct val="128000"/>
              </a:lnSpc>
              <a:buNone/>
            </a:pPr>
            <a:r>
              <a:rPr lang="zh-CN" altLang="en-US" sz="1125" dirty="0">
                <a:solidFill>
                  <a:srgbClr val="6070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08 / 09</a:t>
            </a:r>
            <a:endParaRPr lang="zh-CN" sz="1125" dirty="0"/>
          </a:p>
        </p:txBody>
      </p:sp>
      <p:sp>
        <p:nvSpPr>
          <p:cNvPr id="5" name="S08/kicker"/>
          <p:cNvSpPr/>
          <p:nvPr/>
        </p:nvSpPr>
        <p:spPr>
          <a:xfrm>
            <a:off x="495300" y="285750"/>
            <a:ext cx="10858500" cy="2381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125" b="1" dirty="0">
                <a:solidFill>
                  <a:srgbClr val="527F7E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研究设计 · 尚未实施</a:t>
            </a:r>
            <a:endParaRPr lang="zh-CN" sz="1125" dirty="0"/>
          </a:p>
        </p:txBody>
      </p:sp>
      <p:sp>
        <p:nvSpPr>
          <p:cNvPr id="6" name="S08/title"/>
          <p:cNvSpPr/>
          <p:nvPr/>
        </p:nvSpPr>
        <p:spPr>
          <a:xfrm>
            <a:off x="495300" y="619125"/>
            <a:ext cx="11201400" cy="9620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zh-CN" altLang="en-US" sz="2775" b="1" dirty="0">
                <a:solidFill>
                  <a:srgbClr val="2436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验证改进时，锁定工具、数据与比较条件</a:t>
            </a:r>
            <a:endParaRPr lang="zh-CN" sz="2775" dirty="0"/>
          </a:p>
        </p:txBody>
      </p:sp>
      <p:sp>
        <p:nvSpPr>
          <p:cNvPr id="7" name="S08/header-rule"/>
          <p:cNvSpPr/>
          <p:nvPr/>
        </p:nvSpPr>
        <p:spPr>
          <a:xfrm>
            <a:off x="495300" y="1562100"/>
            <a:ext cx="11201400" cy="0"/>
          </a:xfrm>
          <a:prstGeom prst="line">
            <a:avLst/>
          </a:prstGeom>
          <a:noFill/>
          <a:ln w="13335">
            <a:solidFill>
              <a:srgbClr val="CFD7DA"/>
            </a:solidFill>
            <a:prstDash val="solid"/>
          </a:ln>
        </p:spPr>
      </p:sp>
      <p:sp>
        <p:nvSpPr>
          <p:cNvPr id="8" name="S08/edge:0"/>
          <p:cNvSpPr/>
          <p:nvPr/>
        </p:nvSpPr>
        <p:spPr>
          <a:xfrm>
            <a:off x="2978944" y="3152775"/>
            <a:ext cx="523875" cy="0"/>
          </a:xfrm>
          <a:prstGeom prst="line">
            <a:avLst/>
          </a:prstGeom>
          <a:noFill/>
          <a:ln w="19050">
            <a:solidFill>
              <a:srgbClr val="527F7E"/>
            </a:solidFill>
            <a:prstDash val="solid"/>
            <a:tailEnd type="triangle"/>
          </a:ln>
        </p:spPr>
      </p:sp>
      <p:sp>
        <p:nvSpPr>
          <p:cNvPr id="9" name="S08/edge:0:label"/>
          <p:cNvSpPr/>
          <p:nvPr/>
        </p:nvSpPr>
        <p:spPr>
          <a:xfrm>
            <a:off x="2593181" y="2781300"/>
            <a:ext cx="1295400" cy="3238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28000"/>
              </a:lnSpc>
              <a:buNone/>
            </a:pPr>
            <a:r>
              <a:rPr lang="zh-CN" altLang="en-US" sz="1050" dirty="0">
                <a:solidFill>
                  <a:srgbClr val="6070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比较</a:t>
            </a:r>
            <a:endParaRPr lang="zh-CN" sz="1050" dirty="0"/>
          </a:p>
        </p:txBody>
      </p:sp>
      <p:sp>
        <p:nvSpPr>
          <p:cNvPr id="10" name="S08/edge:1"/>
          <p:cNvSpPr/>
          <p:nvPr/>
        </p:nvSpPr>
        <p:spPr>
          <a:xfrm>
            <a:off x="5834063" y="3152775"/>
            <a:ext cx="523875" cy="0"/>
          </a:xfrm>
          <a:prstGeom prst="line">
            <a:avLst/>
          </a:prstGeom>
          <a:noFill/>
          <a:ln w="19050">
            <a:solidFill>
              <a:srgbClr val="527F7E"/>
            </a:solidFill>
            <a:prstDash val="solid"/>
            <a:tailEnd type="triangle"/>
          </a:ln>
        </p:spPr>
      </p:sp>
      <p:sp>
        <p:nvSpPr>
          <p:cNvPr id="11" name="S08/edge:1:label"/>
          <p:cNvSpPr/>
          <p:nvPr/>
        </p:nvSpPr>
        <p:spPr>
          <a:xfrm>
            <a:off x="5448300" y="2781300"/>
            <a:ext cx="1295400" cy="3238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28000"/>
              </a:lnSpc>
              <a:buNone/>
            </a:pPr>
            <a:r>
              <a:rPr lang="zh-CN" altLang="en-US" sz="1050" dirty="0">
                <a:solidFill>
                  <a:srgbClr val="6070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核查</a:t>
            </a:r>
            <a:endParaRPr lang="zh-CN" sz="1050" dirty="0"/>
          </a:p>
        </p:txBody>
      </p:sp>
      <p:sp>
        <p:nvSpPr>
          <p:cNvPr id="12" name="S08/edge:2"/>
          <p:cNvSpPr/>
          <p:nvPr/>
        </p:nvSpPr>
        <p:spPr>
          <a:xfrm>
            <a:off x="8689181" y="3152775"/>
            <a:ext cx="523875" cy="0"/>
          </a:xfrm>
          <a:prstGeom prst="line">
            <a:avLst/>
          </a:prstGeom>
          <a:noFill/>
          <a:ln w="19050">
            <a:solidFill>
              <a:srgbClr val="527F7E"/>
            </a:solidFill>
            <a:prstDash val="solid"/>
            <a:tailEnd type="triangle"/>
          </a:ln>
        </p:spPr>
      </p:sp>
      <p:sp>
        <p:nvSpPr>
          <p:cNvPr id="13" name="S08/edge:2:label"/>
          <p:cNvSpPr/>
          <p:nvPr/>
        </p:nvSpPr>
        <p:spPr>
          <a:xfrm>
            <a:off x="8303419" y="2781300"/>
            <a:ext cx="1295400" cy="3238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28000"/>
              </a:lnSpc>
              <a:buNone/>
            </a:pPr>
            <a:r>
              <a:rPr lang="zh-CN" altLang="en-US" sz="1050" dirty="0">
                <a:solidFill>
                  <a:srgbClr val="6070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计量</a:t>
            </a:r>
            <a:endParaRPr lang="zh-CN" sz="1050" dirty="0"/>
          </a:p>
        </p:txBody>
      </p:sp>
      <p:sp>
        <p:nvSpPr>
          <p:cNvPr id="14" name="S08/node:tasks:frame"/>
          <p:cNvSpPr/>
          <p:nvPr/>
        </p:nvSpPr>
        <p:spPr>
          <a:xfrm>
            <a:off x="647700" y="1943100"/>
            <a:ext cx="2331244" cy="2419350"/>
          </a:xfrm>
          <a:prstGeom prst="rect">
            <a:avLst/>
          </a:prstGeom>
          <a:solidFill>
            <a:srgbClr val="E6EDEA"/>
          </a:solidFill>
          <a:ln w="14288">
            <a:solidFill>
              <a:srgbClr val="527F7E"/>
            </a:solidFill>
            <a:prstDash val="solid"/>
          </a:ln>
        </p:spPr>
      </p:sp>
      <p:sp>
        <p:nvSpPr>
          <p:cNvPr id="15" name="S08/node:tasks:label"/>
          <p:cNvSpPr/>
          <p:nvPr/>
        </p:nvSpPr>
        <p:spPr>
          <a:xfrm>
            <a:off x="819150" y="2085975"/>
            <a:ext cx="1988344" cy="10161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zh-CN" altLang="en-US" sz="2025" b="1" dirty="0">
                <a:solidFill>
                  <a:srgbClr val="2436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同一任务集</a:t>
            </a:r>
            <a:endParaRPr lang="zh-CN" sz="2025" dirty="0"/>
          </a:p>
        </p:txBody>
      </p:sp>
      <p:sp>
        <p:nvSpPr>
          <p:cNvPr id="16" name="S08/node:tasks:detail"/>
          <p:cNvSpPr/>
          <p:nvPr/>
        </p:nvSpPr>
        <p:spPr>
          <a:xfrm>
            <a:off x="819150" y="3249549"/>
            <a:ext cx="1988344" cy="8724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zh-CN" altLang="en-US" sz="1425" dirty="0">
                <a:solidFill>
                  <a:srgbClr val="6070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预先固定数据</a:t>
            </a:r>
            <a:endParaRPr lang="zh-CN" sz="1425" dirty="0"/>
          </a:p>
          <a:p>
            <a:pPr algn="ctr" indent="0" marL="0">
              <a:lnSpc>
                <a:spcPct val="122000"/>
              </a:lnSpc>
              <a:buNone/>
            </a:pPr>
            <a:r>
              <a:rPr lang="zh-CN" altLang="en-US" sz="1425" dirty="0">
                <a:solidFill>
                  <a:srgbClr val="6070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与关键错误判据</a:t>
            </a:r>
            <a:endParaRPr lang="zh-CN" sz="1425" dirty="0"/>
          </a:p>
        </p:txBody>
      </p:sp>
      <p:sp>
        <p:nvSpPr>
          <p:cNvPr id="17" name="S08/node:arms:frame"/>
          <p:cNvSpPr/>
          <p:nvPr/>
        </p:nvSpPr>
        <p:spPr>
          <a:xfrm>
            <a:off x="3502819" y="1943100"/>
            <a:ext cx="2331244" cy="2419350"/>
          </a:xfrm>
          <a:prstGeom prst="rect">
            <a:avLst/>
          </a:prstGeom>
          <a:solidFill>
            <a:srgbClr val="FFFFFF"/>
          </a:solidFill>
          <a:ln w="14288">
            <a:solidFill>
              <a:srgbClr val="CFD7DA"/>
            </a:solidFill>
            <a:prstDash val="solid"/>
          </a:ln>
        </p:spPr>
      </p:sp>
      <p:sp>
        <p:nvSpPr>
          <p:cNvPr id="18" name="S08/node:arms:label"/>
          <p:cNvSpPr/>
          <p:nvPr/>
        </p:nvSpPr>
        <p:spPr>
          <a:xfrm>
            <a:off x="3674269" y="2085975"/>
            <a:ext cx="1988344" cy="10161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zh-CN" altLang="en-US" sz="2025" b="1" dirty="0">
                <a:solidFill>
                  <a:srgbClr val="2436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两种编排方式</a:t>
            </a:r>
            <a:endParaRPr lang="zh-CN" sz="2025" dirty="0"/>
          </a:p>
        </p:txBody>
      </p:sp>
      <p:sp>
        <p:nvSpPr>
          <p:cNvPr id="19" name="S08/node:arms:detail"/>
          <p:cNvSpPr/>
          <p:nvPr/>
        </p:nvSpPr>
        <p:spPr>
          <a:xfrm>
            <a:off x="3674269" y="3249549"/>
            <a:ext cx="1988344" cy="8724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zh-CN" altLang="en-US" sz="1425" dirty="0">
                <a:solidFill>
                  <a:srgbClr val="6070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固定工作流</a:t>
            </a:r>
            <a:endParaRPr lang="zh-CN" sz="1425" dirty="0"/>
          </a:p>
          <a:p>
            <a:pPr algn="ctr" indent="0" marL="0">
              <a:lnSpc>
                <a:spcPct val="122000"/>
              </a:lnSpc>
              <a:buNone/>
            </a:pPr>
            <a:r>
              <a:rPr lang="zh-CN" altLang="en-US" sz="1425" dirty="0">
                <a:solidFill>
                  <a:srgbClr val="6070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manager 工具编排</a:t>
            </a:r>
            <a:endParaRPr lang="zh-CN" sz="1425" dirty="0"/>
          </a:p>
        </p:txBody>
      </p:sp>
      <p:sp>
        <p:nvSpPr>
          <p:cNvPr id="20" name="S08/node:verify:frame"/>
          <p:cNvSpPr/>
          <p:nvPr/>
        </p:nvSpPr>
        <p:spPr>
          <a:xfrm>
            <a:off x="6357938" y="1943100"/>
            <a:ext cx="2331244" cy="2419350"/>
          </a:xfrm>
          <a:prstGeom prst="rect">
            <a:avLst/>
          </a:prstGeom>
          <a:solidFill>
            <a:srgbClr val="FFFFFF"/>
          </a:solidFill>
          <a:ln w="14288">
            <a:solidFill>
              <a:srgbClr val="CFD7DA"/>
            </a:solidFill>
            <a:prstDash val="solid"/>
          </a:ln>
        </p:spPr>
      </p:sp>
      <p:sp>
        <p:nvSpPr>
          <p:cNvPr id="21" name="S08/node:verify:label"/>
          <p:cNvSpPr/>
          <p:nvPr/>
        </p:nvSpPr>
        <p:spPr>
          <a:xfrm>
            <a:off x="6529388" y="2085975"/>
            <a:ext cx="1988344" cy="10161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zh-CN" altLang="en-US" sz="2025" b="1" dirty="0">
                <a:solidFill>
                  <a:srgbClr val="2436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一致核查规则</a:t>
            </a:r>
            <a:endParaRPr lang="zh-CN" sz="2025" dirty="0"/>
          </a:p>
        </p:txBody>
      </p:sp>
      <p:sp>
        <p:nvSpPr>
          <p:cNvPr id="22" name="S08/node:verify:detail"/>
          <p:cNvSpPr/>
          <p:nvPr/>
        </p:nvSpPr>
        <p:spPr>
          <a:xfrm>
            <a:off x="6529388" y="3249549"/>
            <a:ext cx="1988344" cy="8724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zh-CN" altLang="en-US" sz="1425" dirty="0">
                <a:solidFill>
                  <a:srgbClr val="6070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隐藏设置标签</a:t>
            </a:r>
            <a:endParaRPr lang="zh-CN" sz="1425" dirty="0"/>
          </a:p>
          <a:p>
            <a:pPr algn="ctr" indent="0" marL="0">
              <a:lnSpc>
                <a:spcPct val="122000"/>
              </a:lnSpc>
              <a:buNone/>
            </a:pPr>
            <a:r>
              <a:rPr lang="zh-CN" altLang="en-US" sz="1425" dirty="0">
                <a:solidFill>
                  <a:srgbClr val="6070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核对可追溯结果</a:t>
            </a:r>
            <a:endParaRPr lang="zh-CN" sz="1425" dirty="0"/>
          </a:p>
        </p:txBody>
      </p:sp>
      <p:sp>
        <p:nvSpPr>
          <p:cNvPr id="23" name="S08/node:measure:frame"/>
          <p:cNvSpPr/>
          <p:nvPr/>
        </p:nvSpPr>
        <p:spPr>
          <a:xfrm>
            <a:off x="9213056" y="1943100"/>
            <a:ext cx="2331244" cy="2419350"/>
          </a:xfrm>
          <a:prstGeom prst="rect">
            <a:avLst/>
          </a:prstGeom>
          <a:solidFill>
            <a:srgbClr val="FFFFFF"/>
          </a:solidFill>
          <a:ln w="14288">
            <a:solidFill>
              <a:srgbClr val="CFD7DA"/>
            </a:solidFill>
            <a:prstDash val="solid"/>
          </a:ln>
        </p:spPr>
      </p:sp>
      <p:sp>
        <p:nvSpPr>
          <p:cNvPr id="24" name="S08/node:measure:label"/>
          <p:cNvSpPr/>
          <p:nvPr/>
        </p:nvSpPr>
        <p:spPr>
          <a:xfrm>
            <a:off x="9384506" y="2085975"/>
            <a:ext cx="1988344" cy="10161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zh-CN" altLang="en-US" sz="2025" b="1" dirty="0">
                <a:solidFill>
                  <a:srgbClr val="2436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误差与负担</a:t>
            </a:r>
            <a:endParaRPr lang="zh-CN" sz="2025" dirty="0"/>
          </a:p>
        </p:txBody>
      </p:sp>
      <p:sp>
        <p:nvSpPr>
          <p:cNvPr id="25" name="S08/node:measure:detail"/>
          <p:cNvSpPr/>
          <p:nvPr/>
        </p:nvSpPr>
        <p:spPr>
          <a:xfrm>
            <a:off x="9384506" y="3249549"/>
            <a:ext cx="1988344" cy="8724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zh-CN" altLang="en-US" sz="1425" dirty="0">
                <a:solidFill>
                  <a:srgbClr val="6070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关键错误率</a:t>
            </a:r>
            <a:endParaRPr lang="zh-CN" sz="1425" dirty="0"/>
          </a:p>
          <a:p>
            <a:pPr algn="ctr" indent="0" marL="0">
              <a:lnSpc>
                <a:spcPct val="122000"/>
              </a:lnSpc>
              <a:buNone/>
            </a:pPr>
            <a:r>
              <a:rPr lang="zh-CN" altLang="en-US" sz="1425" dirty="0">
                <a:solidFill>
                  <a:srgbClr val="6070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复核比例与耗时</a:t>
            </a:r>
            <a:endParaRPr lang="zh-CN" sz="1425" dirty="0"/>
          </a:p>
        </p:txBody>
      </p:sp>
      <p:sp>
        <p:nvSpPr>
          <p:cNvPr id="26" name="S08/card/fair/frame"/>
          <p:cNvSpPr/>
          <p:nvPr/>
        </p:nvSpPr>
        <p:spPr>
          <a:xfrm>
            <a:off x="495300" y="4819650"/>
            <a:ext cx="5495925" cy="1133475"/>
          </a:xfrm>
          <a:prstGeom prst="rect">
            <a:avLst/>
          </a:prstGeom>
          <a:solidFill>
            <a:srgbClr val="FFFFFF"/>
          </a:solidFill>
          <a:ln w="14288">
            <a:solidFill>
              <a:srgbClr val="315B70"/>
            </a:solidFill>
            <a:prstDash val="solid"/>
          </a:ln>
        </p:spPr>
      </p:sp>
      <p:sp>
        <p:nvSpPr>
          <p:cNvPr id="27" name="S08/card/fair/title-cutout"/>
          <p:cNvSpPr/>
          <p:nvPr/>
        </p:nvSpPr>
        <p:spPr>
          <a:xfrm>
            <a:off x="628650" y="4667250"/>
            <a:ext cx="1085850" cy="323850"/>
          </a:xfrm>
          <a:prstGeom prst="rect">
            <a:avLst/>
          </a:prstGeom>
          <a:solidFill>
            <a:srgbClr val="F5F3E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S08/card/fair/base-rule"/>
          <p:cNvSpPr/>
          <p:nvPr/>
        </p:nvSpPr>
        <p:spPr>
          <a:xfrm>
            <a:off x="685800" y="5800725"/>
            <a:ext cx="333375" cy="0"/>
          </a:xfrm>
          <a:prstGeom prst="line">
            <a:avLst/>
          </a:prstGeom>
          <a:noFill/>
          <a:ln w="28575">
            <a:solidFill>
              <a:srgbClr val="315B70"/>
            </a:solidFill>
            <a:prstDash val="solid"/>
          </a:ln>
        </p:spPr>
      </p:sp>
      <p:sp>
        <p:nvSpPr>
          <p:cNvPr id="29" name="S08/card/fair/title"/>
          <p:cNvSpPr/>
          <p:nvPr/>
        </p:nvSpPr>
        <p:spPr>
          <a:xfrm>
            <a:off x="685800" y="4676775"/>
            <a:ext cx="5114925" cy="3619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zh-CN" altLang="en-US" sz="1800" b="1" dirty="0">
                <a:solidFill>
                  <a:srgbClr val="315B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公平比较</a:t>
            </a:r>
            <a:endParaRPr lang="zh-CN" sz="1800" dirty="0"/>
          </a:p>
        </p:txBody>
      </p:sp>
      <p:sp>
        <p:nvSpPr>
          <p:cNvPr id="30" name="S08/card/fair/body"/>
          <p:cNvSpPr/>
          <p:nvPr/>
        </p:nvSpPr>
        <p:spPr>
          <a:xfrm>
            <a:off x="685800" y="5210175"/>
            <a:ext cx="5114925" cy="552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2000"/>
              </a:lnSpc>
              <a:buNone/>
            </a:pPr>
            <a:r>
              <a:rPr lang="zh-CN" altLang="en-US" sz="1650" dirty="0">
                <a:solidFill>
                  <a:srgbClr val="2436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同工具、同数据、同信息与预算。</a:t>
            </a:r>
            <a:endParaRPr lang="zh-CN" sz="1650" dirty="0"/>
          </a:p>
        </p:txBody>
      </p:sp>
      <p:sp>
        <p:nvSpPr>
          <p:cNvPr id="31" name="S08/card/pending/shadow"/>
          <p:cNvSpPr/>
          <p:nvPr/>
        </p:nvSpPr>
        <p:spPr>
          <a:xfrm>
            <a:off x="6238875" y="4695825"/>
            <a:ext cx="5457825" cy="1257300"/>
          </a:xfrm>
          <a:prstGeom prst="rect">
            <a:avLst/>
          </a:prstGeom>
          <a:solidFill>
            <a:srgbClr val="D9E0E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S08/card/pending/frame"/>
          <p:cNvSpPr/>
          <p:nvPr/>
        </p:nvSpPr>
        <p:spPr>
          <a:xfrm>
            <a:off x="6200775" y="4657725"/>
            <a:ext cx="5457825" cy="1257300"/>
          </a:xfrm>
          <a:prstGeom prst="rect">
            <a:avLst/>
          </a:prstGeom>
          <a:solidFill>
            <a:srgbClr val="FFFFFF"/>
          </a:solidFill>
          <a:ln w="9525">
            <a:solidFill>
              <a:srgbClr val="CFD7DA"/>
            </a:solidFill>
            <a:prstDash val="solid"/>
          </a:ln>
        </p:spPr>
      </p:sp>
      <p:sp>
        <p:nvSpPr>
          <p:cNvPr id="33" name="S08/card/pending/top-accent"/>
          <p:cNvSpPr/>
          <p:nvPr/>
        </p:nvSpPr>
        <p:spPr>
          <a:xfrm>
            <a:off x="6391275" y="4772025"/>
            <a:ext cx="400050" cy="0"/>
          </a:xfrm>
          <a:prstGeom prst="line">
            <a:avLst/>
          </a:prstGeom>
          <a:noFill/>
          <a:ln w="28575">
            <a:solidFill>
              <a:srgbClr val="527F7E"/>
            </a:solidFill>
            <a:prstDash val="solid"/>
          </a:ln>
        </p:spPr>
      </p:sp>
      <p:sp>
        <p:nvSpPr>
          <p:cNvPr id="34" name="S08/card/pending/title"/>
          <p:cNvSpPr/>
          <p:nvPr/>
        </p:nvSpPr>
        <p:spPr>
          <a:xfrm>
            <a:off x="6391275" y="4857750"/>
            <a:ext cx="5114925" cy="3619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zh-CN" altLang="en-US" sz="1800" b="1" dirty="0">
                <a:solidFill>
                  <a:srgbClr val="527F7E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结果状态</a:t>
            </a:r>
            <a:endParaRPr lang="zh-CN" sz="1800" dirty="0"/>
          </a:p>
        </p:txBody>
      </p:sp>
      <p:sp>
        <p:nvSpPr>
          <p:cNvPr id="35" name="S08/card/pending/body"/>
          <p:cNvSpPr/>
          <p:nvPr/>
        </p:nvSpPr>
        <p:spPr>
          <a:xfrm>
            <a:off x="6391275" y="5324475"/>
            <a:ext cx="5114925" cy="4381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2000"/>
              </a:lnSpc>
              <a:buNone/>
            </a:pPr>
            <a:r>
              <a:rPr lang="zh-CN" altLang="en-US" sz="1650" dirty="0">
                <a:solidFill>
                  <a:srgbClr val="2436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尚未实施；先注册判据，再报告结果。</a:t>
            </a:r>
            <a:endParaRPr lang="zh-CN" sz="1650" dirty="0"/>
          </a:p>
        </p:txBody>
      </p:sp>
      <p:sp>
        <p:nvSpPr>
          <p:cNvPr id="36" name="S08/sources"/>
          <p:cNvSpPr/>
          <p:nvPr/>
        </p:nvSpPr>
        <p:spPr>
          <a:xfrm>
            <a:off x="495300" y="6143625"/>
            <a:ext cx="11201400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zh-CN" altLang="en-US" sz="900" dirty="0">
                <a:solidFill>
                  <a:srgbClr val="6070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P1 · 2026 · 10.1038/s41467-026-71090-y</a:t>
            </a:r>
            <a:endParaRPr lang="zh-CN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09/top-rule"/>
          <p:cNvSpPr/>
          <p:nvPr/>
        </p:nvSpPr>
        <p:spPr>
          <a:xfrm>
            <a:off x="0" y="0"/>
            <a:ext cx="12192000" cy="66675"/>
          </a:xfrm>
          <a:prstGeom prst="rect">
            <a:avLst/>
          </a:prstGeom>
          <a:solidFill>
            <a:srgbClr val="315B7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09/footer-label"/>
          <p:cNvSpPr/>
          <p:nvPr/>
        </p:nvSpPr>
        <p:spPr>
          <a:xfrm>
            <a:off x="495300" y="6505575"/>
            <a:ext cx="990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975" dirty="0">
                <a:solidFill>
                  <a:srgbClr val="6070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学术研究汇报</a:t>
            </a:r>
            <a:endParaRPr lang="zh-CN" sz="975" dirty="0"/>
          </a:p>
        </p:txBody>
      </p:sp>
      <p:sp>
        <p:nvSpPr>
          <p:cNvPr id="4" name="S09/page-number"/>
          <p:cNvSpPr/>
          <p:nvPr/>
        </p:nvSpPr>
        <p:spPr>
          <a:xfrm>
            <a:off x="10706100" y="6477000"/>
            <a:ext cx="9906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ct val="128000"/>
              </a:lnSpc>
              <a:buNone/>
            </a:pPr>
            <a:r>
              <a:rPr lang="zh-CN" altLang="en-US" sz="1125" dirty="0">
                <a:solidFill>
                  <a:srgbClr val="6070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09 / 09</a:t>
            </a:r>
            <a:endParaRPr lang="zh-CN" sz="1125" dirty="0"/>
          </a:p>
        </p:txBody>
      </p:sp>
      <p:sp>
        <p:nvSpPr>
          <p:cNvPr id="5" name="S09/kicker"/>
          <p:cNvSpPr/>
          <p:nvPr/>
        </p:nvSpPr>
        <p:spPr>
          <a:xfrm>
            <a:off x="495300" y="285750"/>
            <a:ext cx="10858500" cy="2381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125" b="1" dirty="0">
                <a:solidFill>
                  <a:srgbClr val="527F7E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参考文献 · 来源与版本</a:t>
            </a:r>
            <a:endParaRPr lang="zh-CN" sz="1125" dirty="0"/>
          </a:p>
        </p:txBody>
      </p:sp>
      <p:sp>
        <p:nvSpPr>
          <p:cNvPr id="6" name="S09/title"/>
          <p:cNvSpPr/>
          <p:nvPr/>
        </p:nvSpPr>
        <p:spPr>
          <a:xfrm>
            <a:off x="495300" y="619125"/>
            <a:ext cx="11201400" cy="9620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zh-CN" altLang="en-US" sz="2775" b="1" dirty="0">
                <a:solidFill>
                  <a:srgbClr val="2436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证据支持到哪里，结论就写到哪里</a:t>
            </a:r>
            <a:endParaRPr lang="zh-CN" sz="2775" dirty="0"/>
          </a:p>
        </p:txBody>
      </p:sp>
      <p:sp>
        <p:nvSpPr>
          <p:cNvPr id="7" name="S09/header-rule"/>
          <p:cNvSpPr/>
          <p:nvPr/>
        </p:nvSpPr>
        <p:spPr>
          <a:xfrm>
            <a:off x="495300" y="1562100"/>
            <a:ext cx="11201400" cy="0"/>
          </a:xfrm>
          <a:prstGeom prst="line">
            <a:avLst/>
          </a:prstGeom>
          <a:noFill/>
          <a:ln w="13335">
            <a:solidFill>
              <a:srgbClr val="CFD7DA"/>
            </a:solidFill>
            <a:prstDash val="solid"/>
          </a:ln>
        </p:spPr>
      </p:sp>
      <p:sp>
        <p:nvSpPr>
          <p:cNvPr id="8" name="S09/ref:P1:id"/>
          <p:cNvSpPr/>
          <p:nvPr/>
        </p:nvSpPr>
        <p:spPr>
          <a:xfrm>
            <a:off x="495300" y="1809750"/>
            <a:ext cx="695325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zh-CN" altLang="en-US" sz="1575" b="1" dirty="0">
                <a:solidFill>
                  <a:srgbClr val="527F7E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P1</a:t>
            </a:r>
            <a:endParaRPr lang="zh-CN" sz="1575" dirty="0"/>
          </a:p>
        </p:txBody>
      </p:sp>
      <p:sp>
        <p:nvSpPr>
          <p:cNvPr id="9" name="S09/ref:P1:title"/>
          <p:cNvSpPr/>
          <p:nvPr/>
        </p:nvSpPr>
        <p:spPr>
          <a:xfrm>
            <a:off x="1314450" y="1781175"/>
            <a:ext cx="10382250" cy="762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zh-CN" altLang="en-US" sz="2100" b="1" dirty="0">
                <a:solidFill>
                  <a:srgbClr val="2436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A conversational multi-agent AI system for automated plant phenotyping</a:t>
            </a:r>
            <a:endParaRPr lang="zh-CN" sz="2100" dirty="0"/>
          </a:p>
        </p:txBody>
      </p:sp>
      <p:sp>
        <p:nvSpPr>
          <p:cNvPr id="10" name="S09/ref:P1:meta"/>
          <p:cNvSpPr/>
          <p:nvPr/>
        </p:nvSpPr>
        <p:spPr>
          <a:xfrm>
            <a:off x="1314450" y="2724150"/>
            <a:ext cx="10382250" cy="7334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zh-CN" altLang="en-US" sz="1350" dirty="0">
                <a:solidFill>
                  <a:srgbClr val="6070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Chen F., Stogiannidis I., Wood A., et al. · Nature Communications 17, 6391 · 2026 · DOI: 10.1038/s41467-026-71090-y ·</a:t>
            </a:r>
            <a:endParaRPr lang="zh-CN" sz="1350" dirty="0"/>
          </a:p>
          <a:p>
            <a:pPr algn="l" indent="0" marL="0">
              <a:lnSpc>
                <a:spcPct val="128000"/>
              </a:lnSpc>
              <a:buNone/>
            </a:pPr>
            <a:r>
              <a:rPr lang="zh-CN" altLang="en-US" sz="1350" dirty="0">
                <a:solidFill>
                  <a:srgbClr val="6070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Version of Record · updated 2026-07-16</a:t>
            </a:r>
            <a:endParaRPr lang="zh-CN" sz="1350" dirty="0"/>
          </a:p>
        </p:txBody>
      </p:sp>
      <p:sp>
        <p:nvSpPr>
          <p:cNvPr id="11" name="S09/ref:P1:detail-rule"/>
          <p:cNvSpPr/>
          <p:nvPr/>
        </p:nvSpPr>
        <p:spPr>
          <a:xfrm>
            <a:off x="1314450" y="3695700"/>
            <a:ext cx="10382250" cy="0"/>
          </a:xfrm>
          <a:prstGeom prst="line">
            <a:avLst/>
          </a:prstGeom>
          <a:noFill/>
          <a:ln w="13335">
            <a:solidFill>
              <a:srgbClr val="CFD7DA"/>
            </a:solidFill>
            <a:prstDash val="solid"/>
          </a:ln>
        </p:spPr>
      </p:sp>
      <p:sp>
        <p:nvSpPr>
          <p:cNvPr id="12" name="S09/ref:P1:url"/>
          <p:cNvSpPr/>
          <p:nvPr/>
        </p:nvSpPr>
        <p:spPr>
          <a:xfrm>
            <a:off x="1314450" y="3886200"/>
            <a:ext cx="1038225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zh-CN" altLang="en-US" sz="1425" dirty="0">
                <a:solidFill>
                  <a:srgbClr val="315B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https://www.nature.com/articles/s41467-026-71090-y</a:t>
            </a:r>
            <a:endParaRPr lang="zh-CN" sz="1425" dirty="0"/>
          </a:p>
        </p:txBody>
      </p:sp>
      <p:sp>
        <p:nvSpPr>
          <p:cNvPr id="13" name="S09/ref:P1:reading"/>
          <p:cNvSpPr/>
          <p:nvPr/>
        </p:nvSpPr>
        <p:spPr>
          <a:xfrm>
            <a:off x="1314450" y="4429125"/>
            <a:ext cx="10382250" cy="5810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zh-CN" altLang="en-US" sz="1500" dirty="0">
                <a:solidFill>
                  <a:srgbClr val="6070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全文阅读：Design · Case studies · Evaluation · Discussion · Methods</a:t>
            </a:r>
            <a:endParaRPr lang="zh-CN" sz="1500" dirty="0"/>
          </a:p>
        </p:txBody>
      </p:sp>
      <p:sp>
        <p:nvSpPr>
          <p:cNvPr id="14" name="S09/ref:P1:assets"/>
          <p:cNvSpPr/>
          <p:nvPr/>
        </p:nvSpPr>
        <p:spPr>
          <a:xfrm>
            <a:off x="1314450" y="5276850"/>
            <a:ext cx="10382250" cy="638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zh-CN" altLang="en-US" sz="1350" dirty="0">
                <a:solidFill>
                  <a:srgbClr val="6070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原图授权：Fig. 3 · CC BY 4.0</a:t>
            </a:r>
            <a:endParaRPr lang="zh-CN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oto Sans CJK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CJK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智能体进入植物表型研究：证据、边界与研究切入口</dc:title>
  <dc:subject>对话式多智能体系统已经能可靠完成哪些植物表型分析任务，怎样把其局限转化为可检验的研究问题？</dc:subject>
  <dc:creator>DSH Academic PPT</dc:creator>
  <cp:lastModifiedBy>DSH Academic PPT</cp:lastModifiedBy>
  <cp:revision>1</cp:revision>
  <dcterms:created xsi:type="dcterms:W3CDTF">2026-10-20T03:01:29Z</dcterms:created>
  <dcterms:modified xsi:type="dcterms:W3CDTF">2026-10-20T03:01:29Z</dcterms:modified>
</cp:coreProperties>
</file>