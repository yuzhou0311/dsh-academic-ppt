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任务数</c:v>
                </c:pt>
              </c:strCache>
            </c:strRef>
          </c:tx>
          <c:spPr>
            <a:solidFill>
              <a:srgbClr val="183B66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71C22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83B6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55C7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正确</c:v>
                  </c:pt>
                  <c:pt idx="1">
                    <c:v>失败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</c:v>
                </c:pt>
                <c:pt idx="1">
                  <c:v>3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71C22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5CFDA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71C22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12700" cap="flat">
              <a:solidFill>
                <a:srgbClr val="C5CF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4F5D6A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4F5D6A"/>
                    </a:solidFill>
                    <a:latin typeface="Noto Sans CJK SC"/>
                  </a:rPr>
                  <a:t>项任务（n = 20）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5CFDA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4F5D6A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今天精读 Chen 等发表于 Nature Communications 的 PhenoAssistant。研究面向一个实际问题：植物图像分析往往需要连续切换模型、表型计算、统计和编程工具。系统让用户用自然语言描述任务，由中央 manager 编排这些专门工具。右侧概括问题、改变与评价范围，左边直接使用论文任务一的原图。汇报先解释系统结构和三个案例，再区分几种评价口径，最后讨论从读图错误出发的可检验方案。这是一篇论文的研究讨论，结论范围限定为表型分析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系统的核心是一个中央 manager，角色分配预先定义。用户提供任务和数据，manager 选工具并组织参数。左路是视觉模型与表型计算，负责把图像转成测量值；中路是统计、表格、绘图和代码代理；右路是文献 RAG。输出可以是 CSV、图、解释或保存的流程。用户仍能调整计划和参数。因而系统评价要区分两个层次：是否选对工具，以及执行后的结果是否正确。图为依据 Design 和 Methods 的概念重绘，未复制含第三方图标的 Figure 1。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第一个案例使用 Phenotiki 数据，关注不同生态型的生长模式。共有二十四株植物、五个生态型，连续二十六天每十二小时采图，总计一千二百四十八幅。这里最重要的是区分植株与观测：同一株在不同时间点重复出现，图像量不能当成独立生物学样本量。Col-0、ctr1、ein2.1 和 pgm 各五株，adh1 四株。后续均值曲线、标准差和重复测量检验都必须依据这个层级理解。这一案例复现既有数据的分析流程，没有设置新的栽培管理干预。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左侧全图定位原文的五项任务，右侧放大任务二的投影叶面积曲线。横轴是播种后天数，纵轴是 PLA，图中单位为平方厘米；每条曲线对应一个生态型，阴影表示标准差。可以看到，随着生长推进，不同生态型的平均曲线分离。这个观察为后面的组间分析提供入口，但阴影是否重叠不能替代正式检验。原图本身是复合图，这里保留完整源文件并只改变显示视窗。下方文字转录轴、图例和误差含义，不重新生成原始曲线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原图任务四进一步说明统计模型。因变量是 PLA，组内因素是播种后天数，组间因素是生态型。系统调用统计工具进行混合设计重复测量 ANOVA，再用 Tukey–Kramer 进行事后比较。结果汇总将 ein2.1 和 Col-0 归为较大，adh1 与 pgm 归为中等，ctr 归为较小，并报告时间与生态型的交互。这个结论针对当前数据及检验设计，同时与既有 Phenotiki 研究对照。统计工具能返回一个结果，并不免除研究者检查模型假设、分组名称和原始数据的责任。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第二个案例研究马铃薯叶片。作者提供三十二幅图像和人工叶面积、干重标注，用 leaf-only SAM 提取投影叶面积。因为 Pearson 相关分析没有预先定义为固定工具，系统让代码代理生成并执行计算。下方是原图结果区域：人工叶面积与干重的相关系数为零点八九一一，PLA 与干重为零点七五七七。后一项提示图像表型与干重存在关联，也暴露测量替代的误差。这里不能把相关系数当作预测准确率，或仅凭两个数的差别宣称显著差异；原图没有给出该差异的正式检验。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案例补充了工具库没有现成模型时的处理方式。任务是从冬小麦田间图像识别营养缺乏。系统先判断这是分类任务，要求带标注的数据，再进行数据预处理、训练或微调、评价，最后把模型保存进模型库。论文支持全量微调和 LoRA 等方式。这展示了工具库的扩展路径，但需要明确：田间采集图像是数据来源，模型训练与验证属于算法评价，不能直接表述为系统已经在田间闭环优化施肥。跨地点、季节和成像条件的独立测试仍是另一层问题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接下来分开看评价对象。表一评价工具链计划：让系统为二十项任务输出工具顺序和参数，由 GPT-4o 依据工具定义评分，评价阶段不执行工具。四个维度是整体链、工具是否存在、工具适用性和参数。增加同样基于 GPT-4o 的 critic 后，报告平均分从四点五五变为四点六六。适用性这一列从四点六五到四点九零。这个比较说明计划的模型评分发生变化，但它不是任务成功率，也没有在这里直接证明执行结果更准确。评判模型与 critic 的关系也是后续独立评价值得考察的条件。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选择还分成两个层次。第一组是五十项任务，考察系统能否选择分割、分类或回归这样的模型类型。第二组是二十项任务，考察具体模型匹配，其中十五项有合适模型，五项没有；系统需要识别没有合适模型的情况。作者报告这两组全部正确。数据分析是另外二十项真实数据任务，只报告十七项正确。所以几种数字不能混成一个总准确率，更不能用路由正确代替最终结果正确。论文还说明评价过程中没有实时人工反馈，事后人工判定与运行时人工帮助需要分清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把数据分析的任务计数单独呈现。与工具链评分不同，这里执行分析并由人检查输出，二十项中十七项正确，三项失败。图是依据原文计数绘制的可编辑数据图，不添加置信区间或未经报告的精度。这个结果支持部分分析任务可由系统完成，也清楚显示剩余错误。分母是任务，不是田间重复试验、植株或农业操作。三项失败集中在细粒度读图，提示下一步可以研究数值核对和适当人工介入，而不必笼统追求更多代理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失败类型看，误差可能发生在表型数据已经生成之后。数据先编码为统计图，图表代理再从图像读取细节，最后形成语言答案。轴、图例和时间点的对应关系在这一步仍可能出错，因此工具调用完成不等于数值解释正确。此处重绘的是依据论文数据链形成的机制分析，没有虚构某项失败的原始回答。一个具体切入口是让关键数字回到 CSV 等结构化源数据，而不是依赖图像估读；同时记录来源与时间点，便于查错。该建议仍要在同等条件下验证。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全文合起来，可以区分几类限制。工具和模型库决定当前支持哪些输入；作者构造的任务集还需要外部任务和重复运行来验证；若要将改进归因于某个编排组件，需要同工具与同预算的消融；若要声称改善栽培，则必须有施肥、灌溉等处理以及实际农艺终点。另一个不可省略的条件是模型版本：官方仓库说明案例和评价采用 Azure 上的 GPT-4o，版本为二零二四年八月六日。这些是原文实验结果，不是 DeepSeek 或这个汇报插件的测试成绩。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据此提出可证伪的假说：当两组能够访问完全相同的源数据、图像和工具，且模型与预算相同，强制核对关键读数能否降低错误。比较同一个 manager 的常规策略和增加核验要求的策略，使用配对留出任务、多次运行及盲评。两组都有 CSV，不能只给干预组额外真值。主要终点是预先定义的关键错误率，同时报告复核比例、耗时和核验调用成本。先做试验估计方差，再确定样本量。如果错误没有下降，或优势只在额外信息、更多预算或更多人工时出现，这个预算受限的假说就不获支持。这是一份待实施的研究设计，没有改善幅度或实验结果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篇论文的进展是把植物专用模型与分析工具组织成可交互、可复用的表型工作流。案例、工具链评分和实际任务正确率提供了不同层次的证据。细粒度读图错误则给出了一个具体研究方向：在共同资源条件下检验可追溯数值核验。参考文献、正式版本、原图授权和官方代码均在这里与配套材料中保留，便于进一步讨论或复现。
论文：Chen F., Stogiannidis I., Wood A., et al. A conversational multi-agent AI system for automated plant phenotyping. Nature Communications 17, 6391 (2026). DOI: 10.1038/s41467-026-71090-y. https://www.nature.com/articles/s41467-026-71090-y
参考文献（完整题名）
P1 · A conversational multi-agent AI system for automated plant phenotyping · Nature Communications 17, 6391 · 2026 · 10.1038/s41467-026-71090-y · Version of Record · 2026-07-16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14</a:t>
            </a:r>
            <a:endParaRPr lang="zh-CN" sz="1050" dirty="0"/>
          </a:p>
        </p:txBody>
      </p:sp>
      <p:sp>
        <p:nvSpPr>
          <p:cNvPr id="4" name="S0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论文精读 · Chen et al., Nature Communications, 2026</a:t>
            </a:r>
            <a:endParaRPr lang="zh-CN" sz="1200" dirty="0"/>
          </a:p>
        </p:txBody>
      </p:sp>
      <p:sp>
        <p:nvSpPr>
          <p:cNvPr id="5" name="S0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PhenoAssistant：对话式植物表型分析</a:t>
            </a:r>
            <a:endParaRPr lang="zh-CN" sz="2550" dirty="0"/>
          </a:p>
        </p:txBody>
      </p:sp>
      <p:sp>
        <p:nvSpPr>
          <p:cNvPr id="6" name="S0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01/panel:0:frame"/>
          <p:cNvSpPr/>
          <p:nvPr/>
        </p:nvSpPr>
        <p:spPr>
          <a:xfrm>
            <a:off x="457200" y="2514600"/>
            <a:ext cx="6496050" cy="352425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8" name="S01/panel:0:heading-fill"/>
          <p:cNvSpPr/>
          <p:nvPr/>
        </p:nvSpPr>
        <p:spPr>
          <a:xfrm>
            <a:off x="466725" y="2524125"/>
            <a:ext cx="6477000" cy="381000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1/panel:0:heading-rule"/>
          <p:cNvSpPr/>
          <p:nvPr/>
        </p:nvSpPr>
        <p:spPr>
          <a:xfrm>
            <a:off x="457200" y="2905125"/>
            <a:ext cx="649605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0" name="S01/panel:0:title"/>
          <p:cNvSpPr/>
          <p:nvPr/>
        </p:nvSpPr>
        <p:spPr>
          <a:xfrm>
            <a:off x="581025" y="2571750"/>
            <a:ext cx="62484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3：表型计算任务（原图局部）</a:t>
            </a:r>
            <a:endParaRPr lang="zh-CN" sz="1800" dirty="0"/>
          </a:p>
        </p:txBody>
      </p:sp>
      <p:sp>
        <p:nvSpPr>
          <p:cNvPr id="11" name="S01/paper-title"/>
          <p:cNvSpPr/>
          <p:nvPr/>
        </p:nvSpPr>
        <p:spPr>
          <a:xfrm>
            <a:off x="457200" y="1219200"/>
            <a:ext cx="11277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conversational multi-agent AI system for automated plant phenotyping</a:t>
            </a:r>
            <a:endParaRPr lang="zh-CN" sz="1875" dirty="0"/>
          </a:p>
        </p:txBody>
      </p:sp>
      <p:sp>
        <p:nvSpPr>
          <p:cNvPr id="12" name="S01/paper-bibliography"/>
          <p:cNvSpPr/>
          <p:nvPr/>
        </p:nvSpPr>
        <p:spPr>
          <a:xfrm>
            <a:off x="457200" y="1562100"/>
            <a:ext cx="112776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Chen F., Stogiannidis I., Wood A., et al. · Nature Communications 17, 6391 · 2026 · DOI: 10.1038/s41467-026-71090-y</a:t>
            </a:r>
            <a:endParaRPr lang="zh-CN" sz="1275" dirty="0"/>
          </a:p>
        </p:txBody>
      </p:sp>
      <p:sp>
        <p:nvSpPr>
          <p:cNvPr id="13" name="S01/figure:0:paper"/>
          <p:cNvSpPr/>
          <p:nvPr/>
        </p:nvSpPr>
        <p:spPr>
          <a:xfrm>
            <a:off x="590550" y="2971800"/>
            <a:ext cx="6229350" cy="29146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S01/figure:0:image" descr="P1 · Fig. 3 · 任务1 · Chen et al., 2026 · CC BY 4.0">    </p:cNvPr>
          <p:cNvPicPr>
            <a:picLocks noChangeAspect="1"/>
          </p:cNvPicPr>
          <p:nvPr/>
        </p:nvPicPr>
        <p:blipFill>
          <a:blip r:embed="rId1"/>
          <a:srcRect l="0" r="0" t="0" b="69517"/>
          <a:stretch/>
        </p:blipFill>
        <p:spPr>
          <a:xfrm>
            <a:off x="1258491" y="2971800"/>
            <a:ext cx="4893469" cy="2571750"/>
          </a:xfrm>
          <a:prstGeom prst="rect">
            <a:avLst/>
          </a:prstGeom>
        </p:spPr>
      </p:pic>
      <p:sp>
        <p:nvSpPr>
          <p:cNvPr id="15" name="S01/figure:0:caption"/>
          <p:cNvSpPr/>
          <p:nvPr/>
        </p:nvSpPr>
        <p:spPr>
          <a:xfrm>
            <a:off x="590550" y="5629275"/>
            <a:ext cx="62293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Fig. 3 · 任务1 · Chen et al., 2026 · CC BY 4.0</a:t>
            </a:r>
            <a:endParaRPr lang="zh-CN" sz="1350" dirty="0"/>
          </a:p>
        </p:txBody>
      </p:sp>
      <p:sp>
        <p:nvSpPr>
          <p:cNvPr id="16" name="S01/card/question/base-rule"/>
          <p:cNvSpPr/>
          <p:nvPr/>
        </p:nvSpPr>
        <p:spPr>
          <a:xfrm>
            <a:off x="7200900" y="3638550"/>
            <a:ext cx="453390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17" name="S01/card/question/side-mark"/>
          <p:cNvSpPr/>
          <p:nvPr/>
        </p:nvSpPr>
        <p:spPr>
          <a:xfrm>
            <a:off x="7200900" y="253365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1/card/question/title"/>
          <p:cNvSpPr/>
          <p:nvPr/>
        </p:nvSpPr>
        <p:spPr>
          <a:xfrm>
            <a:off x="7353300" y="2533650"/>
            <a:ext cx="4381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zh-CN" sz="1800" dirty="0"/>
          </a:p>
        </p:txBody>
      </p:sp>
      <p:sp>
        <p:nvSpPr>
          <p:cNvPr id="19" name="S01/card/question/body"/>
          <p:cNvSpPr/>
          <p:nvPr/>
        </p:nvSpPr>
        <p:spPr>
          <a:xfrm>
            <a:off x="7353300" y="2952750"/>
            <a:ext cx="438150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视觉、统计与编程工具彼此分散，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连续分析需要串联多个步骤。</a:t>
            </a:r>
            <a:endParaRPr lang="zh-CN" sz="1725" dirty="0"/>
          </a:p>
        </p:txBody>
      </p:sp>
      <p:sp>
        <p:nvSpPr>
          <p:cNvPr id="20" name="S01/card/change/title"/>
          <p:cNvSpPr/>
          <p:nvPr/>
        </p:nvSpPr>
        <p:spPr>
          <a:xfrm>
            <a:off x="7200900" y="3771900"/>
            <a:ext cx="4533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系统改变</a:t>
            </a:r>
            <a:endParaRPr lang="zh-CN" sz="1875" dirty="0"/>
          </a:p>
        </p:txBody>
      </p:sp>
      <p:sp>
        <p:nvSpPr>
          <p:cNvPr id="21" name="S01/card/change/body"/>
          <p:cNvSpPr/>
          <p:nvPr/>
        </p:nvSpPr>
        <p:spPr>
          <a:xfrm>
            <a:off x="7200900" y="4152900"/>
            <a:ext cx="453390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Manager 串联专用工具，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保存可重复执行的流程。</a:t>
            </a:r>
            <a:endParaRPr lang="zh-CN" sz="1725" dirty="0"/>
          </a:p>
        </p:txBody>
      </p:sp>
      <p:sp>
        <p:nvSpPr>
          <p:cNvPr id="22" name="S01/card/scope/heading-rule"/>
          <p:cNvSpPr/>
          <p:nvPr/>
        </p:nvSpPr>
        <p:spPr>
          <a:xfrm>
            <a:off x="7200900" y="5295900"/>
            <a:ext cx="45339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23" name="S01/card/scope/heading-mark"/>
          <p:cNvSpPr/>
          <p:nvPr/>
        </p:nvSpPr>
        <p:spPr>
          <a:xfrm>
            <a:off x="7200900" y="5295900"/>
            <a:ext cx="342900" cy="0"/>
          </a:xfrm>
          <a:prstGeom prst="line">
            <a:avLst/>
          </a:prstGeom>
          <a:noFill/>
          <a:ln w="17145">
            <a:solidFill>
              <a:srgbClr val="183B66"/>
            </a:solidFill>
            <a:prstDash val="solid"/>
          </a:ln>
        </p:spPr>
      </p:sp>
      <p:sp>
        <p:nvSpPr>
          <p:cNvPr id="24" name="S01/card/scope/title"/>
          <p:cNvSpPr/>
          <p:nvPr/>
        </p:nvSpPr>
        <p:spPr>
          <a:xfrm>
            <a:off x="7200900" y="4953000"/>
            <a:ext cx="4533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评价范围</a:t>
            </a:r>
            <a:endParaRPr lang="zh-CN" sz="1875" dirty="0"/>
          </a:p>
        </p:txBody>
      </p:sp>
      <p:sp>
        <p:nvSpPr>
          <p:cNvPr id="25" name="S01/card/scope/body"/>
          <p:cNvSpPr/>
          <p:nvPr/>
        </p:nvSpPr>
        <p:spPr>
          <a:xfrm>
            <a:off x="7200900" y="5429250"/>
            <a:ext cx="45339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三类植物案例；另设工具选择、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模型选择与数据分析任务评价。</a:t>
            </a:r>
            <a:endParaRPr lang="zh-CN" sz="1800" dirty="0"/>
          </a:p>
        </p:txBody>
      </p:sp>
      <p:sp>
        <p:nvSpPr>
          <p:cNvPr id="26" name="S0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14</a:t>
            </a:r>
            <a:endParaRPr lang="zh-CN" sz="1050" dirty="0"/>
          </a:p>
        </p:txBody>
      </p:sp>
      <p:sp>
        <p:nvSpPr>
          <p:cNvPr id="4" name="S0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系统设计 · Design / Methods</a:t>
            </a:r>
            <a:endParaRPr lang="zh-CN" sz="1200" dirty="0"/>
          </a:p>
        </p:txBody>
      </p:sp>
      <p:sp>
        <p:nvSpPr>
          <p:cNvPr id="5" name="S0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Manager 的规划与专用工具的计算分工</a:t>
            </a:r>
            <a:endParaRPr lang="zh-CN" sz="2550" dirty="0"/>
          </a:p>
        </p:txBody>
      </p:sp>
      <p:sp>
        <p:nvSpPr>
          <p:cNvPr id="6" name="S0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02/panel:0:frame"/>
          <p:cNvSpPr/>
          <p:nvPr/>
        </p:nvSpPr>
        <p:spPr>
          <a:xfrm>
            <a:off x="457200" y="1428750"/>
            <a:ext cx="7905750" cy="46101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8" name="S02/panel:0:tab"/>
          <p:cNvSpPr/>
          <p:nvPr/>
        </p:nvSpPr>
        <p:spPr>
          <a:xfrm>
            <a:off x="571500" y="1314450"/>
            <a:ext cx="2095500" cy="3238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2/panel:0:title"/>
          <p:cNvSpPr/>
          <p:nvPr/>
        </p:nvSpPr>
        <p:spPr>
          <a:xfrm>
            <a:off x="676275" y="1343025"/>
            <a:ext cx="18859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任务、工具与输出</a:t>
            </a:r>
            <a:endParaRPr lang="zh-CN" sz="1800" dirty="0"/>
          </a:p>
        </p:txBody>
      </p:sp>
      <p:sp>
        <p:nvSpPr>
          <p:cNvPr id="10" name="S02/edge:0:segment:0"/>
          <p:cNvSpPr/>
          <p:nvPr/>
        </p:nvSpPr>
        <p:spPr>
          <a:xfrm>
            <a:off x="4324350" y="2552700"/>
            <a:ext cx="0" cy="36195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1" name="S02/edge:0:segment:1"/>
          <p:cNvSpPr/>
          <p:nvPr/>
        </p:nvSpPr>
        <p:spPr>
          <a:xfrm flipH="1">
            <a:off x="1704975" y="2914650"/>
            <a:ext cx="261937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2" name="S02/edge:0:segment:2"/>
          <p:cNvSpPr/>
          <p:nvPr/>
        </p:nvSpPr>
        <p:spPr>
          <a:xfrm>
            <a:off x="1704975" y="2914650"/>
            <a:ext cx="0" cy="36195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3" name="S02/edge:0:label"/>
          <p:cNvSpPr/>
          <p:nvPr/>
        </p:nvSpPr>
        <p:spPr>
          <a:xfrm>
            <a:off x="2633663" y="268605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模型选择</a:t>
            </a:r>
            <a:endParaRPr lang="zh-CN" sz="1275" dirty="0"/>
          </a:p>
        </p:txBody>
      </p:sp>
      <p:sp>
        <p:nvSpPr>
          <p:cNvPr id="14" name="S02/edge:1:segment:0"/>
          <p:cNvSpPr/>
          <p:nvPr/>
        </p:nvSpPr>
        <p:spPr>
          <a:xfrm>
            <a:off x="4324350" y="2552700"/>
            <a:ext cx="0" cy="36195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5" name="S02/edge:1:segment:1"/>
          <p:cNvSpPr/>
          <p:nvPr/>
        </p:nvSpPr>
        <p:spPr>
          <a:xfrm>
            <a:off x="4324350" y="2914650"/>
            <a:ext cx="1619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6" name="S02/edge:1:segment:2"/>
          <p:cNvSpPr/>
          <p:nvPr/>
        </p:nvSpPr>
        <p:spPr>
          <a:xfrm>
            <a:off x="4486275" y="2914650"/>
            <a:ext cx="0" cy="36195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7" name="S02/edge:1:label"/>
          <p:cNvSpPr/>
          <p:nvPr/>
        </p:nvSpPr>
        <p:spPr>
          <a:xfrm>
            <a:off x="4024313" y="268605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分析计划</a:t>
            </a:r>
            <a:endParaRPr lang="zh-CN" sz="1275" dirty="0"/>
          </a:p>
        </p:txBody>
      </p:sp>
      <p:sp>
        <p:nvSpPr>
          <p:cNvPr id="18" name="S02/edge:2:segment:0"/>
          <p:cNvSpPr/>
          <p:nvPr/>
        </p:nvSpPr>
        <p:spPr>
          <a:xfrm>
            <a:off x="5600700" y="2181225"/>
            <a:ext cx="2762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9" name="S02/edge:2:segment:1"/>
          <p:cNvSpPr/>
          <p:nvPr/>
        </p:nvSpPr>
        <p:spPr>
          <a:xfrm>
            <a:off x="5876925" y="2181225"/>
            <a:ext cx="0" cy="161925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20" name="S02/edge:2:segment:2"/>
          <p:cNvSpPr/>
          <p:nvPr/>
        </p:nvSpPr>
        <p:spPr>
          <a:xfrm>
            <a:off x="5876925" y="3800475"/>
            <a:ext cx="2762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21" name="S02/edge:2:label"/>
          <p:cNvSpPr/>
          <p:nvPr/>
        </p:nvSpPr>
        <p:spPr>
          <a:xfrm>
            <a:off x="5495925" y="276225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检索问题</a:t>
            </a:r>
            <a:endParaRPr lang="zh-CN" sz="1275" dirty="0"/>
          </a:p>
        </p:txBody>
      </p:sp>
      <p:sp>
        <p:nvSpPr>
          <p:cNvPr id="22" name="S02/edge:3:segment:0"/>
          <p:cNvSpPr/>
          <p:nvPr/>
        </p:nvSpPr>
        <p:spPr>
          <a:xfrm>
            <a:off x="2800350" y="3800475"/>
            <a:ext cx="1238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23" name="S02/edge:3:segment:1"/>
          <p:cNvSpPr/>
          <p:nvPr/>
        </p:nvSpPr>
        <p:spPr>
          <a:xfrm>
            <a:off x="2924175" y="3800475"/>
            <a:ext cx="0" cy="1762125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24" name="S02/edge:3:segment:2"/>
          <p:cNvSpPr/>
          <p:nvPr/>
        </p:nvSpPr>
        <p:spPr>
          <a:xfrm>
            <a:off x="2924175" y="5562600"/>
            <a:ext cx="1238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25" name="S02/edge:4:segment:0"/>
          <p:cNvSpPr/>
          <p:nvPr/>
        </p:nvSpPr>
        <p:spPr>
          <a:xfrm>
            <a:off x="4486275" y="4324350"/>
            <a:ext cx="0" cy="447675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26" name="S02/edge:4:segment:1"/>
          <p:cNvSpPr/>
          <p:nvPr/>
        </p:nvSpPr>
        <p:spPr>
          <a:xfrm flipH="1">
            <a:off x="4324350" y="4772025"/>
            <a:ext cx="1619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27" name="S02/edge:4:segment:2"/>
          <p:cNvSpPr/>
          <p:nvPr/>
        </p:nvSpPr>
        <p:spPr>
          <a:xfrm>
            <a:off x="4324350" y="4772025"/>
            <a:ext cx="0" cy="447675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28" name="S02/edge:5:segment:0"/>
          <p:cNvSpPr/>
          <p:nvPr/>
        </p:nvSpPr>
        <p:spPr>
          <a:xfrm>
            <a:off x="7181850" y="4324350"/>
            <a:ext cx="0" cy="447675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29" name="S02/edge:5:segment:1"/>
          <p:cNvSpPr/>
          <p:nvPr/>
        </p:nvSpPr>
        <p:spPr>
          <a:xfrm flipH="1">
            <a:off x="4324350" y="4772025"/>
            <a:ext cx="285750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30" name="S02/edge:5:segment:2"/>
          <p:cNvSpPr/>
          <p:nvPr/>
        </p:nvSpPr>
        <p:spPr>
          <a:xfrm>
            <a:off x="4324350" y="4772025"/>
            <a:ext cx="0" cy="447675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31" name="S02/node:manager:frame"/>
          <p:cNvSpPr/>
          <p:nvPr/>
        </p:nvSpPr>
        <p:spPr>
          <a:xfrm>
            <a:off x="3048000" y="1809750"/>
            <a:ext cx="2552700" cy="74295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32" name="S02/node:manager:heading-rule"/>
          <p:cNvSpPr/>
          <p:nvPr/>
        </p:nvSpPr>
        <p:spPr>
          <a:xfrm>
            <a:off x="3048000" y="1809750"/>
            <a:ext cx="25527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33" name="S02/node:manager:label"/>
          <p:cNvSpPr/>
          <p:nvPr/>
        </p:nvSpPr>
        <p:spPr>
          <a:xfrm>
            <a:off x="3162300" y="1866900"/>
            <a:ext cx="2324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中央 manager</a:t>
            </a:r>
            <a:endParaRPr lang="zh-CN" sz="1800" dirty="0"/>
          </a:p>
        </p:txBody>
      </p:sp>
      <p:sp>
        <p:nvSpPr>
          <p:cNvPr id="34" name="S02/node:manager:detail"/>
          <p:cNvSpPr/>
          <p:nvPr/>
        </p:nvSpPr>
        <p:spPr>
          <a:xfrm>
            <a:off x="3162300" y="2152650"/>
            <a:ext cx="232410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任务、数据与参数</a:t>
            </a:r>
            <a:endParaRPr lang="zh-CN" sz="1650" dirty="0"/>
          </a:p>
        </p:txBody>
      </p:sp>
      <p:sp>
        <p:nvSpPr>
          <p:cNvPr id="35" name="S02/node:vision:frame"/>
          <p:cNvSpPr/>
          <p:nvPr/>
        </p:nvSpPr>
        <p:spPr>
          <a:xfrm>
            <a:off x="609600" y="3276600"/>
            <a:ext cx="21907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36" name="S02/node:vision:heading-rule"/>
          <p:cNvSpPr/>
          <p:nvPr/>
        </p:nvSpPr>
        <p:spPr>
          <a:xfrm>
            <a:off x="609600" y="3276600"/>
            <a:ext cx="21907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37" name="S02/node:vision:label"/>
          <p:cNvSpPr/>
          <p:nvPr/>
        </p:nvSpPr>
        <p:spPr>
          <a:xfrm>
            <a:off x="723900" y="337185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视觉与表型工具</a:t>
            </a:r>
            <a:endParaRPr lang="zh-CN" sz="1800" dirty="0"/>
          </a:p>
        </p:txBody>
      </p:sp>
      <p:sp>
        <p:nvSpPr>
          <p:cNvPr id="38" name="S02/node:vision:detail"/>
          <p:cNvSpPr/>
          <p:nvPr/>
        </p:nvSpPr>
        <p:spPr>
          <a:xfrm>
            <a:off x="723900" y="3686175"/>
            <a:ext cx="1962150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实例分割、分类</a:t>
            </a:r>
            <a:endParaRPr lang="zh-CN" sz="1650" dirty="0"/>
          </a:p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表型数值计算</a:t>
            </a:r>
            <a:endParaRPr lang="zh-CN" sz="1650" dirty="0"/>
          </a:p>
        </p:txBody>
      </p:sp>
      <p:sp>
        <p:nvSpPr>
          <p:cNvPr id="39" name="S02/node:analysis:frame"/>
          <p:cNvSpPr/>
          <p:nvPr/>
        </p:nvSpPr>
        <p:spPr>
          <a:xfrm>
            <a:off x="3390900" y="3276600"/>
            <a:ext cx="21907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40" name="S02/node:analysis:heading-rule"/>
          <p:cNvSpPr/>
          <p:nvPr/>
        </p:nvSpPr>
        <p:spPr>
          <a:xfrm>
            <a:off x="3390900" y="3276600"/>
            <a:ext cx="21907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41" name="S02/node:analysis:label"/>
          <p:cNvSpPr/>
          <p:nvPr/>
        </p:nvSpPr>
        <p:spPr>
          <a:xfrm>
            <a:off x="3505200" y="337185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数据分析工具</a:t>
            </a:r>
            <a:endParaRPr lang="zh-CN" sz="1800" dirty="0"/>
          </a:p>
        </p:txBody>
      </p:sp>
      <p:sp>
        <p:nvSpPr>
          <p:cNvPr id="42" name="S02/node:analysis:detail"/>
          <p:cNvSpPr/>
          <p:nvPr/>
        </p:nvSpPr>
        <p:spPr>
          <a:xfrm>
            <a:off x="3505200" y="3686175"/>
            <a:ext cx="1962150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统计、表格、绘图</a:t>
            </a:r>
            <a:endParaRPr lang="zh-CN" sz="1650" dirty="0"/>
          </a:p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代码生成与执行</a:t>
            </a:r>
            <a:endParaRPr lang="zh-CN" sz="1650" dirty="0"/>
          </a:p>
        </p:txBody>
      </p:sp>
      <p:sp>
        <p:nvSpPr>
          <p:cNvPr id="43" name="S02/node:knowledge:frame"/>
          <p:cNvSpPr/>
          <p:nvPr/>
        </p:nvSpPr>
        <p:spPr>
          <a:xfrm>
            <a:off x="6153150" y="3276600"/>
            <a:ext cx="205740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44" name="S02/node:knowledge:heading-rule"/>
          <p:cNvSpPr/>
          <p:nvPr/>
        </p:nvSpPr>
        <p:spPr>
          <a:xfrm>
            <a:off x="6153150" y="3276600"/>
            <a:ext cx="20574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45" name="S02/node:knowledge:label"/>
          <p:cNvSpPr/>
          <p:nvPr/>
        </p:nvSpPr>
        <p:spPr>
          <a:xfrm>
            <a:off x="6267450" y="3371850"/>
            <a:ext cx="1828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文献 RAG</a:t>
            </a:r>
            <a:endParaRPr lang="zh-CN" sz="1800" dirty="0"/>
          </a:p>
        </p:txBody>
      </p:sp>
      <p:sp>
        <p:nvSpPr>
          <p:cNvPr id="46" name="S02/node:knowledge:detail"/>
          <p:cNvSpPr/>
          <p:nvPr/>
        </p:nvSpPr>
        <p:spPr>
          <a:xfrm>
            <a:off x="6267450" y="3686175"/>
            <a:ext cx="1828800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检索植物科学文献</a:t>
            </a:r>
            <a:endParaRPr lang="zh-CN" sz="1650" dirty="0"/>
          </a:p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核对既有发现</a:t>
            </a:r>
            <a:endParaRPr lang="zh-CN" sz="1650" dirty="0"/>
          </a:p>
        </p:txBody>
      </p:sp>
      <p:sp>
        <p:nvSpPr>
          <p:cNvPr id="47" name="S02/node:outputs:frame"/>
          <p:cNvSpPr/>
          <p:nvPr/>
        </p:nvSpPr>
        <p:spPr>
          <a:xfrm>
            <a:off x="3048000" y="5219700"/>
            <a:ext cx="2552700" cy="6858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48" name="S02/node:outputs:heading-rule"/>
          <p:cNvSpPr/>
          <p:nvPr/>
        </p:nvSpPr>
        <p:spPr>
          <a:xfrm>
            <a:off x="3048000" y="5219700"/>
            <a:ext cx="25527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49" name="S02/node:outputs:label"/>
          <p:cNvSpPr/>
          <p:nvPr/>
        </p:nvSpPr>
        <p:spPr>
          <a:xfrm>
            <a:off x="3162300" y="5429250"/>
            <a:ext cx="2324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结果与复用流程</a:t>
            </a:r>
            <a:endParaRPr lang="zh-CN" sz="1800" dirty="0"/>
          </a:p>
        </p:txBody>
      </p:sp>
      <p:sp>
        <p:nvSpPr>
          <p:cNvPr id="50" name="S02/card/interface/frame"/>
          <p:cNvSpPr/>
          <p:nvPr/>
        </p:nvSpPr>
        <p:spPr>
          <a:xfrm>
            <a:off x="8648700" y="1371600"/>
            <a:ext cx="3086100" cy="20574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51" name="S02/card/interface/heading-fill"/>
          <p:cNvSpPr/>
          <p:nvPr/>
        </p:nvSpPr>
        <p:spPr>
          <a:xfrm>
            <a:off x="8658225" y="1381125"/>
            <a:ext cx="3067050" cy="371475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02/card/interface/heading-rule"/>
          <p:cNvSpPr/>
          <p:nvPr/>
        </p:nvSpPr>
        <p:spPr>
          <a:xfrm>
            <a:off x="8648700" y="1752600"/>
            <a:ext cx="30861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53" name="S02/card/interface/title"/>
          <p:cNvSpPr/>
          <p:nvPr/>
        </p:nvSpPr>
        <p:spPr>
          <a:xfrm>
            <a:off x="8772525" y="1428750"/>
            <a:ext cx="28384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明确的输入接口</a:t>
            </a:r>
            <a:endParaRPr lang="zh-CN" sz="1800" dirty="0"/>
          </a:p>
        </p:txBody>
      </p:sp>
      <p:sp>
        <p:nvSpPr>
          <p:cNvPr id="54" name="S02/card/interface/body"/>
          <p:cNvSpPr/>
          <p:nvPr/>
        </p:nvSpPr>
        <p:spPr>
          <a:xfrm>
            <a:off x="8782050" y="1866900"/>
            <a:ext cx="2819400" cy="146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工具有预定功能与参数。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新任务先检查模型/工具是否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可用。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用户可调整计划、工具与参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数。</a:t>
            </a:r>
            <a:endParaRPr lang="zh-CN" sz="1725" dirty="0"/>
          </a:p>
        </p:txBody>
      </p:sp>
      <p:sp>
        <p:nvSpPr>
          <p:cNvPr id="55" name="S02/card/reuse/frame"/>
          <p:cNvSpPr/>
          <p:nvPr/>
        </p:nvSpPr>
        <p:spPr>
          <a:xfrm>
            <a:off x="8648700" y="3829050"/>
            <a:ext cx="30861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56" name="S02/card/reuse/tab"/>
          <p:cNvSpPr/>
          <p:nvPr/>
        </p:nvSpPr>
        <p:spPr>
          <a:xfrm>
            <a:off x="8763000" y="3714750"/>
            <a:ext cx="1638300" cy="32004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02/card/reuse/title"/>
          <p:cNvSpPr/>
          <p:nvPr/>
        </p:nvSpPr>
        <p:spPr>
          <a:xfrm>
            <a:off x="8867775" y="3743325"/>
            <a:ext cx="14287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流程复现对象</a:t>
            </a:r>
            <a:endParaRPr lang="zh-CN" sz="1800" dirty="0"/>
          </a:p>
        </p:txBody>
      </p:sp>
      <p:sp>
        <p:nvSpPr>
          <p:cNvPr id="58" name="S02/card/reuse/body"/>
          <p:cNvSpPr/>
          <p:nvPr/>
        </p:nvSpPr>
        <p:spPr>
          <a:xfrm>
            <a:off x="8782050" y="4177665"/>
            <a:ext cx="28194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Pipeline Reproducer 保存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工具调用与代码。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相似数据可再次执行流程。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复现计算仍需匹配数据与环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境。</a:t>
            </a:r>
            <a:endParaRPr lang="zh-CN" sz="1725" dirty="0"/>
          </a:p>
        </p:txBody>
      </p:sp>
      <p:sp>
        <p:nvSpPr>
          <p:cNvPr id="59" name="S0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14</a:t>
            </a:r>
            <a:endParaRPr lang="zh-CN" sz="1050" dirty="0"/>
          </a:p>
        </p:txBody>
      </p:sp>
      <p:sp>
        <p:nvSpPr>
          <p:cNvPr id="4" name="S0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 1 · 数据与实验单位</a:t>
            </a:r>
            <a:endParaRPr lang="zh-CN" sz="1200" dirty="0"/>
          </a:p>
        </p:txBody>
      </p:sp>
      <p:sp>
        <p:nvSpPr>
          <p:cNvPr id="5" name="S0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株拟南芥与 1,248 次图像观测</a:t>
            </a:r>
            <a:endParaRPr lang="zh-CN" sz="2550" dirty="0"/>
          </a:p>
        </p:txBody>
      </p:sp>
      <p:sp>
        <p:nvSpPr>
          <p:cNvPr id="6" name="S0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03/edge:0"/>
          <p:cNvSpPr/>
          <p:nvPr/>
        </p:nvSpPr>
        <p:spPr>
          <a:xfrm>
            <a:off x="2533650" y="2171700"/>
            <a:ext cx="59055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8" name="S03/edge:1"/>
          <p:cNvSpPr/>
          <p:nvPr/>
        </p:nvSpPr>
        <p:spPr>
          <a:xfrm>
            <a:off x="5200650" y="2171700"/>
            <a:ext cx="59055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9" name="S03/edge:1:label"/>
          <p:cNvSpPr/>
          <p:nvPr/>
        </p:nvSpPr>
        <p:spPr>
          <a:xfrm>
            <a:off x="5114925" y="19431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分组</a:t>
            </a:r>
            <a:endParaRPr lang="zh-CN" sz="1275" dirty="0"/>
          </a:p>
        </p:txBody>
      </p:sp>
      <p:sp>
        <p:nvSpPr>
          <p:cNvPr id="10" name="S03/edge:2"/>
          <p:cNvSpPr/>
          <p:nvPr/>
        </p:nvSpPr>
        <p:spPr>
          <a:xfrm>
            <a:off x="4162425" y="2705100"/>
            <a:ext cx="0" cy="62865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1" name="S03/edge:2:label"/>
          <p:cNvSpPr/>
          <p:nvPr/>
        </p:nvSpPr>
        <p:spPr>
          <a:xfrm>
            <a:off x="3781425" y="2790825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重复观测</a:t>
            </a:r>
            <a:endParaRPr lang="zh-CN" sz="1275" dirty="0"/>
          </a:p>
        </p:txBody>
      </p:sp>
      <p:sp>
        <p:nvSpPr>
          <p:cNvPr id="12" name="S03/node:data:frame"/>
          <p:cNvSpPr/>
          <p:nvPr/>
        </p:nvSpPr>
        <p:spPr>
          <a:xfrm>
            <a:off x="457200" y="1638300"/>
            <a:ext cx="2076450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13" name="S03/node:data:heading-rule"/>
          <p:cNvSpPr/>
          <p:nvPr/>
        </p:nvSpPr>
        <p:spPr>
          <a:xfrm>
            <a:off x="457200" y="1638300"/>
            <a:ext cx="20764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14" name="S03/node:data:label"/>
          <p:cNvSpPr/>
          <p:nvPr/>
        </p:nvSpPr>
        <p:spPr>
          <a:xfrm>
            <a:off x="571500" y="1733550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Phenotiki 数据</a:t>
            </a:r>
            <a:endParaRPr lang="zh-CN" sz="1800" dirty="0"/>
          </a:p>
        </p:txBody>
      </p:sp>
      <p:sp>
        <p:nvSpPr>
          <p:cNvPr id="15" name="S03/node:data:detail"/>
          <p:cNvSpPr/>
          <p:nvPr/>
        </p:nvSpPr>
        <p:spPr>
          <a:xfrm>
            <a:off x="571500" y="2047875"/>
            <a:ext cx="18478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拟南芥生长观测</a:t>
            </a:r>
            <a:endParaRPr lang="zh-CN" sz="1650" dirty="0"/>
          </a:p>
        </p:txBody>
      </p:sp>
      <p:sp>
        <p:nvSpPr>
          <p:cNvPr id="16" name="S03/node:plants:frame"/>
          <p:cNvSpPr/>
          <p:nvPr/>
        </p:nvSpPr>
        <p:spPr>
          <a:xfrm>
            <a:off x="3124200" y="1638300"/>
            <a:ext cx="2076450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17" name="S03/node:plants:heading-rule"/>
          <p:cNvSpPr/>
          <p:nvPr/>
        </p:nvSpPr>
        <p:spPr>
          <a:xfrm>
            <a:off x="3124200" y="1638300"/>
            <a:ext cx="20764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18" name="S03/node:plants:label"/>
          <p:cNvSpPr/>
          <p:nvPr/>
        </p:nvSpPr>
        <p:spPr>
          <a:xfrm>
            <a:off x="3238500" y="1733550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株植物</a:t>
            </a:r>
            <a:endParaRPr lang="zh-CN" sz="1800" dirty="0"/>
          </a:p>
        </p:txBody>
      </p:sp>
      <p:sp>
        <p:nvSpPr>
          <p:cNvPr id="19" name="S03/node:plants:detail"/>
          <p:cNvSpPr/>
          <p:nvPr/>
        </p:nvSpPr>
        <p:spPr>
          <a:xfrm>
            <a:off x="3238500" y="2047875"/>
            <a:ext cx="18478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重复测量主体</a:t>
            </a:r>
            <a:endParaRPr lang="zh-CN" sz="1650" dirty="0"/>
          </a:p>
        </p:txBody>
      </p:sp>
      <p:sp>
        <p:nvSpPr>
          <p:cNvPr id="20" name="S03/node:groups:frame"/>
          <p:cNvSpPr/>
          <p:nvPr/>
        </p:nvSpPr>
        <p:spPr>
          <a:xfrm>
            <a:off x="5791200" y="1638300"/>
            <a:ext cx="2076450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1" name="S03/node:groups:heading-rule"/>
          <p:cNvSpPr/>
          <p:nvPr/>
        </p:nvSpPr>
        <p:spPr>
          <a:xfrm>
            <a:off x="5791200" y="1638300"/>
            <a:ext cx="20764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2" name="S03/node:groups:label"/>
          <p:cNvSpPr/>
          <p:nvPr/>
        </p:nvSpPr>
        <p:spPr>
          <a:xfrm>
            <a:off x="5905500" y="1733550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个生态型</a:t>
            </a:r>
            <a:endParaRPr lang="zh-CN" sz="1800" dirty="0"/>
          </a:p>
        </p:txBody>
      </p:sp>
      <p:sp>
        <p:nvSpPr>
          <p:cNvPr id="23" name="S03/node:groups:detail"/>
          <p:cNvSpPr/>
          <p:nvPr/>
        </p:nvSpPr>
        <p:spPr>
          <a:xfrm>
            <a:off x="5905500" y="2047875"/>
            <a:ext cx="18478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每组 4–5 株</a:t>
            </a:r>
            <a:endParaRPr lang="zh-CN" sz="1650" dirty="0"/>
          </a:p>
        </p:txBody>
      </p:sp>
      <p:sp>
        <p:nvSpPr>
          <p:cNvPr id="24" name="S03/node:time:frame"/>
          <p:cNvSpPr/>
          <p:nvPr/>
        </p:nvSpPr>
        <p:spPr>
          <a:xfrm>
            <a:off x="3124200" y="3333750"/>
            <a:ext cx="20764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5" name="S03/node:time:heading-rule"/>
          <p:cNvSpPr/>
          <p:nvPr/>
        </p:nvSpPr>
        <p:spPr>
          <a:xfrm>
            <a:off x="3124200" y="3333750"/>
            <a:ext cx="20764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6" name="S03/node:time:label"/>
          <p:cNvSpPr/>
          <p:nvPr/>
        </p:nvSpPr>
        <p:spPr>
          <a:xfrm>
            <a:off x="3238500" y="3429000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 12 小时成像</a:t>
            </a:r>
            <a:endParaRPr lang="zh-CN" sz="1800" dirty="0"/>
          </a:p>
        </p:txBody>
      </p:sp>
      <p:sp>
        <p:nvSpPr>
          <p:cNvPr id="27" name="S03/node:time:detail"/>
          <p:cNvSpPr/>
          <p:nvPr/>
        </p:nvSpPr>
        <p:spPr>
          <a:xfrm>
            <a:off x="3238500" y="3743325"/>
            <a:ext cx="184785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连续 26 天</a:t>
            </a:r>
            <a:endParaRPr lang="zh-CN" sz="1650" dirty="0"/>
          </a:p>
        </p:txBody>
      </p:sp>
      <p:sp>
        <p:nvSpPr>
          <p:cNvPr id="28" name="S03/card/unit/frame"/>
          <p:cNvSpPr/>
          <p:nvPr/>
        </p:nvSpPr>
        <p:spPr>
          <a:xfrm>
            <a:off x="8229600" y="1371600"/>
            <a:ext cx="3505200" cy="20574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29" name="S03/card/unit/heading-fill"/>
          <p:cNvSpPr/>
          <p:nvPr/>
        </p:nvSpPr>
        <p:spPr>
          <a:xfrm>
            <a:off x="8239125" y="1381125"/>
            <a:ext cx="3486150" cy="371475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3/card/unit/heading-rule"/>
          <p:cNvSpPr/>
          <p:nvPr/>
        </p:nvSpPr>
        <p:spPr>
          <a:xfrm>
            <a:off x="8229600" y="1752600"/>
            <a:ext cx="35052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31" name="S03/card/unit/title"/>
          <p:cNvSpPr/>
          <p:nvPr/>
        </p:nvSpPr>
        <p:spPr>
          <a:xfrm>
            <a:off x="8353425" y="1428750"/>
            <a:ext cx="325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独立生物学单位</a:t>
            </a:r>
            <a:endParaRPr lang="zh-CN" sz="1800" dirty="0"/>
          </a:p>
        </p:txBody>
      </p:sp>
      <p:sp>
        <p:nvSpPr>
          <p:cNvPr id="32" name="S03/card/unit/body"/>
          <p:cNvSpPr/>
          <p:nvPr/>
        </p:nvSpPr>
        <p:spPr>
          <a:xfrm>
            <a:off x="8362950" y="1866900"/>
            <a:ext cx="3238500" cy="146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 = 24 株。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同株多个时点具有重复测量结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1,248 幅图像是观测总量。</a:t>
            </a:r>
            <a:endParaRPr lang="zh-CN" sz="1725" dirty="0"/>
          </a:p>
        </p:txBody>
      </p:sp>
      <p:sp>
        <p:nvSpPr>
          <p:cNvPr id="33" name="S03/card/measurement/base-rule"/>
          <p:cNvSpPr/>
          <p:nvPr/>
        </p:nvSpPr>
        <p:spPr>
          <a:xfrm>
            <a:off x="8229600" y="6038850"/>
            <a:ext cx="350520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34" name="S03/card/measurement/side-mark"/>
          <p:cNvSpPr/>
          <p:nvPr/>
        </p:nvSpPr>
        <p:spPr>
          <a:xfrm>
            <a:off x="8229600" y="369570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3/card/measurement/title"/>
          <p:cNvSpPr/>
          <p:nvPr/>
        </p:nvSpPr>
        <p:spPr>
          <a:xfrm>
            <a:off x="8382000" y="3695700"/>
            <a:ext cx="335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测量输出</a:t>
            </a:r>
            <a:endParaRPr lang="zh-CN" sz="1800" dirty="0"/>
          </a:p>
        </p:txBody>
      </p:sp>
      <p:sp>
        <p:nvSpPr>
          <p:cNvPr id="36" name="S03/card/measurement/body"/>
          <p:cNvSpPr/>
          <p:nvPr/>
        </p:nvSpPr>
        <p:spPr>
          <a:xfrm>
            <a:off x="8382000" y="4114800"/>
            <a:ext cx="335280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叶片数、投影叶面积 PLA、周长和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直径。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数据按植株、生态型与播种后天数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关联。</a:t>
            </a:r>
            <a:endParaRPr lang="zh-CN" sz="1725" dirty="0"/>
          </a:p>
        </p:txBody>
      </p:sp>
      <p:sp>
        <p:nvSpPr>
          <p:cNvPr id="37" name="S03/card/groups-note/heading-rule"/>
          <p:cNvSpPr/>
          <p:nvPr/>
        </p:nvSpPr>
        <p:spPr>
          <a:xfrm>
            <a:off x="457200" y="4991100"/>
            <a:ext cx="741045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38" name="S03/card/groups-note/heading-mark"/>
          <p:cNvSpPr/>
          <p:nvPr/>
        </p:nvSpPr>
        <p:spPr>
          <a:xfrm>
            <a:off x="457200" y="4991100"/>
            <a:ext cx="342900" cy="0"/>
          </a:xfrm>
          <a:prstGeom prst="line">
            <a:avLst/>
          </a:prstGeom>
          <a:noFill/>
          <a:ln w="17145">
            <a:solidFill>
              <a:srgbClr val="183B66"/>
            </a:solidFill>
            <a:prstDash val="solid"/>
          </a:ln>
        </p:spPr>
      </p:sp>
      <p:sp>
        <p:nvSpPr>
          <p:cNvPr id="39" name="S03/card/groups-note/title"/>
          <p:cNvSpPr/>
          <p:nvPr/>
        </p:nvSpPr>
        <p:spPr>
          <a:xfrm>
            <a:off x="457200" y="4648200"/>
            <a:ext cx="74104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生态型构成</a:t>
            </a:r>
            <a:endParaRPr lang="zh-CN" sz="1875" dirty="0"/>
          </a:p>
        </p:txBody>
      </p:sp>
      <p:sp>
        <p:nvSpPr>
          <p:cNvPr id="40" name="S03/card/groups-note/body"/>
          <p:cNvSpPr/>
          <p:nvPr/>
        </p:nvSpPr>
        <p:spPr>
          <a:xfrm>
            <a:off x="457200" y="5124450"/>
            <a:ext cx="7410450" cy="876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Col-0、ctr1、ein2.1、pgm 各 5 株，adh1 为 4 株。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原图使用 col0、ctr、ein2 等缩写。</a:t>
            </a:r>
            <a:endParaRPr lang="zh-CN" sz="1800" dirty="0"/>
          </a:p>
        </p:txBody>
      </p:sp>
      <p:sp>
        <p:nvSpPr>
          <p:cNvPr id="41" name="S0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14</a:t>
            </a:r>
            <a:endParaRPr lang="zh-CN" sz="1050" dirty="0"/>
          </a:p>
        </p:txBody>
      </p:sp>
      <p:sp>
        <p:nvSpPr>
          <p:cNvPr id="4" name="S0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 1 · Fig. 3 原图定位与放大</a:t>
            </a:r>
            <a:endParaRPr lang="zh-CN" sz="1200" dirty="0"/>
          </a:p>
        </p:txBody>
      </p:sp>
      <p:sp>
        <p:nvSpPr>
          <p:cNvPr id="5" name="S0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拟南芥的 PLA 曲线随生态型分离</a:t>
            </a:r>
            <a:endParaRPr lang="zh-CN" sz="2550" dirty="0"/>
          </a:p>
        </p:txBody>
      </p:sp>
      <p:sp>
        <p:nvSpPr>
          <p:cNvPr id="6" name="S0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04/figure:0:paper"/>
          <p:cNvSpPr/>
          <p:nvPr/>
        </p:nvSpPr>
        <p:spPr>
          <a:xfrm>
            <a:off x="457200" y="1371600"/>
            <a:ext cx="4267200" cy="3638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S04/figure:0:image" descr="P1 · Fig. 3 · 完整图 · Chen et al., 2026 · CC BY 4.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5034" y="1371600"/>
            <a:ext cx="1911533" cy="3295650"/>
          </a:xfrm>
          <a:prstGeom prst="rect">
            <a:avLst/>
          </a:prstGeom>
        </p:spPr>
      </p:pic>
      <p:sp>
        <p:nvSpPr>
          <p:cNvPr id="9" name="S04/figure:0:caption"/>
          <p:cNvSpPr/>
          <p:nvPr/>
        </p:nvSpPr>
        <p:spPr>
          <a:xfrm>
            <a:off x="457200" y="4752975"/>
            <a:ext cx="42672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Fig. 3 · 完整图 · Chen et al., 2026 · CC BY 4.0</a:t>
            </a:r>
            <a:endParaRPr lang="zh-CN" sz="1350" dirty="0"/>
          </a:p>
        </p:txBody>
      </p:sp>
      <p:sp>
        <p:nvSpPr>
          <p:cNvPr id="10" name="S04/figure:1:paper"/>
          <p:cNvSpPr/>
          <p:nvPr/>
        </p:nvSpPr>
        <p:spPr>
          <a:xfrm>
            <a:off x="5029200" y="1371600"/>
            <a:ext cx="6705600" cy="3638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S04/figure:1:image" descr="P1 · Fig. 3 · 任务2 PLA曲线 · Chen et al., 2026 · CC BY 4.0">    </p:cNvPr>
          <p:cNvPicPr>
            <a:picLocks noChangeAspect="1"/>
          </p:cNvPicPr>
          <p:nvPr/>
        </p:nvPicPr>
        <p:blipFill>
          <a:blip r:embed="rId2"/>
          <a:srcRect l="2190" r="51387" t="56139" b="26418"/>
          <a:stretch/>
        </p:blipFill>
        <p:spPr>
          <a:xfrm>
            <a:off x="5838270" y="1371600"/>
            <a:ext cx="5087460" cy="3295650"/>
          </a:xfrm>
          <a:prstGeom prst="rect">
            <a:avLst/>
          </a:prstGeom>
        </p:spPr>
      </p:pic>
      <p:sp>
        <p:nvSpPr>
          <p:cNvPr id="12" name="S04/figure:1:caption"/>
          <p:cNvSpPr/>
          <p:nvPr/>
        </p:nvSpPr>
        <p:spPr>
          <a:xfrm>
            <a:off x="5029200" y="4752975"/>
            <a:ext cx="67056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Fig. 3 · 任务2 PLA曲线 · Chen et al., 2026 · CC BY 4.0</a:t>
            </a:r>
            <a:endParaRPr lang="zh-CN" sz="1350" dirty="0"/>
          </a:p>
        </p:txBody>
      </p:sp>
      <p:sp>
        <p:nvSpPr>
          <p:cNvPr id="13" name="S04/card/location/title"/>
          <p:cNvSpPr/>
          <p:nvPr/>
        </p:nvSpPr>
        <p:spPr>
          <a:xfrm>
            <a:off x="457200" y="5257800"/>
            <a:ext cx="42672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 2 的位置</a:t>
            </a:r>
            <a:endParaRPr lang="zh-CN" sz="1875" dirty="0"/>
          </a:p>
        </p:txBody>
      </p:sp>
      <p:sp>
        <p:nvSpPr>
          <p:cNvPr id="14" name="S04/card/location/body"/>
          <p:cNvSpPr/>
          <p:nvPr/>
        </p:nvSpPr>
        <p:spPr>
          <a:xfrm>
            <a:off x="457200" y="5638800"/>
            <a:ext cx="42672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灰色为任务，蓝色为工具，白色为输出。</a:t>
            </a:r>
            <a:endParaRPr lang="zh-CN" sz="1725" dirty="0"/>
          </a:p>
        </p:txBody>
      </p:sp>
      <p:sp>
        <p:nvSpPr>
          <p:cNvPr id="15" name="S04/card/axis/title"/>
          <p:cNvSpPr/>
          <p:nvPr/>
        </p:nvSpPr>
        <p:spPr>
          <a:xfrm>
            <a:off x="5029200" y="5257800"/>
            <a:ext cx="6705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轴与图例（据原图转录）</a:t>
            </a:r>
            <a:endParaRPr lang="zh-CN" sz="1875" dirty="0"/>
          </a:p>
        </p:txBody>
      </p:sp>
      <p:sp>
        <p:nvSpPr>
          <p:cNvPr id="16" name="S04/card/axis/body"/>
          <p:cNvSpPr/>
          <p:nvPr/>
        </p:nvSpPr>
        <p:spPr>
          <a:xfrm>
            <a:off x="5029200" y="5638800"/>
            <a:ext cx="67056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横轴：播种后天数；纵轴：PLA（cm²）；阴影：标准差。</a:t>
            </a:r>
            <a:endParaRPr lang="zh-CN" sz="1725" dirty="0"/>
          </a:p>
        </p:txBody>
      </p:sp>
      <p:sp>
        <p:nvSpPr>
          <p:cNvPr id="17" name="S0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14</a:t>
            </a:r>
            <a:endParaRPr lang="zh-CN" sz="1050" dirty="0"/>
          </a:p>
        </p:txBody>
      </p:sp>
      <p:sp>
        <p:nvSpPr>
          <p:cNvPr id="4" name="S0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 1 · Fig. 3 任务 4</a:t>
            </a:r>
            <a:endParaRPr lang="zh-CN" sz="1200" dirty="0"/>
          </a:p>
        </p:txBody>
      </p:sp>
      <p:sp>
        <p:nvSpPr>
          <p:cNvPr id="5" name="S0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重复测量检验支持案例内的生态型分组</a:t>
            </a:r>
            <a:endParaRPr lang="zh-CN" sz="2550" dirty="0"/>
          </a:p>
        </p:txBody>
      </p:sp>
      <p:sp>
        <p:nvSpPr>
          <p:cNvPr id="6" name="S0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05/panel:0:frame"/>
          <p:cNvSpPr/>
          <p:nvPr/>
        </p:nvSpPr>
        <p:spPr>
          <a:xfrm>
            <a:off x="4629150" y="1352550"/>
            <a:ext cx="7105650" cy="462915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8" name="S05/panel:0:heading-fill"/>
          <p:cNvSpPr/>
          <p:nvPr/>
        </p:nvSpPr>
        <p:spPr>
          <a:xfrm>
            <a:off x="4638675" y="1362075"/>
            <a:ext cx="7086600" cy="381000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5/panel:0:heading-rule"/>
          <p:cNvSpPr/>
          <p:nvPr/>
        </p:nvSpPr>
        <p:spPr>
          <a:xfrm>
            <a:off x="4629150" y="1743075"/>
            <a:ext cx="710565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0" name="S05/panel:0:title"/>
          <p:cNvSpPr/>
          <p:nvPr/>
        </p:nvSpPr>
        <p:spPr>
          <a:xfrm>
            <a:off x="4752975" y="1409700"/>
            <a:ext cx="68580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统计检验与结果汇总（原图局部）</a:t>
            </a:r>
            <a:endParaRPr lang="zh-CN" sz="1800" dirty="0"/>
          </a:p>
        </p:txBody>
      </p:sp>
      <p:sp>
        <p:nvSpPr>
          <p:cNvPr id="11" name="S05/figure:0:paper"/>
          <p:cNvSpPr/>
          <p:nvPr/>
        </p:nvSpPr>
        <p:spPr>
          <a:xfrm>
            <a:off x="4762500" y="1847850"/>
            <a:ext cx="6838950" cy="398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S05/figure:0:image" descr="P1 · Fig. 3 · 任务4统计汇总 · Chen et al., 2026 · CC BY 4.0">    </p:cNvPr>
          <p:cNvPicPr>
            <a:picLocks noChangeAspect="1"/>
          </p:cNvPicPr>
          <p:nvPr/>
        </p:nvPicPr>
        <p:blipFill>
          <a:blip r:embed="rId1"/>
          <a:srcRect l="50657" r="2044" t="59272" b="18459"/>
          <a:stretch/>
        </p:blipFill>
        <p:spPr>
          <a:xfrm>
            <a:off x="5940739" y="1847850"/>
            <a:ext cx="4482472" cy="3638550"/>
          </a:xfrm>
          <a:prstGeom prst="rect">
            <a:avLst/>
          </a:prstGeom>
        </p:spPr>
      </p:pic>
      <p:sp>
        <p:nvSpPr>
          <p:cNvPr id="13" name="S05/figure:0:caption"/>
          <p:cNvSpPr/>
          <p:nvPr/>
        </p:nvSpPr>
        <p:spPr>
          <a:xfrm>
            <a:off x="4762500" y="5572125"/>
            <a:ext cx="6838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Fig. 3 · 任务4统计汇总 · Chen et al., 2026 · CC BY 4.0</a:t>
            </a:r>
            <a:endParaRPr lang="zh-CN" sz="1350" dirty="0"/>
          </a:p>
        </p:txBody>
      </p:sp>
      <p:sp>
        <p:nvSpPr>
          <p:cNvPr id="14" name="S05/card/model/base-rule"/>
          <p:cNvSpPr/>
          <p:nvPr/>
        </p:nvSpPr>
        <p:spPr>
          <a:xfrm>
            <a:off x="457200" y="2743200"/>
            <a:ext cx="382905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15" name="S05/card/model/side-mark"/>
          <p:cNvSpPr/>
          <p:nvPr/>
        </p:nvSpPr>
        <p:spPr>
          <a:xfrm>
            <a:off x="457200" y="140970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5/card/model/title"/>
          <p:cNvSpPr/>
          <p:nvPr/>
        </p:nvSpPr>
        <p:spPr>
          <a:xfrm>
            <a:off x="609600" y="1409700"/>
            <a:ext cx="36766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检验模型</a:t>
            </a:r>
            <a:endParaRPr lang="zh-CN" sz="1800" dirty="0"/>
          </a:p>
        </p:txBody>
      </p:sp>
      <p:sp>
        <p:nvSpPr>
          <p:cNvPr id="17" name="S05/card/model/body"/>
          <p:cNvSpPr/>
          <p:nvPr/>
        </p:nvSpPr>
        <p:spPr>
          <a:xfrm>
            <a:off x="609600" y="1828800"/>
            <a:ext cx="367665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因变量：PLA。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组内因素：播种后天数。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组间因素：生态型。</a:t>
            </a:r>
            <a:endParaRPr lang="zh-CN" sz="1725" dirty="0"/>
          </a:p>
        </p:txBody>
      </p:sp>
      <p:sp>
        <p:nvSpPr>
          <p:cNvPr id="18" name="S05/card/groups-result/heading-rule"/>
          <p:cNvSpPr/>
          <p:nvPr/>
        </p:nvSpPr>
        <p:spPr>
          <a:xfrm>
            <a:off x="457200" y="3371850"/>
            <a:ext cx="382905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9" name="S05/card/groups-result/heading-mark"/>
          <p:cNvSpPr/>
          <p:nvPr/>
        </p:nvSpPr>
        <p:spPr>
          <a:xfrm>
            <a:off x="457200" y="3371850"/>
            <a:ext cx="342900" cy="0"/>
          </a:xfrm>
          <a:prstGeom prst="line">
            <a:avLst/>
          </a:prstGeom>
          <a:noFill/>
          <a:ln w="17145">
            <a:solidFill>
              <a:srgbClr val="183B66"/>
            </a:solidFill>
            <a:prstDash val="solid"/>
          </a:ln>
        </p:spPr>
      </p:sp>
      <p:sp>
        <p:nvSpPr>
          <p:cNvPr id="20" name="S05/card/groups-result/title"/>
          <p:cNvSpPr/>
          <p:nvPr/>
        </p:nvSpPr>
        <p:spPr>
          <a:xfrm>
            <a:off x="457200" y="3028950"/>
            <a:ext cx="38290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原文的分组</a:t>
            </a:r>
            <a:endParaRPr lang="zh-CN" sz="1875" dirty="0"/>
          </a:p>
        </p:txBody>
      </p:sp>
      <p:sp>
        <p:nvSpPr>
          <p:cNvPr id="21" name="S05/card/groups-result/body"/>
          <p:cNvSpPr/>
          <p:nvPr/>
        </p:nvSpPr>
        <p:spPr>
          <a:xfrm>
            <a:off x="457200" y="3505200"/>
            <a:ext cx="382905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较大：ein2.1、Col-0。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中等：adh1、pgm。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较小：ctr1（图中 ctr）。</a:t>
            </a:r>
            <a:endParaRPr lang="zh-CN" sz="1800" dirty="0"/>
          </a:p>
        </p:txBody>
      </p:sp>
      <p:sp>
        <p:nvSpPr>
          <p:cNvPr id="22" name="S05/card/interpretation/title"/>
          <p:cNvSpPr/>
          <p:nvPr/>
        </p:nvSpPr>
        <p:spPr>
          <a:xfrm>
            <a:off x="457200" y="4648200"/>
            <a:ext cx="38290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D30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结论范围</a:t>
            </a:r>
            <a:endParaRPr lang="zh-CN" sz="1875" dirty="0"/>
          </a:p>
        </p:txBody>
      </p:sp>
      <p:sp>
        <p:nvSpPr>
          <p:cNvPr id="23" name="S05/card/interpretation/body"/>
          <p:cNvSpPr/>
          <p:nvPr/>
        </p:nvSpPr>
        <p:spPr>
          <a:xfrm>
            <a:off x="457200" y="5095875"/>
            <a:ext cx="3829050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当前数据的重复测量分析。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阴影是标准差，不能直接当作显著性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检验。</a:t>
            </a:r>
            <a:endParaRPr lang="zh-CN" sz="1800" dirty="0"/>
          </a:p>
        </p:txBody>
      </p:sp>
      <p:sp>
        <p:nvSpPr>
          <p:cNvPr id="24" name="S0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14</a:t>
            </a:r>
            <a:endParaRPr lang="zh-CN" sz="1050" dirty="0"/>
          </a:p>
        </p:txBody>
      </p:sp>
      <p:sp>
        <p:nvSpPr>
          <p:cNvPr id="4" name="S0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 2 · 32 幅图像 / Fig. 4</a:t>
            </a:r>
            <a:endParaRPr lang="zh-CN" sz="1200" dirty="0"/>
          </a:p>
        </p:txBody>
      </p:sp>
      <p:sp>
        <p:nvSpPr>
          <p:cNvPr id="5" name="S0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马铃薯案例：PLA 与叶片干重的相关性</a:t>
            </a:r>
            <a:endParaRPr lang="zh-CN" sz="2550" dirty="0"/>
          </a:p>
        </p:txBody>
      </p:sp>
      <p:sp>
        <p:nvSpPr>
          <p:cNvPr id="6" name="S0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06/panel:0:frame"/>
          <p:cNvSpPr/>
          <p:nvPr/>
        </p:nvSpPr>
        <p:spPr>
          <a:xfrm>
            <a:off x="457200" y="1390650"/>
            <a:ext cx="11277600" cy="31242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8" name="S06/panel:0:tab"/>
          <p:cNvSpPr/>
          <p:nvPr/>
        </p:nvSpPr>
        <p:spPr>
          <a:xfrm>
            <a:off x="571500" y="1276350"/>
            <a:ext cx="2095500" cy="3238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6/panel:0:title"/>
          <p:cNvSpPr/>
          <p:nvPr/>
        </p:nvSpPr>
        <p:spPr>
          <a:xfrm>
            <a:off x="676275" y="1304925"/>
            <a:ext cx="18859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4 局部</a:t>
            </a:r>
            <a:endParaRPr lang="zh-CN" sz="1800" dirty="0"/>
          </a:p>
        </p:txBody>
      </p:sp>
      <p:sp>
        <p:nvSpPr>
          <p:cNvPr id="10" name="S06/figure:0:paper"/>
          <p:cNvSpPr/>
          <p:nvPr/>
        </p:nvSpPr>
        <p:spPr>
          <a:xfrm>
            <a:off x="590550" y="1714500"/>
            <a:ext cx="11010900" cy="264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S06/figure:0:image" descr="P1 · Fig. 4 · 相关性结果 · Chen et al., 2026 · CC BY 4.0">    </p:cNvPr>
          <p:cNvPicPr>
            <a:picLocks noChangeAspect="1"/>
          </p:cNvPicPr>
          <p:nvPr/>
        </p:nvPicPr>
        <p:blipFill>
          <a:blip r:embed="rId1"/>
          <a:srcRect l="0" r="0" t="68715" b="0"/>
          <a:stretch/>
        </p:blipFill>
        <p:spPr>
          <a:xfrm>
            <a:off x="3710865" y="1714500"/>
            <a:ext cx="4770270" cy="2305050"/>
          </a:xfrm>
          <a:prstGeom prst="rect">
            <a:avLst/>
          </a:prstGeom>
        </p:spPr>
      </p:pic>
      <p:sp>
        <p:nvSpPr>
          <p:cNvPr id="12" name="S06/figure:0:caption"/>
          <p:cNvSpPr/>
          <p:nvPr/>
        </p:nvSpPr>
        <p:spPr>
          <a:xfrm>
            <a:off x="590550" y="4105275"/>
            <a:ext cx="11010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Fig. 4 · 相关性结果 · Chen et al., 2026 · CC BY 4.0</a:t>
            </a:r>
            <a:endParaRPr lang="zh-CN" sz="1350" dirty="0"/>
          </a:p>
        </p:txBody>
      </p:sp>
      <p:sp>
        <p:nvSpPr>
          <p:cNvPr id="13" name="S06/card/manual/base-rule"/>
          <p:cNvSpPr/>
          <p:nvPr/>
        </p:nvSpPr>
        <p:spPr>
          <a:xfrm>
            <a:off x="457200" y="6019800"/>
            <a:ext cx="346710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14" name="S06/card/manual/side-mark"/>
          <p:cNvSpPr/>
          <p:nvPr/>
        </p:nvSpPr>
        <p:spPr>
          <a:xfrm>
            <a:off x="457200" y="474345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6/card/manual/title"/>
          <p:cNvSpPr/>
          <p:nvPr/>
        </p:nvSpPr>
        <p:spPr>
          <a:xfrm>
            <a:off x="609600" y="4743450"/>
            <a:ext cx="3314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人工叶面积 A</a:t>
            </a:r>
            <a:endParaRPr lang="zh-CN" sz="1800" dirty="0"/>
          </a:p>
        </p:txBody>
      </p:sp>
      <p:sp>
        <p:nvSpPr>
          <p:cNvPr id="16" name="S06/card/manual/body"/>
          <p:cNvSpPr/>
          <p:nvPr/>
        </p:nvSpPr>
        <p:spPr>
          <a:xfrm>
            <a:off x="609600" y="5162550"/>
            <a:ext cx="33147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r(A,W) = 0.8911。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 为对应叶片的干重。</a:t>
            </a:r>
            <a:endParaRPr lang="zh-CN" sz="1725" dirty="0"/>
          </a:p>
        </p:txBody>
      </p:sp>
      <p:sp>
        <p:nvSpPr>
          <p:cNvPr id="17" name="S06/card/image-area/heading-rule"/>
          <p:cNvSpPr/>
          <p:nvPr/>
        </p:nvSpPr>
        <p:spPr>
          <a:xfrm>
            <a:off x="4210050" y="5086350"/>
            <a:ext cx="34671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8" name="S06/card/image-area/heading-mark"/>
          <p:cNvSpPr/>
          <p:nvPr/>
        </p:nvSpPr>
        <p:spPr>
          <a:xfrm>
            <a:off x="4210050" y="5086350"/>
            <a:ext cx="342900" cy="0"/>
          </a:xfrm>
          <a:prstGeom prst="line">
            <a:avLst/>
          </a:prstGeom>
          <a:noFill/>
          <a:ln w="17145">
            <a:solidFill>
              <a:srgbClr val="183B66"/>
            </a:solidFill>
            <a:prstDash val="solid"/>
          </a:ln>
        </p:spPr>
      </p:sp>
      <p:sp>
        <p:nvSpPr>
          <p:cNvPr id="19" name="S06/card/image-area/title"/>
          <p:cNvSpPr/>
          <p:nvPr/>
        </p:nvSpPr>
        <p:spPr>
          <a:xfrm>
            <a:off x="4210050" y="4743450"/>
            <a:ext cx="3467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图像表型 PLA</a:t>
            </a:r>
            <a:endParaRPr lang="zh-CN" sz="1875" dirty="0"/>
          </a:p>
        </p:txBody>
      </p:sp>
      <p:sp>
        <p:nvSpPr>
          <p:cNvPr id="20" name="S06/card/image-area/body"/>
          <p:cNvSpPr/>
          <p:nvPr/>
        </p:nvSpPr>
        <p:spPr>
          <a:xfrm>
            <a:off x="4210050" y="5219700"/>
            <a:ext cx="34671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r(PLA,W) = 0.7577。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模型为 leaf-only SAM。</a:t>
            </a:r>
            <a:endParaRPr lang="zh-CN" sz="1800" dirty="0"/>
          </a:p>
        </p:txBody>
      </p:sp>
      <p:sp>
        <p:nvSpPr>
          <p:cNvPr id="21" name="S06/card/correlation/frame"/>
          <p:cNvSpPr/>
          <p:nvPr/>
        </p:nvSpPr>
        <p:spPr>
          <a:xfrm>
            <a:off x="7962900" y="4838700"/>
            <a:ext cx="3771900" cy="11811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22" name="S06/card/correlation/tab"/>
          <p:cNvSpPr/>
          <p:nvPr/>
        </p:nvSpPr>
        <p:spPr>
          <a:xfrm>
            <a:off x="8077200" y="4724400"/>
            <a:ext cx="1638300" cy="320040"/>
          </a:xfrm>
          <a:prstGeom prst="rect">
            <a:avLst/>
          </a:prstGeom>
          <a:solidFill>
            <a:srgbClr val="9D303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6/card/correlation/title"/>
          <p:cNvSpPr/>
          <p:nvPr/>
        </p:nvSpPr>
        <p:spPr>
          <a:xfrm>
            <a:off x="8181975" y="4752975"/>
            <a:ext cx="14287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相关性的口径</a:t>
            </a:r>
            <a:endParaRPr lang="zh-CN" sz="1800" dirty="0"/>
          </a:p>
        </p:txBody>
      </p:sp>
      <p:sp>
        <p:nvSpPr>
          <p:cNvPr id="24" name="S06/card/correlation/body"/>
          <p:cNvSpPr/>
          <p:nvPr/>
        </p:nvSpPr>
        <p:spPr>
          <a:xfrm>
            <a:off x="8096250" y="5187315"/>
            <a:ext cx="3505200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 = 32 幅图像对应记录。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未报告两相关系数差异的正式检验。</a:t>
            </a:r>
            <a:endParaRPr lang="zh-CN" sz="1725" dirty="0"/>
          </a:p>
        </p:txBody>
      </p:sp>
      <p:sp>
        <p:nvSpPr>
          <p:cNvPr id="25" name="S0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14</a:t>
            </a:r>
            <a:endParaRPr lang="zh-CN" sz="1050" dirty="0"/>
          </a:p>
        </p:txBody>
      </p:sp>
      <p:sp>
        <p:nvSpPr>
          <p:cNvPr id="4" name="S0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 3 · 冬小麦营养缺乏识别</a:t>
            </a:r>
            <a:endParaRPr lang="zh-CN" sz="1200" dirty="0"/>
          </a:p>
        </p:txBody>
      </p:sp>
      <p:sp>
        <p:nvSpPr>
          <p:cNvPr id="5" name="S0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冬小麦案例把新分类模型训练接入工具库</a:t>
            </a:r>
            <a:endParaRPr lang="zh-CN" sz="2550" dirty="0"/>
          </a:p>
        </p:txBody>
      </p:sp>
      <p:sp>
        <p:nvSpPr>
          <p:cNvPr id="6" name="S0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07/panel:0:frame"/>
          <p:cNvSpPr/>
          <p:nvPr/>
        </p:nvSpPr>
        <p:spPr>
          <a:xfrm>
            <a:off x="457200" y="1352550"/>
            <a:ext cx="11277600" cy="180975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8" name="S07/panel:0:heading-fill"/>
          <p:cNvSpPr/>
          <p:nvPr/>
        </p:nvSpPr>
        <p:spPr>
          <a:xfrm>
            <a:off x="466725" y="1362075"/>
            <a:ext cx="11258550" cy="381000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7/panel:0:heading-rule"/>
          <p:cNvSpPr/>
          <p:nvPr/>
        </p:nvSpPr>
        <p:spPr>
          <a:xfrm>
            <a:off x="457200" y="1743075"/>
            <a:ext cx="112776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0" name="S07/panel:0:title"/>
          <p:cNvSpPr/>
          <p:nvPr/>
        </p:nvSpPr>
        <p:spPr>
          <a:xfrm>
            <a:off x="581025" y="1409700"/>
            <a:ext cx="110299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从标注图像到可调用模型</a:t>
            </a:r>
            <a:endParaRPr lang="zh-CN" sz="1800" dirty="0"/>
          </a:p>
        </p:txBody>
      </p:sp>
      <p:sp>
        <p:nvSpPr>
          <p:cNvPr id="11" name="S07/edge:0"/>
          <p:cNvSpPr/>
          <p:nvPr/>
        </p:nvSpPr>
        <p:spPr>
          <a:xfrm>
            <a:off x="2762250" y="2419350"/>
            <a:ext cx="72390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2" name="S07/edge:1"/>
          <p:cNvSpPr/>
          <p:nvPr/>
        </p:nvSpPr>
        <p:spPr>
          <a:xfrm>
            <a:off x="5638800" y="2419350"/>
            <a:ext cx="74295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3" name="S07/edge:2"/>
          <p:cNvSpPr/>
          <p:nvPr/>
        </p:nvSpPr>
        <p:spPr>
          <a:xfrm>
            <a:off x="8534400" y="2419350"/>
            <a:ext cx="74295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4" name="S07/node:labelled-data:frame"/>
          <p:cNvSpPr/>
          <p:nvPr/>
        </p:nvSpPr>
        <p:spPr>
          <a:xfrm>
            <a:off x="609600" y="1866900"/>
            <a:ext cx="21526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15" name="S07/node:labelled-data:heading-rule"/>
          <p:cNvSpPr/>
          <p:nvPr/>
        </p:nvSpPr>
        <p:spPr>
          <a:xfrm>
            <a:off x="609600" y="1866900"/>
            <a:ext cx="21526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16" name="S07/node:labelled-data:label"/>
          <p:cNvSpPr/>
          <p:nvPr/>
        </p:nvSpPr>
        <p:spPr>
          <a:xfrm>
            <a:off x="723900" y="19621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标注图像</a:t>
            </a:r>
            <a:endParaRPr lang="zh-CN" sz="1800" dirty="0"/>
          </a:p>
        </p:txBody>
      </p:sp>
      <p:sp>
        <p:nvSpPr>
          <p:cNvPr id="17" name="S07/node:labelled-data:detail"/>
          <p:cNvSpPr/>
          <p:nvPr/>
        </p:nvSpPr>
        <p:spPr>
          <a:xfrm>
            <a:off x="723900" y="2276475"/>
            <a:ext cx="19240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冬小麦营养类别</a:t>
            </a:r>
            <a:endParaRPr lang="zh-CN" sz="1650" dirty="0"/>
          </a:p>
        </p:txBody>
      </p:sp>
      <p:sp>
        <p:nvSpPr>
          <p:cNvPr id="18" name="S07/node:prepare:frame"/>
          <p:cNvSpPr/>
          <p:nvPr/>
        </p:nvSpPr>
        <p:spPr>
          <a:xfrm>
            <a:off x="3486150" y="1866900"/>
            <a:ext cx="21526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19" name="S07/node:prepare:heading-rule"/>
          <p:cNvSpPr/>
          <p:nvPr/>
        </p:nvSpPr>
        <p:spPr>
          <a:xfrm>
            <a:off x="3486150" y="1866900"/>
            <a:ext cx="21526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0" name="S07/node:prepare:label"/>
          <p:cNvSpPr/>
          <p:nvPr/>
        </p:nvSpPr>
        <p:spPr>
          <a:xfrm>
            <a:off x="3600450" y="19621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数据预处理</a:t>
            </a:r>
            <a:endParaRPr lang="zh-CN" sz="1800" dirty="0"/>
          </a:p>
        </p:txBody>
      </p:sp>
      <p:sp>
        <p:nvSpPr>
          <p:cNvPr id="21" name="S07/node:prepare:detail"/>
          <p:cNvSpPr/>
          <p:nvPr/>
        </p:nvSpPr>
        <p:spPr>
          <a:xfrm>
            <a:off x="3600450" y="2276475"/>
            <a:ext cx="19240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划分与增强</a:t>
            </a:r>
            <a:endParaRPr lang="zh-CN" sz="1650" dirty="0"/>
          </a:p>
        </p:txBody>
      </p:sp>
      <p:sp>
        <p:nvSpPr>
          <p:cNvPr id="22" name="S07/node:train:frame"/>
          <p:cNvSpPr/>
          <p:nvPr/>
        </p:nvSpPr>
        <p:spPr>
          <a:xfrm>
            <a:off x="6381750" y="1866900"/>
            <a:ext cx="21526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3" name="S07/node:train:heading-rule"/>
          <p:cNvSpPr/>
          <p:nvPr/>
        </p:nvSpPr>
        <p:spPr>
          <a:xfrm>
            <a:off x="6381750" y="1866900"/>
            <a:ext cx="21526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4" name="S07/node:train:label"/>
          <p:cNvSpPr/>
          <p:nvPr/>
        </p:nvSpPr>
        <p:spPr>
          <a:xfrm>
            <a:off x="6496050" y="19621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训练视觉分类器</a:t>
            </a:r>
            <a:endParaRPr lang="zh-CN" sz="1800" dirty="0"/>
          </a:p>
        </p:txBody>
      </p:sp>
      <p:sp>
        <p:nvSpPr>
          <p:cNvPr id="25" name="S07/node:train:detail"/>
          <p:cNvSpPr/>
          <p:nvPr/>
        </p:nvSpPr>
        <p:spPr>
          <a:xfrm>
            <a:off x="6496050" y="2276475"/>
            <a:ext cx="19240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全量微调 / LoRA</a:t>
            </a:r>
            <a:endParaRPr lang="zh-CN" sz="1650" dirty="0"/>
          </a:p>
        </p:txBody>
      </p:sp>
      <p:sp>
        <p:nvSpPr>
          <p:cNvPr id="26" name="S07/node:save:frame"/>
          <p:cNvSpPr/>
          <p:nvPr/>
        </p:nvSpPr>
        <p:spPr>
          <a:xfrm>
            <a:off x="9277350" y="1866900"/>
            <a:ext cx="23050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7" name="S07/node:save:heading-rule"/>
          <p:cNvSpPr/>
          <p:nvPr/>
        </p:nvSpPr>
        <p:spPr>
          <a:xfrm>
            <a:off x="9277350" y="1866900"/>
            <a:ext cx="23050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8" name="S07/node:save:label"/>
          <p:cNvSpPr/>
          <p:nvPr/>
        </p:nvSpPr>
        <p:spPr>
          <a:xfrm>
            <a:off x="9391650" y="196215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评价并入库</a:t>
            </a:r>
            <a:endParaRPr lang="zh-CN" sz="1800" dirty="0"/>
          </a:p>
        </p:txBody>
      </p:sp>
      <p:sp>
        <p:nvSpPr>
          <p:cNvPr id="29" name="S07/node:save:detail"/>
          <p:cNvSpPr/>
          <p:nvPr/>
        </p:nvSpPr>
        <p:spPr>
          <a:xfrm>
            <a:off x="9391650" y="2276475"/>
            <a:ext cx="20764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保存供后续选择</a:t>
            </a:r>
            <a:endParaRPr lang="zh-CN" sz="1650" dirty="0"/>
          </a:p>
        </p:txBody>
      </p:sp>
      <p:sp>
        <p:nvSpPr>
          <p:cNvPr id="30" name="S07/card/new-capability/base-rule"/>
          <p:cNvSpPr/>
          <p:nvPr/>
        </p:nvSpPr>
        <p:spPr>
          <a:xfrm>
            <a:off x="457200" y="5962650"/>
            <a:ext cx="348615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31" name="S07/card/new-capability/side-mark"/>
          <p:cNvSpPr/>
          <p:nvPr/>
        </p:nvSpPr>
        <p:spPr>
          <a:xfrm>
            <a:off x="457200" y="358140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7/card/new-capability/title"/>
          <p:cNvSpPr/>
          <p:nvPr/>
        </p:nvSpPr>
        <p:spPr>
          <a:xfrm>
            <a:off x="609600" y="3581400"/>
            <a:ext cx="3333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新增能力如何获得</a:t>
            </a:r>
            <a:endParaRPr lang="zh-CN" sz="1800" dirty="0"/>
          </a:p>
        </p:txBody>
      </p:sp>
      <p:sp>
        <p:nvSpPr>
          <p:cNvPr id="33" name="S07/card/new-capability/body"/>
          <p:cNvSpPr/>
          <p:nvPr/>
        </p:nvSpPr>
        <p:spPr>
          <a:xfrm>
            <a:off x="609600" y="4000500"/>
            <a:ext cx="3333750" cy="1866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缺少合适模型时，系统提出训练需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求并调用训练工具。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用户仍需提供与目标任务对应的标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注数据。</a:t>
            </a:r>
            <a:endParaRPr lang="zh-CN" sz="1725" dirty="0"/>
          </a:p>
        </p:txBody>
      </p:sp>
      <p:sp>
        <p:nvSpPr>
          <p:cNvPr id="34" name="S07/card/evaluation-unit/frame"/>
          <p:cNvSpPr/>
          <p:nvPr/>
        </p:nvSpPr>
        <p:spPr>
          <a:xfrm>
            <a:off x="4210050" y="3562350"/>
            <a:ext cx="3505200" cy="24003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35" name="S07/card/evaluation-unit/heading-fill"/>
          <p:cNvSpPr/>
          <p:nvPr/>
        </p:nvSpPr>
        <p:spPr>
          <a:xfrm>
            <a:off x="4219575" y="3571875"/>
            <a:ext cx="3486150" cy="371475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7/card/evaluation-unit/heading-rule"/>
          <p:cNvSpPr/>
          <p:nvPr/>
        </p:nvSpPr>
        <p:spPr>
          <a:xfrm>
            <a:off x="4210050" y="3943350"/>
            <a:ext cx="35052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37" name="S07/card/evaluation-unit/title"/>
          <p:cNvSpPr/>
          <p:nvPr/>
        </p:nvSpPr>
        <p:spPr>
          <a:xfrm>
            <a:off x="4333875" y="3619500"/>
            <a:ext cx="325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评价层级</a:t>
            </a:r>
            <a:endParaRPr lang="zh-CN" sz="1800" dirty="0"/>
          </a:p>
        </p:txBody>
      </p:sp>
      <p:sp>
        <p:nvSpPr>
          <p:cNvPr id="38" name="S07/card/evaluation-unit/body"/>
          <p:cNvSpPr/>
          <p:nvPr/>
        </p:nvSpPr>
        <p:spPr>
          <a:xfrm>
            <a:off x="4343400" y="4057650"/>
            <a:ext cx="3238500" cy="1809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训练与验证反映当前模型建立过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程。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跨地点、季节和采集条件的泛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化，需要独立数据。</a:t>
            </a:r>
            <a:endParaRPr lang="zh-CN" sz="1725" dirty="0"/>
          </a:p>
        </p:txBody>
      </p:sp>
      <p:sp>
        <p:nvSpPr>
          <p:cNvPr id="39" name="S07/card/agronomic/frame"/>
          <p:cNvSpPr/>
          <p:nvPr/>
        </p:nvSpPr>
        <p:spPr>
          <a:xfrm>
            <a:off x="7981950" y="3676650"/>
            <a:ext cx="3752850" cy="22860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40" name="S07/card/agronomic/tab"/>
          <p:cNvSpPr/>
          <p:nvPr/>
        </p:nvSpPr>
        <p:spPr>
          <a:xfrm>
            <a:off x="8096250" y="3562350"/>
            <a:ext cx="1181100" cy="320040"/>
          </a:xfrm>
          <a:prstGeom prst="rect">
            <a:avLst/>
          </a:prstGeom>
          <a:solidFill>
            <a:srgbClr val="9D303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7/card/agronomic/title"/>
          <p:cNvSpPr/>
          <p:nvPr/>
        </p:nvSpPr>
        <p:spPr>
          <a:xfrm>
            <a:off x="8201025" y="35909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农艺解释</a:t>
            </a:r>
            <a:endParaRPr lang="zh-CN" sz="1800" dirty="0"/>
          </a:p>
        </p:txBody>
      </p:sp>
      <p:sp>
        <p:nvSpPr>
          <p:cNvPr id="42" name="S07/card/agronomic/body"/>
          <p:cNvSpPr/>
          <p:nvPr/>
        </p:nvSpPr>
        <p:spPr>
          <a:xfrm>
            <a:off x="8115300" y="4025265"/>
            <a:ext cx="3486150" cy="1842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识别营养类别不等于确定施肥动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决策收益需要处理对照、实际执行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与农艺终点。</a:t>
            </a:r>
            <a:endParaRPr lang="zh-CN" sz="1725" dirty="0"/>
          </a:p>
        </p:txBody>
      </p:sp>
      <p:sp>
        <p:nvSpPr>
          <p:cNvPr id="43" name="S0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14</a:t>
            </a:r>
            <a:endParaRPr lang="zh-CN" sz="1050" dirty="0"/>
          </a:p>
        </p:txBody>
      </p:sp>
      <p:sp>
        <p:nvSpPr>
          <p:cNvPr id="4" name="S0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 1 · Table 1 / 工具选择任务</a:t>
            </a:r>
            <a:endParaRPr lang="zh-CN" sz="1200" dirty="0"/>
          </a:p>
        </p:txBody>
      </p:sp>
      <p:sp>
        <p:nvSpPr>
          <p:cNvPr id="5" name="S0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Critic 提高了工具链评分，执行正确性仍需另测</a:t>
            </a:r>
            <a:endParaRPr lang="zh-CN" sz="2550" dirty="0"/>
          </a:p>
        </p:txBody>
      </p:sp>
      <p:sp>
        <p:nvSpPr>
          <p:cNvPr id="6" name="S0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graphicFrame>
        <p:nvGraphicFramePr>
          <p:cNvPr id="9" name="S08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7800"/>
          <a:ext cx="7486650" cy="2403729"/>
        </p:xfrm>
        <a:graphic>
          <a:graphicData uri="http://schemas.openxmlformats.org/drawingml/2006/table">
            <a:tbl>
              <a:tblPr/>
              <a:tblGrid>
                <a:gridCol w="2495550"/>
                <a:gridCol w="2495550"/>
                <a:gridCol w="24955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评分维度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Manager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Manager + Critic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整体工具链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4.25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4.35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工具存在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5.00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5.00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工具适用性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4.65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4.90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参数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4.30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4.40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报告平均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4.55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4.66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8/table-caption"/>
          <p:cNvSpPr/>
          <p:nvPr/>
        </p:nvSpPr>
        <p:spPr>
          <a:xfrm>
            <a:off x="457200" y="3918204"/>
            <a:ext cx="74866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1–5 分，各列对同一 20 项工具选择任务平均。按 Table 1 转录。</a:t>
            </a:r>
            <a:endParaRPr lang="zh-CN" sz="1350" dirty="0"/>
          </a:p>
        </p:txBody>
      </p:sp>
      <p:sp>
        <p:nvSpPr>
          <p:cNvPr id="9" name="S08/card/judge/base-rule"/>
          <p:cNvSpPr/>
          <p:nvPr/>
        </p:nvSpPr>
        <p:spPr>
          <a:xfrm>
            <a:off x="8343900" y="3448050"/>
            <a:ext cx="339090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10" name="S08/card/judge/side-mark"/>
          <p:cNvSpPr/>
          <p:nvPr/>
        </p:nvSpPr>
        <p:spPr>
          <a:xfrm>
            <a:off x="8343900" y="146685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8/card/judge/title"/>
          <p:cNvSpPr/>
          <p:nvPr/>
        </p:nvSpPr>
        <p:spPr>
          <a:xfrm>
            <a:off x="8496300" y="1466850"/>
            <a:ext cx="3238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评价者与输入</a:t>
            </a:r>
            <a:endParaRPr lang="zh-CN" sz="1800" dirty="0"/>
          </a:p>
        </p:txBody>
      </p:sp>
      <p:sp>
        <p:nvSpPr>
          <p:cNvPr id="12" name="S08/card/judge/body"/>
          <p:cNvSpPr/>
          <p:nvPr/>
        </p:nvSpPr>
        <p:spPr>
          <a:xfrm>
            <a:off x="8496300" y="1885950"/>
            <a:ext cx="3238500" cy="146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GPT-4o 读取任务、工具定义与计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划。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Critic 检查并修订 manager 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工具链。</a:t>
            </a:r>
            <a:endParaRPr lang="zh-CN" sz="1725" dirty="0"/>
          </a:p>
        </p:txBody>
      </p:sp>
      <p:sp>
        <p:nvSpPr>
          <p:cNvPr id="13" name="S08/card/execution/frame"/>
          <p:cNvSpPr/>
          <p:nvPr/>
        </p:nvSpPr>
        <p:spPr>
          <a:xfrm>
            <a:off x="8343900" y="3810000"/>
            <a:ext cx="33909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14" name="S08/card/execution/tab"/>
          <p:cNvSpPr/>
          <p:nvPr/>
        </p:nvSpPr>
        <p:spPr>
          <a:xfrm>
            <a:off x="8458200" y="3695700"/>
            <a:ext cx="1866900" cy="320040"/>
          </a:xfrm>
          <a:prstGeom prst="rect">
            <a:avLst/>
          </a:prstGeom>
          <a:solidFill>
            <a:srgbClr val="9D303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8/card/execution/title"/>
          <p:cNvSpPr/>
          <p:nvPr/>
        </p:nvSpPr>
        <p:spPr>
          <a:xfrm>
            <a:off x="8562975" y="372427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本项未执行工具</a:t>
            </a:r>
            <a:endParaRPr lang="zh-CN" sz="1800" dirty="0"/>
          </a:p>
        </p:txBody>
      </p:sp>
      <p:sp>
        <p:nvSpPr>
          <p:cNvPr id="16" name="S08/card/execution/body"/>
          <p:cNvSpPr/>
          <p:nvPr/>
        </p:nvSpPr>
        <p:spPr>
          <a:xfrm>
            <a:off x="8477250" y="4158615"/>
            <a:ext cx="31242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评分对象为计划的选择与顺序。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分数不能换算成任务成功率，也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不能替代结果核查。</a:t>
            </a:r>
            <a:endParaRPr lang="zh-CN" sz="1725" dirty="0"/>
          </a:p>
        </p:txBody>
      </p:sp>
      <p:sp>
        <p:nvSpPr>
          <p:cNvPr id="17" name="S08/card/effect-size/title"/>
          <p:cNvSpPr/>
          <p:nvPr/>
        </p:nvSpPr>
        <p:spPr>
          <a:xfrm>
            <a:off x="457200" y="4914900"/>
            <a:ext cx="74866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可支持的结论</a:t>
            </a:r>
            <a:endParaRPr lang="zh-CN" sz="1875" dirty="0"/>
          </a:p>
        </p:txBody>
      </p:sp>
      <p:sp>
        <p:nvSpPr>
          <p:cNvPr id="18" name="S08/card/effect-size/body"/>
          <p:cNvSpPr/>
          <p:nvPr/>
        </p:nvSpPr>
        <p:spPr>
          <a:xfrm>
            <a:off x="457200" y="5295900"/>
            <a:ext cx="7486650" cy="647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作者报告工具链模型评分改善，未据此给出显著性或实际执行收益。</a:t>
            </a:r>
            <a:endParaRPr lang="zh-CN" sz="1725" dirty="0"/>
          </a:p>
        </p:txBody>
      </p:sp>
      <p:sp>
        <p:nvSpPr>
          <p:cNvPr id="19" name="S0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14</a:t>
            </a:r>
            <a:endParaRPr lang="zh-CN" sz="1050" dirty="0"/>
          </a:p>
        </p:txBody>
      </p:sp>
      <p:sp>
        <p:nvSpPr>
          <p:cNvPr id="4" name="S09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 2 · 模型选择与结果检查</a:t>
            </a:r>
            <a:endParaRPr lang="zh-CN" sz="1200" dirty="0"/>
          </a:p>
        </p:txBody>
      </p:sp>
      <p:sp>
        <p:nvSpPr>
          <p:cNvPr id="5" name="S09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模型选择与数据分析使用不同任务集</a:t>
            </a:r>
            <a:endParaRPr lang="zh-CN" sz="2550" dirty="0"/>
          </a:p>
        </p:txBody>
      </p:sp>
      <p:sp>
        <p:nvSpPr>
          <p:cNvPr id="6" name="S09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graphicFrame>
        <p:nvGraphicFramePr>
          <p:cNvPr id="10" name="S09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90650"/>
          <a:ext cx="6858000" cy="1602486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评价对象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任务数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评价方式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正确项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模型类型选择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50 项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人工检查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50/50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具体模型选择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 项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人工检查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20/20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数据分析输出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 项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人工检查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17/20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9/table-caption"/>
          <p:cNvSpPr/>
          <p:nvPr/>
        </p:nvSpPr>
        <p:spPr>
          <a:xfrm>
            <a:off x="457200" y="3059811"/>
            <a:ext cx="68580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各行为独立定义的评价任务集，不能合并为同一种准确率。</a:t>
            </a:r>
            <a:endParaRPr lang="zh-CN" sz="1350" dirty="0"/>
          </a:p>
        </p:txBody>
      </p:sp>
      <p:sp>
        <p:nvSpPr>
          <p:cNvPr id="9" name="S09/card/set-design/frame"/>
          <p:cNvSpPr/>
          <p:nvPr/>
        </p:nvSpPr>
        <p:spPr>
          <a:xfrm>
            <a:off x="7696200" y="1390650"/>
            <a:ext cx="4038600" cy="200025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10" name="S09/card/set-design/heading-fill"/>
          <p:cNvSpPr/>
          <p:nvPr/>
        </p:nvSpPr>
        <p:spPr>
          <a:xfrm>
            <a:off x="7705725" y="1400175"/>
            <a:ext cx="4019550" cy="371475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9/card/set-design/heading-rule"/>
          <p:cNvSpPr/>
          <p:nvPr/>
        </p:nvSpPr>
        <p:spPr>
          <a:xfrm>
            <a:off x="7696200" y="1771650"/>
            <a:ext cx="40386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2" name="S09/card/set-design/title"/>
          <p:cNvSpPr/>
          <p:nvPr/>
        </p:nvSpPr>
        <p:spPr>
          <a:xfrm>
            <a:off x="7820025" y="1447800"/>
            <a:ext cx="37909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模型任务怎样构造</a:t>
            </a:r>
            <a:endParaRPr lang="zh-CN" sz="1800" dirty="0"/>
          </a:p>
        </p:txBody>
      </p:sp>
      <p:sp>
        <p:nvSpPr>
          <p:cNvPr id="13" name="S09/card/set-design/body"/>
          <p:cNvSpPr/>
          <p:nvPr/>
        </p:nvSpPr>
        <p:spPr>
          <a:xfrm>
            <a:off x="7829550" y="1885950"/>
            <a:ext cx="3771900" cy="1409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类型选择：分割、分类或回归。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具体模型：15 项可匹配，5 项无合适模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型。</a:t>
            </a:r>
            <a:endParaRPr lang="zh-CN" sz="1725" dirty="0"/>
          </a:p>
        </p:txBody>
      </p:sp>
      <p:sp>
        <p:nvSpPr>
          <p:cNvPr id="14" name="S09/card/generality/frame"/>
          <p:cNvSpPr/>
          <p:nvPr/>
        </p:nvSpPr>
        <p:spPr>
          <a:xfrm>
            <a:off x="7696200" y="3752850"/>
            <a:ext cx="4038600" cy="22479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15" name="S09/card/generality/tab"/>
          <p:cNvSpPr/>
          <p:nvPr/>
        </p:nvSpPr>
        <p:spPr>
          <a:xfrm>
            <a:off x="7810500" y="3638550"/>
            <a:ext cx="1866900" cy="320040"/>
          </a:xfrm>
          <a:prstGeom prst="rect">
            <a:avLst/>
          </a:prstGeom>
          <a:solidFill>
            <a:srgbClr val="9D303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9/card/generality/title"/>
          <p:cNvSpPr/>
          <p:nvPr/>
        </p:nvSpPr>
        <p:spPr>
          <a:xfrm>
            <a:off x="7915275" y="366712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满分结果的外推</a:t>
            </a:r>
            <a:endParaRPr lang="zh-CN" sz="1800" dirty="0"/>
          </a:p>
        </p:txBody>
      </p:sp>
      <p:sp>
        <p:nvSpPr>
          <p:cNvPr id="17" name="S09/card/generality/body"/>
          <p:cNvSpPr/>
          <p:nvPr/>
        </p:nvSpPr>
        <p:spPr>
          <a:xfrm>
            <a:off x="7829550" y="4101465"/>
            <a:ext cx="3771900" cy="1804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100% 对应作者构造的模型选择集合。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路由正确仍需继续检查执行结果与新场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景。</a:t>
            </a:r>
            <a:endParaRPr lang="zh-CN" sz="1725" dirty="0"/>
          </a:p>
        </p:txBody>
      </p:sp>
      <p:sp>
        <p:nvSpPr>
          <p:cNvPr id="18" name="S09/card/feedback/title"/>
          <p:cNvSpPr/>
          <p:nvPr/>
        </p:nvSpPr>
        <p:spPr>
          <a:xfrm>
            <a:off x="457200" y="5010150"/>
            <a:ext cx="6858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运行与核查</a:t>
            </a:r>
            <a:endParaRPr lang="zh-CN" sz="1875" dirty="0"/>
          </a:p>
        </p:txBody>
      </p:sp>
      <p:sp>
        <p:nvSpPr>
          <p:cNvPr id="19" name="S09/card/feedback/body"/>
          <p:cNvSpPr/>
          <p:nvPr/>
        </p:nvSpPr>
        <p:spPr>
          <a:xfrm>
            <a:off x="457200" y="5391150"/>
            <a:ext cx="685800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评价中无实时人工反馈；人工检查发生在结果评价阶段。</a:t>
            </a:r>
            <a:endParaRPr lang="zh-CN" sz="1725" dirty="0"/>
          </a:p>
        </p:txBody>
      </p:sp>
      <p:sp>
        <p:nvSpPr>
          <p:cNvPr id="20" name="S0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1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14</a:t>
            </a:r>
            <a:endParaRPr lang="zh-CN" sz="1050" dirty="0"/>
          </a:p>
        </p:txBody>
      </p:sp>
      <p:sp>
        <p:nvSpPr>
          <p:cNvPr id="4" name="S10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 3 · 实际数据分析任务</a:t>
            </a:r>
            <a:endParaRPr lang="zh-CN" sz="1200" dirty="0"/>
          </a:p>
        </p:txBody>
      </p:sp>
      <p:sp>
        <p:nvSpPr>
          <p:cNvPr id="5" name="S10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 项数据分析中，17 项输出通过人工检查</a:t>
            </a:r>
            <a:endParaRPr lang="zh-CN" sz="2550" dirty="0"/>
          </a:p>
        </p:txBody>
      </p:sp>
      <p:sp>
        <p:nvSpPr>
          <p:cNvPr id="6" name="S10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10/takeaway"/>
          <p:cNvSpPr/>
          <p:nvPr/>
        </p:nvSpPr>
        <p:spPr>
          <a:xfrm>
            <a:off x="457200" y="5867400"/>
            <a:ext cx="76962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任务输出的正确性由人工检查，图为原文计数重绘。</a:t>
            </a:r>
            <a:endParaRPr lang="zh-CN" sz="1800" dirty="0"/>
          </a:p>
        </p:txBody>
      </p:sp>
      <p:graphicFrame>
        <p:nvGraphicFramePr>
          <p:cNvPr id="8" name="S10/data-chart" descr=""/>
          <p:cNvGraphicFramePr/>
          <p:nvPr/>
        </p:nvGraphicFramePr>
        <p:xfrm>
          <a:off x="457200" y="1409700"/>
          <a:ext cx="7696200" cy="43053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10/card/count/base-rule"/>
          <p:cNvSpPr/>
          <p:nvPr/>
        </p:nvSpPr>
        <p:spPr>
          <a:xfrm>
            <a:off x="8458200" y="2781300"/>
            <a:ext cx="327660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10" name="S10/card/count/side-mark"/>
          <p:cNvSpPr/>
          <p:nvPr/>
        </p:nvSpPr>
        <p:spPr>
          <a:xfrm>
            <a:off x="8458200" y="140970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0/card/count/title"/>
          <p:cNvSpPr/>
          <p:nvPr/>
        </p:nvSpPr>
        <p:spPr>
          <a:xfrm>
            <a:off x="8610600" y="1409700"/>
            <a:ext cx="3124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评价结果</a:t>
            </a:r>
            <a:endParaRPr lang="zh-CN" sz="1800" dirty="0"/>
          </a:p>
        </p:txBody>
      </p:sp>
      <p:sp>
        <p:nvSpPr>
          <p:cNvPr id="12" name="S10/card/count/body"/>
          <p:cNvSpPr/>
          <p:nvPr/>
        </p:nvSpPr>
        <p:spPr>
          <a:xfrm>
            <a:off x="8610600" y="1828800"/>
            <a:ext cx="31242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正确 17 项，失败 3 项。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分母为 20 项数据分析任务。</a:t>
            </a:r>
            <a:endParaRPr lang="zh-CN" sz="1725" dirty="0"/>
          </a:p>
        </p:txBody>
      </p:sp>
      <p:sp>
        <p:nvSpPr>
          <p:cNvPr id="13" name="S10/card/failure/heading-rule"/>
          <p:cNvSpPr/>
          <p:nvPr/>
        </p:nvSpPr>
        <p:spPr>
          <a:xfrm>
            <a:off x="8458200" y="3371850"/>
            <a:ext cx="32766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4" name="S10/card/failure/heading-mark"/>
          <p:cNvSpPr/>
          <p:nvPr/>
        </p:nvSpPr>
        <p:spPr>
          <a:xfrm>
            <a:off x="8458200" y="3371850"/>
            <a:ext cx="342900" cy="0"/>
          </a:xfrm>
          <a:prstGeom prst="line">
            <a:avLst/>
          </a:prstGeom>
          <a:noFill/>
          <a:ln w="17145">
            <a:solidFill>
              <a:srgbClr val="9D3038"/>
            </a:solidFill>
            <a:prstDash val="solid"/>
          </a:ln>
        </p:spPr>
      </p:sp>
      <p:sp>
        <p:nvSpPr>
          <p:cNvPr id="15" name="S10/card/failure/title"/>
          <p:cNvSpPr/>
          <p:nvPr/>
        </p:nvSpPr>
        <p:spPr>
          <a:xfrm>
            <a:off x="8458200" y="3028950"/>
            <a:ext cx="3276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D30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失败类型</a:t>
            </a:r>
            <a:endParaRPr lang="zh-CN" sz="1875" dirty="0"/>
          </a:p>
        </p:txBody>
      </p:sp>
      <p:sp>
        <p:nvSpPr>
          <p:cNvPr id="16" name="S10/card/failure/body"/>
          <p:cNvSpPr/>
          <p:nvPr/>
        </p:nvSpPr>
        <p:spPr>
          <a:xfrm>
            <a:off x="8458200" y="3505200"/>
            <a:ext cx="327660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项失败均涉及细粒度图表读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取。</a:t>
            </a:r>
            <a:endParaRPr lang="zh-CN" sz="1800" dirty="0"/>
          </a:p>
        </p:txBody>
      </p:sp>
      <p:sp>
        <p:nvSpPr>
          <p:cNvPr id="17" name="S10/card/scope-limit/frame"/>
          <p:cNvSpPr/>
          <p:nvPr/>
        </p:nvSpPr>
        <p:spPr>
          <a:xfrm>
            <a:off x="8458200" y="4724400"/>
            <a:ext cx="3276600" cy="127635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18" name="S10/card/scope-limit/tab"/>
          <p:cNvSpPr/>
          <p:nvPr/>
        </p:nvSpPr>
        <p:spPr>
          <a:xfrm>
            <a:off x="8572500" y="4610100"/>
            <a:ext cx="1181100" cy="320040"/>
          </a:xfrm>
          <a:prstGeom prst="rect">
            <a:avLst/>
          </a:prstGeom>
          <a:solidFill>
            <a:srgbClr val="9D303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10/card/scope-limit/title"/>
          <p:cNvSpPr/>
          <p:nvPr/>
        </p:nvSpPr>
        <p:spPr>
          <a:xfrm>
            <a:off x="8677275" y="46386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适用范围</a:t>
            </a:r>
            <a:endParaRPr lang="zh-CN" sz="1800" dirty="0"/>
          </a:p>
        </p:txBody>
      </p:sp>
      <p:sp>
        <p:nvSpPr>
          <p:cNvPr id="20" name="S10/card/scope-limit/body"/>
          <p:cNvSpPr/>
          <p:nvPr/>
        </p:nvSpPr>
        <p:spPr>
          <a:xfrm>
            <a:off x="8591550" y="5073015"/>
            <a:ext cx="3009900" cy="832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未评价灌溉、施肥决策及增产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收益。</a:t>
            </a:r>
            <a:endParaRPr lang="zh-CN" sz="1725" dirty="0"/>
          </a:p>
        </p:txBody>
      </p:sp>
      <p:sp>
        <p:nvSpPr>
          <p:cNvPr id="21" name="S1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1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/ 14</a:t>
            </a:r>
            <a:endParaRPr lang="zh-CN" sz="1050" dirty="0"/>
          </a:p>
        </p:txBody>
      </p:sp>
      <p:sp>
        <p:nvSpPr>
          <p:cNvPr id="4" name="S1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失败机制分析 · 根据原文任务链重绘</a:t>
            </a:r>
            <a:endParaRPr lang="zh-CN" sz="1200" dirty="0"/>
          </a:p>
        </p:txBody>
      </p:sp>
      <p:sp>
        <p:nvSpPr>
          <p:cNvPr id="5" name="S1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细粒度读图是数据链中的解释风险</a:t>
            </a:r>
            <a:endParaRPr lang="zh-CN" sz="2550" dirty="0"/>
          </a:p>
        </p:txBody>
      </p:sp>
      <p:sp>
        <p:nvSpPr>
          <p:cNvPr id="6" name="S1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11/edge:0"/>
          <p:cNvSpPr/>
          <p:nvPr/>
        </p:nvSpPr>
        <p:spPr>
          <a:xfrm>
            <a:off x="2819400" y="2171700"/>
            <a:ext cx="62865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8" name="S11/edge:0:label"/>
          <p:cNvSpPr/>
          <p:nvPr/>
        </p:nvSpPr>
        <p:spPr>
          <a:xfrm>
            <a:off x="2752725" y="19431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绘图</a:t>
            </a:r>
            <a:endParaRPr lang="zh-CN" sz="1275" dirty="0"/>
          </a:p>
        </p:txBody>
      </p:sp>
      <p:sp>
        <p:nvSpPr>
          <p:cNvPr id="9" name="S11/edge:1"/>
          <p:cNvSpPr/>
          <p:nvPr/>
        </p:nvSpPr>
        <p:spPr>
          <a:xfrm>
            <a:off x="5810250" y="2171700"/>
            <a:ext cx="62865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0" name="S11/edge:1:label"/>
          <p:cNvSpPr/>
          <p:nvPr/>
        </p:nvSpPr>
        <p:spPr>
          <a:xfrm>
            <a:off x="5743575" y="19431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图像判读</a:t>
            </a:r>
            <a:endParaRPr lang="zh-CN" sz="1275" dirty="0"/>
          </a:p>
        </p:txBody>
      </p:sp>
      <p:sp>
        <p:nvSpPr>
          <p:cNvPr id="11" name="S11/edge:2"/>
          <p:cNvSpPr/>
          <p:nvPr/>
        </p:nvSpPr>
        <p:spPr>
          <a:xfrm>
            <a:off x="8801100" y="2171700"/>
            <a:ext cx="628650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2" name="S11/edge:2:label"/>
          <p:cNvSpPr/>
          <p:nvPr/>
        </p:nvSpPr>
        <p:spPr>
          <a:xfrm>
            <a:off x="8734425" y="19431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汇总</a:t>
            </a:r>
            <a:endParaRPr lang="zh-CN" sz="1275" dirty="0"/>
          </a:p>
        </p:txBody>
      </p:sp>
      <p:sp>
        <p:nvSpPr>
          <p:cNvPr id="13" name="S11/node:csv:frame"/>
          <p:cNvSpPr/>
          <p:nvPr/>
        </p:nvSpPr>
        <p:spPr>
          <a:xfrm>
            <a:off x="45720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14" name="S11/node:csv:heading-rule"/>
          <p:cNvSpPr/>
          <p:nvPr/>
        </p:nvSpPr>
        <p:spPr>
          <a:xfrm>
            <a:off x="457200" y="1543050"/>
            <a:ext cx="23622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15" name="S11/node:csv:label"/>
          <p:cNvSpPr/>
          <p:nvPr/>
        </p:nvSpPr>
        <p:spPr>
          <a:xfrm>
            <a:off x="57150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原始表型表</a:t>
            </a:r>
            <a:endParaRPr lang="zh-CN" sz="1800" dirty="0"/>
          </a:p>
        </p:txBody>
      </p:sp>
      <p:sp>
        <p:nvSpPr>
          <p:cNvPr id="16" name="S11/node:csv:detail"/>
          <p:cNvSpPr/>
          <p:nvPr/>
        </p:nvSpPr>
        <p:spPr>
          <a:xfrm>
            <a:off x="57150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数值、时间与生态型</a:t>
            </a:r>
            <a:endParaRPr lang="zh-CN" sz="1650" dirty="0"/>
          </a:p>
        </p:txBody>
      </p:sp>
      <p:sp>
        <p:nvSpPr>
          <p:cNvPr id="17" name="S11/node:plot:frame"/>
          <p:cNvSpPr/>
          <p:nvPr/>
        </p:nvSpPr>
        <p:spPr>
          <a:xfrm>
            <a:off x="344805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18" name="S11/node:plot:heading-rule"/>
          <p:cNvSpPr/>
          <p:nvPr/>
        </p:nvSpPr>
        <p:spPr>
          <a:xfrm>
            <a:off x="3448050" y="1543050"/>
            <a:ext cx="23622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19" name="S11/node:plot:label"/>
          <p:cNvSpPr/>
          <p:nvPr/>
        </p:nvSpPr>
        <p:spPr>
          <a:xfrm>
            <a:off x="356235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统计图</a:t>
            </a:r>
            <a:endParaRPr lang="zh-CN" sz="1800" dirty="0"/>
          </a:p>
        </p:txBody>
      </p:sp>
      <p:sp>
        <p:nvSpPr>
          <p:cNvPr id="20" name="S11/node:plot:detail"/>
          <p:cNvSpPr/>
          <p:nvPr/>
        </p:nvSpPr>
        <p:spPr>
          <a:xfrm>
            <a:off x="356235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坐标、曲线与图例</a:t>
            </a:r>
            <a:endParaRPr lang="zh-CN" sz="1650" dirty="0"/>
          </a:p>
        </p:txBody>
      </p:sp>
      <p:sp>
        <p:nvSpPr>
          <p:cNvPr id="21" name="S11/node:read:frame"/>
          <p:cNvSpPr/>
          <p:nvPr/>
        </p:nvSpPr>
        <p:spPr>
          <a:xfrm>
            <a:off x="643890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2" name="S11/node:read:heading-rule"/>
          <p:cNvSpPr/>
          <p:nvPr/>
        </p:nvSpPr>
        <p:spPr>
          <a:xfrm>
            <a:off x="6438900" y="1543050"/>
            <a:ext cx="23622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3" name="S11/node:read:label"/>
          <p:cNvSpPr/>
          <p:nvPr/>
        </p:nvSpPr>
        <p:spPr>
          <a:xfrm>
            <a:off x="655320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Plot analyser</a:t>
            </a:r>
            <a:endParaRPr lang="zh-CN" sz="1800" dirty="0"/>
          </a:p>
        </p:txBody>
      </p:sp>
      <p:sp>
        <p:nvSpPr>
          <p:cNvPr id="24" name="S11/node:read:detail"/>
          <p:cNvSpPr/>
          <p:nvPr/>
        </p:nvSpPr>
        <p:spPr>
          <a:xfrm>
            <a:off x="655320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读取细节并解释</a:t>
            </a:r>
            <a:endParaRPr lang="zh-CN" sz="1650" dirty="0"/>
          </a:p>
        </p:txBody>
      </p:sp>
      <p:sp>
        <p:nvSpPr>
          <p:cNvPr id="25" name="S11/node:answer:frame"/>
          <p:cNvSpPr/>
          <p:nvPr/>
        </p:nvSpPr>
        <p:spPr>
          <a:xfrm>
            <a:off x="9429750" y="1543050"/>
            <a:ext cx="230505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6" name="S11/node:answer:heading-rule"/>
          <p:cNvSpPr/>
          <p:nvPr/>
        </p:nvSpPr>
        <p:spPr>
          <a:xfrm>
            <a:off x="9429750" y="1543050"/>
            <a:ext cx="23050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7" name="S11/node:answer:label"/>
          <p:cNvSpPr/>
          <p:nvPr/>
        </p:nvSpPr>
        <p:spPr>
          <a:xfrm>
            <a:off x="9544050" y="16383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语言答案</a:t>
            </a:r>
            <a:endParaRPr lang="zh-CN" sz="1800" dirty="0"/>
          </a:p>
        </p:txBody>
      </p:sp>
      <p:sp>
        <p:nvSpPr>
          <p:cNvPr id="28" name="S11/node:answer:detail"/>
          <p:cNvSpPr/>
          <p:nvPr/>
        </p:nvSpPr>
        <p:spPr>
          <a:xfrm>
            <a:off x="9544050" y="1952625"/>
            <a:ext cx="20764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排序、时间点或结论</a:t>
            </a:r>
            <a:endParaRPr lang="zh-CN" sz="1650" dirty="0"/>
          </a:p>
        </p:txBody>
      </p:sp>
      <p:sp>
        <p:nvSpPr>
          <p:cNvPr id="29" name="S11/card/observed/frame"/>
          <p:cNvSpPr/>
          <p:nvPr/>
        </p:nvSpPr>
        <p:spPr>
          <a:xfrm>
            <a:off x="457200" y="4210050"/>
            <a:ext cx="5486400" cy="180975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30" name="S11/card/observed/tab"/>
          <p:cNvSpPr/>
          <p:nvPr/>
        </p:nvSpPr>
        <p:spPr>
          <a:xfrm>
            <a:off x="571500" y="4095750"/>
            <a:ext cx="1181100" cy="320040"/>
          </a:xfrm>
          <a:prstGeom prst="rect">
            <a:avLst/>
          </a:prstGeom>
          <a:solidFill>
            <a:srgbClr val="9D303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1/card/observed/title"/>
          <p:cNvSpPr/>
          <p:nvPr/>
        </p:nvSpPr>
        <p:spPr>
          <a:xfrm>
            <a:off x="676275" y="4124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原文观察</a:t>
            </a:r>
            <a:endParaRPr lang="zh-CN" sz="1800" dirty="0"/>
          </a:p>
        </p:txBody>
      </p:sp>
      <p:sp>
        <p:nvSpPr>
          <p:cNvPr id="32" name="S11/card/observed/body"/>
          <p:cNvSpPr/>
          <p:nvPr/>
        </p:nvSpPr>
        <p:spPr>
          <a:xfrm>
            <a:off x="590550" y="4558665"/>
            <a:ext cx="5219700" cy="1365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失败集中在需要精细图表信息的任务。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它揭示了局部读数的可靠性问题，不能推广为所有视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觉理解均无效。</a:t>
            </a:r>
            <a:endParaRPr lang="zh-CN" sz="1725" dirty="0"/>
          </a:p>
        </p:txBody>
      </p:sp>
      <p:sp>
        <p:nvSpPr>
          <p:cNvPr id="33" name="S11/card/traceable/heading-rule"/>
          <p:cNvSpPr/>
          <p:nvPr/>
        </p:nvSpPr>
        <p:spPr>
          <a:xfrm>
            <a:off x="6248400" y="4457700"/>
            <a:ext cx="54864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34" name="S11/card/traceable/heading-mark"/>
          <p:cNvSpPr/>
          <p:nvPr/>
        </p:nvSpPr>
        <p:spPr>
          <a:xfrm>
            <a:off x="6248400" y="4457700"/>
            <a:ext cx="342900" cy="0"/>
          </a:xfrm>
          <a:prstGeom prst="line">
            <a:avLst/>
          </a:prstGeom>
          <a:noFill/>
          <a:ln w="17145">
            <a:solidFill>
              <a:srgbClr val="455C76"/>
            </a:solidFill>
            <a:prstDash val="solid"/>
          </a:ln>
        </p:spPr>
      </p:sp>
      <p:sp>
        <p:nvSpPr>
          <p:cNvPr id="35" name="S11/card/traceable/title"/>
          <p:cNvSpPr/>
          <p:nvPr/>
        </p:nvSpPr>
        <p:spPr>
          <a:xfrm>
            <a:off x="6248400" y="4114800"/>
            <a:ext cx="5486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455C7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待检验的修复方向</a:t>
            </a:r>
            <a:endParaRPr lang="zh-CN" sz="1875" dirty="0"/>
          </a:p>
        </p:txBody>
      </p:sp>
      <p:sp>
        <p:nvSpPr>
          <p:cNvPr id="36" name="S11/card/traceable/body"/>
          <p:cNvSpPr/>
          <p:nvPr/>
        </p:nvSpPr>
        <p:spPr>
          <a:xfrm>
            <a:off x="6248400" y="4591050"/>
            <a:ext cx="5486400" cy="1390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关键读数回查结构化源数据，保留变量、单位和时间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点。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无法追溯或相互矛盾时触发复核。</a:t>
            </a:r>
            <a:endParaRPr lang="zh-CN" sz="1800" dirty="0"/>
          </a:p>
        </p:txBody>
      </p:sp>
      <p:sp>
        <p:nvSpPr>
          <p:cNvPr id="37" name="S1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1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14</a:t>
            </a:r>
            <a:endParaRPr lang="zh-CN" sz="1050" dirty="0"/>
          </a:p>
        </p:txBody>
      </p:sp>
      <p:sp>
        <p:nvSpPr>
          <p:cNvPr id="4" name="S1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综合讨论 · Discussion / Methods / 官方代码</a:t>
            </a:r>
            <a:endParaRPr lang="zh-CN" sz="1200" dirty="0"/>
          </a:p>
        </p:txBody>
      </p:sp>
      <p:sp>
        <p:nvSpPr>
          <p:cNvPr id="5" name="S1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现有证据的覆盖范围与外推条件</a:t>
            </a:r>
            <a:endParaRPr lang="zh-CN" sz="2550" dirty="0"/>
          </a:p>
        </p:txBody>
      </p:sp>
      <p:sp>
        <p:nvSpPr>
          <p:cNvPr id="6" name="S1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12/takeaway"/>
          <p:cNvSpPr/>
          <p:nvPr/>
        </p:nvSpPr>
        <p:spPr>
          <a:xfrm>
            <a:off x="457200" y="5638800"/>
            <a:ext cx="79438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表型分析可靠性与农艺决策收益，需要不同层级的验证。</a:t>
            </a:r>
            <a:endParaRPr lang="zh-CN" sz="1800" dirty="0"/>
          </a:p>
        </p:txBody>
      </p:sp>
      <p:graphicFrame>
        <p:nvGraphicFramePr>
          <p:cNvPr id="13" name="S12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9700"/>
          <a:ext cx="7943850" cy="2003108"/>
        </p:xfrm>
        <a:graphic>
          <a:graphicData uri="http://schemas.openxmlformats.org/drawingml/2006/table">
            <a:tbl>
              <a:tblPr/>
              <a:tblGrid>
                <a:gridCol w="2647950"/>
                <a:gridCol w="2647950"/>
                <a:gridCol w="26479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问题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当前证据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83B6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需要的验证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工具覆盖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专用模型与固定工具库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新作物与条件适配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评价范围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作者构造的任务集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外部任务与重复运行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组件归因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系统与部分计划比较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同工具、同预算消融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C5C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栽培控制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未设置农艺控制动作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71C22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处理对照与农艺终点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83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12/table-caption"/>
          <p:cNvSpPr/>
          <p:nvPr/>
        </p:nvSpPr>
        <p:spPr>
          <a:xfrm>
            <a:off x="457200" y="3479483"/>
            <a:ext cx="79438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前两项来自研究设计与讨论；归因和栽培范围为本汇报的证据边界分析。</a:t>
            </a:r>
            <a:endParaRPr lang="zh-CN" sz="1350" dirty="0"/>
          </a:p>
        </p:txBody>
      </p:sp>
      <p:sp>
        <p:nvSpPr>
          <p:cNvPr id="10" name="S12/card/model-version/base-rule"/>
          <p:cNvSpPr/>
          <p:nvPr/>
        </p:nvSpPr>
        <p:spPr>
          <a:xfrm>
            <a:off x="8724900" y="3505200"/>
            <a:ext cx="300990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11" name="S12/card/model-version/side-mark"/>
          <p:cNvSpPr/>
          <p:nvPr/>
        </p:nvSpPr>
        <p:spPr>
          <a:xfrm>
            <a:off x="8724900" y="142875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2/card/model-version/title"/>
          <p:cNvSpPr/>
          <p:nvPr/>
        </p:nvSpPr>
        <p:spPr>
          <a:xfrm>
            <a:off x="8877300" y="1428750"/>
            <a:ext cx="2857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实验模型</a:t>
            </a:r>
            <a:endParaRPr lang="zh-CN" sz="1800" dirty="0"/>
          </a:p>
        </p:txBody>
      </p:sp>
      <p:sp>
        <p:nvSpPr>
          <p:cNvPr id="13" name="S12/card/model-version/body"/>
          <p:cNvSpPr/>
          <p:nvPr/>
        </p:nvSpPr>
        <p:spPr>
          <a:xfrm>
            <a:off x="8877300" y="1847850"/>
            <a:ext cx="2857500" cy="156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案例和评测使用 GPT-4o 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2024-08-06，经 Azure 调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不是 DeepSeek 效果测试。</a:t>
            </a:r>
            <a:endParaRPr lang="zh-CN" sz="1725" dirty="0"/>
          </a:p>
        </p:txBody>
      </p:sp>
      <p:sp>
        <p:nvSpPr>
          <p:cNvPr id="14" name="S12/card/priority/frame"/>
          <p:cNvSpPr/>
          <p:nvPr/>
        </p:nvSpPr>
        <p:spPr>
          <a:xfrm>
            <a:off x="8724900" y="3867150"/>
            <a:ext cx="3009900" cy="21336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15" name="S12/card/priority/tab"/>
          <p:cNvSpPr/>
          <p:nvPr/>
        </p:nvSpPr>
        <p:spPr>
          <a:xfrm>
            <a:off x="8839200" y="3752850"/>
            <a:ext cx="1409700" cy="32004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2/card/priority/title"/>
          <p:cNvSpPr/>
          <p:nvPr/>
        </p:nvSpPr>
        <p:spPr>
          <a:xfrm>
            <a:off x="8943975" y="3781425"/>
            <a:ext cx="12001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研究优先级</a:t>
            </a:r>
            <a:endParaRPr lang="zh-CN" sz="1800" dirty="0"/>
          </a:p>
        </p:txBody>
      </p:sp>
      <p:sp>
        <p:nvSpPr>
          <p:cNvPr id="17" name="S12/card/priority/body"/>
          <p:cNvSpPr/>
          <p:nvPr/>
        </p:nvSpPr>
        <p:spPr>
          <a:xfrm>
            <a:off x="8858250" y="4215765"/>
            <a:ext cx="2743200" cy="1689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先研究关键分析错误与核验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代价。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田间控制需要单独设计试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验。</a:t>
            </a:r>
            <a:endParaRPr lang="zh-CN" sz="1725" dirty="0"/>
          </a:p>
        </p:txBody>
      </p:sp>
      <p:sp>
        <p:nvSpPr>
          <p:cNvPr id="18" name="S1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1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 / 14</a:t>
            </a:r>
            <a:endParaRPr lang="zh-CN" sz="1050" dirty="0"/>
          </a:p>
        </p:txBody>
      </p:sp>
      <p:sp>
        <p:nvSpPr>
          <p:cNvPr id="4" name="S1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研究提议 · 尚未实施</a:t>
            </a:r>
            <a:endParaRPr lang="zh-CN" sz="1200" dirty="0"/>
          </a:p>
        </p:txBody>
      </p:sp>
      <p:sp>
        <p:nvSpPr>
          <p:cNvPr id="5" name="S1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研究方案：在共同预算下检验读数核验</a:t>
            </a:r>
            <a:endParaRPr lang="zh-CN" sz="2550" dirty="0"/>
          </a:p>
        </p:txBody>
      </p:sp>
      <p:sp>
        <p:nvSpPr>
          <p:cNvPr id="6" name="S1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7" name="S13/edge:0:segment:0"/>
          <p:cNvSpPr/>
          <p:nvPr/>
        </p:nvSpPr>
        <p:spPr>
          <a:xfrm>
            <a:off x="4362450" y="2305050"/>
            <a:ext cx="0" cy="41910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8" name="S13/edge:0:segment:1"/>
          <p:cNvSpPr/>
          <p:nvPr/>
        </p:nvSpPr>
        <p:spPr>
          <a:xfrm flipH="1">
            <a:off x="1876425" y="2724150"/>
            <a:ext cx="24860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9" name="S13/edge:0:segment:2"/>
          <p:cNvSpPr/>
          <p:nvPr/>
        </p:nvSpPr>
        <p:spPr>
          <a:xfrm>
            <a:off x="1876425" y="2724150"/>
            <a:ext cx="0" cy="41910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0" name="S13/edge:0:label"/>
          <p:cNvSpPr/>
          <p:nvPr/>
        </p:nvSpPr>
        <p:spPr>
          <a:xfrm>
            <a:off x="2738438" y="249555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相同任务</a:t>
            </a:r>
            <a:endParaRPr lang="zh-CN" sz="1275" dirty="0"/>
          </a:p>
        </p:txBody>
      </p:sp>
      <p:sp>
        <p:nvSpPr>
          <p:cNvPr id="11" name="S13/edge:1:segment:0"/>
          <p:cNvSpPr/>
          <p:nvPr/>
        </p:nvSpPr>
        <p:spPr>
          <a:xfrm>
            <a:off x="4362450" y="2305050"/>
            <a:ext cx="0" cy="41910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2" name="S13/edge:1:segment:1"/>
          <p:cNvSpPr/>
          <p:nvPr/>
        </p:nvSpPr>
        <p:spPr>
          <a:xfrm>
            <a:off x="4362450" y="2724150"/>
            <a:ext cx="21812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3" name="S13/edge:1:segment:2"/>
          <p:cNvSpPr/>
          <p:nvPr/>
        </p:nvSpPr>
        <p:spPr>
          <a:xfrm>
            <a:off x="6543675" y="2724150"/>
            <a:ext cx="0" cy="41910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4" name="S13/edge:1:label"/>
          <p:cNvSpPr/>
          <p:nvPr/>
        </p:nvSpPr>
        <p:spPr>
          <a:xfrm>
            <a:off x="5072063" y="249555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3"/>
              </a:lnSpc>
              <a:buNone/>
            </a:pPr>
            <a:r>
              <a:rPr lang="zh-CN" altLang="en-US" sz="127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相同任务</a:t>
            </a:r>
            <a:endParaRPr lang="zh-CN" sz="1275" dirty="0"/>
          </a:p>
        </p:txBody>
      </p:sp>
      <p:sp>
        <p:nvSpPr>
          <p:cNvPr id="15" name="S13/edge:2:segment:0"/>
          <p:cNvSpPr/>
          <p:nvPr/>
        </p:nvSpPr>
        <p:spPr>
          <a:xfrm>
            <a:off x="3086100" y="3752850"/>
            <a:ext cx="476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6" name="S13/edge:2:segment:1"/>
          <p:cNvSpPr/>
          <p:nvPr/>
        </p:nvSpPr>
        <p:spPr>
          <a:xfrm>
            <a:off x="3133725" y="3752850"/>
            <a:ext cx="0" cy="1762125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7" name="S13/edge:2:segment:2"/>
          <p:cNvSpPr/>
          <p:nvPr/>
        </p:nvSpPr>
        <p:spPr>
          <a:xfrm>
            <a:off x="3133725" y="5514975"/>
            <a:ext cx="476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18" name="S13/edge:3:segment:0"/>
          <p:cNvSpPr/>
          <p:nvPr/>
        </p:nvSpPr>
        <p:spPr>
          <a:xfrm>
            <a:off x="6543675" y="4362450"/>
            <a:ext cx="0" cy="34290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19" name="S13/edge:3:segment:1"/>
          <p:cNvSpPr/>
          <p:nvPr/>
        </p:nvSpPr>
        <p:spPr>
          <a:xfrm flipH="1">
            <a:off x="4362450" y="4705350"/>
            <a:ext cx="2181225" cy="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</a:ln>
        </p:spPr>
      </p:sp>
      <p:sp>
        <p:nvSpPr>
          <p:cNvPr id="20" name="S13/edge:3:segment:2"/>
          <p:cNvSpPr/>
          <p:nvPr/>
        </p:nvSpPr>
        <p:spPr>
          <a:xfrm>
            <a:off x="4362450" y="4705350"/>
            <a:ext cx="0" cy="342900"/>
          </a:xfrm>
          <a:prstGeom prst="line">
            <a:avLst/>
          </a:prstGeom>
          <a:noFill/>
          <a:ln w="15240">
            <a:solidFill>
              <a:srgbClr val="455C76"/>
            </a:solidFill>
            <a:prstDash val="solid"/>
            <a:tailEnd type="triangle"/>
          </a:ln>
        </p:spPr>
      </p:sp>
      <p:sp>
        <p:nvSpPr>
          <p:cNvPr id="21" name="S13/node:tasks:frame"/>
          <p:cNvSpPr/>
          <p:nvPr/>
        </p:nvSpPr>
        <p:spPr>
          <a:xfrm>
            <a:off x="3181350" y="1409700"/>
            <a:ext cx="236220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2" name="S13/node:tasks:heading-rule"/>
          <p:cNvSpPr/>
          <p:nvPr/>
        </p:nvSpPr>
        <p:spPr>
          <a:xfrm>
            <a:off x="3181350" y="1409700"/>
            <a:ext cx="23622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3" name="S13/node:tasks:label"/>
          <p:cNvSpPr/>
          <p:nvPr/>
        </p:nvSpPr>
        <p:spPr>
          <a:xfrm>
            <a:off x="3295650" y="150495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同一留出任务集</a:t>
            </a:r>
            <a:endParaRPr lang="zh-CN" sz="1800" dirty="0"/>
          </a:p>
        </p:txBody>
      </p:sp>
      <p:sp>
        <p:nvSpPr>
          <p:cNvPr id="24" name="S13/node:tasks:detail"/>
          <p:cNvSpPr/>
          <p:nvPr/>
        </p:nvSpPr>
        <p:spPr>
          <a:xfrm>
            <a:off x="3295650" y="1819275"/>
            <a:ext cx="2133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源数据与图表配对</a:t>
            </a:r>
            <a:endParaRPr lang="zh-CN" sz="1650" dirty="0"/>
          </a:p>
        </p:txBody>
      </p:sp>
      <p:sp>
        <p:nvSpPr>
          <p:cNvPr id="25" name="S13/node:control:frame"/>
          <p:cNvSpPr/>
          <p:nvPr/>
        </p:nvSpPr>
        <p:spPr>
          <a:xfrm>
            <a:off x="666750" y="3143250"/>
            <a:ext cx="24193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26" name="S13/node:control:heading-rule"/>
          <p:cNvSpPr/>
          <p:nvPr/>
        </p:nvSpPr>
        <p:spPr>
          <a:xfrm>
            <a:off x="666750" y="3143250"/>
            <a:ext cx="24193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27" name="S13/node:control:label"/>
          <p:cNvSpPr/>
          <p:nvPr/>
        </p:nvSpPr>
        <p:spPr>
          <a:xfrm>
            <a:off x="781050" y="3238500"/>
            <a:ext cx="21907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Manager 基线</a:t>
            </a:r>
            <a:endParaRPr lang="zh-CN" sz="1800" dirty="0"/>
          </a:p>
        </p:txBody>
      </p:sp>
      <p:sp>
        <p:nvSpPr>
          <p:cNvPr id="28" name="S13/node:control:detail"/>
          <p:cNvSpPr/>
          <p:nvPr/>
        </p:nvSpPr>
        <p:spPr>
          <a:xfrm>
            <a:off x="781050" y="3552825"/>
            <a:ext cx="21907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常规工具编排</a:t>
            </a:r>
            <a:endParaRPr lang="zh-CN" sz="1650" dirty="0"/>
          </a:p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可读同一源数据</a:t>
            </a:r>
            <a:endParaRPr lang="zh-CN" sz="1650" dirty="0"/>
          </a:p>
        </p:txBody>
      </p:sp>
      <p:sp>
        <p:nvSpPr>
          <p:cNvPr id="29" name="S13/node:verify:frame"/>
          <p:cNvSpPr/>
          <p:nvPr/>
        </p:nvSpPr>
        <p:spPr>
          <a:xfrm>
            <a:off x="5334000" y="3143250"/>
            <a:ext cx="24193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30" name="S13/node:verify:heading-rule"/>
          <p:cNvSpPr/>
          <p:nvPr/>
        </p:nvSpPr>
        <p:spPr>
          <a:xfrm>
            <a:off x="5334000" y="3143250"/>
            <a:ext cx="241935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31" name="S13/node:verify:label"/>
          <p:cNvSpPr/>
          <p:nvPr/>
        </p:nvSpPr>
        <p:spPr>
          <a:xfrm>
            <a:off x="5448300" y="3238500"/>
            <a:ext cx="21907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Manager + 核验</a:t>
            </a:r>
            <a:endParaRPr lang="zh-CN" sz="1800" dirty="0"/>
          </a:p>
        </p:txBody>
      </p:sp>
      <p:sp>
        <p:nvSpPr>
          <p:cNvPr id="32" name="S13/node:verify:detail"/>
          <p:cNvSpPr/>
          <p:nvPr/>
        </p:nvSpPr>
        <p:spPr>
          <a:xfrm>
            <a:off x="5448300" y="3552825"/>
            <a:ext cx="21907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强制核对关键读数</a:t>
            </a:r>
            <a:endParaRPr lang="zh-CN" sz="1650" dirty="0"/>
          </a:p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异常时触发复核</a:t>
            </a:r>
            <a:endParaRPr lang="zh-CN" sz="1650" dirty="0"/>
          </a:p>
        </p:txBody>
      </p:sp>
      <p:sp>
        <p:nvSpPr>
          <p:cNvPr id="33" name="S13/node:evaluation:frame"/>
          <p:cNvSpPr/>
          <p:nvPr/>
        </p:nvSpPr>
        <p:spPr>
          <a:xfrm>
            <a:off x="3181350" y="5048250"/>
            <a:ext cx="2362200" cy="933450"/>
          </a:xfrm>
          <a:prstGeom prst="rect">
            <a:avLst/>
          </a:prstGeom>
          <a:solidFill>
            <a:srgbClr val="FFFFFF"/>
          </a:solidFill>
          <a:ln w="11430">
            <a:solidFill>
              <a:srgbClr val="C5CFDA"/>
            </a:solidFill>
            <a:prstDash val="solid"/>
          </a:ln>
        </p:spPr>
      </p:sp>
      <p:sp>
        <p:nvSpPr>
          <p:cNvPr id="34" name="S13/node:evaluation:heading-rule"/>
          <p:cNvSpPr/>
          <p:nvPr/>
        </p:nvSpPr>
        <p:spPr>
          <a:xfrm>
            <a:off x="3181350" y="5048250"/>
            <a:ext cx="2362200" cy="0"/>
          </a:xfrm>
          <a:prstGeom prst="line">
            <a:avLst/>
          </a:prstGeom>
          <a:noFill/>
          <a:ln w="19050">
            <a:solidFill>
              <a:srgbClr val="183B66"/>
            </a:solidFill>
            <a:prstDash val="solid"/>
          </a:ln>
        </p:spPr>
      </p:sp>
      <p:sp>
        <p:nvSpPr>
          <p:cNvPr id="35" name="S13/node:evaluation:label"/>
          <p:cNvSpPr/>
          <p:nvPr/>
        </p:nvSpPr>
        <p:spPr>
          <a:xfrm>
            <a:off x="3295650" y="51435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统一盲评</a:t>
            </a:r>
            <a:endParaRPr lang="zh-CN" sz="1800" dirty="0"/>
          </a:p>
        </p:txBody>
      </p:sp>
      <p:sp>
        <p:nvSpPr>
          <p:cNvPr id="36" name="S13/node:evaluation:detail"/>
          <p:cNvSpPr/>
          <p:nvPr/>
        </p:nvSpPr>
        <p:spPr>
          <a:xfrm>
            <a:off x="3295650" y="5457825"/>
            <a:ext cx="2133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关键错误与复核负担</a:t>
            </a:r>
            <a:endParaRPr lang="zh-CN" sz="1650" dirty="0"/>
          </a:p>
        </p:txBody>
      </p:sp>
      <p:sp>
        <p:nvSpPr>
          <p:cNvPr id="37" name="S13/card/hypothesis/frame"/>
          <p:cNvSpPr/>
          <p:nvPr/>
        </p:nvSpPr>
        <p:spPr>
          <a:xfrm>
            <a:off x="8610600" y="1390650"/>
            <a:ext cx="312420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38" name="S13/card/hypothesis/heading-fill"/>
          <p:cNvSpPr/>
          <p:nvPr/>
        </p:nvSpPr>
        <p:spPr>
          <a:xfrm>
            <a:off x="8620125" y="1400175"/>
            <a:ext cx="3105150" cy="371475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13/card/hypothesis/heading-rule"/>
          <p:cNvSpPr/>
          <p:nvPr/>
        </p:nvSpPr>
        <p:spPr>
          <a:xfrm>
            <a:off x="8610600" y="1771650"/>
            <a:ext cx="312420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40" name="S13/card/hypothesis/title"/>
          <p:cNvSpPr/>
          <p:nvPr/>
        </p:nvSpPr>
        <p:spPr>
          <a:xfrm>
            <a:off x="8734425" y="1447800"/>
            <a:ext cx="2876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455C7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假说与共同条件</a:t>
            </a:r>
            <a:endParaRPr lang="zh-CN" sz="1800" dirty="0"/>
          </a:p>
        </p:txBody>
      </p:sp>
      <p:sp>
        <p:nvSpPr>
          <p:cNvPr id="41" name="S13/card/hypothesis/body"/>
          <p:cNvSpPr/>
          <p:nvPr/>
        </p:nvSpPr>
        <p:spPr>
          <a:xfrm>
            <a:off x="8743950" y="1885950"/>
            <a:ext cx="28575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H：源数据核验降低关键错误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 CSV、图像、工具与模型，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统一预算上限。</a:t>
            </a:r>
            <a:endParaRPr lang="zh-CN" sz="1725" dirty="0"/>
          </a:p>
        </p:txBody>
      </p:sp>
      <p:sp>
        <p:nvSpPr>
          <p:cNvPr id="42" name="S13/card/falsify/frame"/>
          <p:cNvSpPr/>
          <p:nvPr/>
        </p:nvSpPr>
        <p:spPr>
          <a:xfrm>
            <a:off x="8610600" y="3829050"/>
            <a:ext cx="31242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C5CFDA"/>
            </a:solidFill>
            <a:prstDash val="solid"/>
          </a:ln>
        </p:spPr>
      </p:sp>
      <p:sp>
        <p:nvSpPr>
          <p:cNvPr id="43" name="S13/card/falsify/tab"/>
          <p:cNvSpPr/>
          <p:nvPr/>
        </p:nvSpPr>
        <p:spPr>
          <a:xfrm>
            <a:off x="8724900" y="3714750"/>
            <a:ext cx="1409700" cy="320040"/>
          </a:xfrm>
          <a:prstGeom prst="rect">
            <a:avLst/>
          </a:prstGeom>
          <a:solidFill>
            <a:srgbClr val="455C7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13/card/falsify/title"/>
          <p:cNvSpPr/>
          <p:nvPr/>
        </p:nvSpPr>
        <p:spPr>
          <a:xfrm>
            <a:off x="8829675" y="3743325"/>
            <a:ext cx="12001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终点与反证</a:t>
            </a:r>
            <a:endParaRPr lang="zh-CN" sz="1800" dirty="0"/>
          </a:p>
        </p:txBody>
      </p:sp>
      <p:sp>
        <p:nvSpPr>
          <p:cNvPr id="45" name="S13/card/falsify/body"/>
          <p:cNvSpPr/>
          <p:nvPr/>
        </p:nvSpPr>
        <p:spPr>
          <a:xfrm>
            <a:off x="8743950" y="4177665"/>
            <a:ext cx="28575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主要终点：关键错误率。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同时报告复核比例与耗时。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误差不降或仅靠额外资源，假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说不获支持。</a:t>
            </a:r>
            <a:endParaRPr lang="zh-CN" sz="1725" dirty="0"/>
          </a:p>
        </p:txBody>
      </p:sp>
      <p:sp>
        <p:nvSpPr>
          <p:cNvPr id="46" name="S1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 · 2026 · 10.1038/s41467-026-71090-y</a:t>
            </a:r>
            <a:endParaRPr lang="zh-CN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1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 / 14</a:t>
            </a:r>
            <a:endParaRPr lang="zh-CN" sz="1050" dirty="0"/>
          </a:p>
        </p:txBody>
      </p:sp>
      <p:sp>
        <p:nvSpPr>
          <p:cNvPr id="4" name="S14/title"/>
          <p:cNvSpPr/>
          <p:nvPr/>
        </p:nvSpPr>
        <p:spPr>
          <a:xfrm>
            <a:off x="457200" y="2286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结论与资料来源</a:t>
            </a:r>
            <a:endParaRPr lang="zh-CN" sz="2550" dirty="0"/>
          </a:p>
        </p:txBody>
      </p:sp>
      <p:sp>
        <p:nvSpPr>
          <p:cNvPr id="5" name="S14/header-rule"/>
          <p:cNvSpPr/>
          <p:nvPr/>
        </p:nvSpPr>
        <p:spPr>
          <a:xfrm>
            <a:off x="457200" y="723900"/>
            <a:ext cx="11277600" cy="0"/>
          </a:xfrm>
          <a:prstGeom prst="line">
            <a:avLst/>
          </a:prstGeom>
          <a:noFill/>
          <a:ln w="11430">
            <a:solidFill>
              <a:srgbClr val="183B66"/>
            </a:solidFill>
            <a:prstDash val="solid"/>
          </a:ln>
        </p:spPr>
      </p:sp>
      <p:sp>
        <p:nvSpPr>
          <p:cNvPr id="6" name="S14/ref:P1:id"/>
          <p:cNvSpPr/>
          <p:nvPr/>
        </p:nvSpPr>
        <p:spPr>
          <a:xfrm>
            <a:off x="457200" y="1352550"/>
            <a:ext cx="552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2"/>
              </a:lnSpc>
              <a:buNone/>
            </a:pPr>
            <a:r>
              <a:rPr lang="zh-CN" altLang="en-US" sz="165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zh-CN" sz="1650" dirty="0"/>
          </a:p>
        </p:txBody>
      </p:sp>
      <p:sp>
        <p:nvSpPr>
          <p:cNvPr id="7" name="S14/ref:P1:title"/>
          <p:cNvSpPr/>
          <p:nvPr/>
        </p:nvSpPr>
        <p:spPr>
          <a:xfrm>
            <a:off x="1123950" y="1333500"/>
            <a:ext cx="70104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conversational multi-agent AI system for automated plant </a:t>
            </a:r>
            <a:endParaRPr lang="zh-CN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phenotyping</a:t>
            </a:r>
            <a:endParaRPr lang="zh-CN" sz="1800" dirty="0"/>
          </a:p>
        </p:txBody>
      </p:sp>
      <p:sp>
        <p:nvSpPr>
          <p:cNvPr id="8" name="S14/ref:P1:meta"/>
          <p:cNvSpPr/>
          <p:nvPr/>
        </p:nvSpPr>
        <p:spPr>
          <a:xfrm>
            <a:off x="1123950" y="1948815"/>
            <a:ext cx="7010400" cy="42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Chen F., Stogiannidis I., Wood A., et al. · Nature Communications 17, 6391 · 2026 · </a:t>
            </a:r>
            <a:endParaRPr lang="zh-CN" sz="1350" dirty="0"/>
          </a:p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DOI: 10.1038/s41467-026-71090-y · Version of Record · 2026-07-16</a:t>
            </a:r>
            <a:endParaRPr lang="zh-CN" sz="1350" dirty="0"/>
          </a:p>
        </p:txBody>
      </p:sp>
      <p:sp>
        <p:nvSpPr>
          <p:cNvPr id="9" name="S14/ref:P1:detail"/>
          <p:cNvSpPr/>
          <p:nvPr/>
        </p:nvSpPr>
        <p:spPr>
          <a:xfrm>
            <a:off x="1123950" y="2678430"/>
            <a:ext cx="7010400" cy="3284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https://www.nature.com/articles/s41467-026-71090-y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全文阅读范围：Introduction · Design · Case studies 1–3 · Evaluation · 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Discussion · Methods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原图授权：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3 · 完整图 · CC BY 4.0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3 · 任务1 · CC BY 4.0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3 · 任务2 PLA曲线 · CC BY 4.0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3 · 任务4统计汇总 · CC BY 4.0</a:t>
            </a:r>
            <a:endParaRPr lang="zh-CN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zh-CN" altLang="en-US" sz="1500" dirty="0">
                <a:solidFill>
                  <a:srgbClr val="4F5D6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4 · 相关性结果 · CC BY 4.0</a:t>
            </a:r>
            <a:endParaRPr lang="zh-CN" sz="1500" dirty="0"/>
          </a:p>
        </p:txBody>
      </p:sp>
      <p:sp>
        <p:nvSpPr>
          <p:cNvPr id="10" name="S14/card/conclusions/base-rule"/>
          <p:cNvSpPr/>
          <p:nvPr/>
        </p:nvSpPr>
        <p:spPr>
          <a:xfrm>
            <a:off x="8477250" y="3505200"/>
            <a:ext cx="3257550" cy="0"/>
          </a:xfrm>
          <a:prstGeom prst="line">
            <a:avLst/>
          </a:prstGeom>
          <a:noFill/>
          <a:ln w="10478">
            <a:solidFill>
              <a:srgbClr val="C5CFDA"/>
            </a:solidFill>
            <a:prstDash val="solid"/>
          </a:ln>
        </p:spPr>
      </p:sp>
      <p:sp>
        <p:nvSpPr>
          <p:cNvPr id="11" name="S14/card/conclusions/side-mark"/>
          <p:cNvSpPr/>
          <p:nvPr/>
        </p:nvSpPr>
        <p:spPr>
          <a:xfrm>
            <a:off x="8477250" y="1428750"/>
            <a:ext cx="47625" cy="295275"/>
          </a:xfrm>
          <a:prstGeom prst="rect">
            <a:avLst/>
          </a:prstGeom>
          <a:solidFill>
            <a:srgbClr val="183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4/card/conclusions/title"/>
          <p:cNvSpPr/>
          <p:nvPr/>
        </p:nvSpPr>
        <p:spPr>
          <a:xfrm>
            <a:off x="8629650" y="1428750"/>
            <a:ext cx="31051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主要判断</a:t>
            </a:r>
            <a:endParaRPr lang="zh-CN" sz="1800" dirty="0"/>
          </a:p>
        </p:txBody>
      </p:sp>
      <p:sp>
        <p:nvSpPr>
          <p:cNvPr id="13" name="S14/card/conclusions/body"/>
          <p:cNvSpPr/>
          <p:nvPr/>
        </p:nvSpPr>
        <p:spPr>
          <a:xfrm>
            <a:off x="8629650" y="1847850"/>
            <a:ext cx="3105150" cy="156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工具编排扩展了表型分析流程。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局部读数可靠性仍需核验。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农艺控制收益尚待独立验证。</a:t>
            </a:r>
            <a:endParaRPr lang="zh-CN" sz="1725" dirty="0"/>
          </a:p>
        </p:txBody>
      </p:sp>
      <p:sp>
        <p:nvSpPr>
          <p:cNvPr id="14" name="S14/card/materials/heading-rule"/>
          <p:cNvSpPr/>
          <p:nvPr/>
        </p:nvSpPr>
        <p:spPr>
          <a:xfrm>
            <a:off x="8477250" y="4114800"/>
            <a:ext cx="3257550" cy="0"/>
          </a:xfrm>
          <a:prstGeom prst="line">
            <a:avLst/>
          </a:prstGeom>
          <a:noFill/>
          <a:ln w="9525">
            <a:solidFill>
              <a:srgbClr val="C5CFDA"/>
            </a:solidFill>
            <a:prstDash val="solid"/>
          </a:ln>
        </p:spPr>
      </p:sp>
      <p:sp>
        <p:nvSpPr>
          <p:cNvPr id="15" name="S14/card/materials/heading-mark"/>
          <p:cNvSpPr/>
          <p:nvPr/>
        </p:nvSpPr>
        <p:spPr>
          <a:xfrm>
            <a:off x="8477250" y="4114800"/>
            <a:ext cx="342900" cy="0"/>
          </a:xfrm>
          <a:prstGeom prst="line">
            <a:avLst/>
          </a:prstGeom>
          <a:noFill/>
          <a:ln w="17145">
            <a:solidFill>
              <a:srgbClr val="183B66"/>
            </a:solidFill>
            <a:prstDash val="solid"/>
          </a:ln>
        </p:spPr>
      </p:sp>
      <p:sp>
        <p:nvSpPr>
          <p:cNvPr id="16" name="S14/card/materials/title"/>
          <p:cNvSpPr/>
          <p:nvPr/>
        </p:nvSpPr>
        <p:spPr>
          <a:xfrm>
            <a:off x="8477250" y="3771900"/>
            <a:ext cx="3257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83B6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进一步阅读</a:t>
            </a:r>
            <a:endParaRPr lang="zh-CN" sz="1875" dirty="0"/>
          </a:p>
        </p:txBody>
      </p:sp>
      <p:sp>
        <p:nvSpPr>
          <p:cNvPr id="17" name="S14/card/materials/body"/>
          <p:cNvSpPr/>
          <p:nvPr/>
        </p:nvSpPr>
        <p:spPr>
          <a:xfrm>
            <a:off x="8477250" y="4248150"/>
            <a:ext cx="3257550" cy="1733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正式全文与补充材料。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Fig. 3/4，CC BY 4.0。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官方代码：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71C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vios-s/PhenoAssistant。</a:t>
            </a:r>
            <a:endParaRPr lang="zh-CN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PhenoAssistant 论文精读：植物表型智能体的方法、证据与局限</dc:title>
  <dc:subject>PhenoAssistant 如何连接植物表型分析工具，它的案例与任务评价分别支持什么结论，怎样检验图表读数核验的价值？</dc:subject>
  <dc:creator>DSH Academic PPT</dc:creator>
  <cp:lastModifiedBy>DSH Academic PPT</cp:lastModifiedBy>
  <cp:revision>1</cp:revision>
  <dcterms:created xsi:type="dcterms:W3CDTF">2026-10-20T04:33:24Z</dcterms:created>
  <dcterms:modified xsi:type="dcterms:W3CDTF">2026-10-20T04:33:24Z</dcterms:modified>
</cp:coreProperties>
</file>