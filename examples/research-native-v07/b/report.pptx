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开场先看一个真实例子：表层土壤水分观测在三个时点改变了WOFOST的状态轨迹。模型接受观测的位置，决定哪些误差有机会被纠正。
今天以三篇研究比较输入映射、状态更新与机理表征。第三篇没有使用遥感，报告把它作为未来融合的间接证据。
封面轨迹是Zhuo论文的单站土壤水分过程，不是三篇研究共同的产量结果；三篇的误差不跨论文排名。
原图来源：zhuo
Fig.6
Figure 6. Comparison of the SM curves simulated by WOFOST model with and without the EnKF-based assimilation method (a sample point in Shenzhou county).
https://mdpi-res.com/remotesensing/remotesensing-11-01618/article_deploy/html/images/remotesensing-11-01618-g006.png
出版社正式出版PDF/原始图像
Zhuo, Wen et al. (2019), Remote Sensing, DOI:10.3390/rs11131618, CC BY 4.0, https://creativecommons.org/licenses/by/4.0/
原图完整引用，未重绘数据。
参考文献（完整题名）
cheng · Wheat yield estimation using remote sensing data based on machine learning approaches · Frontiers in Plant Science 13, 1090970 · 2022 · 10.3389/fpls.2022.1090970 · 出版社正式出版PDF
zhuo · Assimilating Soil Moisture Retrieved from Sentinel-1 and Sentinel-2 Data into WOFOST Model to Improve Winter Wheat Yield Estimation · Remote Sensing 11(13), 1618 · 2019 · 10.3390/rs11131618 · 出版社正式出版PDF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三篇论文的共同问题，是额外信息在哪里改变预测。
Cheng直接从植被指数学习产量；Zhuo把反演水分作为观测，更新WOFOST土壤水分；Shahhosseini把APSIM输出作为额外特征交给相同机器学习器。
这三个接口分别面临映射外推、状态匹配和过程信息价值的检验，不能用一个RMSE总榜替代。
参考文献（完整题名）
cheng · Wheat yield estimation using remote sensing data based on machine learning approaches · Frontiers in Plant Science 13, 1090970 · 2022 · 10.3389/fpls.2022.1090970 · 出版社正式出版PDF
zhuo · Assimilating Soil Moisture Retrieved from Sentinel-1 and Sentinel-2 Data into WOFOST Model to Improve Winter Wheat Yield Estimation · Remote Sensing 11(13), 1618 · 2019 · 10.3390/rs11131618 · 出版社正式出版PDF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Cheng等首先提供了一个密集的田内学习问题，而不是多地区泛化问题。
15,709条记录对应同一试验区的5米网格。影像是同一生长季的99景重复观测，最终输入是四个指数的九个月月均序列。论文将全部特征—产量样本随机9:1划分。
因此，后面的低误差首先支持同田同季的局部映射。39个地面样点是高光谱选择的另一层数据，不应与网格混为样本量。
原图来源：cheng
Fig.1
Geographical location and layout of the study area.
https://www.frontiersin.org/journals/plant-science/articles/10.3389/fpls.2022.1090970/pdf
出版社正式出版PDF/原始图像
Cheng, Enhui et al. (2022), Frontiers in Plant Science, DOI:10.3389/fpls.2022.1090970, CC BY 4.0, https://creativecommons.org/licenses/by/4.0/
原图完整引用，未重绘数据。
参考文献（完整题名）
cheng · Wheat yield estimation using remote sensing data based on machine learning approaches · Frontiers in Plant Science 13, 1090970 · 2022 · 10.3389/fpls.2022.1090970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Fig.4四个模型在同一输入设置中比较，LSTM的RMSE为0.201 t/ha，RF为0.260，GBDT为0.306，SVR为0.489。左侧按原始数值重绘误差，右侧保留LSTM的实际散点面板。
颜色对应模型身份，柱长按RMSE线性比例计算。原图本身没有给两轴写出实测/估计方向，这里只保留原来的产量范围，不猜轴方向。
这个结果不能直接推到跨田跨年，更不能与另两篇不同单位和尺度的RMSE排序。
原图来源：cheng
Fig.4
A: LSTM
Comparison between the estimates of the winter wheat yield obtained using the (A) LSTM, (B) RF, (C) GBDT, and (D) SVR models.
https://www.frontiersin.org/journals/plant-science/articles/10.3389/fpls.2022.1090970/pdf
出版社正式出版PDF/原始图像
Cheng, Enhui et al. (2022), Frontiers in Plant Science, DOI:10.3389/fpls.2022.1090970, CC BY 4.0, https://creativecommons.org/licenses/by/4.0/
从Fig.4保留左上A面板（0,0,0.495,0.495）；原图两轴均为1–7产量范围但未标实测/预测方向，本稿不补定；全原件仍嵌入工程。
参考文献（完整题名）
cheng · Wheat yield estimation using remote sensing data based on machine learning approaches · Frontiers in Plant Science 13, 1090970 · 2022 · 10.3389/fpls.2022.1090970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这一页是独立的传感器实验，不能把上一页0.201带到这里。
在相同LSTM下，10米Sentinel-2的RMSE为0.219，30米ZY-1 02D为0.237，30米Sentinel-2为0.307 t/ha。原图能直接看到粗分辨率下地块纹理的平滑。
在同为30米时，ZY高光谱相关特征有优势，但与10米Sentinel-2的差别还涉及空间尺度。原文ZY四月采样日期有内部不一致，本报告不据此做具体时点推断，也不引用摘要中含歧义的“约5%改善”。
原图来源：cheng
Fig.5
(A) Details of the observed distribution of the winter wheat yield. Details of the modeled distribution based on (B) 10-m Sentinel-2, (C) 30-m ZY-1 02D, and (D) 30-m Sentinel-2 data. The modeled yield distribution based on (E) 10-m Sentinel-2, (F) 30-m ZY-1 02D, and (G) 30-m Sentinel-2 data.
https://www.frontiersin.org/journals/plant-science/articles/10.3389/fpls.2022.1090970/pdf
出版社正式出版PDF/原始图像
Cheng, Enhui et al. (2022), Frontiers in Plant Science, DOI:10.3389/fpls.2022.1090970, CC BY 4.0, https://creativecommons.org/licenses/by/4.0/
原图完整引用，未重绘数据。
参考文献（完整题名）
cheng · Wheat yield estimation using remote sensing data based on machine learning approaches · Frontiers in Plant Science 13, 1090970 · 2022 · 10.3389/fpls.2022.1090970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Zhuo等的遥感没有直接回归到产量，而是作为状态约束。
Sentinel-1与Sentinel-2经水云模型得到SM观测；已校准的WOFOST运行50个集合成员，提供先验土壤水分。有观测时EnKF根据观测与模型不确定性更新SM，更新后的状态返回WOFOST继续模拟。最终输出产量，再与地面产量验证。
注意反馈返回的是水分状态，观测产量没有直接送入WOFOST。模型/观测扰动为原文设定的10%/7%，并非精度收益。
参考文献（完整题名）
zhuo · Assimilating Soil Moisture Retrieved from Sentinel-1 and Sentinel-2 Data into WOFOST Model to Improve Winter Wheat Yield Estimation · Remote Sensing 11(13), 1618 · 2019 · 10.3390/rs11131618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这条轨迹来自深州的一个样点，用于理解同化的发生位置，不能代替区域精度评价。原图蓝线是有灌溉的WOFOST，绿色是无灌溉，灰线是同化后的SM。
三期遥感SM为4月1日、5月7日和6月1日。三期反演RMSE分别为9.16%、7.43%、8.53%，是含水量百分数尺度，并不是产量误差下降。
主要物理限制是表层0–10厘米观测与WOFOST根区平均状态不完全一致，加上只有三次更新和简化灌溉，因此状态校正并不自动等于机制完全正确。
原图来源：zhuo
Fig.6
Figure 6. Comparison of the SM curves simulated by WOFOST model with and without the EnKF-based assimilation method (a sample point in Shenzhou county).
https://mdpi-res.com/remotesensing/remotesensing-11-01618/article_deploy/html/images/remotesensing-11-01618-g006.png
出版社正式出版PDF/原始图像
Zhuo, Wen et al. (2019), Remote Sensing, DOI:10.3390/rs11131618, CC BY 4.0, https://creativecommons.org/licenses/by/4.0/
原图完整引用，未重绘数据。
参考文献（完整题名）
zhuo · Assimilating Soil Moisture Retrieved from Sentinel-1 and Sentinel-2 Data into WOFOST Model to Improve Winter Wheat Yield Estimation · Remote Sensing 11(13), 1618 · 2019 · 10.3390/rs11131618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区域产量用110个样点检验，不能把SM反演的55个验证点当作产量样本量。
无同化的RMSE为1330 kg/ha，同化后为934；R²从0.21变为0.35。两幅图保留了原论文全部散点、回归线和1:1线，用准确像素视窗放大绘图区，再在外侧重建相同的线性坐标标签。
点云范围仍偏窄，尤其在高实测产量端仍可看到低估。结果支持同化有条件改善，不能解释为普适的高精度。
原图来源：zhuo
Fig.8
a 原始数据绘图区
Figure 8. Winter wheat yield estimation ( a ) without assimilation and ( b ) with EnKF assimilation.
https://mdpi-res.com/remotesensing/remotesensing-11-01618/article_deploy/html/images/remotesensing-11-01618-g008.png
出版社正式出版PDF/原始图像
Zhuo, Wen et al. (2019), Remote Sensing, DOI:10.3390/rs11131618, CC BY 4.0, https://creativecommons.org/licenses/by/4.0/
精确视窗为源图像素x=293..1553,y=76..1494（完整坐标内数据区及统计文字）；在页面外侧原生重建6000/8000/10000线性轴与单位，图点未移动/重绘。
原图来源：zhuo
Fig.8
b 原始数据绘图区
Figure 8. Winter wheat yield estimation ( a ) without assimilation and ( b ) with EnKF assimilation.
https://mdpi-res.com/remotesensing/remotesensing-11-01618/article_deploy/html/images/remotesensing-11-01618-g008.png
出版社正式出版PDF/原始图像
Zhuo, Wen et al. (2019), Remote Sensing, DOI:10.3390/rs11131618, CC BY 4.0, https://creativecommons.org/licenses/by/4.0/
精确视窗为源图像素x=2113..3429,y=41..1521（完整坐标内数据区及统计文字）；外侧重建6000/8000/10000线性轴及单位，图点未移动/重绘。
参考文献（完整题名）
zhuo · Assimilating Soil Moisture Retrieved from Sentinel-1 and Sentinel-2 Data into WOFOST Model to Improve Winter Wheat Yield Estimation · Remote Sensing 11(13), 1618 · 2019 · 10.3390/rs11131618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Shahhosseini等研究的是模拟与机器学习的耦合，原研究没有遥感。
天气、土壤和管理既可以直接进入机器学习，也进入APSIM产生22个额外变量。观测县产量作为监督学习目标，不是APSIM的直接输入。数据覆盖美国三州293县、1984–2018年，共10,016条县年观测。
2012、2017、2018分别留出，其他年训练。但APSIM使用完整测试年天气，因此这是回顾性验证，不能当成已部署的早期预报。
参考文献（完整题名）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这里从Table2选出四种模型，保留两年的相同模型配对，不在模型之间混用“最佳值”的改善。
2018 LightGBM从1067降到883 kg/ha，平均集成只从959降到938。2017平均集成从859降到762，但LightGBM从914略升到916。
因此，新增机理变量总体有用，但不能改写成所有模型在每一年都改善。此页是原始表的选定行转录，完整数值仍可回到原论文。
参考文献（完整题名）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这一页完整转录Table3的11个模型，而不是只报改善最多的模型。RMSE单位为kg/ha，R²沿用原表百分数。
最佳混合RMSE是Stacked regression的2545，较自身基线3398下降；但是它的R²仍为−12.0%，也就是−0.120。全部11个混合模型的R²均为负。
所以相对基线改善和完成极端环境泛化是两件不同的事。原文讨论也明确说明两类模型都无法充分预测2012年。
参考文献（完整题名）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Fig.8只比较APSIM变量，平均干旱胁迫与生长季地下水位的贡献最突出；它不是全输入变量的排名。全输入的Fig.7中，构造的产量趋势特征最重要。
Table4的2018消融进一步显示，Stacked regression仅加物候、作物、水土天气三组时RMSE分别1040、906、837。但是随机森林在水土天气组为1603，反而高于作物组1208。
这支持水分过程值得研究，但不支持把变量重要性当因果效应，也没有验证遥感能替代这些模拟量。
原图来源：shahhosseini
Fig.8
Average normalized permutation importance of APSIM features for all test years. AvgDroughtStress: Average drought stress on leaf development, AvgWTInseason: Depth to water table of growing season (mm), NlossTotal: Total N loss (denitrification and leaching) (kg N/ha), CropYield: Crop yield (kg/ha), GrainINupt: Grain N uptake (kg N/ha), Bioma: Crop above ground biomass (kg/ha), SWtoDUL30Inseason: Growing season average soil water to field capacity ratio at 30 cm, ETAnnual: Actual evapotranspiration (mm), CropTraspiration: Crop transpiration (mm).
https://media.springernature.com/full/springer-static/image/art%3A10.1038%2Fs41598-020-80820-1/MediaObjects/41598_2020_80820_Fig8_HTML.png
出版社正式出版PDF/原始图像
Shahhosseini, Mohsen et al. (2021), Scientific Reports, DOI:10.1038/s41598-020-80820-1, CC BY 4.0, https://creativecommons.org/licenses/by/4.0/
原图完整引用，未重绘数据。
参考文献（完整题名）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把三篇并列后，可比较的是信息进入的位置和验证覆盖，不是各自RMSE的大小。
直接学习的主要缺口是独立环境的映射外推；状态同化的主要缺口是反演量和模型状态之间的物理匹配；机理特征融合显示过程信息有价值，但极端年和未来天气仍未解决。
三篇作物、空间单位、测试划分和信息条件都不同，单位换算并不能使误差具有可排名性。
参考文献（完整题名）
cheng · Wheat yield estimation using remote sensing data based on machine learning approaches · Frontiers in Plant Science 13, 1090970 · 2022 · 10.3389/fpls.2022.1090970 · 出版社正式出版PDF
zhuo · Assimilating Soil Moisture Retrieved from Sentinel-1 and Sentinel-2 Data into WOFOST Model to Improve Winter Wheat Yield Estimation · Remote Sensing 11(13), 1618 · 2019 · 10.3390/rs11131618 · 出版社正式出版PDF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目前能支持的结论有明确范围：直接学习在局部设置精确，状态同化能修正过程，机理特征包含水分信息。各自的验证边界决定了这些结论能走多远。
下一步建议在同一作物与区域中，固定预测截止日和观测预算，再公平比较三条接口。用空间分块、仅以过去训练的滚动留年，并单列极端年，报告RMSE差值及不确定区间。
这是未实施的方案。稳定有利差值可支持假说，反向差值是反证，宽区间表示信息不足，截止日前信息不可得则说明评价前提不成立，不能都归入“没有显著改善”。
参考文献（完整题名）
cheng · Wheat yield estimation using remote sensing data based on machine learning approaches · Frontiers in Plant Science 13, 1090970 · 2022 · 10.3389/fpls.2022.1090970 · 出版社正式出版PDF
zhuo · Assimilating Soil Moisture Retrieved from Sentinel-1 and Sentinel-2 Data into WOFOST Model to Improve Winter Wheat Yield Estimation · Remote Sensing 11(13), 1618 · 2019 · 10.3390/rs11131618 · 出版社正式出版PDF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三篇均采用出版社正式出版版。图和数字在对应页标出图号、表号或章节；完整题名、作者、年份与DOI在本页。所有原图为CC BY 4.0，已裁切的图注明修改；可编辑重绘没有生成不存在的实验点位。
参考文献（完整题名）
cheng · Wheat yield estimation using remote sensing data based on machine learning approaches · Frontiers in Plant Science 13, 1090970 · 2022 · 10.3389/fpls.2022.1090970 · 出版社正式出版PDF
zhuo · Assimilating Soil Moisture Retrieved from Sentinel-1 and Sentinel-2 Data into WOFOST Model to Improve Winter Wheat Yield Estimation · Remote Sensing 11(13), 1618 · 2019 · 10.3390/rs11131618 · 出版社正式出版PDF
shahhosseini · Coupling machine learning and crop modeling improves crop yield prediction in the US Corn Belt · Scientific Reports 11, 1606 · 2021 · 10.1038/s41598-020-80820-1 · 出版社正式出版PDF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1/title"/>
          <p:cNvSpPr/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zh-CN" altLang="en-US" sz="45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遥感观测如何进入作物产量估计</a:t>
            </a:r>
            <a:endParaRPr lang="zh-CN" sz="4500" dirty="0"/>
          </a:p>
        </p:txBody>
      </p:sp>
      <p:sp>
        <p:nvSpPr>
          <p:cNvPr id="3" name="b01/subtitle"/>
          <p:cNvSpPr/>
          <p:nvPr/>
        </p:nvSpPr>
        <p:spPr>
          <a:xfrm>
            <a:off x="609600" y="6143625"/>
            <a:ext cx="1097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直接学习、状态同化、机理特征融合的证据和外推边界</a:t>
            </a:r>
            <a:endParaRPr lang="zh-CN" sz="2100" dirty="0"/>
          </a:p>
        </p:txBody>
      </p:sp>
      <p:sp>
        <p:nvSpPr>
          <p:cNvPr id="4" name="b01/cover-occasion"/>
          <p:cNvSpPr/>
          <p:nvPr/>
        </p:nvSpPr>
        <p:spPr>
          <a:xfrm>
            <a:off x="609600" y="171450"/>
            <a:ext cx="10972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观测接口决定可纠正的误差</a:t>
            </a:r>
            <a:endParaRPr lang="zh-CN" sz="1800" dirty="0"/>
          </a:p>
        </p:txBody>
      </p:sp>
      <p:pic>
        <p:nvPicPr>
          <p:cNvPr id="5" name="b01/drawing/cover-trajectory/e1" descr="Figure 6. Comparison of the SM curves simulated by WOFOST model with and without the EnKF-based assimilation method (a sample point in Shenzhou county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432" y="609600"/>
            <a:ext cx="8939137" cy="4095750"/>
          </a:xfrm>
          <a:prstGeom prst="rect">
            <a:avLst/>
          </a:prstGeom>
        </p:spPr>
      </p:pic>
      <p:sp>
        <p:nvSpPr>
          <p:cNvPr id="6" name="b01/drawing/cover-citation/e2"/>
          <p:cNvSpPr/>
          <p:nvPr/>
        </p:nvSpPr>
        <p:spPr>
          <a:xfrm>
            <a:off x="609600" y="4819650"/>
            <a:ext cx="10972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单站土壤水分轨迹：Zhuo et al., 2019, Fig.6；原图红圈标示更新附近；CC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2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观测进入的位置，决定可以纠正哪类误差</a:t>
            </a:r>
            <a:endParaRPr lang="zh-CN" sz="3150" dirty="0"/>
          </a:p>
        </p:txBody>
      </p:sp>
      <p:sp>
        <p:nvSpPr>
          <p:cNvPr id="3" name="b02/drawing/body/e1"/>
          <p:cNvSpPr/>
          <p:nvPr/>
        </p:nvSpPr>
        <p:spPr>
          <a:xfrm>
            <a:off x="457200" y="1104900"/>
            <a:ext cx="1905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观测接口</a:t>
            </a:r>
            <a:endParaRPr lang="zh-CN" sz="2250" dirty="0"/>
          </a:p>
        </p:txBody>
      </p:sp>
      <p:sp>
        <p:nvSpPr>
          <p:cNvPr id="4" name="b02/drawing/body/e2"/>
          <p:cNvSpPr/>
          <p:nvPr/>
        </p:nvSpPr>
        <p:spPr>
          <a:xfrm>
            <a:off x="3124200" y="1104900"/>
            <a:ext cx="4191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进入模型的位置</a:t>
            </a:r>
            <a:endParaRPr lang="zh-CN" sz="2250" dirty="0"/>
          </a:p>
        </p:txBody>
      </p:sp>
      <p:sp>
        <p:nvSpPr>
          <p:cNvPr id="5" name="b02/drawing/body/e3"/>
          <p:cNvSpPr/>
          <p:nvPr/>
        </p:nvSpPr>
        <p:spPr>
          <a:xfrm>
            <a:off x="8553450" y="1104900"/>
            <a:ext cx="31813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本报告追问</a:t>
            </a:r>
            <a:endParaRPr lang="zh-CN" sz="2250" dirty="0"/>
          </a:p>
        </p:txBody>
      </p:sp>
      <p:sp>
        <p:nvSpPr>
          <p:cNvPr id="6" name="b02/drawing/body/e4/segment-1"/>
          <p:cNvSpPr/>
          <p:nvPr/>
        </p:nvSpPr>
        <p:spPr>
          <a:xfrm>
            <a:off x="457200" y="1647825"/>
            <a:ext cx="11277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7" name="b02/drawing/body/e5"/>
          <p:cNvSpPr/>
          <p:nvPr/>
        </p:nvSpPr>
        <p:spPr>
          <a:xfrm>
            <a:off x="457200" y="2009775"/>
            <a:ext cx="2286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</a:t>
            </a:r>
            <a:endParaRPr lang="zh-CN" sz="2250" dirty="0"/>
          </a:p>
        </p:txBody>
      </p:sp>
      <p:sp>
        <p:nvSpPr>
          <p:cNvPr id="8" name="b02/drawing/body/e6"/>
          <p:cNvSpPr/>
          <p:nvPr/>
        </p:nvSpPr>
        <p:spPr>
          <a:xfrm>
            <a:off x="3124200" y="1866900"/>
            <a:ext cx="2571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遥感指数序列</a:t>
            </a:r>
            <a:endParaRPr lang="zh-CN" sz="2100" dirty="0"/>
          </a:p>
        </p:txBody>
      </p:sp>
      <p:sp>
        <p:nvSpPr>
          <p:cNvPr id="9" name="b02/drawing/body/e7"/>
          <p:cNvSpPr/>
          <p:nvPr/>
        </p:nvSpPr>
        <p:spPr>
          <a:xfrm>
            <a:off x="6362700" y="18669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ML输入</a:t>
            </a:r>
            <a:endParaRPr lang="zh-CN" sz="2100" dirty="0"/>
          </a:p>
        </p:txBody>
      </p:sp>
      <p:sp>
        <p:nvSpPr>
          <p:cNvPr id="10" name="b02/drawing/body/e8/segment-1"/>
          <p:cNvSpPr/>
          <p:nvPr/>
        </p:nvSpPr>
        <p:spPr>
          <a:xfrm>
            <a:off x="5772150" y="2047875"/>
            <a:ext cx="476250" cy="0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  <a:tailEnd type="triangle"/>
          </a:ln>
        </p:spPr>
      </p:sp>
      <p:sp>
        <p:nvSpPr>
          <p:cNvPr id="11" name="b02/drawing/body/e9"/>
          <p:cNvSpPr/>
          <p:nvPr/>
        </p:nvSpPr>
        <p:spPr>
          <a:xfrm>
            <a:off x="8553450" y="1819275"/>
            <a:ext cx="31813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映射在新环境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还能成立吗？</a:t>
            </a:r>
            <a:endParaRPr lang="zh-CN" sz="2100" dirty="0"/>
          </a:p>
        </p:txBody>
      </p:sp>
      <p:sp>
        <p:nvSpPr>
          <p:cNvPr id="12" name="b02/drawing/body/e10/segment-1"/>
          <p:cNvSpPr/>
          <p:nvPr/>
        </p:nvSpPr>
        <p:spPr>
          <a:xfrm>
            <a:off x="457200" y="3105150"/>
            <a:ext cx="11277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3" name="b02/drawing/body/e11"/>
          <p:cNvSpPr/>
          <p:nvPr/>
        </p:nvSpPr>
        <p:spPr>
          <a:xfrm>
            <a:off x="457200" y="3467100"/>
            <a:ext cx="2286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</a:t>
            </a:r>
            <a:endParaRPr lang="zh-CN" sz="2250" dirty="0"/>
          </a:p>
        </p:txBody>
      </p:sp>
      <p:sp>
        <p:nvSpPr>
          <p:cNvPr id="14" name="b02/drawing/body/e12"/>
          <p:cNvSpPr/>
          <p:nvPr/>
        </p:nvSpPr>
        <p:spPr>
          <a:xfrm>
            <a:off x="3124200" y="3324225"/>
            <a:ext cx="2571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反演土壤水分</a:t>
            </a:r>
            <a:endParaRPr lang="zh-CN" sz="2100" dirty="0"/>
          </a:p>
        </p:txBody>
      </p:sp>
      <p:sp>
        <p:nvSpPr>
          <p:cNvPr id="15" name="b02/drawing/body/e13"/>
          <p:cNvSpPr/>
          <p:nvPr/>
        </p:nvSpPr>
        <p:spPr>
          <a:xfrm>
            <a:off x="6362700" y="3324225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作物状态</a:t>
            </a:r>
            <a:endParaRPr lang="zh-CN" sz="2100" dirty="0"/>
          </a:p>
        </p:txBody>
      </p:sp>
      <p:sp>
        <p:nvSpPr>
          <p:cNvPr id="16" name="b02/drawing/body/e14/segment-1"/>
          <p:cNvSpPr/>
          <p:nvPr/>
        </p:nvSpPr>
        <p:spPr>
          <a:xfrm>
            <a:off x="5772150" y="3505200"/>
            <a:ext cx="476250" cy="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17" name="b02/drawing/body/e15"/>
          <p:cNvSpPr/>
          <p:nvPr/>
        </p:nvSpPr>
        <p:spPr>
          <a:xfrm>
            <a:off x="8553450" y="3276600"/>
            <a:ext cx="31813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观测与状态的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深度、时间匹配吗？</a:t>
            </a:r>
            <a:endParaRPr lang="zh-CN" sz="2100" dirty="0"/>
          </a:p>
        </p:txBody>
      </p:sp>
      <p:sp>
        <p:nvSpPr>
          <p:cNvPr id="18" name="b02/drawing/body/e16/segment-1"/>
          <p:cNvSpPr/>
          <p:nvPr/>
        </p:nvSpPr>
        <p:spPr>
          <a:xfrm>
            <a:off x="457200" y="4562475"/>
            <a:ext cx="11277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9" name="b02/drawing/body/e17"/>
          <p:cNvSpPr/>
          <p:nvPr/>
        </p:nvSpPr>
        <p:spPr>
          <a:xfrm>
            <a:off x="457200" y="4924425"/>
            <a:ext cx="2286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机理特征融合</a:t>
            </a:r>
            <a:endParaRPr lang="zh-CN" sz="2250" dirty="0"/>
          </a:p>
        </p:txBody>
      </p:sp>
      <p:sp>
        <p:nvSpPr>
          <p:cNvPr id="20" name="b02/drawing/body/e18"/>
          <p:cNvSpPr/>
          <p:nvPr/>
        </p:nvSpPr>
        <p:spPr>
          <a:xfrm>
            <a:off x="3124200" y="4781550"/>
            <a:ext cx="2571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作物模拟输出</a:t>
            </a:r>
            <a:endParaRPr lang="zh-CN" sz="2100" dirty="0"/>
          </a:p>
        </p:txBody>
      </p:sp>
      <p:sp>
        <p:nvSpPr>
          <p:cNvPr id="21" name="b02/drawing/body/e19"/>
          <p:cNvSpPr/>
          <p:nvPr/>
        </p:nvSpPr>
        <p:spPr>
          <a:xfrm>
            <a:off x="6362700" y="478155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ML特征</a:t>
            </a:r>
            <a:endParaRPr lang="zh-CN" sz="2100" dirty="0"/>
          </a:p>
        </p:txBody>
      </p:sp>
      <p:sp>
        <p:nvSpPr>
          <p:cNvPr id="22" name="b02/drawing/body/e20/segment-1"/>
          <p:cNvSpPr/>
          <p:nvPr/>
        </p:nvSpPr>
        <p:spPr>
          <a:xfrm>
            <a:off x="5772150" y="4962525"/>
            <a:ext cx="47625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  <a:tailEnd type="triangle"/>
          </a:ln>
        </p:spPr>
      </p:sp>
      <p:sp>
        <p:nvSpPr>
          <p:cNvPr id="23" name="b02/drawing/body/e21"/>
          <p:cNvSpPr/>
          <p:nvPr/>
        </p:nvSpPr>
        <p:spPr>
          <a:xfrm>
            <a:off x="8553450" y="4733925"/>
            <a:ext cx="31813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额外过程信息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在极端年仍有用吗？</a:t>
            </a:r>
            <a:endParaRPr lang="zh-CN" sz="2100" dirty="0"/>
          </a:p>
        </p:txBody>
      </p:sp>
      <p:sp>
        <p:nvSpPr>
          <p:cNvPr id="24" name="b02/drawing/body/e22"/>
          <p:cNvSpPr/>
          <p:nvPr/>
        </p:nvSpPr>
        <p:spPr>
          <a:xfrm>
            <a:off x="3124200" y="5343525"/>
            <a:ext cx="495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原研究未使用遥感</a:t>
            </a:r>
            <a:endParaRPr lang="zh-CN" sz="1800" dirty="0"/>
          </a:p>
        </p:txBody>
      </p:sp>
      <p:sp>
        <p:nvSpPr>
          <p:cNvPr id="25" name="b02/drawing/source/e23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al., 2022 ；Zhuo et al., 2019 ；Shahhosseini et al., 2021 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3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直接学习的高精度，来自怎样的训练与测试？</a:t>
            </a:r>
            <a:endParaRPr lang="zh-CN" sz="3150" dirty="0"/>
          </a:p>
        </p:txBody>
      </p:sp>
      <p:pic>
        <p:nvPicPr>
          <p:cNvPr id="3" name="b03/drawing/body/e1" descr="Geographical location and layout of the study are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6700"/>
            <a:ext cx="5334000" cy="3786401"/>
          </a:xfrm>
          <a:prstGeom prst="rect">
            <a:avLst/>
          </a:prstGeom>
        </p:spPr>
      </p:pic>
      <p:sp>
        <p:nvSpPr>
          <p:cNvPr id="4" name="b03/drawing/body/e2"/>
          <p:cNvSpPr/>
          <p:nvPr/>
        </p:nvSpPr>
        <p:spPr>
          <a:xfrm>
            <a:off x="6172200" y="1104900"/>
            <a:ext cx="55626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北京小汤山 · 2020–2021 冬小麦</a:t>
            </a:r>
            <a:endParaRPr lang="zh-CN" sz="2250" dirty="0"/>
          </a:p>
        </p:txBody>
      </p:sp>
      <p:sp>
        <p:nvSpPr>
          <p:cNvPr id="5" name="b03/drawing/body/e3"/>
          <p:cNvSpPr/>
          <p:nvPr/>
        </p:nvSpPr>
        <p:spPr>
          <a:xfrm>
            <a:off x="6172200" y="1733550"/>
            <a:ext cx="5562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15,709个 5 m × 5 m 产量网格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干重产量 1.39–6.75 t/ha</a:t>
            </a:r>
            <a:endParaRPr lang="zh-CN" sz="2100" dirty="0"/>
          </a:p>
        </p:txBody>
      </p:sp>
      <p:sp>
        <p:nvSpPr>
          <p:cNvPr id="6" name="b03/drawing/body/e4/segment-1"/>
          <p:cNvSpPr/>
          <p:nvPr/>
        </p:nvSpPr>
        <p:spPr>
          <a:xfrm>
            <a:off x="6172200" y="2705100"/>
            <a:ext cx="5562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7" name="b03/drawing/body/e5"/>
          <p:cNvSpPr/>
          <p:nvPr/>
        </p:nvSpPr>
        <p:spPr>
          <a:xfrm>
            <a:off x="6172200" y="2943225"/>
            <a:ext cx="5562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99景 Sentinel-2</a:t>
            </a:r>
            <a:endParaRPr lang="zh-CN" sz="2250" dirty="0"/>
          </a:p>
        </p:txBody>
      </p:sp>
      <p:sp>
        <p:nvSpPr>
          <p:cNvPr id="8" name="b03/drawing/body/e6"/>
          <p:cNvSpPr/>
          <p:nvPr/>
        </p:nvSpPr>
        <p:spPr>
          <a:xfrm>
            <a:off x="6172200" y="3409950"/>
            <a:ext cx="5562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EVI、SR、NDWI、REP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9个月月均序列（2020.10–2021.06）</a:t>
            </a:r>
            <a:endParaRPr lang="zh-CN" sz="2100" dirty="0"/>
          </a:p>
        </p:txBody>
      </p:sp>
      <p:sp>
        <p:nvSpPr>
          <p:cNvPr id="9" name="b03/drawing/body/e7"/>
          <p:cNvSpPr/>
          <p:nvPr/>
        </p:nvSpPr>
        <p:spPr>
          <a:xfrm>
            <a:off x="6172200" y="4381500"/>
            <a:ext cx="5562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LSTM：4 × 9 时序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 / GBDT / SVR：展平36维</a:t>
            </a:r>
            <a:endParaRPr lang="zh-CN" sz="2100" dirty="0"/>
          </a:p>
        </p:txBody>
      </p:sp>
      <p:sp>
        <p:nvSpPr>
          <p:cNvPr id="10" name="b03/drawing/body/e8"/>
          <p:cNvSpPr/>
          <p:nvPr/>
        </p:nvSpPr>
        <p:spPr>
          <a:xfrm>
            <a:off x="457200" y="5295900"/>
            <a:ext cx="11277600" cy="1009650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b03/drawing/body/e9"/>
          <p:cNvSpPr/>
          <p:nvPr/>
        </p:nvSpPr>
        <p:spPr>
          <a:xfrm>
            <a:off x="685800" y="5448300"/>
            <a:ext cx="10820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随机9:1留出来自同田同季</a:t>
            </a:r>
            <a:endParaRPr lang="zh-CN" sz="2250" dirty="0"/>
          </a:p>
        </p:txBody>
      </p:sp>
      <p:sp>
        <p:nvSpPr>
          <p:cNvPr id="12" name="b03/drawing/body/e10"/>
          <p:cNvSpPr/>
          <p:nvPr/>
        </p:nvSpPr>
        <p:spPr>
          <a:xfrm>
            <a:off x="685800" y="5886450"/>
            <a:ext cx="108204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39个地面样点另用于高光谱波段选择；不等于15,709个独立环境</a:t>
            </a:r>
            <a:endParaRPr lang="zh-CN" sz="2100" dirty="0"/>
          </a:p>
        </p:txBody>
      </p:sp>
      <p:sp>
        <p:nvSpPr>
          <p:cNvPr id="13" name="b03/drawing/source/e11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al., 2022 §2.2–2.3, pp.3–7；Fig.1；CC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4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同田随机留出下，LSTM的产量误差最低</a:t>
            </a:r>
            <a:endParaRPr lang="zh-CN" sz="3150" dirty="0"/>
          </a:p>
        </p:txBody>
      </p:sp>
      <p:sp>
        <p:nvSpPr>
          <p:cNvPr id="3" name="b04/drawing/body/e1"/>
          <p:cNvSpPr/>
          <p:nvPr/>
        </p:nvSpPr>
        <p:spPr>
          <a:xfrm>
            <a:off x="457200" y="1104900"/>
            <a:ext cx="58102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同一输入设置下的模型比较</a:t>
            </a:r>
            <a:endParaRPr lang="zh-CN" sz="2250" dirty="0"/>
          </a:p>
        </p:txBody>
      </p:sp>
      <p:sp>
        <p:nvSpPr>
          <p:cNvPr id="4" name="b04/drawing/body/e2"/>
          <p:cNvSpPr/>
          <p:nvPr/>
        </p:nvSpPr>
        <p:spPr>
          <a:xfrm>
            <a:off x="1838325" y="1666875"/>
            <a:ext cx="27622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RMSE（t/ha）</a:t>
            </a:r>
            <a:endParaRPr lang="zh-CN" sz="1800" dirty="0"/>
          </a:p>
        </p:txBody>
      </p:sp>
      <p:sp>
        <p:nvSpPr>
          <p:cNvPr id="5" name="b04/drawing/body/e3"/>
          <p:cNvSpPr/>
          <p:nvPr/>
        </p:nvSpPr>
        <p:spPr>
          <a:xfrm>
            <a:off x="5410200" y="1666875"/>
            <a:ext cx="8572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</a:t>
            </a:r>
            <a:endParaRPr lang="zh-CN" sz="1800" dirty="0"/>
          </a:p>
        </p:txBody>
      </p:sp>
      <p:sp>
        <p:nvSpPr>
          <p:cNvPr id="6" name="b04/drawing/body/e4"/>
          <p:cNvSpPr/>
          <p:nvPr/>
        </p:nvSpPr>
        <p:spPr>
          <a:xfrm>
            <a:off x="457200" y="2181225"/>
            <a:ext cx="147637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</a:t>
            </a:r>
            <a:endParaRPr lang="zh-CN" sz="2100" dirty="0"/>
          </a:p>
        </p:txBody>
      </p:sp>
      <p:sp>
        <p:nvSpPr>
          <p:cNvPr id="7" name="b04/drawing/body/e5"/>
          <p:cNvSpPr/>
          <p:nvPr/>
        </p:nvSpPr>
        <p:spPr>
          <a:xfrm>
            <a:off x="1838325" y="2247900"/>
            <a:ext cx="957263" cy="228600"/>
          </a:xfrm>
          <a:prstGeom prst="rect">
            <a:avLst/>
          </a:prstGeom>
          <a:solidFill>
            <a:srgbClr val="266A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b04/drawing/body/e6"/>
          <p:cNvSpPr/>
          <p:nvPr/>
        </p:nvSpPr>
        <p:spPr>
          <a:xfrm>
            <a:off x="4410075" y="2181225"/>
            <a:ext cx="819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0.201</a:t>
            </a:r>
            <a:endParaRPr lang="zh-CN" sz="2100" dirty="0"/>
          </a:p>
        </p:txBody>
      </p:sp>
      <p:sp>
        <p:nvSpPr>
          <p:cNvPr id="9" name="b04/drawing/body/e7"/>
          <p:cNvSpPr/>
          <p:nvPr/>
        </p:nvSpPr>
        <p:spPr>
          <a:xfrm>
            <a:off x="5410200" y="2181225"/>
            <a:ext cx="857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0.930</a:t>
            </a:r>
            <a:endParaRPr lang="zh-CN" sz="1800" dirty="0"/>
          </a:p>
        </p:txBody>
      </p:sp>
      <p:sp>
        <p:nvSpPr>
          <p:cNvPr id="10" name="b04/drawing/body/e8"/>
          <p:cNvSpPr/>
          <p:nvPr/>
        </p:nvSpPr>
        <p:spPr>
          <a:xfrm>
            <a:off x="457200" y="2847975"/>
            <a:ext cx="147637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</a:t>
            </a:r>
            <a:endParaRPr lang="zh-CN" sz="2100" dirty="0"/>
          </a:p>
        </p:txBody>
      </p:sp>
      <p:sp>
        <p:nvSpPr>
          <p:cNvPr id="11" name="b04/drawing/body/e9"/>
          <p:cNvSpPr/>
          <p:nvPr/>
        </p:nvSpPr>
        <p:spPr>
          <a:xfrm>
            <a:off x="1838325" y="2914650"/>
            <a:ext cx="1238250" cy="228600"/>
          </a:xfrm>
          <a:prstGeom prst="rect">
            <a:avLst/>
          </a:prstGeom>
          <a:solidFill>
            <a:srgbClr val="D3DD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b04/drawing/body/e10"/>
          <p:cNvSpPr/>
          <p:nvPr/>
        </p:nvSpPr>
        <p:spPr>
          <a:xfrm>
            <a:off x="4410075" y="2847975"/>
            <a:ext cx="819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0.260</a:t>
            </a:r>
            <a:endParaRPr lang="zh-CN" sz="2100" dirty="0"/>
          </a:p>
        </p:txBody>
      </p:sp>
      <p:sp>
        <p:nvSpPr>
          <p:cNvPr id="13" name="b04/drawing/body/e11"/>
          <p:cNvSpPr/>
          <p:nvPr/>
        </p:nvSpPr>
        <p:spPr>
          <a:xfrm>
            <a:off x="5410200" y="2847975"/>
            <a:ext cx="857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0.886</a:t>
            </a:r>
            <a:endParaRPr lang="zh-CN" sz="1800" dirty="0"/>
          </a:p>
        </p:txBody>
      </p:sp>
      <p:sp>
        <p:nvSpPr>
          <p:cNvPr id="14" name="b04/drawing/body/e12"/>
          <p:cNvSpPr/>
          <p:nvPr/>
        </p:nvSpPr>
        <p:spPr>
          <a:xfrm>
            <a:off x="457200" y="3514725"/>
            <a:ext cx="147637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GBDT</a:t>
            </a:r>
            <a:endParaRPr lang="zh-CN" sz="2100" dirty="0"/>
          </a:p>
        </p:txBody>
      </p:sp>
      <p:sp>
        <p:nvSpPr>
          <p:cNvPr id="15" name="b04/drawing/body/e13"/>
          <p:cNvSpPr/>
          <p:nvPr/>
        </p:nvSpPr>
        <p:spPr>
          <a:xfrm>
            <a:off x="1838325" y="3581400"/>
            <a:ext cx="1457325" cy="228600"/>
          </a:xfrm>
          <a:prstGeom prst="rect">
            <a:avLst/>
          </a:prstGeom>
          <a:solidFill>
            <a:srgbClr val="D3DD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b04/drawing/body/e14"/>
          <p:cNvSpPr/>
          <p:nvPr/>
        </p:nvSpPr>
        <p:spPr>
          <a:xfrm>
            <a:off x="4410075" y="3514725"/>
            <a:ext cx="819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0.306</a:t>
            </a:r>
            <a:endParaRPr lang="zh-CN" sz="2100" dirty="0"/>
          </a:p>
        </p:txBody>
      </p:sp>
      <p:sp>
        <p:nvSpPr>
          <p:cNvPr id="17" name="b04/drawing/body/e15"/>
          <p:cNvSpPr/>
          <p:nvPr/>
        </p:nvSpPr>
        <p:spPr>
          <a:xfrm>
            <a:off x="5410200" y="3514725"/>
            <a:ext cx="857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0.839</a:t>
            </a:r>
            <a:endParaRPr lang="zh-CN" sz="1800" dirty="0"/>
          </a:p>
        </p:txBody>
      </p:sp>
      <p:sp>
        <p:nvSpPr>
          <p:cNvPr id="18" name="b04/drawing/body/e16"/>
          <p:cNvSpPr/>
          <p:nvPr/>
        </p:nvSpPr>
        <p:spPr>
          <a:xfrm>
            <a:off x="457200" y="4181475"/>
            <a:ext cx="147637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SVR</a:t>
            </a:r>
            <a:endParaRPr lang="zh-CN" sz="2100" dirty="0"/>
          </a:p>
        </p:txBody>
      </p:sp>
      <p:sp>
        <p:nvSpPr>
          <p:cNvPr id="19" name="b04/drawing/body/e17"/>
          <p:cNvSpPr/>
          <p:nvPr/>
        </p:nvSpPr>
        <p:spPr>
          <a:xfrm>
            <a:off x="1838325" y="4248150"/>
            <a:ext cx="2328863" cy="228600"/>
          </a:xfrm>
          <a:prstGeom prst="rect">
            <a:avLst/>
          </a:prstGeom>
          <a:solidFill>
            <a:srgbClr val="D3DD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b04/drawing/body/e18"/>
          <p:cNvSpPr/>
          <p:nvPr/>
        </p:nvSpPr>
        <p:spPr>
          <a:xfrm>
            <a:off x="4410075" y="4181475"/>
            <a:ext cx="819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0.489</a:t>
            </a:r>
            <a:endParaRPr lang="zh-CN" sz="2100" dirty="0"/>
          </a:p>
        </p:txBody>
      </p:sp>
      <p:sp>
        <p:nvSpPr>
          <p:cNvPr id="21" name="b04/drawing/body/e19"/>
          <p:cNvSpPr/>
          <p:nvPr/>
        </p:nvSpPr>
        <p:spPr>
          <a:xfrm>
            <a:off x="5410200" y="4181475"/>
            <a:ext cx="8572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0.573</a:t>
            </a:r>
            <a:endParaRPr lang="zh-CN" sz="1800" dirty="0"/>
          </a:p>
        </p:txBody>
      </p:sp>
      <p:sp>
        <p:nvSpPr>
          <p:cNvPr id="22" name="b04/drawing/body/e20/segment-1"/>
          <p:cNvSpPr/>
          <p:nvPr/>
        </p:nvSpPr>
        <p:spPr>
          <a:xfrm>
            <a:off x="1838325" y="4905375"/>
            <a:ext cx="2381250" cy="0"/>
          </a:xfrm>
          <a:prstGeom prst="line">
            <a:avLst/>
          </a:prstGeom>
          <a:noFill/>
          <a:ln w="9525">
            <a:solidFill>
              <a:srgbClr val="596862"/>
            </a:solidFill>
            <a:prstDash val="solid"/>
          </a:ln>
        </p:spPr>
      </p:sp>
      <p:sp>
        <p:nvSpPr>
          <p:cNvPr id="23" name="b04/drawing/body/e21"/>
          <p:cNvSpPr/>
          <p:nvPr/>
        </p:nvSpPr>
        <p:spPr>
          <a:xfrm>
            <a:off x="1571625" y="4962525"/>
            <a:ext cx="685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24" name="b04/drawing/body/e22"/>
          <p:cNvSpPr/>
          <p:nvPr/>
        </p:nvSpPr>
        <p:spPr>
          <a:xfrm>
            <a:off x="2762250" y="4962525"/>
            <a:ext cx="685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0.25</a:t>
            </a:r>
            <a:endParaRPr lang="zh-CN" sz="1800" dirty="0"/>
          </a:p>
        </p:txBody>
      </p:sp>
      <p:sp>
        <p:nvSpPr>
          <p:cNvPr id="25" name="b04/drawing/body/e23"/>
          <p:cNvSpPr/>
          <p:nvPr/>
        </p:nvSpPr>
        <p:spPr>
          <a:xfrm>
            <a:off x="3952875" y="4962525"/>
            <a:ext cx="6858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0.50</a:t>
            </a:r>
            <a:endParaRPr lang="zh-CN" sz="1800" dirty="0"/>
          </a:p>
        </p:txBody>
      </p:sp>
      <p:sp>
        <p:nvSpPr>
          <p:cNvPr id="26" name="b04/drawing/body/e24"/>
          <p:cNvSpPr/>
          <p:nvPr/>
        </p:nvSpPr>
        <p:spPr>
          <a:xfrm>
            <a:off x="6781800" y="1104900"/>
            <a:ext cx="4953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LSTM原图面板A</a:t>
            </a:r>
            <a:endParaRPr lang="zh-CN" sz="2250" dirty="0"/>
          </a:p>
        </p:txBody>
      </p:sp>
      <p:pic>
        <p:nvPicPr>
          <p:cNvPr id="27" name="b04/drawing/body/e25" descr="Comparison between the estimates of the winter wheat yield obtained using the (A) LSTM, (B) RF, (C) GBDT, and (D) SVR models.">    </p:cNvPr>
          <p:cNvPicPr>
            <a:picLocks noChangeAspect="1"/>
          </p:cNvPicPr>
          <p:nvPr/>
        </p:nvPicPr>
        <p:blipFill>
          <a:blip r:embed="rId1"/>
          <a:srcRect l="0" r="50500" t="0" b="50500"/>
          <a:stretch/>
        </p:blipFill>
        <p:spPr>
          <a:xfrm>
            <a:off x="6860761" y="1666875"/>
            <a:ext cx="4699827" cy="3629025"/>
          </a:xfrm>
          <a:prstGeom prst="rect">
            <a:avLst/>
          </a:prstGeom>
        </p:spPr>
      </p:pic>
      <p:sp>
        <p:nvSpPr>
          <p:cNvPr id="28" name="b04/drawing/body/e26"/>
          <p:cNvSpPr/>
          <p:nvPr/>
        </p:nvSpPr>
        <p:spPr>
          <a:xfrm>
            <a:off x="6686550" y="5400675"/>
            <a:ext cx="504825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两轴范围 1–7 t/ha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原图未标实测 / 估计方向</a:t>
            </a:r>
            <a:endParaRPr lang="zh-CN" sz="1800" dirty="0"/>
          </a:p>
        </p:txBody>
      </p:sp>
      <p:sp>
        <p:nvSpPr>
          <p:cNvPr id="29" name="b04/drawing/body/e27"/>
          <p:cNvSpPr/>
          <p:nvPr/>
        </p:nvSpPr>
        <p:spPr>
          <a:xfrm>
            <a:off x="457200" y="5543550"/>
            <a:ext cx="59055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最低误差支持本研究设置内的比较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跨田、跨年外推尚未检验</a:t>
            </a:r>
            <a:endParaRPr lang="zh-CN" sz="2100" dirty="0"/>
          </a:p>
        </p:txBody>
      </p:sp>
      <p:sp>
        <p:nvSpPr>
          <p:cNvPr id="30" name="b04/drawing/source/e28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al., 2022 Fig.4, p.9；§2.3.3；CC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5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空间尺度改变后，光谱信息的收益需要重读</a:t>
            </a:r>
            <a:endParaRPr lang="zh-CN" sz="3150" dirty="0"/>
          </a:p>
        </p:txBody>
      </p:sp>
      <p:sp>
        <p:nvSpPr>
          <p:cNvPr id="3" name="b05/drawing/body/e1"/>
          <p:cNvSpPr/>
          <p:nvPr/>
        </p:nvSpPr>
        <p:spPr>
          <a:xfrm>
            <a:off x="457200" y="1104900"/>
            <a:ext cx="7620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同一LSTM，不同传感器与分辨率</a:t>
            </a:r>
            <a:endParaRPr lang="zh-CN" sz="2250" dirty="0"/>
          </a:p>
        </p:txBody>
      </p:sp>
      <p:pic>
        <p:nvPicPr>
          <p:cNvPr id="4" name="b05/drawing/body/e2" descr="(A) Details of the observed distribution of the winter wheat yield. Details of the modeled distribution based on (B) 10-m Sentinel-2, (C) 30-m ZY-1 02D, and (D) 30-m Sentinel-2 data. The modeled yield distribution based on (E) 10-m Sentinel-2, (F) 30-m ZY-1 02D, and (G) 30-m Sentinel-2 da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69" y="1714500"/>
            <a:ext cx="7329413" cy="4305300"/>
          </a:xfrm>
          <a:prstGeom prst="rect">
            <a:avLst/>
          </a:prstGeom>
        </p:spPr>
      </p:pic>
      <p:sp>
        <p:nvSpPr>
          <p:cNvPr id="5" name="b05/drawing/body/e3"/>
          <p:cNvSpPr/>
          <p:nvPr/>
        </p:nvSpPr>
        <p:spPr>
          <a:xfrm>
            <a:off x="8382000" y="1104900"/>
            <a:ext cx="335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Fig.6 的独立实验结果</a:t>
            </a:r>
            <a:endParaRPr lang="zh-CN" sz="2100" dirty="0"/>
          </a:p>
        </p:txBody>
      </p:sp>
      <p:sp>
        <p:nvSpPr>
          <p:cNvPr id="6" name="b05/drawing/body/e4"/>
          <p:cNvSpPr/>
          <p:nvPr/>
        </p:nvSpPr>
        <p:spPr>
          <a:xfrm>
            <a:off x="8382000" y="1581150"/>
            <a:ext cx="335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RMSE（t/ha）</a:t>
            </a:r>
            <a:endParaRPr lang="zh-CN" sz="1800" dirty="0"/>
          </a:p>
        </p:txBody>
      </p:sp>
      <p:sp>
        <p:nvSpPr>
          <p:cNvPr id="7" name="b05/drawing/body/e5"/>
          <p:cNvSpPr/>
          <p:nvPr/>
        </p:nvSpPr>
        <p:spPr>
          <a:xfrm>
            <a:off x="8382000" y="2076450"/>
            <a:ext cx="3352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Sentinel-2 · 10 m</a:t>
            </a:r>
            <a:endParaRPr lang="zh-CN" sz="2100" dirty="0"/>
          </a:p>
        </p:txBody>
      </p:sp>
      <p:sp>
        <p:nvSpPr>
          <p:cNvPr id="8" name="b05/drawing/body/e6"/>
          <p:cNvSpPr/>
          <p:nvPr/>
        </p:nvSpPr>
        <p:spPr>
          <a:xfrm>
            <a:off x="8382000" y="2457450"/>
            <a:ext cx="152400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0.219</a:t>
            </a:r>
            <a:endParaRPr lang="zh-CN" sz="2400" dirty="0"/>
          </a:p>
        </p:txBody>
      </p:sp>
      <p:sp>
        <p:nvSpPr>
          <p:cNvPr id="9" name="b05/drawing/body/e7"/>
          <p:cNvSpPr/>
          <p:nvPr/>
        </p:nvSpPr>
        <p:spPr>
          <a:xfrm>
            <a:off x="10001250" y="2495550"/>
            <a:ext cx="1733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0.914</a:t>
            </a:r>
            <a:endParaRPr lang="zh-CN" sz="1800" dirty="0"/>
          </a:p>
        </p:txBody>
      </p:sp>
      <p:sp>
        <p:nvSpPr>
          <p:cNvPr id="10" name="b05/drawing/body/e8/segment-1"/>
          <p:cNvSpPr/>
          <p:nvPr/>
        </p:nvSpPr>
        <p:spPr>
          <a:xfrm>
            <a:off x="8382000" y="2943225"/>
            <a:ext cx="33528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1" name="b05/drawing/body/e9"/>
          <p:cNvSpPr/>
          <p:nvPr/>
        </p:nvSpPr>
        <p:spPr>
          <a:xfrm>
            <a:off x="8382000" y="3067050"/>
            <a:ext cx="3352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ZY-1 02D · 30 m</a:t>
            </a:r>
            <a:endParaRPr lang="zh-CN" sz="2100" dirty="0"/>
          </a:p>
        </p:txBody>
      </p:sp>
      <p:sp>
        <p:nvSpPr>
          <p:cNvPr id="12" name="b05/drawing/body/e10"/>
          <p:cNvSpPr/>
          <p:nvPr/>
        </p:nvSpPr>
        <p:spPr>
          <a:xfrm>
            <a:off x="8382000" y="3448050"/>
            <a:ext cx="152400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0.237</a:t>
            </a:r>
            <a:endParaRPr lang="zh-CN" sz="2400" dirty="0"/>
          </a:p>
        </p:txBody>
      </p:sp>
      <p:sp>
        <p:nvSpPr>
          <p:cNvPr id="13" name="b05/drawing/body/e11"/>
          <p:cNvSpPr/>
          <p:nvPr/>
        </p:nvSpPr>
        <p:spPr>
          <a:xfrm>
            <a:off x="10001250" y="3486150"/>
            <a:ext cx="1733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0.902</a:t>
            </a:r>
            <a:endParaRPr lang="zh-CN" sz="1800" dirty="0"/>
          </a:p>
        </p:txBody>
      </p:sp>
      <p:sp>
        <p:nvSpPr>
          <p:cNvPr id="14" name="b05/drawing/body/e12/segment-1"/>
          <p:cNvSpPr/>
          <p:nvPr/>
        </p:nvSpPr>
        <p:spPr>
          <a:xfrm>
            <a:off x="8382000" y="3933825"/>
            <a:ext cx="33528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5" name="b05/drawing/body/e13"/>
          <p:cNvSpPr/>
          <p:nvPr/>
        </p:nvSpPr>
        <p:spPr>
          <a:xfrm>
            <a:off x="8382000" y="4057650"/>
            <a:ext cx="3352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Sentinel-2 · 30 m</a:t>
            </a:r>
            <a:endParaRPr lang="zh-CN" sz="2100" dirty="0"/>
          </a:p>
        </p:txBody>
      </p:sp>
      <p:sp>
        <p:nvSpPr>
          <p:cNvPr id="16" name="b05/drawing/body/e14"/>
          <p:cNvSpPr/>
          <p:nvPr/>
        </p:nvSpPr>
        <p:spPr>
          <a:xfrm>
            <a:off x="8382000" y="4438650"/>
            <a:ext cx="152400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0.307</a:t>
            </a:r>
            <a:endParaRPr lang="zh-CN" sz="2400" dirty="0"/>
          </a:p>
        </p:txBody>
      </p:sp>
      <p:sp>
        <p:nvSpPr>
          <p:cNvPr id="17" name="b05/drawing/body/e15"/>
          <p:cNvSpPr/>
          <p:nvPr/>
        </p:nvSpPr>
        <p:spPr>
          <a:xfrm>
            <a:off x="10001250" y="4476750"/>
            <a:ext cx="1733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R² 0.847</a:t>
            </a:r>
            <a:endParaRPr lang="zh-CN" sz="1800" dirty="0"/>
          </a:p>
        </p:txBody>
      </p:sp>
      <p:sp>
        <p:nvSpPr>
          <p:cNvPr id="18" name="b05/drawing/body/e16/segment-1"/>
          <p:cNvSpPr/>
          <p:nvPr/>
        </p:nvSpPr>
        <p:spPr>
          <a:xfrm>
            <a:off x="8382000" y="4924425"/>
            <a:ext cx="33528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9" name="b05/drawing/body/e17"/>
          <p:cNvSpPr/>
          <p:nvPr/>
        </p:nvSpPr>
        <p:spPr>
          <a:xfrm>
            <a:off x="8382000" y="5124450"/>
            <a:ext cx="3352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光谱信息与空间尺度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需要分别解释</a:t>
            </a:r>
            <a:endParaRPr lang="zh-CN" sz="2100" dirty="0"/>
          </a:p>
        </p:txBody>
      </p:sp>
      <p:sp>
        <p:nvSpPr>
          <p:cNvPr id="20" name="b05/drawing/body/e18"/>
          <p:cNvSpPr/>
          <p:nvPr/>
        </p:nvSpPr>
        <p:spPr>
          <a:xfrm>
            <a:off x="457200" y="61150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图中 a 为观测局部；e/f/g 为三种输入估计。不要把本页与上一页混为同一实验。</a:t>
            </a:r>
            <a:endParaRPr lang="zh-CN" sz="1350" dirty="0"/>
          </a:p>
        </p:txBody>
      </p:sp>
      <p:sp>
        <p:nvSpPr>
          <p:cNvPr id="21" name="b05/drawing/source/e19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al., 2022 §3.2；Figs.5–6, pp.9–10；CC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6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状态同化更新的是土壤水分，再由模型形成产量</a:t>
            </a:r>
            <a:endParaRPr lang="zh-CN" sz="3150" dirty="0"/>
          </a:p>
        </p:txBody>
      </p:sp>
      <p:sp>
        <p:nvSpPr>
          <p:cNvPr id="3" name="b06/drawing/body/e1"/>
          <p:cNvSpPr/>
          <p:nvPr/>
        </p:nvSpPr>
        <p:spPr>
          <a:xfrm>
            <a:off x="742950" y="1104900"/>
            <a:ext cx="6286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已校准作物 / 土壤参数 + 天气</a:t>
            </a:r>
            <a:endParaRPr lang="zh-CN" sz="2100" dirty="0"/>
          </a:p>
        </p:txBody>
      </p:sp>
      <p:sp>
        <p:nvSpPr>
          <p:cNvPr id="4" name="b06/drawing/body/e2"/>
          <p:cNvSpPr/>
          <p:nvPr/>
        </p:nvSpPr>
        <p:spPr>
          <a:xfrm>
            <a:off x="742950" y="2247900"/>
            <a:ext cx="2857500" cy="1066800"/>
          </a:xfrm>
          <a:prstGeom prst="rect">
            <a:avLst/>
          </a:prstGeom>
          <a:solidFill>
            <a:srgbClr val="EB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b06/drawing/body/e3"/>
          <p:cNvSpPr/>
          <p:nvPr/>
        </p:nvSpPr>
        <p:spPr>
          <a:xfrm>
            <a:off x="933450" y="241935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WOFOST</a:t>
            </a:r>
            <a:endParaRPr lang="zh-CN" sz="2400" dirty="0"/>
          </a:p>
        </p:txBody>
      </p:sp>
      <p:sp>
        <p:nvSpPr>
          <p:cNvPr id="6" name="b06/drawing/body/e4"/>
          <p:cNvSpPr/>
          <p:nvPr/>
        </p:nvSpPr>
        <p:spPr>
          <a:xfrm>
            <a:off x="933450" y="2838450"/>
            <a:ext cx="24765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水分限制生长模拟</a:t>
            </a:r>
            <a:endParaRPr lang="zh-CN" sz="1800" dirty="0"/>
          </a:p>
        </p:txBody>
      </p:sp>
      <p:sp>
        <p:nvSpPr>
          <p:cNvPr id="7" name="b06/drawing/body/e5"/>
          <p:cNvSpPr/>
          <p:nvPr/>
        </p:nvSpPr>
        <p:spPr>
          <a:xfrm>
            <a:off x="4457700" y="2247900"/>
            <a:ext cx="2571750" cy="1066800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b06/drawing/body/e6"/>
          <p:cNvSpPr/>
          <p:nvPr/>
        </p:nvSpPr>
        <p:spPr>
          <a:xfrm>
            <a:off x="4648200" y="2419350"/>
            <a:ext cx="2190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先验SM</a:t>
            </a:r>
            <a:endParaRPr lang="zh-CN" sz="2250" dirty="0"/>
          </a:p>
        </p:txBody>
      </p:sp>
      <p:sp>
        <p:nvSpPr>
          <p:cNvPr id="9" name="b06/drawing/body/e7"/>
          <p:cNvSpPr/>
          <p:nvPr/>
        </p:nvSpPr>
        <p:spPr>
          <a:xfrm>
            <a:off x="4648200" y="2857500"/>
            <a:ext cx="21907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50个集合成员</a:t>
            </a:r>
            <a:endParaRPr lang="zh-CN" sz="1800" dirty="0"/>
          </a:p>
        </p:txBody>
      </p:sp>
      <p:sp>
        <p:nvSpPr>
          <p:cNvPr id="10" name="b06/drawing/body/e8"/>
          <p:cNvSpPr/>
          <p:nvPr/>
        </p:nvSpPr>
        <p:spPr>
          <a:xfrm>
            <a:off x="8077200" y="1104900"/>
            <a:ext cx="3657600" cy="714375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b06/drawing/body/e9"/>
          <p:cNvSpPr/>
          <p:nvPr/>
        </p:nvSpPr>
        <p:spPr>
          <a:xfrm>
            <a:off x="8248650" y="1190625"/>
            <a:ext cx="331470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Sentinel-1 VV / 入射角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Sentinel-2 NDVI</a:t>
            </a:r>
            <a:endParaRPr lang="zh-CN" sz="1800" dirty="0"/>
          </a:p>
        </p:txBody>
      </p:sp>
      <p:sp>
        <p:nvSpPr>
          <p:cNvPr id="12" name="b06/drawing/body/e10"/>
          <p:cNvSpPr/>
          <p:nvPr/>
        </p:nvSpPr>
        <p:spPr>
          <a:xfrm>
            <a:off x="8077200" y="2343150"/>
            <a:ext cx="3657600" cy="762000"/>
          </a:xfrm>
          <a:prstGeom prst="rect">
            <a:avLst/>
          </a:prstGeom>
          <a:solidFill>
            <a:srgbClr val="EB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b06/drawing/body/e11"/>
          <p:cNvSpPr/>
          <p:nvPr/>
        </p:nvSpPr>
        <p:spPr>
          <a:xfrm>
            <a:off x="8248650" y="2533650"/>
            <a:ext cx="3314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水云模型</a:t>
            </a:r>
            <a:endParaRPr lang="zh-CN" sz="2250" dirty="0"/>
          </a:p>
        </p:txBody>
      </p:sp>
      <p:sp>
        <p:nvSpPr>
          <p:cNvPr id="14" name="b06/drawing/body/e12"/>
          <p:cNvSpPr/>
          <p:nvPr/>
        </p:nvSpPr>
        <p:spPr>
          <a:xfrm>
            <a:off x="8077200" y="3629025"/>
            <a:ext cx="3657600" cy="733425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b06/drawing/body/e13"/>
          <p:cNvSpPr/>
          <p:nvPr/>
        </p:nvSpPr>
        <p:spPr>
          <a:xfrm>
            <a:off x="8248650" y="3810000"/>
            <a:ext cx="33147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遥感SM观测 y</a:t>
            </a:r>
            <a:endParaRPr lang="zh-CN" sz="2100" dirty="0"/>
          </a:p>
        </p:txBody>
      </p:sp>
      <p:sp>
        <p:nvSpPr>
          <p:cNvPr id="16" name="b06/drawing/body/e14"/>
          <p:cNvSpPr/>
          <p:nvPr/>
        </p:nvSpPr>
        <p:spPr>
          <a:xfrm>
            <a:off x="4457700" y="4105275"/>
            <a:ext cx="2571750" cy="857250"/>
          </a:xfrm>
          <a:prstGeom prst="rect">
            <a:avLst/>
          </a:prstGeom>
          <a:solidFill>
            <a:srgbClr val="EBF3F8"/>
          </a:solidFill>
          <a:ln w="9525">
            <a:solidFill>
              <a:srgbClr val="276A9A"/>
            </a:solidFill>
            <a:prstDash val="solid"/>
          </a:ln>
        </p:spPr>
      </p:sp>
      <p:sp>
        <p:nvSpPr>
          <p:cNvPr id="17" name="b06/drawing/body/e15"/>
          <p:cNvSpPr/>
          <p:nvPr/>
        </p:nvSpPr>
        <p:spPr>
          <a:xfrm>
            <a:off x="4648200" y="4324350"/>
            <a:ext cx="2190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EnKF状态更新</a:t>
            </a:r>
            <a:endParaRPr lang="zh-CN" sz="2100" dirty="0"/>
          </a:p>
        </p:txBody>
      </p:sp>
      <p:sp>
        <p:nvSpPr>
          <p:cNvPr id="18" name="b06/drawing/body/e16"/>
          <p:cNvSpPr/>
          <p:nvPr/>
        </p:nvSpPr>
        <p:spPr>
          <a:xfrm>
            <a:off x="742950" y="5391150"/>
            <a:ext cx="2857500" cy="666750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b06/drawing/body/e17"/>
          <p:cNvSpPr/>
          <p:nvPr/>
        </p:nvSpPr>
        <p:spPr>
          <a:xfrm>
            <a:off x="933450" y="5553075"/>
            <a:ext cx="2476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收获产量</a:t>
            </a:r>
            <a:endParaRPr lang="zh-CN" sz="2250" dirty="0"/>
          </a:p>
        </p:txBody>
      </p:sp>
      <p:sp>
        <p:nvSpPr>
          <p:cNvPr id="20" name="b06/drawing/body/e18"/>
          <p:cNvSpPr/>
          <p:nvPr/>
        </p:nvSpPr>
        <p:spPr>
          <a:xfrm>
            <a:off x="933450" y="4772025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更新SM并继续模拟</a:t>
            </a:r>
            <a:endParaRPr lang="zh-CN" sz="1800" dirty="0"/>
          </a:p>
        </p:txBody>
      </p:sp>
      <p:sp>
        <p:nvSpPr>
          <p:cNvPr id="21" name="b06/drawing/body/e19"/>
          <p:cNvSpPr/>
          <p:nvPr/>
        </p:nvSpPr>
        <p:spPr>
          <a:xfrm>
            <a:off x="4457700" y="5324475"/>
            <a:ext cx="72771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分析SM = 预报SM + K×(观测SM−预报SM)</a:t>
            </a:r>
            <a:endParaRPr lang="zh-CN" sz="2100" dirty="0"/>
          </a:p>
        </p:txBody>
      </p:sp>
      <p:sp>
        <p:nvSpPr>
          <p:cNvPr id="22" name="b06/drawing/body/e20"/>
          <p:cNvSpPr/>
          <p:nvPr/>
        </p:nvSpPr>
        <p:spPr>
          <a:xfrm>
            <a:off x="4457700" y="5848350"/>
            <a:ext cx="7277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 / 观测扰动：10% / 7%；有观测时才更新</a:t>
            </a:r>
            <a:endParaRPr lang="zh-CN" sz="2100" dirty="0"/>
          </a:p>
        </p:txBody>
      </p:sp>
      <p:sp>
        <p:nvSpPr>
          <p:cNvPr id="23" name="b06/drawing/body/e21/segment-1"/>
          <p:cNvSpPr/>
          <p:nvPr/>
        </p:nvSpPr>
        <p:spPr>
          <a:xfrm>
            <a:off x="2171700" y="1676400"/>
            <a:ext cx="0" cy="57150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24" name="b06/drawing/body/e22/segment-1"/>
          <p:cNvSpPr/>
          <p:nvPr/>
        </p:nvSpPr>
        <p:spPr>
          <a:xfrm>
            <a:off x="3600450" y="2781300"/>
            <a:ext cx="857250" cy="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25" name="b06/drawing/body/e23/segment-1"/>
          <p:cNvSpPr/>
          <p:nvPr/>
        </p:nvSpPr>
        <p:spPr>
          <a:xfrm>
            <a:off x="5743575" y="3314700"/>
            <a:ext cx="0" cy="790575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26" name="b06/drawing/body/e24/segment-1"/>
          <p:cNvSpPr/>
          <p:nvPr/>
        </p:nvSpPr>
        <p:spPr>
          <a:xfrm>
            <a:off x="9886950" y="1819275"/>
            <a:ext cx="0" cy="523875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27" name="b06/drawing/body/e25/segment-1"/>
          <p:cNvSpPr/>
          <p:nvPr/>
        </p:nvSpPr>
        <p:spPr>
          <a:xfrm>
            <a:off x="9886950" y="3105150"/>
            <a:ext cx="0" cy="523875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28" name="b06/drawing/body/e26/segment-1"/>
          <p:cNvSpPr/>
          <p:nvPr/>
        </p:nvSpPr>
        <p:spPr>
          <a:xfrm flipH="1">
            <a:off x="7553325" y="3990975"/>
            <a:ext cx="523875" cy="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</a:ln>
        </p:spPr>
      </p:sp>
      <p:sp>
        <p:nvSpPr>
          <p:cNvPr id="29" name="b06/drawing/body/e26/segment-2"/>
          <p:cNvSpPr/>
          <p:nvPr/>
        </p:nvSpPr>
        <p:spPr>
          <a:xfrm>
            <a:off x="7553325" y="3990975"/>
            <a:ext cx="0" cy="542925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</a:ln>
        </p:spPr>
      </p:sp>
      <p:sp>
        <p:nvSpPr>
          <p:cNvPr id="30" name="b06/drawing/body/e26/segment-3"/>
          <p:cNvSpPr/>
          <p:nvPr/>
        </p:nvSpPr>
        <p:spPr>
          <a:xfrm flipH="1">
            <a:off x="7029450" y="4533900"/>
            <a:ext cx="523875" cy="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31" name="b06/drawing/body/e27/segment-1"/>
          <p:cNvSpPr/>
          <p:nvPr/>
        </p:nvSpPr>
        <p:spPr>
          <a:xfrm flipH="1">
            <a:off x="3886200" y="4533900"/>
            <a:ext cx="571500" cy="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</a:ln>
        </p:spPr>
      </p:sp>
      <p:sp>
        <p:nvSpPr>
          <p:cNvPr id="32" name="b06/drawing/body/e27/segment-2"/>
          <p:cNvSpPr/>
          <p:nvPr/>
        </p:nvSpPr>
        <p:spPr>
          <a:xfrm flipH="1">
            <a:off x="2171700" y="4533900"/>
            <a:ext cx="1714500" cy="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</a:ln>
        </p:spPr>
      </p:sp>
      <p:sp>
        <p:nvSpPr>
          <p:cNvPr id="33" name="b06/drawing/body/e27/segment-3"/>
          <p:cNvSpPr/>
          <p:nvPr/>
        </p:nvSpPr>
        <p:spPr>
          <a:xfrm flipV="1">
            <a:off x="2171700" y="3314700"/>
            <a:ext cx="0" cy="1219200"/>
          </a:xfrm>
          <a:prstGeom prst="line">
            <a:avLst/>
          </a:prstGeom>
          <a:noFill/>
          <a:ln w="19050">
            <a:solidFill>
              <a:srgbClr val="276A9A"/>
            </a:solidFill>
            <a:prstDash val="solid"/>
            <a:tailEnd type="triangle"/>
          </a:ln>
        </p:spPr>
      </p:sp>
      <p:sp>
        <p:nvSpPr>
          <p:cNvPr id="34" name="b06/drawing/body/e28/segment-1"/>
          <p:cNvSpPr/>
          <p:nvPr/>
        </p:nvSpPr>
        <p:spPr>
          <a:xfrm flipH="1">
            <a:off x="504825" y="2781300"/>
            <a:ext cx="238125" cy="0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</a:ln>
        </p:spPr>
      </p:sp>
      <p:sp>
        <p:nvSpPr>
          <p:cNvPr id="35" name="b06/drawing/body/e28/segment-2"/>
          <p:cNvSpPr/>
          <p:nvPr/>
        </p:nvSpPr>
        <p:spPr>
          <a:xfrm>
            <a:off x="504825" y="2781300"/>
            <a:ext cx="0" cy="2943225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</a:ln>
        </p:spPr>
      </p:sp>
      <p:sp>
        <p:nvSpPr>
          <p:cNvPr id="36" name="b06/drawing/body/e28/segment-3"/>
          <p:cNvSpPr/>
          <p:nvPr/>
        </p:nvSpPr>
        <p:spPr>
          <a:xfrm>
            <a:off x="504825" y="5724525"/>
            <a:ext cx="238125" cy="0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  <a:tailEnd type="triangle"/>
          </a:ln>
        </p:spPr>
      </p:sp>
      <p:sp>
        <p:nvSpPr>
          <p:cNvPr id="37" name="b06/drawing/source/e29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et al., 2019 §2.5–2.6, pp.7–8；据Fig.3重绘；CC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7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三次表层观测，只能间歇约束根区水分状态</a:t>
            </a:r>
            <a:endParaRPr lang="zh-CN" sz="3150" dirty="0"/>
          </a:p>
        </p:txBody>
      </p:sp>
      <p:sp>
        <p:nvSpPr>
          <p:cNvPr id="3" name="b07/drawing/body/e1"/>
          <p:cNvSpPr/>
          <p:nvPr/>
        </p:nvSpPr>
        <p:spPr>
          <a:xfrm>
            <a:off x="457200" y="1104900"/>
            <a:ext cx="3048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蓝：灌溉WOFOST</a:t>
            </a:r>
            <a:endParaRPr lang="zh-CN" sz="1800" dirty="0"/>
          </a:p>
        </p:txBody>
      </p:sp>
      <p:sp>
        <p:nvSpPr>
          <p:cNvPr id="4" name="b07/drawing/body/e2"/>
          <p:cNvSpPr/>
          <p:nvPr/>
        </p:nvSpPr>
        <p:spPr>
          <a:xfrm>
            <a:off x="3648075" y="1104900"/>
            <a:ext cx="2667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灰：EnKF同化</a:t>
            </a:r>
            <a:endParaRPr lang="zh-CN" sz="1800" dirty="0"/>
          </a:p>
        </p:txBody>
      </p:sp>
      <p:sp>
        <p:nvSpPr>
          <p:cNvPr id="5" name="b07/drawing/body/e3"/>
          <p:cNvSpPr/>
          <p:nvPr/>
        </p:nvSpPr>
        <p:spPr>
          <a:xfrm>
            <a:off x="6457950" y="1104900"/>
            <a:ext cx="3048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绿：无灌溉WOFOST</a:t>
            </a:r>
            <a:endParaRPr lang="zh-CN" sz="1800" dirty="0"/>
          </a:p>
        </p:txBody>
      </p:sp>
      <p:pic>
        <p:nvPicPr>
          <p:cNvPr id="6" name="b07/drawing/body/e4" descr="Figure 6. Comparison of the SM curves simulated by WOFOST model with and without the EnKF-based assimilation method (a sample point in Shenzhou county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334" y="1695450"/>
            <a:ext cx="8855982" cy="4057650"/>
          </a:xfrm>
          <a:prstGeom prst="rect">
            <a:avLst/>
          </a:prstGeom>
        </p:spPr>
      </p:pic>
      <p:sp>
        <p:nvSpPr>
          <p:cNvPr id="7" name="b07/drawing/body/e5"/>
          <p:cNvSpPr/>
          <p:nvPr/>
        </p:nvSpPr>
        <p:spPr>
          <a:xfrm>
            <a:off x="9658350" y="1104900"/>
            <a:ext cx="207645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三次观测更新</a:t>
            </a:r>
            <a:endParaRPr lang="zh-CN" sz="2250" dirty="0"/>
          </a:p>
        </p:txBody>
      </p:sp>
      <p:sp>
        <p:nvSpPr>
          <p:cNvPr id="8" name="b07/drawing/body/e6"/>
          <p:cNvSpPr/>
          <p:nvPr/>
        </p:nvSpPr>
        <p:spPr>
          <a:xfrm>
            <a:off x="9658350" y="2000250"/>
            <a:ext cx="2076450" cy="140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2017年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4月1日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5月7日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6月1日</a:t>
            </a:r>
            <a:endParaRPr lang="zh-CN" sz="2100" dirty="0"/>
          </a:p>
        </p:txBody>
      </p:sp>
      <p:sp>
        <p:nvSpPr>
          <p:cNvPr id="9" name="b07/drawing/body/e7/segment-1"/>
          <p:cNvSpPr/>
          <p:nvPr/>
        </p:nvSpPr>
        <p:spPr>
          <a:xfrm>
            <a:off x="9658350" y="3619500"/>
            <a:ext cx="207645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0" name="b07/drawing/body/e8"/>
          <p:cNvSpPr/>
          <p:nvPr/>
        </p:nvSpPr>
        <p:spPr>
          <a:xfrm>
            <a:off x="9658350" y="3876675"/>
            <a:ext cx="207645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0–10 cm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表层观测</a:t>
            </a:r>
            <a:endParaRPr lang="zh-CN" sz="2100" dirty="0"/>
          </a:p>
        </p:txBody>
      </p:sp>
      <p:sp>
        <p:nvSpPr>
          <p:cNvPr id="11" name="b07/drawing/body/e9"/>
          <p:cNvSpPr/>
          <p:nvPr/>
        </p:nvSpPr>
        <p:spPr>
          <a:xfrm>
            <a:off x="9658350" y="4857750"/>
            <a:ext cx="207645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根区平均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模型状态</a:t>
            </a:r>
            <a:endParaRPr lang="zh-CN" sz="2100" dirty="0"/>
          </a:p>
        </p:txBody>
      </p:sp>
      <p:sp>
        <p:nvSpPr>
          <p:cNvPr id="12" name="b07/drawing/body/e10"/>
          <p:cNvSpPr/>
          <p:nvPr/>
        </p:nvSpPr>
        <p:spPr>
          <a:xfrm>
            <a:off x="457200" y="5924550"/>
            <a:ext cx="88582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单站轨迹说明更新时点；区域产量另以110样点验证</a:t>
            </a:r>
            <a:endParaRPr lang="zh-CN" sz="2100" dirty="0"/>
          </a:p>
        </p:txBody>
      </p:sp>
      <p:sp>
        <p:nvSpPr>
          <p:cNvPr id="13" name="b07/drawing/body/e11"/>
          <p:cNvSpPr/>
          <p:nvPr/>
        </p:nvSpPr>
        <p:spPr>
          <a:xfrm>
            <a:off x="9658350" y="5791200"/>
            <a:ext cx="20764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深度不一致</a:t>
            </a:r>
            <a:endParaRPr lang="zh-CN" sz="2100" dirty="0"/>
          </a:p>
        </p:txBody>
      </p:sp>
      <p:sp>
        <p:nvSpPr>
          <p:cNvPr id="14" name="b07/drawing/source/e12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et al., 2019 Fig.6, p.11；§4.1–4.2, pp.13–14；CC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8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同化降低产量误差，但高产端低估仍可见</a:t>
            </a:r>
            <a:endParaRPr lang="zh-CN" sz="3150" dirty="0"/>
          </a:p>
        </p:txBody>
      </p:sp>
      <p:sp>
        <p:nvSpPr>
          <p:cNvPr id="3" name="b08/drawing/body/e1"/>
          <p:cNvSpPr/>
          <p:nvPr/>
        </p:nvSpPr>
        <p:spPr>
          <a:xfrm>
            <a:off x="457200" y="1104900"/>
            <a:ext cx="54483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无同化：RMSE 1330；R² 0.21</a:t>
            </a:r>
            <a:endParaRPr lang="zh-CN" sz="2100" dirty="0"/>
          </a:p>
        </p:txBody>
      </p:sp>
      <p:sp>
        <p:nvSpPr>
          <p:cNvPr id="4" name="b08/drawing/body/e2"/>
          <p:cNvSpPr/>
          <p:nvPr/>
        </p:nvSpPr>
        <p:spPr>
          <a:xfrm>
            <a:off x="6400800" y="1104900"/>
            <a:ext cx="5334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同化SM：RMSE 934；R² 0.35</a:t>
            </a:r>
            <a:endParaRPr lang="zh-CN" sz="2100" dirty="0"/>
          </a:p>
        </p:txBody>
      </p:sp>
      <p:sp>
        <p:nvSpPr>
          <p:cNvPr id="5" name="b08/drawing/body/e3"/>
          <p:cNvSpPr/>
          <p:nvPr/>
        </p:nvSpPr>
        <p:spPr>
          <a:xfrm>
            <a:off x="457200" y="1581150"/>
            <a:ext cx="11277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横轴为实测产量，纵轴为模拟产量（kg/ha）；110个地面产量样点</a:t>
            </a:r>
            <a:endParaRPr lang="zh-CN" sz="1800" dirty="0"/>
          </a:p>
        </p:txBody>
      </p:sp>
      <p:pic>
        <p:nvPicPr>
          <p:cNvPr id="6" name="b08/drawing/body/e4" descr="Figure 8. Winter wheat yield estimation ( a ) without assimilation and ( b ) with EnKF assimilation.">    </p:cNvPr>
          <p:cNvPicPr>
            <a:picLocks noChangeAspect="1"/>
          </p:cNvPicPr>
          <p:nvPr/>
        </p:nvPicPr>
        <p:blipFill>
          <a:blip r:embed="rId1"/>
          <a:srcRect l="8312" r="55943" t="3960" b="22147"/>
          <a:stretch/>
        </p:blipFill>
        <p:spPr>
          <a:xfrm>
            <a:off x="1677005" y="2076450"/>
            <a:ext cx="3427791" cy="3857625"/>
          </a:xfrm>
          <a:prstGeom prst="rect">
            <a:avLst/>
          </a:prstGeom>
        </p:spPr>
      </p:pic>
      <p:sp>
        <p:nvSpPr>
          <p:cNvPr id="7" name="b08/drawing/body/e5"/>
          <p:cNvSpPr/>
          <p:nvPr/>
        </p:nvSpPr>
        <p:spPr>
          <a:xfrm>
            <a:off x="514350" y="5788480"/>
            <a:ext cx="723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6000</a:t>
            </a:r>
            <a:endParaRPr lang="zh-CN" sz="1800" dirty="0"/>
          </a:p>
        </p:txBody>
      </p:sp>
      <p:sp>
        <p:nvSpPr>
          <p:cNvPr id="8" name="b08/drawing/body/e6"/>
          <p:cNvSpPr/>
          <p:nvPr/>
        </p:nvSpPr>
        <p:spPr>
          <a:xfrm>
            <a:off x="1251100" y="5991225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6000</a:t>
            </a:r>
            <a:endParaRPr lang="zh-CN" sz="1800" dirty="0"/>
          </a:p>
        </p:txBody>
      </p:sp>
      <p:sp>
        <p:nvSpPr>
          <p:cNvPr id="9" name="b08/drawing/body/e7"/>
          <p:cNvSpPr/>
          <p:nvPr/>
        </p:nvSpPr>
        <p:spPr>
          <a:xfrm>
            <a:off x="514350" y="3862387"/>
            <a:ext cx="723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8000</a:t>
            </a:r>
            <a:endParaRPr lang="zh-CN" sz="1800" dirty="0"/>
          </a:p>
        </p:txBody>
      </p:sp>
      <p:sp>
        <p:nvSpPr>
          <p:cNvPr id="10" name="b08/drawing/body/e8"/>
          <p:cNvSpPr/>
          <p:nvPr/>
        </p:nvSpPr>
        <p:spPr>
          <a:xfrm>
            <a:off x="2960915" y="5991225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8000</a:t>
            </a:r>
            <a:endParaRPr lang="zh-CN" sz="1800" dirty="0"/>
          </a:p>
        </p:txBody>
      </p:sp>
      <p:sp>
        <p:nvSpPr>
          <p:cNvPr id="11" name="b08/drawing/body/e9"/>
          <p:cNvSpPr/>
          <p:nvPr/>
        </p:nvSpPr>
        <p:spPr>
          <a:xfrm>
            <a:off x="514350" y="1936295"/>
            <a:ext cx="723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10000</a:t>
            </a:r>
            <a:endParaRPr lang="zh-CN" sz="1800" dirty="0"/>
          </a:p>
        </p:txBody>
      </p:sp>
      <p:sp>
        <p:nvSpPr>
          <p:cNvPr id="12" name="b08/drawing/body/e10"/>
          <p:cNvSpPr/>
          <p:nvPr/>
        </p:nvSpPr>
        <p:spPr>
          <a:xfrm>
            <a:off x="4670730" y="5991225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10000</a:t>
            </a:r>
            <a:endParaRPr lang="zh-CN" sz="1800" dirty="0"/>
          </a:p>
        </p:txBody>
      </p:sp>
      <p:pic>
        <p:nvPicPr>
          <p:cNvPr id="13" name="b08/drawing/body/e11" descr="Figure 8. Winter wheat yield estimation ( a ) without assimilation and ( b ) with EnKF assimilation.">    </p:cNvPr>
          <p:cNvPicPr>
            <a:picLocks noChangeAspect="1"/>
          </p:cNvPicPr>
          <p:nvPr/>
        </p:nvPicPr>
        <p:blipFill>
          <a:blip r:embed="rId2"/>
          <a:srcRect l="59943" r="2723" t="2137" b="20740"/>
          <a:stretch/>
        </p:blipFill>
        <p:spPr>
          <a:xfrm>
            <a:off x="7620000" y="2077101"/>
            <a:ext cx="3429000" cy="3856322"/>
          </a:xfrm>
          <a:prstGeom prst="rect">
            <a:avLst/>
          </a:prstGeom>
        </p:spPr>
      </p:pic>
      <p:sp>
        <p:nvSpPr>
          <p:cNvPr id="14" name="b08/drawing/body/e12"/>
          <p:cNvSpPr/>
          <p:nvPr/>
        </p:nvSpPr>
        <p:spPr>
          <a:xfrm>
            <a:off x="6457950" y="5785337"/>
            <a:ext cx="723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6000</a:t>
            </a:r>
            <a:endParaRPr lang="zh-CN" sz="1800" dirty="0"/>
          </a:p>
        </p:txBody>
      </p:sp>
      <p:sp>
        <p:nvSpPr>
          <p:cNvPr id="15" name="b08/drawing/body/e13"/>
          <p:cNvSpPr/>
          <p:nvPr/>
        </p:nvSpPr>
        <p:spPr>
          <a:xfrm>
            <a:off x="7193981" y="5991225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6000</a:t>
            </a:r>
            <a:endParaRPr lang="zh-CN" sz="1800" dirty="0"/>
          </a:p>
        </p:txBody>
      </p:sp>
      <p:sp>
        <p:nvSpPr>
          <p:cNvPr id="16" name="b08/drawing/body/e14"/>
          <p:cNvSpPr/>
          <p:nvPr/>
        </p:nvSpPr>
        <p:spPr>
          <a:xfrm>
            <a:off x="6457950" y="3861085"/>
            <a:ext cx="723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8000</a:t>
            </a:r>
            <a:endParaRPr lang="zh-CN" sz="1800" dirty="0"/>
          </a:p>
        </p:txBody>
      </p:sp>
      <p:sp>
        <p:nvSpPr>
          <p:cNvPr id="17" name="b08/drawing/body/e15"/>
          <p:cNvSpPr/>
          <p:nvPr/>
        </p:nvSpPr>
        <p:spPr>
          <a:xfrm>
            <a:off x="8903269" y="5991225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8000</a:t>
            </a:r>
            <a:endParaRPr lang="zh-CN" sz="1800" dirty="0"/>
          </a:p>
        </p:txBody>
      </p:sp>
      <p:sp>
        <p:nvSpPr>
          <p:cNvPr id="18" name="b08/drawing/body/e16"/>
          <p:cNvSpPr/>
          <p:nvPr/>
        </p:nvSpPr>
        <p:spPr>
          <a:xfrm>
            <a:off x="6457950" y="1936832"/>
            <a:ext cx="723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10000</a:t>
            </a:r>
            <a:endParaRPr lang="zh-CN" sz="1800" dirty="0"/>
          </a:p>
        </p:txBody>
      </p:sp>
      <p:sp>
        <p:nvSpPr>
          <p:cNvPr id="19" name="b08/drawing/body/e17"/>
          <p:cNvSpPr/>
          <p:nvPr/>
        </p:nvSpPr>
        <p:spPr>
          <a:xfrm>
            <a:off x="10612558" y="5991225"/>
            <a:ext cx="8572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10000</a:t>
            </a:r>
            <a:endParaRPr lang="zh-CN" sz="1800" dirty="0"/>
          </a:p>
        </p:txBody>
      </p:sp>
      <p:sp>
        <p:nvSpPr>
          <p:cNvPr id="20" name="b08/drawing/source/e18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 et al., 2019 Fig.8, p.12；绘图区裁切并重建标签；CC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9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机理特征融合，把模拟过程作为额外学习输入</a:t>
            </a:r>
            <a:endParaRPr lang="zh-CN" sz="3150" dirty="0"/>
          </a:p>
        </p:txBody>
      </p:sp>
      <p:sp>
        <p:nvSpPr>
          <p:cNvPr id="3" name="b09/drawing/body/e1"/>
          <p:cNvSpPr/>
          <p:nvPr/>
        </p:nvSpPr>
        <p:spPr>
          <a:xfrm>
            <a:off x="457200" y="1104900"/>
            <a:ext cx="2857500" cy="1238250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b09/drawing/body/e2"/>
          <p:cNvSpPr/>
          <p:nvPr/>
        </p:nvSpPr>
        <p:spPr>
          <a:xfrm>
            <a:off x="647700" y="1276350"/>
            <a:ext cx="24765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天气 / 土壤 / 管理</a:t>
            </a:r>
            <a:endParaRPr lang="zh-CN" sz="2100" dirty="0"/>
          </a:p>
        </p:txBody>
      </p:sp>
      <p:sp>
        <p:nvSpPr>
          <p:cNvPr id="5" name="b09/drawing/body/e3"/>
          <p:cNvSpPr/>
          <p:nvPr/>
        </p:nvSpPr>
        <p:spPr>
          <a:xfrm>
            <a:off x="4267200" y="1104900"/>
            <a:ext cx="2857500" cy="1238250"/>
          </a:xfrm>
          <a:prstGeom prst="rect">
            <a:avLst/>
          </a:prstGeom>
          <a:solidFill>
            <a:srgbClr val="F5F0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b09/drawing/body/e4"/>
          <p:cNvSpPr/>
          <p:nvPr/>
        </p:nvSpPr>
        <p:spPr>
          <a:xfrm>
            <a:off x="4457700" y="1276350"/>
            <a:ext cx="2476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APSIM</a:t>
            </a:r>
            <a:endParaRPr lang="zh-CN" sz="2400" dirty="0"/>
          </a:p>
        </p:txBody>
      </p:sp>
      <p:sp>
        <p:nvSpPr>
          <p:cNvPr id="7" name="b09/drawing/body/e5"/>
          <p:cNvSpPr/>
          <p:nvPr/>
        </p:nvSpPr>
        <p:spPr>
          <a:xfrm>
            <a:off x="4457700" y="1819275"/>
            <a:ext cx="2476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作物过程模拟</a:t>
            </a:r>
            <a:endParaRPr lang="zh-CN" sz="1800" dirty="0"/>
          </a:p>
        </p:txBody>
      </p:sp>
      <p:sp>
        <p:nvSpPr>
          <p:cNvPr id="8" name="b09/drawing/body/e6"/>
          <p:cNvSpPr/>
          <p:nvPr/>
        </p:nvSpPr>
        <p:spPr>
          <a:xfrm>
            <a:off x="8077200" y="1104900"/>
            <a:ext cx="3657600" cy="1809750"/>
          </a:xfrm>
          <a:prstGeom prst="rect">
            <a:avLst/>
          </a:prstGeom>
          <a:solidFill>
            <a:srgbClr val="F5F0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b09/drawing/body/e7"/>
          <p:cNvSpPr/>
          <p:nvPr/>
        </p:nvSpPr>
        <p:spPr>
          <a:xfrm>
            <a:off x="8267700" y="1257300"/>
            <a:ext cx="3276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22个机理特征</a:t>
            </a:r>
            <a:endParaRPr lang="zh-CN" sz="2250" dirty="0"/>
          </a:p>
        </p:txBody>
      </p:sp>
      <p:sp>
        <p:nvSpPr>
          <p:cNvPr id="10" name="b09/drawing/body/e8"/>
          <p:cNvSpPr/>
          <p:nvPr/>
        </p:nvSpPr>
        <p:spPr>
          <a:xfrm>
            <a:off x="8267700" y="1771650"/>
            <a:ext cx="327660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产量、物候、生物量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干旱胁迫、地下水位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等过程输出</a:t>
            </a:r>
            <a:endParaRPr lang="zh-CN" sz="2100" dirty="0"/>
          </a:p>
        </p:txBody>
      </p:sp>
      <p:sp>
        <p:nvSpPr>
          <p:cNvPr id="11" name="b09/drawing/body/e9"/>
          <p:cNvSpPr/>
          <p:nvPr/>
        </p:nvSpPr>
        <p:spPr>
          <a:xfrm>
            <a:off x="4267200" y="3962400"/>
            <a:ext cx="2857500" cy="952500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b09/drawing/body/e10"/>
          <p:cNvSpPr/>
          <p:nvPr/>
        </p:nvSpPr>
        <p:spPr>
          <a:xfrm>
            <a:off x="4457700" y="4219575"/>
            <a:ext cx="2476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相同ML学习器</a:t>
            </a:r>
            <a:endParaRPr lang="zh-CN" sz="2250" dirty="0"/>
          </a:p>
        </p:txBody>
      </p:sp>
      <p:sp>
        <p:nvSpPr>
          <p:cNvPr id="13" name="b09/drawing/body/e11"/>
          <p:cNvSpPr/>
          <p:nvPr/>
        </p:nvSpPr>
        <p:spPr>
          <a:xfrm>
            <a:off x="8553450" y="3962400"/>
            <a:ext cx="3181350" cy="952500"/>
          </a:xfrm>
          <a:prstGeom prst="rect">
            <a:avLst/>
          </a:prstGeom>
          <a:solidFill>
            <a:srgbClr val="F5F0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b09/drawing/body/e12"/>
          <p:cNvSpPr/>
          <p:nvPr/>
        </p:nvSpPr>
        <p:spPr>
          <a:xfrm>
            <a:off x="8743950" y="4229100"/>
            <a:ext cx="28003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县尺度玉米产量</a:t>
            </a:r>
            <a:endParaRPr lang="zh-CN" sz="2100" dirty="0"/>
          </a:p>
        </p:txBody>
      </p:sp>
      <p:sp>
        <p:nvSpPr>
          <p:cNvPr id="15" name="b09/drawing/body/e13"/>
          <p:cNvSpPr/>
          <p:nvPr/>
        </p:nvSpPr>
        <p:spPr>
          <a:xfrm>
            <a:off x="457200" y="5200650"/>
            <a:ext cx="2857500" cy="838200"/>
          </a:xfrm>
          <a:prstGeom prst="rect">
            <a:avLst/>
          </a:prstGeom>
          <a:solidFill>
            <a:srgbClr val="EDF3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b09/drawing/body/e14"/>
          <p:cNvSpPr/>
          <p:nvPr/>
        </p:nvSpPr>
        <p:spPr>
          <a:xfrm>
            <a:off x="647700" y="5324475"/>
            <a:ext cx="24765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观测县产量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作为监督目标</a:t>
            </a:r>
            <a:endParaRPr lang="zh-CN" sz="2100" dirty="0"/>
          </a:p>
        </p:txBody>
      </p:sp>
      <p:sp>
        <p:nvSpPr>
          <p:cNvPr id="17" name="b09/drawing/body/e15"/>
          <p:cNvSpPr/>
          <p:nvPr/>
        </p:nvSpPr>
        <p:spPr>
          <a:xfrm>
            <a:off x="7886700" y="5314950"/>
            <a:ext cx="38481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293县 · 10,016县年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1984–2018，美国三州</a:t>
            </a:r>
            <a:endParaRPr lang="zh-CN" sz="2100" dirty="0"/>
          </a:p>
        </p:txBody>
      </p:sp>
      <p:sp>
        <p:nvSpPr>
          <p:cNvPr id="18" name="b09/drawing/body/e16"/>
          <p:cNvSpPr/>
          <p:nvPr/>
        </p:nvSpPr>
        <p:spPr>
          <a:xfrm>
            <a:off x="4267200" y="6076950"/>
            <a:ext cx="746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原研究未用遥感；APSIM使用完整测试年天气</a:t>
            </a:r>
            <a:endParaRPr lang="zh-CN" sz="1800" dirty="0"/>
          </a:p>
        </p:txBody>
      </p:sp>
      <p:sp>
        <p:nvSpPr>
          <p:cNvPr id="19" name="b09/drawing/body/e17/segment-1"/>
          <p:cNvSpPr/>
          <p:nvPr/>
        </p:nvSpPr>
        <p:spPr>
          <a:xfrm>
            <a:off x="3314700" y="1724025"/>
            <a:ext cx="95250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  <a:tailEnd type="triangle"/>
          </a:ln>
        </p:spPr>
      </p:sp>
      <p:sp>
        <p:nvSpPr>
          <p:cNvPr id="20" name="b09/drawing/body/e18/segment-1"/>
          <p:cNvSpPr/>
          <p:nvPr/>
        </p:nvSpPr>
        <p:spPr>
          <a:xfrm>
            <a:off x="7124700" y="1724025"/>
            <a:ext cx="95250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  <a:tailEnd type="triangle"/>
          </a:ln>
        </p:spPr>
      </p:sp>
      <p:sp>
        <p:nvSpPr>
          <p:cNvPr id="21" name="b09/drawing/body/e19/segment-1"/>
          <p:cNvSpPr/>
          <p:nvPr/>
        </p:nvSpPr>
        <p:spPr>
          <a:xfrm>
            <a:off x="1885950" y="2343150"/>
            <a:ext cx="0" cy="2000250"/>
          </a:xfrm>
          <a:prstGeom prst="line">
            <a:avLst/>
          </a:prstGeom>
          <a:noFill/>
          <a:ln w="19050">
            <a:solidFill>
              <a:srgbClr val="172B28"/>
            </a:solidFill>
            <a:prstDash val="solid"/>
          </a:ln>
        </p:spPr>
      </p:sp>
      <p:sp>
        <p:nvSpPr>
          <p:cNvPr id="22" name="b09/drawing/body/e19/segment-2"/>
          <p:cNvSpPr/>
          <p:nvPr/>
        </p:nvSpPr>
        <p:spPr>
          <a:xfrm>
            <a:off x="1885950" y="4343400"/>
            <a:ext cx="2381250" cy="0"/>
          </a:xfrm>
          <a:prstGeom prst="line">
            <a:avLst/>
          </a:prstGeom>
          <a:noFill/>
          <a:ln w="19050">
            <a:solidFill>
              <a:srgbClr val="172B28"/>
            </a:solidFill>
            <a:prstDash val="solid"/>
            <a:tailEnd type="triangle"/>
          </a:ln>
        </p:spPr>
      </p:sp>
      <p:sp>
        <p:nvSpPr>
          <p:cNvPr id="23" name="b09/drawing/body/e20/segment-1"/>
          <p:cNvSpPr/>
          <p:nvPr/>
        </p:nvSpPr>
        <p:spPr>
          <a:xfrm>
            <a:off x="9906000" y="2914650"/>
            <a:ext cx="0" cy="47625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</a:ln>
        </p:spPr>
      </p:sp>
      <p:sp>
        <p:nvSpPr>
          <p:cNvPr id="24" name="b09/drawing/body/e20/segment-2"/>
          <p:cNvSpPr/>
          <p:nvPr/>
        </p:nvSpPr>
        <p:spPr>
          <a:xfrm flipH="1">
            <a:off x="5695950" y="3390900"/>
            <a:ext cx="421005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</a:ln>
        </p:spPr>
      </p:sp>
      <p:sp>
        <p:nvSpPr>
          <p:cNvPr id="25" name="b09/drawing/body/e20/segment-3"/>
          <p:cNvSpPr/>
          <p:nvPr/>
        </p:nvSpPr>
        <p:spPr>
          <a:xfrm>
            <a:off x="5695950" y="3390900"/>
            <a:ext cx="0" cy="57150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  <a:tailEnd type="triangle"/>
          </a:ln>
        </p:spPr>
      </p:sp>
      <p:sp>
        <p:nvSpPr>
          <p:cNvPr id="26" name="b09/drawing/body/e21/segment-1"/>
          <p:cNvSpPr/>
          <p:nvPr/>
        </p:nvSpPr>
        <p:spPr>
          <a:xfrm>
            <a:off x="7124700" y="4438650"/>
            <a:ext cx="142875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  <a:tailEnd type="triangle"/>
          </a:ln>
        </p:spPr>
      </p:sp>
      <p:sp>
        <p:nvSpPr>
          <p:cNvPr id="27" name="b09/drawing/body/e22/segment-1"/>
          <p:cNvSpPr/>
          <p:nvPr/>
        </p:nvSpPr>
        <p:spPr>
          <a:xfrm>
            <a:off x="3314700" y="5619750"/>
            <a:ext cx="476250" cy="0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</a:ln>
        </p:spPr>
      </p:sp>
      <p:sp>
        <p:nvSpPr>
          <p:cNvPr id="28" name="b09/drawing/body/e22/segment-2"/>
          <p:cNvSpPr/>
          <p:nvPr/>
        </p:nvSpPr>
        <p:spPr>
          <a:xfrm flipV="1">
            <a:off x="3790950" y="4676775"/>
            <a:ext cx="0" cy="942975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</a:ln>
        </p:spPr>
      </p:sp>
      <p:sp>
        <p:nvSpPr>
          <p:cNvPr id="29" name="b09/drawing/body/e22/segment-3"/>
          <p:cNvSpPr/>
          <p:nvPr/>
        </p:nvSpPr>
        <p:spPr>
          <a:xfrm>
            <a:off x="3790950" y="4676775"/>
            <a:ext cx="476250" cy="0"/>
          </a:xfrm>
          <a:prstGeom prst="line">
            <a:avLst/>
          </a:prstGeom>
          <a:noFill/>
          <a:ln w="19050">
            <a:solidFill>
              <a:srgbClr val="266A52"/>
            </a:solidFill>
            <a:prstDash val="solid"/>
            <a:tailEnd type="triangle"/>
          </a:ln>
        </p:spPr>
      </p:sp>
      <p:sp>
        <p:nvSpPr>
          <p:cNvPr id="30" name="b09/drawing/source/e23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al., 2021 pp.3–4, Table1；pp.12–13；CC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0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常规年份多数配对改善，仍存在模型与年份例外</a:t>
            </a:r>
            <a:endParaRPr lang="zh-CN" sz="3150" dirty="0"/>
          </a:p>
        </p:txBody>
      </p:sp>
      <p:sp>
        <p:nvSpPr>
          <p:cNvPr id="3" name="b10/drawing/body/e1"/>
          <p:cNvSpPr/>
          <p:nvPr/>
        </p:nvSpPr>
        <p:spPr>
          <a:xfrm>
            <a:off x="457200" y="1104900"/>
            <a:ext cx="533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2018 测试年</a:t>
            </a:r>
            <a:endParaRPr lang="zh-CN" sz="2400" dirty="0"/>
          </a:p>
        </p:txBody>
      </p:sp>
      <p:sp>
        <p:nvSpPr>
          <p:cNvPr id="4" name="b10/drawing/body/e2"/>
          <p:cNvSpPr/>
          <p:nvPr/>
        </p:nvSpPr>
        <p:spPr>
          <a:xfrm>
            <a:off x="457200" y="1724025"/>
            <a:ext cx="1905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zh-CN" sz="1800" dirty="0"/>
          </a:p>
        </p:txBody>
      </p:sp>
      <p:sp>
        <p:nvSpPr>
          <p:cNvPr id="5" name="b10/drawing/body/e3"/>
          <p:cNvSpPr/>
          <p:nvPr/>
        </p:nvSpPr>
        <p:spPr>
          <a:xfrm>
            <a:off x="2695575" y="1724025"/>
            <a:ext cx="13811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无APSIM</a:t>
            </a:r>
            <a:endParaRPr lang="zh-CN" sz="1800" dirty="0"/>
          </a:p>
        </p:txBody>
      </p:sp>
      <p:sp>
        <p:nvSpPr>
          <p:cNvPr id="6" name="b10/drawing/body/e4"/>
          <p:cNvSpPr/>
          <p:nvPr/>
        </p:nvSpPr>
        <p:spPr>
          <a:xfrm>
            <a:off x="4343400" y="1724025"/>
            <a:ext cx="1447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+APSIM</a:t>
            </a:r>
            <a:endParaRPr lang="zh-CN" sz="1800" dirty="0"/>
          </a:p>
        </p:txBody>
      </p:sp>
      <p:sp>
        <p:nvSpPr>
          <p:cNvPr id="7" name="b10/drawing/body/e5/segment-1"/>
          <p:cNvSpPr/>
          <p:nvPr/>
        </p:nvSpPr>
        <p:spPr>
          <a:xfrm>
            <a:off x="457200" y="2133600"/>
            <a:ext cx="533400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</a:ln>
        </p:spPr>
      </p:sp>
      <p:sp>
        <p:nvSpPr>
          <p:cNvPr id="8" name="b10/drawing/body/e6"/>
          <p:cNvSpPr/>
          <p:nvPr/>
        </p:nvSpPr>
        <p:spPr>
          <a:xfrm>
            <a:off x="457200" y="23050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LASSO</a:t>
            </a:r>
            <a:endParaRPr lang="zh-CN" sz="2100" dirty="0"/>
          </a:p>
        </p:txBody>
      </p:sp>
      <p:sp>
        <p:nvSpPr>
          <p:cNvPr id="9" name="b10/drawing/body/e7"/>
          <p:cNvSpPr/>
          <p:nvPr/>
        </p:nvSpPr>
        <p:spPr>
          <a:xfrm>
            <a:off x="2695575" y="23050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1160</a:t>
            </a:r>
            <a:endParaRPr lang="zh-CN" sz="2100" dirty="0"/>
          </a:p>
        </p:txBody>
      </p:sp>
      <p:sp>
        <p:nvSpPr>
          <p:cNvPr id="10" name="b10/drawing/body/e8"/>
          <p:cNvSpPr/>
          <p:nvPr/>
        </p:nvSpPr>
        <p:spPr>
          <a:xfrm>
            <a:off x="4343400" y="23050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1094</a:t>
            </a:r>
            <a:endParaRPr lang="zh-CN" sz="2100" dirty="0"/>
          </a:p>
        </p:txBody>
      </p:sp>
      <p:sp>
        <p:nvSpPr>
          <p:cNvPr id="11" name="b10/drawing/body/e9/segment-1"/>
          <p:cNvSpPr/>
          <p:nvPr/>
        </p:nvSpPr>
        <p:spPr>
          <a:xfrm>
            <a:off x="457200" y="28003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2" name="b10/drawing/body/e10"/>
          <p:cNvSpPr/>
          <p:nvPr/>
        </p:nvSpPr>
        <p:spPr>
          <a:xfrm>
            <a:off x="457200" y="29908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zh-CN" sz="2100" dirty="0"/>
          </a:p>
        </p:txBody>
      </p:sp>
      <p:sp>
        <p:nvSpPr>
          <p:cNvPr id="13" name="b10/drawing/body/e11"/>
          <p:cNvSpPr/>
          <p:nvPr/>
        </p:nvSpPr>
        <p:spPr>
          <a:xfrm>
            <a:off x="2695575" y="29908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1067</a:t>
            </a:r>
            <a:endParaRPr lang="zh-CN" sz="2100" dirty="0"/>
          </a:p>
        </p:txBody>
      </p:sp>
      <p:sp>
        <p:nvSpPr>
          <p:cNvPr id="14" name="b10/drawing/body/e12"/>
          <p:cNvSpPr/>
          <p:nvPr/>
        </p:nvSpPr>
        <p:spPr>
          <a:xfrm>
            <a:off x="4343400" y="29908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883</a:t>
            </a:r>
            <a:endParaRPr lang="zh-CN" sz="2100" dirty="0"/>
          </a:p>
        </p:txBody>
      </p:sp>
      <p:sp>
        <p:nvSpPr>
          <p:cNvPr id="15" name="b10/drawing/body/e13/segment-1"/>
          <p:cNvSpPr/>
          <p:nvPr/>
        </p:nvSpPr>
        <p:spPr>
          <a:xfrm>
            <a:off x="457200" y="34861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6" name="b10/drawing/body/e14"/>
          <p:cNvSpPr/>
          <p:nvPr/>
        </p:nvSpPr>
        <p:spPr>
          <a:xfrm>
            <a:off x="457200" y="36766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平均集成</a:t>
            </a:r>
            <a:endParaRPr lang="zh-CN" sz="2100" dirty="0"/>
          </a:p>
        </p:txBody>
      </p:sp>
      <p:sp>
        <p:nvSpPr>
          <p:cNvPr id="17" name="b10/drawing/body/e15"/>
          <p:cNvSpPr/>
          <p:nvPr/>
        </p:nvSpPr>
        <p:spPr>
          <a:xfrm>
            <a:off x="2695575" y="36766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959</a:t>
            </a:r>
            <a:endParaRPr lang="zh-CN" sz="2100" dirty="0"/>
          </a:p>
        </p:txBody>
      </p:sp>
      <p:sp>
        <p:nvSpPr>
          <p:cNvPr id="18" name="b10/drawing/body/e16"/>
          <p:cNvSpPr/>
          <p:nvPr/>
        </p:nvSpPr>
        <p:spPr>
          <a:xfrm>
            <a:off x="4343400" y="36766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938</a:t>
            </a:r>
            <a:endParaRPr lang="zh-CN" sz="2100" dirty="0"/>
          </a:p>
        </p:txBody>
      </p:sp>
      <p:sp>
        <p:nvSpPr>
          <p:cNvPr id="19" name="b10/drawing/body/e17/segment-1"/>
          <p:cNvSpPr/>
          <p:nvPr/>
        </p:nvSpPr>
        <p:spPr>
          <a:xfrm>
            <a:off x="457200" y="41719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20" name="b10/drawing/body/e18"/>
          <p:cNvSpPr/>
          <p:nvPr/>
        </p:nvSpPr>
        <p:spPr>
          <a:xfrm>
            <a:off x="457200" y="43624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Stacked 回归</a:t>
            </a:r>
            <a:endParaRPr lang="zh-CN" sz="2100" dirty="0"/>
          </a:p>
        </p:txBody>
      </p:sp>
      <p:sp>
        <p:nvSpPr>
          <p:cNvPr id="21" name="b10/drawing/body/e19"/>
          <p:cNvSpPr/>
          <p:nvPr/>
        </p:nvSpPr>
        <p:spPr>
          <a:xfrm>
            <a:off x="2695575" y="43624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1140</a:t>
            </a:r>
            <a:endParaRPr lang="zh-CN" sz="2100" dirty="0"/>
          </a:p>
        </p:txBody>
      </p:sp>
      <p:sp>
        <p:nvSpPr>
          <p:cNvPr id="22" name="b10/drawing/body/e20"/>
          <p:cNvSpPr/>
          <p:nvPr/>
        </p:nvSpPr>
        <p:spPr>
          <a:xfrm>
            <a:off x="4343400" y="43624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943</a:t>
            </a:r>
            <a:endParaRPr lang="zh-CN" sz="2100" dirty="0"/>
          </a:p>
        </p:txBody>
      </p:sp>
      <p:sp>
        <p:nvSpPr>
          <p:cNvPr id="23" name="b10/drawing/body/e21/segment-1"/>
          <p:cNvSpPr/>
          <p:nvPr/>
        </p:nvSpPr>
        <p:spPr>
          <a:xfrm>
            <a:off x="457200" y="48577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24" name="b10/drawing/body/e22"/>
          <p:cNvSpPr/>
          <p:nvPr/>
        </p:nvSpPr>
        <p:spPr>
          <a:xfrm>
            <a:off x="6400800" y="1104900"/>
            <a:ext cx="5334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2017 测试年</a:t>
            </a:r>
            <a:endParaRPr lang="zh-CN" sz="2400" dirty="0"/>
          </a:p>
        </p:txBody>
      </p:sp>
      <p:sp>
        <p:nvSpPr>
          <p:cNvPr id="25" name="b10/drawing/body/e23"/>
          <p:cNvSpPr/>
          <p:nvPr/>
        </p:nvSpPr>
        <p:spPr>
          <a:xfrm>
            <a:off x="6400800" y="1724025"/>
            <a:ext cx="1905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zh-CN" sz="1800" dirty="0"/>
          </a:p>
        </p:txBody>
      </p:sp>
      <p:sp>
        <p:nvSpPr>
          <p:cNvPr id="26" name="b10/drawing/body/e24"/>
          <p:cNvSpPr/>
          <p:nvPr/>
        </p:nvSpPr>
        <p:spPr>
          <a:xfrm>
            <a:off x="8639175" y="1724025"/>
            <a:ext cx="138112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无APSIM</a:t>
            </a:r>
            <a:endParaRPr lang="zh-CN" sz="1800" dirty="0"/>
          </a:p>
        </p:txBody>
      </p:sp>
      <p:sp>
        <p:nvSpPr>
          <p:cNvPr id="27" name="b10/drawing/body/e25"/>
          <p:cNvSpPr/>
          <p:nvPr/>
        </p:nvSpPr>
        <p:spPr>
          <a:xfrm>
            <a:off x="10287000" y="1724025"/>
            <a:ext cx="14478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+APSIM</a:t>
            </a:r>
            <a:endParaRPr lang="zh-CN" sz="1800" dirty="0"/>
          </a:p>
        </p:txBody>
      </p:sp>
      <p:sp>
        <p:nvSpPr>
          <p:cNvPr id="28" name="b10/drawing/body/e26/segment-1"/>
          <p:cNvSpPr/>
          <p:nvPr/>
        </p:nvSpPr>
        <p:spPr>
          <a:xfrm>
            <a:off x="6400800" y="2133600"/>
            <a:ext cx="533400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</a:ln>
        </p:spPr>
      </p:sp>
      <p:sp>
        <p:nvSpPr>
          <p:cNvPr id="29" name="b10/drawing/body/e27"/>
          <p:cNvSpPr/>
          <p:nvPr/>
        </p:nvSpPr>
        <p:spPr>
          <a:xfrm>
            <a:off x="6400800" y="23050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LASSO</a:t>
            </a:r>
            <a:endParaRPr lang="zh-CN" sz="2100" dirty="0"/>
          </a:p>
        </p:txBody>
      </p:sp>
      <p:sp>
        <p:nvSpPr>
          <p:cNvPr id="30" name="b10/drawing/body/e28"/>
          <p:cNvSpPr/>
          <p:nvPr/>
        </p:nvSpPr>
        <p:spPr>
          <a:xfrm>
            <a:off x="8639175" y="23050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835</a:t>
            </a:r>
            <a:endParaRPr lang="zh-CN" sz="2100" dirty="0"/>
          </a:p>
        </p:txBody>
      </p:sp>
      <p:sp>
        <p:nvSpPr>
          <p:cNvPr id="31" name="b10/drawing/body/e29"/>
          <p:cNvSpPr/>
          <p:nvPr/>
        </p:nvSpPr>
        <p:spPr>
          <a:xfrm>
            <a:off x="10287000" y="23050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771</a:t>
            </a:r>
            <a:endParaRPr lang="zh-CN" sz="2100" dirty="0"/>
          </a:p>
        </p:txBody>
      </p:sp>
      <p:sp>
        <p:nvSpPr>
          <p:cNvPr id="32" name="b10/drawing/body/e30/segment-1"/>
          <p:cNvSpPr/>
          <p:nvPr/>
        </p:nvSpPr>
        <p:spPr>
          <a:xfrm>
            <a:off x="6400800" y="28003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33" name="b10/drawing/body/e31"/>
          <p:cNvSpPr/>
          <p:nvPr/>
        </p:nvSpPr>
        <p:spPr>
          <a:xfrm>
            <a:off x="6400800" y="2914650"/>
            <a:ext cx="5334000" cy="590550"/>
          </a:xfrm>
          <a:prstGeom prst="rect">
            <a:avLst/>
          </a:prstGeom>
          <a:solidFill>
            <a:srgbClr val="F8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b10/drawing/body/e32"/>
          <p:cNvSpPr/>
          <p:nvPr/>
        </p:nvSpPr>
        <p:spPr>
          <a:xfrm>
            <a:off x="6400800" y="29908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zh-CN" sz="2100" dirty="0"/>
          </a:p>
        </p:txBody>
      </p:sp>
      <p:sp>
        <p:nvSpPr>
          <p:cNvPr id="35" name="b10/drawing/body/e33"/>
          <p:cNvSpPr/>
          <p:nvPr/>
        </p:nvSpPr>
        <p:spPr>
          <a:xfrm>
            <a:off x="8639175" y="29908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914</a:t>
            </a:r>
            <a:endParaRPr lang="zh-CN" sz="2100" dirty="0"/>
          </a:p>
        </p:txBody>
      </p:sp>
      <p:sp>
        <p:nvSpPr>
          <p:cNvPr id="36" name="b10/drawing/body/e34"/>
          <p:cNvSpPr/>
          <p:nvPr/>
        </p:nvSpPr>
        <p:spPr>
          <a:xfrm>
            <a:off x="10287000" y="29908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916</a:t>
            </a:r>
            <a:endParaRPr lang="zh-CN" sz="2100" dirty="0"/>
          </a:p>
        </p:txBody>
      </p:sp>
      <p:sp>
        <p:nvSpPr>
          <p:cNvPr id="37" name="b10/drawing/body/e35/segment-1"/>
          <p:cNvSpPr/>
          <p:nvPr/>
        </p:nvSpPr>
        <p:spPr>
          <a:xfrm>
            <a:off x="6400800" y="34861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38" name="b10/drawing/body/e36"/>
          <p:cNvSpPr/>
          <p:nvPr/>
        </p:nvSpPr>
        <p:spPr>
          <a:xfrm>
            <a:off x="6400800" y="36766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平均集成</a:t>
            </a:r>
            <a:endParaRPr lang="zh-CN" sz="2100" dirty="0"/>
          </a:p>
        </p:txBody>
      </p:sp>
      <p:sp>
        <p:nvSpPr>
          <p:cNvPr id="39" name="b10/drawing/body/e37"/>
          <p:cNvSpPr/>
          <p:nvPr/>
        </p:nvSpPr>
        <p:spPr>
          <a:xfrm>
            <a:off x="8639175" y="36766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859</a:t>
            </a:r>
            <a:endParaRPr lang="zh-CN" sz="2100" dirty="0"/>
          </a:p>
        </p:txBody>
      </p:sp>
      <p:sp>
        <p:nvSpPr>
          <p:cNvPr id="40" name="b10/drawing/body/e38"/>
          <p:cNvSpPr/>
          <p:nvPr/>
        </p:nvSpPr>
        <p:spPr>
          <a:xfrm>
            <a:off x="10287000" y="36766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762</a:t>
            </a:r>
            <a:endParaRPr lang="zh-CN" sz="2100" dirty="0"/>
          </a:p>
        </p:txBody>
      </p:sp>
      <p:sp>
        <p:nvSpPr>
          <p:cNvPr id="41" name="b10/drawing/body/e39/segment-1"/>
          <p:cNvSpPr/>
          <p:nvPr/>
        </p:nvSpPr>
        <p:spPr>
          <a:xfrm>
            <a:off x="6400800" y="41719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42" name="b10/drawing/body/e40"/>
          <p:cNvSpPr/>
          <p:nvPr/>
        </p:nvSpPr>
        <p:spPr>
          <a:xfrm>
            <a:off x="6400800" y="4362450"/>
            <a:ext cx="2143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Stacked 回归</a:t>
            </a:r>
            <a:endParaRPr lang="zh-CN" sz="2100" dirty="0"/>
          </a:p>
        </p:txBody>
      </p:sp>
      <p:sp>
        <p:nvSpPr>
          <p:cNvPr id="43" name="b10/drawing/body/e41"/>
          <p:cNvSpPr/>
          <p:nvPr/>
        </p:nvSpPr>
        <p:spPr>
          <a:xfrm>
            <a:off x="8639175" y="4362450"/>
            <a:ext cx="13811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940</a:t>
            </a:r>
            <a:endParaRPr lang="zh-CN" sz="2100" dirty="0"/>
          </a:p>
        </p:txBody>
      </p:sp>
      <p:sp>
        <p:nvSpPr>
          <p:cNvPr id="44" name="b10/drawing/body/e42"/>
          <p:cNvSpPr/>
          <p:nvPr/>
        </p:nvSpPr>
        <p:spPr>
          <a:xfrm>
            <a:off x="10287000" y="4362450"/>
            <a:ext cx="14478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810</a:t>
            </a:r>
            <a:endParaRPr lang="zh-CN" sz="2100" dirty="0"/>
          </a:p>
        </p:txBody>
      </p:sp>
      <p:sp>
        <p:nvSpPr>
          <p:cNvPr id="45" name="b10/drawing/body/e43/segment-1"/>
          <p:cNvSpPr/>
          <p:nvPr/>
        </p:nvSpPr>
        <p:spPr>
          <a:xfrm>
            <a:off x="6400800" y="4857750"/>
            <a:ext cx="53340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46" name="b10/drawing/body/e44"/>
          <p:cNvSpPr/>
          <p:nvPr/>
        </p:nvSpPr>
        <p:spPr>
          <a:xfrm>
            <a:off x="457200" y="5305425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RMSE单位均为 kg/ha；这里展示相同模型的配对比较</a:t>
            </a:r>
            <a:endParaRPr lang="zh-CN" sz="2100" dirty="0"/>
          </a:p>
        </p:txBody>
      </p:sp>
      <p:sp>
        <p:nvSpPr>
          <p:cNvPr id="47" name="b10/drawing/body/e45"/>
          <p:cNvSpPr/>
          <p:nvPr/>
        </p:nvSpPr>
        <p:spPr>
          <a:xfrm>
            <a:off x="457200" y="5876925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2017 LightGBM略有退步，平均收益不能代替逐年、逐模型检查</a:t>
            </a:r>
            <a:endParaRPr lang="zh-CN" sz="2100" dirty="0"/>
          </a:p>
        </p:txBody>
      </p:sp>
      <p:sp>
        <p:nvSpPr>
          <p:cNvPr id="48" name="b10/drawing/source/e46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al., 2021 Table2, p.9；选定行原生转录；CC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1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极端干旱年：误差下降后，全部混合R²仍为负</a:t>
            </a:r>
            <a:endParaRPr lang="zh-CN" sz="3150" dirty="0"/>
          </a:p>
        </p:txBody>
      </p:sp>
      <p:sp>
        <p:nvSpPr>
          <p:cNvPr id="3" name="b11/drawing/body/e1"/>
          <p:cNvSpPr/>
          <p:nvPr/>
        </p:nvSpPr>
        <p:spPr>
          <a:xfrm>
            <a:off x="457200" y="1104900"/>
            <a:ext cx="11277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2012极端干旱留年测试；其余年份训练；RMSE单位为kg/ha</a:t>
            </a:r>
            <a:endParaRPr lang="zh-CN" sz="2100" dirty="0"/>
          </a:p>
        </p:txBody>
      </p:sp>
      <p:sp>
        <p:nvSpPr>
          <p:cNvPr id="4" name="b11/drawing/body/e2"/>
          <p:cNvSpPr/>
          <p:nvPr/>
        </p:nvSpPr>
        <p:spPr>
          <a:xfrm>
            <a:off x="457200" y="1619250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zh-CN" sz="1800" dirty="0"/>
          </a:p>
        </p:txBody>
      </p:sp>
      <p:sp>
        <p:nvSpPr>
          <p:cNvPr id="5" name="b11/drawing/body/e3"/>
          <p:cNvSpPr/>
          <p:nvPr/>
        </p:nvSpPr>
        <p:spPr>
          <a:xfrm>
            <a:off x="4362450" y="1619250"/>
            <a:ext cx="21526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无APSIM RMSE</a:t>
            </a:r>
            <a:endParaRPr lang="zh-CN" sz="1800" dirty="0"/>
          </a:p>
        </p:txBody>
      </p:sp>
      <p:sp>
        <p:nvSpPr>
          <p:cNvPr id="6" name="b11/drawing/body/e4"/>
          <p:cNvSpPr/>
          <p:nvPr/>
        </p:nvSpPr>
        <p:spPr>
          <a:xfrm>
            <a:off x="6762750" y="1619250"/>
            <a:ext cx="19431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混合RMSE</a:t>
            </a:r>
            <a:endParaRPr lang="zh-CN" sz="1800" dirty="0"/>
          </a:p>
        </p:txBody>
      </p:sp>
      <p:sp>
        <p:nvSpPr>
          <p:cNvPr id="7" name="b11/drawing/body/e5"/>
          <p:cNvSpPr/>
          <p:nvPr/>
        </p:nvSpPr>
        <p:spPr>
          <a:xfrm>
            <a:off x="9048750" y="1619250"/>
            <a:ext cx="26860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混合R²（原表%）</a:t>
            </a:r>
            <a:endParaRPr lang="zh-CN" sz="1800" dirty="0"/>
          </a:p>
        </p:txBody>
      </p:sp>
      <p:sp>
        <p:nvSpPr>
          <p:cNvPr id="8" name="b11/drawing/body/e6/segment-1"/>
          <p:cNvSpPr/>
          <p:nvPr/>
        </p:nvSpPr>
        <p:spPr>
          <a:xfrm>
            <a:off x="457200" y="2000250"/>
            <a:ext cx="11277600" cy="0"/>
          </a:xfrm>
          <a:prstGeom prst="line">
            <a:avLst/>
          </a:prstGeom>
          <a:noFill/>
          <a:ln w="19050">
            <a:solidFill>
              <a:srgbClr val="9B6B27"/>
            </a:solidFill>
            <a:prstDash val="solid"/>
          </a:ln>
        </p:spPr>
      </p:sp>
      <p:sp>
        <p:nvSpPr>
          <p:cNvPr id="9" name="b11/drawing/body/e7"/>
          <p:cNvSpPr/>
          <p:nvPr/>
        </p:nvSpPr>
        <p:spPr>
          <a:xfrm>
            <a:off x="457200" y="2095500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LASSO</a:t>
            </a:r>
            <a:endParaRPr lang="zh-CN" sz="1800" dirty="0"/>
          </a:p>
        </p:txBody>
      </p:sp>
      <p:sp>
        <p:nvSpPr>
          <p:cNvPr id="10" name="b11/drawing/body/e8"/>
          <p:cNvSpPr/>
          <p:nvPr/>
        </p:nvSpPr>
        <p:spPr>
          <a:xfrm>
            <a:off x="4362450" y="2095500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4311</a:t>
            </a:r>
            <a:endParaRPr lang="zh-CN" sz="1800" dirty="0"/>
          </a:p>
        </p:txBody>
      </p:sp>
      <p:sp>
        <p:nvSpPr>
          <p:cNvPr id="11" name="b11/drawing/body/e9"/>
          <p:cNvSpPr/>
          <p:nvPr/>
        </p:nvSpPr>
        <p:spPr>
          <a:xfrm>
            <a:off x="6762750" y="2095500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3160</a:t>
            </a:r>
            <a:endParaRPr lang="zh-CN" sz="1800" dirty="0"/>
          </a:p>
        </p:txBody>
      </p:sp>
      <p:sp>
        <p:nvSpPr>
          <p:cNvPr id="12" name="b11/drawing/body/e10"/>
          <p:cNvSpPr/>
          <p:nvPr/>
        </p:nvSpPr>
        <p:spPr>
          <a:xfrm>
            <a:off x="9048750" y="2095500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−72.6</a:t>
            </a:r>
            <a:endParaRPr lang="zh-CN" sz="1800" dirty="0"/>
          </a:p>
        </p:txBody>
      </p:sp>
      <p:sp>
        <p:nvSpPr>
          <p:cNvPr id="13" name="b11/drawing/body/e11/segment-1"/>
          <p:cNvSpPr/>
          <p:nvPr/>
        </p:nvSpPr>
        <p:spPr>
          <a:xfrm>
            <a:off x="457200" y="2390775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14" name="b11/drawing/body/e12"/>
          <p:cNvSpPr/>
          <p:nvPr/>
        </p:nvSpPr>
        <p:spPr>
          <a:xfrm>
            <a:off x="457200" y="2428875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XGBoost</a:t>
            </a:r>
            <a:endParaRPr lang="zh-CN" sz="1800" dirty="0"/>
          </a:p>
        </p:txBody>
      </p:sp>
      <p:sp>
        <p:nvSpPr>
          <p:cNvPr id="15" name="b11/drawing/body/e13"/>
          <p:cNvSpPr/>
          <p:nvPr/>
        </p:nvSpPr>
        <p:spPr>
          <a:xfrm>
            <a:off x="4362450" y="2428875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3664</a:t>
            </a:r>
            <a:endParaRPr lang="zh-CN" sz="1800" dirty="0"/>
          </a:p>
        </p:txBody>
      </p:sp>
      <p:sp>
        <p:nvSpPr>
          <p:cNvPr id="16" name="b11/drawing/body/e14"/>
          <p:cNvSpPr/>
          <p:nvPr/>
        </p:nvSpPr>
        <p:spPr>
          <a:xfrm>
            <a:off x="6762750" y="2428875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2602</a:t>
            </a:r>
            <a:endParaRPr lang="zh-CN" sz="1800" dirty="0"/>
          </a:p>
        </p:txBody>
      </p:sp>
      <p:sp>
        <p:nvSpPr>
          <p:cNvPr id="17" name="b11/drawing/body/e15"/>
          <p:cNvSpPr/>
          <p:nvPr/>
        </p:nvSpPr>
        <p:spPr>
          <a:xfrm>
            <a:off x="9048750" y="2428875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−17.1</a:t>
            </a:r>
            <a:endParaRPr lang="zh-CN" sz="1800" dirty="0"/>
          </a:p>
        </p:txBody>
      </p:sp>
      <p:sp>
        <p:nvSpPr>
          <p:cNvPr id="18" name="b11/drawing/body/e16/segment-1"/>
          <p:cNvSpPr/>
          <p:nvPr/>
        </p:nvSpPr>
        <p:spPr>
          <a:xfrm>
            <a:off x="457200" y="2724150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19" name="b11/drawing/body/e17"/>
          <p:cNvSpPr/>
          <p:nvPr/>
        </p:nvSpPr>
        <p:spPr>
          <a:xfrm>
            <a:off x="457200" y="2762250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LightGBM</a:t>
            </a:r>
            <a:endParaRPr lang="zh-CN" sz="1800" dirty="0"/>
          </a:p>
        </p:txBody>
      </p:sp>
      <p:sp>
        <p:nvSpPr>
          <p:cNvPr id="20" name="b11/drawing/body/e18"/>
          <p:cNvSpPr/>
          <p:nvPr/>
        </p:nvSpPr>
        <p:spPr>
          <a:xfrm>
            <a:off x="4362450" y="2762250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3245</a:t>
            </a:r>
            <a:endParaRPr lang="zh-CN" sz="1800" dirty="0"/>
          </a:p>
        </p:txBody>
      </p:sp>
      <p:sp>
        <p:nvSpPr>
          <p:cNvPr id="21" name="b11/drawing/body/e19"/>
          <p:cNvSpPr/>
          <p:nvPr/>
        </p:nvSpPr>
        <p:spPr>
          <a:xfrm>
            <a:off x="6762750" y="2762250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2608</a:t>
            </a:r>
            <a:endParaRPr lang="zh-CN" sz="1800" dirty="0"/>
          </a:p>
        </p:txBody>
      </p:sp>
      <p:sp>
        <p:nvSpPr>
          <p:cNvPr id="22" name="b11/drawing/body/e20"/>
          <p:cNvSpPr/>
          <p:nvPr/>
        </p:nvSpPr>
        <p:spPr>
          <a:xfrm>
            <a:off x="9048750" y="2762250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−17.5</a:t>
            </a:r>
            <a:endParaRPr lang="zh-CN" sz="1800" dirty="0"/>
          </a:p>
        </p:txBody>
      </p:sp>
      <p:sp>
        <p:nvSpPr>
          <p:cNvPr id="23" name="b11/drawing/body/e21/segment-1"/>
          <p:cNvSpPr/>
          <p:nvPr/>
        </p:nvSpPr>
        <p:spPr>
          <a:xfrm>
            <a:off x="457200" y="3057525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24" name="b11/drawing/body/e22"/>
          <p:cNvSpPr/>
          <p:nvPr/>
        </p:nvSpPr>
        <p:spPr>
          <a:xfrm>
            <a:off x="457200" y="3095625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Random forest</a:t>
            </a:r>
            <a:endParaRPr lang="zh-CN" sz="1800" dirty="0"/>
          </a:p>
        </p:txBody>
      </p:sp>
      <p:sp>
        <p:nvSpPr>
          <p:cNvPr id="25" name="b11/drawing/body/e23"/>
          <p:cNvSpPr/>
          <p:nvPr/>
        </p:nvSpPr>
        <p:spPr>
          <a:xfrm>
            <a:off x="4362450" y="3095625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3782</a:t>
            </a:r>
            <a:endParaRPr lang="zh-CN" sz="1800" dirty="0"/>
          </a:p>
        </p:txBody>
      </p:sp>
      <p:sp>
        <p:nvSpPr>
          <p:cNvPr id="26" name="b11/drawing/body/e24"/>
          <p:cNvSpPr/>
          <p:nvPr/>
        </p:nvSpPr>
        <p:spPr>
          <a:xfrm>
            <a:off x="6762750" y="3095625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3591</a:t>
            </a:r>
            <a:endParaRPr lang="zh-CN" sz="1800" dirty="0"/>
          </a:p>
        </p:txBody>
      </p:sp>
      <p:sp>
        <p:nvSpPr>
          <p:cNvPr id="27" name="b11/drawing/body/e25"/>
          <p:cNvSpPr/>
          <p:nvPr/>
        </p:nvSpPr>
        <p:spPr>
          <a:xfrm>
            <a:off x="9048750" y="3095625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−122.9</a:t>
            </a:r>
            <a:endParaRPr lang="zh-CN" sz="1800" dirty="0"/>
          </a:p>
        </p:txBody>
      </p:sp>
      <p:sp>
        <p:nvSpPr>
          <p:cNvPr id="28" name="b11/drawing/body/e26/segment-1"/>
          <p:cNvSpPr/>
          <p:nvPr/>
        </p:nvSpPr>
        <p:spPr>
          <a:xfrm>
            <a:off x="457200" y="3390900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29" name="b11/drawing/body/e27"/>
          <p:cNvSpPr/>
          <p:nvPr/>
        </p:nvSpPr>
        <p:spPr>
          <a:xfrm>
            <a:off x="457200" y="3429000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Linear regression</a:t>
            </a:r>
            <a:endParaRPr lang="zh-CN" sz="1800" dirty="0"/>
          </a:p>
        </p:txBody>
      </p:sp>
      <p:sp>
        <p:nvSpPr>
          <p:cNvPr id="30" name="b11/drawing/body/e28"/>
          <p:cNvSpPr/>
          <p:nvPr/>
        </p:nvSpPr>
        <p:spPr>
          <a:xfrm>
            <a:off x="4362450" y="3429000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4869</a:t>
            </a:r>
            <a:endParaRPr lang="zh-CN" sz="1800" dirty="0"/>
          </a:p>
        </p:txBody>
      </p:sp>
      <p:sp>
        <p:nvSpPr>
          <p:cNvPr id="31" name="b11/drawing/body/e29"/>
          <p:cNvSpPr/>
          <p:nvPr/>
        </p:nvSpPr>
        <p:spPr>
          <a:xfrm>
            <a:off x="6762750" y="3429000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2784</a:t>
            </a:r>
            <a:endParaRPr lang="zh-CN" sz="1800" dirty="0"/>
          </a:p>
        </p:txBody>
      </p:sp>
      <p:sp>
        <p:nvSpPr>
          <p:cNvPr id="32" name="b11/drawing/body/e30"/>
          <p:cNvSpPr/>
          <p:nvPr/>
        </p:nvSpPr>
        <p:spPr>
          <a:xfrm>
            <a:off x="9048750" y="3429000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−34.0</a:t>
            </a:r>
            <a:endParaRPr lang="zh-CN" sz="1800" dirty="0"/>
          </a:p>
        </p:txBody>
      </p:sp>
      <p:sp>
        <p:nvSpPr>
          <p:cNvPr id="33" name="b11/drawing/body/e31/segment-1"/>
          <p:cNvSpPr/>
          <p:nvPr/>
        </p:nvSpPr>
        <p:spPr>
          <a:xfrm>
            <a:off x="457200" y="3724275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34" name="b11/drawing/body/e32"/>
          <p:cNvSpPr/>
          <p:nvPr/>
        </p:nvSpPr>
        <p:spPr>
          <a:xfrm>
            <a:off x="457200" y="3762375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Optimized weighted</a:t>
            </a:r>
            <a:endParaRPr lang="zh-CN" sz="1800" dirty="0"/>
          </a:p>
        </p:txBody>
      </p:sp>
      <p:sp>
        <p:nvSpPr>
          <p:cNvPr id="35" name="b11/drawing/body/e33"/>
          <p:cNvSpPr/>
          <p:nvPr/>
        </p:nvSpPr>
        <p:spPr>
          <a:xfrm>
            <a:off x="4362450" y="3762375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3380</a:t>
            </a:r>
            <a:endParaRPr lang="zh-CN" sz="1800" dirty="0"/>
          </a:p>
        </p:txBody>
      </p:sp>
      <p:sp>
        <p:nvSpPr>
          <p:cNvPr id="36" name="b11/drawing/body/e34"/>
          <p:cNvSpPr/>
          <p:nvPr/>
        </p:nvSpPr>
        <p:spPr>
          <a:xfrm>
            <a:off x="6762750" y="3762375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2664</a:t>
            </a:r>
            <a:endParaRPr lang="zh-CN" sz="1800" dirty="0"/>
          </a:p>
        </p:txBody>
      </p:sp>
      <p:sp>
        <p:nvSpPr>
          <p:cNvPr id="37" name="b11/drawing/body/e35"/>
          <p:cNvSpPr/>
          <p:nvPr/>
        </p:nvSpPr>
        <p:spPr>
          <a:xfrm>
            <a:off x="9048750" y="3762375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−22.7</a:t>
            </a:r>
            <a:endParaRPr lang="zh-CN" sz="1800" dirty="0"/>
          </a:p>
        </p:txBody>
      </p:sp>
      <p:sp>
        <p:nvSpPr>
          <p:cNvPr id="38" name="b11/drawing/body/e36/segment-1"/>
          <p:cNvSpPr/>
          <p:nvPr/>
        </p:nvSpPr>
        <p:spPr>
          <a:xfrm>
            <a:off x="457200" y="4057650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39" name="b11/drawing/body/e37"/>
          <p:cNvSpPr/>
          <p:nvPr/>
        </p:nvSpPr>
        <p:spPr>
          <a:xfrm>
            <a:off x="457200" y="4095750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Average ensemble</a:t>
            </a:r>
            <a:endParaRPr lang="zh-CN" sz="1800" dirty="0"/>
          </a:p>
        </p:txBody>
      </p:sp>
      <p:sp>
        <p:nvSpPr>
          <p:cNvPr id="40" name="b11/drawing/body/e38"/>
          <p:cNvSpPr/>
          <p:nvPr/>
        </p:nvSpPr>
        <p:spPr>
          <a:xfrm>
            <a:off x="4362450" y="4095750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3946</a:t>
            </a:r>
            <a:endParaRPr lang="zh-CN" sz="1800" dirty="0"/>
          </a:p>
        </p:txBody>
      </p:sp>
      <p:sp>
        <p:nvSpPr>
          <p:cNvPr id="41" name="b11/drawing/body/e39"/>
          <p:cNvSpPr/>
          <p:nvPr/>
        </p:nvSpPr>
        <p:spPr>
          <a:xfrm>
            <a:off x="6762750" y="4095750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2908</a:t>
            </a:r>
            <a:endParaRPr lang="zh-CN" sz="1800" dirty="0"/>
          </a:p>
        </p:txBody>
      </p:sp>
      <p:sp>
        <p:nvSpPr>
          <p:cNvPr id="42" name="b11/drawing/body/e40"/>
          <p:cNvSpPr/>
          <p:nvPr/>
        </p:nvSpPr>
        <p:spPr>
          <a:xfrm>
            <a:off x="9048750" y="4095750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−46.2</a:t>
            </a:r>
            <a:endParaRPr lang="zh-CN" sz="1800" dirty="0"/>
          </a:p>
        </p:txBody>
      </p:sp>
      <p:sp>
        <p:nvSpPr>
          <p:cNvPr id="43" name="b11/drawing/body/e41/segment-1"/>
          <p:cNvSpPr/>
          <p:nvPr/>
        </p:nvSpPr>
        <p:spPr>
          <a:xfrm>
            <a:off x="457200" y="4391025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44" name="b11/drawing/body/e42"/>
          <p:cNvSpPr/>
          <p:nvPr/>
        </p:nvSpPr>
        <p:spPr>
          <a:xfrm>
            <a:off x="457200" y="4400550"/>
            <a:ext cx="11277600" cy="333375"/>
          </a:xfrm>
          <a:prstGeom prst="rect">
            <a:avLst/>
          </a:prstGeom>
          <a:solidFill>
            <a:srgbClr val="F5F0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b11/drawing/body/e43"/>
          <p:cNvSpPr/>
          <p:nvPr/>
        </p:nvSpPr>
        <p:spPr>
          <a:xfrm>
            <a:off x="457200" y="4429125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Stacked regression</a:t>
            </a:r>
            <a:endParaRPr lang="zh-CN" sz="1800" dirty="0"/>
          </a:p>
        </p:txBody>
      </p:sp>
      <p:sp>
        <p:nvSpPr>
          <p:cNvPr id="46" name="b11/drawing/body/e44"/>
          <p:cNvSpPr/>
          <p:nvPr/>
        </p:nvSpPr>
        <p:spPr>
          <a:xfrm>
            <a:off x="4362450" y="4429125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3398</a:t>
            </a:r>
            <a:endParaRPr lang="zh-CN" sz="1800" dirty="0"/>
          </a:p>
        </p:txBody>
      </p:sp>
      <p:sp>
        <p:nvSpPr>
          <p:cNvPr id="47" name="b11/drawing/body/e45"/>
          <p:cNvSpPr/>
          <p:nvPr/>
        </p:nvSpPr>
        <p:spPr>
          <a:xfrm>
            <a:off x="6762750" y="4429125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2545</a:t>
            </a:r>
            <a:endParaRPr lang="zh-CN" sz="1800" dirty="0"/>
          </a:p>
        </p:txBody>
      </p:sp>
      <p:sp>
        <p:nvSpPr>
          <p:cNvPr id="48" name="b11/drawing/body/e46"/>
          <p:cNvSpPr/>
          <p:nvPr/>
        </p:nvSpPr>
        <p:spPr>
          <a:xfrm>
            <a:off x="9048750" y="4429125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−12.0</a:t>
            </a:r>
            <a:endParaRPr lang="zh-CN" sz="1800" dirty="0"/>
          </a:p>
        </p:txBody>
      </p:sp>
      <p:sp>
        <p:nvSpPr>
          <p:cNvPr id="49" name="b11/drawing/body/e47/segment-1"/>
          <p:cNvSpPr/>
          <p:nvPr/>
        </p:nvSpPr>
        <p:spPr>
          <a:xfrm>
            <a:off x="457200" y="4724400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50" name="b11/drawing/body/e48"/>
          <p:cNvSpPr/>
          <p:nvPr/>
        </p:nvSpPr>
        <p:spPr>
          <a:xfrm>
            <a:off x="457200" y="4762500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Stacked LASSO</a:t>
            </a:r>
            <a:endParaRPr lang="zh-CN" sz="1800" dirty="0"/>
          </a:p>
        </p:txBody>
      </p:sp>
      <p:sp>
        <p:nvSpPr>
          <p:cNvPr id="51" name="b11/drawing/body/e49"/>
          <p:cNvSpPr/>
          <p:nvPr/>
        </p:nvSpPr>
        <p:spPr>
          <a:xfrm>
            <a:off x="4362450" y="4762500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3403</a:t>
            </a:r>
            <a:endParaRPr lang="zh-CN" sz="1800" dirty="0"/>
          </a:p>
        </p:txBody>
      </p:sp>
      <p:sp>
        <p:nvSpPr>
          <p:cNvPr id="52" name="b11/drawing/body/e50"/>
          <p:cNvSpPr/>
          <p:nvPr/>
        </p:nvSpPr>
        <p:spPr>
          <a:xfrm>
            <a:off x="6762750" y="4762500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2561</a:t>
            </a:r>
            <a:endParaRPr lang="zh-CN" sz="1800" dirty="0"/>
          </a:p>
        </p:txBody>
      </p:sp>
      <p:sp>
        <p:nvSpPr>
          <p:cNvPr id="53" name="b11/drawing/body/e51"/>
          <p:cNvSpPr/>
          <p:nvPr/>
        </p:nvSpPr>
        <p:spPr>
          <a:xfrm>
            <a:off x="9048750" y="4762500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−13.4</a:t>
            </a:r>
            <a:endParaRPr lang="zh-CN" sz="1800" dirty="0"/>
          </a:p>
        </p:txBody>
      </p:sp>
      <p:sp>
        <p:nvSpPr>
          <p:cNvPr id="54" name="b11/drawing/body/e52/segment-1"/>
          <p:cNvSpPr/>
          <p:nvPr/>
        </p:nvSpPr>
        <p:spPr>
          <a:xfrm>
            <a:off x="457200" y="5057775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55" name="b11/drawing/body/e53"/>
          <p:cNvSpPr/>
          <p:nvPr/>
        </p:nvSpPr>
        <p:spPr>
          <a:xfrm>
            <a:off x="457200" y="5095875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Stacked Random forest</a:t>
            </a:r>
            <a:endParaRPr lang="zh-CN" sz="1800" dirty="0"/>
          </a:p>
        </p:txBody>
      </p:sp>
      <p:sp>
        <p:nvSpPr>
          <p:cNvPr id="56" name="b11/drawing/body/e54"/>
          <p:cNvSpPr/>
          <p:nvPr/>
        </p:nvSpPr>
        <p:spPr>
          <a:xfrm>
            <a:off x="4362450" y="5095875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3289</a:t>
            </a:r>
            <a:endParaRPr lang="zh-CN" sz="1800" dirty="0"/>
          </a:p>
        </p:txBody>
      </p:sp>
      <p:sp>
        <p:nvSpPr>
          <p:cNvPr id="57" name="b11/drawing/body/e55"/>
          <p:cNvSpPr/>
          <p:nvPr/>
        </p:nvSpPr>
        <p:spPr>
          <a:xfrm>
            <a:off x="6762750" y="5095875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2571</a:t>
            </a:r>
            <a:endParaRPr lang="zh-CN" sz="1800" dirty="0"/>
          </a:p>
        </p:txBody>
      </p:sp>
      <p:sp>
        <p:nvSpPr>
          <p:cNvPr id="58" name="b11/drawing/body/e56"/>
          <p:cNvSpPr/>
          <p:nvPr/>
        </p:nvSpPr>
        <p:spPr>
          <a:xfrm>
            <a:off x="9048750" y="5095875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−14.3</a:t>
            </a:r>
            <a:endParaRPr lang="zh-CN" sz="1800" dirty="0"/>
          </a:p>
        </p:txBody>
      </p:sp>
      <p:sp>
        <p:nvSpPr>
          <p:cNvPr id="59" name="b11/drawing/body/e57/segment-1"/>
          <p:cNvSpPr/>
          <p:nvPr/>
        </p:nvSpPr>
        <p:spPr>
          <a:xfrm>
            <a:off x="457200" y="5391150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60" name="b11/drawing/body/e58"/>
          <p:cNvSpPr/>
          <p:nvPr/>
        </p:nvSpPr>
        <p:spPr>
          <a:xfrm>
            <a:off x="457200" y="5429250"/>
            <a:ext cx="38100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Stacked LightGBM</a:t>
            </a:r>
            <a:endParaRPr lang="zh-CN" sz="1800" dirty="0"/>
          </a:p>
        </p:txBody>
      </p:sp>
      <p:sp>
        <p:nvSpPr>
          <p:cNvPr id="61" name="b11/drawing/body/e59"/>
          <p:cNvSpPr/>
          <p:nvPr/>
        </p:nvSpPr>
        <p:spPr>
          <a:xfrm>
            <a:off x="4362450" y="5429250"/>
            <a:ext cx="2152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3462</a:t>
            </a:r>
            <a:endParaRPr lang="zh-CN" sz="1800" dirty="0"/>
          </a:p>
        </p:txBody>
      </p:sp>
      <p:sp>
        <p:nvSpPr>
          <p:cNvPr id="62" name="b11/drawing/body/e60"/>
          <p:cNvSpPr/>
          <p:nvPr/>
        </p:nvSpPr>
        <p:spPr>
          <a:xfrm>
            <a:off x="6762750" y="5429250"/>
            <a:ext cx="1943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2588</a:t>
            </a:r>
            <a:endParaRPr lang="zh-CN" sz="1800" dirty="0"/>
          </a:p>
        </p:txBody>
      </p:sp>
      <p:sp>
        <p:nvSpPr>
          <p:cNvPr id="63" name="b11/drawing/body/e61"/>
          <p:cNvSpPr/>
          <p:nvPr/>
        </p:nvSpPr>
        <p:spPr>
          <a:xfrm>
            <a:off x="9048750" y="5429250"/>
            <a:ext cx="26860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−15.8</a:t>
            </a:r>
            <a:endParaRPr lang="zh-CN" sz="1800" dirty="0"/>
          </a:p>
        </p:txBody>
      </p:sp>
      <p:sp>
        <p:nvSpPr>
          <p:cNvPr id="64" name="b11/drawing/body/e62/segment-1"/>
          <p:cNvSpPr/>
          <p:nvPr/>
        </p:nvSpPr>
        <p:spPr>
          <a:xfrm>
            <a:off x="457200" y="5724525"/>
            <a:ext cx="11277600" cy="0"/>
          </a:xfrm>
          <a:prstGeom prst="line">
            <a:avLst/>
          </a:prstGeom>
          <a:noFill/>
          <a:ln w="5715">
            <a:solidFill>
              <a:srgbClr val="D3DDD6"/>
            </a:solidFill>
            <a:prstDash val="solid"/>
          </a:ln>
        </p:spPr>
      </p:sp>
      <p:sp>
        <p:nvSpPr>
          <p:cNvPr id="65" name="b11/drawing/body/e63"/>
          <p:cNvSpPr/>
          <p:nvPr/>
        </p:nvSpPr>
        <p:spPr>
          <a:xfrm>
            <a:off x="457200" y="5972175"/>
            <a:ext cx="11277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全部11个混合模型R²仍为负；RMSE下降没有消除极端年份失效</a:t>
            </a:r>
            <a:endParaRPr lang="zh-CN" sz="2100" dirty="0"/>
          </a:p>
        </p:txBody>
      </p:sp>
      <p:sp>
        <p:nvSpPr>
          <p:cNvPr id="66" name="b11/drawing/source/e64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al., 2021 Table3, p.11；完整11行转录；CC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2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水分过程提供机理线索，但贡献依赖模型</a:t>
            </a:r>
            <a:endParaRPr lang="zh-CN" sz="3150" dirty="0"/>
          </a:p>
        </p:txBody>
      </p:sp>
      <p:sp>
        <p:nvSpPr>
          <p:cNvPr id="3" name="b12/drawing/body/e1"/>
          <p:cNvSpPr/>
          <p:nvPr/>
        </p:nvSpPr>
        <p:spPr>
          <a:xfrm>
            <a:off x="457200" y="1104900"/>
            <a:ext cx="7848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APSIM特征：干旱胁迫、地下水位最突出</a:t>
            </a:r>
            <a:endParaRPr lang="zh-CN" sz="2100" dirty="0"/>
          </a:p>
        </p:txBody>
      </p:sp>
      <p:pic>
        <p:nvPicPr>
          <p:cNvPr id="4" name="b12/drawing/body/e2" descr="Average normalized permutation importance of APSIM features for all test years. AvgDroughtStress: Average drought stress on leaf development, AvgWTInseason: Depth to water table of growing season (mm), NlossTotal: Total N loss (denitrification and leaching) (kg N/ha), CropYield: Crop yield (kg/ha), GrainINupt: Grain N uptake (kg N/ha), Bioma: Crop above ground biomass (kg/ha), SWtoDUL30Inseason: Growing season average soil water to field capacity ratio at 30 cm, ETAnnual: Actual evapotranspiration (mm), CropTraspiration: Crop transpiration (mm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315" y="1762125"/>
            <a:ext cx="7840370" cy="4562475"/>
          </a:xfrm>
          <a:prstGeom prst="rect">
            <a:avLst/>
          </a:prstGeom>
        </p:spPr>
      </p:pic>
      <p:sp>
        <p:nvSpPr>
          <p:cNvPr id="5" name="b12/drawing/body/e3"/>
          <p:cNvSpPr/>
          <p:nvPr/>
        </p:nvSpPr>
        <p:spPr>
          <a:xfrm>
            <a:off x="8724900" y="1104900"/>
            <a:ext cx="3009900" cy="78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2018 Stacked 回归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保留基线，增添一组</a:t>
            </a:r>
            <a:endParaRPr lang="zh-CN" sz="2100" dirty="0"/>
          </a:p>
        </p:txBody>
      </p:sp>
      <p:sp>
        <p:nvSpPr>
          <p:cNvPr id="6" name="b12/drawing/body/e4"/>
          <p:cNvSpPr/>
          <p:nvPr/>
        </p:nvSpPr>
        <p:spPr>
          <a:xfrm>
            <a:off x="8724900" y="2009775"/>
            <a:ext cx="3009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RMSE（kg/ha）</a:t>
            </a:r>
            <a:endParaRPr lang="zh-CN" sz="1800" dirty="0"/>
          </a:p>
        </p:txBody>
      </p:sp>
      <p:sp>
        <p:nvSpPr>
          <p:cNvPr id="7" name="b12/drawing/body/e5"/>
          <p:cNvSpPr/>
          <p:nvPr/>
        </p:nvSpPr>
        <p:spPr>
          <a:xfrm>
            <a:off x="8724900" y="2486025"/>
            <a:ext cx="1962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仅加物候组</a:t>
            </a:r>
            <a:endParaRPr lang="zh-CN" sz="2100" dirty="0"/>
          </a:p>
        </p:txBody>
      </p:sp>
      <p:sp>
        <p:nvSpPr>
          <p:cNvPr id="8" name="b12/drawing/body/e6"/>
          <p:cNvSpPr/>
          <p:nvPr/>
        </p:nvSpPr>
        <p:spPr>
          <a:xfrm>
            <a:off x="10648950" y="2486025"/>
            <a:ext cx="1085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1040</a:t>
            </a:r>
            <a:endParaRPr lang="zh-CN" sz="2100" dirty="0"/>
          </a:p>
        </p:txBody>
      </p:sp>
      <p:sp>
        <p:nvSpPr>
          <p:cNvPr id="9" name="b12/drawing/body/e7/segment-1"/>
          <p:cNvSpPr/>
          <p:nvPr/>
        </p:nvSpPr>
        <p:spPr>
          <a:xfrm>
            <a:off x="8724900" y="2924175"/>
            <a:ext cx="30099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0" name="b12/drawing/body/e8"/>
          <p:cNvSpPr/>
          <p:nvPr/>
        </p:nvSpPr>
        <p:spPr>
          <a:xfrm>
            <a:off x="8724900" y="3086100"/>
            <a:ext cx="1962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仅加作物组</a:t>
            </a:r>
            <a:endParaRPr lang="zh-CN" sz="2100" dirty="0"/>
          </a:p>
        </p:txBody>
      </p:sp>
      <p:sp>
        <p:nvSpPr>
          <p:cNvPr id="11" name="b12/drawing/body/e9"/>
          <p:cNvSpPr/>
          <p:nvPr/>
        </p:nvSpPr>
        <p:spPr>
          <a:xfrm>
            <a:off x="10648950" y="3086100"/>
            <a:ext cx="1085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906</a:t>
            </a:r>
            <a:endParaRPr lang="zh-CN" sz="2100" dirty="0"/>
          </a:p>
        </p:txBody>
      </p:sp>
      <p:sp>
        <p:nvSpPr>
          <p:cNvPr id="12" name="b12/drawing/body/e10/segment-1"/>
          <p:cNvSpPr/>
          <p:nvPr/>
        </p:nvSpPr>
        <p:spPr>
          <a:xfrm>
            <a:off x="8724900" y="3524250"/>
            <a:ext cx="30099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3" name="b12/drawing/body/e11"/>
          <p:cNvSpPr/>
          <p:nvPr/>
        </p:nvSpPr>
        <p:spPr>
          <a:xfrm>
            <a:off x="8724900" y="3686175"/>
            <a:ext cx="19621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仅加水土天气</a:t>
            </a:r>
            <a:endParaRPr lang="zh-CN" sz="2100" dirty="0"/>
          </a:p>
        </p:txBody>
      </p:sp>
      <p:sp>
        <p:nvSpPr>
          <p:cNvPr id="14" name="b12/drawing/body/e12"/>
          <p:cNvSpPr/>
          <p:nvPr/>
        </p:nvSpPr>
        <p:spPr>
          <a:xfrm>
            <a:off x="10648950" y="3686175"/>
            <a:ext cx="10858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837</a:t>
            </a:r>
            <a:endParaRPr lang="zh-CN" sz="2100" dirty="0"/>
          </a:p>
        </p:txBody>
      </p:sp>
      <p:sp>
        <p:nvSpPr>
          <p:cNvPr id="15" name="b12/drawing/body/e13/segment-1"/>
          <p:cNvSpPr/>
          <p:nvPr/>
        </p:nvSpPr>
        <p:spPr>
          <a:xfrm>
            <a:off x="8724900" y="4124325"/>
            <a:ext cx="30099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6" name="b12/drawing/body/e14"/>
          <p:cNvSpPr/>
          <p:nvPr/>
        </p:nvSpPr>
        <p:spPr>
          <a:xfrm>
            <a:off x="8724900" y="4514850"/>
            <a:ext cx="3009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RF是反例</a:t>
            </a:r>
            <a:endParaRPr lang="zh-CN" sz="2100" dirty="0"/>
          </a:p>
        </p:txBody>
      </p:sp>
      <p:sp>
        <p:nvSpPr>
          <p:cNvPr id="17" name="b12/drawing/body/e15"/>
          <p:cNvSpPr/>
          <p:nvPr/>
        </p:nvSpPr>
        <p:spPr>
          <a:xfrm>
            <a:off x="8724900" y="4991100"/>
            <a:ext cx="3009900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加水土天气 1603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加作物变量 1208</a:t>
            </a:r>
            <a:endParaRPr lang="zh-CN" sz="2100" dirty="0"/>
          </a:p>
        </p:txBody>
      </p:sp>
      <p:sp>
        <p:nvSpPr>
          <p:cNvPr id="18" name="b12/drawing/body/e16"/>
          <p:cNvSpPr/>
          <p:nvPr/>
        </p:nvSpPr>
        <p:spPr>
          <a:xfrm>
            <a:off x="8724900" y="5943600"/>
            <a:ext cx="3009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重要性不等于因果</a:t>
            </a:r>
            <a:endParaRPr lang="zh-CN" sz="2100" dirty="0"/>
          </a:p>
        </p:txBody>
      </p:sp>
      <p:sp>
        <p:nvSpPr>
          <p:cNvPr id="19" name="b12/drawing/source/e17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 et al., 2021 Fig.8, p.13；Table4, p.11；CC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3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三类接口的证据边界，比误差总排名更有用</a:t>
            </a:r>
            <a:endParaRPr lang="zh-CN" sz="3150" dirty="0"/>
          </a:p>
        </p:txBody>
      </p:sp>
      <p:sp>
        <p:nvSpPr>
          <p:cNvPr id="3" name="b13/drawing/body/e1"/>
          <p:cNvSpPr/>
          <p:nvPr/>
        </p:nvSpPr>
        <p:spPr>
          <a:xfrm>
            <a:off x="457200" y="1104900"/>
            <a:ext cx="1809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</a:t>
            </a:r>
            <a:endParaRPr lang="zh-CN" sz="2100" dirty="0"/>
          </a:p>
        </p:txBody>
      </p:sp>
      <p:sp>
        <p:nvSpPr>
          <p:cNvPr id="4" name="b13/drawing/body/e2"/>
          <p:cNvSpPr/>
          <p:nvPr/>
        </p:nvSpPr>
        <p:spPr>
          <a:xfrm>
            <a:off x="2552700" y="1104900"/>
            <a:ext cx="2952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验证单位与划分</a:t>
            </a:r>
            <a:endParaRPr lang="zh-CN" sz="2100" dirty="0"/>
          </a:p>
        </p:txBody>
      </p:sp>
      <p:sp>
        <p:nvSpPr>
          <p:cNvPr id="5" name="b13/drawing/body/e3"/>
          <p:cNvSpPr/>
          <p:nvPr/>
        </p:nvSpPr>
        <p:spPr>
          <a:xfrm>
            <a:off x="5791200" y="1104900"/>
            <a:ext cx="29527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可支持的结论</a:t>
            </a:r>
            <a:endParaRPr lang="zh-CN" sz="2100" dirty="0"/>
          </a:p>
        </p:txBody>
      </p:sp>
      <p:sp>
        <p:nvSpPr>
          <p:cNvPr id="6" name="b13/drawing/body/e4"/>
          <p:cNvSpPr/>
          <p:nvPr/>
        </p:nvSpPr>
        <p:spPr>
          <a:xfrm>
            <a:off x="9029700" y="1104900"/>
            <a:ext cx="2705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仍缺的外推验证</a:t>
            </a:r>
            <a:endParaRPr lang="zh-CN" sz="2100" dirty="0"/>
          </a:p>
        </p:txBody>
      </p:sp>
      <p:sp>
        <p:nvSpPr>
          <p:cNvPr id="7" name="b13/drawing/body/e5/segment-1"/>
          <p:cNvSpPr/>
          <p:nvPr/>
        </p:nvSpPr>
        <p:spPr>
          <a:xfrm>
            <a:off x="457200" y="1609725"/>
            <a:ext cx="11277600" cy="0"/>
          </a:xfrm>
          <a:prstGeom prst="line">
            <a:avLst/>
          </a:prstGeom>
          <a:noFill/>
          <a:ln w="19050">
            <a:solidFill>
              <a:srgbClr val="172B28"/>
            </a:solidFill>
            <a:prstDash val="solid"/>
          </a:ln>
        </p:spPr>
      </p:sp>
      <p:sp>
        <p:nvSpPr>
          <p:cNvPr id="8" name="b13/drawing/body/e6"/>
          <p:cNvSpPr/>
          <p:nvPr/>
        </p:nvSpPr>
        <p:spPr>
          <a:xfrm>
            <a:off x="457200" y="1838325"/>
            <a:ext cx="18097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</a:t>
            </a:r>
            <a:endParaRPr lang="zh-CN" sz="2250" dirty="0"/>
          </a:p>
        </p:txBody>
      </p:sp>
      <p:sp>
        <p:nvSpPr>
          <p:cNvPr id="9" name="b13/drawing/body/e7"/>
          <p:cNvSpPr/>
          <p:nvPr/>
        </p:nvSpPr>
        <p:spPr>
          <a:xfrm>
            <a:off x="2552700" y="1838325"/>
            <a:ext cx="295275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冬小麦 / 5 m网格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同田同季随机9:1</a:t>
            </a:r>
            <a:endParaRPr lang="zh-CN" sz="2100" dirty="0"/>
          </a:p>
        </p:txBody>
      </p:sp>
      <p:sp>
        <p:nvSpPr>
          <p:cNvPr id="10" name="b13/drawing/body/e8"/>
          <p:cNvSpPr/>
          <p:nvPr/>
        </p:nvSpPr>
        <p:spPr>
          <a:xfrm>
            <a:off x="5791200" y="1838325"/>
            <a:ext cx="295275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序列到产量的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局部映射有效</a:t>
            </a:r>
            <a:endParaRPr lang="zh-CN" sz="2100" dirty="0"/>
          </a:p>
        </p:txBody>
      </p:sp>
      <p:sp>
        <p:nvSpPr>
          <p:cNvPr id="11" name="b13/drawing/body/e9"/>
          <p:cNvSpPr/>
          <p:nvPr/>
        </p:nvSpPr>
        <p:spPr>
          <a:xfrm>
            <a:off x="9029700" y="1838325"/>
            <a:ext cx="270510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跨田、跨区、跨年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固定提前量</a:t>
            </a:r>
            <a:endParaRPr lang="zh-CN" sz="2100" dirty="0"/>
          </a:p>
        </p:txBody>
      </p:sp>
      <p:sp>
        <p:nvSpPr>
          <p:cNvPr id="12" name="b13/drawing/body/e10/segment-1"/>
          <p:cNvSpPr/>
          <p:nvPr/>
        </p:nvSpPr>
        <p:spPr>
          <a:xfrm>
            <a:off x="457200" y="2952750"/>
            <a:ext cx="11277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3" name="b13/drawing/body/e11"/>
          <p:cNvSpPr/>
          <p:nvPr/>
        </p:nvSpPr>
        <p:spPr>
          <a:xfrm>
            <a:off x="457200" y="3190875"/>
            <a:ext cx="18097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</a:t>
            </a:r>
            <a:endParaRPr lang="zh-CN" sz="2250" dirty="0"/>
          </a:p>
        </p:txBody>
      </p:sp>
      <p:sp>
        <p:nvSpPr>
          <p:cNvPr id="14" name="b13/drawing/body/e12"/>
          <p:cNvSpPr/>
          <p:nvPr/>
        </p:nvSpPr>
        <p:spPr>
          <a:xfrm>
            <a:off x="2552700" y="3190875"/>
            <a:ext cx="295275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冬小麦 / 110样点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m像元同化</a:t>
            </a:r>
            <a:endParaRPr lang="zh-CN" sz="2100" dirty="0"/>
          </a:p>
        </p:txBody>
      </p:sp>
      <p:sp>
        <p:nvSpPr>
          <p:cNvPr id="15" name="b13/drawing/body/e13"/>
          <p:cNvSpPr/>
          <p:nvPr/>
        </p:nvSpPr>
        <p:spPr>
          <a:xfrm>
            <a:off x="5791200" y="3190875"/>
            <a:ext cx="295275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SM更新改善了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区域产量估计</a:t>
            </a:r>
            <a:endParaRPr lang="zh-CN" sz="2100" dirty="0"/>
          </a:p>
        </p:txBody>
      </p:sp>
      <p:sp>
        <p:nvSpPr>
          <p:cNvPr id="16" name="b13/drawing/body/e14"/>
          <p:cNvSpPr/>
          <p:nvPr/>
        </p:nvSpPr>
        <p:spPr>
          <a:xfrm>
            <a:off x="9029700" y="3190875"/>
            <a:ext cx="270510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深度与频率匹配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灌溉及反演迁移</a:t>
            </a:r>
            <a:endParaRPr lang="zh-CN" sz="2100" dirty="0"/>
          </a:p>
        </p:txBody>
      </p:sp>
      <p:sp>
        <p:nvSpPr>
          <p:cNvPr id="17" name="b13/drawing/body/e15/segment-1"/>
          <p:cNvSpPr/>
          <p:nvPr/>
        </p:nvSpPr>
        <p:spPr>
          <a:xfrm>
            <a:off x="457200" y="4305300"/>
            <a:ext cx="11277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8" name="b13/drawing/body/e16"/>
          <p:cNvSpPr/>
          <p:nvPr/>
        </p:nvSpPr>
        <p:spPr>
          <a:xfrm>
            <a:off x="457200" y="4543425"/>
            <a:ext cx="18097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</a:t>
            </a:r>
            <a:endParaRPr lang="zh-CN" sz="2250" dirty="0"/>
          </a:p>
        </p:txBody>
      </p:sp>
      <p:sp>
        <p:nvSpPr>
          <p:cNvPr id="19" name="b13/drawing/body/e17"/>
          <p:cNvSpPr/>
          <p:nvPr/>
        </p:nvSpPr>
        <p:spPr>
          <a:xfrm>
            <a:off x="2552700" y="4543425"/>
            <a:ext cx="295275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玉米 / 县年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分别留2012/17/18</a:t>
            </a:r>
            <a:endParaRPr lang="zh-CN" sz="2100" dirty="0"/>
          </a:p>
        </p:txBody>
      </p:sp>
      <p:sp>
        <p:nvSpPr>
          <p:cNvPr id="20" name="b13/drawing/body/e18"/>
          <p:cNvSpPr/>
          <p:nvPr/>
        </p:nvSpPr>
        <p:spPr>
          <a:xfrm>
            <a:off x="5791200" y="4543425"/>
            <a:ext cx="295275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多数模型配对改善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极端年仍失效</a:t>
            </a:r>
            <a:endParaRPr lang="zh-CN" sz="2100" dirty="0"/>
          </a:p>
        </p:txBody>
      </p:sp>
      <p:sp>
        <p:nvSpPr>
          <p:cNvPr id="21" name="b13/drawing/body/e19"/>
          <p:cNvSpPr/>
          <p:nvPr/>
        </p:nvSpPr>
        <p:spPr>
          <a:xfrm>
            <a:off x="9029700" y="4543425"/>
            <a:ext cx="2705100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未知未来天气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遥感接入的增益</a:t>
            </a:r>
            <a:endParaRPr lang="zh-CN" sz="2100" dirty="0"/>
          </a:p>
        </p:txBody>
      </p:sp>
      <p:sp>
        <p:nvSpPr>
          <p:cNvPr id="22" name="b13/drawing/body/e20/segment-1"/>
          <p:cNvSpPr/>
          <p:nvPr/>
        </p:nvSpPr>
        <p:spPr>
          <a:xfrm>
            <a:off x="457200" y="5657850"/>
            <a:ext cx="112776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23" name="b13/drawing/body/e21"/>
          <p:cNvSpPr/>
          <p:nvPr/>
        </p:nvSpPr>
        <p:spPr>
          <a:xfrm>
            <a:off x="457200" y="60007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比较接口与验证覆盖，不能跨论文按绝对RMSE排总榜</a:t>
            </a:r>
            <a:endParaRPr lang="zh-CN" sz="2100" dirty="0"/>
          </a:p>
        </p:txBody>
      </p:sp>
      <p:sp>
        <p:nvSpPr>
          <p:cNvPr id="24" name="b13/drawing/source/e22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al., 2022 ；Zhuo et al., 2019 ；Shahhosseini et al., 2021 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4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结论：接口决定证据，外推需要独立检验</a:t>
            </a:r>
            <a:endParaRPr lang="zh-CN" sz="3150" dirty="0"/>
          </a:p>
        </p:txBody>
      </p:sp>
      <p:sp>
        <p:nvSpPr>
          <p:cNvPr id="3" name="b14/drawing/body/e1"/>
          <p:cNvSpPr/>
          <p:nvPr/>
        </p:nvSpPr>
        <p:spPr>
          <a:xfrm>
            <a:off x="457200" y="1104900"/>
            <a:ext cx="52387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现有证据</a:t>
            </a:r>
            <a:endParaRPr lang="zh-CN" sz="2400" dirty="0"/>
          </a:p>
        </p:txBody>
      </p:sp>
      <p:sp>
        <p:nvSpPr>
          <p:cNvPr id="4" name="b14/drawing/body/e2"/>
          <p:cNvSpPr/>
          <p:nvPr/>
        </p:nvSpPr>
        <p:spPr>
          <a:xfrm>
            <a:off x="457200" y="1819275"/>
            <a:ext cx="523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66A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</a:t>
            </a:r>
            <a:endParaRPr lang="zh-CN" sz="2250" dirty="0"/>
          </a:p>
        </p:txBody>
      </p:sp>
      <p:sp>
        <p:nvSpPr>
          <p:cNvPr id="5" name="b14/drawing/body/e3"/>
          <p:cNvSpPr/>
          <p:nvPr/>
        </p:nvSpPr>
        <p:spPr>
          <a:xfrm>
            <a:off x="457200" y="2286000"/>
            <a:ext cx="523875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高精度对应同田同季留出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映射外推需要独立环境检验</a:t>
            </a:r>
            <a:endParaRPr lang="zh-CN" sz="2100" dirty="0"/>
          </a:p>
        </p:txBody>
      </p:sp>
      <p:sp>
        <p:nvSpPr>
          <p:cNvPr id="6" name="b14/drawing/body/e4"/>
          <p:cNvSpPr/>
          <p:nvPr/>
        </p:nvSpPr>
        <p:spPr>
          <a:xfrm>
            <a:off x="457200" y="3381375"/>
            <a:ext cx="523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276A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状态同化</a:t>
            </a:r>
            <a:endParaRPr lang="zh-CN" sz="2250" dirty="0"/>
          </a:p>
        </p:txBody>
      </p:sp>
      <p:sp>
        <p:nvSpPr>
          <p:cNvPr id="7" name="b14/drawing/body/e5"/>
          <p:cNvSpPr/>
          <p:nvPr/>
        </p:nvSpPr>
        <p:spPr>
          <a:xfrm>
            <a:off x="457200" y="3848100"/>
            <a:ext cx="523875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观测能校正状态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深度、频率与误差必须匹配</a:t>
            </a:r>
            <a:endParaRPr lang="zh-CN" sz="2100" dirty="0"/>
          </a:p>
        </p:txBody>
      </p:sp>
      <p:sp>
        <p:nvSpPr>
          <p:cNvPr id="8" name="b14/drawing/body/e6"/>
          <p:cNvSpPr/>
          <p:nvPr/>
        </p:nvSpPr>
        <p:spPr>
          <a:xfrm>
            <a:off x="457200" y="4924425"/>
            <a:ext cx="52387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zh-CN" altLang="en-US" sz="2250" b="1" dirty="0">
                <a:solidFill>
                  <a:srgbClr val="9B6B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机理特征融合</a:t>
            </a:r>
            <a:endParaRPr lang="zh-CN" sz="2250" dirty="0"/>
          </a:p>
        </p:txBody>
      </p:sp>
      <p:sp>
        <p:nvSpPr>
          <p:cNvPr id="9" name="b14/drawing/body/e7"/>
          <p:cNvSpPr/>
          <p:nvPr/>
        </p:nvSpPr>
        <p:spPr>
          <a:xfrm>
            <a:off x="457200" y="5391150"/>
            <a:ext cx="523875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水分过程有信息价值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极端年与早期预报仍未解决</a:t>
            </a:r>
            <a:endParaRPr lang="zh-CN" sz="2100" dirty="0"/>
          </a:p>
        </p:txBody>
      </p:sp>
      <p:sp>
        <p:nvSpPr>
          <p:cNvPr id="10" name="b14/drawing/body/e8/segment-1"/>
          <p:cNvSpPr/>
          <p:nvPr/>
        </p:nvSpPr>
        <p:spPr>
          <a:xfrm>
            <a:off x="6248400" y="1104900"/>
            <a:ext cx="0" cy="5238750"/>
          </a:xfrm>
          <a:prstGeom prst="line">
            <a:avLst/>
          </a:prstGeom>
          <a:noFill/>
          <a:ln w="19050">
            <a:solidFill>
              <a:srgbClr val="D3DDD6"/>
            </a:solidFill>
            <a:prstDash val="solid"/>
          </a:ln>
        </p:spPr>
      </p:sp>
      <p:sp>
        <p:nvSpPr>
          <p:cNvPr id="11" name="b14/drawing/body/e9"/>
          <p:cNvSpPr/>
          <p:nvPr/>
        </p:nvSpPr>
        <p:spPr>
          <a:xfrm>
            <a:off x="6705600" y="1104900"/>
            <a:ext cx="50292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2400" b="1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待检验的共同实验</a:t>
            </a:r>
            <a:endParaRPr lang="zh-CN" sz="2400" dirty="0"/>
          </a:p>
        </p:txBody>
      </p:sp>
      <p:sp>
        <p:nvSpPr>
          <p:cNvPr id="12" name="b14/drawing/body/e10"/>
          <p:cNvSpPr/>
          <p:nvPr/>
        </p:nvSpPr>
        <p:spPr>
          <a:xfrm>
            <a:off x="6705600" y="1828800"/>
            <a:ext cx="50292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统一作物、区域、截止日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同一观测预算与调参机会</a:t>
            </a:r>
            <a:endParaRPr lang="zh-CN" sz="2100" dirty="0"/>
          </a:p>
        </p:txBody>
      </p:sp>
      <p:sp>
        <p:nvSpPr>
          <p:cNvPr id="13" name="b14/drawing/body/e11/segment-1"/>
          <p:cNvSpPr/>
          <p:nvPr/>
        </p:nvSpPr>
        <p:spPr>
          <a:xfrm>
            <a:off x="9201150" y="2733675"/>
            <a:ext cx="0" cy="314325"/>
          </a:xfrm>
          <a:prstGeom prst="line">
            <a:avLst/>
          </a:prstGeom>
          <a:noFill/>
          <a:ln w="19050">
            <a:solidFill>
              <a:srgbClr val="A34C3B"/>
            </a:solidFill>
            <a:prstDash val="solid"/>
            <a:tailEnd type="triangle"/>
          </a:ln>
        </p:spPr>
      </p:sp>
      <p:sp>
        <p:nvSpPr>
          <p:cNvPr id="14" name="b14/drawing/body/e12"/>
          <p:cNvSpPr/>
          <p:nvPr/>
        </p:nvSpPr>
        <p:spPr>
          <a:xfrm>
            <a:off x="6705600" y="3152775"/>
            <a:ext cx="50292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直接学习 / SM同化 / 特征融合</a:t>
            </a:r>
            <a:endParaRPr lang="zh-CN" sz="2100" dirty="0"/>
          </a:p>
        </p:txBody>
      </p:sp>
      <p:sp>
        <p:nvSpPr>
          <p:cNvPr id="15" name="b14/drawing/body/e13"/>
          <p:cNvSpPr/>
          <p:nvPr/>
        </p:nvSpPr>
        <p:spPr>
          <a:xfrm>
            <a:off x="6705600" y="4114800"/>
            <a:ext cx="50292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空间分块 + 滚动留年</a:t>
            </a:r>
            <a:endParaRPr lang="zh-CN" sz="2100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单列极端年，报告差值与区间</a:t>
            </a:r>
            <a:endParaRPr lang="zh-CN" sz="2100" dirty="0"/>
          </a:p>
        </p:txBody>
      </p:sp>
      <p:sp>
        <p:nvSpPr>
          <p:cNvPr id="16" name="b14/drawing/body/e14/segment-1"/>
          <p:cNvSpPr/>
          <p:nvPr/>
        </p:nvSpPr>
        <p:spPr>
          <a:xfrm>
            <a:off x="6705600" y="5086350"/>
            <a:ext cx="5029200" cy="0"/>
          </a:xfrm>
          <a:prstGeom prst="line">
            <a:avLst/>
          </a:prstGeom>
          <a:noFill/>
          <a:ln w="9525">
            <a:solidFill>
              <a:srgbClr val="D3DDD6"/>
            </a:solidFill>
            <a:prstDash val="solid"/>
          </a:ln>
        </p:spPr>
      </p:sp>
      <p:sp>
        <p:nvSpPr>
          <p:cNvPr id="17" name="b14/drawing/body/e15"/>
          <p:cNvSpPr/>
          <p:nvPr/>
        </p:nvSpPr>
        <p:spPr>
          <a:xfrm>
            <a:off x="6705600" y="5295900"/>
            <a:ext cx="5029200" cy="1009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稳定有利：支持   方向相反：反证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区间很宽：信息不足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A34C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截止日前不可得：前提不成立</a:t>
            </a:r>
            <a:endParaRPr lang="zh-CN" sz="1800" dirty="0"/>
          </a:p>
        </p:txBody>
      </p:sp>
      <p:sp>
        <p:nvSpPr>
          <p:cNvPr id="18" name="b14/drawing/source/e16"/>
          <p:cNvSpPr/>
          <p:nvPr/>
        </p:nvSpPr>
        <p:spPr>
          <a:xfrm>
            <a:off x="457200" y="63436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 et al., 2022 ；Zhuo et al., 2019 ；Shahhosseini et al., 2021 ；CC BY 4.0</a:t>
            </a:r>
            <a:endParaRPr lang="zh-CN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5/title"/>
          <p:cNvSpPr/>
          <p:nvPr/>
        </p:nvSpPr>
        <p:spPr>
          <a:xfrm>
            <a:off x="457200" y="342900"/>
            <a:ext cx="11277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zh-CN" altLang="en-US" sz="315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主要文献与图件署名</a:t>
            </a:r>
            <a:endParaRPr lang="zh-CN" sz="3150" dirty="0"/>
          </a:p>
        </p:txBody>
      </p:sp>
      <p:sp>
        <p:nvSpPr>
          <p:cNvPr id="3" name="b15/reference/cheng/title"/>
          <p:cNvSpPr/>
          <p:nvPr/>
        </p:nvSpPr>
        <p:spPr>
          <a:xfrm>
            <a:off x="457200" y="1104900"/>
            <a:ext cx="1127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Wheat yield estimation using remote sensing data based on machine learning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approaches</a:t>
            </a:r>
            <a:endParaRPr lang="zh-CN" sz="1800" dirty="0"/>
          </a:p>
        </p:txBody>
      </p:sp>
      <p:sp>
        <p:nvSpPr>
          <p:cNvPr id="4" name="b15/reference/cheng/metadata"/>
          <p:cNvSpPr/>
          <p:nvPr/>
        </p:nvSpPr>
        <p:spPr>
          <a:xfrm>
            <a:off x="457200" y="1710690"/>
            <a:ext cx="11277600" cy="637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Cheng, Enhui, Zhang, Bing, Peng, Dailiang, Zhong, Liheng, Yu, Le, Liu, Yao, Xiao, Chenchao, Li, Cunjun, Li, Xiaoyi, Chen,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Yue, Ye, Huichun, Wang, Hongye, Yu, Ruyi, Hu, Jinkang, Yang, Songlin · Frontiers in Plant Science 13, 1090970 · 2022 ·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DOI: 10.3389/fpls.2022.1090970 · 出版社正式出版PDF</a:t>
            </a:r>
            <a:endParaRPr lang="zh-CN" sz="1350" dirty="0"/>
          </a:p>
        </p:txBody>
      </p:sp>
      <p:sp>
        <p:nvSpPr>
          <p:cNvPr id="5" name="b15/reference/zhuo/title"/>
          <p:cNvSpPr/>
          <p:nvPr/>
        </p:nvSpPr>
        <p:spPr>
          <a:xfrm>
            <a:off x="457200" y="2500884"/>
            <a:ext cx="1127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Assimilating Soil Moisture Retrieved from Sentinel-1 and Sentinel-2 Data into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WOFOST Model to Improve Winter Wheat Yield Estimation</a:t>
            </a:r>
            <a:endParaRPr lang="zh-CN" sz="1800" dirty="0"/>
          </a:p>
        </p:txBody>
      </p:sp>
      <p:sp>
        <p:nvSpPr>
          <p:cNvPr id="6" name="b15/reference/zhuo/metadata"/>
          <p:cNvSpPr/>
          <p:nvPr/>
        </p:nvSpPr>
        <p:spPr>
          <a:xfrm>
            <a:off x="457200" y="3106674"/>
            <a:ext cx="11277600" cy="42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Zhuo, Wen, Huang, Jianxi, Li, Li, Zhang, Xiaodong, Ma, Hongyuan, Gao, Xinran, Huang, Hai, Xu, Baodong, Xiao, Xiangming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Remote Sensing 11(13), 1618 · 2019 · DOI: 10.3390/rs11131618 · 出版社正式出版PDF</a:t>
            </a:r>
            <a:endParaRPr lang="zh-CN" sz="1350" dirty="0"/>
          </a:p>
        </p:txBody>
      </p:sp>
      <p:sp>
        <p:nvSpPr>
          <p:cNvPr id="7" name="b15/reference/shahhosseini/title"/>
          <p:cNvSpPr/>
          <p:nvPr/>
        </p:nvSpPr>
        <p:spPr>
          <a:xfrm>
            <a:off x="457200" y="3684270"/>
            <a:ext cx="112776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 Coupling machine learning and crop modeling improves crop yield prediction in the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2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 Corn Belt</a:t>
            </a:r>
            <a:endParaRPr lang="zh-CN" sz="1800" dirty="0"/>
          </a:p>
        </p:txBody>
      </p:sp>
      <p:sp>
        <p:nvSpPr>
          <p:cNvPr id="8" name="b15/reference/shahhosseini/metadata"/>
          <p:cNvSpPr/>
          <p:nvPr/>
        </p:nvSpPr>
        <p:spPr>
          <a:xfrm>
            <a:off x="457200" y="4290060"/>
            <a:ext cx="11277600" cy="42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Shahhosseini, Mohsen, Hu, Guiping, Huber, Isaiah, Archontoulis, Sotirios V. · Scientific Reports 11, 1606 · 2021 · DOI: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10.1038/s41598-020-80820-1 · 出版社正式出版PDF</a:t>
            </a:r>
            <a:endParaRPr lang="zh-CN" sz="1350" dirty="0"/>
          </a:p>
        </p:txBody>
      </p:sp>
      <p:sp>
        <p:nvSpPr>
          <p:cNvPr id="9" name="b15/drawing/rights/e1"/>
          <p:cNvSpPr/>
          <p:nvPr/>
        </p:nvSpPr>
        <p:spPr>
          <a:xfrm>
            <a:off x="457200" y="5953125"/>
            <a:ext cx="112776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zh-CN" altLang="en-US" sz="1350" dirty="0">
                <a:solidFill>
                  <a:srgbClr val="5968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图件均依 CC BY 4.0 署名使用。Fig.8绘图区裁切并重建可读标签，其余图注明来源；数据点未重绘。</a:t>
            </a:r>
            <a:endParaRPr lang="zh-CN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遥感观测如何进入作物产量估计：直接学习、状态同化、机理特征融合的证据和外推边界</dc:title>
  <dc:subject>遥感及机理信息分别进入输入、状态或表征时，证据支持怎样的产量估计增益，外推边界在哪里？</dc:subject>
  <dc:creator>DSH Academic PPT</dc:creator>
  <cp:lastModifiedBy>DSH Academic PPT</cp:lastModifiedBy>
  <cp:revision>1</cp:revision>
  <dcterms:created xsi:type="dcterms:W3CDTF">2026-10-23T14:33:44Z</dcterms:created>
  <dcterms:modified xsi:type="dcterms:W3CDTF">2026-10-23T14:33:44Z</dcterms:modified>
</cp:coreProperties>
</file>