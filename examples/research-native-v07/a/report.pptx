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把三篇论文作为三种信息进入方式的证据。重点不是比较谁的RMSE最低，而是遥感约束了什么、实验真正检验了什么，以及从事后估计走到可部署预报还缺哪一层验证。第三篇并未直接加入遥感，它给出机理特征进入学习器的桥接证据。
原图来源：cheng
Fig.1
Geographical location and layout of the study area.
https://www.frontiersin.org/journals/plant-science/articles/10.3389/fpls.2022.1090970/pdf
Official published article; PDF p.3
CC BY 4.0 https://creativecommons.org/licenses/by/4.0/
原始图像未改绘数据；显示范围及原生中文说明见本稿资产记录。
参考文献（完整题名）
cheng · Wheat yield estimation using remote sensing data based on machine learning approaches · Frontiers in Plant Science 13:1090970 · 2022 · 10.3389/fpls.2022.1090970 · Published version 2022-12-23; CC BY 4.0
zhuo · Assimilating Soil Moisture Retrieved from Sentinel-1 and Sentinel-2 Data into WOFOST Model to Improve Winter Wheat Yield Estimation · Remote Sensing 11(13):1618 · 2019 · 10.3390/rs11131618 · Published version 2019-07-08; CC BY 4.0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三个路径放到同一问题下。直接学习把遥感序列映射到标签；同化把观测变成状态修正，作物模型继续往前运行；机理融合把过程模拟变成机器学习特征。第三条的文献本身没有遥感输入，因此本报告借它检验过程表征的作用，而不把它当遥感融合已经成功。
参考文献（完整题名）
cheng · Wheat yield estimation using remote sensing data based on machine learning approaches · Frontiers in Plant Science 13:1090970 · 2022 · 10.3389/fpls.2022.1090970 · Published version 2022-12-23; CC BY 4.0
zhuo · Assimilating Soil Moisture Retrieved from Sentinel-1 and Sentinel-2 Data into WOFOST Model to Improve Winter Wheat Yield Estimation · Remote Sensing 11(13):1618 · 2019 · 10.3390/rs11131618 · Published version 2019-07-08; CC BY 4.0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把三篇研究的单位和验证设计放在一张表上。第一篇虽有很多网格，独立环境只有一个区一个季；第二篇110样点嵌在22站点内；第三篇跨多年县级记录，并做留年压力测试。单位换算可以做，验证任务却不能靠换算变成同一个任务，所以后续只在每项研究内部报告增益。
参考文献（完整题名）
cheng · Wheat yield estimation using remote sensing data based on machine learning approaches · Frontiers in Plant Science 13:1090970 · 2022 · 10.3389/fpls.2022.1090970 · Published version 2022-12-23; CC BY 4.0
zhuo · Assimilating Soil Moisture Retrieved from Sentinel-1 and Sentinel-2 Data into WOFOST Model to Improve Winter Wheat Yield Estimation · Remote Sensing 11(13):1618 · 2019 · 10.3390/rs11131618 · Published version 2019-07-08; CC BY 4.0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是小汤山的真实产量空间布局。网格很多，但它们并非很多独立生长环境。右侧显示模型实际拿到的信息：10月到次年6月九个月、四种指数。LSTM看到4×9序列，其他模型看到展平后的36维向量。39个地面样点承担另一项光谱选择任务。这个设计支持同区同季映射学习，尚未隔离空间与年份迁移。
原图来源：cheng
Fig.1
Geographical location and layout of the study area.
https://www.frontiersin.org/journals/plant-science/articles/10.3389/fpls.2022.1090970/pdf
Official published article; PDF p.3
CC BY 4.0 https://creativecommons.org/licenses/by/4.0/
原始图像未改绘数据；显示范围及原生中文说明见本稿资产记录。
参考文献（完整题名）
cheng · Wheat yield estimation using remote sensing data based on machine learning approaches · Frontiers in Plant Science 13:1090970 · 2022 · 10.3389/fpls.2022.1090970 · Published version 2022-12-23;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原始LSTM散点靠近对角线，右侧完整列出四种模型的原文指标。LSTM的RMSE是0.201 t/ha，RF是0.260；这支持同信息条件中的模型比较。但不能把0.93的R²讲成跨县、跨年已经达到的水平。原图没有明确写出轴名，本页保留产量坐标范围，不增加推测的轴身份。
原图来源：cheng
Fig.4
A (LSTM)
Comparison between the estimates of the winter wheat yield obtained using the (A) LSTM, (B) RF, (C) GBDT, and (D) SVR models.
https://www.frontiersin.org/journals/plant-science/articles/10.3389/fpls.2022.1090970/pdf
Official published article; PDF p.9
CC BY 4.0 https://creativecommons.org/licenses/by/4.0/
仅显示左上LSTM面板，保留其边界、散点、对角线与原始统计；未生成点位。横轴共享的1–7范围由完整原图核对，在页面文字说明。
参考文献（完整题名）
cheng · Wheat yield estimation using remote sensing data based on machine learning approaches · Frontiers in Plant Science 13:1090970 · 2022 · 10.3389/fpls.2022.1090970 · Published version 2022-12-23;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另一个实验，不能与上一页混为一组。三类数据用LSTM和四期输入比较。相同30米条件下，ZY-1比Sentinel-2误差低；但10米Sentinel-2更低。它提醒我们，光谱信息与空间匹配同时重要。原文摘要把0.307到0.237称约5%，与RMSE直接相对计算不符，所以我们只保留原始数值；4月日期在原文两节也不一致。
原图来源：cheng
Fig.6
Comparison between estimates of the winter wheat yield based on (A) 10-m Sentinel-2, (B) 30-m ZY-1 02D, and (C) 30-m Sentinel-2 data.
https://www.frontiersin.org/journals/plant-science/articles/10.3389/fpls.2022.1090970/pdf
Official published article; PDF p.10
CC BY 4.0 https://creativecommons.org/licenses/by/4.0/
原始图像未改绘数据；显示范围及原生中文说明见本稿资产记录。
参考文献（完整题名）
cheng · Wheat yield estimation using remote sensing data based on machine learning approaches · Frontiers in Plant Science 13:1090970 · 2022 · 10.3389/fpls.2022.1090970 · Published version 2022-12-23;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化不是重新训练一个遥感到产量的回归器。上方蓝色路径用Sentinel-1和Sentinel-2结合地面标定反演SM；下方绿色路径让WOFOST日步长推进。观测到来时，EnKF根据模型与观测不确定性修正状态，再把分析SM送回WOFOST。只直接同化SM，产量是模型结果。50成员、10%模型扰动和7%观测不确定性是本文设置，不应当作普适默认值。
参考文献（完整题名）
zhuo · Assimilating Soil Moisture Retrieved from Sentinel-1 and Sentinel-2 Data into WOFOST Model to Improve Winter Wheat Yield Estimation · Remote Sensing 11(13):1618 · 2019 · 10.3390/rs11131618 · Published version 2019-07-08;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原始散点采用相同产量尺度。无同化的预测集中在较窄范围，加入EnKF后散布变宽、回归斜率从0.10到0.25。RMSE由1330到934，R²由0.21到0.35；方向是改善，但高产样点仍明显低估，不能讲成已经解释大部分产量差异。这里产量验证使用110样点，不能拿SM反演的55点替代。
原图来源：zhuo
Fig.8
Figure 8. Winter wheat yield estimation ( a ) without assimilation and ( b ) with EnKF assimilation.
https://mdpi-res.com/remotesensing/remotesensing-11-01618/article_deploy/html/images/remotesensing-11-01618-g008.png
Official published article; PDF p.12
CC BY 4.0 https://creativecommons.org/licenses/by/4.0/
裁去底部(a)(b)面板代号与空白，保留全部点、坐标、单位和回归统计；以原生标题重新标明同化条件。
参考文献（完整题名）
zhuo · Assimilating Soil Moisture Retrieved from Sentinel-1 and Sentinel-2 Data into WOFOST Model to Improve Winter Wheat Yield Estimation · Remote Sensing 11(13):1618 · 2019 · 10.3390/rs11131618 · Published version 2019-07-08;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水分轨迹显示同化确实修正过程，而不是只在终点改一个数字。原图是深州的一个样点，红圈标出作者关注的更新。图下给出关键限制：遥感反演由0到10厘米地面水分标定，WOFOST状态却是根区平均。三期SM误差也较大，这些百分数是含水量尺度，并非产量误差相对下降。若要外推，先验证观测算子与垂直支撑尺度是否一致。
原图来源：zhuo
Fig.6
Figure 6. Comparison of the SM curves simulated by WOFOST model with and without the EnKF-based assimilation method (a sample point in Shenzhou county).
https://mdpi-res.com/remotesensing/remotesensing-11-01618/article_deploy/html/images/remotesensing-11-01618-g006.png
Official published article; PDF p.11
CC BY 4.0 https://creativecommons.org/licenses/by/4.0/
原始图像未改绘数据；显示范围及原生中文说明见本稿资产记录。
参考文献（完整题名）
zhuo · Assimilating Soil Moisture Retrieved from Sentinel-1 and Sentinel-2 Data into WOFOST Model to Improve Winter Wheat Yield Estimation · Remote Sensing 11(13):1618 · 2019 · 10.3390/rs11131618 · Published version 2019-07-08;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条路径把22项APSIM输出加入学习器，包括模拟产量、生物量、物候和水分胁迫。请看观测产量走的是监督目标的蓝色路径，没有直接输入APSIM。这里是293县的多年数据，分别留出三个年份。最关键的条件写在底部：测试年的完整天气已进入APSIM，且本研究没有遥感输入。因此它支持过程特征有价值，但遥感怎样接上来要另外验证。
参考文献（完整题名）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完整保留11种模型，两年使用共同的RMSE尺度。每一行灰色是原始输入，绿色加入APSIM特征。大多数连线向左，说明误差降低，但降低幅度不同；2018的LightGBM从1067到883。2017的LightGBM从914到916，是一个小幅退步的明确例外，正好提醒我们不要把跨年平均改善写成每个模型每一年都改善。
参考文献（完整题名）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3是本稿最重要的反例。2012年是极端干旱年，所有加入APSIM的模型都降低RMSE。但右列全部R²为负，不能把改善等同于预测足够可靠。表中绿色行的混合RMSE最低，是2545 kg/ha；这不改变负R²。R²沿用原表百分数，−12.0%即−0.120。这里也仍使用测试年完整天气，所以不能承诺更早的预报表现。
参考文献（完整题名）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分组输入结果比一句“水文最重要”更有信息。Stacked regression的水土天气组RMSE最低，但RF恰好是作物组最低，水土天气组反而较差。右侧原图前两组说明旱胁迫与地下水位在多个测试年被模型依赖。这里的置换重要性是预测依赖，不是对干旱或地下水位做干预的因果效应。
原图来源：shahhosseini
Fig.8
first two variables: AvgDroughtStress and AvgWTInseason
Average normalized permutation importance of APSIM features for all test years. AvgDroughtStress: Average drought stress on leaf development, AvgWTInseason: Depth to water table of growing season (mm), NlossTotal: Total N loss (denitrification and leaching) (kg N/ha), CropYield: Crop yield (kg/ha), GrainINupt: Grain N uptake (kg N/ha), Bioma: Crop above ground biomass (kg/ha), SWtoDUL30Inseason: Growing season average soil water to field capacity ratio at 30 cm, ETAnnual: Actual evapotranspiration (mm), CropTraspiration: Crop transpiration (mm).
https://media.springernature.com/full/springer-static/image/art%3A10.1038%2Fs41598-020-80820-1/MediaObjects/41598_2020_80820_Fig8_HTML.png
Official published article; PDF p.13
CC BY 4.0 https://creativecommons.org/licenses/by/4.0/
裁取前两变量的数据区与纵轴完整0刻度，去掉倾斜变量名；原生标签复述两个变量身份与2017粉、2018灰、2012蓝；未改绘柱高。
参考文献（完整题名）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把证据放回同一框架。直接学习支持本地映射，缺跨空间跨年测试；同化支持状态约束，仍受观测尺度和反演质量限制；机理特征支持回顾性增益，但极端年可靠性和可提前获得的信息都没有解决。三篇相互补充的是信息的进入环节，共同缺口是独立环境和固定截止日。不能把某篇低RMSE移植成另一任务的性能承诺。
参考文献（完整题名）
cheng · Wheat yield estimation using remote sensing data based on machine learning approaches · Frontiers in Plant Science 13:1090970 · 2022 · 10.3389/fpls.2022.1090970 · Published version 2022-12-23; CC BY 4.0
zhuo · Assimilating Soil Moisture Retrieved from Sentinel-1 and Sentinel-2 Data into WOFOST Model to Improve Winter Wheat Yield Estimation · Remote Sensing 11(13):1618 · 2019 · 10.3390/rs11131618 · Published version 2019-07-08; CC BY 4.0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提出一个还没有实施的检验。先固定收获前某个截止日，所有方法只能用当时可得的信息；未来天气用同一预报集合。四组是基础ML、加遥感、加机理、两者联合。空间块和年份都要留出，极端年份单列。主要比较预先定义的实际有用改善和不确定区间。若联合在独立环境中稳定改善且有用，支持互补；若明确更差，是反向证据；区间太宽是信息不足；一旦有未来信息泄漏，评价前提失败。这样才能把增益归因和部署价值分开检验。
参考文献（完整题名）
cheng · Wheat yield estimation using remote sensing data based on machine learning approaches · Frontiers in Plant Science 13:1090970 · 2022 · 10.3389/fpls.2022.1090970 · Published version 2022-12-23; CC BY 4.0
zhuo · Assimilating Soil Moisture Retrieved from Sentinel-1 and Sentinel-2 Data into WOFOST Model to Improve Winter Wheat Yield Estimation · Remote Sensing 11(13):1618 · 2019 · 10.3390/rs11131618 · Published version 2019-07-08; CC BY 4.0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三篇均为正式发表的开放获取文章，图表按CC BY 4.0署名。完整题名、作者、期刊、DOI保留在本页和工程来源记录。原图内部数据点不声称可编辑；其余文字、关系、精确重列表格和配对图均为原生对象。
参考文献（完整题名）
cheng · Wheat yield estimation using remote sensing data based on machine learning approaches · Frontiers in Plant Science 13:1090970 · 2022 · 10.3389/fpls.2022.1090970 · Published version 2022-12-23; CC BY 4.0
zhuo · Assimilating Soil Moisture Retrieved from Sentinel-1 and Sentinel-2 Data into WOFOST Model to Improve Winter Wheat Yield Estimation · Remote Sensing 11(13):1618 · 2019 · 10.3390/rs11131618 · Published version 2019-07-08; CC BY 4.0
shahhosseini · Coupling machine learning and crop modeling improves crop yield prediction in the US Corn Belt · Scientific Reports 11:1606 · 2021 · 10.1038/s41598-020-80820-1 · Published version 2021-01-15; CC BY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title"/>
          <p:cNvSpPr/>
          <p:nvPr/>
        </p:nvSpPr>
        <p:spPr>
          <a:xfrm>
            <a:off x="609600" y="1285875"/>
            <a:ext cx="6572250" cy="148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zh-CN" altLang="en-US" sz="45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遥感观测如何进入</a:t>
            </a:r>
            <a:endParaRPr lang="zh-CN" sz="4500" dirty="0"/>
          </a:p>
          <a:p>
            <a:pPr algn="l" indent="0" marL="0">
              <a:lnSpc>
                <a:spcPts val="5040"/>
              </a:lnSpc>
              <a:buNone/>
            </a:pPr>
            <a:r>
              <a:rPr lang="zh-CN" altLang="en-US" sz="45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作物产量估计</a:t>
            </a:r>
            <a:endParaRPr lang="zh-CN" sz="4500" dirty="0"/>
          </a:p>
        </p:txBody>
      </p:sp>
      <p:sp>
        <p:nvSpPr>
          <p:cNvPr id="3" name="s01/subtitle"/>
          <p:cNvSpPr/>
          <p:nvPr/>
        </p:nvSpPr>
        <p:spPr>
          <a:xfrm>
            <a:off x="609600" y="3133725"/>
            <a:ext cx="628650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直接学习、状态同化、机理特征融合的</a:t>
            </a:r>
            <a:endParaRPr lang="zh-CN" sz="2100" dirty="0"/>
          </a:p>
          <a:p>
            <a:pPr algn="l" indent="0" marL="0">
              <a:lnSpc>
                <a:spcPts val="2562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证据与外推边界</a:t>
            </a:r>
            <a:endParaRPr lang="zh-CN" sz="2100" dirty="0"/>
          </a:p>
        </p:txBody>
      </p:sp>
      <p:sp>
        <p:nvSpPr>
          <p:cNvPr id="4" name="s01/cover-occasion"/>
          <p:cNvSpPr/>
          <p:nvPr/>
        </p:nvSpPr>
        <p:spPr>
          <a:xfrm>
            <a:off x="609600" y="600075"/>
            <a:ext cx="61912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学术论坛 · 文献证据综述</a:t>
            </a:r>
            <a:endParaRPr lang="zh-CN" sz="1800" dirty="0"/>
          </a:p>
        </p:txBody>
      </p:sp>
      <p:pic>
        <p:nvPicPr>
          <p:cNvPr id="5" name="s01/drawing/cover-evidence/e1" descr="Geographical location and layout of the study are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6650" y="1118042"/>
            <a:ext cx="4095750" cy="2907415"/>
          </a:xfrm>
          <a:prstGeom prst="rect">
            <a:avLst/>
          </a:prstGeom>
        </p:spPr>
      </p:pic>
      <p:sp>
        <p:nvSpPr>
          <p:cNvPr id="6" name="s01/drawing/cover-evidence/e2"/>
          <p:cNvSpPr/>
          <p:nvPr/>
        </p:nvSpPr>
        <p:spPr>
          <a:xfrm>
            <a:off x="7486650" y="4467225"/>
            <a:ext cx="4095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北京小汤山冬小麦观测网格</a:t>
            </a:r>
            <a:endParaRPr lang="zh-CN" sz="1800" dirty="0"/>
          </a:p>
        </p:txBody>
      </p:sp>
      <p:sp>
        <p:nvSpPr>
          <p:cNvPr id="7" name="s01/drawing/cover-evidence/e3"/>
          <p:cNvSpPr/>
          <p:nvPr/>
        </p:nvSpPr>
        <p:spPr>
          <a:xfrm>
            <a:off x="7486650" y="5029200"/>
            <a:ext cx="40957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真实观测 → 模型环节 → 产量估计</a:t>
            </a:r>
            <a:endParaRPr lang="zh-CN" sz="2100" dirty="0"/>
          </a:p>
        </p:txBody>
      </p:sp>
      <p:sp>
        <p:nvSpPr>
          <p:cNvPr id="8" name="s01/drawing/cover-evidence/e4"/>
          <p:cNvSpPr/>
          <p:nvPr/>
        </p:nvSpPr>
        <p:spPr>
          <a:xfrm>
            <a:off x="7486650" y="5762625"/>
            <a:ext cx="40957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图：Cheng et al., 2022, Fig.1 · CC BY 4.0</a:t>
            </a:r>
            <a:endParaRPr lang="zh-CN" sz="1350" dirty="0"/>
          </a:p>
        </p:txBody>
      </p:sp>
      <p:sp>
        <p:nvSpPr>
          <p:cNvPr id="9" name="s01/drawing/cover-thesis/e5/segment-1"/>
          <p:cNvSpPr/>
          <p:nvPr/>
        </p:nvSpPr>
        <p:spPr>
          <a:xfrm>
            <a:off x="609600" y="4733925"/>
            <a:ext cx="6286500" cy="0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</a:ln>
        </p:spPr>
      </p:sp>
      <p:sp>
        <p:nvSpPr>
          <p:cNvPr id="10" name="s01/drawing/cover-thesis/e6"/>
          <p:cNvSpPr/>
          <p:nvPr/>
        </p:nvSpPr>
        <p:spPr>
          <a:xfrm>
            <a:off x="609600" y="4981575"/>
            <a:ext cx="62865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关键问题：精度改善，能支持多远的外推？</a:t>
            </a:r>
            <a:endParaRPr lang="zh-CN" sz="2400" dirty="0"/>
          </a:p>
        </p:txBody>
      </p:sp>
      <p:sp>
        <p:nvSpPr>
          <p:cNvPr id="11" name="s01/drawing/cover-thesis/e7"/>
          <p:cNvSpPr/>
          <p:nvPr/>
        </p:nvSpPr>
        <p:spPr>
          <a:xfrm>
            <a:off x="609600" y="5934075"/>
            <a:ext cx="6286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遥感观测 · 作物过程 · 产量估计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16</a:t>
            </a:r>
            <a:endParaRPr lang="zh-CN" sz="1350" dirty="0"/>
          </a:p>
        </p:txBody>
      </p:sp>
      <p:sp>
        <p:nvSpPr>
          <p:cNvPr id="3" name="s02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进入位置，决定遥感究竟约束了什么</a:t>
            </a:r>
            <a:endParaRPr lang="zh-CN" sz="3000" dirty="0"/>
          </a:p>
        </p:txBody>
      </p:sp>
      <p:sp>
        <p:nvSpPr>
          <p:cNvPr id="4" name="s02/drawing/s02-content/e8"/>
          <p:cNvSpPr/>
          <p:nvPr/>
        </p:nvSpPr>
        <p:spPr>
          <a:xfrm>
            <a:off x="457200" y="1085850"/>
            <a:ext cx="2095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</a:t>
            </a:r>
            <a:endParaRPr lang="zh-CN" sz="2400" dirty="0"/>
          </a:p>
        </p:txBody>
      </p:sp>
      <p:sp>
        <p:nvSpPr>
          <p:cNvPr id="5" name="s02/drawing/s02-content/e9"/>
          <p:cNvSpPr/>
          <p:nvPr/>
        </p:nvSpPr>
        <p:spPr>
          <a:xfrm>
            <a:off x="3028950" y="1085850"/>
            <a:ext cx="2857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遥感指数序列</a:t>
            </a:r>
            <a:endParaRPr lang="zh-CN" sz="2100" dirty="0"/>
          </a:p>
        </p:txBody>
      </p:sp>
      <p:sp>
        <p:nvSpPr>
          <p:cNvPr id="6" name="s02/drawing/s02-content/e10"/>
          <p:cNvSpPr/>
          <p:nvPr/>
        </p:nvSpPr>
        <p:spPr>
          <a:xfrm>
            <a:off x="6934200" y="1085850"/>
            <a:ext cx="20002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学习器</a:t>
            </a:r>
            <a:endParaRPr lang="zh-CN" sz="2100" dirty="0"/>
          </a:p>
        </p:txBody>
      </p:sp>
      <p:sp>
        <p:nvSpPr>
          <p:cNvPr id="7" name="s02/drawing/s02-content/e11"/>
          <p:cNvSpPr/>
          <p:nvPr/>
        </p:nvSpPr>
        <p:spPr>
          <a:xfrm>
            <a:off x="10363200" y="1085850"/>
            <a:ext cx="1371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产量</a:t>
            </a:r>
            <a:endParaRPr lang="zh-CN" sz="2100" dirty="0"/>
          </a:p>
        </p:txBody>
      </p:sp>
      <p:sp>
        <p:nvSpPr>
          <p:cNvPr id="8" name="s02/drawing/s02-content/e12/segment-1"/>
          <p:cNvSpPr/>
          <p:nvPr/>
        </p:nvSpPr>
        <p:spPr>
          <a:xfrm>
            <a:off x="6019800" y="1285875"/>
            <a:ext cx="628650" cy="0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  <a:tailEnd type="triangle"/>
          </a:ln>
        </p:spPr>
      </p:sp>
      <p:sp>
        <p:nvSpPr>
          <p:cNvPr id="9" name="s02/drawing/s02-content/e13/segment-1"/>
          <p:cNvSpPr/>
          <p:nvPr/>
        </p:nvSpPr>
        <p:spPr>
          <a:xfrm>
            <a:off x="9029700" y="1285875"/>
            <a:ext cx="1066800" cy="0"/>
          </a:xfrm>
          <a:prstGeom prst="line">
            <a:avLst/>
          </a:prstGeom>
          <a:noFill/>
          <a:ln w="28575">
            <a:solidFill>
              <a:srgbClr val="546479"/>
            </a:solidFill>
            <a:prstDash val="solid"/>
            <a:tailEnd type="triangle"/>
          </a:ln>
        </p:spPr>
      </p:sp>
      <p:sp>
        <p:nvSpPr>
          <p:cNvPr id="10" name="s02/drawing/s02-content/e14"/>
          <p:cNvSpPr/>
          <p:nvPr/>
        </p:nvSpPr>
        <p:spPr>
          <a:xfrm>
            <a:off x="3028950" y="1638300"/>
            <a:ext cx="87058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约束：观测与产量的映射  ·  Cheng et al., 2022</a:t>
            </a:r>
            <a:endParaRPr lang="zh-CN" sz="2100" dirty="0"/>
          </a:p>
        </p:txBody>
      </p:sp>
      <p:sp>
        <p:nvSpPr>
          <p:cNvPr id="11" name="s02/drawing/s02-content/e15/segment-1"/>
          <p:cNvSpPr/>
          <p:nvPr/>
        </p:nvSpPr>
        <p:spPr>
          <a:xfrm>
            <a:off x="457200" y="2228850"/>
            <a:ext cx="11277600" cy="0"/>
          </a:xfrm>
          <a:prstGeom prst="line">
            <a:avLst/>
          </a:prstGeom>
          <a:noFill/>
          <a:ln w="13335">
            <a:solidFill>
              <a:srgbClr val="CDD5CF"/>
            </a:solidFill>
            <a:prstDash val="solid"/>
          </a:ln>
        </p:spPr>
      </p:sp>
      <p:sp>
        <p:nvSpPr>
          <p:cNvPr id="12" name="s02/drawing/s02-content/e16"/>
          <p:cNvSpPr/>
          <p:nvPr/>
        </p:nvSpPr>
        <p:spPr>
          <a:xfrm>
            <a:off x="457200" y="2571750"/>
            <a:ext cx="2095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状态同化</a:t>
            </a:r>
            <a:endParaRPr lang="zh-CN" sz="2400" dirty="0"/>
          </a:p>
        </p:txBody>
      </p:sp>
      <p:sp>
        <p:nvSpPr>
          <p:cNvPr id="13" name="s02/drawing/s02-content/e17"/>
          <p:cNvSpPr/>
          <p:nvPr/>
        </p:nvSpPr>
        <p:spPr>
          <a:xfrm>
            <a:off x="3028950" y="2571750"/>
            <a:ext cx="2857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遥感反演 SM</a:t>
            </a:r>
            <a:endParaRPr lang="zh-CN" sz="2100" dirty="0"/>
          </a:p>
        </p:txBody>
      </p:sp>
      <p:sp>
        <p:nvSpPr>
          <p:cNvPr id="14" name="s02/drawing/s02-content/e18"/>
          <p:cNvSpPr/>
          <p:nvPr/>
        </p:nvSpPr>
        <p:spPr>
          <a:xfrm>
            <a:off x="6934200" y="2571750"/>
            <a:ext cx="2286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状态更新</a:t>
            </a:r>
            <a:endParaRPr lang="zh-CN" sz="2100" dirty="0"/>
          </a:p>
        </p:txBody>
      </p:sp>
      <p:sp>
        <p:nvSpPr>
          <p:cNvPr id="15" name="s02/drawing/s02-content/e19"/>
          <p:cNvSpPr/>
          <p:nvPr/>
        </p:nvSpPr>
        <p:spPr>
          <a:xfrm>
            <a:off x="10363200" y="2571750"/>
            <a:ext cx="1371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产量</a:t>
            </a:r>
            <a:endParaRPr lang="zh-CN" sz="2100" dirty="0"/>
          </a:p>
        </p:txBody>
      </p:sp>
      <p:sp>
        <p:nvSpPr>
          <p:cNvPr id="16" name="s02/drawing/s02-content/e20/segment-1"/>
          <p:cNvSpPr/>
          <p:nvPr/>
        </p:nvSpPr>
        <p:spPr>
          <a:xfrm>
            <a:off x="6019800" y="2771775"/>
            <a:ext cx="628650" cy="0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  <a:tailEnd type="triangle"/>
          </a:ln>
        </p:spPr>
      </p:sp>
      <p:sp>
        <p:nvSpPr>
          <p:cNvPr id="17" name="s02/drawing/s02-content/e21/segment-1"/>
          <p:cNvSpPr/>
          <p:nvPr/>
        </p:nvSpPr>
        <p:spPr>
          <a:xfrm>
            <a:off x="9248775" y="2771775"/>
            <a:ext cx="847725" cy="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  <a:tailEnd type="triangle"/>
          </a:ln>
        </p:spPr>
      </p:sp>
      <p:sp>
        <p:nvSpPr>
          <p:cNvPr id="18" name="s02/drawing/s02-content/e22"/>
          <p:cNvSpPr/>
          <p:nvPr/>
        </p:nvSpPr>
        <p:spPr>
          <a:xfrm>
            <a:off x="3028950" y="3124200"/>
            <a:ext cx="87058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约束：过程模型当前状态  ·  Zhuo et al., 2019</a:t>
            </a:r>
            <a:endParaRPr lang="zh-CN" sz="2100" dirty="0"/>
          </a:p>
        </p:txBody>
      </p:sp>
      <p:sp>
        <p:nvSpPr>
          <p:cNvPr id="19" name="s02/drawing/s02-content/e23/segment-1"/>
          <p:cNvSpPr/>
          <p:nvPr/>
        </p:nvSpPr>
        <p:spPr>
          <a:xfrm>
            <a:off x="457200" y="3714750"/>
            <a:ext cx="11277600" cy="0"/>
          </a:xfrm>
          <a:prstGeom prst="line">
            <a:avLst/>
          </a:prstGeom>
          <a:noFill/>
          <a:ln w="13335">
            <a:solidFill>
              <a:srgbClr val="CDD5CF"/>
            </a:solidFill>
            <a:prstDash val="solid"/>
          </a:ln>
        </p:spPr>
      </p:sp>
      <p:sp>
        <p:nvSpPr>
          <p:cNvPr id="20" name="s02/drawing/s02-content/e24"/>
          <p:cNvSpPr/>
          <p:nvPr/>
        </p:nvSpPr>
        <p:spPr>
          <a:xfrm>
            <a:off x="457200" y="4057650"/>
            <a:ext cx="23812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机理特征融合</a:t>
            </a:r>
            <a:endParaRPr lang="zh-CN" sz="2400" dirty="0"/>
          </a:p>
        </p:txBody>
      </p:sp>
      <p:sp>
        <p:nvSpPr>
          <p:cNvPr id="21" name="s02/drawing/s02-content/e25"/>
          <p:cNvSpPr/>
          <p:nvPr/>
        </p:nvSpPr>
        <p:spPr>
          <a:xfrm>
            <a:off x="3028950" y="4057650"/>
            <a:ext cx="2857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过程模拟变量</a:t>
            </a:r>
            <a:endParaRPr lang="zh-CN" sz="2100" dirty="0"/>
          </a:p>
        </p:txBody>
      </p:sp>
      <p:sp>
        <p:nvSpPr>
          <p:cNvPr id="22" name="s02/drawing/s02-content/e26"/>
          <p:cNvSpPr/>
          <p:nvPr/>
        </p:nvSpPr>
        <p:spPr>
          <a:xfrm>
            <a:off x="6934200" y="4057650"/>
            <a:ext cx="20002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学习器</a:t>
            </a:r>
            <a:endParaRPr lang="zh-CN" sz="2100" dirty="0"/>
          </a:p>
        </p:txBody>
      </p:sp>
      <p:sp>
        <p:nvSpPr>
          <p:cNvPr id="23" name="s02/drawing/s02-content/e27"/>
          <p:cNvSpPr/>
          <p:nvPr/>
        </p:nvSpPr>
        <p:spPr>
          <a:xfrm>
            <a:off x="10363200" y="4057650"/>
            <a:ext cx="1371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产量</a:t>
            </a:r>
            <a:endParaRPr lang="zh-CN" sz="2100" dirty="0"/>
          </a:p>
        </p:txBody>
      </p:sp>
      <p:sp>
        <p:nvSpPr>
          <p:cNvPr id="24" name="s02/drawing/s02-content/e28/segment-1"/>
          <p:cNvSpPr/>
          <p:nvPr/>
        </p:nvSpPr>
        <p:spPr>
          <a:xfrm>
            <a:off x="6019800" y="4257675"/>
            <a:ext cx="628650" cy="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  <a:tailEnd type="triangle"/>
          </a:ln>
        </p:spPr>
      </p:sp>
      <p:sp>
        <p:nvSpPr>
          <p:cNvPr id="25" name="s02/drawing/s02-content/e29/segment-1"/>
          <p:cNvSpPr/>
          <p:nvPr/>
        </p:nvSpPr>
        <p:spPr>
          <a:xfrm>
            <a:off x="9029700" y="4257675"/>
            <a:ext cx="1066800" cy="0"/>
          </a:xfrm>
          <a:prstGeom prst="line">
            <a:avLst/>
          </a:prstGeom>
          <a:noFill/>
          <a:ln w="28575">
            <a:solidFill>
              <a:srgbClr val="546479"/>
            </a:solidFill>
            <a:prstDash val="solid"/>
            <a:tailEnd type="triangle"/>
          </a:ln>
        </p:spPr>
      </p:sp>
      <p:sp>
        <p:nvSpPr>
          <p:cNvPr id="26" name="s02/drawing/s02-content/e30"/>
          <p:cNvSpPr/>
          <p:nvPr/>
        </p:nvSpPr>
        <p:spPr>
          <a:xfrm>
            <a:off x="3028950" y="4610100"/>
            <a:ext cx="87058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约束：学习器可见的过程表征  ·  Shahhosseini et al., 2021</a:t>
            </a:r>
            <a:endParaRPr lang="zh-CN" sz="2100" dirty="0"/>
          </a:p>
        </p:txBody>
      </p:sp>
      <p:sp>
        <p:nvSpPr>
          <p:cNvPr id="27" name="s02/drawing/s02-content/e31"/>
          <p:cNvSpPr/>
          <p:nvPr/>
        </p:nvSpPr>
        <p:spPr>
          <a:xfrm>
            <a:off x="457200" y="5334000"/>
            <a:ext cx="11277600" cy="542925"/>
          </a:xfrm>
          <a:prstGeom prst="rect">
            <a:avLst/>
          </a:prstGeom>
          <a:solidFill>
            <a:srgbClr val="F6EC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02/drawing/s02-content/e32"/>
          <p:cNvSpPr/>
          <p:nvPr/>
        </p:nvSpPr>
        <p:spPr>
          <a:xfrm>
            <a:off x="628650" y="5438775"/>
            <a:ext cx="109347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第三篇未输入遥感：它提供“机理特征”的桥接证据，遥感增量仍待检验。</a:t>
            </a:r>
            <a:endParaRPr lang="zh-CN" sz="2100" dirty="0"/>
          </a:p>
        </p:txBody>
      </p:sp>
      <p:sp>
        <p:nvSpPr>
          <p:cNvPr id="29" name="s02/drawing/s02-content/e33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机制综合：Cheng §2.3；Zhuo §2.6；Shahhosseini Fig.1 / Discussion。颜色表示环节身份，不表示优劣。</a:t>
            </a:r>
            <a:endParaRPr lang="zh-CN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16</a:t>
            </a:r>
            <a:endParaRPr lang="zh-CN" sz="1350" dirty="0"/>
          </a:p>
        </p:txBody>
      </p:sp>
      <p:sp>
        <p:nvSpPr>
          <p:cNvPr id="3" name="s03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先对齐研究单位，再讨论增益与边界</a:t>
            </a:r>
            <a:endParaRPr lang="zh-CN" sz="3000" dirty="0"/>
          </a:p>
        </p:txBody>
      </p:sp>
      <p:sp>
        <p:nvSpPr>
          <p:cNvPr id="4" name="s03/drawing/s03-content/e34"/>
          <p:cNvSpPr/>
          <p:nvPr/>
        </p:nvSpPr>
        <p:spPr>
          <a:xfrm>
            <a:off x="457200" y="1009650"/>
            <a:ext cx="23812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zh-CN" sz="1800" dirty="0"/>
          </a:p>
        </p:txBody>
      </p:sp>
      <p:sp>
        <p:nvSpPr>
          <p:cNvPr id="5" name="s03/drawing/s03-content/e35"/>
          <p:cNvSpPr/>
          <p:nvPr/>
        </p:nvSpPr>
        <p:spPr>
          <a:xfrm>
            <a:off x="3028950" y="1009650"/>
            <a:ext cx="2952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研究单位 / 对象</a:t>
            </a:r>
            <a:endParaRPr lang="zh-CN" sz="1800" dirty="0"/>
          </a:p>
        </p:txBody>
      </p:sp>
      <p:sp>
        <p:nvSpPr>
          <p:cNvPr id="6" name="s03/drawing/s03-content/e36"/>
          <p:cNvSpPr/>
          <p:nvPr/>
        </p:nvSpPr>
        <p:spPr>
          <a:xfrm>
            <a:off x="6362700" y="1009650"/>
            <a:ext cx="31432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划分与验证</a:t>
            </a:r>
            <a:endParaRPr lang="zh-CN" sz="1800" dirty="0"/>
          </a:p>
        </p:txBody>
      </p:sp>
      <p:sp>
        <p:nvSpPr>
          <p:cNvPr id="7" name="s03/drawing/s03-content/e37"/>
          <p:cNvSpPr/>
          <p:nvPr/>
        </p:nvSpPr>
        <p:spPr>
          <a:xfrm>
            <a:off x="9848850" y="1009650"/>
            <a:ext cx="18859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产量误差单位</a:t>
            </a:r>
            <a:endParaRPr lang="zh-CN" sz="1800" dirty="0"/>
          </a:p>
        </p:txBody>
      </p:sp>
      <p:sp>
        <p:nvSpPr>
          <p:cNvPr id="8" name="s03/drawing/s03-content/e38/segment-1"/>
          <p:cNvSpPr/>
          <p:nvPr/>
        </p:nvSpPr>
        <p:spPr>
          <a:xfrm>
            <a:off x="457200" y="1495425"/>
            <a:ext cx="11277600" cy="0"/>
          </a:xfrm>
          <a:prstGeom prst="line">
            <a:avLst/>
          </a:prstGeom>
          <a:noFill/>
          <a:ln w="15240">
            <a:solidFill>
              <a:srgbClr val="182B32"/>
            </a:solidFill>
            <a:prstDash val="solid"/>
          </a:ln>
        </p:spPr>
      </p:sp>
      <p:sp>
        <p:nvSpPr>
          <p:cNvPr id="9" name="s03/drawing/s03-content/e39"/>
          <p:cNvSpPr/>
          <p:nvPr/>
        </p:nvSpPr>
        <p:spPr>
          <a:xfrm>
            <a:off x="457200" y="1638300"/>
            <a:ext cx="76200" cy="952500"/>
          </a:xfrm>
          <a:prstGeom prst="rect">
            <a:avLst/>
          </a:prstGeom>
          <a:solidFill>
            <a:srgbClr val="176B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3/drawing/s03-content/e40"/>
          <p:cNvSpPr/>
          <p:nvPr/>
        </p:nvSpPr>
        <p:spPr>
          <a:xfrm>
            <a:off x="685800" y="1771650"/>
            <a:ext cx="219075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2022</a:t>
            </a:r>
            <a:endParaRPr lang="zh-CN" sz="2100" dirty="0"/>
          </a:p>
        </p:txBody>
      </p:sp>
      <p:sp>
        <p:nvSpPr>
          <p:cNvPr id="11" name="s03/drawing/s03-content/e41"/>
          <p:cNvSpPr/>
          <p:nvPr/>
        </p:nvSpPr>
        <p:spPr>
          <a:xfrm>
            <a:off x="3028950" y="1704975"/>
            <a:ext cx="3048000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小汤山冬小麦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15,709 个网格</a:t>
            </a:r>
            <a:endParaRPr lang="zh-CN" sz="2100" dirty="0"/>
          </a:p>
        </p:txBody>
      </p:sp>
      <p:sp>
        <p:nvSpPr>
          <p:cNvPr id="12" name="s03/drawing/s03-content/e42"/>
          <p:cNvSpPr/>
          <p:nvPr/>
        </p:nvSpPr>
        <p:spPr>
          <a:xfrm>
            <a:off x="6362700" y="1704975"/>
            <a:ext cx="3333750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同区同季随机 9:1划分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2020–2021</a:t>
            </a:r>
            <a:endParaRPr lang="zh-CN" sz="2100" dirty="0"/>
          </a:p>
        </p:txBody>
      </p:sp>
      <p:sp>
        <p:nvSpPr>
          <p:cNvPr id="13" name="s03/drawing/s03-content/e43"/>
          <p:cNvSpPr/>
          <p:nvPr/>
        </p:nvSpPr>
        <p:spPr>
          <a:xfrm>
            <a:off x="9848850" y="1924050"/>
            <a:ext cx="18859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t/ha</a:t>
            </a:r>
            <a:endParaRPr lang="zh-CN" sz="2100" dirty="0"/>
          </a:p>
        </p:txBody>
      </p:sp>
      <p:sp>
        <p:nvSpPr>
          <p:cNvPr id="14" name="s03/drawing/s03-content/e44/segment-1"/>
          <p:cNvSpPr/>
          <p:nvPr/>
        </p:nvSpPr>
        <p:spPr>
          <a:xfrm>
            <a:off x="457200" y="2733675"/>
            <a:ext cx="1127760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5" name="s03/drawing/s03-content/e45"/>
          <p:cNvSpPr/>
          <p:nvPr/>
        </p:nvSpPr>
        <p:spPr>
          <a:xfrm>
            <a:off x="457200" y="2819400"/>
            <a:ext cx="76200" cy="952500"/>
          </a:xfrm>
          <a:prstGeom prst="rect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3/drawing/s03-content/e46"/>
          <p:cNvSpPr/>
          <p:nvPr/>
        </p:nvSpPr>
        <p:spPr>
          <a:xfrm>
            <a:off x="685800" y="2952750"/>
            <a:ext cx="219075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 2019</a:t>
            </a:r>
            <a:endParaRPr lang="zh-CN" sz="2100" dirty="0"/>
          </a:p>
        </p:txBody>
      </p:sp>
      <p:sp>
        <p:nvSpPr>
          <p:cNvPr id="17" name="s03/drawing/s03-content/e47"/>
          <p:cNvSpPr/>
          <p:nvPr/>
        </p:nvSpPr>
        <p:spPr>
          <a:xfrm>
            <a:off x="3028950" y="2886075"/>
            <a:ext cx="3048000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衡水冬小麦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22站点 / 110样点</a:t>
            </a:r>
            <a:endParaRPr lang="zh-CN" sz="2100" dirty="0"/>
          </a:p>
        </p:txBody>
      </p:sp>
      <p:sp>
        <p:nvSpPr>
          <p:cNvPr id="18" name="s03/drawing/s03-content/e48"/>
          <p:cNvSpPr/>
          <p:nvPr/>
        </p:nvSpPr>
        <p:spPr>
          <a:xfrm>
            <a:off x="6362700" y="2886075"/>
            <a:ext cx="3333750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 55/55；产量110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2017年区域验证</a:t>
            </a:r>
            <a:endParaRPr lang="zh-CN" sz="2100" dirty="0"/>
          </a:p>
        </p:txBody>
      </p:sp>
      <p:sp>
        <p:nvSpPr>
          <p:cNvPr id="19" name="s03/drawing/s03-content/e49"/>
          <p:cNvSpPr/>
          <p:nvPr/>
        </p:nvSpPr>
        <p:spPr>
          <a:xfrm>
            <a:off x="9848850" y="3105150"/>
            <a:ext cx="18859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kg/ha</a:t>
            </a:r>
            <a:endParaRPr lang="zh-CN" sz="2100" dirty="0"/>
          </a:p>
        </p:txBody>
      </p:sp>
      <p:sp>
        <p:nvSpPr>
          <p:cNvPr id="20" name="s03/drawing/s03-content/e50/segment-1"/>
          <p:cNvSpPr/>
          <p:nvPr/>
        </p:nvSpPr>
        <p:spPr>
          <a:xfrm>
            <a:off x="457200" y="3914775"/>
            <a:ext cx="1127760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21" name="s03/drawing/s03-content/e51"/>
          <p:cNvSpPr/>
          <p:nvPr/>
        </p:nvSpPr>
        <p:spPr>
          <a:xfrm>
            <a:off x="457200" y="4000500"/>
            <a:ext cx="76200" cy="952500"/>
          </a:xfrm>
          <a:prstGeom prst="rect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/drawing/s03-content/e52"/>
          <p:cNvSpPr/>
          <p:nvPr/>
        </p:nvSpPr>
        <p:spPr>
          <a:xfrm>
            <a:off x="685800" y="4133850"/>
            <a:ext cx="219075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2021</a:t>
            </a:r>
            <a:endParaRPr lang="zh-CN" sz="2100" dirty="0"/>
          </a:p>
        </p:txBody>
      </p:sp>
      <p:sp>
        <p:nvSpPr>
          <p:cNvPr id="23" name="s03/drawing/s03-content/e53"/>
          <p:cNvSpPr/>
          <p:nvPr/>
        </p:nvSpPr>
        <p:spPr>
          <a:xfrm>
            <a:off x="3028950" y="4067175"/>
            <a:ext cx="3048000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三州玉米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293县 / 10,016县—年</a:t>
            </a:r>
            <a:endParaRPr lang="zh-CN" sz="2100" dirty="0"/>
          </a:p>
        </p:txBody>
      </p:sp>
      <p:sp>
        <p:nvSpPr>
          <p:cNvPr id="24" name="s03/drawing/s03-content/e54"/>
          <p:cNvSpPr/>
          <p:nvPr/>
        </p:nvSpPr>
        <p:spPr>
          <a:xfrm>
            <a:off x="6362700" y="4067175"/>
            <a:ext cx="3333750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分别留2012/2017/2018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1984–2018年数据</a:t>
            </a:r>
            <a:endParaRPr lang="zh-CN" sz="2100" dirty="0"/>
          </a:p>
        </p:txBody>
      </p:sp>
      <p:sp>
        <p:nvSpPr>
          <p:cNvPr id="25" name="s03/drawing/s03-content/e55"/>
          <p:cNvSpPr/>
          <p:nvPr/>
        </p:nvSpPr>
        <p:spPr>
          <a:xfrm>
            <a:off x="9848850" y="4286250"/>
            <a:ext cx="18859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kg/ha</a:t>
            </a:r>
            <a:endParaRPr lang="zh-CN" sz="2100" dirty="0"/>
          </a:p>
        </p:txBody>
      </p:sp>
      <p:sp>
        <p:nvSpPr>
          <p:cNvPr id="26" name="s03/drawing/s03-content/e56/segment-1"/>
          <p:cNvSpPr/>
          <p:nvPr/>
        </p:nvSpPr>
        <p:spPr>
          <a:xfrm>
            <a:off x="457200" y="5095875"/>
            <a:ext cx="1127760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27" name="s03/drawing/s03-content/e57"/>
          <p:cNvSpPr/>
          <p:nvPr/>
        </p:nvSpPr>
        <p:spPr>
          <a:xfrm>
            <a:off x="457200" y="55245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可以比较“何处得到信息”；绝对 RMSE 不能跨论文排总榜。</a:t>
            </a:r>
            <a:endParaRPr lang="zh-CN" sz="2100" dirty="0"/>
          </a:p>
        </p:txBody>
      </p:sp>
      <p:sp>
        <p:nvSpPr>
          <p:cNvPr id="28" name="s03/drawing/s03-content/e58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来源：三篇 Methods 与验证描述；1 t/ha = 1000 kg/ha，但换算不能消除作物、尺度、划分与年份差异。</a:t>
            </a:r>
            <a:endParaRPr lang="zh-CN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16</a:t>
            </a:r>
            <a:endParaRPr lang="zh-CN" sz="1350" dirty="0"/>
          </a:p>
        </p:txBody>
      </p:sp>
      <p:sp>
        <p:nvSpPr>
          <p:cNvPr id="3" name="s04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直接学习：从同一地块的时序到产量标签</a:t>
            </a:r>
            <a:endParaRPr lang="zh-CN" sz="3000" dirty="0"/>
          </a:p>
        </p:txBody>
      </p:sp>
      <p:pic>
        <p:nvPicPr>
          <p:cNvPr id="4" name="s04/drawing/s04-content/e59" descr="Geographical location and layout of the study are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0267"/>
            <a:ext cx="5095875" cy="3617365"/>
          </a:xfrm>
          <a:prstGeom prst="rect">
            <a:avLst/>
          </a:prstGeom>
        </p:spPr>
      </p:pic>
      <p:sp>
        <p:nvSpPr>
          <p:cNvPr id="5" name="s04/drawing/s04-content/e60"/>
          <p:cNvSpPr/>
          <p:nvPr/>
        </p:nvSpPr>
        <p:spPr>
          <a:xfrm>
            <a:off x="457200" y="5019675"/>
            <a:ext cx="509587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m × 5 m 产量网格</a:t>
            </a:r>
            <a:endParaRPr lang="zh-CN" sz="2100" dirty="0"/>
          </a:p>
        </p:txBody>
      </p:sp>
      <p:sp>
        <p:nvSpPr>
          <p:cNvPr id="6" name="s04/drawing/s04-content/e61"/>
          <p:cNvSpPr/>
          <p:nvPr/>
        </p:nvSpPr>
        <p:spPr>
          <a:xfrm>
            <a:off x="457200" y="5467350"/>
            <a:ext cx="50958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1.39–6.75 t/ha；15,709 条记录</a:t>
            </a:r>
            <a:endParaRPr lang="zh-CN" sz="2100" dirty="0"/>
          </a:p>
        </p:txBody>
      </p:sp>
      <p:sp>
        <p:nvSpPr>
          <p:cNvPr id="7" name="s04/drawing/s04-content/e62"/>
          <p:cNvSpPr/>
          <p:nvPr/>
        </p:nvSpPr>
        <p:spPr>
          <a:xfrm>
            <a:off x="5981700" y="1009650"/>
            <a:ext cx="57531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Sentinel-2 · 2020-10 → 2021-06</a:t>
            </a:r>
            <a:endParaRPr lang="zh-CN" sz="2100" dirty="0"/>
          </a:p>
        </p:txBody>
      </p:sp>
      <p:sp>
        <p:nvSpPr>
          <p:cNvPr id="8" name="s04/drawing/s04-content/e63"/>
          <p:cNvSpPr/>
          <p:nvPr/>
        </p:nvSpPr>
        <p:spPr>
          <a:xfrm>
            <a:off x="5981700" y="1609725"/>
            <a:ext cx="542925" cy="381000"/>
          </a:xfrm>
          <a:prstGeom prst="rect">
            <a:avLst/>
          </a:prstGeom>
          <a:solidFill>
            <a:srgbClr val="E8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4/drawing/s04-content/e64"/>
          <p:cNvSpPr/>
          <p:nvPr/>
        </p:nvSpPr>
        <p:spPr>
          <a:xfrm>
            <a:off x="5981700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zh-CN" sz="1800" dirty="0"/>
          </a:p>
        </p:txBody>
      </p:sp>
      <p:sp>
        <p:nvSpPr>
          <p:cNvPr id="10" name="s04/drawing/s04-content/e65"/>
          <p:cNvSpPr/>
          <p:nvPr/>
        </p:nvSpPr>
        <p:spPr>
          <a:xfrm>
            <a:off x="6600825" y="1609725"/>
            <a:ext cx="542925" cy="381000"/>
          </a:xfrm>
          <a:prstGeom prst="rect">
            <a:avLst/>
          </a:prstGeom>
          <a:solidFill>
            <a:srgbClr val="E8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4/drawing/s04-content/e66"/>
          <p:cNvSpPr/>
          <p:nvPr/>
        </p:nvSpPr>
        <p:spPr>
          <a:xfrm>
            <a:off x="6600825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zh-CN" sz="1800" dirty="0"/>
          </a:p>
        </p:txBody>
      </p:sp>
      <p:sp>
        <p:nvSpPr>
          <p:cNvPr id="12" name="s04/drawing/s04-content/e67"/>
          <p:cNvSpPr/>
          <p:nvPr/>
        </p:nvSpPr>
        <p:spPr>
          <a:xfrm>
            <a:off x="7219950" y="1609725"/>
            <a:ext cx="542925" cy="381000"/>
          </a:xfrm>
          <a:prstGeom prst="rect">
            <a:avLst/>
          </a:prstGeom>
          <a:solidFill>
            <a:srgbClr val="E8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4/drawing/s04-content/e68"/>
          <p:cNvSpPr/>
          <p:nvPr/>
        </p:nvSpPr>
        <p:spPr>
          <a:xfrm>
            <a:off x="7219950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zh-CN" sz="1800" dirty="0"/>
          </a:p>
        </p:txBody>
      </p:sp>
      <p:sp>
        <p:nvSpPr>
          <p:cNvPr id="14" name="s04/drawing/s04-content/e69"/>
          <p:cNvSpPr/>
          <p:nvPr/>
        </p:nvSpPr>
        <p:spPr>
          <a:xfrm>
            <a:off x="7839075" y="1609725"/>
            <a:ext cx="542925" cy="381000"/>
          </a:xfrm>
          <a:prstGeom prst="rect">
            <a:avLst/>
          </a:prstGeom>
          <a:solidFill>
            <a:srgbClr val="EDF1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4/drawing/s04-content/e70"/>
          <p:cNvSpPr/>
          <p:nvPr/>
        </p:nvSpPr>
        <p:spPr>
          <a:xfrm>
            <a:off x="7839075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zh-CN" sz="1800" dirty="0"/>
          </a:p>
        </p:txBody>
      </p:sp>
      <p:sp>
        <p:nvSpPr>
          <p:cNvPr id="16" name="s04/drawing/s04-content/e71"/>
          <p:cNvSpPr/>
          <p:nvPr/>
        </p:nvSpPr>
        <p:spPr>
          <a:xfrm>
            <a:off x="8458200" y="1609725"/>
            <a:ext cx="542925" cy="381000"/>
          </a:xfrm>
          <a:prstGeom prst="rect">
            <a:avLst/>
          </a:prstGeom>
          <a:solidFill>
            <a:srgbClr val="EDF1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4/drawing/s04-content/e72"/>
          <p:cNvSpPr/>
          <p:nvPr/>
        </p:nvSpPr>
        <p:spPr>
          <a:xfrm>
            <a:off x="8458200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zh-CN" sz="1800" dirty="0"/>
          </a:p>
        </p:txBody>
      </p:sp>
      <p:sp>
        <p:nvSpPr>
          <p:cNvPr id="18" name="s04/drawing/s04-content/e73"/>
          <p:cNvSpPr/>
          <p:nvPr/>
        </p:nvSpPr>
        <p:spPr>
          <a:xfrm>
            <a:off x="9077325" y="1609725"/>
            <a:ext cx="542925" cy="381000"/>
          </a:xfrm>
          <a:prstGeom prst="rect">
            <a:avLst/>
          </a:prstGeom>
          <a:solidFill>
            <a:srgbClr val="EDF1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4/drawing/s04-content/e74"/>
          <p:cNvSpPr/>
          <p:nvPr/>
        </p:nvSpPr>
        <p:spPr>
          <a:xfrm>
            <a:off x="9077325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zh-CN" sz="1800" dirty="0"/>
          </a:p>
        </p:txBody>
      </p:sp>
      <p:sp>
        <p:nvSpPr>
          <p:cNvPr id="20" name="s04/drawing/s04-content/e75"/>
          <p:cNvSpPr/>
          <p:nvPr/>
        </p:nvSpPr>
        <p:spPr>
          <a:xfrm>
            <a:off x="9696450" y="1609725"/>
            <a:ext cx="542925" cy="381000"/>
          </a:xfrm>
          <a:prstGeom prst="rect">
            <a:avLst/>
          </a:prstGeom>
          <a:solidFill>
            <a:srgbClr val="EDF1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4/drawing/s04-content/e76"/>
          <p:cNvSpPr/>
          <p:nvPr/>
        </p:nvSpPr>
        <p:spPr>
          <a:xfrm>
            <a:off x="9696450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zh-CN" sz="1800" dirty="0"/>
          </a:p>
        </p:txBody>
      </p:sp>
      <p:sp>
        <p:nvSpPr>
          <p:cNvPr id="22" name="s04/drawing/s04-content/e77"/>
          <p:cNvSpPr/>
          <p:nvPr/>
        </p:nvSpPr>
        <p:spPr>
          <a:xfrm>
            <a:off x="10315575" y="1609725"/>
            <a:ext cx="542925" cy="381000"/>
          </a:xfrm>
          <a:prstGeom prst="rect">
            <a:avLst/>
          </a:prstGeom>
          <a:solidFill>
            <a:srgbClr val="EDF1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4/drawing/s04-content/e78"/>
          <p:cNvSpPr/>
          <p:nvPr/>
        </p:nvSpPr>
        <p:spPr>
          <a:xfrm>
            <a:off x="10315575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zh-CN" sz="1800" dirty="0"/>
          </a:p>
        </p:txBody>
      </p:sp>
      <p:sp>
        <p:nvSpPr>
          <p:cNvPr id="24" name="s04/drawing/s04-content/e79"/>
          <p:cNvSpPr/>
          <p:nvPr/>
        </p:nvSpPr>
        <p:spPr>
          <a:xfrm>
            <a:off x="10934700" y="1609725"/>
            <a:ext cx="542925" cy="381000"/>
          </a:xfrm>
          <a:prstGeom prst="rect">
            <a:avLst/>
          </a:prstGeom>
          <a:solidFill>
            <a:srgbClr val="EDF1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4/drawing/s04-content/e80"/>
          <p:cNvSpPr/>
          <p:nvPr/>
        </p:nvSpPr>
        <p:spPr>
          <a:xfrm>
            <a:off x="10934700" y="1638300"/>
            <a:ext cx="542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zh-CN" sz="1800" dirty="0"/>
          </a:p>
        </p:txBody>
      </p:sp>
      <p:sp>
        <p:nvSpPr>
          <p:cNvPr id="26" name="s04/drawing/s04-content/e81"/>
          <p:cNvSpPr/>
          <p:nvPr/>
        </p:nvSpPr>
        <p:spPr>
          <a:xfrm>
            <a:off x="5981700" y="2228850"/>
            <a:ext cx="5753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 · SR · NDWI · REP</a:t>
            </a:r>
            <a:endParaRPr lang="zh-CN" sz="2100" dirty="0"/>
          </a:p>
        </p:txBody>
      </p:sp>
      <p:sp>
        <p:nvSpPr>
          <p:cNvPr id="27" name="s04/drawing/s04-content/e82"/>
          <p:cNvSpPr/>
          <p:nvPr/>
        </p:nvSpPr>
        <p:spPr>
          <a:xfrm>
            <a:off x="5981700" y="2762250"/>
            <a:ext cx="57531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LSTM：4 × 9 时序输入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 / GBDT / SVR：36维向量</a:t>
            </a:r>
            <a:endParaRPr lang="zh-CN" sz="2100" dirty="0"/>
          </a:p>
        </p:txBody>
      </p:sp>
      <p:sp>
        <p:nvSpPr>
          <p:cNvPr id="28" name="s04/drawing/s04-content/e83/segment-1"/>
          <p:cNvSpPr/>
          <p:nvPr/>
        </p:nvSpPr>
        <p:spPr>
          <a:xfrm>
            <a:off x="5981700" y="3819525"/>
            <a:ext cx="5753100" cy="0"/>
          </a:xfrm>
          <a:prstGeom prst="line">
            <a:avLst/>
          </a:prstGeom>
          <a:noFill/>
          <a:ln w="12383">
            <a:solidFill>
              <a:srgbClr val="CDD5CF"/>
            </a:solidFill>
            <a:prstDash val="solid"/>
          </a:ln>
        </p:spPr>
      </p:sp>
      <p:sp>
        <p:nvSpPr>
          <p:cNvPr id="29" name="s04/drawing/s04-content/e84"/>
          <p:cNvSpPr/>
          <p:nvPr/>
        </p:nvSpPr>
        <p:spPr>
          <a:xfrm>
            <a:off x="5981700" y="4067175"/>
            <a:ext cx="57531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 9:1 训练 / 测试</a:t>
            </a:r>
            <a:endParaRPr lang="zh-CN" sz="2100" dirty="0"/>
          </a:p>
        </p:txBody>
      </p:sp>
      <p:sp>
        <p:nvSpPr>
          <p:cNvPr id="30" name="s04/drawing/s04-content/e85"/>
          <p:cNvSpPr/>
          <p:nvPr/>
        </p:nvSpPr>
        <p:spPr>
          <a:xfrm>
            <a:off x="5981700" y="4629150"/>
            <a:ext cx="57531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39个地面样点用于高光谱选波段，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不是主模型的测试样本量。</a:t>
            </a:r>
            <a:endParaRPr lang="zh-CN" sz="2100" dirty="0"/>
          </a:p>
        </p:txBody>
      </p:sp>
      <p:sp>
        <p:nvSpPr>
          <p:cNvPr id="31" name="s04/drawing/s04-content/e86"/>
          <p:cNvSpPr/>
          <p:nvPr/>
        </p:nvSpPr>
        <p:spPr>
          <a:xfrm>
            <a:off x="5981700" y="5591175"/>
            <a:ext cx="57531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外推缺口：独立空间块与独立年份。</a:t>
            </a:r>
            <a:endParaRPr lang="zh-CN" sz="2100" dirty="0"/>
          </a:p>
        </p:txBody>
      </p:sp>
      <p:sp>
        <p:nvSpPr>
          <p:cNvPr id="32" name="s04/drawing/s04-content/e87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 (2022) · CC BY 4.0 · Fig.1、§2.2–2.3 pp.3–7。</a:t>
            </a:r>
            <a:endParaRPr lang="zh-CN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16</a:t>
            </a:r>
            <a:endParaRPr lang="zh-CN" sz="1350" dirty="0"/>
          </a:p>
        </p:txBody>
      </p:sp>
      <p:sp>
        <p:nvSpPr>
          <p:cNvPr id="3" name="s05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LSTM在随机网格留出中表现最好</a:t>
            </a:r>
            <a:endParaRPr lang="zh-CN" sz="3000" dirty="0"/>
          </a:p>
        </p:txBody>
      </p:sp>
      <p:sp>
        <p:nvSpPr>
          <p:cNvPr id="4" name="s05/drawing/s05-content/e88"/>
          <p:cNvSpPr/>
          <p:nvPr/>
        </p:nvSpPr>
        <p:spPr>
          <a:xfrm>
            <a:off x="457200" y="1009650"/>
            <a:ext cx="2876550" cy="352425"/>
          </a:xfrm>
          <a:prstGeom prst="rect">
            <a:avLst/>
          </a:prstGeom>
          <a:solidFill>
            <a:srgbClr val="176B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5/drawing/s05-content/e89"/>
          <p:cNvSpPr/>
          <p:nvPr/>
        </p:nvSpPr>
        <p:spPr>
          <a:xfrm>
            <a:off x="571500" y="1028700"/>
            <a:ext cx="2647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 LSTM 散点</a:t>
            </a:r>
            <a:endParaRPr lang="zh-CN" sz="1800" dirty="0"/>
          </a:p>
        </p:txBody>
      </p:sp>
      <p:pic>
        <p:nvPicPr>
          <p:cNvPr id="6" name="s05/drawing/s05-content/e90" descr="Comparison between the estimates of the winter wheat yield obtained using the (A) LSTM, (B) RF, (C) GBDT, and (D) SVR models.">    </p:cNvPr>
          <p:cNvPicPr>
            <a:picLocks noChangeAspect="1"/>
          </p:cNvPicPr>
          <p:nvPr/>
        </p:nvPicPr>
        <p:blipFill>
          <a:blip r:embed="rId1"/>
          <a:srcRect l="0" r="50300" t="0" b="52300"/>
          <a:stretch/>
        </p:blipFill>
        <p:spPr>
          <a:xfrm>
            <a:off x="603693" y="1504950"/>
            <a:ext cx="5269614" cy="3905250"/>
          </a:xfrm>
          <a:prstGeom prst="rect">
            <a:avLst/>
          </a:prstGeom>
        </p:spPr>
      </p:pic>
      <p:sp>
        <p:nvSpPr>
          <p:cNvPr id="7" name="s05/drawing/s05-content/e91"/>
          <p:cNvSpPr/>
          <p:nvPr/>
        </p:nvSpPr>
        <p:spPr>
          <a:xfrm>
            <a:off x="457200" y="5553075"/>
            <a:ext cx="5562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原图产量坐标范围：1–7 t/ha</a:t>
            </a:r>
            <a:endParaRPr lang="zh-CN" sz="1800" dirty="0"/>
          </a:p>
        </p:txBody>
      </p:sp>
      <p:sp>
        <p:nvSpPr>
          <p:cNvPr id="8" name="s05/drawing/s05-content/e92"/>
          <p:cNvSpPr/>
          <p:nvPr/>
        </p:nvSpPr>
        <p:spPr>
          <a:xfrm>
            <a:off x="6457950" y="1009650"/>
            <a:ext cx="527685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Fig.4 · 同一四指数九个月实验</a:t>
            </a:r>
            <a:endParaRPr lang="zh-CN" sz="2100" dirty="0"/>
          </a:p>
        </p:txBody>
      </p:sp>
      <p:sp>
        <p:nvSpPr>
          <p:cNvPr id="9" name="s05/drawing/s05-content/e93"/>
          <p:cNvSpPr/>
          <p:nvPr/>
        </p:nvSpPr>
        <p:spPr>
          <a:xfrm>
            <a:off x="6457950" y="1676400"/>
            <a:ext cx="1485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zh-CN" sz="1800" dirty="0"/>
          </a:p>
        </p:txBody>
      </p:sp>
      <p:sp>
        <p:nvSpPr>
          <p:cNvPr id="10" name="s05/drawing/s05-content/e94"/>
          <p:cNvSpPr/>
          <p:nvPr/>
        </p:nvSpPr>
        <p:spPr>
          <a:xfrm>
            <a:off x="8134350" y="1676400"/>
            <a:ext cx="1600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</a:t>
            </a:r>
            <a:endParaRPr lang="zh-CN" sz="1800" dirty="0"/>
          </a:p>
        </p:txBody>
      </p:sp>
      <p:sp>
        <p:nvSpPr>
          <p:cNvPr id="11" name="s05/drawing/s05-content/e95"/>
          <p:cNvSpPr/>
          <p:nvPr/>
        </p:nvSpPr>
        <p:spPr>
          <a:xfrm>
            <a:off x="10306050" y="1676400"/>
            <a:ext cx="1428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</a:t>
            </a:r>
            <a:endParaRPr lang="zh-CN" sz="1800" dirty="0"/>
          </a:p>
        </p:txBody>
      </p:sp>
      <p:sp>
        <p:nvSpPr>
          <p:cNvPr id="12" name="s05/drawing/s05-content/e96/segment-1"/>
          <p:cNvSpPr/>
          <p:nvPr/>
        </p:nvSpPr>
        <p:spPr>
          <a:xfrm>
            <a:off x="6457950" y="2076450"/>
            <a:ext cx="5276850" cy="0"/>
          </a:xfrm>
          <a:prstGeom prst="line">
            <a:avLst/>
          </a:prstGeom>
          <a:noFill/>
          <a:ln w="13335">
            <a:solidFill>
              <a:srgbClr val="182B32"/>
            </a:solidFill>
            <a:prstDash val="solid"/>
          </a:ln>
        </p:spPr>
      </p:sp>
      <p:sp>
        <p:nvSpPr>
          <p:cNvPr id="13" name="s05/drawing/s05-content/e97"/>
          <p:cNvSpPr/>
          <p:nvPr/>
        </p:nvSpPr>
        <p:spPr>
          <a:xfrm>
            <a:off x="6362700" y="2190750"/>
            <a:ext cx="5372100" cy="485775"/>
          </a:xfrm>
          <a:prstGeom prst="rect">
            <a:avLst/>
          </a:prstGeom>
          <a:solidFill>
            <a:srgbClr val="E8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5/drawing/s05-content/e98"/>
          <p:cNvSpPr/>
          <p:nvPr/>
        </p:nvSpPr>
        <p:spPr>
          <a:xfrm>
            <a:off x="6457950" y="2266950"/>
            <a:ext cx="14859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</a:t>
            </a:r>
            <a:endParaRPr lang="zh-CN" sz="2100" dirty="0"/>
          </a:p>
        </p:txBody>
      </p:sp>
      <p:sp>
        <p:nvSpPr>
          <p:cNvPr id="15" name="s05/drawing/s05-content/e99"/>
          <p:cNvSpPr/>
          <p:nvPr/>
        </p:nvSpPr>
        <p:spPr>
          <a:xfrm>
            <a:off x="8134350" y="2266950"/>
            <a:ext cx="1600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0.201</a:t>
            </a:r>
            <a:endParaRPr lang="zh-CN" sz="2100" dirty="0"/>
          </a:p>
        </p:txBody>
      </p:sp>
      <p:sp>
        <p:nvSpPr>
          <p:cNvPr id="16" name="s05/drawing/s05-content/e100"/>
          <p:cNvSpPr/>
          <p:nvPr/>
        </p:nvSpPr>
        <p:spPr>
          <a:xfrm>
            <a:off x="10306050" y="2266950"/>
            <a:ext cx="1428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0.930</a:t>
            </a:r>
            <a:endParaRPr lang="zh-CN" sz="2100" dirty="0"/>
          </a:p>
        </p:txBody>
      </p:sp>
      <p:sp>
        <p:nvSpPr>
          <p:cNvPr id="17" name="s05/drawing/s05-content/e101/segment-1"/>
          <p:cNvSpPr/>
          <p:nvPr/>
        </p:nvSpPr>
        <p:spPr>
          <a:xfrm>
            <a:off x="6457950" y="3228975"/>
            <a:ext cx="527685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8" name="s05/drawing/s05-content/e102"/>
          <p:cNvSpPr/>
          <p:nvPr/>
        </p:nvSpPr>
        <p:spPr>
          <a:xfrm>
            <a:off x="6457950" y="2819400"/>
            <a:ext cx="14859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</a:t>
            </a:r>
            <a:endParaRPr lang="zh-CN" sz="2100" dirty="0"/>
          </a:p>
        </p:txBody>
      </p:sp>
      <p:sp>
        <p:nvSpPr>
          <p:cNvPr id="19" name="s05/drawing/s05-content/e103"/>
          <p:cNvSpPr/>
          <p:nvPr/>
        </p:nvSpPr>
        <p:spPr>
          <a:xfrm>
            <a:off x="8134350" y="2819400"/>
            <a:ext cx="1600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0.260</a:t>
            </a:r>
            <a:endParaRPr lang="zh-CN" sz="2100" dirty="0"/>
          </a:p>
        </p:txBody>
      </p:sp>
      <p:sp>
        <p:nvSpPr>
          <p:cNvPr id="20" name="s05/drawing/s05-content/e104"/>
          <p:cNvSpPr/>
          <p:nvPr/>
        </p:nvSpPr>
        <p:spPr>
          <a:xfrm>
            <a:off x="10306050" y="2819400"/>
            <a:ext cx="1428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0.886</a:t>
            </a:r>
            <a:endParaRPr lang="zh-CN" sz="2100" dirty="0"/>
          </a:p>
        </p:txBody>
      </p:sp>
      <p:sp>
        <p:nvSpPr>
          <p:cNvPr id="21" name="s05/drawing/s05-content/e105/segment-1"/>
          <p:cNvSpPr/>
          <p:nvPr/>
        </p:nvSpPr>
        <p:spPr>
          <a:xfrm>
            <a:off x="6457950" y="3781425"/>
            <a:ext cx="527685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22" name="s05/drawing/s05-content/e106"/>
          <p:cNvSpPr/>
          <p:nvPr/>
        </p:nvSpPr>
        <p:spPr>
          <a:xfrm>
            <a:off x="6457950" y="3371850"/>
            <a:ext cx="14859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GBDT</a:t>
            </a:r>
            <a:endParaRPr lang="zh-CN" sz="2100" dirty="0"/>
          </a:p>
        </p:txBody>
      </p:sp>
      <p:sp>
        <p:nvSpPr>
          <p:cNvPr id="23" name="s05/drawing/s05-content/e107"/>
          <p:cNvSpPr/>
          <p:nvPr/>
        </p:nvSpPr>
        <p:spPr>
          <a:xfrm>
            <a:off x="8134350" y="3371850"/>
            <a:ext cx="1600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0.306</a:t>
            </a:r>
            <a:endParaRPr lang="zh-CN" sz="2100" dirty="0"/>
          </a:p>
        </p:txBody>
      </p:sp>
      <p:sp>
        <p:nvSpPr>
          <p:cNvPr id="24" name="s05/drawing/s05-content/e108"/>
          <p:cNvSpPr/>
          <p:nvPr/>
        </p:nvSpPr>
        <p:spPr>
          <a:xfrm>
            <a:off x="10306050" y="3371850"/>
            <a:ext cx="1428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0.839</a:t>
            </a:r>
            <a:endParaRPr lang="zh-CN" sz="2100" dirty="0"/>
          </a:p>
        </p:txBody>
      </p:sp>
      <p:sp>
        <p:nvSpPr>
          <p:cNvPr id="25" name="s05/drawing/s05-content/e109/segment-1"/>
          <p:cNvSpPr/>
          <p:nvPr/>
        </p:nvSpPr>
        <p:spPr>
          <a:xfrm>
            <a:off x="6457950" y="4333875"/>
            <a:ext cx="527685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26" name="s05/drawing/s05-content/e110"/>
          <p:cNvSpPr/>
          <p:nvPr/>
        </p:nvSpPr>
        <p:spPr>
          <a:xfrm>
            <a:off x="6457950" y="3924300"/>
            <a:ext cx="14859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SVR</a:t>
            </a:r>
            <a:endParaRPr lang="zh-CN" sz="2100" dirty="0"/>
          </a:p>
        </p:txBody>
      </p:sp>
      <p:sp>
        <p:nvSpPr>
          <p:cNvPr id="27" name="s05/drawing/s05-content/e111"/>
          <p:cNvSpPr/>
          <p:nvPr/>
        </p:nvSpPr>
        <p:spPr>
          <a:xfrm>
            <a:off x="8134350" y="3924300"/>
            <a:ext cx="1600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0.489</a:t>
            </a:r>
            <a:endParaRPr lang="zh-CN" sz="2100" dirty="0"/>
          </a:p>
        </p:txBody>
      </p:sp>
      <p:sp>
        <p:nvSpPr>
          <p:cNvPr id="28" name="s05/drawing/s05-content/e112"/>
          <p:cNvSpPr/>
          <p:nvPr/>
        </p:nvSpPr>
        <p:spPr>
          <a:xfrm>
            <a:off x="10306050" y="3924300"/>
            <a:ext cx="1428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0.573</a:t>
            </a:r>
            <a:endParaRPr lang="zh-CN" sz="2100" dirty="0"/>
          </a:p>
        </p:txBody>
      </p:sp>
      <p:sp>
        <p:nvSpPr>
          <p:cNvPr id="29" name="s05/drawing/s05-content/e113"/>
          <p:cNvSpPr/>
          <p:nvPr/>
        </p:nvSpPr>
        <p:spPr>
          <a:xfrm>
            <a:off x="6457950" y="4600575"/>
            <a:ext cx="52768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RMSE单位：t/ha</a:t>
            </a:r>
            <a:endParaRPr lang="zh-CN" sz="1800" dirty="0"/>
          </a:p>
        </p:txBody>
      </p:sp>
      <p:sp>
        <p:nvSpPr>
          <p:cNvPr id="30" name="s05/drawing/s05-content/e114"/>
          <p:cNvSpPr/>
          <p:nvPr/>
        </p:nvSpPr>
        <p:spPr>
          <a:xfrm>
            <a:off x="6457950" y="5105400"/>
            <a:ext cx="527685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低留出误差 ≠ 跨环境泛化。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尚缺空间块与跨年独立测试。</a:t>
            </a:r>
            <a:endParaRPr lang="zh-CN" sz="2100" dirty="0"/>
          </a:p>
        </p:txBody>
      </p:sp>
      <p:sp>
        <p:nvSpPr>
          <p:cNvPr id="31" name="s05/drawing/s05-content/e115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 (2022) · CC BY 4.0 · Fig.4 p.9；只裁取LSTM面板，完整四模型指标按原图重列。</a:t>
            </a:r>
            <a:endParaRPr lang="zh-CN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16</a:t>
            </a:r>
            <a:endParaRPr lang="zh-CN" sz="1350" dirty="0"/>
          </a:p>
        </p:txBody>
      </p:sp>
      <p:sp>
        <p:nvSpPr>
          <p:cNvPr id="3" name="s06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传感器实验提示：空间尺度也在决定误差</a:t>
            </a:r>
            <a:endParaRPr lang="zh-CN" sz="3000" dirty="0"/>
          </a:p>
        </p:txBody>
      </p:sp>
      <p:sp>
        <p:nvSpPr>
          <p:cNvPr id="4" name="s06/drawing/s06-content/e116"/>
          <p:cNvSpPr/>
          <p:nvPr/>
        </p:nvSpPr>
        <p:spPr>
          <a:xfrm>
            <a:off x="457200" y="100965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独立的三指数 × 四期 LSTM 实验</a:t>
            </a:r>
            <a:endParaRPr lang="zh-CN" sz="2100" dirty="0"/>
          </a:p>
        </p:txBody>
      </p:sp>
      <p:sp>
        <p:nvSpPr>
          <p:cNvPr id="5" name="s06/drawing/s06-content/e117"/>
          <p:cNvSpPr/>
          <p:nvPr/>
        </p:nvSpPr>
        <p:spPr>
          <a:xfrm>
            <a:off x="457200" y="1562100"/>
            <a:ext cx="36957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S2 · 10 m</a:t>
            </a:r>
            <a:endParaRPr lang="zh-CN" sz="2100" dirty="0"/>
          </a:p>
        </p:txBody>
      </p:sp>
      <p:sp>
        <p:nvSpPr>
          <p:cNvPr id="6" name="s06/drawing/s06-content/e118"/>
          <p:cNvSpPr/>
          <p:nvPr/>
        </p:nvSpPr>
        <p:spPr>
          <a:xfrm>
            <a:off x="4248150" y="1562100"/>
            <a:ext cx="36957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ZY-1 · 30 m</a:t>
            </a:r>
            <a:endParaRPr lang="zh-CN" sz="2100" dirty="0"/>
          </a:p>
        </p:txBody>
      </p:sp>
      <p:sp>
        <p:nvSpPr>
          <p:cNvPr id="7" name="s06/drawing/s06-content/e119"/>
          <p:cNvSpPr/>
          <p:nvPr/>
        </p:nvSpPr>
        <p:spPr>
          <a:xfrm>
            <a:off x="8039100" y="1562100"/>
            <a:ext cx="36957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S2 · 30 m</a:t>
            </a:r>
            <a:endParaRPr lang="zh-CN" sz="2100" dirty="0"/>
          </a:p>
        </p:txBody>
      </p:sp>
      <p:pic>
        <p:nvPicPr>
          <p:cNvPr id="8" name="s06/drawing/s06-content/e120" descr="Comparison between estimates of the winter wheat yield based on (A) 10-m Sentinel-2, (B) 30-m ZY-1 02D, and (C) 30-m Sentinel-2 da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424" y="2076450"/>
            <a:ext cx="11277152" cy="2867025"/>
          </a:xfrm>
          <a:prstGeom prst="rect">
            <a:avLst/>
          </a:prstGeom>
        </p:spPr>
      </p:pic>
      <p:sp>
        <p:nvSpPr>
          <p:cNvPr id="9" name="s06/drawing/s06-content/e121"/>
          <p:cNvSpPr/>
          <p:nvPr/>
        </p:nvSpPr>
        <p:spPr>
          <a:xfrm>
            <a:off x="457200" y="5124450"/>
            <a:ext cx="369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 0.219 t/ha</a:t>
            </a:r>
            <a:endParaRPr lang="zh-CN" sz="2100" dirty="0"/>
          </a:p>
        </p:txBody>
      </p:sp>
      <p:sp>
        <p:nvSpPr>
          <p:cNvPr id="10" name="s06/drawing/s06-content/e122"/>
          <p:cNvSpPr/>
          <p:nvPr/>
        </p:nvSpPr>
        <p:spPr>
          <a:xfrm>
            <a:off x="457200" y="5572125"/>
            <a:ext cx="3695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 0.914</a:t>
            </a:r>
            <a:endParaRPr lang="zh-CN" sz="1800" dirty="0"/>
          </a:p>
        </p:txBody>
      </p:sp>
      <p:sp>
        <p:nvSpPr>
          <p:cNvPr id="11" name="s06/drawing/s06-content/e123"/>
          <p:cNvSpPr/>
          <p:nvPr/>
        </p:nvSpPr>
        <p:spPr>
          <a:xfrm>
            <a:off x="4248150" y="5124450"/>
            <a:ext cx="369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 0.237 t/ha</a:t>
            </a:r>
            <a:endParaRPr lang="zh-CN" sz="2100" dirty="0"/>
          </a:p>
        </p:txBody>
      </p:sp>
      <p:sp>
        <p:nvSpPr>
          <p:cNvPr id="12" name="s06/drawing/s06-content/e124"/>
          <p:cNvSpPr/>
          <p:nvPr/>
        </p:nvSpPr>
        <p:spPr>
          <a:xfrm>
            <a:off x="4248150" y="5572125"/>
            <a:ext cx="3695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 0.902</a:t>
            </a:r>
            <a:endParaRPr lang="zh-CN" sz="1800" dirty="0"/>
          </a:p>
        </p:txBody>
      </p:sp>
      <p:sp>
        <p:nvSpPr>
          <p:cNvPr id="13" name="s06/drawing/s06-content/e125"/>
          <p:cNvSpPr/>
          <p:nvPr/>
        </p:nvSpPr>
        <p:spPr>
          <a:xfrm>
            <a:off x="8039100" y="5124450"/>
            <a:ext cx="369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 0.307 t/ha</a:t>
            </a:r>
            <a:endParaRPr lang="zh-CN" sz="2100" dirty="0"/>
          </a:p>
        </p:txBody>
      </p:sp>
      <p:sp>
        <p:nvSpPr>
          <p:cNvPr id="14" name="s06/drawing/s06-content/e126"/>
          <p:cNvSpPr/>
          <p:nvPr/>
        </p:nvSpPr>
        <p:spPr>
          <a:xfrm>
            <a:off x="8039100" y="5572125"/>
            <a:ext cx="3695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 0.847</a:t>
            </a:r>
            <a:endParaRPr lang="zh-CN" sz="1800" dirty="0"/>
          </a:p>
        </p:txBody>
      </p:sp>
      <p:sp>
        <p:nvSpPr>
          <p:cNvPr id="15" name="s06/drawing/s06-content/e127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 (2022) · CC BY 4.0 · Fig.6 p.10；原图完整。四月日期原文有04-08/04-28差异；不混用Fig.4的0.201。</a:t>
            </a:r>
            <a:endParaRPr lang="zh-CN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16</a:t>
            </a:r>
            <a:endParaRPr lang="zh-CN" sz="1350" dirty="0"/>
          </a:p>
        </p:txBody>
      </p:sp>
      <p:sp>
        <p:nvSpPr>
          <p:cNvPr id="3" name="s07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状态同化：观测修正SM，模型继续推进生长</a:t>
            </a:r>
            <a:endParaRPr lang="zh-CN" sz="3000" dirty="0"/>
          </a:p>
        </p:txBody>
      </p:sp>
      <p:sp>
        <p:nvSpPr>
          <p:cNvPr id="4" name="s07/drawing/s07-content/e128"/>
          <p:cNvSpPr/>
          <p:nvPr/>
        </p:nvSpPr>
        <p:spPr>
          <a:xfrm>
            <a:off x="457200" y="1009650"/>
            <a:ext cx="2438400" cy="352425"/>
          </a:xfrm>
          <a:prstGeom prst="rect">
            <a:avLst/>
          </a:prstGeom>
          <a:solidFill>
            <a:srgbClr val="176B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7/drawing/s07-content/e129"/>
          <p:cNvSpPr/>
          <p:nvPr/>
        </p:nvSpPr>
        <p:spPr>
          <a:xfrm>
            <a:off x="571500" y="1028700"/>
            <a:ext cx="2209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遥感观测支路</a:t>
            </a:r>
            <a:endParaRPr lang="zh-CN" sz="1800" dirty="0"/>
          </a:p>
        </p:txBody>
      </p:sp>
      <p:sp>
        <p:nvSpPr>
          <p:cNvPr id="6" name="s07/drawing/s07-content/e130"/>
          <p:cNvSpPr/>
          <p:nvPr/>
        </p:nvSpPr>
        <p:spPr>
          <a:xfrm>
            <a:off x="457200" y="1619250"/>
            <a:ext cx="3981450" cy="819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Sentinel-1 VV / 入射角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Sentinel-2 NDVI + 地面标定</a:t>
            </a:r>
            <a:endParaRPr lang="zh-CN" sz="2100" dirty="0"/>
          </a:p>
        </p:txBody>
      </p:sp>
      <p:sp>
        <p:nvSpPr>
          <p:cNvPr id="7" name="s07/drawing/s07-content/e131/segment-1"/>
          <p:cNvSpPr/>
          <p:nvPr/>
        </p:nvSpPr>
        <p:spPr>
          <a:xfrm>
            <a:off x="4610100" y="2019300"/>
            <a:ext cx="609600" cy="0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  <a:tailEnd type="triangle"/>
          </a:ln>
        </p:spPr>
      </p:sp>
      <p:sp>
        <p:nvSpPr>
          <p:cNvPr id="8" name="s07/drawing/s07-content/e132"/>
          <p:cNvSpPr/>
          <p:nvPr/>
        </p:nvSpPr>
        <p:spPr>
          <a:xfrm>
            <a:off x="5381625" y="1600200"/>
            <a:ext cx="2590800" cy="838200"/>
          </a:xfrm>
          <a:prstGeom prst="rect">
            <a:avLst/>
          </a:prstGeom>
          <a:solidFill>
            <a:srgbClr val="E8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7/drawing/s07-content/e133"/>
          <p:cNvSpPr/>
          <p:nvPr/>
        </p:nvSpPr>
        <p:spPr>
          <a:xfrm>
            <a:off x="5553075" y="1666875"/>
            <a:ext cx="224790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水云模型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反演观测 SM</a:t>
            </a:r>
            <a:endParaRPr lang="zh-CN" sz="2100" dirty="0"/>
          </a:p>
        </p:txBody>
      </p:sp>
      <p:sp>
        <p:nvSpPr>
          <p:cNvPr id="10" name="s07/drawing/s07-content/e134/segment-1"/>
          <p:cNvSpPr/>
          <p:nvPr/>
        </p:nvSpPr>
        <p:spPr>
          <a:xfrm>
            <a:off x="8143875" y="2019300"/>
            <a:ext cx="695325" cy="0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  <a:tailEnd type="triangle"/>
          </a:ln>
        </p:spPr>
      </p:sp>
      <p:sp>
        <p:nvSpPr>
          <p:cNvPr id="11" name="s07/drawing/s07-content/e135"/>
          <p:cNvSpPr/>
          <p:nvPr/>
        </p:nvSpPr>
        <p:spPr>
          <a:xfrm>
            <a:off x="9010650" y="1600200"/>
            <a:ext cx="2724150" cy="838200"/>
          </a:xfrm>
          <a:prstGeom prst="rect">
            <a:avLst/>
          </a:prstGeom>
          <a:solidFill>
            <a:srgbClr val="E8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7/drawing/s07-content/e136"/>
          <p:cNvSpPr/>
          <p:nvPr/>
        </p:nvSpPr>
        <p:spPr>
          <a:xfrm>
            <a:off x="9182100" y="1666875"/>
            <a:ext cx="238125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观测集合 y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 7%</a:t>
            </a:r>
            <a:endParaRPr lang="zh-CN" sz="2100" dirty="0"/>
          </a:p>
        </p:txBody>
      </p:sp>
      <p:sp>
        <p:nvSpPr>
          <p:cNvPr id="13" name="s07/drawing/s07-content/e137"/>
          <p:cNvSpPr/>
          <p:nvPr/>
        </p:nvSpPr>
        <p:spPr>
          <a:xfrm>
            <a:off x="457200" y="2933700"/>
            <a:ext cx="2438400" cy="352425"/>
          </a:xfrm>
          <a:prstGeom prst="rect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7/drawing/s07-content/e138"/>
          <p:cNvSpPr/>
          <p:nvPr/>
        </p:nvSpPr>
        <p:spPr>
          <a:xfrm>
            <a:off x="571500" y="2952750"/>
            <a:ext cx="2209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作物过程支路</a:t>
            </a:r>
            <a:endParaRPr lang="zh-CN" sz="1800" dirty="0"/>
          </a:p>
        </p:txBody>
      </p:sp>
      <p:sp>
        <p:nvSpPr>
          <p:cNvPr id="15" name="s07/drawing/s07-content/e139"/>
          <p:cNvSpPr/>
          <p:nvPr/>
        </p:nvSpPr>
        <p:spPr>
          <a:xfrm>
            <a:off x="457200" y="3543300"/>
            <a:ext cx="2571750" cy="819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 / 作物参数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气象与灌溉设定</a:t>
            </a:r>
            <a:endParaRPr lang="zh-CN" sz="2100" dirty="0"/>
          </a:p>
        </p:txBody>
      </p:sp>
      <p:sp>
        <p:nvSpPr>
          <p:cNvPr id="16" name="s07/drawing/s07-content/e140/segment-1"/>
          <p:cNvSpPr/>
          <p:nvPr/>
        </p:nvSpPr>
        <p:spPr>
          <a:xfrm>
            <a:off x="3200400" y="3933825"/>
            <a:ext cx="571500" cy="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  <a:tailEnd type="triangle"/>
          </a:ln>
        </p:spPr>
      </p:sp>
      <p:sp>
        <p:nvSpPr>
          <p:cNvPr id="17" name="s07/drawing/s07-content/e141"/>
          <p:cNvSpPr/>
          <p:nvPr/>
        </p:nvSpPr>
        <p:spPr>
          <a:xfrm>
            <a:off x="3943350" y="3486150"/>
            <a:ext cx="2324100" cy="914400"/>
          </a:xfrm>
          <a:prstGeom prst="rect">
            <a:avLst/>
          </a:prstGeom>
          <a:solidFill>
            <a:srgbClr val="ED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7/drawing/s07-content/e142"/>
          <p:cNvSpPr/>
          <p:nvPr/>
        </p:nvSpPr>
        <p:spPr>
          <a:xfrm>
            <a:off x="4114800" y="3581400"/>
            <a:ext cx="198120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WOFOST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预报状态 SM</a:t>
            </a:r>
            <a:endParaRPr lang="zh-CN" sz="2100" dirty="0"/>
          </a:p>
        </p:txBody>
      </p:sp>
      <p:sp>
        <p:nvSpPr>
          <p:cNvPr id="19" name="s07/drawing/s07-content/e143/segment-1"/>
          <p:cNvSpPr/>
          <p:nvPr/>
        </p:nvSpPr>
        <p:spPr>
          <a:xfrm>
            <a:off x="6438900" y="3933825"/>
            <a:ext cx="590550" cy="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  <a:tailEnd type="triangle"/>
          </a:ln>
        </p:spPr>
      </p:sp>
      <p:sp>
        <p:nvSpPr>
          <p:cNvPr id="20" name="s07/drawing/s07-content/e144"/>
          <p:cNvSpPr/>
          <p:nvPr/>
        </p:nvSpPr>
        <p:spPr>
          <a:xfrm>
            <a:off x="7200900" y="3486150"/>
            <a:ext cx="2571750" cy="914400"/>
          </a:xfrm>
          <a:prstGeom prst="rect">
            <a:avLst/>
          </a:prstGeom>
          <a:solidFill>
            <a:srgbClr val="ED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7/drawing/s07-content/e145"/>
          <p:cNvSpPr/>
          <p:nvPr/>
        </p:nvSpPr>
        <p:spPr>
          <a:xfrm>
            <a:off x="7372350" y="3581400"/>
            <a:ext cx="222885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EnKF 状态分析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50成员</a:t>
            </a:r>
            <a:endParaRPr lang="zh-CN" sz="2100" dirty="0"/>
          </a:p>
        </p:txBody>
      </p:sp>
      <p:sp>
        <p:nvSpPr>
          <p:cNvPr id="22" name="s07/drawing/s07-content/e146/segment-1"/>
          <p:cNvSpPr/>
          <p:nvPr/>
        </p:nvSpPr>
        <p:spPr>
          <a:xfrm>
            <a:off x="10372725" y="2609850"/>
            <a:ext cx="0" cy="523875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</a:ln>
        </p:spPr>
      </p:sp>
      <p:sp>
        <p:nvSpPr>
          <p:cNvPr id="23" name="s07/drawing/s07-content/e146/segment-2"/>
          <p:cNvSpPr/>
          <p:nvPr/>
        </p:nvSpPr>
        <p:spPr>
          <a:xfrm flipH="1">
            <a:off x="8467725" y="3133725"/>
            <a:ext cx="1905000" cy="0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</a:ln>
        </p:spPr>
      </p:sp>
      <p:sp>
        <p:nvSpPr>
          <p:cNvPr id="24" name="s07/drawing/s07-content/e146/segment-3"/>
          <p:cNvSpPr/>
          <p:nvPr/>
        </p:nvSpPr>
        <p:spPr>
          <a:xfrm>
            <a:off x="8467725" y="3133725"/>
            <a:ext cx="0" cy="219075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  <a:tailEnd type="triangle"/>
          </a:ln>
        </p:spPr>
      </p:sp>
      <p:sp>
        <p:nvSpPr>
          <p:cNvPr id="25" name="s07/drawing/s07-content/e147"/>
          <p:cNvSpPr/>
          <p:nvPr/>
        </p:nvSpPr>
        <p:spPr>
          <a:xfrm>
            <a:off x="8782050" y="2714625"/>
            <a:ext cx="15049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观测可用时</a:t>
            </a:r>
            <a:endParaRPr lang="zh-CN" sz="1800" dirty="0"/>
          </a:p>
        </p:txBody>
      </p:sp>
      <p:sp>
        <p:nvSpPr>
          <p:cNvPr id="26" name="s07/drawing/s07-content/e148/segment-1"/>
          <p:cNvSpPr/>
          <p:nvPr/>
        </p:nvSpPr>
        <p:spPr>
          <a:xfrm>
            <a:off x="8477250" y="4552950"/>
            <a:ext cx="0" cy="371475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</a:ln>
        </p:spPr>
      </p:sp>
      <p:sp>
        <p:nvSpPr>
          <p:cNvPr id="27" name="s07/drawing/s07-content/e148/segment-2"/>
          <p:cNvSpPr/>
          <p:nvPr/>
        </p:nvSpPr>
        <p:spPr>
          <a:xfrm flipH="1">
            <a:off x="5105400" y="4924425"/>
            <a:ext cx="3371850" cy="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</a:ln>
        </p:spPr>
      </p:sp>
      <p:sp>
        <p:nvSpPr>
          <p:cNvPr id="28" name="s07/drawing/s07-content/e148/segment-3"/>
          <p:cNvSpPr/>
          <p:nvPr/>
        </p:nvSpPr>
        <p:spPr>
          <a:xfrm flipV="1">
            <a:off x="5105400" y="4552950"/>
            <a:ext cx="0" cy="371475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  <a:tailEnd type="triangle"/>
          </a:ln>
        </p:spPr>
      </p:sp>
      <p:sp>
        <p:nvSpPr>
          <p:cNvPr id="29" name="s07/drawing/s07-content/e149"/>
          <p:cNvSpPr/>
          <p:nvPr/>
        </p:nvSpPr>
        <p:spPr>
          <a:xfrm>
            <a:off x="457200" y="5133975"/>
            <a:ext cx="2476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最终产量</a:t>
            </a:r>
            <a:endParaRPr lang="zh-CN" sz="2100" dirty="0"/>
          </a:p>
        </p:txBody>
      </p:sp>
      <p:sp>
        <p:nvSpPr>
          <p:cNvPr id="30" name="s07/drawing/s07-content/e150/segment-1"/>
          <p:cNvSpPr/>
          <p:nvPr/>
        </p:nvSpPr>
        <p:spPr>
          <a:xfrm>
            <a:off x="4267200" y="4552950"/>
            <a:ext cx="0" cy="771525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</a:ln>
        </p:spPr>
      </p:sp>
      <p:sp>
        <p:nvSpPr>
          <p:cNvPr id="31" name="s07/drawing/s07-content/e150/segment-2"/>
          <p:cNvSpPr/>
          <p:nvPr/>
        </p:nvSpPr>
        <p:spPr>
          <a:xfrm flipH="1">
            <a:off x="3124200" y="5324475"/>
            <a:ext cx="1143000" cy="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  <a:tailEnd type="triangle"/>
          </a:ln>
        </p:spPr>
      </p:sp>
      <p:sp>
        <p:nvSpPr>
          <p:cNvPr id="32" name="s07/drawing/s07-content/e151"/>
          <p:cNvSpPr/>
          <p:nvPr/>
        </p:nvSpPr>
        <p:spPr>
          <a:xfrm>
            <a:off x="4629150" y="5229225"/>
            <a:ext cx="71056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分析SM返回WOFOST；产量由作物模型输出</a:t>
            </a:r>
            <a:endParaRPr lang="zh-CN" sz="2100" dirty="0"/>
          </a:p>
        </p:txBody>
      </p:sp>
      <p:sp>
        <p:nvSpPr>
          <p:cNvPr id="33" name="s07/drawing/s07-content/e152"/>
          <p:cNvSpPr/>
          <p:nvPr/>
        </p:nvSpPr>
        <p:spPr>
          <a:xfrm>
            <a:off x="457200" y="5676900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状态修正 = 预报状态 + K ×（观测 − 预报状态）</a:t>
            </a:r>
            <a:endParaRPr lang="zh-CN" sz="1800" dirty="0"/>
          </a:p>
        </p:txBody>
      </p:sp>
      <p:sp>
        <p:nvSpPr>
          <p:cNvPr id="34" name="s07/drawing/s07-content/e153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 et al. (2019) · CC BY 4.0 · §2.4–2.6 / Fig.3；模型SM扰动10%，三期观测；流程按原文重绘。</a:t>
            </a:r>
            <a:endParaRPr lang="zh-CN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16</a:t>
            </a:r>
            <a:endParaRPr lang="zh-CN" sz="1350" dirty="0"/>
          </a:p>
        </p:txBody>
      </p:sp>
      <p:sp>
        <p:nvSpPr>
          <p:cNvPr id="3" name="s08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同化降低产量误差，仍未充分恢复高产端变异</a:t>
            </a:r>
            <a:endParaRPr lang="zh-CN" sz="3000" dirty="0"/>
          </a:p>
        </p:txBody>
      </p:sp>
      <p:sp>
        <p:nvSpPr>
          <p:cNvPr id="4" name="s08/drawing/s08-content/e154"/>
          <p:cNvSpPr/>
          <p:nvPr/>
        </p:nvSpPr>
        <p:spPr>
          <a:xfrm>
            <a:off x="457200" y="100965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衡水2017 · 110个产量样点 · 10 m WOFOST · 误差单位kg/ha</a:t>
            </a:r>
            <a:endParaRPr lang="zh-CN" sz="2100" dirty="0"/>
          </a:p>
        </p:txBody>
      </p:sp>
      <p:pic>
        <p:nvPicPr>
          <p:cNvPr id="5" name="s08/drawing/s08-content/e155" descr="Figure 8. Winter wheat yield estimation ( a ) without assimilation and ( b ) with EnKF assimilation.">    </p:cNvPr>
          <p:cNvPicPr>
            <a:picLocks noChangeAspect="1"/>
          </p:cNvPicPr>
          <p:nvPr/>
        </p:nvPicPr>
        <p:blipFill>
          <a:blip r:embed="rId1"/>
          <a:srcRect l="0" r="0" t="0" b="10000"/>
          <a:stretch/>
        </p:blipFill>
        <p:spPr>
          <a:xfrm>
            <a:off x="1916300" y="1866900"/>
            <a:ext cx="8359399" cy="4095750"/>
          </a:xfrm>
          <a:prstGeom prst="rect">
            <a:avLst/>
          </a:prstGeom>
        </p:spPr>
      </p:pic>
      <p:sp>
        <p:nvSpPr>
          <p:cNvPr id="6" name="s08/drawing/s08-content/e156"/>
          <p:cNvSpPr/>
          <p:nvPr/>
        </p:nvSpPr>
        <p:spPr>
          <a:xfrm>
            <a:off x="457200" y="1447800"/>
            <a:ext cx="55435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无同化 · RMSE 1,330 kg/ha · R² 0.21</a:t>
            </a:r>
            <a:endParaRPr lang="zh-CN" sz="2100" dirty="0"/>
          </a:p>
        </p:txBody>
      </p:sp>
      <p:sp>
        <p:nvSpPr>
          <p:cNvPr id="7" name="s08/drawing/s08-content/e157"/>
          <p:cNvSpPr/>
          <p:nvPr/>
        </p:nvSpPr>
        <p:spPr>
          <a:xfrm>
            <a:off x="6400800" y="14478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EnKF · RMSE 934 kg/ha · R² 0.35</a:t>
            </a:r>
            <a:endParaRPr lang="zh-CN" sz="2100" dirty="0"/>
          </a:p>
        </p:txBody>
      </p:sp>
      <p:sp>
        <p:nvSpPr>
          <p:cNvPr id="8" name="s08/drawing/s08-content/e158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 et al. (2019) · CC BY 4.0 · Fig.8 p.12；裁去底部代号/空白，轴与数据完整；黑虚线为1:1线。</a:t>
            </a:r>
            <a:endParaRPr lang="zh-CN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16</a:t>
            </a:r>
            <a:endParaRPr lang="zh-CN" sz="1350" dirty="0"/>
          </a:p>
        </p:txBody>
      </p:sp>
      <p:sp>
        <p:nvSpPr>
          <p:cNvPr id="3" name="s09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观测能改写水分轨迹，表层与根区却未必一致</a:t>
            </a:r>
            <a:endParaRPr lang="zh-CN" sz="3000" dirty="0"/>
          </a:p>
        </p:txBody>
      </p:sp>
      <p:sp>
        <p:nvSpPr>
          <p:cNvPr id="4" name="s09/drawing/s09-content/e159"/>
          <p:cNvSpPr/>
          <p:nvPr/>
        </p:nvSpPr>
        <p:spPr>
          <a:xfrm>
            <a:off x="457200" y="1009650"/>
            <a:ext cx="11277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深州一个样点的过程示例 · 原图完整时间轴与图例</a:t>
            </a:r>
            <a:endParaRPr lang="zh-CN" sz="1800" dirty="0"/>
          </a:p>
        </p:txBody>
      </p:sp>
      <p:pic>
        <p:nvPicPr>
          <p:cNvPr id="5" name="s09/drawing/s09-content/e160" descr="Figure 6. Comparison of the SM curves simulated by WOFOST model with and without the EnKF-based assimilation method (a sample point in Shenzhou county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3530" y="1409700"/>
            <a:ext cx="8564940" cy="3924300"/>
          </a:xfrm>
          <a:prstGeom prst="rect">
            <a:avLst/>
          </a:prstGeom>
        </p:spPr>
      </p:pic>
      <p:sp>
        <p:nvSpPr>
          <p:cNvPr id="6" name="s09/drawing/s09-content/e161"/>
          <p:cNvSpPr/>
          <p:nvPr/>
        </p:nvSpPr>
        <p:spPr>
          <a:xfrm>
            <a:off x="457200" y="5362575"/>
            <a:ext cx="6629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0–10 cm 表层观测  ↔  根区平均 SM</a:t>
            </a:r>
            <a:endParaRPr lang="zh-CN" sz="2100" dirty="0"/>
          </a:p>
        </p:txBody>
      </p:sp>
      <p:sp>
        <p:nvSpPr>
          <p:cNvPr id="7" name="s09/drawing/s09-content/e162"/>
          <p:cNvSpPr/>
          <p:nvPr/>
        </p:nvSpPr>
        <p:spPr>
          <a:xfrm>
            <a:off x="8934450" y="5362575"/>
            <a:ext cx="28003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仅三期更新</a:t>
            </a:r>
            <a:endParaRPr lang="zh-CN" sz="2100" dirty="0"/>
          </a:p>
        </p:txBody>
      </p:sp>
      <p:sp>
        <p:nvSpPr>
          <p:cNvPr id="8" name="s09/drawing/s09-content/e163"/>
          <p:cNvSpPr/>
          <p:nvPr/>
        </p:nvSpPr>
        <p:spPr>
          <a:xfrm>
            <a:off x="457200" y="5772150"/>
            <a:ext cx="11277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SM反演RMSE：9.16%、7.43%、8.53%（含水量百分数尺度）</a:t>
            </a:r>
            <a:endParaRPr lang="zh-CN" sz="1800" dirty="0"/>
          </a:p>
        </p:txBody>
      </p:sp>
      <p:sp>
        <p:nvSpPr>
          <p:cNvPr id="9" name="s09/drawing/s09-content/e164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 et al. (2019) · CC BY 4.0 · Fig.6 p.11、§4.1–4.2 pp.13–14；灰=EnKF，蓝=有灌溉WOFOST，绿=无灌溉。</a:t>
            </a:r>
            <a:endParaRPr lang="zh-CN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16</a:t>
            </a:r>
            <a:endParaRPr lang="zh-CN" sz="1350" dirty="0"/>
          </a:p>
        </p:txBody>
      </p:sp>
      <p:sp>
        <p:nvSpPr>
          <p:cNvPr id="3" name="s10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机理特征融合：把过程模拟放进学习器输入</a:t>
            </a:r>
            <a:endParaRPr lang="zh-CN" sz="3000" dirty="0"/>
          </a:p>
        </p:txBody>
      </p:sp>
      <p:sp>
        <p:nvSpPr>
          <p:cNvPr id="4" name="s10/drawing/s10-content/e165"/>
          <p:cNvSpPr/>
          <p:nvPr/>
        </p:nvSpPr>
        <p:spPr>
          <a:xfrm>
            <a:off x="457200" y="1200150"/>
            <a:ext cx="2952750" cy="1314450"/>
          </a:xfrm>
          <a:prstGeom prst="rect">
            <a:avLst/>
          </a:prstGeom>
          <a:solidFill>
            <a:srgbClr val="EDF1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10/drawing/s10-content/e166"/>
          <p:cNvSpPr/>
          <p:nvPr/>
        </p:nvSpPr>
        <p:spPr>
          <a:xfrm>
            <a:off x="628650" y="1323975"/>
            <a:ext cx="26098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天气 / 土壤 / 管理</a:t>
            </a:r>
            <a:endParaRPr lang="zh-CN" sz="2100" dirty="0"/>
          </a:p>
        </p:txBody>
      </p:sp>
      <p:sp>
        <p:nvSpPr>
          <p:cNvPr id="6" name="s10/drawing/s10-content/e167"/>
          <p:cNvSpPr/>
          <p:nvPr/>
        </p:nvSpPr>
        <p:spPr>
          <a:xfrm>
            <a:off x="628650" y="1876425"/>
            <a:ext cx="26098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原始环境与管理特征</a:t>
            </a:r>
            <a:endParaRPr lang="zh-CN" sz="1800" dirty="0"/>
          </a:p>
        </p:txBody>
      </p:sp>
      <p:sp>
        <p:nvSpPr>
          <p:cNvPr id="7" name="s10/drawing/s10-content/e168/segment-1"/>
          <p:cNvSpPr/>
          <p:nvPr/>
        </p:nvSpPr>
        <p:spPr>
          <a:xfrm>
            <a:off x="3581400" y="1838325"/>
            <a:ext cx="723900" cy="0"/>
          </a:xfrm>
          <a:prstGeom prst="line">
            <a:avLst/>
          </a:prstGeom>
          <a:noFill/>
          <a:ln w="28575">
            <a:solidFill>
              <a:srgbClr val="546479"/>
            </a:solidFill>
            <a:prstDash val="solid"/>
            <a:tailEnd type="triangle"/>
          </a:ln>
        </p:spPr>
      </p:sp>
      <p:sp>
        <p:nvSpPr>
          <p:cNvPr id="8" name="s10/drawing/s10-content/e169"/>
          <p:cNvSpPr/>
          <p:nvPr/>
        </p:nvSpPr>
        <p:spPr>
          <a:xfrm>
            <a:off x="4476750" y="1247775"/>
            <a:ext cx="2705100" cy="1200150"/>
          </a:xfrm>
          <a:prstGeom prst="rect">
            <a:avLst/>
          </a:prstGeom>
          <a:solidFill>
            <a:srgbClr val="ED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10/drawing/s10-content/e170"/>
          <p:cNvSpPr/>
          <p:nvPr/>
        </p:nvSpPr>
        <p:spPr>
          <a:xfrm>
            <a:off x="4667250" y="1390650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APSIM v7.9</a:t>
            </a:r>
            <a:endParaRPr lang="zh-CN" sz="2100" dirty="0"/>
          </a:p>
        </p:txBody>
      </p:sp>
      <p:sp>
        <p:nvSpPr>
          <p:cNvPr id="10" name="s10/drawing/s10-content/e171"/>
          <p:cNvSpPr/>
          <p:nvPr/>
        </p:nvSpPr>
        <p:spPr>
          <a:xfrm>
            <a:off x="4667250" y="1933575"/>
            <a:ext cx="2324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网格模拟 → 县级汇总</a:t>
            </a:r>
            <a:endParaRPr lang="zh-CN" sz="1800" dirty="0"/>
          </a:p>
        </p:txBody>
      </p:sp>
      <p:sp>
        <p:nvSpPr>
          <p:cNvPr id="11" name="s10/drawing/s10-content/e172/segment-1"/>
          <p:cNvSpPr/>
          <p:nvPr/>
        </p:nvSpPr>
        <p:spPr>
          <a:xfrm>
            <a:off x="7353300" y="1838325"/>
            <a:ext cx="685800" cy="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  <a:tailEnd type="triangle"/>
          </a:ln>
        </p:spPr>
      </p:sp>
      <p:sp>
        <p:nvSpPr>
          <p:cNvPr id="12" name="s10/drawing/s10-content/e173"/>
          <p:cNvSpPr/>
          <p:nvPr/>
        </p:nvSpPr>
        <p:spPr>
          <a:xfrm>
            <a:off x="8210550" y="1200150"/>
            <a:ext cx="3524250" cy="1314450"/>
          </a:xfrm>
          <a:prstGeom prst="rect">
            <a:avLst/>
          </a:prstGeom>
          <a:solidFill>
            <a:srgbClr val="ED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10/drawing/s10-content/e174"/>
          <p:cNvSpPr/>
          <p:nvPr/>
        </p:nvSpPr>
        <p:spPr>
          <a:xfrm>
            <a:off x="8382000" y="1343025"/>
            <a:ext cx="31813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22项过程特征</a:t>
            </a:r>
            <a:endParaRPr lang="zh-CN" sz="2100" dirty="0"/>
          </a:p>
        </p:txBody>
      </p:sp>
      <p:sp>
        <p:nvSpPr>
          <p:cNvPr id="14" name="s10/drawing/s10-content/e175"/>
          <p:cNvSpPr/>
          <p:nvPr/>
        </p:nvSpPr>
        <p:spPr>
          <a:xfrm>
            <a:off x="8382000" y="1905000"/>
            <a:ext cx="3181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水分胁迫、物候、生物量…</a:t>
            </a:r>
            <a:endParaRPr lang="zh-CN" sz="1800" dirty="0"/>
          </a:p>
        </p:txBody>
      </p:sp>
      <p:sp>
        <p:nvSpPr>
          <p:cNvPr id="15" name="s10/drawing/s10-content/e176"/>
          <p:cNvSpPr/>
          <p:nvPr/>
        </p:nvSpPr>
        <p:spPr>
          <a:xfrm>
            <a:off x="4476750" y="3276600"/>
            <a:ext cx="2705100" cy="1104900"/>
          </a:xfrm>
          <a:prstGeom prst="rect">
            <a:avLst/>
          </a:prstGeom>
          <a:solidFill>
            <a:srgbClr val="E8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0/drawing/s10-content/e177"/>
          <p:cNvSpPr/>
          <p:nvPr/>
        </p:nvSpPr>
        <p:spPr>
          <a:xfrm>
            <a:off x="4667250" y="3438525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机器学习 / 集成</a:t>
            </a:r>
            <a:endParaRPr lang="zh-CN" sz="2100" dirty="0"/>
          </a:p>
        </p:txBody>
      </p:sp>
      <p:sp>
        <p:nvSpPr>
          <p:cNvPr id="17" name="s10/drawing/s10-content/e178"/>
          <p:cNvSpPr/>
          <p:nvPr/>
        </p:nvSpPr>
        <p:spPr>
          <a:xfrm>
            <a:off x="4667250" y="3962400"/>
            <a:ext cx="2324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5基础 + 6集成模型</a:t>
            </a:r>
            <a:endParaRPr lang="zh-CN" sz="1800" dirty="0"/>
          </a:p>
        </p:txBody>
      </p:sp>
      <p:sp>
        <p:nvSpPr>
          <p:cNvPr id="18" name="s10/drawing/s10-content/e179/segment-1"/>
          <p:cNvSpPr/>
          <p:nvPr/>
        </p:nvSpPr>
        <p:spPr>
          <a:xfrm>
            <a:off x="1933575" y="2686050"/>
            <a:ext cx="0" cy="1143000"/>
          </a:xfrm>
          <a:prstGeom prst="line">
            <a:avLst/>
          </a:prstGeom>
          <a:noFill/>
          <a:ln w="28575">
            <a:solidFill>
              <a:srgbClr val="546479"/>
            </a:solidFill>
            <a:prstDash val="solid"/>
          </a:ln>
        </p:spPr>
      </p:sp>
      <p:sp>
        <p:nvSpPr>
          <p:cNvPr id="19" name="s10/drawing/s10-content/e179/segment-2"/>
          <p:cNvSpPr/>
          <p:nvPr/>
        </p:nvSpPr>
        <p:spPr>
          <a:xfrm>
            <a:off x="1933575" y="3829050"/>
            <a:ext cx="2371725" cy="0"/>
          </a:xfrm>
          <a:prstGeom prst="line">
            <a:avLst/>
          </a:prstGeom>
          <a:noFill/>
          <a:ln w="28575">
            <a:solidFill>
              <a:srgbClr val="546479"/>
            </a:solidFill>
            <a:prstDash val="solid"/>
            <a:tailEnd type="triangle"/>
          </a:ln>
        </p:spPr>
      </p:sp>
      <p:sp>
        <p:nvSpPr>
          <p:cNvPr id="20" name="s10/drawing/s10-content/e180/segment-1"/>
          <p:cNvSpPr/>
          <p:nvPr/>
        </p:nvSpPr>
        <p:spPr>
          <a:xfrm>
            <a:off x="9953625" y="2686050"/>
            <a:ext cx="0" cy="114300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</a:ln>
        </p:spPr>
      </p:sp>
      <p:sp>
        <p:nvSpPr>
          <p:cNvPr id="21" name="s10/drawing/s10-content/e180/segment-2"/>
          <p:cNvSpPr/>
          <p:nvPr/>
        </p:nvSpPr>
        <p:spPr>
          <a:xfrm flipH="1">
            <a:off x="7353300" y="3829050"/>
            <a:ext cx="2600325" cy="0"/>
          </a:xfrm>
          <a:prstGeom prst="line">
            <a:avLst/>
          </a:prstGeom>
          <a:noFill/>
          <a:ln w="28575">
            <a:solidFill>
              <a:srgbClr val="477653"/>
            </a:solidFill>
            <a:prstDash val="solid"/>
            <a:tailEnd type="triangle"/>
          </a:ln>
        </p:spPr>
      </p:sp>
      <p:sp>
        <p:nvSpPr>
          <p:cNvPr id="22" name="s10/drawing/s10-content/e181/segment-1"/>
          <p:cNvSpPr/>
          <p:nvPr/>
        </p:nvSpPr>
        <p:spPr>
          <a:xfrm>
            <a:off x="5829300" y="4552950"/>
            <a:ext cx="0" cy="390525"/>
          </a:xfrm>
          <a:prstGeom prst="line">
            <a:avLst/>
          </a:prstGeom>
          <a:noFill/>
          <a:ln w="28575">
            <a:solidFill>
              <a:srgbClr val="546479"/>
            </a:solidFill>
            <a:prstDash val="solid"/>
            <a:tailEnd type="triangle"/>
          </a:ln>
        </p:spPr>
      </p:sp>
      <p:sp>
        <p:nvSpPr>
          <p:cNvPr id="23" name="s10/drawing/s10-content/e182"/>
          <p:cNvSpPr/>
          <p:nvPr/>
        </p:nvSpPr>
        <p:spPr>
          <a:xfrm>
            <a:off x="4495800" y="5086350"/>
            <a:ext cx="26860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县级产量估计</a:t>
            </a:r>
            <a:endParaRPr lang="zh-CN" sz="2100" dirty="0"/>
          </a:p>
        </p:txBody>
      </p:sp>
      <p:sp>
        <p:nvSpPr>
          <p:cNvPr id="24" name="s10/drawing/s10-content/e183"/>
          <p:cNvSpPr/>
          <p:nvPr/>
        </p:nvSpPr>
        <p:spPr>
          <a:xfrm>
            <a:off x="457200" y="4733925"/>
            <a:ext cx="29527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实测县产量</a:t>
            </a:r>
            <a:endParaRPr lang="zh-CN" sz="2100" dirty="0"/>
          </a:p>
        </p:txBody>
      </p:sp>
      <p:sp>
        <p:nvSpPr>
          <p:cNvPr id="25" name="s10/drawing/s10-content/e184/segment-1"/>
          <p:cNvSpPr/>
          <p:nvPr/>
        </p:nvSpPr>
        <p:spPr>
          <a:xfrm>
            <a:off x="3590925" y="4933950"/>
            <a:ext cx="409575" cy="0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</a:ln>
        </p:spPr>
      </p:sp>
      <p:sp>
        <p:nvSpPr>
          <p:cNvPr id="26" name="s10/drawing/s10-content/e184/segment-2"/>
          <p:cNvSpPr/>
          <p:nvPr/>
        </p:nvSpPr>
        <p:spPr>
          <a:xfrm flipV="1">
            <a:off x="4000500" y="4124325"/>
            <a:ext cx="0" cy="809625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</a:ln>
        </p:spPr>
      </p:sp>
      <p:sp>
        <p:nvSpPr>
          <p:cNvPr id="27" name="s10/drawing/s10-content/e184/segment-3"/>
          <p:cNvSpPr/>
          <p:nvPr/>
        </p:nvSpPr>
        <p:spPr>
          <a:xfrm>
            <a:off x="4000500" y="4124325"/>
            <a:ext cx="304800" cy="0"/>
          </a:xfrm>
          <a:prstGeom prst="line">
            <a:avLst/>
          </a:prstGeom>
          <a:noFill/>
          <a:ln w="28575">
            <a:solidFill>
              <a:srgbClr val="176B93"/>
            </a:solidFill>
            <a:prstDash val="solid"/>
            <a:tailEnd type="triangle"/>
          </a:ln>
        </p:spPr>
      </p:sp>
      <p:sp>
        <p:nvSpPr>
          <p:cNvPr id="28" name="s10/drawing/s10-content/e185"/>
          <p:cNvSpPr/>
          <p:nvPr/>
        </p:nvSpPr>
        <p:spPr>
          <a:xfrm>
            <a:off x="457200" y="5200650"/>
            <a:ext cx="2952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监督目标</a:t>
            </a:r>
            <a:endParaRPr lang="zh-CN" sz="1800" dirty="0"/>
          </a:p>
        </p:txBody>
      </p:sp>
      <p:sp>
        <p:nvSpPr>
          <p:cNvPr id="29" name="s10/drawing/s10-content/e186"/>
          <p:cNvSpPr/>
          <p:nvPr/>
        </p:nvSpPr>
        <p:spPr>
          <a:xfrm>
            <a:off x="7924800" y="4695825"/>
            <a:ext cx="38100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293县 · 10,016县—年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1984–2018；分别留三年</a:t>
            </a:r>
            <a:endParaRPr lang="zh-CN" sz="2100" dirty="0"/>
          </a:p>
        </p:txBody>
      </p:sp>
      <p:sp>
        <p:nvSpPr>
          <p:cNvPr id="30" name="s10/drawing/s10-content/e187"/>
          <p:cNvSpPr/>
          <p:nvPr/>
        </p:nvSpPr>
        <p:spPr>
          <a:xfrm>
            <a:off x="457200" y="5657850"/>
            <a:ext cx="11277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测试年完整天气已知；遥感输入尚未在本文实施。</a:t>
            </a:r>
            <a:endParaRPr lang="zh-CN" sz="2100" dirty="0"/>
          </a:p>
        </p:txBody>
      </p:sp>
      <p:sp>
        <p:nvSpPr>
          <p:cNvPr id="31" name="s10/drawing/s10-content/e188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et al. (2021) · CC BY 4.0 · Fig.1、Table 1、Methods pp.3–8、Discussion pp.12–13；流程按原文重绘。</a:t>
            </a:r>
            <a:endParaRPr lang="zh-CN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16</a:t>
            </a:r>
            <a:endParaRPr lang="zh-CN" sz="1350" dirty="0"/>
          </a:p>
        </p:txBody>
      </p:sp>
      <p:sp>
        <p:nvSpPr>
          <p:cNvPr id="3" name="s11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常规年份：通常改善，幅度依模型与年份变化</a:t>
            </a:r>
            <a:endParaRPr lang="zh-CN" sz="3000" dirty="0"/>
          </a:p>
        </p:txBody>
      </p:sp>
      <p:sp>
        <p:nvSpPr>
          <p:cNvPr id="4" name="s11/drawing/s11-content/e189"/>
          <p:cNvSpPr/>
          <p:nvPr/>
        </p:nvSpPr>
        <p:spPr>
          <a:xfrm>
            <a:off x="457200" y="100965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同一模型：灰 = 无APSIM；绿 = +22项APSIM特征。误差单位 kg/ha</a:t>
            </a:r>
            <a:endParaRPr lang="zh-CN" sz="2100" dirty="0"/>
          </a:p>
        </p:txBody>
      </p:sp>
      <p:sp>
        <p:nvSpPr>
          <p:cNvPr id="5" name="s11/drawing/s11-content/e190"/>
          <p:cNvSpPr/>
          <p:nvPr/>
        </p:nvSpPr>
        <p:spPr>
          <a:xfrm>
            <a:off x="2552700" y="1485900"/>
            <a:ext cx="43243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2018</a:t>
            </a:r>
            <a:endParaRPr lang="zh-CN" sz="2400" dirty="0"/>
          </a:p>
        </p:txBody>
      </p:sp>
      <p:sp>
        <p:nvSpPr>
          <p:cNvPr id="6" name="s11/drawing/s11-content/e191"/>
          <p:cNvSpPr/>
          <p:nvPr/>
        </p:nvSpPr>
        <p:spPr>
          <a:xfrm>
            <a:off x="7410450" y="1485900"/>
            <a:ext cx="43243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2017</a:t>
            </a:r>
            <a:endParaRPr lang="zh-CN" sz="2400" dirty="0"/>
          </a:p>
        </p:txBody>
      </p:sp>
      <p:sp>
        <p:nvSpPr>
          <p:cNvPr id="7" name="s11/drawing/s11-content/e192/segment-1"/>
          <p:cNvSpPr/>
          <p:nvPr/>
        </p:nvSpPr>
        <p:spPr>
          <a:xfrm>
            <a:off x="2785533" y="2047875"/>
            <a:ext cx="0" cy="3381375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8" name="s11/drawing/s11-content/e193"/>
          <p:cNvSpPr/>
          <p:nvPr/>
        </p:nvSpPr>
        <p:spPr>
          <a:xfrm>
            <a:off x="2356908" y="1876425"/>
            <a:ext cx="857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800</a:t>
            </a:r>
            <a:endParaRPr lang="zh-CN" sz="1800" dirty="0"/>
          </a:p>
        </p:txBody>
      </p:sp>
      <p:sp>
        <p:nvSpPr>
          <p:cNvPr id="9" name="s11/drawing/s11-content/e194/segment-1"/>
          <p:cNvSpPr/>
          <p:nvPr/>
        </p:nvSpPr>
        <p:spPr>
          <a:xfrm>
            <a:off x="3716867" y="2047875"/>
            <a:ext cx="0" cy="3381375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0" name="s11/drawing/s11-content/e195"/>
          <p:cNvSpPr/>
          <p:nvPr/>
        </p:nvSpPr>
        <p:spPr>
          <a:xfrm>
            <a:off x="3288242" y="1876425"/>
            <a:ext cx="857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1200</a:t>
            </a:r>
            <a:endParaRPr lang="zh-CN" sz="1800" dirty="0"/>
          </a:p>
        </p:txBody>
      </p:sp>
      <p:sp>
        <p:nvSpPr>
          <p:cNvPr id="11" name="s11/drawing/s11-content/e196/segment-1"/>
          <p:cNvSpPr/>
          <p:nvPr/>
        </p:nvSpPr>
        <p:spPr>
          <a:xfrm>
            <a:off x="4648200" y="2047875"/>
            <a:ext cx="0" cy="3381375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2" name="s11/drawing/s11-content/e197"/>
          <p:cNvSpPr/>
          <p:nvPr/>
        </p:nvSpPr>
        <p:spPr>
          <a:xfrm>
            <a:off x="4219575" y="1876425"/>
            <a:ext cx="857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1600</a:t>
            </a:r>
            <a:endParaRPr lang="zh-CN" sz="1800" dirty="0"/>
          </a:p>
        </p:txBody>
      </p:sp>
      <p:sp>
        <p:nvSpPr>
          <p:cNvPr id="13" name="s11/drawing/s11-content/e198/segment-1"/>
          <p:cNvSpPr/>
          <p:nvPr/>
        </p:nvSpPr>
        <p:spPr>
          <a:xfrm>
            <a:off x="7643283" y="2047875"/>
            <a:ext cx="0" cy="3381375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4" name="s11/drawing/s11-content/e199"/>
          <p:cNvSpPr/>
          <p:nvPr/>
        </p:nvSpPr>
        <p:spPr>
          <a:xfrm>
            <a:off x="7214658" y="1876425"/>
            <a:ext cx="857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800</a:t>
            </a:r>
            <a:endParaRPr lang="zh-CN" sz="1800" dirty="0"/>
          </a:p>
        </p:txBody>
      </p:sp>
      <p:sp>
        <p:nvSpPr>
          <p:cNvPr id="15" name="s11/drawing/s11-content/e200/segment-1"/>
          <p:cNvSpPr/>
          <p:nvPr/>
        </p:nvSpPr>
        <p:spPr>
          <a:xfrm>
            <a:off x="8574617" y="2047875"/>
            <a:ext cx="0" cy="3381375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6" name="s11/drawing/s11-content/e201"/>
          <p:cNvSpPr/>
          <p:nvPr/>
        </p:nvSpPr>
        <p:spPr>
          <a:xfrm>
            <a:off x="8145992" y="1876425"/>
            <a:ext cx="857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1200</a:t>
            </a:r>
            <a:endParaRPr lang="zh-CN" sz="1800" dirty="0"/>
          </a:p>
        </p:txBody>
      </p:sp>
      <p:sp>
        <p:nvSpPr>
          <p:cNvPr id="17" name="s11/drawing/s11-content/e202/segment-1"/>
          <p:cNvSpPr/>
          <p:nvPr/>
        </p:nvSpPr>
        <p:spPr>
          <a:xfrm>
            <a:off x="9505950" y="2047875"/>
            <a:ext cx="0" cy="3381375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8" name="s11/drawing/s11-content/e203"/>
          <p:cNvSpPr/>
          <p:nvPr/>
        </p:nvSpPr>
        <p:spPr>
          <a:xfrm>
            <a:off x="9077325" y="1876425"/>
            <a:ext cx="857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1600</a:t>
            </a:r>
            <a:endParaRPr lang="zh-CN" sz="1800" dirty="0"/>
          </a:p>
        </p:txBody>
      </p:sp>
      <p:sp>
        <p:nvSpPr>
          <p:cNvPr id="19" name="s11/drawing/s11-content/e204"/>
          <p:cNvSpPr/>
          <p:nvPr/>
        </p:nvSpPr>
        <p:spPr>
          <a:xfrm>
            <a:off x="457200" y="2190750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LASSO</a:t>
            </a:r>
            <a:endParaRPr lang="zh-CN" sz="1800" dirty="0"/>
          </a:p>
        </p:txBody>
      </p:sp>
      <p:sp>
        <p:nvSpPr>
          <p:cNvPr id="20" name="s11/drawing/s11-content/e205/segment-1"/>
          <p:cNvSpPr/>
          <p:nvPr/>
        </p:nvSpPr>
        <p:spPr>
          <a:xfrm>
            <a:off x="3470063" y="2314575"/>
            <a:ext cx="153670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21" name="s11/drawing/s11-content/e206"/>
          <p:cNvSpPr/>
          <p:nvPr/>
        </p:nvSpPr>
        <p:spPr>
          <a:xfrm>
            <a:off x="3576108" y="226695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11/drawing/s11-content/e207"/>
          <p:cNvSpPr/>
          <p:nvPr/>
        </p:nvSpPr>
        <p:spPr>
          <a:xfrm>
            <a:off x="3422438" y="226695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11/drawing/s11-content/e208"/>
          <p:cNvSpPr/>
          <p:nvPr/>
        </p:nvSpPr>
        <p:spPr>
          <a:xfrm>
            <a:off x="4857750" y="219075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1160 → 1094</a:t>
            </a:r>
            <a:endParaRPr lang="zh-CN" sz="1800" dirty="0"/>
          </a:p>
        </p:txBody>
      </p:sp>
      <p:sp>
        <p:nvSpPr>
          <p:cNvPr id="24" name="s11/drawing/s11-content/e209/segment-1"/>
          <p:cNvSpPr/>
          <p:nvPr/>
        </p:nvSpPr>
        <p:spPr>
          <a:xfrm>
            <a:off x="7575762" y="2314575"/>
            <a:ext cx="149013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25" name="s11/drawing/s11-content/e210"/>
          <p:cNvSpPr/>
          <p:nvPr/>
        </p:nvSpPr>
        <p:spPr>
          <a:xfrm>
            <a:off x="7677150" y="226695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11/drawing/s11-content/e211"/>
          <p:cNvSpPr/>
          <p:nvPr/>
        </p:nvSpPr>
        <p:spPr>
          <a:xfrm>
            <a:off x="7528137" y="226695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11/drawing/s11-content/e212"/>
          <p:cNvSpPr/>
          <p:nvPr/>
        </p:nvSpPr>
        <p:spPr>
          <a:xfrm>
            <a:off x="9715500" y="219075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835 → 771</a:t>
            </a:r>
            <a:endParaRPr lang="zh-CN" sz="1800" dirty="0"/>
          </a:p>
        </p:txBody>
      </p:sp>
      <p:sp>
        <p:nvSpPr>
          <p:cNvPr id="28" name="s11/drawing/s11-content/e213"/>
          <p:cNvSpPr/>
          <p:nvPr/>
        </p:nvSpPr>
        <p:spPr>
          <a:xfrm>
            <a:off x="457200" y="2486025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XGBoost</a:t>
            </a:r>
            <a:endParaRPr lang="zh-CN" sz="1800" dirty="0"/>
          </a:p>
        </p:txBody>
      </p:sp>
      <p:sp>
        <p:nvSpPr>
          <p:cNvPr id="29" name="s11/drawing/s11-content/e214/segment-1"/>
          <p:cNvSpPr/>
          <p:nvPr/>
        </p:nvSpPr>
        <p:spPr>
          <a:xfrm>
            <a:off x="3651673" y="2609850"/>
            <a:ext cx="721783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30" name="s11/drawing/s11-content/e215"/>
          <p:cNvSpPr/>
          <p:nvPr/>
        </p:nvSpPr>
        <p:spPr>
          <a:xfrm>
            <a:off x="4325832" y="256222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1/drawing/s11-content/e216"/>
          <p:cNvSpPr/>
          <p:nvPr/>
        </p:nvSpPr>
        <p:spPr>
          <a:xfrm>
            <a:off x="3604048" y="256222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11/drawing/s11-content/e217"/>
          <p:cNvSpPr/>
          <p:nvPr/>
        </p:nvSpPr>
        <p:spPr>
          <a:xfrm>
            <a:off x="4857750" y="248602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1482 → 1172</a:t>
            </a:r>
            <a:endParaRPr lang="zh-CN" sz="1800" dirty="0"/>
          </a:p>
        </p:txBody>
      </p:sp>
      <p:sp>
        <p:nvSpPr>
          <p:cNvPr id="33" name="s11/drawing/s11-content/e218/segment-1"/>
          <p:cNvSpPr/>
          <p:nvPr/>
        </p:nvSpPr>
        <p:spPr>
          <a:xfrm>
            <a:off x="7983220" y="2609850"/>
            <a:ext cx="25612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34" name="s11/drawing/s11-content/e219"/>
          <p:cNvSpPr/>
          <p:nvPr/>
        </p:nvSpPr>
        <p:spPr>
          <a:xfrm>
            <a:off x="7961207" y="256222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11/drawing/s11-content/e220"/>
          <p:cNvSpPr/>
          <p:nvPr/>
        </p:nvSpPr>
        <p:spPr>
          <a:xfrm>
            <a:off x="7935595" y="256222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11/drawing/s11-content/e221"/>
          <p:cNvSpPr/>
          <p:nvPr/>
        </p:nvSpPr>
        <p:spPr>
          <a:xfrm>
            <a:off x="9715500" y="248602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957 → 946</a:t>
            </a:r>
            <a:endParaRPr lang="zh-CN" sz="1800" dirty="0"/>
          </a:p>
        </p:txBody>
      </p:sp>
      <p:sp>
        <p:nvSpPr>
          <p:cNvPr id="37" name="s11/drawing/s11-content/e222"/>
          <p:cNvSpPr/>
          <p:nvPr/>
        </p:nvSpPr>
        <p:spPr>
          <a:xfrm>
            <a:off x="457200" y="2781300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LightGBM</a:t>
            </a:r>
            <a:endParaRPr lang="zh-CN" sz="1800" dirty="0"/>
          </a:p>
        </p:txBody>
      </p:sp>
      <p:sp>
        <p:nvSpPr>
          <p:cNvPr id="38" name="s11/drawing/s11-content/e223/segment-1"/>
          <p:cNvSpPr/>
          <p:nvPr/>
        </p:nvSpPr>
        <p:spPr>
          <a:xfrm>
            <a:off x="2978785" y="2905125"/>
            <a:ext cx="428413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39" name="s11/drawing/s11-content/e224"/>
          <p:cNvSpPr/>
          <p:nvPr/>
        </p:nvSpPr>
        <p:spPr>
          <a:xfrm>
            <a:off x="3359573" y="285750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11/drawing/s11-content/e225"/>
          <p:cNvSpPr/>
          <p:nvPr/>
        </p:nvSpPr>
        <p:spPr>
          <a:xfrm>
            <a:off x="2931160" y="285750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11/drawing/s11-content/e226"/>
          <p:cNvSpPr/>
          <p:nvPr/>
        </p:nvSpPr>
        <p:spPr>
          <a:xfrm>
            <a:off x="4857750" y="278130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1067 → 883</a:t>
            </a:r>
            <a:endParaRPr lang="zh-CN" sz="1800" dirty="0"/>
          </a:p>
        </p:txBody>
      </p:sp>
      <p:sp>
        <p:nvSpPr>
          <p:cNvPr id="42" name="s11/drawing/s11-content/e227/segment-1"/>
          <p:cNvSpPr/>
          <p:nvPr/>
        </p:nvSpPr>
        <p:spPr>
          <a:xfrm flipH="1">
            <a:off x="7908713" y="2905125"/>
            <a:ext cx="4657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43" name="s11/drawing/s11-content/e228"/>
          <p:cNvSpPr/>
          <p:nvPr/>
        </p:nvSpPr>
        <p:spPr>
          <a:xfrm>
            <a:off x="7861088" y="285750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11/drawing/s11-content/e229"/>
          <p:cNvSpPr/>
          <p:nvPr/>
        </p:nvSpPr>
        <p:spPr>
          <a:xfrm>
            <a:off x="7865745" y="2857500"/>
            <a:ext cx="95250" cy="95250"/>
          </a:xfrm>
          <a:prstGeom prst="ellipse">
            <a:avLst/>
          </a:prstGeom>
          <a:solidFill>
            <a:srgbClr val="B256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11/drawing/s11-content/e230"/>
          <p:cNvSpPr/>
          <p:nvPr/>
        </p:nvSpPr>
        <p:spPr>
          <a:xfrm>
            <a:off x="9715500" y="278130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914 → 916</a:t>
            </a:r>
            <a:endParaRPr lang="zh-CN" sz="1800" dirty="0"/>
          </a:p>
        </p:txBody>
      </p:sp>
      <p:sp>
        <p:nvSpPr>
          <p:cNvPr id="46" name="s11/drawing/s11-content/e231"/>
          <p:cNvSpPr/>
          <p:nvPr/>
        </p:nvSpPr>
        <p:spPr>
          <a:xfrm>
            <a:off x="457200" y="3076575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</a:t>
            </a:r>
            <a:endParaRPr lang="zh-CN" sz="1800" dirty="0"/>
          </a:p>
        </p:txBody>
      </p:sp>
      <p:sp>
        <p:nvSpPr>
          <p:cNvPr id="47" name="s11/drawing/s11-content/e232/segment-1"/>
          <p:cNvSpPr/>
          <p:nvPr/>
        </p:nvSpPr>
        <p:spPr>
          <a:xfrm>
            <a:off x="3379258" y="3200400"/>
            <a:ext cx="474980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48" name="s11/drawing/s11-content/e233"/>
          <p:cNvSpPr/>
          <p:nvPr/>
        </p:nvSpPr>
        <p:spPr>
          <a:xfrm>
            <a:off x="3806613" y="315277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11/drawing/s11-content/e234"/>
          <p:cNvSpPr/>
          <p:nvPr/>
        </p:nvSpPr>
        <p:spPr>
          <a:xfrm>
            <a:off x="3331633" y="315277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11/drawing/s11-content/e235"/>
          <p:cNvSpPr/>
          <p:nvPr/>
        </p:nvSpPr>
        <p:spPr>
          <a:xfrm>
            <a:off x="4857750" y="307657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1259 → 1055</a:t>
            </a:r>
            <a:endParaRPr lang="zh-CN" sz="1800" dirty="0"/>
          </a:p>
        </p:txBody>
      </p:sp>
      <p:sp>
        <p:nvSpPr>
          <p:cNvPr id="51" name="s11/drawing/s11-content/e236/segment-1"/>
          <p:cNvSpPr/>
          <p:nvPr/>
        </p:nvSpPr>
        <p:spPr>
          <a:xfrm>
            <a:off x="7738745" y="3200400"/>
            <a:ext cx="379518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52" name="s11/drawing/s11-content/e237"/>
          <p:cNvSpPr/>
          <p:nvPr/>
        </p:nvSpPr>
        <p:spPr>
          <a:xfrm>
            <a:off x="8070638" y="315277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11/drawing/s11-content/e238"/>
          <p:cNvSpPr/>
          <p:nvPr/>
        </p:nvSpPr>
        <p:spPr>
          <a:xfrm>
            <a:off x="7691120" y="315277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11/drawing/s11-content/e239"/>
          <p:cNvSpPr/>
          <p:nvPr/>
        </p:nvSpPr>
        <p:spPr>
          <a:xfrm>
            <a:off x="9715500" y="307657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1004 → 841</a:t>
            </a:r>
            <a:endParaRPr lang="zh-CN" sz="1800" dirty="0"/>
          </a:p>
        </p:txBody>
      </p:sp>
      <p:sp>
        <p:nvSpPr>
          <p:cNvPr id="55" name="s11/drawing/s11-content/e240"/>
          <p:cNvSpPr/>
          <p:nvPr/>
        </p:nvSpPr>
        <p:spPr>
          <a:xfrm>
            <a:off x="457200" y="3371850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线性回归</a:t>
            </a:r>
            <a:endParaRPr lang="zh-CN" sz="1800" dirty="0"/>
          </a:p>
        </p:txBody>
      </p:sp>
      <p:sp>
        <p:nvSpPr>
          <p:cNvPr id="56" name="s11/drawing/s11-content/e241/segment-1"/>
          <p:cNvSpPr/>
          <p:nvPr/>
        </p:nvSpPr>
        <p:spPr>
          <a:xfrm>
            <a:off x="3146425" y="3495675"/>
            <a:ext cx="325967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57" name="s11/drawing/s11-content/e242"/>
          <p:cNvSpPr/>
          <p:nvPr/>
        </p:nvSpPr>
        <p:spPr>
          <a:xfrm>
            <a:off x="3424767" y="344805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11/drawing/s11-content/e243"/>
          <p:cNvSpPr/>
          <p:nvPr/>
        </p:nvSpPr>
        <p:spPr>
          <a:xfrm>
            <a:off x="3098800" y="344805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11/drawing/s11-content/e244"/>
          <p:cNvSpPr/>
          <p:nvPr/>
        </p:nvSpPr>
        <p:spPr>
          <a:xfrm>
            <a:off x="4857750" y="337185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1095 → 955</a:t>
            </a:r>
            <a:endParaRPr lang="zh-CN" sz="1800" dirty="0"/>
          </a:p>
        </p:txBody>
      </p:sp>
      <p:sp>
        <p:nvSpPr>
          <p:cNvPr id="60" name="s11/drawing/s11-content/e245/segment-1"/>
          <p:cNvSpPr/>
          <p:nvPr/>
        </p:nvSpPr>
        <p:spPr>
          <a:xfrm>
            <a:off x="7713133" y="3495675"/>
            <a:ext cx="65193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61" name="s11/drawing/s11-content/e246"/>
          <p:cNvSpPr/>
          <p:nvPr/>
        </p:nvSpPr>
        <p:spPr>
          <a:xfrm>
            <a:off x="7730702" y="344805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11/drawing/s11-content/e247"/>
          <p:cNvSpPr/>
          <p:nvPr/>
        </p:nvSpPr>
        <p:spPr>
          <a:xfrm>
            <a:off x="7665508" y="344805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11/drawing/s11-content/e248"/>
          <p:cNvSpPr/>
          <p:nvPr/>
        </p:nvSpPr>
        <p:spPr>
          <a:xfrm>
            <a:off x="9715500" y="337185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858 → 830</a:t>
            </a:r>
            <a:endParaRPr lang="zh-CN" sz="1800" dirty="0"/>
          </a:p>
        </p:txBody>
      </p:sp>
      <p:sp>
        <p:nvSpPr>
          <p:cNvPr id="64" name="s11/drawing/s11-content/e249"/>
          <p:cNvSpPr/>
          <p:nvPr/>
        </p:nvSpPr>
        <p:spPr>
          <a:xfrm>
            <a:off x="457200" y="3667125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加权集成</a:t>
            </a:r>
            <a:endParaRPr lang="zh-CN" sz="1800" dirty="0"/>
          </a:p>
        </p:txBody>
      </p:sp>
      <p:sp>
        <p:nvSpPr>
          <p:cNvPr id="65" name="s11/drawing/s11-content/e250/segment-1"/>
          <p:cNvSpPr/>
          <p:nvPr/>
        </p:nvSpPr>
        <p:spPr>
          <a:xfrm>
            <a:off x="3039322" y="3790950"/>
            <a:ext cx="288713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66" name="s11/drawing/s11-content/e251"/>
          <p:cNvSpPr/>
          <p:nvPr/>
        </p:nvSpPr>
        <p:spPr>
          <a:xfrm>
            <a:off x="3280410" y="374332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11/drawing/s11-content/e252"/>
          <p:cNvSpPr/>
          <p:nvPr/>
        </p:nvSpPr>
        <p:spPr>
          <a:xfrm>
            <a:off x="2991697" y="374332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11/drawing/s11-content/e253"/>
          <p:cNvSpPr/>
          <p:nvPr/>
        </p:nvSpPr>
        <p:spPr>
          <a:xfrm>
            <a:off x="4857750" y="366712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1033 → 909</a:t>
            </a:r>
            <a:endParaRPr lang="zh-CN" sz="1800" dirty="0"/>
          </a:p>
        </p:txBody>
      </p:sp>
      <p:sp>
        <p:nvSpPr>
          <p:cNvPr id="69" name="s11/drawing/s11-content/e254/segment-1"/>
          <p:cNvSpPr/>
          <p:nvPr/>
        </p:nvSpPr>
        <p:spPr>
          <a:xfrm>
            <a:off x="7613015" y="3790950"/>
            <a:ext cx="228177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70" name="s11/drawing/s11-content/e255"/>
          <p:cNvSpPr/>
          <p:nvPr/>
        </p:nvSpPr>
        <p:spPr>
          <a:xfrm>
            <a:off x="7793567" y="374332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11/drawing/s11-content/e256"/>
          <p:cNvSpPr/>
          <p:nvPr/>
        </p:nvSpPr>
        <p:spPr>
          <a:xfrm>
            <a:off x="7565390" y="374332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11/drawing/s11-content/e257"/>
          <p:cNvSpPr/>
          <p:nvPr/>
        </p:nvSpPr>
        <p:spPr>
          <a:xfrm>
            <a:off x="9715500" y="366712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885 → 787</a:t>
            </a:r>
            <a:endParaRPr lang="zh-CN" sz="1800" dirty="0"/>
          </a:p>
        </p:txBody>
      </p:sp>
      <p:sp>
        <p:nvSpPr>
          <p:cNvPr id="73" name="s11/drawing/s11-content/e258"/>
          <p:cNvSpPr/>
          <p:nvPr/>
        </p:nvSpPr>
        <p:spPr>
          <a:xfrm>
            <a:off x="457200" y="3962400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均值集成</a:t>
            </a:r>
            <a:endParaRPr lang="zh-CN" sz="1800" dirty="0"/>
          </a:p>
        </p:txBody>
      </p:sp>
      <p:sp>
        <p:nvSpPr>
          <p:cNvPr id="74" name="s11/drawing/s11-content/e259/segment-1"/>
          <p:cNvSpPr/>
          <p:nvPr/>
        </p:nvSpPr>
        <p:spPr>
          <a:xfrm>
            <a:off x="3106843" y="4086225"/>
            <a:ext cx="48895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75" name="s11/drawing/s11-content/e260"/>
          <p:cNvSpPr/>
          <p:nvPr/>
        </p:nvSpPr>
        <p:spPr>
          <a:xfrm>
            <a:off x="3108113" y="403860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11/drawing/s11-content/e261"/>
          <p:cNvSpPr/>
          <p:nvPr/>
        </p:nvSpPr>
        <p:spPr>
          <a:xfrm>
            <a:off x="3059218" y="403860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11/drawing/s11-content/e262"/>
          <p:cNvSpPr/>
          <p:nvPr/>
        </p:nvSpPr>
        <p:spPr>
          <a:xfrm>
            <a:off x="4857750" y="396240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959 → 938</a:t>
            </a:r>
            <a:endParaRPr lang="zh-CN" sz="1800" dirty="0"/>
          </a:p>
        </p:txBody>
      </p:sp>
      <p:sp>
        <p:nvSpPr>
          <p:cNvPr id="78" name="s11/drawing/s11-content/e263/segment-1"/>
          <p:cNvSpPr/>
          <p:nvPr/>
        </p:nvSpPr>
        <p:spPr>
          <a:xfrm>
            <a:off x="7554807" y="4086225"/>
            <a:ext cx="225848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79" name="s11/drawing/s11-content/e264"/>
          <p:cNvSpPr/>
          <p:nvPr/>
        </p:nvSpPr>
        <p:spPr>
          <a:xfrm>
            <a:off x="7733030" y="403860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11/drawing/s11-content/e265"/>
          <p:cNvSpPr/>
          <p:nvPr/>
        </p:nvSpPr>
        <p:spPr>
          <a:xfrm>
            <a:off x="7507182" y="403860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11/drawing/s11-content/e266"/>
          <p:cNvSpPr/>
          <p:nvPr/>
        </p:nvSpPr>
        <p:spPr>
          <a:xfrm>
            <a:off x="9715500" y="396240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859 → 762</a:t>
            </a:r>
            <a:endParaRPr lang="zh-CN" sz="1800" dirty="0"/>
          </a:p>
        </p:txBody>
      </p:sp>
      <p:sp>
        <p:nvSpPr>
          <p:cNvPr id="82" name="s11/drawing/s11-content/e267"/>
          <p:cNvSpPr/>
          <p:nvPr/>
        </p:nvSpPr>
        <p:spPr>
          <a:xfrm>
            <a:off x="457200" y="4257675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Stack–Reg</a:t>
            </a:r>
            <a:endParaRPr lang="zh-CN" sz="1800" dirty="0"/>
          </a:p>
        </p:txBody>
      </p:sp>
      <p:sp>
        <p:nvSpPr>
          <p:cNvPr id="83" name="s11/drawing/s11-content/e268/segment-1"/>
          <p:cNvSpPr/>
          <p:nvPr/>
        </p:nvSpPr>
        <p:spPr>
          <a:xfrm>
            <a:off x="3118485" y="4381500"/>
            <a:ext cx="458682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84" name="s11/drawing/s11-content/e269"/>
          <p:cNvSpPr/>
          <p:nvPr/>
        </p:nvSpPr>
        <p:spPr>
          <a:xfrm>
            <a:off x="3529542" y="433387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11/drawing/s11-content/e270"/>
          <p:cNvSpPr/>
          <p:nvPr/>
        </p:nvSpPr>
        <p:spPr>
          <a:xfrm>
            <a:off x="3070860" y="433387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11/drawing/s11-content/e271"/>
          <p:cNvSpPr/>
          <p:nvPr/>
        </p:nvSpPr>
        <p:spPr>
          <a:xfrm>
            <a:off x="4857750" y="425767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1140 → 943</a:t>
            </a:r>
            <a:endParaRPr lang="zh-CN" sz="1800" dirty="0"/>
          </a:p>
        </p:txBody>
      </p:sp>
      <p:sp>
        <p:nvSpPr>
          <p:cNvPr id="87" name="s11/drawing/s11-content/e272/segment-1"/>
          <p:cNvSpPr/>
          <p:nvPr/>
        </p:nvSpPr>
        <p:spPr>
          <a:xfrm>
            <a:off x="7666567" y="4381500"/>
            <a:ext cx="302683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88" name="s11/drawing/s11-content/e273"/>
          <p:cNvSpPr/>
          <p:nvPr/>
        </p:nvSpPr>
        <p:spPr>
          <a:xfrm>
            <a:off x="7921625" y="433387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11/drawing/s11-content/e274"/>
          <p:cNvSpPr/>
          <p:nvPr/>
        </p:nvSpPr>
        <p:spPr>
          <a:xfrm>
            <a:off x="7618942" y="433387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11/drawing/s11-content/e275"/>
          <p:cNvSpPr/>
          <p:nvPr/>
        </p:nvSpPr>
        <p:spPr>
          <a:xfrm>
            <a:off x="9715500" y="425767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940 → 810</a:t>
            </a:r>
            <a:endParaRPr lang="zh-CN" sz="1800" dirty="0"/>
          </a:p>
        </p:txBody>
      </p:sp>
      <p:sp>
        <p:nvSpPr>
          <p:cNvPr id="91" name="s11/drawing/s11-content/e276"/>
          <p:cNvSpPr/>
          <p:nvPr/>
        </p:nvSpPr>
        <p:spPr>
          <a:xfrm>
            <a:off x="457200" y="4552950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Stack–LASSO</a:t>
            </a:r>
            <a:endParaRPr lang="zh-CN" sz="1800" dirty="0"/>
          </a:p>
        </p:txBody>
      </p:sp>
      <p:sp>
        <p:nvSpPr>
          <p:cNvPr id="92" name="s11/drawing/s11-content/e277/segment-1"/>
          <p:cNvSpPr/>
          <p:nvPr/>
        </p:nvSpPr>
        <p:spPr>
          <a:xfrm>
            <a:off x="3113828" y="4676775"/>
            <a:ext cx="435398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93" name="s11/drawing/s11-content/e278"/>
          <p:cNvSpPr/>
          <p:nvPr/>
        </p:nvSpPr>
        <p:spPr>
          <a:xfrm>
            <a:off x="3501602" y="462915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11/drawing/s11-content/e279"/>
          <p:cNvSpPr/>
          <p:nvPr/>
        </p:nvSpPr>
        <p:spPr>
          <a:xfrm>
            <a:off x="3066203" y="462915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11/drawing/s11-content/e280"/>
          <p:cNvSpPr/>
          <p:nvPr/>
        </p:nvSpPr>
        <p:spPr>
          <a:xfrm>
            <a:off x="4857750" y="455295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1128 → 941</a:t>
            </a:r>
            <a:endParaRPr lang="zh-CN" sz="1800" dirty="0"/>
          </a:p>
        </p:txBody>
      </p:sp>
      <p:sp>
        <p:nvSpPr>
          <p:cNvPr id="96" name="s11/drawing/s11-content/e281/segment-1"/>
          <p:cNvSpPr/>
          <p:nvPr/>
        </p:nvSpPr>
        <p:spPr>
          <a:xfrm>
            <a:off x="7664238" y="4676775"/>
            <a:ext cx="293370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97" name="s11/drawing/s11-content/e282"/>
          <p:cNvSpPr/>
          <p:nvPr/>
        </p:nvSpPr>
        <p:spPr>
          <a:xfrm>
            <a:off x="7909983" y="462915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11/drawing/s11-content/e283"/>
          <p:cNvSpPr/>
          <p:nvPr/>
        </p:nvSpPr>
        <p:spPr>
          <a:xfrm>
            <a:off x="7616613" y="462915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11/drawing/s11-content/e284"/>
          <p:cNvSpPr/>
          <p:nvPr/>
        </p:nvSpPr>
        <p:spPr>
          <a:xfrm>
            <a:off x="9715500" y="455295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935 → 809</a:t>
            </a:r>
            <a:endParaRPr lang="zh-CN" sz="1800" dirty="0"/>
          </a:p>
        </p:txBody>
      </p:sp>
      <p:sp>
        <p:nvSpPr>
          <p:cNvPr id="100" name="s11/drawing/s11-content/e285"/>
          <p:cNvSpPr/>
          <p:nvPr/>
        </p:nvSpPr>
        <p:spPr>
          <a:xfrm>
            <a:off x="457200" y="4848225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Stack–RF</a:t>
            </a:r>
            <a:endParaRPr lang="zh-CN" sz="1800" dirty="0"/>
          </a:p>
        </p:txBody>
      </p:sp>
      <p:sp>
        <p:nvSpPr>
          <p:cNvPr id="101" name="s11/drawing/s11-content/e286/segment-1"/>
          <p:cNvSpPr/>
          <p:nvPr/>
        </p:nvSpPr>
        <p:spPr>
          <a:xfrm>
            <a:off x="3255857" y="4972050"/>
            <a:ext cx="840528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102" name="s11/drawing/s11-content/e287"/>
          <p:cNvSpPr/>
          <p:nvPr/>
        </p:nvSpPr>
        <p:spPr>
          <a:xfrm>
            <a:off x="4048760" y="492442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11/drawing/s11-content/e288"/>
          <p:cNvSpPr/>
          <p:nvPr/>
        </p:nvSpPr>
        <p:spPr>
          <a:xfrm>
            <a:off x="3208232" y="492442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11/drawing/s11-content/e289"/>
          <p:cNvSpPr/>
          <p:nvPr/>
        </p:nvSpPr>
        <p:spPr>
          <a:xfrm>
            <a:off x="4857750" y="484822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1363 → 1002</a:t>
            </a:r>
            <a:endParaRPr lang="zh-CN" sz="1800" dirty="0"/>
          </a:p>
        </p:txBody>
      </p:sp>
      <p:sp>
        <p:nvSpPr>
          <p:cNvPr id="105" name="s11/drawing/s11-content/e290/segment-1"/>
          <p:cNvSpPr/>
          <p:nvPr/>
        </p:nvSpPr>
        <p:spPr>
          <a:xfrm>
            <a:off x="7848177" y="4972050"/>
            <a:ext cx="244475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106" name="s11/drawing/s11-content/e291"/>
          <p:cNvSpPr/>
          <p:nvPr/>
        </p:nvSpPr>
        <p:spPr>
          <a:xfrm>
            <a:off x="8045027" y="4924425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11/drawing/s11-content/e292"/>
          <p:cNvSpPr/>
          <p:nvPr/>
        </p:nvSpPr>
        <p:spPr>
          <a:xfrm>
            <a:off x="7800552" y="4924425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11/drawing/s11-content/e293"/>
          <p:cNvSpPr/>
          <p:nvPr/>
        </p:nvSpPr>
        <p:spPr>
          <a:xfrm>
            <a:off x="9715500" y="4848225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993 → 888</a:t>
            </a:r>
            <a:endParaRPr lang="zh-CN" sz="1800" dirty="0"/>
          </a:p>
        </p:txBody>
      </p:sp>
      <p:sp>
        <p:nvSpPr>
          <p:cNvPr id="109" name="s11/drawing/s11-content/e294"/>
          <p:cNvSpPr/>
          <p:nvPr/>
        </p:nvSpPr>
        <p:spPr>
          <a:xfrm>
            <a:off x="457200" y="5143500"/>
            <a:ext cx="2333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Stack–LGBM</a:t>
            </a:r>
            <a:endParaRPr lang="zh-CN" sz="1800" dirty="0"/>
          </a:p>
        </p:txBody>
      </p:sp>
      <p:sp>
        <p:nvSpPr>
          <p:cNvPr id="110" name="s11/drawing/s11-content/e295/segment-1"/>
          <p:cNvSpPr/>
          <p:nvPr/>
        </p:nvSpPr>
        <p:spPr>
          <a:xfrm>
            <a:off x="3239558" y="5267325"/>
            <a:ext cx="861483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111" name="s11/drawing/s11-content/e296"/>
          <p:cNvSpPr/>
          <p:nvPr/>
        </p:nvSpPr>
        <p:spPr>
          <a:xfrm>
            <a:off x="4053417" y="521970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11/drawing/s11-content/e297"/>
          <p:cNvSpPr/>
          <p:nvPr/>
        </p:nvSpPr>
        <p:spPr>
          <a:xfrm>
            <a:off x="3191933" y="521970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11/drawing/s11-content/e298"/>
          <p:cNvSpPr/>
          <p:nvPr/>
        </p:nvSpPr>
        <p:spPr>
          <a:xfrm>
            <a:off x="4857750" y="514350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1365 → 995</a:t>
            </a:r>
            <a:endParaRPr lang="zh-CN" sz="1800" dirty="0"/>
          </a:p>
        </p:txBody>
      </p:sp>
      <p:sp>
        <p:nvSpPr>
          <p:cNvPr id="114" name="s11/drawing/s11-content/e299/segment-1"/>
          <p:cNvSpPr/>
          <p:nvPr/>
        </p:nvSpPr>
        <p:spPr>
          <a:xfrm>
            <a:off x="7731760" y="5267325"/>
            <a:ext cx="193252" cy="0"/>
          </a:xfrm>
          <a:prstGeom prst="line">
            <a:avLst/>
          </a:prstGeom>
          <a:noFill/>
          <a:ln w="28575">
            <a:solidFill>
              <a:srgbClr val="959F9F"/>
            </a:solidFill>
            <a:prstDash val="solid"/>
          </a:ln>
        </p:spPr>
      </p:sp>
      <p:sp>
        <p:nvSpPr>
          <p:cNvPr id="115" name="s11/drawing/s11-content/e300"/>
          <p:cNvSpPr/>
          <p:nvPr/>
        </p:nvSpPr>
        <p:spPr>
          <a:xfrm>
            <a:off x="7877387" y="5219700"/>
            <a:ext cx="95250" cy="95250"/>
          </a:xfrm>
          <a:prstGeom prst="ellipse">
            <a:avLst/>
          </a:prstGeom>
          <a:solidFill>
            <a:srgbClr val="5464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11/drawing/s11-content/e301"/>
          <p:cNvSpPr/>
          <p:nvPr/>
        </p:nvSpPr>
        <p:spPr>
          <a:xfrm>
            <a:off x="7684135" y="5219700"/>
            <a:ext cx="95250" cy="95250"/>
          </a:xfrm>
          <a:prstGeom prst="ellipse">
            <a:avLst/>
          </a:prstGeom>
          <a:solidFill>
            <a:srgbClr val="4776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11/drawing/s11-content/e302"/>
          <p:cNvSpPr/>
          <p:nvPr/>
        </p:nvSpPr>
        <p:spPr>
          <a:xfrm>
            <a:off x="9715500" y="5143500"/>
            <a:ext cx="2019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921 → 838</a:t>
            </a:r>
            <a:endParaRPr lang="zh-CN" sz="1800" dirty="0"/>
          </a:p>
        </p:txBody>
      </p:sp>
      <p:sp>
        <p:nvSpPr>
          <p:cNvPr id="118" name="s11/drawing/s11-content/e303"/>
          <p:cNvSpPr/>
          <p:nvPr/>
        </p:nvSpPr>
        <p:spPr>
          <a:xfrm>
            <a:off x="457200" y="5591175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例外：2017 LightGBM 为 914 → 916，不能说“每个模型每年都改善”。</a:t>
            </a:r>
            <a:endParaRPr lang="zh-CN" sz="2100" dirty="0"/>
          </a:p>
        </p:txBody>
      </p:sp>
      <p:sp>
        <p:nvSpPr>
          <p:cNvPr id="119" name="s11/drawing/s11-content/e304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et al. (2021) · CC BY 4.0 · Table 2 p.9，全部11模型重绘；两年共用700–1600 kg/ha尺度。</a:t>
            </a:r>
            <a:endParaRPr lang="zh-CN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16</a:t>
            </a:r>
            <a:endParaRPr lang="zh-CN" sz="1350" dirty="0"/>
          </a:p>
        </p:txBody>
      </p:sp>
      <p:sp>
        <p:nvSpPr>
          <p:cNvPr id="3" name="s12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干旱年：误差下降没有消除预测失效</a:t>
            </a:r>
            <a:endParaRPr lang="zh-CN" sz="3000" dirty="0"/>
          </a:p>
        </p:txBody>
      </p:sp>
      <p:sp>
        <p:nvSpPr>
          <p:cNvPr id="4" name="s12/drawing/s12-content/e305"/>
          <p:cNvSpPr/>
          <p:nvPr/>
        </p:nvSpPr>
        <p:spPr>
          <a:xfrm>
            <a:off x="457200" y="100965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2012 极端干旱年 · 留一年测试 · RMSE（kg/ha）</a:t>
            </a:r>
            <a:endParaRPr lang="zh-CN" sz="2100" dirty="0"/>
          </a:p>
        </p:txBody>
      </p:sp>
      <p:sp>
        <p:nvSpPr>
          <p:cNvPr id="5" name="s12/drawing/s12-content/e306"/>
          <p:cNvSpPr/>
          <p:nvPr/>
        </p:nvSpPr>
        <p:spPr>
          <a:xfrm>
            <a:off x="457200" y="1619250"/>
            <a:ext cx="2190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zh-CN" sz="1800" dirty="0"/>
          </a:p>
        </p:txBody>
      </p:sp>
      <p:sp>
        <p:nvSpPr>
          <p:cNvPr id="6" name="s12/drawing/s12-content/e307"/>
          <p:cNvSpPr/>
          <p:nvPr/>
        </p:nvSpPr>
        <p:spPr>
          <a:xfrm>
            <a:off x="3105150" y="1619250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 RMSE</a:t>
            </a:r>
            <a:endParaRPr lang="zh-CN" sz="1800" dirty="0"/>
          </a:p>
        </p:txBody>
      </p:sp>
      <p:sp>
        <p:nvSpPr>
          <p:cNvPr id="7" name="s12/drawing/s12-content/e308"/>
          <p:cNvSpPr/>
          <p:nvPr/>
        </p:nvSpPr>
        <p:spPr>
          <a:xfrm>
            <a:off x="5276850" y="1619250"/>
            <a:ext cx="2190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+APSIM RMSE</a:t>
            </a:r>
            <a:endParaRPr lang="zh-CN" sz="1800" dirty="0"/>
          </a:p>
        </p:txBody>
      </p:sp>
      <p:sp>
        <p:nvSpPr>
          <p:cNvPr id="8" name="s12/drawing/s12-content/e309"/>
          <p:cNvSpPr/>
          <p:nvPr/>
        </p:nvSpPr>
        <p:spPr>
          <a:xfrm>
            <a:off x="7848600" y="161925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RMSE降幅</a:t>
            </a:r>
            <a:endParaRPr lang="zh-CN" sz="1800" dirty="0"/>
          </a:p>
        </p:txBody>
      </p:sp>
      <p:sp>
        <p:nvSpPr>
          <p:cNvPr id="9" name="s12/drawing/s12-content/e310"/>
          <p:cNvSpPr/>
          <p:nvPr/>
        </p:nvSpPr>
        <p:spPr>
          <a:xfrm>
            <a:off x="10039350" y="1619250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 R²</a:t>
            </a:r>
            <a:endParaRPr lang="zh-CN" sz="1800" dirty="0"/>
          </a:p>
        </p:txBody>
      </p:sp>
      <p:sp>
        <p:nvSpPr>
          <p:cNvPr id="10" name="s12/drawing/s12-content/e311/segment-1"/>
          <p:cNvSpPr/>
          <p:nvPr/>
        </p:nvSpPr>
        <p:spPr>
          <a:xfrm>
            <a:off x="457200" y="2000250"/>
            <a:ext cx="11277600" cy="0"/>
          </a:xfrm>
          <a:prstGeom prst="line">
            <a:avLst/>
          </a:prstGeom>
          <a:noFill/>
          <a:ln w="14288">
            <a:solidFill>
              <a:srgbClr val="182B32"/>
            </a:solidFill>
            <a:prstDash val="solid"/>
          </a:ln>
        </p:spPr>
      </p:sp>
      <p:sp>
        <p:nvSpPr>
          <p:cNvPr id="11" name="s12/drawing/s12-content/e312"/>
          <p:cNvSpPr/>
          <p:nvPr/>
        </p:nvSpPr>
        <p:spPr>
          <a:xfrm>
            <a:off x="457200" y="2076450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LASSO</a:t>
            </a:r>
            <a:endParaRPr lang="zh-CN" sz="1800" dirty="0"/>
          </a:p>
        </p:txBody>
      </p:sp>
      <p:sp>
        <p:nvSpPr>
          <p:cNvPr id="12" name="s12/drawing/s12-content/e313"/>
          <p:cNvSpPr/>
          <p:nvPr/>
        </p:nvSpPr>
        <p:spPr>
          <a:xfrm>
            <a:off x="3105150" y="207645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4311</a:t>
            </a:r>
            <a:endParaRPr lang="zh-CN" sz="1800" dirty="0"/>
          </a:p>
        </p:txBody>
      </p:sp>
      <p:sp>
        <p:nvSpPr>
          <p:cNvPr id="13" name="s12/drawing/s12-content/e314"/>
          <p:cNvSpPr/>
          <p:nvPr/>
        </p:nvSpPr>
        <p:spPr>
          <a:xfrm>
            <a:off x="5276850" y="2076450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3160</a:t>
            </a:r>
            <a:endParaRPr lang="zh-CN" sz="1800" dirty="0"/>
          </a:p>
        </p:txBody>
      </p:sp>
      <p:sp>
        <p:nvSpPr>
          <p:cNvPr id="14" name="s12/drawing/s12-content/e315"/>
          <p:cNvSpPr/>
          <p:nvPr/>
        </p:nvSpPr>
        <p:spPr>
          <a:xfrm>
            <a:off x="7848600" y="207645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26.7%</a:t>
            </a:r>
            <a:endParaRPr lang="zh-CN" sz="1800" dirty="0"/>
          </a:p>
        </p:txBody>
      </p:sp>
      <p:sp>
        <p:nvSpPr>
          <p:cNvPr id="15" name="s12/drawing/s12-content/e316"/>
          <p:cNvSpPr/>
          <p:nvPr/>
        </p:nvSpPr>
        <p:spPr>
          <a:xfrm>
            <a:off x="10039350" y="2076450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-72.6%</a:t>
            </a:r>
            <a:endParaRPr lang="zh-CN" sz="1800" dirty="0"/>
          </a:p>
        </p:txBody>
      </p:sp>
      <p:sp>
        <p:nvSpPr>
          <p:cNvPr id="16" name="s12/drawing/s12-content/e317"/>
          <p:cNvSpPr/>
          <p:nvPr/>
        </p:nvSpPr>
        <p:spPr>
          <a:xfrm>
            <a:off x="457200" y="2371725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XGBoost</a:t>
            </a:r>
            <a:endParaRPr lang="zh-CN" sz="1800" dirty="0"/>
          </a:p>
        </p:txBody>
      </p:sp>
      <p:sp>
        <p:nvSpPr>
          <p:cNvPr id="17" name="s12/drawing/s12-content/e318"/>
          <p:cNvSpPr/>
          <p:nvPr/>
        </p:nvSpPr>
        <p:spPr>
          <a:xfrm>
            <a:off x="3105150" y="237172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3664</a:t>
            </a:r>
            <a:endParaRPr lang="zh-CN" sz="1800" dirty="0"/>
          </a:p>
        </p:txBody>
      </p:sp>
      <p:sp>
        <p:nvSpPr>
          <p:cNvPr id="18" name="s12/drawing/s12-content/e319"/>
          <p:cNvSpPr/>
          <p:nvPr/>
        </p:nvSpPr>
        <p:spPr>
          <a:xfrm>
            <a:off x="5276850" y="2371725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2602</a:t>
            </a:r>
            <a:endParaRPr lang="zh-CN" sz="1800" dirty="0"/>
          </a:p>
        </p:txBody>
      </p:sp>
      <p:sp>
        <p:nvSpPr>
          <p:cNvPr id="19" name="s12/drawing/s12-content/e320"/>
          <p:cNvSpPr/>
          <p:nvPr/>
        </p:nvSpPr>
        <p:spPr>
          <a:xfrm>
            <a:off x="7848600" y="237172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29.0%</a:t>
            </a:r>
            <a:endParaRPr lang="zh-CN" sz="1800" dirty="0"/>
          </a:p>
        </p:txBody>
      </p:sp>
      <p:sp>
        <p:nvSpPr>
          <p:cNvPr id="20" name="s12/drawing/s12-content/e321"/>
          <p:cNvSpPr/>
          <p:nvPr/>
        </p:nvSpPr>
        <p:spPr>
          <a:xfrm>
            <a:off x="10039350" y="2371725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-17.1%</a:t>
            </a:r>
            <a:endParaRPr lang="zh-CN" sz="1800" dirty="0"/>
          </a:p>
        </p:txBody>
      </p:sp>
      <p:sp>
        <p:nvSpPr>
          <p:cNvPr id="21" name="s12/drawing/s12-content/e322"/>
          <p:cNvSpPr/>
          <p:nvPr/>
        </p:nvSpPr>
        <p:spPr>
          <a:xfrm>
            <a:off x="457200" y="2667000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LightGBM</a:t>
            </a:r>
            <a:endParaRPr lang="zh-CN" sz="1800" dirty="0"/>
          </a:p>
        </p:txBody>
      </p:sp>
      <p:sp>
        <p:nvSpPr>
          <p:cNvPr id="22" name="s12/drawing/s12-content/e323"/>
          <p:cNvSpPr/>
          <p:nvPr/>
        </p:nvSpPr>
        <p:spPr>
          <a:xfrm>
            <a:off x="3105150" y="266700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3245</a:t>
            </a:r>
            <a:endParaRPr lang="zh-CN" sz="1800" dirty="0"/>
          </a:p>
        </p:txBody>
      </p:sp>
      <p:sp>
        <p:nvSpPr>
          <p:cNvPr id="23" name="s12/drawing/s12-content/e324"/>
          <p:cNvSpPr/>
          <p:nvPr/>
        </p:nvSpPr>
        <p:spPr>
          <a:xfrm>
            <a:off x="5276850" y="2667000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2608</a:t>
            </a:r>
            <a:endParaRPr lang="zh-CN" sz="1800" dirty="0"/>
          </a:p>
        </p:txBody>
      </p:sp>
      <p:sp>
        <p:nvSpPr>
          <p:cNvPr id="24" name="s12/drawing/s12-content/e325"/>
          <p:cNvSpPr/>
          <p:nvPr/>
        </p:nvSpPr>
        <p:spPr>
          <a:xfrm>
            <a:off x="7848600" y="266700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19.6%</a:t>
            </a:r>
            <a:endParaRPr lang="zh-CN" sz="1800" dirty="0"/>
          </a:p>
        </p:txBody>
      </p:sp>
      <p:sp>
        <p:nvSpPr>
          <p:cNvPr id="25" name="s12/drawing/s12-content/e326"/>
          <p:cNvSpPr/>
          <p:nvPr/>
        </p:nvSpPr>
        <p:spPr>
          <a:xfrm>
            <a:off x="10039350" y="2667000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-17.5%</a:t>
            </a:r>
            <a:endParaRPr lang="zh-CN" sz="1800" dirty="0"/>
          </a:p>
        </p:txBody>
      </p:sp>
      <p:sp>
        <p:nvSpPr>
          <p:cNvPr id="26" name="s12/drawing/s12-content/e327"/>
          <p:cNvSpPr/>
          <p:nvPr/>
        </p:nvSpPr>
        <p:spPr>
          <a:xfrm>
            <a:off x="457200" y="2962275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</a:t>
            </a:r>
            <a:endParaRPr lang="zh-CN" sz="1800" dirty="0"/>
          </a:p>
        </p:txBody>
      </p:sp>
      <p:sp>
        <p:nvSpPr>
          <p:cNvPr id="27" name="s12/drawing/s12-content/e328"/>
          <p:cNvSpPr/>
          <p:nvPr/>
        </p:nvSpPr>
        <p:spPr>
          <a:xfrm>
            <a:off x="3105150" y="296227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3782</a:t>
            </a:r>
            <a:endParaRPr lang="zh-CN" sz="1800" dirty="0"/>
          </a:p>
        </p:txBody>
      </p:sp>
      <p:sp>
        <p:nvSpPr>
          <p:cNvPr id="28" name="s12/drawing/s12-content/e329"/>
          <p:cNvSpPr/>
          <p:nvPr/>
        </p:nvSpPr>
        <p:spPr>
          <a:xfrm>
            <a:off x="5276850" y="2962275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3591</a:t>
            </a:r>
            <a:endParaRPr lang="zh-CN" sz="1800" dirty="0"/>
          </a:p>
        </p:txBody>
      </p:sp>
      <p:sp>
        <p:nvSpPr>
          <p:cNvPr id="29" name="s12/drawing/s12-content/e330"/>
          <p:cNvSpPr/>
          <p:nvPr/>
        </p:nvSpPr>
        <p:spPr>
          <a:xfrm>
            <a:off x="7848600" y="296227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5.0%</a:t>
            </a:r>
            <a:endParaRPr lang="zh-CN" sz="1800" dirty="0"/>
          </a:p>
        </p:txBody>
      </p:sp>
      <p:sp>
        <p:nvSpPr>
          <p:cNvPr id="30" name="s12/drawing/s12-content/e331"/>
          <p:cNvSpPr/>
          <p:nvPr/>
        </p:nvSpPr>
        <p:spPr>
          <a:xfrm>
            <a:off x="10039350" y="2962275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-122.9%</a:t>
            </a:r>
            <a:endParaRPr lang="zh-CN" sz="1800" dirty="0"/>
          </a:p>
        </p:txBody>
      </p:sp>
      <p:sp>
        <p:nvSpPr>
          <p:cNvPr id="31" name="s12/drawing/s12-content/e332"/>
          <p:cNvSpPr/>
          <p:nvPr/>
        </p:nvSpPr>
        <p:spPr>
          <a:xfrm>
            <a:off x="457200" y="3257550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线性回归</a:t>
            </a:r>
            <a:endParaRPr lang="zh-CN" sz="1800" dirty="0"/>
          </a:p>
        </p:txBody>
      </p:sp>
      <p:sp>
        <p:nvSpPr>
          <p:cNvPr id="32" name="s12/drawing/s12-content/e333"/>
          <p:cNvSpPr/>
          <p:nvPr/>
        </p:nvSpPr>
        <p:spPr>
          <a:xfrm>
            <a:off x="3105150" y="325755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4869</a:t>
            </a:r>
            <a:endParaRPr lang="zh-CN" sz="1800" dirty="0"/>
          </a:p>
        </p:txBody>
      </p:sp>
      <p:sp>
        <p:nvSpPr>
          <p:cNvPr id="33" name="s12/drawing/s12-content/e334"/>
          <p:cNvSpPr/>
          <p:nvPr/>
        </p:nvSpPr>
        <p:spPr>
          <a:xfrm>
            <a:off x="5276850" y="3257550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2784</a:t>
            </a:r>
            <a:endParaRPr lang="zh-CN" sz="1800" dirty="0"/>
          </a:p>
        </p:txBody>
      </p:sp>
      <p:sp>
        <p:nvSpPr>
          <p:cNvPr id="34" name="s12/drawing/s12-content/e335"/>
          <p:cNvSpPr/>
          <p:nvPr/>
        </p:nvSpPr>
        <p:spPr>
          <a:xfrm>
            <a:off x="7848600" y="325755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42.8%</a:t>
            </a:r>
            <a:endParaRPr lang="zh-CN" sz="1800" dirty="0"/>
          </a:p>
        </p:txBody>
      </p:sp>
      <p:sp>
        <p:nvSpPr>
          <p:cNvPr id="35" name="s12/drawing/s12-content/e336"/>
          <p:cNvSpPr/>
          <p:nvPr/>
        </p:nvSpPr>
        <p:spPr>
          <a:xfrm>
            <a:off x="10039350" y="3257550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-34.0%</a:t>
            </a:r>
            <a:endParaRPr lang="zh-CN" sz="1800" dirty="0"/>
          </a:p>
        </p:txBody>
      </p:sp>
      <p:sp>
        <p:nvSpPr>
          <p:cNvPr id="36" name="s12/drawing/s12-content/e337"/>
          <p:cNvSpPr/>
          <p:nvPr/>
        </p:nvSpPr>
        <p:spPr>
          <a:xfrm>
            <a:off x="457200" y="3552825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加权集成</a:t>
            </a:r>
            <a:endParaRPr lang="zh-CN" sz="1800" dirty="0"/>
          </a:p>
        </p:txBody>
      </p:sp>
      <p:sp>
        <p:nvSpPr>
          <p:cNvPr id="37" name="s12/drawing/s12-content/e338"/>
          <p:cNvSpPr/>
          <p:nvPr/>
        </p:nvSpPr>
        <p:spPr>
          <a:xfrm>
            <a:off x="3105150" y="355282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3380</a:t>
            </a:r>
            <a:endParaRPr lang="zh-CN" sz="1800" dirty="0"/>
          </a:p>
        </p:txBody>
      </p:sp>
      <p:sp>
        <p:nvSpPr>
          <p:cNvPr id="38" name="s12/drawing/s12-content/e339"/>
          <p:cNvSpPr/>
          <p:nvPr/>
        </p:nvSpPr>
        <p:spPr>
          <a:xfrm>
            <a:off x="5276850" y="3552825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2664</a:t>
            </a:r>
            <a:endParaRPr lang="zh-CN" sz="1800" dirty="0"/>
          </a:p>
        </p:txBody>
      </p:sp>
      <p:sp>
        <p:nvSpPr>
          <p:cNvPr id="39" name="s12/drawing/s12-content/e340"/>
          <p:cNvSpPr/>
          <p:nvPr/>
        </p:nvSpPr>
        <p:spPr>
          <a:xfrm>
            <a:off x="7848600" y="355282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21.2%</a:t>
            </a:r>
            <a:endParaRPr lang="zh-CN" sz="1800" dirty="0"/>
          </a:p>
        </p:txBody>
      </p:sp>
      <p:sp>
        <p:nvSpPr>
          <p:cNvPr id="40" name="s12/drawing/s12-content/e341"/>
          <p:cNvSpPr/>
          <p:nvPr/>
        </p:nvSpPr>
        <p:spPr>
          <a:xfrm>
            <a:off x="10039350" y="3552825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-22.7%</a:t>
            </a:r>
            <a:endParaRPr lang="zh-CN" sz="1800" dirty="0"/>
          </a:p>
        </p:txBody>
      </p:sp>
      <p:sp>
        <p:nvSpPr>
          <p:cNvPr id="41" name="s12/drawing/s12-content/e342"/>
          <p:cNvSpPr/>
          <p:nvPr/>
        </p:nvSpPr>
        <p:spPr>
          <a:xfrm>
            <a:off x="457200" y="3848100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均值集成</a:t>
            </a:r>
            <a:endParaRPr lang="zh-CN" sz="1800" dirty="0"/>
          </a:p>
        </p:txBody>
      </p:sp>
      <p:sp>
        <p:nvSpPr>
          <p:cNvPr id="42" name="s12/drawing/s12-content/e343"/>
          <p:cNvSpPr/>
          <p:nvPr/>
        </p:nvSpPr>
        <p:spPr>
          <a:xfrm>
            <a:off x="3105150" y="384810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3946</a:t>
            </a:r>
            <a:endParaRPr lang="zh-CN" sz="1800" dirty="0"/>
          </a:p>
        </p:txBody>
      </p:sp>
      <p:sp>
        <p:nvSpPr>
          <p:cNvPr id="43" name="s12/drawing/s12-content/e344"/>
          <p:cNvSpPr/>
          <p:nvPr/>
        </p:nvSpPr>
        <p:spPr>
          <a:xfrm>
            <a:off x="5276850" y="3848100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2908</a:t>
            </a:r>
            <a:endParaRPr lang="zh-CN" sz="1800" dirty="0"/>
          </a:p>
        </p:txBody>
      </p:sp>
      <p:sp>
        <p:nvSpPr>
          <p:cNvPr id="44" name="s12/drawing/s12-content/e345"/>
          <p:cNvSpPr/>
          <p:nvPr/>
        </p:nvSpPr>
        <p:spPr>
          <a:xfrm>
            <a:off x="7848600" y="384810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26.3%</a:t>
            </a:r>
            <a:endParaRPr lang="zh-CN" sz="1800" dirty="0"/>
          </a:p>
        </p:txBody>
      </p:sp>
      <p:sp>
        <p:nvSpPr>
          <p:cNvPr id="45" name="s12/drawing/s12-content/e346"/>
          <p:cNvSpPr/>
          <p:nvPr/>
        </p:nvSpPr>
        <p:spPr>
          <a:xfrm>
            <a:off x="10039350" y="3848100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-46.2%</a:t>
            </a:r>
            <a:endParaRPr lang="zh-CN" sz="1800" dirty="0"/>
          </a:p>
        </p:txBody>
      </p:sp>
      <p:sp>
        <p:nvSpPr>
          <p:cNvPr id="46" name="s12/drawing/s12-content/e347"/>
          <p:cNvSpPr/>
          <p:nvPr/>
        </p:nvSpPr>
        <p:spPr>
          <a:xfrm>
            <a:off x="457200" y="4133850"/>
            <a:ext cx="11277600" cy="295275"/>
          </a:xfrm>
          <a:prstGeom prst="rect">
            <a:avLst/>
          </a:prstGeom>
          <a:solidFill>
            <a:srgbClr val="ED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12/drawing/s12-content/e348"/>
          <p:cNvSpPr/>
          <p:nvPr/>
        </p:nvSpPr>
        <p:spPr>
          <a:xfrm>
            <a:off x="457200" y="4143375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Stack–Reg</a:t>
            </a:r>
            <a:endParaRPr lang="zh-CN" sz="1800" dirty="0"/>
          </a:p>
        </p:txBody>
      </p:sp>
      <p:sp>
        <p:nvSpPr>
          <p:cNvPr id="48" name="s12/drawing/s12-content/e349"/>
          <p:cNvSpPr/>
          <p:nvPr/>
        </p:nvSpPr>
        <p:spPr>
          <a:xfrm>
            <a:off x="3105150" y="414337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3398</a:t>
            </a:r>
            <a:endParaRPr lang="zh-CN" sz="1800" dirty="0"/>
          </a:p>
        </p:txBody>
      </p:sp>
      <p:sp>
        <p:nvSpPr>
          <p:cNvPr id="49" name="s12/drawing/s12-content/e350"/>
          <p:cNvSpPr/>
          <p:nvPr/>
        </p:nvSpPr>
        <p:spPr>
          <a:xfrm>
            <a:off x="5276850" y="4143375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2545</a:t>
            </a:r>
            <a:endParaRPr lang="zh-CN" sz="1800" dirty="0"/>
          </a:p>
        </p:txBody>
      </p:sp>
      <p:sp>
        <p:nvSpPr>
          <p:cNvPr id="50" name="s12/drawing/s12-content/e351"/>
          <p:cNvSpPr/>
          <p:nvPr/>
        </p:nvSpPr>
        <p:spPr>
          <a:xfrm>
            <a:off x="7848600" y="414337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25.1%</a:t>
            </a:r>
            <a:endParaRPr lang="zh-CN" sz="1800" dirty="0"/>
          </a:p>
        </p:txBody>
      </p:sp>
      <p:sp>
        <p:nvSpPr>
          <p:cNvPr id="51" name="s12/drawing/s12-content/e352"/>
          <p:cNvSpPr/>
          <p:nvPr/>
        </p:nvSpPr>
        <p:spPr>
          <a:xfrm>
            <a:off x="10039350" y="4143375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-12.0%</a:t>
            </a:r>
            <a:endParaRPr lang="zh-CN" sz="1800" dirty="0"/>
          </a:p>
        </p:txBody>
      </p:sp>
      <p:sp>
        <p:nvSpPr>
          <p:cNvPr id="52" name="s12/drawing/s12-content/e353"/>
          <p:cNvSpPr/>
          <p:nvPr/>
        </p:nvSpPr>
        <p:spPr>
          <a:xfrm>
            <a:off x="457200" y="4438650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Stack–LASSO</a:t>
            </a:r>
            <a:endParaRPr lang="zh-CN" sz="1800" dirty="0"/>
          </a:p>
        </p:txBody>
      </p:sp>
      <p:sp>
        <p:nvSpPr>
          <p:cNvPr id="53" name="s12/drawing/s12-content/e354"/>
          <p:cNvSpPr/>
          <p:nvPr/>
        </p:nvSpPr>
        <p:spPr>
          <a:xfrm>
            <a:off x="3105150" y="443865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3403</a:t>
            </a:r>
            <a:endParaRPr lang="zh-CN" sz="1800" dirty="0"/>
          </a:p>
        </p:txBody>
      </p:sp>
      <p:sp>
        <p:nvSpPr>
          <p:cNvPr id="54" name="s12/drawing/s12-content/e355"/>
          <p:cNvSpPr/>
          <p:nvPr/>
        </p:nvSpPr>
        <p:spPr>
          <a:xfrm>
            <a:off x="5276850" y="4438650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2561</a:t>
            </a:r>
            <a:endParaRPr lang="zh-CN" sz="1800" dirty="0"/>
          </a:p>
        </p:txBody>
      </p:sp>
      <p:sp>
        <p:nvSpPr>
          <p:cNvPr id="55" name="s12/drawing/s12-content/e356"/>
          <p:cNvSpPr/>
          <p:nvPr/>
        </p:nvSpPr>
        <p:spPr>
          <a:xfrm>
            <a:off x="7848600" y="443865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24.7%</a:t>
            </a:r>
            <a:endParaRPr lang="zh-CN" sz="1800" dirty="0"/>
          </a:p>
        </p:txBody>
      </p:sp>
      <p:sp>
        <p:nvSpPr>
          <p:cNvPr id="56" name="s12/drawing/s12-content/e357"/>
          <p:cNvSpPr/>
          <p:nvPr/>
        </p:nvSpPr>
        <p:spPr>
          <a:xfrm>
            <a:off x="10039350" y="4438650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-13.4%</a:t>
            </a:r>
            <a:endParaRPr lang="zh-CN" sz="1800" dirty="0"/>
          </a:p>
        </p:txBody>
      </p:sp>
      <p:sp>
        <p:nvSpPr>
          <p:cNvPr id="57" name="s12/drawing/s12-content/e358"/>
          <p:cNvSpPr/>
          <p:nvPr/>
        </p:nvSpPr>
        <p:spPr>
          <a:xfrm>
            <a:off x="457200" y="4733925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Stack–RF</a:t>
            </a:r>
            <a:endParaRPr lang="zh-CN" sz="1800" dirty="0"/>
          </a:p>
        </p:txBody>
      </p:sp>
      <p:sp>
        <p:nvSpPr>
          <p:cNvPr id="58" name="s12/drawing/s12-content/e359"/>
          <p:cNvSpPr/>
          <p:nvPr/>
        </p:nvSpPr>
        <p:spPr>
          <a:xfrm>
            <a:off x="3105150" y="473392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3289</a:t>
            </a:r>
            <a:endParaRPr lang="zh-CN" sz="1800" dirty="0"/>
          </a:p>
        </p:txBody>
      </p:sp>
      <p:sp>
        <p:nvSpPr>
          <p:cNvPr id="59" name="s12/drawing/s12-content/e360"/>
          <p:cNvSpPr/>
          <p:nvPr/>
        </p:nvSpPr>
        <p:spPr>
          <a:xfrm>
            <a:off x="5276850" y="4733925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2571</a:t>
            </a:r>
            <a:endParaRPr lang="zh-CN" sz="1800" dirty="0"/>
          </a:p>
        </p:txBody>
      </p:sp>
      <p:sp>
        <p:nvSpPr>
          <p:cNvPr id="60" name="s12/drawing/s12-content/e361"/>
          <p:cNvSpPr/>
          <p:nvPr/>
        </p:nvSpPr>
        <p:spPr>
          <a:xfrm>
            <a:off x="7848600" y="4733925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21.8%</a:t>
            </a:r>
            <a:endParaRPr lang="zh-CN" sz="1800" dirty="0"/>
          </a:p>
        </p:txBody>
      </p:sp>
      <p:sp>
        <p:nvSpPr>
          <p:cNvPr id="61" name="s12/drawing/s12-content/e362"/>
          <p:cNvSpPr/>
          <p:nvPr/>
        </p:nvSpPr>
        <p:spPr>
          <a:xfrm>
            <a:off x="10039350" y="4733925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-14.3%</a:t>
            </a:r>
            <a:endParaRPr lang="zh-CN" sz="1800" dirty="0"/>
          </a:p>
        </p:txBody>
      </p:sp>
      <p:sp>
        <p:nvSpPr>
          <p:cNvPr id="62" name="s12/drawing/s12-content/e363"/>
          <p:cNvSpPr/>
          <p:nvPr/>
        </p:nvSpPr>
        <p:spPr>
          <a:xfrm>
            <a:off x="457200" y="5029200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Stack–LGBM</a:t>
            </a:r>
            <a:endParaRPr lang="zh-CN" sz="1800" dirty="0"/>
          </a:p>
        </p:txBody>
      </p:sp>
      <p:sp>
        <p:nvSpPr>
          <p:cNvPr id="63" name="s12/drawing/s12-content/e364"/>
          <p:cNvSpPr/>
          <p:nvPr/>
        </p:nvSpPr>
        <p:spPr>
          <a:xfrm>
            <a:off x="3105150" y="502920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3462</a:t>
            </a:r>
            <a:endParaRPr lang="zh-CN" sz="1800" dirty="0"/>
          </a:p>
        </p:txBody>
      </p:sp>
      <p:sp>
        <p:nvSpPr>
          <p:cNvPr id="64" name="s12/drawing/s12-content/e365"/>
          <p:cNvSpPr/>
          <p:nvPr/>
        </p:nvSpPr>
        <p:spPr>
          <a:xfrm>
            <a:off x="5276850" y="5029200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2588</a:t>
            </a:r>
            <a:endParaRPr lang="zh-CN" sz="1800" dirty="0"/>
          </a:p>
        </p:txBody>
      </p:sp>
      <p:sp>
        <p:nvSpPr>
          <p:cNvPr id="65" name="s12/drawing/s12-content/e366"/>
          <p:cNvSpPr/>
          <p:nvPr/>
        </p:nvSpPr>
        <p:spPr>
          <a:xfrm>
            <a:off x="7848600" y="5029200"/>
            <a:ext cx="1714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25.2%</a:t>
            </a:r>
            <a:endParaRPr lang="zh-CN" sz="1800" dirty="0"/>
          </a:p>
        </p:txBody>
      </p:sp>
      <p:sp>
        <p:nvSpPr>
          <p:cNvPr id="66" name="s12/drawing/s12-content/e367"/>
          <p:cNvSpPr/>
          <p:nvPr/>
        </p:nvSpPr>
        <p:spPr>
          <a:xfrm>
            <a:off x="10039350" y="5029200"/>
            <a:ext cx="1619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-15.8%</a:t>
            </a:r>
            <a:endParaRPr lang="zh-CN" sz="1800" dirty="0"/>
          </a:p>
        </p:txBody>
      </p:sp>
      <p:sp>
        <p:nvSpPr>
          <p:cNvPr id="67" name="s12/drawing/s12-content/e368"/>
          <p:cNvSpPr/>
          <p:nvPr/>
        </p:nvSpPr>
        <p:spPr>
          <a:xfrm>
            <a:off x="457200" y="5495925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全部混合模型 R² &lt; 0：误差降低，极端年可靠性仍未建立。</a:t>
            </a:r>
            <a:endParaRPr lang="zh-CN" sz="2100" dirty="0"/>
          </a:p>
        </p:txBody>
      </p:sp>
      <p:sp>
        <p:nvSpPr>
          <p:cNvPr id="68" name="s12/drawing/s12-content/e369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et al. (2021) · CC BY 4.0 · Table 3 p.11；RMSE单位kg/ha；R²沿用原表百分数。</a:t>
            </a:r>
            <a:endParaRPr lang="zh-CN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16</a:t>
            </a:r>
            <a:endParaRPr lang="zh-CN" sz="1350" dirty="0"/>
          </a:p>
        </p:txBody>
      </p:sp>
      <p:sp>
        <p:nvSpPr>
          <p:cNvPr id="3" name="s13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水文过程值得进入特征，贡献却不是普适常数</a:t>
            </a:r>
            <a:endParaRPr lang="zh-CN" sz="3000" dirty="0"/>
          </a:p>
        </p:txBody>
      </p:sp>
      <p:sp>
        <p:nvSpPr>
          <p:cNvPr id="4" name="s13/drawing/s13-content/e370"/>
          <p:cNvSpPr/>
          <p:nvPr/>
        </p:nvSpPr>
        <p:spPr>
          <a:xfrm>
            <a:off x="457200" y="100965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2018测试年 · 只加入指定类别的APSIM变量</a:t>
            </a:r>
            <a:endParaRPr lang="zh-CN" sz="2100" dirty="0"/>
          </a:p>
        </p:txBody>
      </p:sp>
      <p:sp>
        <p:nvSpPr>
          <p:cNvPr id="5" name="s13/drawing/s13-content/e371"/>
          <p:cNvSpPr/>
          <p:nvPr/>
        </p:nvSpPr>
        <p:spPr>
          <a:xfrm>
            <a:off x="457200" y="1562100"/>
            <a:ext cx="7467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分组消融：同模型内比较 RMSE（kg/ha）</a:t>
            </a:r>
            <a:endParaRPr lang="zh-CN" sz="2100" dirty="0"/>
          </a:p>
        </p:txBody>
      </p:sp>
      <p:sp>
        <p:nvSpPr>
          <p:cNvPr id="6" name="s13/drawing/s13-content/e372"/>
          <p:cNvSpPr/>
          <p:nvPr/>
        </p:nvSpPr>
        <p:spPr>
          <a:xfrm>
            <a:off x="8620125" y="1562100"/>
            <a:ext cx="311467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APSIM变量重要性</a:t>
            </a:r>
            <a:endParaRPr lang="zh-CN" sz="2100" dirty="0"/>
          </a:p>
        </p:txBody>
      </p:sp>
      <p:sp>
        <p:nvSpPr>
          <p:cNvPr id="7" name="s13/drawing/s13-content/e373"/>
          <p:cNvSpPr/>
          <p:nvPr/>
        </p:nvSpPr>
        <p:spPr>
          <a:xfrm>
            <a:off x="2762250" y="2114550"/>
            <a:ext cx="1428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物候</a:t>
            </a:r>
            <a:endParaRPr lang="zh-CN" sz="1800" dirty="0"/>
          </a:p>
        </p:txBody>
      </p:sp>
      <p:sp>
        <p:nvSpPr>
          <p:cNvPr id="8" name="s13/drawing/s13-content/e374"/>
          <p:cNvSpPr/>
          <p:nvPr/>
        </p:nvSpPr>
        <p:spPr>
          <a:xfrm>
            <a:off x="4552950" y="2114550"/>
            <a:ext cx="1428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</a:t>
            </a:r>
            <a:endParaRPr lang="zh-CN" sz="1800" dirty="0"/>
          </a:p>
        </p:txBody>
      </p:sp>
      <p:sp>
        <p:nvSpPr>
          <p:cNvPr id="9" name="s13/drawing/s13-content/e375"/>
          <p:cNvSpPr/>
          <p:nvPr/>
        </p:nvSpPr>
        <p:spPr>
          <a:xfrm>
            <a:off x="6343650" y="2114550"/>
            <a:ext cx="17716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水土天气</a:t>
            </a:r>
            <a:endParaRPr lang="zh-CN" sz="1800" dirty="0"/>
          </a:p>
        </p:txBody>
      </p:sp>
      <p:sp>
        <p:nvSpPr>
          <p:cNvPr id="10" name="s13/drawing/s13-content/e376/segment-1"/>
          <p:cNvSpPr/>
          <p:nvPr/>
        </p:nvSpPr>
        <p:spPr>
          <a:xfrm>
            <a:off x="457200" y="2533650"/>
            <a:ext cx="7620000" cy="0"/>
          </a:xfrm>
          <a:prstGeom prst="line">
            <a:avLst/>
          </a:prstGeom>
          <a:noFill/>
          <a:ln w="13335">
            <a:solidFill>
              <a:srgbClr val="182B32"/>
            </a:solidFill>
            <a:prstDash val="solid"/>
          </a:ln>
        </p:spPr>
      </p:sp>
      <p:sp>
        <p:nvSpPr>
          <p:cNvPr id="11" name="s13/drawing/s13-content/e377"/>
          <p:cNvSpPr/>
          <p:nvPr/>
        </p:nvSpPr>
        <p:spPr>
          <a:xfrm>
            <a:off x="457200" y="2800350"/>
            <a:ext cx="22288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Stack–Reg</a:t>
            </a:r>
            <a:endParaRPr lang="zh-CN" sz="2100" dirty="0"/>
          </a:p>
        </p:txBody>
      </p:sp>
      <p:sp>
        <p:nvSpPr>
          <p:cNvPr id="12" name="s13/drawing/s13-content/e378"/>
          <p:cNvSpPr/>
          <p:nvPr/>
        </p:nvSpPr>
        <p:spPr>
          <a:xfrm>
            <a:off x="2762250" y="2800350"/>
            <a:ext cx="14287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1,040</a:t>
            </a:r>
            <a:endParaRPr lang="zh-CN" sz="2100" dirty="0"/>
          </a:p>
        </p:txBody>
      </p:sp>
      <p:sp>
        <p:nvSpPr>
          <p:cNvPr id="13" name="s13/drawing/s13-content/e379"/>
          <p:cNvSpPr/>
          <p:nvPr/>
        </p:nvSpPr>
        <p:spPr>
          <a:xfrm>
            <a:off x="4552950" y="2800350"/>
            <a:ext cx="14287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906</a:t>
            </a:r>
            <a:endParaRPr lang="zh-CN" sz="2100" dirty="0"/>
          </a:p>
        </p:txBody>
      </p:sp>
      <p:sp>
        <p:nvSpPr>
          <p:cNvPr id="14" name="s13/drawing/s13-content/e380"/>
          <p:cNvSpPr/>
          <p:nvPr/>
        </p:nvSpPr>
        <p:spPr>
          <a:xfrm>
            <a:off x="6343650" y="2800350"/>
            <a:ext cx="17716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837</a:t>
            </a:r>
            <a:endParaRPr lang="zh-CN" sz="2100" dirty="0"/>
          </a:p>
        </p:txBody>
      </p:sp>
      <p:sp>
        <p:nvSpPr>
          <p:cNvPr id="15" name="s13/drawing/s13-content/e381/segment-1"/>
          <p:cNvSpPr/>
          <p:nvPr/>
        </p:nvSpPr>
        <p:spPr>
          <a:xfrm>
            <a:off x="457200" y="3419475"/>
            <a:ext cx="762000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6" name="s13/drawing/s13-content/e382"/>
          <p:cNvSpPr/>
          <p:nvPr/>
        </p:nvSpPr>
        <p:spPr>
          <a:xfrm>
            <a:off x="457200" y="3686175"/>
            <a:ext cx="22288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</a:t>
            </a:r>
            <a:endParaRPr lang="zh-CN" sz="2100" dirty="0"/>
          </a:p>
        </p:txBody>
      </p:sp>
      <p:sp>
        <p:nvSpPr>
          <p:cNvPr id="17" name="s13/drawing/s13-content/e383"/>
          <p:cNvSpPr/>
          <p:nvPr/>
        </p:nvSpPr>
        <p:spPr>
          <a:xfrm>
            <a:off x="2762250" y="3686175"/>
            <a:ext cx="14287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1,562</a:t>
            </a:r>
            <a:endParaRPr lang="zh-CN" sz="2100" dirty="0"/>
          </a:p>
        </p:txBody>
      </p:sp>
      <p:sp>
        <p:nvSpPr>
          <p:cNvPr id="18" name="s13/drawing/s13-content/e384"/>
          <p:cNvSpPr/>
          <p:nvPr/>
        </p:nvSpPr>
        <p:spPr>
          <a:xfrm>
            <a:off x="4552950" y="3686175"/>
            <a:ext cx="14287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1,208</a:t>
            </a:r>
            <a:endParaRPr lang="zh-CN" sz="2100" dirty="0"/>
          </a:p>
        </p:txBody>
      </p:sp>
      <p:sp>
        <p:nvSpPr>
          <p:cNvPr id="19" name="s13/drawing/s13-content/e385"/>
          <p:cNvSpPr/>
          <p:nvPr/>
        </p:nvSpPr>
        <p:spPr>
          <a:xfrm>
            <a:off x="6343650" y="3686175"/>
            <a:ext cx="17716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1,603</a:t>
            </a:r>
            <a:endParaRPr lang="zh-CN" sz="2100" dirty="0"/>
          </a:p>
        </p:txBody>
      </p:sp>
      <p:sp>
        <p:nvSpPr>
          <p:cNvPr id="20" name="s13/drawing/s13-content/e386"/>
          <p:cNvSpPr/>
          <p:nvPr/>
        </p:nvSpPr>
        <p:spPr>
          <a:xfrm>
            <a:off x="8620125" y="1981200"/>
            <a:ext cx="9144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D263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2017</a:t>
            </a:r>
            <a:endParaRPr lang="zh-CN" sz="1800" dirty="0"/>
          </a:p>
        </p:txBody>
      </p:sp>
      <p:sp>
        <p:nvSpPr>
          <p:cNvPr id="21" name="s13/drawing/s13-content/e387"/>
          <p:cNvSpPr/>
          <p:nvPr/>
        </p:nvSpPr>
        <p:spPr>
          <a:xfrm>
            <a:off x="9629775" y="1981200"/>
            <a:ext cx="9144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8080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2018</a:t>
            </a:r>
            <a:endParaRPr lang="zh-CN" sz="1800" dirty="0"/>
          </a:p>
        </p:txBody>
      </p:sp>
      <p:sp>
        <p:nvSpPr>
          <p:cNvPr id="22" name="s13/drawing/s13-content/e388"/>
          <p:cNvSpPr/>
          <p:nvPr/>
        </p:nvSpPr>
        <p:spPr>
          <a:xfrm>
            <a:off x="10629900" y="1981200"/>
            <a:ext cx="1104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00A7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2012</a:t>
            </a:r>
            <a:endParaRPr lang="zh-CN" sz="1800" dirty="0"/>
          </a:p>
        </p:txBody>
      </p:sp>
      <p:pic>
        <p:nvPicPr>
          <p:cNvPr id="23" name="s13/drawing/s13-content/e389" descr="Average normalized permutation importance of APSIM features for all test years. AvgDroughtStress: Average drought stress on leaf development, AvgWTInseason: Depth to water table of growing season (mm), NlossTotal: Total N loss (denitrification and leaching) (kg N/ha), CropYield: Crop yield (kg/ha), GrainINupt: Grain N uptake (kg N/ha), Bioma: Crop above ground biomass (kg/ha), SWtoDUL30Inseason: Growing season average soil water to field capacity ratio at 30 cm, ETAnnual: Actual evapotranspiration (mm), CropTraspiration: Crop transpiration (mm).">    </p:cNvPr>
          <p:cNvPicPr>
            <a:picLocks noChangeAspect="1"/>
          </p:cNvPicPr>
          <p:nvPr/>
        </p:nvPicPr>
        <p:blipFill>
          <a:blip r:embed="rId1"/>
          <a:srcRect l="0" r="72800" t="0" b="24500"/>
          <a:stretch/>
        </p:blipFill>
        <p:spPr>
          <a:xfrm>
            <a:off x="9248702" y="2286000"/>
            <a:ext cx="1857520" cy="3000375"/>
          </a:xfrm>
          <a:prstGeom prst="rect">
            <a:avLst/>
          </a:prstGeom>
        </p:spPr>
      </p:pic>
      <p:sp>
        <p:nvSpPr>
          <p:cNvPr id="24" name="s13/drawing/s13-content/e390"/>
          <p:cNvSpPr/>
          <p:nvPr/>
        </p:nvSpPr>
        <p:spPr>
          <a:xfrm>
            <a:off x="8191500" y="5324475"/>
            <a:ext cx="35433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旱胁迫 / 生长季地下水位</a:t>
            </a:r>
            <a:endParaRPr lang="zh-CN" sz="1800" dirty="0"/>
          </a:p>
        </p:txBody>
      </p:sp>
      <p:sp>
        <p:nvSpPr>
          <p:cNvPr id="25" name="s13/drawing/s13-content/e391"/>
          <p:cNvSpPr/>
          <p:nvPr/>
        </p:nvSpPr>
        <p:spPr>
          <a:xfrm>
            <a:off x="457200" y="4581525"/>
            <a:ext cx="7429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水文特征有价值；最优输入组依模型而变。</a:t>
            </a:r>
            <a:endParaRPr lang="zh-CN" sz="2400" dirty="0"/>
          </a:p>
        </p:txBody>
      </p:sp>
      <p:sp>
        <p:nvSpPr>
          <p:cNvPr id="26" name="s13/drawing/s13-content/e392"/>
          <p:cNvSpPr/>
          <p:nvPr/>
        </p:nvSpPr>
        <p:spPr>
          <a:xfrm>
            <a:off x="457200" y="5610225"/>
            <a:ext cx="11277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置换重要性表示模型依赖，不能作因果效应。</a:t>
            </a:r>
            <a:endParaRPr lang="zh-CN" sz="2100" dirty="0"/>
          </a:p>
        </p:txBody>
      </p:sp>
      <p:sp>
        <p:nvSpPr>
          <p:cNvPr id="27" name="s13/drawing/s13-content/e393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et al. (2021) · CC BY 4.0 · Table 4 p.11；Fig.8裁取前两组，2017粉 / 2018灰 / 2012蓝；未估读柱高。</a:t>
            </a:r>
            <a:endParaRPr lang="zh-CN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16</a:t>
            </a:r>
            <a:endParaRPr lang="zh-CN" sz="1350" dirty="0"/>
          </a:p>
        </p:txBody>
      </p:sp>
      <p:sp>
        <p:nvSpPr>
          <p:cNvPr id="3" name="s14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三条路径的共同结论：信息有效，外推证据仍分层</a:t>
            </a:r>
            <a:endParaRPr lang="zh-CN" sz="3000" dirty="0"/>
          </a:p>
        </p:txBody>
      </p:sp>
      <p:sp>
        <p:nvSpPr>
          <p:cNvPr id="4" name="s14/drawing/s14-content/e394"/>
          <p:cNvSpPr/>
          <p:nvPr/>
        </p:nvSpPr>
        <p:spPr>
          <a:xfrm>
            <a:off x="457200" y="1009650"/>
            <a:ext cx="5619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 / 已支持的判断</a:t>
            </a:r>
            <a:endParaRPr lang="zh-CN" sz="2100" dirty="0"/>
          </a:p>
        </p:txBody>
      </p:sp>
      <p:sp>
        <p:nvSpPr>
          <p:cNvPr id="5" name="s14/drawing/s14-content/e395"/>
          <p:cNvSpPr/>
          <p:nvPr/>
        </p:nvSpPr>
        <p:spPr>
          <a:xfrm>
            <a:off x="6743700" y="1009650"/>
            <a:ext cx="4991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改变解释的边界</a:t>
            </a:r>
            <a:endParaRPr lang="zh-CN" sz="2100" dirty="0"/>
          </a:p>
        </p:txBody>
      </p:sp>
      <p:sp>
        <p:nvSpPr>
          <p:cNvPr id="6" name="s14/drawing/s14-content/e396/segment-1"/>
          <p:cNvSpPr/>
          <p:nvPr/>
        </p:nvSpPr>
        <p:spPr>
          <a:xfrm>
            <a:off x="457200" y="1562100"/>
            <a:ext cx="11277600" cy="0"/>
          </a:xfrm>
          <a:prstGeom prst="line">
            <a:avLst/>
          </a:prstGeom>
          <a:noFill/>
          <a:ln w="14288">
            <a:solidFill>
              <a:srgbClr val="182B32"/>
            </a:solidFill>
            <a:prstDash val="solid"/>
          </a:ln>
        </p:spPr>
      </p:sp>
      <p:sp>
        <p:nvSpPr>
          <p:cNvPr id="7" name="s14/drawing/s14-content/e397"/>
          <p:cNvSpPr/>
          <p:nvPr/>
        </p:nvSpPr>
        <p:spPr>
          <a:xfrm>
            <a:off x="457200" y="1790700"/>
            <a:ext cx="5619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</a:t>
            </a:r>
            <a:endParaRPr lang="zh-CN" sz="2100" dirty="0"/>
          </a:p>
        </p:txBody>
      </p:sp>
      <p:sp>
        <p:nvSpPr>
          <p:cNvPr id="8" name="s14/drawing/s14-content/e398"/>
          <p:cNvSpPr/>
          <p:nvPr/>
        </p:nvSpPr>
        <p:spPr>
          <a:xfrm>
            <a:off x="457200" y="2247900"/>
            <a:ext cx="5810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局地时序映射可以拟合网格产量</a:t>
            </a:r>
            <a:endParaRPr lang="zh-CN" sz="2100" dirty="0"/>
          </a:p>
        </p:txBody>
      </p:sp>
      <p:sp>
        <p:nvSpPr>
          <p:cNvPr id="9" name="s14/drawing/s14-content/e399"/>
          <p:cNvSpPr/>
          <p:nvPr/>
        </p:nvSpPr>
        <p:spPr>
          <a:xfrm>
            <a:off x="6743700" y="1790700"/>
            <a:ext cx="49911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同区同季随机留出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缺空间块与跨年测试</a:t>
            </a:r>
            <a:endParaRPr lang="zh-CN" sz="2100" dirty="0"/>
          </a:p>
        </p:txBody>
      </p:sp>
      <p:sp>
        <p:nvSpPr>
          <p:cNvPr id="10" name="s14/drawing/s14-content/e400/segment-1"/>
          <p:cNvSpPr/>
          <p:nvPr/>
        </p:nvSpPr>
        <p:spPr>
          <a:xfrm>
            <a:off x="457200" y="2819400"/>
            <a:ext cx="1127760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1" name="s14/drawing/s14-content/e401"/>
          <p:cNvSpPr/>
          <p:nvPr/>
        </p:nvSpPr>
        <p:spPr>
          <a:xfrm>
            <a:off x="457200" y="3000375"/>
            <a:ext cx="5619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状态同化</a:t>
            </a:r>
            <a:endParaRPr lang="zh-CN" sz="2100" dirty="0"/>
          </a:p>
        </p:txBody>
      </p:sp>
      <p:sp>
        <p:nvSpPr>
          <p:cNvPr id="12" name="s14/drawing/s14-content/e402"/>
          <p:cNvSpPr/>
          <p:nvPr/>
        </p:nvSpPr>
        <p:spPr>
          <a:xfrm>
            <a:off x="457200" y="3457575"/>
            <a:ext cx="5810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遥感SM可改善状态与产量估计</a:t>
            </a:r>
            <a:endParaRPr lang="zh-CN" sz="2100" dirty="0"/>
          </a:p>
        </p:txBody>
      </p:sp>
      <p:sp>
        <p:nvSpPr>
          <p:cNvPr id="13" name="s14/drawing/s14-content/e403"/>
          <p:cNvSpPr/>
          <p:nvPr/>
        </p:nvSpPr>
        <p:spPr>
          <a:xfrm>
            <a:off x="6743700" y="3000375"/>
            <a:ext cx="49911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表层 / 根区支撑不一致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三期观测与反演误差</a:t>
            </a:r>
            <a:endParaRPr lang="zh-CN" sz="2100" dirty="0"/>
          </a:p>
        </p:txBody>
      </p:sp>
      <p:sp>
        <p:nvSpPr>
          <p:cNvPr id="14" name="s14/drawing/s14-content/e404/segment-1"/>
          <p:cNvSpPr/>
          <p:nvPr/>
        </p:nvSpPr>
        <p:spPr>
          <a:xfrm>
            <a:off x="457200" y="4029075"/>
            <a:ext cx="1127760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5" name="s14/drawing/s14-content/e405"/>
          <p:cNvSpPr/>
          <p:nvPr/>
        </p:nvSpPr>
        <p:spPr>
          <a:xfrm>
            <a:off x="457200" y="4210050"/>
            <a:ext cx="5619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机理特征融合</a:t>
            </a:r>
            <a:endParaRPr lang="zh-CN" sz="2100" dirty="0"/>
          </a:p>
        </p:txBody>
      </p:sp>
      <p:sp>
        <p:nvSpPr>
          <p:cNvPr id="16" name="s14/drawing/s14-content/e406"/>
          <p:cNvSpPr/>
          <p:nvPr/>
        </p:nvSpPr>
        <p:spPr>
          <a:xfrm>
            <a:off x="457200" y="4667250"/>
            <a:ext cx="5810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过程变量可增加学习器的预测信息</a:t>
            </a:r>
            <a:endParaRPr lang="zh-CN" sz="2100" dirty="0"/>
          </a:p>
        </p:txBody>
      </p:sp>
      <p:sp>
        <p:nvSpPr>
          <p:cNvPr id="17" name="s14/drawing/s14-content/e407"/>
          <p:cNvSpPr/>
          <p:nvPr/>
        </p:nvSpPr>
        <p:spPr>
          <a:xfrm>
            <a:off x="6743700" y="4210050"/>
            <a:ext cx="49911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全年天气已知、未加遥感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2012所有混合R²仍负</a:t>
            </a:r>
            <a:endParaRPr lang="zh-CN" sz="2100" dirty="0"/>
          </a:p>
        </p:txBody>
      </p:sp>
      <p:sp>
        <p:nvSpPr>
          <p:cNvPr id="18" name="s14/drawing/s14-content/e408/segment-1"/>
          <p:cNvSpPr/>
          <p:nvPr/>
        </p:nvSpPr>
        <p:spPr>
          <a:xfrm>
            <a:off x="457200" y="5238750"/>
            <a:ext cx="11277600" cy="0"/>
          </a:xfrm>
          <a:prstGeom prst="line">
            <a:avLst/>
          </a:prstGeom>
          <a:noFill/>
          <a:ln w="9525">
            <a:solidFill>
              <a:srgbClr val="CDD5CF"/>
            </a:solidFill>
            <a:prstDash val="solid"/>
          </a:ln>
        </p:spPr>
      </p:sp>
      <p:sp>
        <p:nvSpPr>
          <p:cNvPr id="19" name="s14/drawing/s14-content/e409"/>
          <p:cNvSpPr/>
          <p:nvPr/>
        </p:nvSpPr>
        <p:spPr>
          <a:xfrm>
            <a:off x="457200" y="5495925"/>
            <a:ext cx="11277600" cy="466725"/>
          </a:xfrm>
          <a:prstGeom prst="rect">
            <a:avLst/>
          </a:prstGeom>
          <a:solidFill>
            <a:srgbClr val="ED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14/drawing/s14-content/e410"/>
          <p:cNvSpPr/>
          <p:nvPr/>
        </p:nvSpPr>
        <p:spPr>
          <a:xfrm>
            <a:off x="600075" y="5562600"/>
            <a:ext cx="10991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可支持的综合：比较信息进入位置；部署能力要另做同信息预算的外推测试。</a:t>
            </a:r>
            <a:endParaRPr lang="zh-CN" sz="2100" dirty="0"/>
          </a:p>
        </p:txBody>
      </p:sp>
      <p:sp>
        <p:nvSpPr>
          <p:cNvPr id="21" name="s14/drawing/s14-content/e411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本页为本报告综合推断，依赖三篇原始方法、内部比较和明确局限；没有新做统一数据集评测。</a:t>
            </a:r>
            <a:endParaRPr lang="zh-CN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16</a:t>
            </a:r>
            <a:endParaRPr lang="zh-CN" sz="1350" dirty="0"/>
          </a:p>
        </p:txBody>
      </p:sp>
      <p:sp>
        <p:nvSpPr>
          <p:cNvPr id="3" name="s15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下一步：固定信息截止日，检验遥感与机理的互补性</a:t>
            </a:r>
            <a:endParaRPr lang="zh-CN" sz="3000" dirty="0"/>
          </a:p>
        </p:txBody>
      </p:sp>
      <p:sp>
        <p:nvSpPr>
          <p:cNvPr id="4" name="s15/drawing/s15-content/e412"/>
          <p:cNvSpPr/>
          <p:nvPr/>
        </p:nvSpPr>
        <p:spPr>
          <a:xfrm>
            <a:off x="457200" y="1009650"/>
            <a:ext cx="3867150" cy="352425"/>
          </a:xfrm>
          <a:prstGeom prst="rect">
            <a:avLst/>
          </a:prstGeom>
          <a:solidFill>
            <a:srgbClr val="B256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15/drawing/s15-content/e413"/>
          <p:cNvSpPr/>
          <p:nvPr/>
        </p:nvSpPr>
        <p:spPr>
          <a:xfrm>
            <a:off x="571500" y="1028700"/>
            <a:ext cx="36385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待检验方案 · 尚未实施</a:t>
            </a:r>
            <a:endParaRPr lang="zh-CN" sz="1800" dirty="0"/>
          </a:p>
        </p:txBody>
      </p:sp>
      <p:sp>
        <p:nvSpPr>
          <p:cNvPr id="6" name="s15/drawing/s15-content/e414"/>
          <p:cNvSpPr/>
          <p:nvPr/>
        </p:nvSpPr>
        <p:spPr>
          <a:xfrm>
            <a:off x="457200" y="1552575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共同约束：同一截止日、同一预报天气集合、同一调参预算</a:t>
            </a:r>
            <a:endParaRPr lang="zh-CN" sz="2100" dirty="0"/>
          </a:p>
        </p:txBody>
      </p:sp>
      <p:sp>
        <p:nvSpPr>
          <p:cNvPr id="7" name="s15/drawing/s15-content/e415"/>
          <p:cNvSpPr/>
          <p:nvPr/>
        </p:nvSpPr>
        <p:spPr>
          <a:xfrm>
            <a:off x="457200" y="2219325"/>
            <a:ext cx="1905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机理特征</a:t>
            </a:r>
            <a:endParaRPr lang="zh-CN" sz="1800" dirty="0"/>
          </a:p>
        </p:txBody>
      </p:sp>
      <p:sp>
        <p:nvSpPr>
          <p:cNvPr id="8" name="s15/drawing/s15-content/e416"/>
          <p:cNvSpPr/>
          <p:nvPr/>
        </p:nvSpPr>
        <p:spPr>
          <a:xfrm>
            <a:off x="3276600" y="2209800"/>
            <a:ext cx="3048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不加遥感</a:t>
            </a:r>
            <a:endParaRPr lang="zh-CN" sz="2100" dirty="0"/>
          </a:p>
        </p:txBody>
      </p:sp>
      <p:sp>
        <p:nvSpPr>
          <p:cNvPr id="9" name="s15/drawing/s15-content/e417"/>
          <p:cNvSpPr/>
          <p:nvPr/>
        </p:nvSpPr>
        <p:spPr>
          <a:xfrm>
            <a:off x="7639050" y="2209800"/>
            <a:ext cx="3429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加入遥感</a:t>
            </a:r>
            <a:endParaRPr lang="zh-CN" sz="2100" dirty="0"/>
          </a:p>
        </p:txBody>
      </p:sp>
      <p:sp>
        <p:nvSpPr>
          <p:cNvPr id="10" name="s15/drawing/s15-content/e418"/>
          <p:cNvSpPr/>
          <p:nvPr/>
        </p:nvSpPr>
        <p:spPr>
          <a:xfrm>
            <a:off x="457200" y="2981325"/>
            <a:ext cx="1428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</a:t>
            </a:r>
            <a:endParaRPr lang="zh-CN" sz="2100" dirty="0"/>
          </a:p>
        </p:txBody>
      </p:sp>
      <p:sp>
        <p:nvSpPr>
          <p:cNvPr id="11" name="s15/drawing/s15-content/e419"/>
          <p:cNvSpPr/>
          <p:nvPr/>
        </p:nvSpPr>
        <p:spPr>
          <a:xfrm>
            <a:off x="457200" y="3810000"/>
            <a:ext cx="1428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</a:t>
            </a:r>
            <a:endParaRPr lang="zh-CN" sz="2100" dirty="0"/>
          </a:p>
        </p:txBody>
      </p:sp>
      <p:sp>
        <p:nvSpPr>
          <p:cNvPr id="12" name="s15/drawing/s15-content/e420"/>
          <p:cNvSpPr/>
          <p:nvPr/>
        </p:nvSpPr>
        <p:spPr>
          <a:xfrm>
            <a:off x="2628900" y="2733675"/>
            <a:ext cx="4114800" cy="666750"/>
          </a:xfrm>
          <a:prstGeom prst="rect">
            <a:avLst/>
          </a:prstGeom>
          <a:solidFill>
            <a:srgbClr val="EDF1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15/drawing/s15-content/e421"/>
          <p:cNvSpPr/>
          <p:nvPr/>
        </p:nvSpPr>
        <p:spPr>
          <a:xfrm>
            <a:off x="2781300" y="2867025"/>
            <a:ext cx="3810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464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 ML</a:t>
            </a:r>
            <a:endParaRPr lang="zh-CN" sz="2100" dirty="0"/>
          </a:p>
        </p:txBody>
      </p:sp>
      <p:sp>
        <p:nvSpPr>
          <p:cNvPr id="14" name="s15/drawing/s15-content/e422"/>
          <p:cNvSpPr/>
          <p:nvPr/>
        </p:nvSpPr>
        <p:spPr>
          <a:xfrm>
            <a:off x="7258050" y="2733675"/>
            <a:ext cx="4114800" cy="666750"/>
          </a:xfrm>
          <a:prstGeom prst="rect">
            <a:avLst/>
          </a:prstGeom>
          <a:solidFill>
            <a:srgbClr val="E8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5/drawing/s15-content/e423"/>
          <p:cNvSpPr/>
          <p:nvPr/>
        </p:nvSpPr>
        <p:spPr>
          <a:xfrm>
            <a:off x="7410450" y="2867025"/>
            <a:ext cx="3810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6B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 + 遥感</a:t>
            </a:r>
            <a:endParaRPr lang="zh-CN" sz="2100" dirty="0"/>
          </a:p>
        </p:txBody>
      </p:sp>
      <p:sp>
        <p:nvSpPr>
          <p:cNvPr id="16" name="s15/drawing/s15-content/e424"/>
          <p:cNvSpPr/>
          <p:nvPr/>
        </p:nvSpPr>
        <p:spPr>
          <a:xfrm>
            <a:off x="2628900" y="3562350"/>
            <a:ext cx="4114800" cy="666750"/>
          </a:xfrm>
          <a:prstGeom prst="rect">
            <a:avLst/>
          </a:prstGeom>
          <a:solidFill>
            <a:srgbClr val="ED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5/drawing/s15-content/e425"/>
          <p:cNvSpPr/>
          <p:nvPr/>
        </p:nvSpPr>
        <p:spPr>
          <a:xfrm>
            <a:off x="2781300" y="3695700"/>
            <a:ext cx="3810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 + 机理</a:t>
            </a:r>
            <a:endParaRPr lang="zh-CN" sz="2100" dirty="0"/>
          </a:p>
        </p:txBody>
      </p:sp>
      <p:sp>
        <p:nvSpPr>
          <p:cNvPr id="18" name="s15/drawing/s15-content/e426"/>
          <p:cNvSpPr/>
          <p:nvPr/>
        </p:nvSpPr>
        <p:spPr>
          <a:xfrm>
            <a:off x="7258050" y="3562350"/>
            <a:ext cx="4114800" cy="666750"/>
          </a:xfrm>
          <a:prstGeom prst="rect">
            <a:avLst/>
          </a:prstGeom>
          <a:solidFill>
            <a:srgbClr val="ED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15/drawing/s15-content/e427"/>
          <p:cNvSpPr/>
          <p:nvPr/>
        </p:nvSpPr>
        <p:spPr>
          <a:xfrm>
            <a:off x="7410450" y="3695700"/>
            <a:ext cx="3810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 + 遥感 + 机理</a:t>
            </a:r>
            <a:endParaRPr lang="zh-CN" sz="2100" dirty="0"/>
          </a:p>
        </p:txBody>
      </p:sp>
      <p:sp>
        <p:nvSpPr>
          <p:cNvPr id="20" name="s15/drawing/s15-content/e428"/>
          <p:cNvSpPr/>
          <p:nvPr/>
        </p:nvSpPr>
        <p:spPr>
          <a:xfrm>
            <a:off x="457200" y="4505325"/>
            <a:ext cx="112776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空间块 + 年份留出；极端年单列；预先约定有用改善与不确定性。</a:t>
            </a:r>
            <a:endParaRPr lang="zh-CN" sz="2100" dirty="0"/>
          </a:p>
        </p:txBody>
      </p:sp>
      <p:sp>
        <p:nvSpPr>
          <p:cNvPr id="21" name="s15/drawing/s15-content/e429/segment-1"/>
          <p:cNvSpPr/>
          <p:nvPr/>
        </p:nvSpPr>
        <p:spPr>
          <a:xfrm>
            <a:off x="457200" y="5105400"/>
            <a:ext cx="11277600" cy="0"/>
          </a:xfrm>
          <a:prstGeom prst="line">
            <a:avLst/>
          </a:prstGeom>
          <a:noFill/>
          <a:ln w="13335">
            <a:solidFill>
              <a:srgbClr val="CDD5CF"/>
            </a:solidFill>
            <a:prstDash val="solid"/>
          </a:ln>
        </p:spPr>
      </p:sp>
      <p:sp>
        <p:nvSpPr>
          <p:cNvPr id="22" name="s15/drawing/s15-content/e430"/>
          <p:cNvSpPr/>
          <p:nvPr/>
        </p:nvSpPr>
        <p:spPr>
          <a:xfrm>
            <a:off x="457200" y="5276850"/>
            <a:ext cx="5410200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稳定且有用的改善 → 支持互补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47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明确变差 → 反向证据</a:t>
            </a:r>
            <a:endParaRPr lang="zh-CN" sz="2100" dirty="0"/>
          </a:p>
        </p:txBody>
      </p:sp>
      <p:sp>
        <p:nvSpPr>
          <p:cNvPr id="23" name="s15/drawing/s15-content/e431"/>
          <p:cNvSpPr/>
          <p:nvPr/>
        </p:nvSpPr>
        <p:spPr>
          <a:xfrm>
            <a:off x="6324600" y="5276850"/>
            <a:ext cx="5410200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区间宽 → 信息不足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B256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未来信息泄漏 → 评价前提失败</a:t>
            </a:r>
            <a:endParaRPr lang="zh-CN" sz="2100" dirty="0"/>
          </a:p>
        </p:txBody>
      </p:sp>
      <p:sp>
        <p:nvSpPr>
          <p:cNvPr id="24" name="s15/drawing/s15-content/e432"/>
          <p:cNvSpPr/>
          <p:nvPr/>
        </p:nvSpPr>
        <p:spPr>
          <a:xfrm>
            <a:off x="457200" y="6019800"/>
            <a:ext cx="1127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方案依据：Cheng空间划分限制；Zhuo状态尺度问题；Shahhosseini极端年与完整天气条件。</a:t>
            </a:r>
            <a:endParaRPr lang="zh-CN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16</a:t>
            </a:r>
            <a:endParaRPr lang="zh-CN" sz="1350" dirty="0"/>
          </a:p>
        </p:txBody>
      </p:sp>
      <p:sp>
        <p:nvSpPr>
          <p:cNvPr id="3" name="s16/title"/>
          <p:cNvSpPr/>
          <p:nvPr/>
        </p:nvSpPr>
        <p:spPr>
          <a:xfrm>
            <a:off x="457200" y="266700"/>
            <a:ext cx="11277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zh-CN" altLang="en-US" sz="30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参考文献与图表来源</a:t>
            </a:r>
            <a:endParaRPr lang="zh-CN" sz="3000" dirty="0"/>
          </a:p>
        </p:txBody>
      </p:sp>
      <p:sp>
        <p:nvSpPr>
          <p:cNvPr id="4" name="s16/reference/cheng/title"/>
          <p:cNvSpPr/>
          <p:nvPr/>
        </p:nvSpPr>
        <p:spPr>
          <a:xfrm>
            <a:off x="457200" y="952500"/>
            <a:ext cx="1127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Wheat yield estimation using remote sensing data based on machine learning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approaches</a:t>
            </a:r>
            <a:endParaRPr lang="zh-CN" sz="1800" dirty="0"/>
          </a:p>
        </p:txBody>
      </p:sp>
      <p:sp>
        <p:nvSpPr>
          <p:cNvPr id="5" name="s16/reference/cheng/metadata"/>
          <p:cNvSpPr/>
          <p:nvPr/>
        </p:nvSpPr>
        <p:spPr>
          <a:xfrm>
            <a:off x="457200" y="1558290"/>
            <a:ext cx="11277600" cy="637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Cheng, Enhui, Zhang, Bing, Peng, Dailiang, Zhong, Liheng, Yu, Le, Liu, Yao, Xiao, Chenchao, Li, Cunjun, Li, Xiaoyi, Chen,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Yue, Ye, Huichun, Wang, Hongye, Yu, Ruyi, Hu, Jinkang, Yang, Songlin · Frontiers in Plant Science 13:1090970 · 2022 ·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DOI: 10.3389/fpls.2022.1090970 · Published version 2022-12-23; CC BY 4.0</a:t>
            </a:r>
            <a:endParaRPr lang="zh-CN" sz="1350" dirty="0"/>
          </a:p>
        </p:txBody>
      </p:sp>
      <p:sp>
        <p:nvSpPr>
          <p:cNvPr id="6" name="s16/reference/zhuo/title"/>
          <p:cNvSpPr/>
          <p:nvPr/>
        </p:nvSpPr>
        <p:spPr>
          <a:xfrm>
            <a:off x="457200" y="2348484"/>
            <a:ext cx="1127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Assimilating Soil Moisture Retrieved from Sentinel-1 and Sentinel-2 Data into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WOFOST Model to Improve Winter Wheat Yield Estimation</a:t>
            </a:r>
            <a:endParaRPr lang="zh-CN" sz="1800" dirty="0"/>
          </a:p>
        </p:txBody>
      </p:sp>
      <p:sp>
        <p:nvSpPr>
          <p:cNvPr id="7" name="s16/reference/zhuo/metadata"/>
          <p:cNvSpPr/>
          <p:nvPr/>
        </p:nvSpPr>
        <p:spPr>
          <a:xfrm>
            <a:off x="457200" y="2954274"/>
            <a:ext cx="11277600" cy="42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Zhuo, Wen, Huang, Jianxi, Li, Li, Zhang, Xiaodong, Ma, Hongyuan, Gao, Xinran, Huang, Hai, Xu, Baodong, Xiao, Xiangming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Remote Sensing 11(13):1618 · 2019 · DOI: 10.3390/rs11131618 · Published version 2019-07-08; CC BY 4.0</a:t>
            </a:r>
            <a:endParaRPr lang="zh-CN" sz="1350" dirty="0"/>
          </a:p>
        </p:txBody>
      </p:sp>
      <p:sp>
        <p:nvSpPr>
          <p:cNvPr id="8" name="s16/reference/shahhosseini/title"/>
          <p:cNvSpPr/>
          <p:nvPr/>
        </p:nvSpPr>
        <p:spPr>
          <a:xfrm>
            <a:off x="457200" y="3531870"/>
            <a:ext cx="1127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[3] Coupling machine learning and crop modeling improves crop yield prediction in the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B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 Corn Belt</a:t>
            </a:r>
            <a:endParaRPr lang="zh-CN" sz="1800" dirty="0"/>
          </a:p>
        </p:txBody>
      </p:sp>
      <p:sp>
        <p:nvSpPr>
          <p:cNvPr id="9" name="s16/reference/shahhosseini/metadata"/>
          <p:cNvSpPr/>
          <p:nvPr/>
        </p:nvSpPr>
        <p:spPr>
          <a:xfrm>
            <a:off x="457200" y="4137660"/>
            <a:ext cx="11277600" cy="42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Shahhosseini, Mohsen, Hu, Guiping, Huber, Isaiah, Archontoulis, Sotirios V. · Scientific Reports 11:1606 · 2021 · DOI: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D6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10.1038/s41598-020-80820-1 · Published version 2021-01-15; CC BY 4.0</a:t>
            </a:r>
            <a:endParaRPr lang="zh-CN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遥感观测如何进入作物产量估计：直接学习、状态同化、机理特征融合的证据与外推边界</dc:title>
  <dc:subject>遥感观测进入直接映射、状态更新或机理特征时，各自的证据能支持何种产量估计与外推判断？</dc:subject>
  <dc:creator>DSH Academic PPT</dc:creator>
  <cp:lastModifiedBy>DSH Academic PPT</cp:lastModifiedBy>
  <cp:revision>1</cp:revision>
  <dcterms:created xsi:type="dcterms:W3CDTF">2026-10-23T14:30:42Z</dcterms:created>
  <dcterms:modified xsi:type="dcterms:W3CDTF">2026-10-23T14:30:42Z</dcterms:modified>
</cp:coreProperties>
</file>