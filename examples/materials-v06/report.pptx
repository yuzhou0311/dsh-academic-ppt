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50万次内限制平均寿命</c:v>
                </c:pt>
              </c:strCache>
            </c:strRef>
          </c:tx>
          <c:spPr>
            <a:solidFill>
              <a:srgbClr val="176D7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650" u="none">
                    <a:solidFill>
                      <a:srgbClr val="15334A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76D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15B4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C8B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0859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 常规 · 200</c:v>
                  </c:pt>
                  <c:pt idx="1">
                    <c:v>B 常规 · 200</c:v>
                  </c:pt>
                  <c:pt idx="2">
                    <c:v>B 改性 · 200</c:v>
                  </c:pt>
                  <c:pt idx="3">
                    <c:v>C 改性 · 180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23.626591666666666</c:v>
                </c:pt>
                <c:pt idx="1">
                  <c:v>30.36828333333333</c:v>
                </c:pt>
                <c:pt idx="2">
                  <c:v>32.93050833333333</c:v>
                </c:pt>
                <c:pt idx="3">
                  <c:v>43.48243333333333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650" u="none">
                  <a:solidFill>
                    <a:srgbClr val="15334A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7C8CF"/>
            </a:solidFill>
            <a:prstDash val="solid"/>
            <a:round/>
          </a:ln>
        </c:spPr>
        <c:txPr>
          <a:bodyPr rot="0"/>
          <a:lstStyle/>
          <a:p>
            <a:pPr>
              <a:defRPr sz="1575" b="0" i="0" u="none" strike="noStrike">
                <a:solidFill>
                  <a:srgbClr val="15334A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60"/>
          <c:min val="0"/>
        </c:scaling>
        <c:delete val="0"/>
        <c:axPos val="b"/>
        <c:majorGridlines>
          <c:spPr>
            <a:ln w="12700" cap="flat">
              <a:solidFill>
                <a:srgbClr val="B7C8C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25" b="0" i="0" u="none" strike="noStrike">
                    <a:solidFill>
                      <a:srgbClr val="526777"/>
                    </a:solidFill>
                    <a:latin typeface="Noto Sans CJK SC"/>
                  </a:defRPr>
                </a:pPr>
                <a:r>
                  <a:rPr sz="1425" b="0" i="0" u="none" strike="noStrike">
                    <a:solidFill>
                      <a:srgbClr val="526777"/>
                    </a:solidFill>
                    <a:latin typeface="Noto Sans CJK SC"/>
                  </a:rPr>
                  <a:t>万次；标签末尾为应力MPa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B7C8CF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526777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一份材料疲劳研究进展的教学模拟汇报。资料包明确说明，48件试件的记录是合成数据，不对应真实机构、项目或实验。今天的目标是判断已有证据究竟能支持到哪一步，而不是预设改性工艺必须有效。我们先识别哪些试件可以在相同条件下比较，再处理达到停止点而未失效的记录，最后讨论如何用下一批试件进行可证伪验证。当前最可比的B批有正向均值差，但不确定区间跨零，因而报告的主张是“需要规范验证”，而非“已经证实改善”。
参考文献（完整题名）
protocol · 金属构件疲劳试验记录（教学模拟材料） · 原始试验协议；非期刊材料 · 2026 · 资料版本1，2026-10-20
dataset · 金属构件疲劳记录：48件试件CSV（教学模拟数据） · 原始数据文件 fatigue.csv；非期刊材料 · 2026 · 随协议v1提供，2026-10-20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先看设计，而不是先看均值。四个单元各有12件独立试件。A批只有常规工艺，应力200兆帕；B批同时有常规和改性，也都是200兆帕；C批只有改性，应力降为180兆帕。表中空缺是本次没有试件，不是零寿命。由此，B批是唯一不同时改变批次和应力的工艺比较。把所有常规与所有改性直接混合，会把A和C的构成差异一起带进来。但同批同应力还不等于随机对照：原协议按可用加工顺序取样，没有报告B批内随机分配，试验顺序或未记录因素仍可能与工艺相关。后面因此把B批作为主要观察比较，把其它组用于描述边界。
参考文献（完整题名）
protocol · 金属构件疲劳试验记录（教学模拟材料） · 原始试验协议；非期刊材料 · 2026 · 资料版本1，2026-10-20
dataset · 金属构件疲劳记录：48件试件CSV（教学模拟数据） · 原始数据文件 fatigue.csv；非期刊材料 · 2026 · 随协议v1提供，2026-10-20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批有两件试件达到预定50万次停止点时尚未失效。这意味着真实失效寿命在停止点之后，但我们不知道具体是多少，不能把50万写成已测得的失效寿命。为了在共同观察窗内描述全部48件，定义Y为真实寿命和50万中的较小值。由于本数据没有提前删失，每件Y都完整可知，所以Y的平均就是50万次内限制平均寿命的经验估计。图中四组分别约23.63、30.37、32.93和43.48万次。C批的43.48并非无限观察下的平均失效寿命。若把两工艺各24件混合，差为11.21万次；但混合过程也同时改变批次和应力。这个差值只能描述当前混合样本，不代表改性工艺的独立增益。
参考文献（完整题名）
protocol · 金属构件疲劳试验记录（教学模拟材料） · 原始试验协议；非期刊材料 · 2026 · 资料版本1，2026-10-20
dataset · 金属构件疲劳记录：48件试件CSV（教学模拟数据） · 原始数据文件 fatigue.csv；非期刊材料 · 2026 · 随协议v1提供，2026-10-20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当前证据的核心。只看B批，200兆帕，两工艺各12件，24件全部在50万次前失效，所以这里不需要猜测删失后的寿命。左图保留每一件试件，不把独立试件连成趋势线。常规均值30.37万次，改性32.93万次，改性减常规为2.56万次，相对常规均值约8.44%。但右图比这个百分比更重要。采用允许两组方差不同的探索性Welch方法，95%区间从负1.37到正6.49万次。它既容许正向差异，也容许负向差异，因此目前不能确认增益。这里也不能说两工艺等效：区间仍然很宽，未显著不等于相同。Welch区间依赖独立样本和小样本均值近似，而原始取样并非已报告的随机分配。因此，即使后续区间收窄，归因仍需要更强的试验设计。
参考文献（完整题名）
protocol · 金属构件疲劳试验记录（教学模拟材料） · 原始试验协议；非期刊材料 · 2026 · 资料版本1，2026-10-20
dataset · 金属构件疲劳记录：48件试件CSV（教学模拟数据） · 原始数据文件 fatigue.csv；非期刊材料 · 2026 · 随协议v1提供，2026-10-20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什么总体改性组更高，仍不能定位工艺机制？图中两条无箭头关联线表示待区分的解释。一种可能是工艺本身改变了寿命；另一种可能是批次、应力和加工顺序共同影响了观察差异。现有配置不能把这些贡献分离。一个直接提醒是：即使只看常规工艺、同为200兆帕，B批均值仍比A批高6.74万次。这显示当前记录具有跨批差异，却不能证明某个批次因素的因果作用，更不能拿这个值直接校正工艺效果。另一方面，资料没有断口、微观组织或残余应力测量。因此寿命数据即便出现稳定差异，也尚不足以确认材料机制。下一步寿命主试验首先解决效应识别，机制表征可以作为并行子研究。
参考文献（完整题名）
protocol · 金属构件疲劳试验记录（教学模拟材料） · 原始试验协议；非期刊材料 · 2026 · 资料版本1，2026-10-20
dataset · 金属构件疲劳记录：48件试件CSV（教学模拟数据） · 原始数据文件 fatigue.csv；非期刊材料 · 2026 · 随协议v1提供，2026-10-20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批方案尚未实施。建议把主要目标限定为：在同一新批次、200兆帕下，改性是否增加50万次范围内的限制平均寿命。先固定材料与几何条件，按加工时段区组，再在区组内随机一比一分配工艺；同时记录加工和试验顺序、设备与环境，尽可能对失效判定盲法。两组采用相同的失效或50万次停止规则，保留终点标识，不删除runout。主要估计量是改性减常规的限制平均寿命差。样本量不能直接沿用每组12件，更不能把本次8.44%当成真实效应。应先商定工程上有意义的差值和精度目标，再用B批方差的多个情景及不同删失比例进行规划。若出现提前删失，简单均值将不再适用，必须按事先约定的生存分析处理并检查删失假设。单批阳性结果也仍需在其它批次复核。
参考文献（完整题名）
protocol · 金属构件疲劳试验记录（教学模拟材料） · 原始试验协议；非期刊材料 · 2026 · 资料版本1，2026-10-20
dataset · 金属构件疲劳记录：48件试件CSV（教学模拟数据） · 原始数据文件 fatigue.csv；非期刊材料 · 2026 · 随协议v1提供，2026-10-20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了避免结果出来以后改变解释，判定规则要现在写清楚。令差值是改性减常规的50万次限制平均寿命，95%区间为L到U。首先审查随机化、共同应力和终点、事件标记及删失假设。只有前提成立才看方向。如果L大于零，支持该批和该应力下的正向差异；工程上是否足够大，还要对照事前约定的意义阈值。如果U小于零，则支持反向差异，应复核工艺并讨论停止推广，不能把它含糊地归入“没有显著收益”。若区间包含零，包括端点恰好为零，方向证据不足，不能宣布等效。如果分配或删失前提失效，应先核查设计与分析，必要时重做试验。当前B批的区间属于含零这一行，但这只是观察数据判断，不是新试验的验证结果。
参考文献（完整题名）
protocol · 金属构件疲劳试验记录（教学模拟材料） · 原始试验协议；非期刊材料 · 2026 · 资料版本1，2026-10-20
dataset · 金属构件疲劳记录：48件试件CSV（教学模拟数据） · 原始数据文件 fatigue.csv；非期刊材料 · 2026 · 随协议v1提供，2026-10-20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汇总本次进展，已经完成的工作是48件记录的分组、终点核查和可比范围分析。当前最可比的B批观察差为正2.56万次，但95%区间为负1.37到正6.49万次，尚不能确认增益。总体混合差异和C批低应力记录不能补足这项证据，缺少微观表征也不允许直接提出机制结论。因此下一步优先级是建立同批、同应力、随机分配、共同停止规则的验证，而不是进一步放大当前百分比。希望课题组讨论并在试验前确定两个设计输入：工程上值得追求的寿命增益，以及可以接受的不确定范围。它们将决定样本量和后续判断。
参考文献（完整题名）
protocol · 金属构件疲劳试验记录（教学模拟材料） · 原始试验协议；非期刊材料 · 2026 · 资料版本1，2026-10-20
dataset · 金属构件疲劳记录：48件试件CSV（教学模拟数据） · 原始数据文件 fatigue.csv；非期刊材料 · 2026 · 随协议v1提供，2026-10-20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列出完整资料来源。报告仅使用2026年10月20日版本1的教学模拟协议及配套48行CSV，没有补充外部论文或未提供的显微图。计算脚本、输入校验值、精确统计量和判定反例随工程保留。50万次限制均值与B批Welch区间采用不同层次的口径：前者是共同窗口的描述统计，后者是探索性不确定性表达。谢谢。
参考文献（完整题名）
protocol · 金属构件疲劳试验记录（教学模拟材料） · 原始试验协议；非期刊材料 · 2026 · 资料版本1，2026-10-20
dataset · 金属构件疲劳记录：48件试件CSV（教学模拟数据） · 原始数据文件 fatigue.csv；非期刊材料 · 2026 · 随协议v1提供，2026-10-20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/title"/>
          <p:cNvSpPr/>
          <p:nvPr/>
        </p:nvSpPr>
        <p:spPr>
          <a:xfrm>
            <a:off x="628650" y="1809750"/>
            <a:ext cx="10934700" cy="2000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48"/>
              </a:lnSpc>
              <a:buNone/>
            </a:pPr>
            <a:r>
              <a:rPr lang="zh-CN" altLang="en-US" sz="5400" b="1" dirty="0">
                <a:solidFill>
                  <a:srgbClr val="176D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改性工艺是否改善疲劳寿命？</a:t>
            </a:r>
            <a:endParaRPr lang="zh-CN" sz="5400" dirty="0"/>
          </a:p>
          <a:p>
            <a:pPr algn="l" indent="0" marL="0">
              <a:lnSpc>
                <a:spcPts val="6048"/>
              </a:lnSpc>
              <a:buNone/>
            </a:pPr>
            <a:r>
              <a:rPr lang="zh-CN" altLang="en-US" sz="5400" b="1" dirty="0">
                <a:solidFill>
                  <a:srgbClr val="176D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当前证据与验证路径</a:t>
            </a:r>
            <a:endParaRPr lang="zh-CN" sz="5400" dirty="0"/>
          </a:p>
        </p:txBody>
      </p:sp>
      <p:sp>
        <p:nvSpPr>
          <p:cNvPr id="3" name="s01/subtitle"/>
          <p:cNvSpPr/>
          <p:nvPr/>
        </p:nvSpPr>
        <p:spPr>
          <a:xfrm>
            <a:off x="666750" y="4314825"/>
            <a:ext cx="10668000" cy="10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62"/>
              </a:lnSpc>
              <a:buNone/>
            </a:pPr>
            <a:r>
              <a:rPr lang="zh-CN" altLang="en-US" sz="2100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48件独立试件 · 3个批次 · 50万次停止点</a:t>
            </a:r>
            <a:endParaRPr lang="zh-CN" sz="2100" dirty="0"/>
          </a:p>
          <a:p>
            <a:pPr algn="l" indent="0" marL="0">
              <a:lnSpc>
                <a:spcPts val="2562"/>
              </a:lnSpc>
              <a:buNone/>
            </a:pPr>
            <a:r>
              <a:rPr lang="zh-CN" altLang="en-US" sz="2100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先识别可比范围，再判断增益证据</a:t>
            </a:r>
            <a:endParaRPr lang="zh-CN" sz="2100" dirty="0"/>
          </a:p>
        </p:txBody>
      </p:sp>
      <p:sp>
        <p:nvSpPr>
          <p:cNvPr id="4" name="s01/cover-occasion"/>
          <p:cNvSpPr/>
          <p:nvPr/>
        </p:nvSpPr>
        <p:spPr>
          <a:xfrm>
            <a:off x="628650" y="533400"/>
            <a:ext cx="108585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zh-CN" altLang="en-US" sz="1800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材料工程课题组｜研究进展汇报（教学模拟）</a:t>
            </a:r>
            <a:endParaRPr lang="zh-CN" sz="1800" dirty="0"/>
          </a:p>
        </p:txBody>
      </p:sp>
      <p:sp>
        <p:nvSpPr>
          <p:cNvPr id="5" name="s01/cover-date"/>
          <p:cNvSpPr/>
          <p:nvPr/>
        </p:nvSpPr>
        <p:spPr>
          <a:xfrm>
            <a:off x="666750" y="5953125"/>
            <a:ext cx="104775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2026年10月21日</a:t>
            </a:r>
            <a:endParaRPr lang="zh-CN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09</a:t>
            </a:r>
            <a:endParaRPr lang="zh-CN" sz="1050" dirty="0"/>
          </a:p>
        </p:txBody>
      </p:sp>
      <p:sp>
        <p:nvSpPr>
          <p:cNvPr id="3" name="s02/brand-label"/>
          <p:cNvSpPr/>
          <p:nvPr/>
        </p:nvSpPr>
        <p:spPr>
          <a:xfrm>
            <a:off x="10439400" y="171450"/>
            <a:ext cx="1295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zh-CN" altLang="en-US" sz="1650" b="1" dirty="0">
                <a:solidFill>
                  <a:srgbClr val="176D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教学模拟数据</a:t>
            </a:r>
            <a:endParaRPr lang="zh-CN" sz="1650" dirty="0"/>
          </a:p>
        </p:txBody>
      </p:sp>
      <p:sp>
        <p:nvSpPr>
          <p:cNvPr id="4" name="s02/title"/>
          <p:cNvSpPr/>
          <p:nvPr/>
        </p:nvSpPr>
        <p:spPr>
          <a:xfrm>
            <a:off x="457200" y="552450"/>
            <a:ext cx="11277600" cy="409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21"/>
              </a:lnSpc>
              <a:buNone/>
            </a:pPr>
            <a:r>
              <a:rPr lang="zh-CN" altLang="en-US" sz="2850" b="1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只有B批具备同批、同应力的工艺对照</a:t>
            </a:r>
            <a:endParaRPr lang="zh-CN" sz="2850" dirty="0"/>
          </a:p>
        </p:txBody>
      </p:sp>
      <p:sp>
        <p:nvSpPr>
          <p:cNvPr id="5" name="s02/composition/panel/matrix/title"/>
          <p:cNvSpPr/>
          <p:nvPr/>
        </p:nvSpPr>
        <p:spPr>
          <a:xfrm>
            <a:off x="590550" y="1228154"/>
            <a:ext cx="11010900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zh-CN" altLang="en-US" sz="2025" b="1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试件配置与缺失对照</a:t>
            </a:r>
            <a:endParaRPr lang="zh-CN" sz="2025" dirty="0"/>
          </a:p>
        </p:txBody>
      </p:sp>
      <p:graphicFrame>
        <p:nvGraphicFramePr>
          <p:cNvPr id="3" name="s02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0550" y="1714405"/>
          <a:ext cx="11010900" cy="1648968"/>
        </p:xfrm>
        <a:graphic>
          <a:graphicData uri="http://schemas.openxmlformats.org/drawingml/2006/table">
            <a:tbl>
              <a:tblPr/>
              <a:tblGrid>
                <a:gridCol w="1164614"/>
                <a:gridCol w="1799859"/>
                <a:gridCol w="2223355"/>
                <a:gridCol w="2223355"/>
                <a:gridCol w="3599717"/>
              </a:tblGrid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176D7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批次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6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6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176D7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应力 / MPa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6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6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176D7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常规工艺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6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6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176D7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改性工艺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6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6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176D7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可比范围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6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6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3"/>
                    </a:solidFill>
                  </a:tcPr>
                </a:tc>
              </a:tr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533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7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533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200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7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533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12件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7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533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未配置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7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533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跨批背景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7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533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B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7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533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200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7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533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12件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7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533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12件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7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533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主要工艺对照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7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3"/>
                    </a:solidFill>
                  </a:tcPr>
                </a:tc>
              </a:tr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533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6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533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180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6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533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未配置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6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533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12件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6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533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低应力描述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6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2/table-caption"/>
          <p:cNvSpPr/>
          <p:nvPr/>
        </p:nvSpPr>
        <p:spPr>
          <a:xfrm>
            <a:off x="590550" y="3430048"/>
            <a:ext cx="11010900" cy="212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每行记录是一件独立试件；“未配置”表示该单元无试件。来源：协议“试件与条件”；CSV全48行。</a:t>
            </a:r>
            <a:endParaRPr lang="zh-CN" sz="1350" dirty="0"/>
          </a:p>
        </p:txBody>
      </p:sp>
      <p:sp>
        <p:nvSpPr>
          <p:cNvPr id="8" name="s02/composition/panel/overlap-panel/title"/>
          <p:cNvSpPr/>
          <p:nvPr/>
        </p:nvSpPr>
        <p:spPr>
          <a:xfrm>
            <a:off x="590550" y="4195096"/>
            <a:ext cx="5276850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zh-CN" altLang="en-US" sz="2025" b="1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主要分析范围</a:t>
            </a:r>
            <a:endParaRPr lang="zh-CN" sz="2025" dirty="0"/>
          </a:p>
        </p:txBody>
      </p:sp>
      <p:sp>
        <p:nvSpPr>
          <p:cNvPr id="9" name="s02/card/overlap/surface"/>
          <p:cNvSpPr/>
          <p:nvPr/>
        </p:nvSpPr>
        <p:spPr>
          <a:xfrm>
            <a:off x="590550" y="4681347"/>
            <a:ext cx="5276850" cy="1347978"/>
          </a:xfrm>
          <a:prstGeom prst="roundRect">
            <a:avLst>
              <a:gd name="adj" fmla="val 4793"/>
            </a:avLst>
          </a:prstGeom>
          <a:solidFill>
            <a:srgbClr val="E7F1F3"/>
          </a:solidFill>
          <a:ln w="10478">
            <a:solidFill>
              <a:srgbClr val="B7C8CF"/>
            </a:solidFill>
            <a:prstDash val="solid"/>
          </a:ln>
        </p:spPr>
      </p:sp>
      <p:sp>
        <p:nvSpPr>
          <p:cNvPr id="10" name="s02/card/overlap/icon/0"/>
          <p:cNvSpPr/>
          <p:nvPr/>
        </p:nvSpPr>
        <p:spPr>
          <a:xfrm>
            <a:off x="792361" y="4903399"/>
            <a:ext cx="91083" cy="202406"/>
          </a:xfrm>
          <a:prstGeom prst="roundRect">
            <a:avLst>
              <a:gd name="adj" fmla="val 111547"/>
            </a:avLst>
          </a:prstGeom>
          <a:ln w="18217">
            <a:solidFill>
              <a:srgbClr val="176D7A"/>
            </a:solidFill>
            <a:prstDash val="solid"/>
          </a:ln>
        </p:spPr>
      </p:sp>
      <p:sp>
        <p:nvSpPr>
          <p:cNvPr id="11" name="s02/card/overlap/icon/1"/>
          <p:cNvSpPr/>
          <p:nvPr/>
        </p:nvSpPr>
        <p:spPr>
          <a:xfrm>
            <a:off x="964406" y="4903399"/>
            <a:ext cx="91083" cy="202406"/>
          </a:xfrm>
          <a:prstGeom prst="roundRect">
            <a:avLst>
              <a:gd name="adj" fmla="val 111547"/>
            </a:avLst>
          </a:prstGeom>
          <a:ln w="18217">
            <a:solidFill>
              <a:srgbClr val="176D7A"/>
            </a:solidFill>
            <a:prstDash val="solid"/>
          </a:ln>
        </p:spPr>
      </p:sp>
      <p:sp>
        <p:nvSpPr>
          <p:cNvPr id="12" name="s02/card/overlap/icon/2"/>
          <p:cNvSpPr/>
          <p:nvPr/>
        </p:nvSpPr>
        <p:spPr>
          <a:xfrm>
            <a:off x="883444" y="5004602"/>
            <a:ext cx="80963" cy="0"/>
          </a:xfrm>
          <a:prstGeom prst="line">
            <a:avLst/>
          </a:prstGeom>
          <a:noFill/>
          <a:ln w="18217">
            <a:solidFill>
              <a:srgbClr val="176D7A"/>
            </a:solidFill>
            <a:prstDash val="solid"/>
          </a:ln>
        </p:spPr>
      </p:sp>
      <p:sp>
        <p:nvSpPr>
          <p:cNvPr id="13" name="s02/card/overlap/icon/3"/>
          <p:cNvSpPr/>
          <p:nvPr/>
        </p:nvSpPr>
        <p:spPr>
          <a:xfrm>
            <a:off x="934045" y="4974241"/>
            <a:ext cx="30361" cy="30361"/>
          </a:xfrm>
          <a:prstGeom prst="line">
            <a:avLst/>
          </a:prstGeom>
          <a:noFill/>
          <a:ln w="18217">
            <a:solidFill>
              <a:srgbClr val="176D7A"/>
            </a:solidFill>
            <a:prstDash val="solid"/>
          </a:ln>
        </p:spPr>
      </p:sp>
      <p:sp>
        <p:nvSpPr>
          <p:cNvPr id="14" name="s02/card/overlap/icon/4"/>
          <p:cNvSpPr/>
          <p:nvPr/>
        </p:nvSpPr>
        <p:spPr>
          <a:xfrm flipV="1">
            <a:off x="934045" y="5004602"/>
            <a:ext cx="30361" cy="30361"/>
          </a:xfrm>
          <a:prstGeom prst="line">
            <a:avLst/>
          </a:prstGeom>
          <a:noFill/>
          <a:ln w="18217">
            <a:solidFill>
              <a:srgbClr val="176D7A"/>
            </a:solidFill>
            <a:prstDash val="solid"/>
          </a:ln>
        </p:spPr>
      </p:sp>
      <p:sp>
        <p:nvSpPr>
          <p:cNvPr id="15" name="s02/card/overlap/title"/>
          <p:cNvSpPr/>
          <p:nvPr/>
        </p:nvSpPr>
        <p:spPr>
          <a:xfrm>
            <a:off x="1200150" y="4852797"/>
            <a:ext cx="4495800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zh-CN" altLang="en-US" sz="2025" b="1" dirty="0">
                <a:solidFill>
                  <a:srgbClr val="176D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可比性先于汇总</a:t>
            </a:r>
            <a:endParaRPr lang="zh-CN" sz="2025" dirty="0"/>
          </a:p>
        </p:txBody>
      </p:sp>
      <p:sp>
        <p:nvSpPr>
          <p:cNvPr id="16" name="s02/card/overlap/body"/>
          <p:cNvSpPr/>
          <p:nvPr/>
        </p:nvSpPr>
        <p:spPr>
          <a:xfrm>
            <a:off x="762000" y="5290947"/>
            <a:ext cx="493395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主比较限定在B批：两工艺、同批次、200 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MPa。</a:t>
            </a:r>
            <a:endParaRPr lang="zh-CN" sz="1800" dirty="0"/>
          </a:p>
        </p:txBody>
      </p:sp>
      <p:sp>
        <p:nvSpPr>
          <p:cNvPr id="17" name="s02/composition/panel/allocation-panel/title"/>
          <p:cNvSpPr/>
          <p:nvPr/>
        </p:nvSpPr>
        <p:spPr>
          <a:xfrm>
            <a:off x="6324600" y="4195096"/>
            <a:ext cx="5276850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zh-CN" altLang="en-US" sz="2025" b="1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归因限制</a:t>
            </a:r>
            <a:endParaRPr lang="zh-CN" sz="2025" dirty="0"/>
          </a:p>
        </p:txBody>
      </p:sp>
      <p:sp>
        <p:nvSpPr>
          <p:cNvPr id="18" name="s02/card/allocation/surface"/>
          <p:cNvSpPr/>
          <p:nvPr/>
        </p:nvSpPr>
        <p:spPr>
          <a:xfrm>
            <a:off x="6324600" y="4681347"/>
            <a:ext cx="5276850" cy="1347978"/>
          </a:xfrm>
          <a:prstGeom prst="roundRect">
            <a:avLst>
              <a:gd name="adj" fmla="val 4793"/>
            </a:avLst>
          </a:prstGeom>
          <a:solidFill>
            <a:srgbClr val="FFFFFF"/>
          </a:solidFill>
          <a:ln w="10478">
            <a:solidFill>
              <a:srgbClr val="B7C8CF"/>
            </a:solidFill>
            <a:prstDash val="solid"/>
          </a:ln>
        </p:spPr>
      </p:sp>
      <p:sp>
        <p:nvSpPr>
          <p:cNvPr id="19" name="s02/card/allocation/icon/0"/>
          <p:cNvSpPr/>
          <p:nvPr/>
        </p:nvSpPr>
        <p:spPr>
          <a:xfrm>
            <a:off x="6657975" y="4883158"/>
            <a:ext cx="141684" cy="253008"/>
          </a:xfrm>
          <a:prstGeom prst="line">
            <a:avLst/>
          </a:prstGeom>
          <a:noFill/>
          <a:ln w="18217">
            <a:solidFill>
              <a:srgbClr val="B15B42"/>
            </a:solidFill>
            <a:prstDash val="solid"/>
          </a:ln>
        </p:spPr>
      </p:sp>
      <p:sp>
        <p:nvSpPr>
          <p:cNvPr id="20" name="s02/card/allocation/icon/1"/>
          <p:cNvSpPr/>
          <p:nvPr/>
        </p:nvSpPr>
        <p:spPr>
          <a:xfrm flipH="1">
            <a:off x="6516291" y="5136166"/>
            <a:ext cx="283369" cy="0"/>
          </a:xfrm>
          <a:prstGeom prst="line">
            <a:avLst/>
          </a:prstGeom>
          <a:noFill/>
          <a:ln w="18217">
            <a:solidFill>
              <a:srgbClr val="B15B42"/>
            </a:solidFill>
            <a:prstDash val="solid"/>
          </a:ln>
        </p:spPr>
      </p:sp>
      <p:sp>
        <p:nvSpPr>
          <p:cNvPr id="21" name="s02/card/allocation/icon/2"/>
          <p:cNvSpPr/>
          <p:nvPr/>
        </p:nvSpPr>
        <p:spPr>
          <a:xfrm flipV="1">
            <a:off x="6516291" y="4883158"/>
            <a:ext cx="141684" cy="253008"/>
          </a:xfrm>
          <a:prstGeom prst="line">
            <a:avLst/>
          </a:prstGeom>
          <a:noFill/>
          <a:ln w="18217">
            <a:solidFill>
              <a:srgbClr val="B15B42"/>
            </a:solidFill>
            <a:prstDash val="solid"/>
          </a:ln>
        </p:spPr>
      </p:sp>
      <p:sp>
        <p:nvSpPr>
          <p:cNvPr id="22" name="s02/card/allocation/icon/3"/>
          <p:cNvSpPr/>
          <p:nvPr/>
        </p:nvSpPr>
        <p:spPr>
          <a:xfrm>
            <a:off x="6657975" y="4964120"/>
            <a:ext cx="0" cy="80963"/>
          </a:xfrm>
          <a:prstGeom prst="line">
            <a:avLst/>
          </a:prstGeom>
          <a:noFill/>
          <a:ln w="18217">
            <a:solidFill>
              <a:srgbClr val="B15B42"/>
            </a:solidFill>
            <a:prstDash val="solid"/>
          </a:ln>
        </p:spPr>
      </p:sp>
      <p:sp>
        <p:nvSpPr>
          <p:cNvPr id="23" name="s02/card/allocation/icon/4"/>
          <p:cNvSpPr/>
          <p:nvPr/>
        </p:nvSpPr>
        <p:spPr>
          <a:xfrm>
            <a:off x="6647855" y="5085564"/>
            <a:ext cx="20241" cy="20241"/>
          </a:xfrm>
          <a:prstGeom prst="ellipse">
            <a:avLst/>
          </a:prstGeom>
          <a:solidFill>
            <a:srgbClr val="B15B42"/>
          </a:solidFill>
          <a:ln w="18217">
            <a:solidFill>
              <a:srgbClr val="B15B42"/>
            </a:solidFill>
            <a:prstDash val="solid"/>
          </a:ln>
        </p:spPr>
      </p:sp>
      <p:sp>
        <p:nvSpPr>
          <p:cNvPr id="24" name="s02/card/allocation/title"/>
          <p:cNvSpPr/>
          <p:nvPr/>
        </p:nvSpPr>
        <p:spPr>
          <a:xfrm>
            <a:off x="6934200" y="4852797"/>
            <a:ext cx="4495800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zh-CN" altLang="en-US" sz="2025" b="1" dirty="0">
                <a:solidFill>
                  <a:srgbClr val="B15B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同条件仍不等于随机化</a:t>
            </a:r>
            <a:endParaRPr lang="zh-CN" sz="2025" dirty="0"/>
          </a:p>
        </p:txBody>
      </p:sp>
      <p:sp>
        <p:nvSpPr>
          <p:cNvPr id="25" name="s02/card/allocation/body"/>
          <p:cNvSpPr/>
          <p:nvPr/>
        </p:nvSpPr>
        <p:spPr>
          <a:xfrm>
            <a:off x="6496050" y="5290947"/>
            <a:ext cx="493395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按可用加工顺序取样；B批内随机分配未报告。</a:t>
            </a:r>
            <a:endParaRPr lang="zh-CN" sz="1800" dirty="0"/>
          </a:p>
        </p:txBody>
      </p:sp>
      <p:sp>
        <p:nvSpPr>
          <p:cNvPr id="26" name="s02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教学模拟资料包（编制者未署名） 2026  |  [2] 教学模拟资料包（编制者未署名） 2026</a:t>
            </a:r>
            <a:endParaRPr lang="zh-CN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09</a:t>
            </a:r>
            <a:endParaRPr lang="zh-CN" sz="1050" dirty="0"/>
          </a:p>
        </p:txBody>
      </p:sp>
      <p:sp>
        <p:nvSpPr>
          <p:cNvPr id="3" name="s03/brand-label"/>
          <p:cNvSpPr/>
          <p:nvPr/>
        </p:nvSpPr>
        <p:spPr>
          <a:xfrm>
            <a:off x="10439400" y="171450"/>
            <a:ext cx="1295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zh-CN" altLang="en-US" sz="1650" b="1" dirty="0">
                <a:solidFill>
                  <a:srgbClr val="176D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教学模拟数据</a:t>
            </a:r>
            <a:endParaRPr lang="zh-CN" sz="1650" dirty="0"/>
          </a:p>
        </p:txBody>
      </p:sp>
      <p:sp>
        <p:nvSpPr>
          <p:cNvPr id="4" name="s03/title"/>
          <p:cNvSpPr/>
          <p:nvPr/>
        </p:nvSpPr>
        <p:spPr>
          <a:xfrm>
            <a:off x="457200" y="552450"/>
            <a:ext cx="11277600" cy="409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21"/>
              </a:lnSpc>
              <a:buNone/>
            </a:pPr>
            <a:r>
              <a:rPr lang="zh-CN" altLang="en-US" sz="2850" b="1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观察到50万次，不等于在50万次失效</a:t>
            </a:r>
            <a:endParaRPr lang="zh-CN" sz="2850" dirty="0"/>
          </a:p>
        </p:txBody>
      </p:sp>
      <p:sp>
        <p:nvSpPr>
          <p:cNvPr id="5" name="s03/composition/panel/means/title"/>
          <p:cNvSpPr/>
          <p:nvPr/>
        </p:nvSpPr>
        <p:spPr>
          <a:xfrm>
            <a:off x="590550" y="1228154"/>
            <a:ext cx="6860721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zh-CN" altLang="en-US" sz="2025" b="1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限制平均寿命（各组12件）</a:t>
            </a:r>
            <a:endParaRPr lang="zh-CN" sz="2025" dirty="0"/>
          </a:p>
        </p:txBody>
      </p:sp>
      <p:graphicFrame>
        <p:nvGraphicFramePr>
          <p:cNvPr id="6" name="s03/data-chart" descr=""/>
          <p:cNvGraphicFramePr/>
          <p:nvPr/>
        </p:nvGraphicFramePr>
        <p:xfrm>
          <a:off x="590550" y="1714405"/>
          <a:ext cx="6860721" cy="334937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03/chart-caption"/>
          <p:cNvSpPr/>
          <p:nvPr/>
        </p:nvSpPr>
        <p:spPr>
          <a:xfrm>
            <a:off x="590550" y="5139976"/>
            <a:ext cx="6860721" cy="25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[2] · fatigue.csv全48行；按工艺×批次分组计算；共同50万次窗口。</a:t>
            </a:r>
            <a:endParaRPr lang="zh-CN" sz="1350" dirty="0"/>
          </a:p>
        </p:txBody>
      </p:sp>
      <p:sp>
        <p:nvSpPr>
          <p:cNvPr id="8" name="s03/composition/panel/endpoint-panel/title"/>
          <p:cNvSpPr/>
          <p:nvPr/>
        </p:nvSpPr>
        <p:spPr>
          <a:xfrm>
            <a:off x="7908471" y="1228154"/>
            <a:ext cx="3692979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zh-CN" altLang="en-US" sz="2025" b="1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事件与停止点必须分开</a:t>
            </a:r>
            <a:endParaRPr lang="zh-CN" sz="2025" dirty="0"/>
          </a:p>
        </p:txBody>
      </p:sp>
      <p:sp>
        <p:nvSpPr>
          <p:cNvPr id="9" name="s03/card/censor/surface"/>
          <p:cNvSpPr/>
          <p:nvPr/>
        </p:nvSpPr>
        <p:spPr>
          <a:xfrm>
            <a:off x="7908471" y="1714405"/>
            <a:ext cx="3692979" cy="1771459"/>
          </a:xfrm>
          <a:prstGeom prst="roundRect">
            <a:avLst>
              <a:gd name="adj" fmla="val 2775"/>
            </a:avLst>
          </a:prstGeom>
          <a:solidFill>
            <a:srgbClr val="E7F1F3"/>
          </a:solidFill>
          <a:ln w="10478">
            <a:solidFill>
              <a:srgbClr val="B7C8CF"/>
            </a:solidFill>
            <a:prstDash val="solid"/>
          </a:ln>
        </p:spPr>
      </p:sp>
      <p:sp>
        <p:nvSpPr>
          <p:cNvPr id="10" name="s03/card/censor/icon/0"/>
          <p:cNvSpPr/>
          <p:nvPr/>
        </p:nvSpPr>
        <p:spPr>
          <a:xfrm>
            <a:off x="8130523" y="1906095"/>
            <a:ext cx="222647" cy="283369"/>
          </a:xfrm>
          <a:prstGeom prst="roundRect">
            <a:avLst>
              <a:gd name="adj" fmla="val 37336"/>
            </a:avLst>
          </a:prstGeom>
          <a:ln w="18217">
            <a:solidFill>
              <a:srgbClr val="176D7A"/>
            </a:solidFill>
            <a:prstDash val="solid"/>
          </a:ln>
        </p:spPr>
      </p:sp>
      <p:sp>
        <p:nvSpPr>
          <p:cNvPr id="11" name="s03/card/censor/icon/1"/>
          <p:cNvSpPr/>
          <p:nvPr/>
        </p:nvSpPr>
        <p:spPr>
          <a:xfrm>
            <a:off x="8181125" y="1966817"/>
            <a:ext cx="121444" cy="0"/>
          </a:xfrm>
          <a:prstGeom prst="line">
            <a:avLst/>
          </a:prstGeom>
          <a:noFill/>
          <a:ln w="18217">
            <a:solidFill>
              <a:srgbClr val="176D7A"/>
            </a:solidFill>
            <a:prstDash val="solid"/>
          </a:ln>
        </p:spPr>
      </p:sp>
      <p:sp>
        <p:nvSpPr>
          <p:cNvPr id="12" name="s03/card/censor/icon/2"/>
          <p:cNvSpPr/>
          <p:nvPr/>
        </p:nvSpPr>
        <p:spPr>
          <a:xfrm>
            <a:off x="8181125" y="2017419"/>
            <a:ext cx="121444" cy="0"/>
          </a:xfrm>
          <a:prstGeom prst="line">
            <a:avLst/>
          </a:prstGeom>
          <a:noFill/>
          <a:ln w="18217">
            <a:solidFill>
              <a:srgbClr val="176D7A"/>
            </a:solidFill>
            <a:prstDash val="solid"/>
          </a:ln>
        </p:spPr>
      </p:sp>
      <p:sp>
        <p:nvSpPr>
          <p:cNvPr id="13" name="s03/card/censor/icon/3"/>
          <p:cNvSpPr/>
          <p:nvPr/>
        </p:nvSpPr>
        <p:spPr>
          <a:xfrm>
            <a:off x="8171004" y="2108502"/>
            <a:ext cx="40481" cy="40481"/>
          </a:xfrm>
          <a:prstGeom prst="line">
            <a:avLst/>
          </a:prstGeom>
          <a:noFill/>
          <a:ln w="18217">
            <a:solidFill>
              <a:srgbClr val="176D7A"/>
            </a:solidFill>
            <a:prstDash val="solid"/>
          </a:ln>
        </p:spPr>
      </p:sp>
      <p:sp>
        <p:nvSpPr>
          <p:cNvPr id="14" name="s03/card/censor/icon/4"/>
          <p:cNvSpPr/>
          <p:nvPr/>
        </p:nvSpPr>
        <p:spPr>
          <a:xfrm flipV="1">
            <a:off x="8211485" y="2068020"/>
            <a:ext cx="101203" cy="80963"/>
          </a:xfrm>
          <a:prstGeom prst="line">
            <a:avLst/>
          </a:prstGeom>
          <a:noFill/>
          <a:ln w="18217">
            <a:solidFill>
              <a:srgbClr val="176D7A"/>
            </a:solidFill>
            <a:prstDash val="solid"/>
          </a:ln>
        </p:spPr>
      </p:sp>
      <p:sp>
        <p:nvSpPr>
          <p:cNvPr id="15" name="s03/card/censor/title"/>
          <p:cNvSpPr/>
          <p:nvPr/>
        </p:nvSpPr>
        <p:spPr>
          <a:xfrm>
            <a:off x="8518071" y="1885855"/>
            <a:ext cx="2911929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zh-CN" altLang="en-US" sz="2025" b="1" dirty="0">
                <a:solidFill>
                  <a:srgbClr val="176D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C批：10失效 + 2右删失</a:t>
            </a:r>
            <a:endParaRPr lang="zh-CN" sz="2025" dirty="0"/>
          </a:p>
        </p:txBody>
      </p:sp>
      <p:sp>
        <p:nvSpPr>
          <p:cNvPr id="16" name="s03/card/censor/body"/>
          <p:cNvSpPr/>
          <p:nvPr/>
        </p:nvSpPr>
        <p:spPr>
          <a:xfrm>
            <a:off x="8079921" y="2324005"/>
            <a:ext cx="3350079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两件runout均完整观察至50万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次；其真实失效寿命未知。</a:t>
            </a:r>
            <a:endParaRPr lang="zh-CN" sz="1800" dirty="0"/>
          </a:p>
        </p:txBody>
      </p:sp>
      <p:sp>
        <p:nvSpPr>
          <p:cNvPr id="17" name="s03/card/window/surface"/>
          <p:cNvSpPr/>
          <p:nvPr/>
        </p:nvSpPr>
        <p:spPr>
          <a:xfrm>
            <a:off x="7908471" y="3619214"/>
            <a:ext cx="3692979" cy="1771459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10478">
            <a:solidFill>
              <a:srgbClr val="B7C8CF"/>
            </a:solidFill>
            <a:prstDash val="solid"/>
          </a:ln>
        </p:spPr>
      </p:sp>
      <p:sp>
        <p:nvSpPr>
          <p:cNvPr id="18" name="s03/card/window/title"/>
          <p:cNvSpPr/>
          <p:nvPr/>
        </p:nvSpPr>
        <p:spPr>
          <a:xfrm>
            <a:off x="8079921" y="3790664"/>
            <a:ext cx="3350079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zh-CN" altLang="en-US" sz="2025" b="1" dirty="0">
                <a:solidFill>
                  <a:srgbClr val="176D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共同窗口：50万次</a:t>
            </a:r>
            <a:endParaRPr lang="zh-CN" sz="2025" dirty="0"/>
          </a:p>
        </p:txBody>
      </p:sp>
      <p:sp>
        <p:nvSpPr>
          <p:cNvPr id="19" name="s03/card/window/body"/>
          <p:cNvSpPr/>
          <p:nvPr/>
        </p:nvSpPr>
        <p:spPr>
          <a:xfrm>
            <a:off x="8079921" y="4200716"/>
            <a:ext cx="3350079" cy="85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Y=min(T,50万)。无提前删失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时，平均Y即限制均值；不外推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停止点后的寿命。</a:t>
            </a:r>
            <a:endParaRPr lang="zh-CN" sz="1800" dirty="0"/>
          </a:p>
        </p:txBody>
      </p:sp>
      <p:sp>
        <p:nvSpPr>
          <p:cNvPr id="20" name="s03/composition/conclusion/frame"/>
          <p:cNvSpPr/>
          <p:nvPr/>
        </p:nvSpPr>
        <p:spPr>
          <a:xfrm>
            <a:off x="457200" y="5638324"/>
            <a:ext cx="11277600" cy="505301"/>
          </a:xfrm>
          <a:prstGeom prst="rect">
            <a:avLst/>
          </a:prstGeom>
          <a:solidFill>
            <a:srgbClr val="E7F1F3"/>
          </a:solidFill>
          <a:ln w="9525">
            <a:solidFill>
              <a:srgbClr val="B7C8CF"/>
            </a:solidFill>
            <a:prstDash val="solid"/>
          </a:ln>
        </p:spPr>
      </p:sp>
      <p:sp>
        <p:nvSpPr>
          <p:cNvPr id="21" name="s03/composition/conclusion/label-fill"/>
          <p:cNvSpPr/>
          <p:nvPr/>
        </p:nvSpPr>
        <p:spPr>
          <a:xfrm>
            <a:off x="457200" y="5638324"/>
            <a:ext cx="838200" cy="505301"/>
          </a:xfrm>
          <a:prstGeom prst="rect">
            <a:avLst/>
          </a:prstGeom>
          <a:solidFill>
            <a:srgbClr val="176D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3/composition/conclusion/label"/>
          <p:cNvSpPr/>
          <p:nvPr/>
        </p:nvSpPr>
        <p:spPr>
          <a:xfrm>
            <a:off x="571500" y="5743099"/>
            <a:ext cx="609600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29"/>
              </a:lnSpc>
              <a:buNone/>
            </a:pPr>
            <a:r>
              <a:rPr lang="zh-CN" altLang="en-US" sz="2025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</a:t>
            </a:r>
            <a:endParaRPr lang="zh-CN" sz="2025" dirty="0"/>
          </a:p>
        </p:txBody>
      </p:sp>
      <p:sp>
        <p:nvSpPr>
          <p:cNvPr id="23" name="s03/composition/conclusion/text"/>
          <p:cNvSpPr/>
          <p:nvPr/>
        </p:nvSpPr>
        <p:spPr>
          <a:xfrm>
            <a:off x="1447800" y="5743099"/>
            <a:ext cx="1013460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176D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合并两工艺的限制均值差为11.21万次，但批次与应力同时改变，不能归因于工艺。</a:t>
            </a:r>
            <a:endParaRPr lang="zh-CN" sz="1800" dirty="0"/>
          </a:p>
        </p:txBody>
      </p:sp>
      <p:sp>
        <p:nvSpPr>
          <p:cNvPr id="24" name="s03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教学模拟资料包（编制者未署名） 2026  |  [2] 教学模拟资料包（编制者未署名） 2026</a:t>
            </a:r>
            <a:endParaRPr lang="zh-CN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09</a:t>
            </a:r>
            <a:endParaRPr lang="zh-CN" sz="1050" dirty="0"/>
          </a:p>
        </p:txBody>
      </p:sp>
      <p:sp>
        <p:nvSpPr>
          <p:cNvPr id="3" name="s04/brand-label"/>
          <p:cNvSpPr/>
          <p:nvPr/>
        </p:nvSpPr>
        <p:spPr>
          <a:xfrm>
            <a:off x="10439400" y="171450"/>
            <a:ext cx="1295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zh-CN" altLang="en-US" sz="1650" b="1" dirty="0">
                <a:solidFill>
                  <a:srgbClr val="176D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教学模拟数据</a:t>
            </a:r>
            <a:endParaRPr lang="zh-CN" sz="1650" dirty="0"/>
          </a:p>
        </p:txBody>
      </p:sp>
      <p:sp>
        <p:nvSpPr>
          <p:cNvPr id="4" name="s04/title"/>
          <p:cNvSpPr/>
          <p:nvPr/>
        </p:nvSpPr>
        <p:spPr>
          <a:xfrm>
            <a:off x="457200" y="552450"/>
            <a:ext cx="11277600" cy="409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21"/>
              </a:lnSpc>
              <a:buNone/>
            </a:pPr>
            <a:r>
              <a:rPr lang="zh-CN" altLang="en-US" sz="2850" b="1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B批均值差为+2.56万次，区间跨越零</a:t>
            </a:r>
            <a:endParaRPr lang="zh-CN" sz="2850" dirty="0"/>
          </a:p>
        </p:txBody>
      </p:sp>
      <p:sp>
        <p:nvSpPr>
          <p:cNvPr id="5" name="s04/composition/lead/frame"/>
          <p:cNvSpPr/>
          <p:nvPr/>
        </p:nvSpPr>
        <p:spPr>
          <a:xfrm>
            <a:off x="457200" y="1151954"/>
            <a:ext cx="11277600" cy="473964"/>
          </a:xfrm>
          <a:prstGeom prst="rect">
            <a:avLst/>
          </a:prstGeom>
          <a:solidFill>
            <a:srgbClr val="E7F1F3"/>
          </a:solidFill>
          <a:ln w="8573">
            <a:solidFill>
              <a:srgbClr val="B7C8CF"/>
            </a:solidFill>
            <a:prstDash val="solid"/>
          </a:ln>
        </p:spPr>
      </p:sp>
      <p:sp>
        <p:nvSpPr>
          <p:cNvPr id="6" name="s04/composition/lead/mark"/>
          <p:cNvSpPr/>
          <p:nvPr/>
        </p:nvSpPr>
        <p:spPr>
          <a:xfrm>
            <a:off x="457200" y="1151954"/>
            <a:ext cx="47625" cy="473964"/>
          </a:xfrm>
          <a:prstGeom prst="rect">
            <a:avLst/>
          </a:prstGeom>
          <a:solidFill>
            <a:srgbClr val="176D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04/composition/lead"/>
          <p:cNvSpPr/>
          <p:nvPr/>
        </p:nvSpPr>
        <p:spPr>
          <a:xfrm>
            <a:off x="628650" y="1247204"/>
            <a:ext cx="1093470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B批 · 200 MPa · 常规12件 / 改性12件 · 全部失效 · 探索性观察比较</a:t>
            </a:r>
            <a:endParaRPr lang="zh-CN" sz="1800" dirty="0"/>
          </a:p>
        </p:txBody>
      </p:sp>
      <p:sp>
        <p:nvSpPr>
          <p:cNvPr id="8" name="s04/composition/panel/raw/title"/>
          <p:cNvSpPr/>
          <p:nvPr/>
        </p:nvSpPr>
        <p:spPr>
          <a:xfrm>
            <a:off x="590550" y="1835468"/>
            <a:ext cx="5540829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zh-CN" altLang="en-US" sz="2025" b="1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每件试件的分布</a:t>
            </a:r>
            <a:endParaRPr lang="zh-CN" sz="2025" dirty="0"/>
          </a:p>
        </p:txBody>
      </p:sp>
      <p:sp>
        <p:nvSpPr>
          <p:cNvPr id="9" name="s04/plots/B-points/data-plot/reading-note"/>
          <p:cNvSpPr/>
          <p:nvPr/>
        </p:nvSpPr>
        <p:spPr>
          <a:xfrm>
            <a:off x="704850" y="2436019"/>
            <a:ext cx="531222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每点为一条观测；纵向错位仅防重叠</a:t>
            </a:r>
            <a:endParaRPr lang="zh-CN" sz="1350" dirty="0"/>
          </a:p>
        </p:txBody>
      </p:sp>
      <p:sp>
        <p:nvSpPr>
          <p:cNvPr id="10" name="s04/plots/B-points/data-plot/caption"/>
          <p:cNvSpPr/>
          <p:nvPr/>
        </p:nvSpPr>
        <p:spPr>
          <a:xfrm>
            <a:off x="704850" y="5070634"/>
            <a:ext cx="531222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一圆点=一件试件；无连线。常规均值30.37，改性32.93万次。</a:t>
            </a:r>
            <a:endParaRPr lang="zh-CN" sz="1350" dirty="0"/>
          </a:p>
        </p:txBody>
      </p:sp>
      <p:sp>
        <p:nvSpPr>
          <p:cNvPr id="11" name="s04/plots/B-points/data-plot/unit"/>
          <p:cNvSpPr/>
          <p:nvPr/>
        </p:nvSpPr>
        <p:spPr>
          <a:xfrm>
            <a:off x="2166257" y="4769644"/>
            <a:ext cx="3850821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失效寿命 / 万次</a:t>
            </a:r>
            <a:endParaRPr lang="zh-CN" sz="1350" dirty="0"/>
          </a:p>
        </p:txBody>
      </p:sp>
      <p:sp>
        <p:nvSpPr>
          <p:cNvPr id="12" name="s04/plots/B-points/data-plot/grid/0"/>
          <p:cNvSpPr/>
          <p:nvPr/>
        </p:nvSpPr>
        <p:spPr>
          <a:xfrm>
            <a:off x="2166257" y="2737009"/>
            <a:ext cx="0" cy="1693545"/>
          </a:xfrm>
          <a:prstGeom prst="line">
            <a:avLst/>
          </a:prstGeom>
          <a:noFill/>
          <a:ln w="7620">
            <a:solidFill>
              <a:srgbClr val="B7C8CF"/>
            </a:solidFill>
            <a:prstDash val="solid"/>
          </a:ln>
        </p:spPr>
      </p:sp>
      <p:sp>
        <p:nvSpPr>
          <p:cNvPr id="13" name="s04/plots/B-points/data-plot/tick/0"/>
          <p:cNvSpPr/>
          <p:nvPr/>
        </p:nvSpPr>
        <p:spPr>
          <a:xfrm>
            <a:off x="2166257" y="4430554"/>
            <a:ext cx="0" cy="38100"/>
          </a:xfrm>
          <a:prstGeom prst="line">
            <a:avLst/>
          </a:prstGeom>
          <a:noFill/>
          <a:ln w="9525">
            <a:solidFill>
              <a:srgbClr val="526777"/>
            </a:solidFill>
            <a:prstDash val="solid"/>
          </a:ln>
        </p:spPr>
      </p:sp>
      <p:sp>
        <p:nvSpPr>
          <p:cNvPr id="14" name="s04/plots/B-points/data-plot/tick-label/0"/>
          <p:cNvSpPr/>
          <p:nvPr/>
        </p:nvSpPr>
        <p:spPr>
          <a:xfrm>
            <a:off x="2166257" y="4506754"/>
            <a:ext cx="24726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</a:t>
            </a:r>
            <a:endParaRPr lang="zh-CN" sz="1350" dirty="0"/>
          </a:p>
        </p:txBody>
      </p:sp>
      <p:sp>
        <p:nvSpPr>
          <p:cNvPr id="15" name="s04/plots/B-points/data-plot/grid/1"/>
          <p:cNvSpPr/>
          <p:nvPr/>
        </p:nvSpPr>
        <p:spPr>
          <a:xfrm>
            <a:off x="2808061" y="2737009"/>
            <a:ext cx="0" cy="1693545"/>
          </a:xfrm>
          <a:prstGeom prst="line">
            <a:avLst/>
          </a:prstGeom>
          <a:noFill/>
          <a:ln w="7620">
            <a:solidFill>
              <a:srgbClr val="B7C8CF"/>
            </a:solidFill>
            <a:prstDash val="solid"/>
          </a:ln>
        </p:spPr>
      </p:sp>
      <p:sp>
        <p:nvSpPr>
          <p:cNvPr id="16" name="s04/plots/B-points/data-plot/tick/1"/>
          <p:cNvSpPr/>
          <p:nvPr/>
        </p:nvSpPr>
        <p:spPr>
          <a:xfrm>
            <a:off x="2808061" y="4430554"/>
            <a:ext cx="0" cy="38100"/>
          </a:xfrm>
          <a:prstGeom prst="line">
            <a:avLst/>
          </a:prstGeom>
          <a:noFill/>
          <a:ln w="9525">
            <a:solidFill>
              <a:srgbClr val="526777"/>
            </a:solidFill>
            <a:prstDash val="solid"/>
          </a:ln>
        </p:spPr>
      </p:sp>
      <p:sp>
        <p:nvSpPr>
          <p:cNvPr id="17" name="s04/plots/B-points/data-plot/tick-label/1"/>
          <p:cNvSpPr/>
          <p:nvPr/>
        </p:nvSpPr>
        <p:spPr>
          <a:xfrm>
            <a:off x="2684426" y="4506754"/>
            <a:ext cx="24726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</a:t>
            </a:r>
            <a:endParaRPr lang="zh-CN" sz="1350" dirty="0"/>
          </a:p>
        </p:txBody>
      </p:sp>
      <p:sp>
        <p:nvSpPr>
          <p:cNvPr id="18" name="s04/plots/B-points/data-plot/grid/2"/>
          <p:cNvSpPr/>
          <p:nvPr/>
        </p:nvSpPr>
        <p:spPr>
          <a:xfrm>
            <a:off x="3449864" y="2737009"/>
            <a:ext cx="0" cy="1693545"/>
          </a:xfrm>
          <a:prstGeom prst="line">
            <a:avLst/>
          </a:prstGeom>
          <a:noFill/>
          <a:ln w="7620">
            <a:solidFill>
              <a:srgbClr val="B7C8CF"/>
            </a:solidFill>
            <a:prstDash val="solid"/>
          </a:ln>
        </p:spPr>
      </p:sp>
      <p:sp>
        <p:nvSpPr>
          <p:cNvPr id="19" name="s04/plots/B-points/data-plot/tick/2"/>
          <p:cNvSpPr/>
          <p:nvPr/>
        </p:nvSpPr>
        <p:spPr>
          <a:xfrm>
            <a:off x="3449864" y="4430554"/>
            <a:ext cx="0" cy="38100"/>
          </a:xfrm>
          <a:prstGeom prst="line">
            <a:avLst/>
          </a:prstGeom>
          <a:noFill/>
          <a:ln w="9525">
            <a:solidFill>
              <a:srgbClr val="526777"/>
            </a:solidFill>
            <a:prstDash val="solid"/>
          </a:ln>
        </p:spPr>
      </p:sp>
      <p:sp>
        <p:nvSpPr>
          <p:cNvPr id="20" name="s04/plots/B-points/data-plot/tick-label/2"/>
          <p:cNvSpPr/>
          <p:nvPr/>
        </p:nvSpPr>
        <p:spPr>
          <a:xfrm>
            <a:off x="3326230" y="4506754"/>
            <a:ext cx="24726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</a:t>
            </a:r>
            <a:endParaRPr lang="zh-CN" sz="1350" dirty="0"/>
          </a:p>
        </p:txBody>
      </p:sp>
      <p:sp>
        <p:nvSpPr>
          <p:cNvPr id="21" name="s04/plots/B-points/data-plot/grid/3"/>
          <p:cNvSpPr/>
          <p:nvPr/>
        </p:nvSpPr>
        <p:spPr>
          <a:xfrm>
            <a:off x="4091668" y="2737009"/>
            <a:ext cx="0" cy="1693545"/>
          </a:xfrm>
          <a:prstGeom prst="line">
            <a:avLst/>
          </a:prstGeom>
          <a:noFill/>
          <a:ln w="7620">
            <a:solidFill>
              <a:srgbClr val="B7C8CF"/>
            </a:solidFill>
            <a:prstDash val="solid"/>
          </a:ln>
        </p:spPr>
      </p:sp>
      <p:sp>
        <p:nvSpPr>
          <p:cNvPr id="22" name="s04/plots/B-points/data-plot/tick/3"/>
          <p:cNvSpPr/>
          <p:nvPr/>
        </p:nvSpPr>
        <p:spPr>
          <a:xfrm>
            <a:off x="4091668" y="4430554"/>
            <a:ext cx="0" cy="38100"/>
          </a:xfrm>
          <a:prstGeom prst="line">
            <a:avLst/>
          </a:prstGeom>
          <a:noFill/>
          <a:ln w="9525">
            <a:solidFill>
              <a:srgbClr val="526777"/>
            </a:solidFill>
            <a:prstDash val="solid"/>
          </a:ln>
        </p:spPr>
      </p:sp>
      <p:sp>
        <p:nvSpPr>
          <p:cNvPr id="23" name="s04/plots/B-points/data-plot/tick-label/3"/>
          <p:cNvSpPr/>
          <p:nvPr/>
        </p:nvSpPr>
        <p:spPr>
          <a:xfrm>
            <a:off x="3968033" y="4506754"/>
            <a:ext cx="24726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35</a:t>
            </a:r>
            <a:endParaRPr lang="zh-CN" sz="1350" dirty="0"/>
          </a:p>
        </p:txBody>
      </p:sp>
      <p:sp>
        <p:nvSpPr>
          <p:cNvPr id="24" name="s04/plots/B-points/data-plot/grid/4"/>
          <p:cNvSpPr/>
          <p:nvPr/>
        </p:nvSpPr>
        <p:spPr>
          <a:xfrm>
            <a:off x="4733471" y="2737009"/>
            <a:ext cx="0" cy="1693545"/>
          </a:xfrm>
          <a:prstGeom prst="line">
            <a:avLst/>
          </a:prstGeom>
          <a:noFill/>
          <a:ln w="7620">
            <a:solidFill>
              <a:srgbClr val="B7C8CF"/>
            </a:solidFill>
            <a:prstDash val="solid"/>
          </a:ln>
        </p:spPr>
      </p:sp>
      <p:sp>
        <p:nvSpPr>
          <p:cNvPr id="25" name="s04/plots/B-points/data-plot/tick/4"/>
          <p:cNvSpPr/>
          <p:nvPr/>
        </p:nvSpPr>
        <p:spPr>
          <a:xfrm>
            <a:off x="4733471" y="4430554"/>
            <a:ext cx="0" cy="38100"/>
          </a:xfrm>
          <a:prstGeom prst="line">
            <a:avLst/>
          </a:prstGeom>
          <a:noFill/>
          <a:ln w="9525">
            <a:solidFill>
              <a:srgbClr val="526777"/>
            </a:solidFill>
            <a:prstDash val="solid"/>
          </a:ln>
        </p:spPr>
      </p:sp>
      <p:sp>
        <p:nvSpPr>
          <p:cNvPr id="26" name="s04/plots/B-points/data-plot/tick-label/4"/>
          <p:cNvSpPr/>
          <p:nvPr/>
        </p:nvSpPr>
        <p:spPr>
          <a:xfrm>
            <a:off x="4609837" y="4506754"/>
            <a:ext cx="24726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40</a:t>
            </a:r>
            <a:endParaRPr lang="zh-CN" sz="1350" dirty="0"/>
          </a:p>
        </p:txBody>
      </p:sp>
      <p:sp>
        <p:nvSpPr>
          <p:cNvPr id="27" name="s04/plots/B-points/data-plot/grid/5"/>
          <p:cNvSpPr/>
          <p:nvPr/>
        </p:nvSpPr>
        <p:spPr>
          <a:xfrm>
            <a:off x="5375275" y="2737009"/>
            <a:ext cx="0" cy="1693545"/>
          </a:xfrm>
          <a:prstGeom prst="line">
            <a:avLst/>
          </a:prstGeom>
          <a:noFill/>
          <a:ln w="7620">
            <a:solidFill>
              <a:srgbClr val="B7C8CF"/>
            </a:solidFill>
            <a:prstDash val="solid"/>
          </a:ln>
        </p:spPr>
      </p:sp>
      <p:sp>
        <p:nvSpPr>
          <p:cNvPr id="28" name="s04/plots/B-points/data-plot/tick/5"/>
          <p:cNvSpPr/>
          <p:nvPr/>
        </p:nvSpPr>
        <p:spPr>
          <a:xfrm>
            <a:off x="5375275" y="4430554"/>
            <a:ext cx="0" cy="38100"/>
          </a:xfrm>
          <a:prstGeom prst="line">
            <a:avLst/>
          </a:prstGeom>
          <a:noFill/>
          <a:ln w="9525">
            <a:solidFill>
              <a:srgbClr val="526777"/>
            </a:solidFill>
            <a:prstDash val="solid"/>
          </a:ln>
        </p:spPr>
      </p:sp>
      <p:sp>
        <p:nvSpPr>
          <p:cNvPr id="29" name="s04/plots/B-points/data-plot/tick-label/5"/>
          <p:cNvSpPr/>
          <p:nvPr/>
        </p:nvSpPr>
        <p:spPr>
          <a:xfrm>
            <a:off x="5251641" y="4506754"/>
            <a:ext cx="24726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45</a:t>
            </a:r>
            <a:endParaRPr lang="zh-CN" sz="1350" dirty="0"/>
          </a:p>
        </p:txBody>
      </p:sp>
      <p:sp>
        <p:nvSpPr>
          <p:cNvPr id="30" name="s04/plots/B-points/data-plot/grid/6"/>
          <p:cNvSpPr/>
          <p:nvPr/>
        </p:nvSpPr>
        <p:spPr>
          <a:xfrm>
            <a:off x="6017079" y="2737009"/>
            <a:ext cx="0" cy="1693545"/>
          </a:xfrm>
          <a:prstGeom prst="line">
            <a:avLst/>
          </a:prstGeom>
          <a:noFill/>
          <a:ln w="7620">
            <a:solidFill>
              <a:srgbClr val="B7C8CF"/>
            </a:solidFill>
            <a:prstDash val="solid"/>
          </a:ln>
        </p:spPr>
      </p:sp>
      <p:sp>
        <p:nvSpPr>
          <p:cNvPr id="31" name="s04/plots/B-points/data-plot/tick/6"/>
          <p:cNvSpPr/>
          <p:nvPr/>
        </p:nvSpPr>
        <p:spPr>
          <a:xfrm>
            <a:off x="6017079" y="4430554"/>
            <a:ext cx="0" cy="38100"/>
          </a:xfrm>
          <a:prstGeom prst="line">
            <a:avLst/>
          </a:prstGeom>
          <a:noFill/>
          <a:ln w="9525">
            <a:solidFill>
              <a:srgbClr val="526777"/>
            </a:solidFill>
            <a:prstDash val="solid"/>
          </a:ln>
        </p:spPr>
      </p:sp>
      <p:sp>
        <p:nvSpPr>
          <p:cNvPr id="32" name="s04/plots/B-points/data-plot/tick-label/6"/>
          <p:cNvSpPr/>
          <p:nvPr/>
        </p:nvSpPr>
        <p:spPr>
          <a:xfrm>
            <a:off x="5769810" y="4506754"/>
            <a:ext cx="24726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</a:t>
            </a:r>
            <a:endParaRPr lang="zh-CN" sz="1350" dirty="0"/>
          </a:p>
        </p:txBody>
      </p:sp>
      <p:sp>
        <p:nvSpPr>
          <p:cNvPr id="33" name="s04/plots/B-points/data-plot/axis"/>
          <p:cNvSpPr/>
          <p:nvPr/>
        </p:nvSpPr>
        <p:spPr>
          <a:xfrm>
            <a:off x="2166257" y="4430554"/>
            <a:ext cx="3850821" cy="0"/>
          </a:xfrm>
          <a:prstGeom prst="line">
            <a:avLst/>
          </a:prstGeom>
          <a:noFill/>
          <a:ln w="11430">
            <a:solidFill>
              <a:srgbClr val="526777"/>
            </a:solidFill>
            <a:prstDash val="solid"/>
          </a:ln>
        </p:spPr>
      </p:sp>
      <p:sp>
        <p:nvSpPr>
          <p:cNvPr id="34" name="s04/plots/B-points/data-plot/group/0/label"/>
          <p:cNvSpPr/>
          <p:nvPr/>
        </p:nvSpPr>
        <p:spPr>
          <a:xfrm>
            <a:off x="704850" y="2864644"/>
            <a:ext cx="1328057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常规 (n = 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12)</a:t>
            </a:r>
            <a:endParaRPr lang="zh-CN" sz="1800" dirty="0"/>
          </a:p>
        </p:txBody>
      </p:sp>
      <p:sp>
        <p:nvSpPr>
          <p:cNvPr id="35" name="s04/plots/B-points/data-plot/group/0/point/0"/>
          <p:cNvSpPr/>
          <p:nvPr/>
        </p:nvSpPr>
        <p:spPr>
          <a:xfrm>
            <a:off x="3435884" y="3181826"/>
            <a:ext cx="66675" cy="66675"/>
          </a:xfrm>
          <a:prstGeom prst="ellipse">
            <a:avLst/>
          </a:prstGeom>
          <a:solidFill>
            <a:srgbClr val="176D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04/plots/B-points/data-plot/group/0/point/1"/>
          <p:cNvSpPr/>
          <p:nvPr/>
        </p:nvSpPr>
        <p:spPr>
          <a:xfrm>
            <a:off x="3527520" y="3105626"/>
            <a:ext cx="66675" cy="66675"/>
          </a:xfrm>
          <a:prstGeom prst="ellipse">
            <a:avLst/>
          </a:prstGeom>
          <a:solidFill>
            <a:srgbClr val="176D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04/plots/B-points/data-plot/group/0/point/2"/>
          <p:cNvSpPr/>
          <p:nvPr/>
        </p:nvSpPr>
        <p:spPr>
          <a:xfrm>
            <a:off x="3560843" y="3181826"/>
            <a:ext cx="66675" cy="66675"/>
          </a:xfrm>
          <a:prstGeom prst="ellipse">
            <a:avLst/>
          </a:prstGeom>
          <a:solidFill>
            <a:srgbClr val="176D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04/plots/B-points/data-plot/group/0/point/3"/>
          <p:cNvSpPr/>
          <p:nvPr/>
        </p:nvSpPr>
        <p:spPr>
          <a:xfrm>
            <a:off x="3268450" y="3105626"/>
            <a:ext cx="66675" cy="66675"/>
          </a:xfrm>
          <a:prstGeom prst="ellipse">
            <a:avLst/>
          </a:prstGeom>
          <a:solidFill>
            <a:srgbClr val="176D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04/plots/B-points/data-plot/group/0/point/4"/>
          <p:cNvSpPr/>
          <p:nvPr/>
        </p:nvSpPr>
        <p:spPr>
          <a:xfrm>
            <a:off x="4057753" y="3105626"/>
            <a:ext cx="66675" cy="66675"/>
          </a:xfrm>
          <a:prstGeom prst="ellipse">
            <a:avLst/>
          </a:prstGeom>
          <a:solidFill>
            <a:srgbClr val="176D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04/plots/B-points/data-plot/group/0/point/5"/>
          <p:cNvSpPr/>
          <p:nvPr/>
        </p:nvSpPr>
        <p:spPr>
          <a:xfrm>
            <a:off x="2567665" y="3105626"/>
            <a:ext cx="66675" cy="66675"/>
          </a:xfrm>
          <a:prstGeom prst="ellipse">
            <a:avLst/>
          </a:prstGeom>
          <a:solidFill>
            <a:srgbClr val="176D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04/plots/B-points/data-plot/group/0/point/6"/>
          <p:cNvSpPr/>
          <p:nvPr/>
        </p:nvSpPr>
        <p:spPr>
          <a:xfrm>
            <a:off x="3380586" y="3105626"/>
            <a:ext cx="66675" cy="66675"/>
          </a:xfrm>
          <a:prstGeom prst="ellipse">
            <a:avLst/>
          </a:prstGeom>
          <a:solidFill>
            <a:srgbClr val="176D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04/plots/B-points/data-plot/group/0/point/7"/>
          <p:cNvSpPr/>
          <p:nvPr/>
        </p:nvSpPr>
        <p:spPr>
          <a:xfrm>
            <a:off x="3667138" y="3105626"/>
            <a:ext cx="66675" cy="66675"/>
          </a:xfrm>
          <a:prstGeom prst="ellipse">
            <a:avLst/>
          </a:prstGeom>
          <a:solidFill>
            <a:srgbClr val="176D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04/plots/B-points/data-plot/group/0/point/8"/>
          <p:cNvSpPr/>
          <p:nvPr/>
        </p:nvSpPr>
        <p:spPr>
          <a:xfrm>
            <a:off x="3767966" y="3105626"/>
            <a:ext cx="66675" cy="66675"/>
          </a:xfrm>
          <a:prstGeom prst="ellipse">
            <a:avLst/>
          </a:prstGeom>
          <a:solidFill>
            <a:srgbClr val="176D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04/plots/B-points/data-plot/group/0/point/9"/>
          <p:cNvSpPr/>
          <p:nvPr/>
        </p:nvSpPr>
        <p:spPr>
          <a:xfrm>
            <a:off x="2954749" y="3105626"/>
            <a:ext cx="66675" cy="66675"/>
          </a:xfrm>
          <a:prstGeom prst="ellipse">
            <a:avLst/>
          </a:prstGeom>
          <a:solidFill>
            <a:srgbClr val="176D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04/plots/B-points/data-plot/group/0/point/10"/>
          <p:cNvSpPr/>
          <p:nvPr/>
        </p:nvSpPr>
        <p:spPr>
          <a:xfrm>
            <a:off x="3566054" y="3029426"/>
            <a:ext cx="66675" cy="66675"/>
          </a:xfrm>
          <a:prstGeom prst="ellipse">
            <a:avLst/>
          </a:prstGeom>
          <a:solidFill>
            <a:srgbClr val="176D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04/plots/B-points/data-plot/group/0/point/11"/>
          <p:cNvSpPr/>
          <p:nvPr/>
        </p:nvSpPr>
        <p:spPr>
          <a:xfrm>
            <a:off x="3810992" y="3181826"/>
            <a:ext cx="66675" cy="66675"/>
          </a:xfrm>
          <a:prstGeom prst="ellipse">
            <a:avLst/>
          </a:prstGeom>
          <a:solidFill>
            <a:srgbClr val="176D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04/plots/B-points/data-plot/group/1/label"/>
          <p:cNvSpPr/>
          <p:nvPr/>
        </p:nvSpPr>
        <p:spPr>
          <a:xfrm>
            <a:off x="704850" y="3668554"/>
            <a:ext cx="1328057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改性 (n = 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12)</a:t>
            </a:r>
            <a:endParaRPr lang="zh-CN" sz="1800" dirty="0"/>
          </a:p>
        </p:txBody>
      </p:sp>
      <p:sp>
        <p:nvSpPr>
          <p:cNvPr id="48" name="s04/plots/B-points/data-plot/group/1/point/0"/>
          <p:cNvSpPr/>
          <p:nvPr/>
        </p:nvSpPr>
        <p:spPr>
          <a:xfrm>
            <a:off x="2689774" y="3909536"/>
            <a:ext cx="66675" cy="66675"/>
          </a:xfrm>
          <a:prstGeom prst="ellipse">
            <a:avLst/>
          </a:prstGeom>
          <a:solidFill>
            <a:srgbClr val="176D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04/plots/B-points/data-plot/group/1/point/1"/>
          <p:cNvSpPr/>
          <p:nvPr/>
        </p:nvSpPr>
        <p:spPr>
          <a:xfrm>
            <a:off x="3574141" y="3909536"/>
            <a:ext cx="66675" cy="66675"/>
          </a:xfrm>
          <a:prstGeom prst="ellipse">
            <a:avLst/>
          </a:prstGeom>
          <a:solidFill>
            <a:srgbClr val="176D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04/plots/B-points/data-plot/group/1/point/2"/>
          <p:cNvSpPr/>
          <p:nvPr/>
        </p:nvSpPr>
        <p:spPr>
          <a:xfrm>
            <a:off x="3613997" y="3985736"/>
            <a:ext cx="66675" cy="66675"/>
          </a:xfrm>
          <a:prstGeom prst="ellipse">
            <a:avLst/>
          </a:prstGeom>
          <a:solidFill>
            <a:srgbClr val="176D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04/plots/B-points/data-plot/group/1/point/3"/>
          <p:cNvSpPr/>
          <p:nvPr/>
        </p:nvSpPr>
        <p:spPr>
          <a:xfrm>
            <a:off x="5355184" y="3909536"/>
            <a:ext cx="66675" cy="66675"/>
          </a:xfrm>
          <a:prstGeom prst="ellipse">
            <a:avLst/>
          </a:prstGeom>
          <a:solidFill>
            <a:srgbClr val="176D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04/plots/B-points/data-plot/group/1/point/4"/>
          <p:cNvSpPr/>
          <p:nvPr/>
        </p:nvSpPr>
        <p:spPr>
          <a:xfrm>
            <a:off x="3893746" y="3909536"/>
            <a:ext cx="66675" cy="66675"/>
          </a:xfrm>
          <a:prstGeom prst="ellipse">
            <a:avLst/>
          </a:prstGeom>
          <a:solidFill>
            <a:srgbClr val="176D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04/plots/B-points/data-plot/group/1/point/5"/>
          <p:cNvSpPr/>
          <p:nvPr/>
        </p:nvSpPr>
        <p:spPr>
          <a:xfrm>
            <a:off x="4259189" y="3909536"/>
            <a:ext cx="66675" cy="66675"/>
          </a:xfrm>
          <a:prstGeom prst="ellipse">
            <a:avLst/>
          </a:prstGeom>
          <a:solidFill>
            <a:srgbClr val="176D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04/plots/B-points/data-plot/group/1/point/6"/>
          <p:cNvSpPr/>
          <p:nvPr/>
        </p:nvSpPr>
        <p:spPr>
          <a:xfrm>
            <a:off x="4424556" y="3985736"/>
            <a:ext cx="66675" cy="66675"/>
          </a:xfrm>
          <a:prstGeom prst="ellipse">
            <a:avLst/>
          </a:prstGeom>
          <a:solidFill>
            <a:srgbClr val="176D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04/plots/B-points/data-plot/group/1/point/7"/>
          <p:cNvSpPr/>
          <p:nvPr/>
        </p:nvSpPr>
        <p:spPr>
          <a:xfrm>
            <a:off x="3483570" y="3909536"/>
            <a:ext cx="66675" cy="66675"/>
          </a:xfrm>
          <a:prstGeom prst="ellipse">
            <a:avLst/>
          </a:prstGeom>
          <a:solidFill>
            <a:srgbClr val="176D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04/plots/B-points/data-plot/group/1/point/8"/>
          <p:cNvSpPr/>
          <p:nvPr/>
        </p:nvSpPr>
        <p:spPr>
          <a:xfrm>
            <a:off x="3662209" y="3909536"/>
            <a:ext cx="66675" cy="66675"/>
          </a:xfrm>
          <a:prstGeom prst="ellipse">
            <a:avLst/>
          </a:prstGeom>
          <a:solidFill>
            <a:srgbClr val="176D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04/plots/B-points/data-plot/group/1/point/9"/>
          <p:cNvSpPr/>
          <p:nvPr/>
        </p:nvSpPr>
        <p:spPr>
          <a:xfrm>
            <a:off x="4378167" y="3909536"/>
            <a:ext cx="66675" cy="66675"/>
          </a:xfrm>
          <a:prstGeom prst="ellipse">
            <a:avLst/>
          </a:prstGeom>
          <a:solidFill>
            <a:srgbClr val="176D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04/plots/B-points/data-plot/group/1/point/10"/>
          <p:cNvSpPr/>
          <p:nvPr/>
        </p:nvSpPr>
        <p:spPr>
          <a:xfrm>
            <a:off x="3097165" y="3985736"/>
            <a:ext cx="66675" cy="66675"/>
          </a:xfrm>
          <a:prstGeom prst="ellipse">
            <a:avLst/>
          </a:prstGeom>
          <a:solidFill>
            <a:srgbClr val="176D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04/plots/B-points/data-plot/group/1/point/11"/>
          <p:cNvSpPr/>
          <p:nvPr/>
        </p:nvSpPr>
        <p:spPr>
          <a:xfrm>
            <a:off x="3080568" y="3909536"/>
            <a:ext cx="66675" cy="66675"/>
          </a:xfrm>
          <a:prstGeom prst="ellipse">
            <a:avLst/>
          </a:prstGeom>
          <a:solidFill>
            <a:srgbClr val="176D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04/composition/panel/effect/title"/>
          <p:cNvSpPr/>
          <p:nvPr/>
        </p:nvSpPr>
        <p:spPr>
          <a:xfrm>
            <a:off x="6588579" y="1835468"/>
            <a:ext cx="5012871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zh-CN" altLang="en-US" sz="2025" b="1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差值与不确定性</a:t>
            </a:r>
            <a:endParaRPr lang="zh-CN" sz="2025" dirty="0"/>
          </a:p>
        </p:txBody>
      </p:sp>
      <p:sp>
        <p:nvSpPr>
          <p:cNvPr id="61" name="s04/plots/B-CI/data-plot/reading-note"/>
          <p:cNvSpPr/>
          <p:nvPr/>
        </p:nvSpPr>
        <p:spPr>
          <a:xfrm>
            <a:off x="6702879" y="2436019"/>
            <a:ext cx="4784271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点为估计值；线为区间；参考值 = 0</a:t>
            </a:r>
            <a:endParaRPr lang="zh-CN" sz="1350" dirty="0"/>
          </a:p>
        </p:txBody>
      </p:sp>
      <p:sp>
        <p:nvSpPr>
          <p:cNvPr id="62" name="s04/plots/B-CI/data-plot/caption"/>
          <p:cNvSpPr/>
          <p:nvPr/>
        </p:nvSpPr>
        <p:spPr>
          <a:xfrm>
            <a:off x="6702879" y="4864894"/>
            <a:ext cx="4784271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Δ=改性−常规；Welch 95%区间[−1.37, +6.49]。0为无差异</a:t>
            </a:r>
            <a:endParaRPr lang="zh-CN" sz="1350" dirty="0"/>
          </a:p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参考。</a:t>
            </a:r>
            <a:endParaRPr lang="zh-CN" sz="1350" dirty="0"/>
          </a:p>
        </p:txBody>
      </p:sp>
      <p:sp>
        <p:nvSpPr>
          <p:cNvPr id="63" name="s04/plots/B-CI/data-plot/unit"/>
          <p:cNvSpPr/>
          <p:nvPr/>
        </p:nvSpPr>
        <p:spPr>
          <a:xfrm>
            <a:off x="7483929" y="4563904"/>
            <a:ext cx="225767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均值差 / 万次</a:t>
            </a:r>
            <a:endParaRPr lang="zh-CN" sz="1350" dirty="0"/>
          </a:p>
        </p:txBody>
      </p:sp>
      <p:sp>
        <p:nvSpPr>
          <p:cNvPr id="64" name="s04/plots/B-CI/data-plot/grid/0"/>
          <p:cNvSpPr/>
          <p:nvPr/>
        </p:nvSpPr>
        <p:spPr>
          <a:xfrm>
            <a:off x="7483929" y="2737009"/>
            <a:ext cx="0" cy="1487805"/>
          </a:xfrm>
          <a:prstGeom prst="line">
            <a:avLst/>
          </a:prstGeom>
          <a:noFill/>
          <a:ln w="7620">
            <a:solidFill>
              <a:srgbClr val="B7C8CF"/>
            </a:solidFill>
            <a:prstDash val="solid"/>
          </a:ln>
        </p:spPr>
      </p:sp>
      <p:sp>
        <p:nvSpPr>
          <p:cNvPr id="65" name="s04/plots/B-CI/data-plot/tick/0"/>
          <p:cNvSpPr/>
          <p:nvPr/>
        </p:nvSpPr>
        <p:spPr>
          <a:xfrm>
            <a:off x="7483929" y="4224814"/>
            <a:ext cx="0" cy="38100"/>
          </a:xfrm>
          <a:prstGeom prst="line">
            <a:avLst/>
          </a:prstGeom>
          <a:noFill/>
          <a:ln w="9525">
            <a:solidFill>
              <a:srgbClr val="526777"/>
            </a:solidFill>
            <a:prstDash val="solid"/>
          </a:ln>
        </p:spPr>
      </p:sp>
      <p:sp>
        <p:nvSpPr>
          <p:cNvPr id="66" name="s04/plots/B-CI/data-plot/tick-label/0"/>
          <p:cNvSpPr/>
          <p:nvPr/>
        </p:nvSpPr>
        <p:spPr>
          <a:xfrm>
            <a:off x="7483929" y="4301014"/>
            <a:ext cx="27641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−5</a:t>
            </a:r>
            <a:endParaRPr lang="zh-CN" sz="1350" dirty="0"/>
          </a:p>
        </p:txBody>
      </p:sp>
      <p:sp>
        <p:nvSpPr>
          <p:cNvPr id="67" name="s04/plots/B-CI/data-plot/tick/1"/>
          <p:cNvSpPr/>
          <p:nvPr/>
        </p:nvSpPr>
        <p:spPr>
          <a:xfrm>
            <a:off x="8236485" y="4224814"/>
            <a:ext cx="0" cy="38100"/>
          </a:xfrm>
          <a:prstGeom prst="line">
            <a:avLst/>
          </a:prstGeom>
          <a:noFill/>
          <a:ln w="9525">
            <a:solidFill>
              <a:srgbClr val="526777"/>
            </a:solidFill>
            <a:prstDash val="solid"/>
          </a:ln>
        </p:spPr>
      </p:sp>
      <p:sp>
        <p:nvSpPr>
          <p:cNvPr id="68" name="s04/plots/B-CI/data-plot/tick-label/1"/>
          <p:cNvSpPr/>
          <p:nvPr/>
        </p:nvSpPr>
        <p:spPr>
          <a:xfrm>
            <a:off x="8165143" y="4301014"/>
            <a:ext cx="14268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zh-CN" sz="1350" dirty="0"/>
          </a:p>
        </p:txBody>
      </p:sp>
      <p:sp>
        <p:nvSpPr>
          <p:cNvPr id="69" name="s04/plots/B-CI/data-plot/grid/2"/>
          <p:cNvSpPr/>
          <p:nvPr/>
        </p:nvSpPr>
        <p:spPr>
          <a:xfrm>
            <a:off x="8989042" y="2737009"/>
            <a:ext cx="0" cy="1487805"/>
          </a:xfrm>
          <a:prstGeom prst="line">
            <a:avLst/>
          </a:prstGeom>
          <a:noFill/>
          <a:ln w="7620">
            <a:solidFill>
              <a:srgbClr val="B7C8CF"/>
            </a:solidFill>
            <a:prstDash val="solid"/>
          </a:ln>
        </p:spPr>
      </p:sp>
      <p:sp>
        <p:nvSpPr>
          <p:cNvPr id="70" name="s04/plots/B-CI/data-plot/tick/2"/>
          <p:cNvSpPr/>
          <p:nvPr/>
        </p:nvSpPr>
        <p:spPr>
          <a:xfrm>
            <a:off x="8989042" y="4224814"/>
            <a:ext cx="0" cy="38100"/>
          </a:xfrm>
          <a:prstGeom prst="line">
            <a:avLst/>
          </a:prstGeom>
          <a:noFill/>
          <a:ln w="9525">
            <a:solidFill>
              <a:srgbClr val="526777"/>
            </a:solidFill>
            <a:prstDash val="solid"/>
          </a:ln>
        </p:spPr>
      </p:sp>
      <p:sp>
        <p:nvSpPr>
          <p:cNvPr id="71" name="s04/plots/B-CI/data-plot/tick-label/2"/>
          <p:cNvSpPr/>
          <p:nvPr/>
        </p:nvSpPr>
        <p:spPr>
          <a:xfrm>
            <a:off x="8917700" y="4301014"/>
            <a:ext cx="14268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zh-CN" sz="1350" dirty="0"/>
          </a:p>
        </p:txBody>
      </p:sp>
      <p:sp>
        <p:nvSpPr>
          <p:cNvPr id="72" name="s04/plots/B-CI/data-plot/grid/3"/>
          <p:cNvSpPr/>
          <p:nvPr/>
        </p:nvSpPr>
        <p:spPr>
          <a:xfrm>
            <a:off x="9741599" y="2737009"/>
            <a:ext cx="0" cy="1487805"/>
          </a:xfrm>
          <a:prstGeom prst="line">
            <a:avLst/>
          </a:prstGeom>
          <a:noFill/>
          <a:ln w="7620">
            <a:solidFill>
              <a:srgbClr val="B7C8CF"/>
            </a:solidFill>
            <a:prstDash val="solid"/>
          </a:ln>
        </p:spPr>
      </p:sp>
      <p:sp>
        <p:nvSpPr>
          <p:cNvPr id="73" name="s04/plots/B-CI/data-plot/tick/3"/>
          <p:cNvSpPr/>
          <p:nvPr/>
        </p:nvSpPr>
        <p:spPr>
          <a:xfrm>
            <a:off x="9741599" y="4224814"/>
            <a:ext cx="0" cy="38100"/>
          </a:xfrm>
          <a:prstGeom prst="line">
            <a:avLst/>
          </a:prstGeom>
          <a:noFill/>
          <a:ln w="9525">
            <a:solidFill>
              <a:srgbClr val="526777"/>
            </a:solidFill>
            <a:prstDash val="solid"/>
          </a:ln>
        </p:spPr>
      </p:sp>
      <p:sp>
        <p:nvSpPr>
          <p:cNvPr id="74" name="s04/plots/B-CI/data-plot/tick-label/3"/>
          <p:cNvSpPr/>
          <p:nvPr/>
        </p:nvSpPr>
        <p:spPr>
          <a:xfrm>
            <a:off x="9494330" y="4301014"/>
            <a:ext cx="24726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zh-CN" sz="1350" dirty="0"/>
          </a:p>
        </p:txBody>
      </p:sp>
      <p:sp>
        <p:nvSpPr>
          <p:cNvPr id="75" name="s04/plots/B-CI/data-plot/axis"/>
          <p:cNvSpPr/>
          <p:nvPr/>
        </p:nvSpPr>
        <p:spPr>
          <a:xfrm>
            <a:off x="7483929" y="4224814"/>
            <a:ext cx="2257670" cy="0"/>
          </a:xfrm>
          <a:prstGeom prst="line">
            <a:avLst/>
          </a:prstGeom>
          <a:noFill/>
          <a:ln w="11430">
            <a:solidFill>
              <a:srgbClr val="526777"/>
            </a:solidFill>
            <a:prstDash val="solid"/>
          </a:ln>
        </p:spPr>
      </p:sp>
      <p:sp>
        <p:nvSpPr>
          <p:cNvPr id="76" name="s04/plots/B-CI/data-plot/reference"/>
          <p:cNvSpPr/>
          <p:nvPr/>
        </p:nvSpPr>
        <p:spPr>
          <a:xfrm>
            <a:off x="8236485" y="2737009"/>
            <a:ext cx="0" cy="1487805"/>
          </a:xfrm>
          <a:prstGeom prst="line">
            <a:avLst/>
          </a:prstGeom>
          <a:noFill/>
          <a:ln w="17145">
            <a:solidFill>
              <a:srgbClr val="526777"/>
            </a:solidFill>
            <a:prstDash val="dash"/>
          </a:ln>
        </p:spPr>
      </p:sp>
      <p:sp>
        <p:nvSpPr>
          <p:cNvPr id="77" name="s04/plots/B-CI/data-plot/group/0/label"/>
          <p:cNvSpPr/>
          <p:nvPr/>
        </p:nvSpPr>
        <p:spPr>
          <a:xfrm>
            <a:off x="6702879" y="3300889"/>
            <a:ext cx="6477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Δ</a:t>
            </a:r>
            <a:endParaRPr lang="zh-CN" sz="1800" dirty="0"/>
          </a:p>
        </p:txBody>
      </p:sp>
      <p:sp>
        <p:nvSpPr>
          <p:cNvPr id="78" name="s04/plots/B-CI/data-plot/group/0/interval"/>
          <p:cNvSpPr/>
          <p:nvPr/>
        </p:nvSpPr>
        <p:spPr>
          <a:xfrm>
            <a:off x="8030285" y="3438049"/>
            <a:ext cx="1183019" cy="0"/>
          </a:xfrm>
          <a:prstGeom prst="line">
            <a:avLst/>
          </a:prstGeom>
          <a:noFill/>
          <a:ln w="22860">
            <a:solidFill>
              <a:srgbClr val="176D7A"/>
            </a:solidFill>
            <a:prstDash val="solid"/>
          </a:ln>
        </p:spPr>
      </p:sp>
      <p:sp>
        <p:nvSpPr>
          <p:cNvPr id="79" name="s04/plots/B-CI/data-plot/group/0/lower"/>
          <p:cNvSpPr/>
          <p:nvPr/>
        </p:nvSpPr>
        <p:spPr>
          <a:xfrm>
            <a:off x="8030285" y="3380899"/>
            <a:ext cx="0" cy="114300"/>
          </a:xfrm>
          <a:prstGeom prst="line">
            <a:avLst/>
          </a:prstGeom>
          <a:noFill/>
          <a:ln w="17145">
            <a:solidFill>
              <a:srgbClr val="176D7A"/>
            </a:solidFill>
            <a:prstDash val="solid"/>
          </a:ln>
        </p:spPr>
      </p:sp>
      <p:sp>
        <p:nvSpPr>
          <p:cNvPr id="80" name="s04/plots/B-CI/data-plot/group/0/upper"/>
          <p:cNvSpPr/>
          <p:nvPr/>
        </p:nvSpPr>
        <p:spPr>
          <a:xfrm>
            <a:off x="9213304" y="3380899"/>
            <a:ext cx="0" cy="114300"/>
          </a:xfrm>
          <a:prstGeom prst="line">
            <a:avLst/>
          </a:prstGeom>
          <a:noFill/>
          <a:ln w="17145">
            <a:solidFill>
              <a:srgbClr val="176D7A"/>
            </a:solidFill>
            <a:prstDash val="solid"/>
          </a:ln>
        </p:spPr>
      </p:sp>
      <p:sp>
        <p:nvSpPr>
          <p:cNvPr id="81" name="s04/plots/B-CI/data-plot/group/0/estimate"/>
          <p:cNvSpPr/>
          <p:nvPr/>
        </p:nvSpPr>
        <p:spPr>
          <a:xfrm>
            <a:off x="8574169" y="3390424"/>
            <a:ext cx="95250" cy="95250"/>
          </a:xfrm>
          <a:prstGeom prst="ellipse">
            <a:avLst/>
          </a:prstGeom>
          <a:solidFill>
            <a:srgbClr val="176D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04/plots/B-CI/data-plot/group/0/value-label"/>
          <p:cNvSpPr/>
          <p:nvPr/>
        </p:nvSpPr>
        <p:spPr>
          <a:xfrm>
            <a:off x="9874949" y="3335179"/>
            <a:ext cx="1612201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2.56 [−1.37, 6.49]</a:t>
            </a:r>
            <a:endParaRPr lang="zh-CN" sz="1350" dirty="0"/>
          </a:p>
        </p:txBody>
      </p:sp>
      <p:sp>
        <p:nvSpPr>
          <p:cNvPr id="83" name="s04/composition/conclusion/frame"/>
          <p:cNvSpPr/>
          <p:nvPr/>
        </p:nvSpPr>
        <p:spPr>
          <a:xfrm>
            <a:off x="457200" y="5638324"/>
            <a:ext cx="11277600" cy="505301"/>
          </a:xfrm>
          <a:prstGeom prst="rect">
            <a:avLst/>
          </a:prstGeom>
          <a:solidFill>
            <a:srgbClr val="E7F1F3"/>
          </a:solidFill>
          <a:ln w="9525">
            <a:solidFill>
              <a:srgbClr val="B7C8CF"/>
            </a:solidFill>
            <a:prstDash val="solid"/>
          </a:ln>
        </p:spPr>
      </p:sp>
      <p:sp>
        <p:nvSpPr>
          <p:cNvPr id="84" name="s04/composition/conclusion/label-fill"/>
          <p:cNvSpPr/>
          <p:nvPr/>
        </p:nvSpPr>
        <p:spPr>
          <a:xfrm>
            <a:off x="457200" y="5638324"/>
            <a:ext cx="838200" cy="505301"/>
          </a:xfrm>
          <a:prstGeom prst="rect">
            <a:avLst/>
          </a:prstGeom>
          <a:solidFill>
            <a:srgbClr val="176D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04/composition/conclusion/label"/>
          <p:cNvSpPr/>
          <p:nvPr/>
        </p:nvSpPr>
        <p:spPr>
          <a:xfrm>
            <a:off x="571500" y="5743099"/>
            <a:ext cx="609600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29"/>
              </a:lnSpc>
              <a:buNone/>
            </a:pPr>
            <a:r>
              <a:rPr lang="zh-CN" altLang="en-US" sz="2025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判断</a:t>
            </a:r>
            <a:endParaRPr lang="zh-CN" sz="2025" dirty="0"/>
          </a:p>
        </p:txBody>
      </p:sp>
      <p:sp>
        <p:nvSpPr>
          <p:cNvPr id="86" name="s04/composition/conclusion/text"/>
          <p:cNvSpPr/>
          <p:nvPr/>
        </p:nvSpPr>
        <p:spPr>
          <a:xfrm>
            <a:off x="1447800" y="5743099"/>
            <a:ext cx="1013460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176D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区间同时容许负向与正向差异；尚未确认增益，也不能宣布等效或已验证材料机制。</a:t>
            </a:r>
            <a:endParaRPr lang="zh-CN" sz="1800" dirty="0"/>
          </a:p>
        </p:txBody>
      </p:sp>
      <p:sp>
        <p:nvSpPr>
          <p:cNvPr id="87" name="s04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教学模拟资料包（编制者未署名） 2026  |  [2] 教学模拟资料包（编制者未署名） 2026</a:t>
            </a:r>
            <a:endParaRPr lang="zh-CN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09</a:t>
            </a:r>
            <a:endParaRPr lang="zh-CN" sz="1050" dirty="0"/>
          </a:p>
        </p:txBody>
      </p:sp>
      <p:sp>
        <p:nvSpPr>
          <p:cNvPr id="3" name="s05/brand-label"/>
          <p:cNvSpPr/>
          <p:nvPr/>
        </p:nvSpPr>
        <p:spPr>
          <a:xfrm>
            <a:off x="10439400" y="171450"/>
            <a:ext cx="1295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zh-CN" altLang="en-US" sz="1650" b="1" dirty="0">
                <a:solidFill>
                  <a:srgbClr val="176D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教学模拟数据</a:t>
            </a:r>
            <a:endParaRPr lang="zh-CN" sz="1650" dirty="0"/>
          </a:p>
        </p:txBody>
      </p:sp>
      <p:sp>
        <p:nvSpPr>
          <p:cNvPr id="4" name="s05/title"/>
          <p:cNvSpPr/>
          <p:nvPr/>
        </p:nvSpPr>
        <p:spPr>
          <a:xfrm>
            <a:off x="457200" y="552450"/>
            <a:ext cx="11277600" cy="409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21"/>
              </a:lnSpc>
              <a:buNone/>
            </a:pPr>
            <a:r>
              <a:rPr lang="zh-CN" altLang="en-US" sz="2850" b="1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寿命差异尚不能定位改性作用机制</a:t>
            </a:r>
            <a:endParaRPr lang="zh-CN" sz="2850" dirty="0"/>
          </a:p>
        </p:txBody>
      </p:sp>
      <p:sp>
        <p:nvSpPr>
          <p:cNvPr id="5" name="s05/composition/panel/explanations/title"/>
          <p:cNvSpPr/>
          <p:nvPr/>
        </p:nvSpPr>
        <p:spPr>
          <a:xfrm>
            <a:off x="590550" y="1228154"/>
            <a:ext cx="11010900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zh-CN" altLang="en-US" sz="2025" b="1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需要区分的两类解释（无箭头表示关联）</a:t>
            </a:r>
            <a:endParaRPr lang="zh-CN" sz="2025" dirty="0"/>
          </a:p>
        </p:txBody>
      </p:sp>
      <p:sp>
        <p:nvSpPr>
          <p:cNvPr id="6" name="s05/edge:0:segment:0"/>
          <p:cNvSpPr/>
          <p:nvPr/>
        </p:nvSpPr>
        <p:spPr>
          <a:xfrm>
            <a:off x="3390900" y="2580418"/>
            <a:ext cx="0" cy="291465"/>
          </a:xfrm>
          <a:prstGeom prst="line">
            <a:avLst/>
          </a:prstGeom>
          <a:noFill/>
          <a:ln w="20955">
            <a:solidFill>
              <a:srgbClr val="176D7A"/>
            </a:solidFill>
            <a:prstDash val="solid"/>
          </a:ln>
        </p:spPr>
      </p:sp>
      <p:sp>
        <p:nvSpPr>
          <p:cNvPr id="7" name="s05/edge:0:segment:1"/>
          <p:cNvSpPr/>
          <p:nvPr/>
        </p:nvSpPr>
        <p:spPr>
          <a:xfrm>
            <a:off x="3390900" y="2871883"/>
            <a:ext cx="2705100" cy="0"/>
          </a:xfrm>
          <a:prstGeom prst="line">
            <a:avLst/>
          </a:prstGeom>
          <a:noFill/>
          <a:ln w="20955">
            <a:solidFill>
              <a:srgbClr val="176D7A"/>
            </a:solidFill>
            <a:prstDash val="solid"/>
          </a:ln>
        </p:spPr>
      </p:sp>
      <p:sp>
        <p:nvSpPr>
          <p:cNvPr id="8" name="s05/edge:0:segment:2"/>
          <p:cNvSpPr/>
          <p:nvPr/>
        </p:nvSpPr>
        <p:spPr>
          <a:xfrm>
            <a:off x="6096000" y="2871883"/>
            <a:ext cx="0" cy="95250"/>
          </a:xfrm>
          <a:prstGeom prst="line">
            <a:avLst/>
          </a:prstGeom>
          <a:noFill/>
          <a:ln w="20955">
            <a:solidFill>
              <a:srgbClr val="176D7A"/>
            </a:solidFill>
            <a:prstDash val="solid"/>
          </a:ln>
        </p:spPr>
      </p:sp>
      <p:sp>
        <p:nvSpPr>
          <p:cNvPr id="9" name="s05/edge:0:label-back"/>
          <p:cNvSpPr/>
          <p:nvPr/>
        </p:nvSpPr>
        <p:spPr>
          <a:xfrm>
            <a:off x="4314825" y="2608993"/>
            <a:ext cx="857250" cy="2247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05/edge:0:label"/>
          <p:cNvSpPr/>
          <p:nvPr/>
        </p:nvSpPr>
        <p:spPr>
          <a:xfrm>
            <a:off x="4333875" y="2618518"/>
            <a:ext cx="8191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176D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可能解释</a:t>
            </a:r>
            <a:endParaRPr lang="zh-CN" sz="1350" dirty="0"/>
          </a:p>
        </p:txBody>
      </p:sp>
      <p:sp>
        <p:nvSpPr>
          <p:cNvPr id="11" name="s05/edge:1:segment:0"/>
          <p:cNvSpPr/>
          <p:nvPr/>
        </p:nvSpPr>
        <p:spPr>
          <a:xfrm>
            <a:off x="8801100" y="2580418"/>
            <a:ext cx="0" cy="291465"/>
          </a:xfrm>
          <a:prstGeom prst="line">
            <a:avLst/>
          </a:prstGeom>
          <a:noFill/>
          <a:ln w="20955">
            <a:solidFill>
              <a:srgbClr val="176D7A"/>
            </a:solidFill>
            <a:prstDash val="solid"/>
          </a:ln>
        </p:spPr>
      </p:sp>
      <p:sp>
        <p:nvSpPr>
          <p:cNvPr id="12" name="s05/edge:1:segment:1"/>
          <p:cNvSpPr/>
          <p:nvPr/>
        </p:nvSpPr>
        <p:spPr>
          <a:xfrm flipH="1">
            <a:off x="6096000" y="2871883"/>
            <a:ext cx="2705100" cy="0"/>
          </a:xfrm>
          <a:prstGeom prst="line">
            <a:avLst/>
          </a:prstGeom>
          <a:noFill/>
          <a:ln w="20955">
            <a:solidFill>
              <a:srgbClr val="176D7A"/>
            </a:solidFill>
            <a:prstDash val="solid"/>
          </a:ln>
        </p:spPr>
      </p:sp>
      <p:sp>
        <p:nvSpPr>
          <p:cNvPr id="13" name="s05/edge:1:segment:2"/>
          <p:cNvSpPr/>
          <p:nvPr/>
        </p:nvSpPr>
        <p:spPr>
          <a:xfrm>
            <a:off x="6096000" y="2871883"/>
            <a:ext cx="0" cy="95250"/>
          </a:xfrm>
          <a:prstGeom prst="line">
            <a:avLst/>
          </a:prstGeom>
          <a:noFill/>
          <a:ln w="20955">
            <a:solidFill>
              <a:srgbClr val="176D7A"/>
            </a:solidFill>
            <a:prstDash val="solid"/>
          </a:ln>
        </p:spPr>
      </p:sp>
      <p:sp>
        <p:nvSpPr>
          <p:cNvPr id="14" name="s05/edge:1:label-back"/>
          <p:cNvSpPr/>
          <p:nvPr/>
        </p:nvSpPr>
        <p:spPr>
          <a:xfrm>
            <a:off x="7019925" y="2608993"/>
            <a:ext cx="857250" cy="2247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05/edge:1:label"/>
          <p:cNvSpPr/>
          <p:nvPr/>
        </p:nvSpPr>
        <p:spPr>
          <a:xfrm>
            <a:off x="7038975" y="2618518"/>
            <a:ext cx="8191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176D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可能解释</a:t>
            </a:r>
            <a:endParaRPr lang="zh-CN" sz="1350" dirty="0"/>
          </a:p>
        </p:txBody>
      </p:sp>
      <p:sp>
        <p:nvSpPr>
          <p:cNvPr id="16" name="s05/node:process-path:frame"/>
          <p:cNvSpPr/>
          <p:nvPr/>
        </p:nvSpPr>
        <p:spPr>
          <a:xfrm>
            <a:off x="876300" y="1752505"/>
            <a:ext cx="5029200" cy="827913"/>
          </a:xfrm>
          <a:prstGeom prst="rect">
            <a:avLst/>
          </a:prstGeom>
          <a:solidFill>
            <a:srgbClr val="E7F1F3"/>
          </a:solidFill>
          <a:ln w="10478">
            <a:solidFill>
              <a:srgbClr val="B7C8CF"/>
            </a:solidFill>
            <a:prstDash val="dash"/>
          </a:ln>
        </p:spPr>
      </p:sp>
      <p:sp>
        <p:nvSpPr>
          <p:cNvPr id="17" name="s05/node:process-path:label-band"/>
          <p:cNvSpPr/>
          <p:nvPr/>
        </p:nvSpPr>
        <p:spPr>
          <a:xfrm>
            <a:off x="876300" y="1752505"/>
            <a:ext cx="5029200" cy="398526"/>
          </a:xfrm>
          <a:prstGeom prst="rect">
            <a:avLst/>
          </a:prstGeom>
          <a:solidFill>
            <a:srgbClr val="176D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05/node:process-path:label"/>
          <p:cNvSpPr/>
          <p:nvPr/>
        </p:nvSpPr>
        <p:spPr>
          <a:xfrm>
            <a:off x="990600" y="1819180"/>
            <a:ext cx="4800600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工艺本身</a:t>
            </a:r>
            <a:endParaRPr lang="zh-CN" sz="1800" dirty="0"/>
          </a:p>
        </p:txBody>
      </p:sp>
      <p:sp>
        <p:nvSpPr>
          <p:cNvPr id="19" name="s05/node:process-path:detail"/>
          <p:cNvSpPr/>
          <p:nvPr/>
        </p:nvSpPr>
        <p:spPr>
          <a:xfrm>
            <a:off x="990600" y="2208181"/>
            <a:ext cx="48006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待检验的寿命作用</a:t>
            </a:r>
            <a:endParaRPr lang="zh-CN" sz="1650" dirty="0"/>
          </a:p>
        </p:txBody>
      </p:sp>
      <p:sp>
        <p:nvSpPr>
          <p:cNvPr id="20" name="s05/node:conditions-path:frame"/>
          <p:cNvSpPr/>
          <p:nvPr/>
        </p:nvSpPr>
        <p:spPr>
          <a:xfrm>
            <a:off x="6286500" y="1752505"/>
            <a:ext cx="5029200" cy="827913"/>
          </a:xfrm>
          <a:prstGeom prst="rect">
            <a:avLst/>
          </a:prstGeom>
          <a:solidFill>
            <a:srgbClr val="E7F1F3"/>
          </a:solidFill>
          <a:ln w="10478">
            <a:solidFill>
              <a:srgbClr val="B7C8CF"/>
            </a:solidFill>
            <a:prstDash val="solid"/>
          </a:ln>
        </p:spPr>
      </p:sp>
      <p:sp>
        <p:nvSpPr>
          <p:cNvPr id="21" name="s05/node:conditions-path:label-band"/>
          <p:cNvSpPr/>
          <p:nvPr/>
        </p:nvSpPr>
        <p:spPr>
          <a:xfrm>
            <a:off x="6286500" y="1752505"/>
            <a:ext cx="5029200" cy="398526"/>
          </a:xfrm>
          <a:prstGeom prst="rect">
            <a:avLst/>
          </a:prstGeom>
          <a:solidFill>
            <a:srgbClr val="B15B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5/node:conditions-path:label"/>
          <p:cNvSpPr/>
          <p:nvPr/>
        </p:nvSpPr>
        <p:spPr>
          <a:xfrm>
            <a:off x="6400800" y="1819180"/>
            <a:ext cx="4800600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批次 / 应力 / 顺序</a:t>
            </a:r>
            <a:endParaRPr lang="zh-CN" sz="1800" dirty="0"/>
          </a:p>
        </p:txBody>
      </p:sp>
      <p:sp>
        <p:nvSpPr>
          <p:cNvPr id="23" name="s05/node:conditions-path:detail"/>
          <p:cNvSpPr/>
          <p:nvPr/>
        </p:nvSpPr>
        <p:spPr>
          <a:xfrm>
            <a:off x="6400800" y="2208181"/>
            <a:ext cx="48006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尚未排除的替代解释</a:t>
            </a:r>
            <a:endParaRPr lang="zh-CN" sz="1650" dirty="0"/>
          </a:p>
        </p:txBody>
      </p:sp>
      <p:sp>
        <p:nvSpPr>
          <p:cNvPr id="24" name="s05/node:difference:frame"/>
          <p:cNvSpPr/>
          <p:nvPr/>
        </p:nvSpPr>
        <p:spPr>
          <a:xfrm>
            <a:off x="876300" y="2967133"/>
            <a:ext cx="10439400" cy="827913"/>
          </a:xfrm>
          <a:prstGeom prst="rect">
            <a:avLst/>
          </a:prstGeom>
          <a:solidFill>
            <a:srgbClr val="E7F1F3"/>
          </a:solidFill>
          <a:ln w="10478">
            <a:solidFill>
              <a:srgbClr val="B7C8CF"/>
            </a:solidFill>
            <a:prstDash val="solid"/>
          </a:ln>
        </p:spPr>
      </p:sp>
      <p:sp>
        <p:nvSpPr>
          <p:cNvPr id="25" name="s05/node:difference:label-band"/>
          <p:cNvSpPr/>
          <p:nvPr/>
        </p:nvSpPr>
        <p:spPr>
          <a:xfrm>
            <a:off x="876300" y="2967133"/>
            <a:ext cx="10439400" cy="398526"/>
          </a:xfrm>
          <a:prstGeom prst="rect">
            <a:avLst/>
          </a:prstGeom>
          <a:solidFill>
            <a:srgbClr val="176D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05/node:difference:label"/>
          <p:cNvSpPr/>
          <p:nvPr/>
        </p:nvSpPr>
        <p:spPr>
          <a:xfrm>
            <a:off x="990600" y="3033808"/>
            <a:ext cx="10210800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观察到的组间差异</a:t>
            </a:r>
            <a:endParaRPr lang="zh-CN" sz="1800" dirty="0"/>
          </a:p>
        </p:txBody>
      </p:sp>
      <p:sp>
        <p:nvSpPr>
          <p:cNvPr id="27" name="s05/node:difference:detail"/>
          <p:cNvSpPr/>
          <p:nvPr/>
        </p:nvSpPr>
        <p:spPr>
          <a:xfrm>
            <a:off x="990600" y="3422809"/>
            <a:ext cx="102108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关联并非机制证据</a:t>
            </a:r>
            <a:endParaRPr lang="zh-CN" sz="1650" dirty="0"/>
          </a:p>
        </p:txBody>
      </p:sp>
      <p:sp>
        <p:nvSpPr>
          <p:cNvPr id="28" name="s05/composition/panel/batch-context/title"/>
          <p:cNvSpPr/>
          <p:nvPr/>
        </p:nvSpPr>
        <p:spPr>
          <a:xfrm>
            <a:off x="590550" y="4195096"/>
            <a:ext cx="5276850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zh-CN" altLang="en-US" sz="2025" b="1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现有数据的提醒</a:t>
            </a:r>
            <a:endParaRPr lang="zh-CN" sz="2025" dirty="0"/>
          </a:p>
        </p:txBody>
      </p:sp>
      <p:sp>
        <p:nvSpPr>
          <p:cNvPr id="29" name="s05/card/batch-fact/surface"/>
          <p:cNvSpPr/>
          <p:nvPr/>
        </p:nvSpPr>
        <p:spPr>
          <a:xfrm>
            <a:off x="590550" y="4681347"/>
            <a:ext cx="5276850" cy="1347978"/>
          </a:xfrm>
          <a:prstGeom prst="roundRect">
            <a:avLst>
              <a:gd name="adj" fmla="val 4793"/>
            </a:avLst>
          </a:prstGeom>
          <a:solidFill>
            <a:srgbClr val="E7F1F3"/>
          </a:solidFill>
          <a:ln w="10478">
            <a:solidFill>
              <a:srgbClr val="B7C8CF"/>
            </a:solidFill>
            <a:prstDash val="solid"/>
          </a:ln>
        </p:spPr>
      </p:sp>
      <p:sp>
        <p:nvSpPr>
          <p:cNvPr id="30" name="s05/card/batch-fact/title"/>
          <p:cNvSpPr/>
          <p:nvPr/>
        </p:nvSpPr>
        <p:spPr>
          <a:xfrm>
            <a:off x="762000" y="4852797"/>
            <a:ext cx="4933950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zh-CN" altLang="en-US" sz="2025" b="1" dirty="0">
                <a:solidFill>
                  <a:srgbClr val="176D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同工艺也存在跨批差异</a:t>
            </a:r>
            <a:endParaRPr lang="zh-CN" sz="2025" dirty="0"/>
          </a:p>
        </p:txBody>
      </p:sp>
      <p:sp>
        <p:nvSpPr>
          <p:cNvPr id="31" name="s05/card/batch-fact/body"/>
          <p:cNvSpPr/>
          <p:nvPr/>
        </p:nvSpPr>
        <p:spPr>
          <a:xfrm>
            <a:off x="762000" y="5262848"/>
            <a:ext cx="493395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A与B常规均为200 MPa；B−A均值为+6.74万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次，仅作描述。</a:t>
            </a:r>
            <a:endParaRPr lang="zh-CN" sz="1800" dirty="0"/>
          </a:p>
        </p:txBody>
      </p:sp>
      <p:sp>
        <p:nvSpPr>
          <p:cNvPr id="32" name="s05/composition/panel/mechanism-context/title"/>
          <p:cNvSpPr/>
          <p:nvPr/>
        </p:nvSpPr>
        <p:spPr>
          <a:xfrm>
            <a:off x="6324600" y="4195096"/>
            <a:ext cx="5276850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zh-CN" altLang="en-US" sz="2025" b="1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当前未取得的证据</a:t>
            </a:r>
            <a:endParaRPr lang="zh-CN" sz="2025" dirty="0"/>
          </a:p>
        </p:txBody>
      </p:sp>
      <p:sp>
        <p:nvSpPr>
          <p:cNvPr id="33" name="s05/card/mechanism-missing/surface"/>
          <p:cNvSpPr/>
          <p:nvPr/>
        </p:nvSpPr>
        <p:spPr>
          <a:xfrm>
            <a:off x="6324600" y="4681347"/>
            <a:ext cx="5276850" cy="1347978"/>
          </a:xfrm>
          <a:prstGeom prst="roundRect">
            <a:avLst>
              <a:gd name="adj" fmla="val 4793"/>
            </a:avLst>
          </a:prstGeom>
          <a:solidFill>
            <a:srgbClr val="FFFFFF"/>
          </a:solidFill>
          <a:ln w="10478">
            <a:solidFill>
              <a:srgbClr val="B7C8CF"/>
            </a:solidFill>
            <a:prstDash val="solid"/>
          </a:ln>
        </p:spPr>
      </p:sp>
      <p:sp>
        <p:nvSpPr>
          <p:cNvPr id="34" name="s05/card/mechanism-missing/icon/0"/>
          <p:cNvSpPr/>
          <p:nvPr/>
        </p:nvSpPr>
        <p:spPr>
          <a:xfrm>
            <a:off x="6657975" y="4883158"/>
            <a:ext cx="141684" cy="253008"/>
          </a:xfrm>
          <a:prstGeom prst="line">
            <a:avLst/>
          </a:prstGeom>
          <a:noFill/>
          <a:ln w="18217">
            <a:solidFill>
              <a:srgbClr val="B15B42"/>
            </a:solidFill>
            <a:prstDash val="solid"/>
          </a:ln>
        </p:spPr>
      </p:sp>
      <p:sp>
        <p:nvSpPr>
          <p:cNvPr id="35" name="s05/card/mechanism-missing/icon/1"/>
          <p:cNvSpPr/>
          <p:nvPr/>
        </p:nvSpPr>
        <p:spPr>
          <a:xfrm flipH="1">
            <a:off x="6516291" y="5136166"/>
            <a:ext cx="283369" cy="0"/>
          </a:xfrm>
          <a:prstGeom prst="line">
            <a:avLst/>
          </a:prstGeom>
          <a:noFill/>
          <a:ln w="18217">
            <a:solidFill>
              <a:srgbClr val="B15B42"/>
            </a:solidFill>
            <a:prstDash val="solid"/>
          </a:ln>
        </p:spPr>
      </p:sp>
      <p:sp>
        <p:nvSpPr>
          <p:cNvPr id="36" name="s05/card/mechanism-missing/icon/2"/>
          <p:cNvSpPr/>
          <p:nvPr/>
        </p:nvSpPr>
        <p:spPr>
          <a:xfrm flipV="1">
            <a:off x="6516291" y="4883158"/>
            <a:ext cx="141684" cy="253008"/>
          </a:xfrm>
          <a:prstGeom prst="line">
            <a:avLst/>
          </a:prstGeom>
          <a:noFill/>
          <a:ln w="18217">
            <a:solidFill>
              <a:srgbClr val="B15B42"/>
            </a:solidFill>
            <a:prstDash val="solid"/>
          </a:ln>
        </p:spPr>
      </p:sp>
      <p:sp>
        <p:nvSpPr>
          <p:cNvPr id="37" name="s05/card/mechanism-missing/icon/3"/>
          <p:cNvSpPr/>
          <p:nvPr/>
        </p:nvSpPr>
        <p:spPr>
          <a:xfrm>
            <a:off x="6657975" y="4964120"/>
            <a:ext cx="0" cy="80963"/>
          </a:xfrm>
          <a:prstGeom prst="line">
            <a:avLst/>
          </a:prstGeom>
          <a:noFill/>
          <a:ln w="18217">
            <a:solidFill>
              <a:srgbClr val="B15B42"/>
            </a:solidFill>
            <a:prstDash val="solid"/>
          </a:ln>
        </p:spPr>
      </p:sp>
      <p:sp>
        <p:nvSpPr>
          <p:cNvPr id="38" name="s05/card/mechanism-missing/icon/4"/>
          <p:cNvSpPr/>
          <p:nvPr/>
        </p:nvSpPr>
        <p:spPr>
          <a:xfrm>
            <a:off x="6647855" y="5085564"/>
            <a:ext cx="20241" cy="20241"/>
          </a:xfrm>
          <a:prstGeom prst="ellipse">
            <a:avLst/>
          </a:prstGeom>
          <a:solidFill>
            <a:srgbClr val="B15B42"/>
          </a:solidFill>
          <a:ln w="18217">
            <a:solidFill>
              <a:srgbClr val="B15B42"/>
            </a:solidFill>
            <a:prstDash val="solid"/>
          </a:ln>
        </p:spPr>
      </p:sp>
      <p:sp>
        <p:nvSpPr>
          <p:cNvPr id="39" name="s05/card/mechanism-missing/title"/>
          <p:cNvSpPr/>
          <p:nvPr/>
        </p:nvSpPr>
        <p:spPr>
          <a:xfrm>
            <a:off x="6934200" y="4852797"/>
            <a:ext cx="4495800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zh-CN" altLang="en-US" sz="2025" b="1" dirty="0">
                <a:solidFill>
                  <a:srgbClr val="B15B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机制测量尚缺</a:t>
            </a:r>
            <a:endParaRPr lang="zh-CN" sz="2025" dirty="0"/>
          </a:p>
        </p:txBody>
      </p:sp>
      <p:sp>
        <p:nvSpPr>
          <p:cNvPr id="40" name="s05/card/mechanism-missing/body"/>
          <p:cNvSpPr/>
          <p:nvPr/>
        </p:nvSpPr>
        <p:spPr>
          <a:xfrm>
            <a:off x="6496050" y="5290947"/>
            <a:ext cx="493395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未提供断口、组织和残余应力；无法验证具体材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料机制。</a:t>
            </a:r>
            <a:endParaRPr lang="zh-CN" sz="1800" dirty="0"/>
          </a:p>
        </p:txBody>
      </p:sp>
      <p:sp>
        <p:nvSpPr>
          <p:cNvPr id="41" name="s05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教学模拟资料包（编制者未署名） 2026  |  [2] 教学模拟资料包（编制者未署名） 2026</a:t>
            </a:r>
            <a:endParaRPr lang="zh-CN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6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09</a:t>
            </a:r>
            <a:endParaRPr lang="zh-CN" sz="1050" dirty="0"/>
          </a:p>
        </p:txBody>
      </p:sp>
      <p:sp>
        <p:nvSpPr>
          <p:cNvPr id="3" name="s06/brand-label"/>
          <p:cNvSpPr/>
          <p:nvPr/>
        </p:nvSpPr>
        <p:spPr>
          <a:xfrm>
            <a:off x="10439400" y="171450"/>
            <a:ext cx="1295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zh-CN" altLang="en-US" sz="1650" b="1" dirty="0">
                <a:solidFill>
                  <a:srgbClr val="176D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教学模拟数据</a:t>
            </a:r>
            <a:endParaRPr lang="zh-CN" sz="1650" dirty="0"/>
          </a:p>
        </p:txBody>
      </p:sp>
      <p:sp>
        <p:nvSpPr>
          <p:cNvPr id="4" name="s06/title"/>
          <p:cNvSpPr/>
          <p:nvPr/>
        </p:nvSpPr>
        <p:spPr>
          <a:xfrm>
            <a:off x="457200" y="552450"/>
            <a:ext cx="11277600" cy="409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21"/>
              </a:lnSpc>
              <a:buNone/>
            </a:pPr>
            <a:r>
              <a:rPr lang="zh-CN" altLang="en-US" sz="2850" b="1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下一批：同批同应力随机验证（待实施）</a:t>
            </a:r>
            <a:endParaRPr lang="zh-CN" sz="2850" dirty="0"/>
          </a:p>
        </p:txBody>
      </p:sp>
      <p:sp>
        <p:nvSpPr>
          <p:cNvPr id="5" name="s06/composition/panel/trial/title"/>
          <p:cNvSpPr/>
          <p:nvPr/>
        </p:nvSpPr>
        <p:spPr>
          <a:xfrm>
            <a:off x="590550" y="1228154"/>
            <a:ext cx="6788727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zh-CN" altLang="en-US" sz="2025" b="1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从随机分流到共同测量</a:t>
            </a:r>
            <a:endParaRPr lang="zh-CN" sz="2025" dirty="0"/>
          </a:p>
        </p:txBody>
      </p:sp>
      <p:sp>
        <p:nvSpPr>
          <p:cNvPr id="6" name="s06/edge:0:segment:0"/>
          <p:cNvSpPr/>
          <p:nvPr/>
        </p:nvSpPr>
        <p:spPr>
          <a:xfrm>
            <a:off x="3984914" y="2626447"/>
            <a:ext cx="0" cy="123825"/>
          </a:xfrm>
          <a:prstGeom prst="line">
            <a:avLst/>
          </a:prstGeom>
          <a:noFill/>
          <a:ln w="20955">
            <a:solidFill>
              <a:srgbClr val="176D7A"/>
            </a:solidFill>
            <a:prstDash val="solid"/>
          </a:ln>
        </p:spPr>
      </p:sp>
      <p:sp>
        <p:nvSpPr>
          <p:cNvPr id="7" name="s06/edge:0:segment:1"/>
          <p:cNvSpPr/>
          <p:nvPr/>
        </p:nvSpPr>
        <p:spPr>
          <a:xfrm flipH="1">
            <a:off x="2335357" y="2750272"/>
            <a:ext cx="1649557" cy="0"/>
          </a:xfrm>
          <a:prstGeom prst="line">
            <a:avLst/>
          </a:prstGeom>
          <a:noFill/>
          <a:ln w="20955">
            <a:solidFill>
              <a:srgbClr val="176D7A"/>
            </a:solidFill>
            <a:prstDash val="solid"/>
          </a:ln>
        </p:spPr>
      </p:sp>
      <p:sp>
        <p:nvSpPr>
          <p:cNvPr id="8" name="s06/edge:0:segment:2"/>
          <p:cNvSpPr/>
          <p:nvPr/>
        </p:nvSpPr>
        <p:spPr>
          <a:xfrm>
            <a:off x="2335357" y="2750272"/>
            <a:ext cx="0" cy="123825"/>
          </a:xfrm>
          <a:prstGeom prst="line">
            <a:avLst/>
          </a:prstGeom>
          <a:noFill/>
          <a:ln w="20955">
            <a:solidFill>
              <a:srgbClr val="176D7A"/>
            </a:solidFill>
            <a:prstDash val="solid"/>
            <a:tailEnd type="triangle"/>
          </a:ln>
        </p:spPr>
      </p:sp>
      <p:sp>
        <p:nvSpPr>
          <p:cNvPr id="9" name="s06/edge:1:segment:0"/>
          <p:cNvSpPr/>
          <p:nvPr/>
        </p:nvSpPr>
        <p:spPr>
          <a:xfrm>
            <a:off x="3984914" y="2626447"/>
            <a:ext cx="0" cy="123825"/>
          </a:xfrm>
          <a:prstGeom prst="line">
            <a:avLst/>
          </a:prstGeom>
          <a:noFill/>
          <a:ln w="20955">
            <a:solidFill>
              <a:srgbClr val="176D7A"/>
            </a:solidFill>
            <a:prstDash val="solid"/>
          </a:ln>
        </p:spPr>
      </p:sp>
      <p:sp>
        <p:nvSpPr>
          <p:cNvPr id="10" name="s06/edge:1:segment:1"/>
          <p:cNvSpPr/>
          <p:nvPr/>
        </p:nvSpPr>
        <p:spPr>
          <a:xfrm>
            <a:off x="3984914" y="2750272"/>
            <a:ext cx="1649557" cy="0"/>
          </a:xfrm>
          <a:prstGeom prst="line">
            <a:avLst/>
          </a:prstGeom>
          <a:noFill/>
          <a:ln w="20955">
            <a:solidFill>
              <a:srgbClr val="176D7A"/>
            </a:solidFill>
            <a:prstDash val="solid"/>
          </a:ln>
        </p:spPr>
      </p:sp>
      <p:sp>
        <p:nvSpPr>
          <p:cNvPr id="11" name="s06/edge:1:segment:2"/>
          <p:cNvSpPr/>
          <p:nvPr/>
        </p:nvSpPr>
        <p:spPr>
          <a:xfrm>
            <a:off x="5634470" y="2750272"/>
            <a:ext cx="0" cy="123825"/>
          </a:xfrm>
          <a:prstGeom prst="line">
            <a:avLst/>
          </a:prstGeom>
          <a:noFill/>
          <a:ln w="20955">
            <a:solidFill>
              <a:srgbClr val="176D7A"/>
            </a:solidFill>
            <a:prstDash val="solid"/>
            <a:tailEnd type="triangle"/>
          </a:ln>
        </p:spPr>
      </p:sp>
      <p:sp>
        <p:nvSpPr>
          <p:cNvPr id="12" name="s06/edge:2:segment:0"/>
          <p:cNvSpPr/>
          <p:nvPr/>
        </p:nvSpPr>
        <p:spPr>
          <a:xfrm>
            <a:off x="2335357" y="3748040"/>
            <a:ext cx="0" cy="123825"/>
          </a:xfrm>
          <a:prstGeom prst="line">
            <a:avLst/>
          </a:prstGeom>
          <a:noFill/>
          <a:ln w="20955">
            <a:solidFill>
              <a:srgbClr val="176D7A"/>
            </a:solidFill>
            <a:prstDash val="solid"/>
          </a:ln>
        </p:spPr>
      </p:sp>
      <p:sp>
        <p:nvSpPr>
          <p:cNvPr id="13" name="s06/edge:2:segment:1"/>
          <p:cNvSpPr/>
          <p:nvPr/>
        </p:nvSpPr>
        <p:spPr>
          <a:xfrm>
            <a:off x="2335357" y="3871865"/>
            <a:ext cx="1649557" cy="0"/>
          </a:xfrm>
          <a:prstGeom prst="line">
            <a:avLst/>
          </a:prstGeom>
          <a:noFill/>
          <a:ln w="20955">
            <a:solidFill>
              <a:srgbClr val="176D7A"/>
            </a:solidFill>
            <a:prstDash val="solid"/>
          </a:ln>
        </p:spPr>
      </p:sp>
      <p:sp>
        <p:nvSpPr>
          <p:cNvPr id="14" name="s06/edge:2:segment:2"/>
          <p:cNvSpPr/>
          <p:nvPr/>
        </p:nvSpPr>
        <p:spPr>
          <a:xfrm>
            <a:off x="3984914" y="3871865"/>
            <a:ext cx="0" cy="123825"/>
          </a:xfrm>
          <a:prstGeom prst="line">
            <a:avLst/>
          </a:prstGeom>
          <a:noFill/>
          <a:ln w="20955">
            <a:solidFill>
              <a:srgbClr val="176D7A"/>
            </a:solidFill>
            <a:prstDash val="solid"/>
            <a:tailEnd type="triangle"/>
          </a:ln>
        </p:spPr>
      </p:sp>
      <p:sp>
        <p:nvSpPr>
          <p:cNvPr id="15" name="s06/edge:3:segment:0"/>
          <p:cNvSpPr/>
          <p:nvPr/>
        </p:nvSpPr>
        <p:spPr>
          <a:xfrm>
            <a:off x="5634470" y="3748040"/>
            <a:ext cx="0" cy="123825"/>
          </a:xfrm>
          <a:prstGeom prst="line">
            <a:avLst/>
          </a:prstGeom>
          <a:noFill/>
          <a:ln w="20955">
            <a:solidFill>
              <a:srgbClr val="176D7A"/>
            </a:solidFill>
            <a:prstDash val="solid"/>
          </a:ln>
        </p:spPr>
      </p:sp>
      <p:sp>
        <p:nvSpPr>
          <p:cNvPr id="16" name="s06/edge:3:segment:1"/>
          <p:cNvSpPr/>
          <p:nvPr/>
        </p:nvSpPr>
        <p:spPr>
          <a:xfrm flipH="1">
            <a:off x="3984914" y="3871865"/>
            <a:ext cx="1649557" cy="0"/>
          </a:xfrm>
          <a:prstGeom prst="line">
            <a:avLst/>
          </a:prstGeom>
          <a:noFill/>
          <a:ln w="20955">
            <a:solidFill>
              <a:srgbClr val="176D7A"/>
            </a:solidFill>
            <a:prstDash val="solid"/>
          </a:ln>
        </p:spPr>
      </p:sp>
      <p:sp>
        <p:nvSpPr>
          <p:cNvPr id="17" name="s06/edge:3:segment:2"/>
          <p:cNvSpPr/>
          <p:nvPr/>
        </p:nvSpPr>
        <p:spPr>
          <a:xfrm>
            <a:off x="3984914" y="3871865"/>
            <a:ext cx="0" cy="123825"/>
          </a:xfrm>
          <a:prstGeom prst="line">
            <a:avLst/>
          </a:prstGeom>
          <a:noFill/>
          <a:ln w="20955">
            <a:solidFill>
              <a:srgbClr val="176D7A"/>
            </a:solidFill>
            <a:prstDash val="solid"/>
            <a:tailEnd type="triangle"/>
          </a:ln>
        </p:spPr>
      </p:sp>
      <p:sp>
        <p:nvSpPr>
          <p:cNvPr id="18" name="s06/edge:4"/>
          <p:cNvSpPr/>
          <p:nvPr/>
        </p:nvSpPr>
        <p:spPr>
          <a:xfrm>
            <a:off x="3984914" y="4869632"/>
            <a:ext cx="0" cy="247650"/>
          </a:xfrm>
          <a:prstGeom prst="line">
            <a:avLst/>
          </a:prstGeom>
          <a:noFill/>
          <a:ln w="20955">
            <a:solidFill>
              <a:srgbClr val="176D7A"/>
            </a:solidFill>
            <a:prstDash val="solid"/>
            <a:tailEnd type="triangle"/>
          </a:ln>
        </p:spPr>
      </p:sp>
      <p:sp>
        <p:nvSpPr>
          <p:cNvPr id="19" name="s06/node:new-batch:frame"/>
          <p:cNvSpPr/>
          <p:nvPr/>
        </p:nvSpPr>
        <p:spPr>
          <a:xfrm>
            <a:off x="876300" y="1752505"/>
            <a:ext cx="6217227" cy="873943"/>
          </a:xfrm>
          <a:prstGeom prst="rect">
            <a:avLst/>
          </a:prstGeom>
          <a:solidFill>
            <a:srgbClr val="E7F1F3"/>
          </a:solidFill>
          <a:ln w="10478">
            <a:solidFill>
              <a:srgbClr val="B7C8CF"/>
            </a:solidFill>
            <a:prstDash val="solid"/>
          </a:ln>
        </p:spPr>
      </p:sp>
      <p:sp>
        <p:nvSpPr>
          <p:cNvPr id="20" name="s06/node:new-batch:label-band"/>
          <p:cNvSpPr/>
          <p:nvPr/>
        </p:nvSpPr>
        <p:spPr>
          <a:xfrm>
            <a:off x="876300" y="1752505"/>
            <a:ext cx="6217227" cy="398526"/>
          </a:xfrm>
          <a:prstGeom prst="rect">
            <a:avLst/>
          </a:prstGeom>
          <a:solidFill>
            <a:srgbClr val="52677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06/node:new-batch:label"/>
          <p:cNvSpPr/>
          <p:nvPr/>
        </p:nvSpPr>
        <p:spPr>
          <a:xfrm>
            <a:off x="990600" y="1819180"/>
            <a:ext cx="5988627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同一新批次 · 200 MPa</a:t>
            </a:r>
            <a:endParaRPr lang="zh-CN" sz="1800" dirty="0"/>
          </a:p>
        </p:txBody>
      </p:sp>
      <p:sp>
        <p:nvSpPr>
          <p:cNvPr id="22" name="s06/node:new-batch:detail"/>
          <p:cNvSpPr/>
          <p:nvPr/>
        </p:nvSpPr>
        <p:spPr>
          <a:xfrm>
            <a:off x="990600" y="2208181"/>
            <a:ext cx="5988627" cy="370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统一材料与几何；加工时段区组</a:t>
            </a:r>
            <a:endParaRPr lang="zh-CN" sz="1650" dirty="0"/>
          </a:p>
        </p:txBody>
      </p:sp>
      <p:sp>
        <p:nvSpPr>
          <p:cNvPr id="23" name="s06/node:conventional:frame"/>
          <p:cNvSpPr/>
          <p:nvPr/>
        </p:nvSpPr>
        <p:spPr>
          <a:xfrm>
            <a:off x="876300" y="2874097"/>
            <a:ext cx="2918114" cy="873943"/>
          </a:xfrm>
          <a:prstGeom prst="rect">
            <a:avLst/>
          </a:prstGeom>
          <a:solidFill>
            <a:srgbClr val="E7F1F3"/>
          </a:solidFill>
          <a:ln w="10478">
            <a:solidFill>
              <a:srgbClr val="B7C8CF"/>
            </a:solidFill>
            <a:prstDash val="solid"/>
          </a:ln>
        </p:spPr>
      </p:sp>
      <p:sp>
        <p:nvSpPr>
          <p:cNvPr id="24" name="s06/node:conventional:label-band"/>
          <p:cNvSpPr/>
          <p:nvPr/>
        </p:nvSpPr>
        <p:spPr>
          <a:xfrm>
            <a:off x="876300" y="2874097"/>
            <a:ext cx="2918114" cy="398526"/>
          </a:xfrm>
          <a:prstGeom prst="rect">
            <a:avLst/>
          </a:prstGeom>
          <a:solidFill>
            <a:srgbClr val="176D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06/node:conventional:label"/>
          <p:cNvSpPr/>
          <p:nvPr/>
        </p:nvSpPr>
        <p:spPr>
          <a:xfrm>
            <a:off x="990600" y="2940772"/>
            <a:ext cx="2689514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常规工艺</a:t>
            </a:r>
            <a:endParaRPr lang="zh-CN" sz="1800" dirty="0"/>
          </a:p>
        </p:txBody>
      </p:sp>
      <p:sp>
        <p:nvSpPr>
          <p:cNvPr id="26" name="s06/node:conventional:detail"/>
          <p:cNvSpPr/>
          <p:nvPr/>
        </p:nvSpPr>
        <p:spPr>
          <a:xfrm>
            <a:off x="990600" y="3329773"/>
            <a:ext cx="2689514" cy="370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区组内随机分配1/2</a:t>
            </a:r>
            <a:endParaRPr lang="zh-CN" sz="1650" dirty="0"/>
          </a:p>
        </p:txBody>
      </p:sp>
      <p:sp>
        <p:nvSpPr>
          <p:cNvPr id="27" name="s06/node:modified:frame"/>
          <p:cNvSpPr/>
          <p:nvPr/>
        </p:nvSpPr>
        <p:spPr>
          <a:xfrm>
            <a:off x="4175414" y="2874097"/>
            <a:ext cx="2918114" cy="873943"/>
          </a:xfrm>
          <a:prstGeom prst="rect">
            <a:avLst/>
          </a:prstGeom>
          <a:solidFill>
            <a:srgbClr val="E7F1F3"/>
          </a:solidFill>
          <a:ln w="10478">
            <a:solidFill>
              <a:srgbClr val="B7C8CF"/>
            </a:solidFill>
            <a:prstDash val="solid"/>
          </a:ln>
        </p:spPr>
      </p:sp>
      <p:sp>
        <p:nvSpPr>
          <p:cNvPr id="28" name="s06/node:modified:label-band"/>
          <p:cNvSpPr/>
          <p:nvPr/>
        </p:nvSpPr>
        <p:spPr>
          <a:xfrm>
            <a:off x="4175414" y="2874097"/>
            <a:ext cx="2918114" cy="398526"/>
          </a:xfrm>
          <a:prstGeom prst="rect">
            <a:avLst/>
          </a:prstGeom>
          <a:solidFill>
            <a:srgbClr val="176D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06/node:modified:label"/>
          <p:cNvSpPr/>
          <p:nvPr/>
        </p:nvSpPr>
        <p:spPr>
          <a:xfrm>
            <a:off x="4289714" y="2940772"/>
            <a:ext cx="2689514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改性工艺</a:t>
            </a:r>
            <a:endParaRPr lang="zh-CN" sz="1800" dirty="0"/>
          </a:p>
        </p:txBody>
      </p:sp>
      <p:sp>
        <p:nvSpPr>
          <p:cNvPr id="30" name="s06/node:modified:detail"/>
          <p:cNvSpPr/>
          <p:nvPr/>
        </p:nvSpPr>
        <p:spPr>
          <a:xfrm>
            <a:off x="4289714" y="3329773"/>
            <a:ext cx="2689514" cy="370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区组内随机分配1/2</a:t>
            </a:r>
            <a:endParaRPr lang="zh-CN" sz="1650" dirty="0"/>
          </a:p>
        </p:txBody>
      </p:sp>
      <p:sp>
        <p:nvSpPr>
          <p:cNvPr id="31" name="s06/node:followup:frame"/>
          <p:cNvSpPr/>
          <p:nvPr/>
        </p:nvSpPr>
        <p:spPr>
          <a:xfrm>
            <a:off x="876300" y="3995690"/>
            <a:ext cx="6217227" cy="873943"/>
          </a:xfrm>
          <a:prstGeom prst="rect">
            <a:avLst/>
          </a:prstGeom>
          <a:solidFill>
            <a:srgbClr val="E7F1F3"/>
          </a:solidFill>
          <a:ln w="10478">
            <a:solidFill>
              <a:srgbClr val="B7C8CF"/>
            </a:solidFill>
            <a:prstDash val="solid"/>
          </a:ln>
        </p:spPr>
      </p:sp>
      <p:sp>
        <p:nvSpPr>
          <p:cNvPr id="32" name="s06/node:followup:label-band"/>
          <p:cNvSpPr/>
          <p:nvPr/>
        </p:nvSpPr>
        <p:spPr>
          <a:xfrm>
            <a:off x="876300" y="3995690"/>
            <a:ext cx="6217227" cy="398526"/>
          </a:xfrm>
          <a:prstGeom prst="rect">
            <a:avLst/>
          </a:prstGeom>
          <a:solidFill>
            <a:srgbClr val="176D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06/node:followup:label"/>
          <p:cNvSpPr/>
          <p:nvPr/>
        </p:nvSpPr>
        <p:spPr>
          <a:xfrm>
            <a:off x="990600" y="4062365"/>
            <a:ext cx="5988627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共同终点与完整事件记录</a:t>
            </a:r>
            <a:endParaRPr lang="zh-CN" sz="1800" dirty="0"/>
          </a:p>
        </p:txBody>
      </p:sp>
      <p:sp>
        <p:nvSpPr>
          <p:cNvPr id="34" name="s06/node:followup:detail"/>
          <p:cNvSpPr/>
          <p:nvPr/>
        </p:nvSpPr>
        <p:spPr>
          <a:xfrm>
            <a:off x="990600" y="4451366"/>
            <a:ext cx="5988627" cy="370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失效，或50万次行政停止</a:t>
            </a:r>
            <a:endParaRPr lang="zh-CN" sz="1650" dirty="0"/>
          </a:p>
        </p:txBody>
      </p:sp>
      <p:sp>
        <p:nvSpPr>
          <p:cNvPr id="35" name="s06/node:primary:frame"/>
          <p:cNvSpPr/>
          <p:nvPr/>
        </p:nvSpPr>
        <p:spPr>
          <a:xfrm>
            <a:off x="876300" y="5117282"/>
            <a:ext cx="6217227" cy="873943"/>
          </a:xfrm>
          <a:prstGeom prst="rect">
            <a:avLst/>
          </a:prstGeom>
          <a:solidFill>
            <a:srgbClr val="E7F1F3"/>
          </a:solidFill>
          <a:ln w="10478">
            <a:solidFill>
              <a:srgbClr val="B7C8CF"/>
            </a:solidFill>
            <a:prstDash val="solid"/>
          </a:ln>
        </p:spPr>
      </p:sp>
      <p:sp>
        <p:nvSpPr>
          <p:cNvPr id="36" name="s06/node:primary:label-band"/>
          <p:cNvSpPr/>
          <p:nvPr/>
        </p:nvSpPr>
        <p:spPr>
          <a:xfrm>
            <a:off x="876300" y="5117282"/>
            <a:ext cx="6217227" cy="398526"/>
          </a:xfrm>
          <a:prstGeom prst="rect">
            <a:avLst/>
          </a:prstGeom>
          <a:solidFill>
            <a:srgbClr val="176D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06/node:primary:label"/>
          <p:cNvSpPr/>
          <p:nvPr/>
        </p:nvSpPr>
        <p:spPr>
          <a:xfrm>
            <a:off x="990600" y="5183957"/>
            <a:ext cx="5988627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主要比较：50万次内限制均值差</a:t>
            </a:r>
            <a:endParaRPr lang="zh-CN" sz="1800" dirty="0"/>
          </a:p>
        </p:txBody>
      </p:sp>
      <p:sp>
        <p:nvSpPr>
          <p:cNvPr id="38" name="s06/node:primary:detail"/>
          <p:cNvSpPr/>
          <p:nvPr/>
        </p:nvSpPr>
        <p:spPr>
          <a:xfrm>
            <a:off x="990600" y="5572958"/>
            <a:ext cx="5988627" cy="370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改性 − 常规；预定95%区间</a:t>
            </a:r>
            <a:endParaRPr lang="zh-CN" sz="1650" dirty="0"/>
          </a:p>
        </p:txBody>
      </p:sp>
      <p:sp>
        <p:nvSpPr>
          <p:cNvPr id="39" name="s06/composition/panel/planning/title"/>
          <p:cNvSpPr/>
          <p:nvPr/>
        </p:nvSpPr>
        <p:spPr>
          <a:xfrm>
            <a:off x="7836477" y="1228154"/>
            <a:ext cx="3764973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zh-CN" altLang="en-US" sz="2025" b="1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试验前需要锁定</a:t>
            </a:r>
            <a:endParaRPr lang="zh-CN" sz="2025" dirty="0"/>
          </a:p>
        </p:txBody>
      </p:sp>
      <p:sp>
        <p:nvSpPr>
          <p:cNvPr id="40" name="s06/card/size/surface"/>
          <p:cNvSpPr/>
          <p:nvPr/>
        </p:nvSpPr>
        <p:spPr>
          <a:xfrm>
            <a:off x="7836477" y="1714405"/>
            <a:ext cx="3764973" cy="2090785"/>
          </a:xfrm>
          <a:prstGeom prst="roundRect">
            <a:avLst>
              <a:gd name="adj" fmla="val 1992"/>
            </a:avLst>
          </a:prstGeom>
          <a:solidFill>
            <a:srgbClr val="E7F1F3"/>
          </a:solidFill>
          <a:ln w="10478">
            <a:solidFill>
              <a:srgbClr val="B7C8CF"/>
            </a:solidFill>
            <a:prstDash val="solid"/>
          </a:ln>
        </p:spPr>
      </p:sp>
      <p:sp>
        <p:nvSpPr>
          <p:cNvPr id="41" name="s06/card/size/icon/0"/>
          <p:cNvSpPr/>
          <p:nvPr/>
        </p:nvSpPr>
        <p:spPr>
          <a:xfrm>
            <a:off x="8028168" y="1906095"/>
            <a:ext cx="101203" cy="80963"/>
          </a:xfrm>
          <a:prstGeom prst="roundRect">
            <a:avLst>
              <a:gd name="adj" fmla="val 141176"/>
            </a:avLst>
          </a:prstGeom>
          <a:ln w="18217">
            <a:solidFill>
              <a:srgbClr val="176D7A"/>
            </a:solidFill>
            <a:prstDash val="solid"/>
          </a:ln>
        </p:spPr>
      </p:sp>
      <p:sp>
        <p:nvSpPr>
          <p:cNvPr id="42" name="s06/card/size/icon/1"/>
          <p:cNvSpPr/>
          <p:nvPr/>
        </p:nvSpPr>
        <p:spPr>
          <a:xfrm>
            <a:off x="8210334" y="2108502"/>
            <a:ext cx="101203" cy="80963"/>
          </a:xfrm>
          <a:prstGeom prst="roundRect">
            <a:avLst>
              <a:gd name="adj" fmla="val 141176"/>
            </a:avLst>
          </a:prstGeom>
          <a:ln w="18217">
            <a:solidFill>
              <a:srgbClr val="176D7A"/>
            </a:solidFill>
            <a:prstDash val="solid"/>
          </a:ln>
        </p:spPr>
      </p:sp>
      <p:sp>
        <p:nvSpPr>
          <p:cNvPr id="43" name="s06/card/size/icon/2"/>
          <p:cNvSpPr/>
          <p:nvPr/>
        </p:nvSpPr>
        <p:spPr>
          <a:xfrm>
            <a:off x="8210334" y="1906095"/>
            <a:ext cx="101203" cy="80963"/>
          </a:xfrm>
          <a:prstGeom prst="roundRect">
            <a:avLst>
              <a:gd name="adj" fmla="val 141176"/>
            </a:avLst>
          </a:prstGeom>
          <a:ln w="18217">
            <a:solidFill>
              <a:srgbClr val="176D7A"/>
            </a:solidFill>
            <a:prstDash val="solid"/>
          </a:ln>
        </p:spPr>
      </p:sp>
      <p:sp>
        <p:nvSpPr>
          <p:cNvPr id="44" name="s06/card/size/icon/3"/>
          <p:cNvSpPr/>
          <p:nvPr/>
        </p:nvSpPr>
        <p:spPr>
          <a:xfrm>
            <a:off x="8129371" y="1946577"/>
            <a:ext cx="80963" cy="0"/>
          </a:xfrm>
          <a:prstGeom prst="line">
            <a:avLst/>
          </a:prstGeom>
          <a:noFill/>
          <a:ln w="18217">
            <a:solidFill>
              <a:srgbClr val="176D7A"/>
            </a:solidFill>
            <a:prstDash val="solid"/>
          </a:ln>
        </p:spPr>
      </p:sp>
      <p:sp>
        <p:nvSpPr>
          <p:cNvPr id="45" name="s06/card/size/icon/4"/>
          <p:cNvSpPr/>
          <p:nvPr/>
        </p:nvSpPr>
        <p:spPr>
          <a:xfrm>
            <a:off x="8260935" y="1987058"/>
            <a:ext cx="0" cy="121444"/>
          </a:xfrm>
          <a:prstGeom prst="line">
            <a:avLst/>
          </a:prstGeom>
          <a:noFill/>
          <a:ln w="18217">
            <a:solidFill>
              <a:srgbClr val="176D7A"/>
            </a:solidFill>
            <a:prstDash val="solid"/>
          </a:ln>
        </p:spPr>
      </p:sp>
      <p:sp>
        <p:nvSpPr>
          <p:cNvPr id="46" name="s06/card/size/icon/5"/>
          <p:cNvSpPr/>
          <p:nvPr/>
        </p:nvSpPr>
        <p:spPr>
          <a:xfrm>
            <a:off x="8230574" y="2078141"/>
            <a:ext cx="30361" cy="30361"/>
          </a:xfrm>
          <a:prstGeom prst="line">
            <a:avLst/>
          </a:prstGeom>
          <a:noFill/>
          <a:ln w="18217">
            <a:solidFill>
              <a:srgbClr val="176D7A"/>
            </a:solidFill>
            <a:prstDash val="solid"/>
          </a:ln>
        </p:spPr>
      </p:sp>
      <p:sp>
        <p:nvSpPr>
          <p:cNvPr id="47" name="s06/card/size/icon/6"/>
          <p:cNvSpPr/>
          <p:nvPr/>
        </p:nvSpPr>
        <p:spPr>
          <a:xfrm flipH="1">
            <a:off x="8260935" y="2078141"/>
            <a:ext cx="30361" cy="30361"/>
          </a:xfrm>
          <a:prstGeom prst="line">
            <a:avLst/>
          </a:prstGeom>
          <a:noFill/>
          <a:ln w="18217">
            <a:solidFill>
              <a:srgbClr val="176D7A"/>
            </a:solidFill>
            <a:prstDash val="solid"/>
          </a:ln>
        </p:spPr>
      </p:sp>
      <p:sp>
        <p:nvSpPr>
          <p:cNvPr id="48" name="s06/card/size/title"/>
          <p:cNvSpPr/>
          <p:nvPr/>
        </p:nvSpPr>
        <p:spPr>
          <a:xfrm>
            <a:off x="8446077" y="1885855"/>
            <a:ext cx="2983923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zh-CN" altLang="en-US" sz="2025" b="1" dirty="0">
                <a:solidFill>
                  <a:srgbClr val="176D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样本量先于招募确定</a:t>
            </a:r>
            <a:endParaRPr lang="zh-CN" sz="2025" dirty="0"/>
          </a:p>
        </p:txBody>
      </p:sp>
      <p:sp>
        <p:nvSpPr>
          <p:cNvPr id="49" name="s06/card/size/body"/>
          <p:cNvSpPr/>
          <p:nvPr/>
        </p:nvSpPr>
        <p:spPr>
          <a:xfrm>
            <a:off x="8007927" y="2324005"/>
            <a:ext cx="3422073" cy="85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先定有意义差值和精度目标，再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对方差与删失比例作敏感性规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划。</a:t>
            </a:r>
            <a:endParaRPr lang="zh-CN" sz="1800" dirty="0"/>
          </a:p>
        </p:txBody>
      </p:sp>
      <p:sp>
        <p:nvSpPr>
          <p:cNvPr id="50" name="s06/card/execution/surface"/>
          <p:cNvSpPr/>
          <p:nvPr/>
        </p:nvSpPr>
        <p:spPr>
          <a:xfrm>
            <a:off x="7836477" y="3938540"/>
            <a:ext cx="3764973" cy="2090785"/>
          </a:xfrm>
          <a:prstGeom prst="roundRect">
            <a:avLst>
              <a:gd name="adj" fmla="val 1992"/>
            </a:avLst>
          </a:prstGeom>
          <a:solidFill>
            <a:srgbClr val="FFFFFF"/>
          </a:solidFill>
          <a:ln w="10478">
            <a:solidFill>
              <a:srgbClr val="B7C8CF"/>
            </a:solidFill>
            <a:prstDash val="solid"/>
          </a:ln>
        </p:spPr>
      </p:sp>
      <p:sp>
        <p:nvSpPr>
          <p:cNvPr id="51" name="s06/card/execution/title"/>
          <p:cNvSpPr/>
          <p:nvPr/>
        </p:nvSpPr>
        <p:spPr>
          <a:xfrm>
            <a:off x="8007927" y="4109990"/>
            <a:ext cx="3422073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zh-CN" altLang="en-US" sz="2025" b="1" dirty="0">
                <a:solidFill>
                  <a:srgbClr val="B15B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执行与外推边界</a:t>
            </a:r>
            <a:endParaRPr lang="zh-CN" sz="2025" dirty="0"/>
          </a:p>
        </p:txBody>
      </p:sp>
      <p:sp>
        <p:nvSpPr>
          <p:cNvPr id="52" name="s06/card/execution/body"/>
          <p:cNvSpPr/>
          <p:nvPr/>
        </p:nvSpPr>
        <p:spPr>
          <a:xfrm>
            <a:off x="8007927" y="4520041"/>
            <a:ext cx="3422073" cy="85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记录顺序、设备、环境；尽量盲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法判定。单批结果仍需跨批复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核。</a:t>
            </a:r>
            <a:endParaRPr lang="zh-CN" sz="1800" dirty="0"/>
          </a:p>
        </p:txBody>
      </p:sp>
      <p:sp>
        <p:nvSpPr>
          <p:cNvPr id="53" name="s06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教学模拟资料包（编制者未署名） 2026  |  [2] 教学模拟资料包（编制者未署名） 2026</a:t>
            </a:r>
            <a:endParaRPr lang="zh-CN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/ 09</a:t>
            </a:r>
            <a:endParaRPr lang="zh-CN" sz="1050" dirty="0"/>
          </a:p>
        </p:txBody>
      </p:sp>
      <p:sp>
        <p:nvSpPr>
          <p:cNvPr id="3" name="s07/brand-label"/>
          <p:cNvSpPr/>
          <p:nvPr/>
        </p:nvSpPr>
        <p:spPr>
          <a:xfrm>
            <a:off x="10439400" y="171450"/>
            <a:ext cx="1295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zh-CN" altLang="en-US" sz="1650" b="1" dirty="0">
                <a:solidFill>
                  <a:srgbClr val="176D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教学模拟数据</a:t>
            </a:r>
            <a:endParaRPr lang="zh-CN" sz="1650" dirty="0"/>
          </a:p>
        </p:txBody>
      </p:sp>
      <p:sp>
        <p:nvSpPr>
          <p:cNvPr id="4" name="s07/title"/>
          <p:cNvSpPr/>
          <p:nvPr/>
        </p:nvSpPr>
        <p:spPr>
          <a:xfrm>
            <a:off x="457200" y="552450"/>
            <a:ext cx="11277600" cy="409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21"/>
              </a:lnSpc>
              <a:buNone/>
            </a:pPr>
            <a:r>
              <a:rPr lang="zh-CN" altLang="en-US" sz="2850" b="1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判定规则要覆盖正向、反向与证据不足</a:t>
            </a:r>
            <a:endParaRPr lang="zh-CN" sz="2850" dirty="0"/>
          </a:p>
        </p:txBody>
      </p:sp>
      <p:sp>
        <p:nvSpPr>
          <p:cNvPr id="5" name="s07/composition/lead/frame"/>
          <p:cNvSpPr/>
          <p:nvPr/>
        </p:nvSpPr>
        <p:spPr>
          <a:xfrm>
            <a:off x="457200" y="1151954"/>
            <a:ext cx="11277600" cy="473964"/>
          </a:xfrm>
          <a:prstGeom prst="rect">
            <a:avLst/>
          </a:prstGeom>
          <a:solidFill>
            <a:srgbClr val="E7F1F3"/>
          </a:solidFill>
          <a:ln w="8573">
            <a:solidFill>
              <a:srgbClr val="B7C8CF"/>
            </a:solidFill>
            <a:prstDash val="solid"/>
          </a:ln>
        </p:spPr>
      </p:sp>
      <p:sp>
        <p:nvSpPr>
          <p:cNvPr id="6" name="s07/composition/lead/mark"/>
          <p:cNvSpPr/>
          <p:nvPr/>
        </p:nvSpPr>
        <p:spPr>
          <a:xfrm>
            <a:off x="457200" y="1151954"/>
            <a:ext cx="47625" cy="473964"/>
          </a:xfrm>
          <a:prstGeom prst="rect">
            <a:avLst/>
          </a:prstGeom>
          <a:solidFill>
            <a:srgbClr val="176D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07/composition/lead"/>
          <p:cNvSpPr/>
          <p:nvPr/>
        </p:nvSpPr>
        <p:spPr>
          <a:xfrm>
            <a:off x="628650" y="1247204"/>
            <a:ext cx="1093470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先检查随机化、共同应力与终点、事件标记及删失前提，再判断区间方向。</a:t>
            </a:r>
            <a:endParaRPr lang="zh-CN" sz="1800" dirty="0"/>
          </a:p>
        </p:txBody>
      </p:sp>
      <p:sp>
        <p:nvSpPr>
          <p:cNvPr id="8" name="s07/composition/panel/rule/title"/>
          <p:cNvSpPr/>
          <p:nvPr/>
        </p:nvSpPr>
        <p:spPr>
          <a:xfrm>
            <a:off x="590550" y="1835468"/>
            <a:ext cx="11010900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zh-CN" altLang="en-US" sz="2025" b="1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事前约定的结果解释</a:t>
            </a:r>
            <a:endParaRPr lang="zh-CN" sz="2025" dirty="0"/>
          </a:p>
        </p:txBody>
      </p:sp>
      <p:graphicFrame>
        <p:nvGraphicFramePr>
          <p:cNvPr id="8" name="s07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0550" y="2321719"/>
          <a:ext cx="11010900" cy="2061210"/>
        </p:xfrm>
        <a:graphic>
          <a:graphicData uri="http://schemas.openxmlformats.org/drawingml/2006/table">
            <a:tbl>
              <a:tblPr/>
              <a:tblGrid>
                <a:gridCol w="2177980"/>
                <a:gridCol w="3145971"/>
                <a:gridCol w="5686948"/>
              </a:tblGrid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176D7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先后条件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6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6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176D7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结果分支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6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6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176D7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允许的判断与动作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6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6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3"/>
                    </a:solidFill>
                  </a:tcPr>
                </a:tc>
              </a:tr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533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前提成立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7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533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L &gt; 0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7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533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支持正向差异；再判断工程意义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7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533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前提成立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7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533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U &lt; 0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7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533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支持反向差异；复核工艺与推广计划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7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533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前提成立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7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533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L ≤ 0 ≤ U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7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533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方向证据不足；不能宣布等效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7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3"/>
                    </a:solidFill>
                  </a:tcPr>
                </a:tc>
              </a:tr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533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前提不成立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6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533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分配 / 终点 / 删失失效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6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533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先核查与敏感性分析；暂停目标效应判定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6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07/table-caption"/>
          <p:cNvSpPr/>
          <p:nvPr/>
        </p:nvSpPr>
        <p:spPr>
          <a:xfrm>
            <a:off x="590550" y="4449604"/>
            <a:ext cx="11010900" cy="212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Δ=RMST改性(50万)−RMST常规(50万)，95%区间为[L,U]。本页为预定方案；当前B批区间属于“含0”。</a:t>
            </a:r>
            <a:endParaRPr lang="zh-CN" sz="1350" dirty="0"/>
          </a:p>
        </p:txBody>
      </p:sp>
      <p:sp>
        <p:nvSpPr>
          <p:cNvPr id="11" name="s07/composition/conclusion/frame"/>
          <p:cNvSpPr/>
          <p:nvPr/>
        </p:nvSpPr>
        <p:spPr>
          <a:xfrm>
            <a:off x="457200" y="5638324"/>
            <a:ext cx="11277600" cy="505301"/>
          </a:xfrm>
          <a:prstGeom prst="rect">
            <a:avLst/>
          </a:prstGeom>
          <a:solidFill>
            <a:srgbClr val="E7F1F3"/>
          </a:solidFill>
          <a:ln w="9525">
            <a:solidFill>
              <a:srgbClr val="B7C8CF"/>
            </a:solidFill>
            <a:prstDash val="solid"/>
          </a:ln>
        </p:spPr>
      </p:sp>
      <p:sp>
        <p:nvSpPr>
          <p:cNvPr id="12" name="s07/composition/conclusion/label-fill"/>
          <p:cNvSpPr/>
          <p:nvPr/>
        </p:nvSpPr>
        <p:spPr>
          <a:xfrm>
            <a:off x="457200" y="5638324"/>
            <a:ext cx="838200" cy="505301"/>
          </a:xfrm>
          <a:prstGeom prst="rect">
            <a:avLst/>
          </a:prstGeom>
          <a:solidFill>
            <a:srgbClr val="176D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07/composition/conclusion/label"/>
          <p:cNvSpPr/>
          <p:nvPr/>
        </p:nvSpPr>
        <p:spPr>
          <a:xfrm>
            <a:off x="571500" y="5743099"/>
            <a:ext cx="609600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29"/>
              </a:lnSpc>
              <a:buNone/>
            </a:pPr>
            <a:r>
              <a:rPr lang="zh-CN" altLang="en-US" sz="2025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</a:t>
            </a:r>
            <a:endParaRPr lang="zh-CN" sz="2025" dirty="0"/>
          </a:p>
        </p:txBody>
      </p:sp>
      <p:sp>
        <p:nvSpPr>
          <p:cNvPr id="14" name="s07/composition/conclusion/text"/>
          <p:cNvSpPr/>
          <p:nvPr/>
        </p:nvSpPr>
        <p:spPr>
          <a:xfrm>
            <a:off x="1447800" y="5743099"/>
            <a:ext cx="1013460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176D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未显著不等于等效；支持正向差异也不自动证明材料机制或跨条件推广。</a:t>
            </a:r>
            <a:endParaRPr lang="zh-CN" sz="1800" dirty="0"/>
          </a:p>
        </p:txBody>
      </p:sp>
      <p:sp>
        <p:nvSpPr>
          <p:cNvPr id="15" name="s07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教学模拟资料包（编制者未署名） 2026  |  [2] 教学模拟资料包（编制者未署名） 2026</a:t>
            </a:r>
            <a:endParaRPr lang="zh-CN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/ 09</a:t>
            </a:r>
            <a:endParaRPr lang="zh-CN" sz="1050" dirty="0"/>
          </a:p>
        </p:txBody>
      </p:sp>
      <p:sp>
        <p:nvSpPr>
          <p:cNvPr id="3" name="s08/brand-label"/>
          <p:cNvSpPr/>
          <p:nvPr/>
        </p:nvSpPr>
        <p:spPr>
          <a:xfrm>
            <a:off x="10439400" y="171450"/>
            <a:ext cx="1295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zh-CN" altLang="en-US" sz="1650" b="1" dirty="0">
                <a:solidFill>
                  <a:srgbClr val="176D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教学模拟数据</a:t>
            </a:r>
            <a:endParaRPr lang="zh-CN" sz="1650" dirty="0"/>
          </a:p>
        </p:txBody>
      </p:sp>
      <p:sp>
        <p:nvSpPr>
          <p:cNvPr id="4" name="s08/title"/>
          <p:cNvSpPr/>
          <p:nvPr/>
        </p:nvSpPr>
        <p:spPr>
          <a:xfrm>
            <a:off x="457200" y="552450"/>
            <a:ext cx="11277600" cy="409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21"/>
              </a:lnSpc>
              <a:buNone/>
            </a:pPr>
            <a:r>
              <a:rPr lang="zh-CN" altLang="en-US" sz="2850" b="1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当前结论与下一步决策</a:t>
            </a:r>
            <a:endParaRPr lang="zh-CN" sz="2850" dirty="0"/>
          </a:p>
        </p:txBody>
      </p:sp>
      <p:sp>
        <p:nvSpPr>
          <p:cNvPr id="5" name="s08/closing-statement"/>
          <p:cNvSpPr/>
          <p:nvPr/>
        </p:nvSpPr>
        <p:spPr>
          <a:xfrm>
            <a:off x="457200" y="1266254"/>
            <a:ext cx="6315456" cy="1060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76"/>
              </a:lnSpc>
              <a:buNone/>
            </a:pPr>
            <a:r>
              <a:rPr lang="zh-CN" altLang="en-US" sz="3600" b="1" dirty="0">
                <a:solidFill>
                  <a:srgbClr val="176D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当前证据支持开展规范验证，</a:t>
            </a:r>
            <a:endParaRPr lang="zh-CN" sz="3600" dirty="0"/>
          </a:p>
          <a:p>
            <a:pPr algn="l" indent="0" marL="0">
              <a:lnSpc>
                <a:spcPts val="4176"/>
              </a:lnSpc>
              <a:buNone/>
            </a:pPr>
            <a:r>
              <a:rPr lang="zh-CN" altLang="en-US" sz="3600" b="1" dirty="0">
                <a:solidFill>
                  <a:srgbClr val="176D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尚未确认改性带来寿命增益。</a:t>
            </a:r>
            <a:endParaRPr lang="zh-CN" sz="3600" dirty="0"/>
          </a:p>
        </p:txBody>
      </p:sp>
      <p:sp>
        <p:nvSpPr>
          <p:cNvPr id="6" name="s08/card/take-evidence/surface"/>
          <p:cNvSpPr/>
          <p:nvPr/>
        </p:nvSpPr>
        <p:spPr>
          <a:xfrm>
            <a:off x="628650" y="2857500"/>
            <a:ext cx="5305425" cy="1714500"/>
          </a:xfrm>
          <a:prstGeom prst="roundRect">
            <a:avLst>
              <a:gd name="adj" fmla="val 2963"/>
            </a:avLst>
          </a:prstGeom>
          <a:solidFill>
            <a:srgbClr val="E7F1F3"/>
          </a:solidFill>
          <a:ln w="10478">
            <a:solidFill>
              <a:srgbClr val="B7C8CF"/>
            </a:solidFill>
            <a:prstDash val="solid"/>
          </a:ln>
        </p:spPr>
      </p:sp>
      <p:sp>
        <p:nvSpPr>
          <p:cNvPr id="7" name="s08/card/take-evidence/title"/>
          <p:cNvSpPr/>
          <p:nvPr/>
        </p:nvSpPr>
        <p:spPr>
          <a:xfrm>
            <a:off x="800100" y="3028950"/>
            <a:ext cx="4962525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zh-CN" altLang="en-US" sz="2025" b="1" dirty="0">
                <a:solidFill>
                  <a:srgbClr val="176D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最可比证据：B批</a:t>
            </a:r>
            <a:endParaRPr lang="zh-CN" sz="2025" dirty="0"/>
          </a:p>
        </p:txBody>
      </p:sp>
      <p:sp>
        <p:nvSpPr>
          <p:cNvPr id="8" name="s08/card/take-evidence/body"/>
          <p:cNvSpPr/>
          <p:nvPr/>
        </p:nvSpPr>
        <p:spPr>
          <a:xfrm>
            <a:off x="800100" y="3439001"/>
            <a:ext cx="4962525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+2.56万次；95%区间−1.37至+6.49万次。仍为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观察比较。</a:t>
            </a:r>
            <a:endParaRPr lang="zh-CN" sz="1800" dirty="0"/>
          </a:p>
        </p:txBody>
      </p:sp>
      <p:sp>
        <p:nvSpPr>
          <p:cNvPr id="9" name="s08/card/take-action/surface"/>
          <p:cNvSpPr/>
          <p:nvPr/>
        </p:nvSpPr>
        <p:spPr>
          <a:xfrm>
            <a:off x="6238875" y="2857500"/>
            <a:ext cx="5305425" cy="171450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0478">
            <a:solidFill>
              <a:srgbClr val="B7C8CF"/>
            </a:solidFill>
            <a:prstDash val="solid"/>
          </a:ln>
        </p:spPr>
      </p:sp>
      <p:sp>
        <p:nvSpPr>
          <p:cNvPr id="10" name="s08/card/take-action/title"/>
          <p:cNvSpPr/>
          <p:nvPr/>
        </p:nvSpPr>
        <p:spPr>
          <a:xfrm>
            <a:off x="6410325" y="3028950"/>
            <a:ext cx="4962525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zh-CN" altLang="en-US" sz="2025" b="1" dirty="0">
                <a:solidFill>
                  <a:srgbClr val="176D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下一步：同条件随机验证</a:t>
            </a:r>
            <a:endParaRPr lang="zh-CN" sz="2025" dirty="0"/>
          </a:p>
        </p:txBody>
      </p:sp>
      <p:sp>
        <p:nvSpPr>
          <p:cNvPr id="11" name="s08/card/take-action/body"/>
          <p:cNvSpPr/>
          <p:nvPr/>
        </p:nvSpPr>
        <p:spPr>
          <a:xfrm>
            <a:off x="6410325" y="3439001"/>
            <a:ext cx="4962525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共同50万次终点；完整记录事件；按事前规则判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断正、反与不确定。</a:t>
            </a:r>
            <a:endParaRPr lang="zh-CN" sz="1800" dirty="0"/>
          </a:p>
        </p:txBody>
      </p:sp>
      <p:sp>
        <p:nvSpPr>
          <p:cNvPr id="12" name="s08/card/take-question/surface"/>
          <p:cNvSpPr/>
          <p:nvPr/>
        </p:nvSpPr>
        <p:spPr>
          <a:xfrm>
            <a:off x="628650" y="4953000"/>
            <a:ext cx="10915650" cy="1123950"/>
          </a:xfrm>
          <a:prstGeom prst="roundRect">
            <a:avLst>
              <a:gd name="adj" fmla="val 6895"/>
            </a:avLst>
          </a:prstGeom>
          <a:solidFill>
            <a:srgbClr val="E7F1F3"/>
          </a:solidFill>
          <a:ln w="10478">
            <a:solidFill>
              <a:srgbClr val="B7C8CF"/>
            </a:solidFill>
            <a:prstDash val="solid"/>
          </a:ln>
        </p:spPr>
      </p:sp>
      <p:sp>
        <p:nvSpPr>
          <p:cNvPr id="13" name="s08/card/take-question/title"/>
          <p:cNvSpPr/>
          <p:nvPr/>
        </p:nvSpPr>
        <p:spPr>
          <a:xfrm>
            <a:off x="800100" y="5124450"/>
            <a:ext cx="10572750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zh-CN" altLang="en-US" sz="2025" b="1" dirty="0">
                <a:solidFill>
                  <a:srgbClr val="176D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试验前需要课题组确定</a:t>
            </a:r>
            <a:endParaRPr lang="zh-CN" sz="2025" dirty="0"/>
          </a:p>
        </p:txBody>
      </p:sp>
      <p:sp>
        <p:nvSpPr>
          <p:cNvPr id="14" name="s08/card/take-question/body"/>
          <p:cNvSpPr/>
          <p:nvPr/>
        </p:nvSpPr>
        <p:spPr>
          <a:xfrm>
            <a:off x="800100" y="5534501"/>
            <a:ext cx="1057275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工程上有意义的寿命增益与精度目标，如何确定？</a:t>
            </a:r>
            <a:endParaRPr lang="zh-CN" sz="1800" dirty="0"/>
          </a:p>
        </p:txBody>
      </p:sp>
      <p:sp>
        <p:nvSpPr>
          <p:cNvPr id="15" name="s08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教学模拟资料包（编制者未署名） 2026  |  [2] 教学模拟资料包（编制者未署名） 2026</a:t>
            </a:r>
            <a:endParaRPr lang="zh-CN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9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 / 09</a:t>
            </a:r>
            <a:endParaRPr lang="zh-CN" sz="1050" dirty="0"/>
          </a:p>
        </p:txBody>
      </p:sp>
      <p:sp>
        <p:nvSpPr>
          <p:cNvPr id="3" name="s09/brand-label"/>
          <p:cNvSpPr/>
          <p:nvPr/>
        </p:nvSpPr>
        <p:spPr>
          <a:xfrm>
            <a:off x="10439400" y="171450"/>
            <a:ext cx="1295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zh-CN" altLang="en-US" sz="1650" b="1" dirty="0">
                <a:solidFill>
                  <a:srgbClr val="176D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教学模拟数据</a:t>
            </a:r>
            <a:endParaRPr lang="zh-CN" sz="1650" dirty="0"/>
          </a:p>
        </p:txBody>
      </p:sp>
      <p:sp>
        <p:nvSpPr>
          <p:cNvPr id="4" name="s09/title"/>
          <p:cNvSpPr/>
          <p:nvPr/>
        </p:nvSpPr>
        <p:spPr>
          <a:xfrm>
            <a:off x="457200" y="552450"/>
            <a:ext cx="11277600" cy="409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21"/>
              </a:lnSpc>
              <a:buNone/>
            </a:pPr>
            <a:r>
              <a:rPr lang="zh-CN" altLang="en-US" sz="2850" b="1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原始资料（教学模拟）</a:t>
            </a:r>
            <a:endParaRPr lang="zh-CN" sz="2850" dirty="0"/>
          </a:p>
        </p:txBody>
      </p:sp>
      <p:sp>
        <p:nvSpPr>
          <p:cNvPr id="5" name="s09/ref:protocol:id"/>
          <p:cNvSpPr/>
          <p:nvPr/>
        </p:nvSpPr>
        <p:spPr>
          <a:xfrm>
            <a:off x="457200" y="1171004"/>
            <a:ext cx="5524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12"/>
              </a:lnSpc>
              <a:buNone/>
            </a:pPr>
            <a:r>
              <a:rPr lang="zh-CN" altLang="en-US" sz="1650" b="1" dirty="0">
                <a:solidFill>
                  <a:srgbClr val="176D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</a:t>
            </a:r>
            <a:endParaRPr lang="zh-CN" sz="1650" dirty="0"/>
          </a:p>
        </p:txBody>
      </p:sp>
      <p:sp>
        <p:nvSpPr>
          <p:cNvPr id="6" name="s09/ref:protocol:title"/>
          <p:cNvSpPr/>
          <p:nvPr/>
        </p:nvSpPr>
        <p:spPr>
          <a:xfrm>
            <a:off x="1123950" y="1151954"/>
            <a:ext cx="1061085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金属构件疲劳试验记录（教学模拟材料）</a:t>
            </a:r>
            <a:endParaRPr lang="zh-CN" sz="1800" dirty="0"/>
          </a:p>
        </p:txBody>
      </p:sp>
      <p:sp>
        <p:nvSpPr>
          <p:cNvPr id="7" name="s09/ref:protocol:meta"/>
          <p:cNvSpPr/>
          <p:nvPr/>
        </p:nvSpPr>
        <p:spPr>
          <a:xfrm>
            <a:off x="1123950" y="1492949"/>
            <a:ext cx="10610850" cy="212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教学模拟资料包（编制者未署名） · 原始试验协议；非期刊材料 · 2026 · inputs/protocol.md · 资料版本1，2026-10-20</a:t>
            </a:r>
            <a:endParaRPr lang="zh-CN" sz="1350" dirty="0"/>
          </a:p>
        </p:txBody>
      </p:sp>
      <p:sp>
        <p:nvSpPr>
          <p:cNvPr id="8" name="s09/ref:protocol:line"/>
          <p:cNvSpPr/>
          <p:nvPr/>
        </p:nvSpPr>
        <p:spPr>
          <a:xfrm>
            <a:off x="1123950" y="1810131"/>
            <a:ext cx="10610850" cy="0"/>
          </a:xfrm>
          <a:prstGeom prst="line">
            <a:avLst/>
          </a:prstGeom>
          <a:noFill/>
          <a:ln w="13335">
            <a:solidFill>
              <a:srgbClr val="B7C8CF"/>
            </a:solidFill>
            <a:prstDash val="solid"/>
          </a:ln>
        </p:spPr>
      </p:sp>
      <p:sp>
        <p:nvSpPr>
          <p:cNvPr id="9" name="s09/ref:dataset:id"/>
          <p:cNvSpPr/>
          <p:nvPr/>
        </p:nvSpPr>
        <p:spPr>
          <a:xfrm>
            <a:off x="457200" y="1953006"/>
            <a:ext cx="5524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12"/>
              </a:lnSpc>
              <a:buNone/>
            </a:pPr>
            <a:r>
              <a:rPr lang="zh-CN" altLang="en-US" sz="1650" b="1" dirty="0">
                <a:solidFill>
                  <a:srgbClr val="176D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[2]</a:t>
            </a:r>
            <a:endParaRPr lang="zh-CN" sz="1650" dirty="0"/>
          </a:p>
        </p:txBody>
      </p:sp>
      <p:sp>
        <p:nvSpPr>
          <p:cNvPr id="10" name="s09/ref:dataset:title"/>
          <p:cNvSpPr/>
          <p:nvPr/>
        </p:nvSpPr>
        <p:spPr>
          <a:xfrm>
            <a:off x="1123950" y="1933956"/>
            <a:ext cx="1061085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53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金属构件疲劳记录：48件试件CSV（教学模拟数据）</a:t>
            </a:r>
            <a:endParaRPr lang="zh-CN" sz="1800" dirty="0"/>
          </a:p>
        </p:txBody>
      </p:sp>
      <p:sp>
        <p:nvSpPr>
          <p:cNvPr id="11" name="s09/ref:dataset:meta"/>
          <p:cNvSpPr/>
          <p:nvPr/>
        </p:nvSpPr>
        <p:spPr>
          <a:xfrm>
            <a:off x="1123950" y="2274951"/>
            <a:ext cx="10610850" cy="42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教学模拟资料包（编制者未署名） · 原始数据文件 fatigue.csv；非期刊材料 · 2026 · inputs/fatigue.csv · 随协议v1提供，</a:t>
            </a:r>
            <a:endParaRPr lang="zh-CN" sz="1350" dirty="0"/>
          </a:p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2026-10-20</a:t>
            </a:r>
            <a:endParaRPr lang="zh-CN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改性工艺是否改善疲劳寿命？当前证据与验证路径</dc:title>
  <dc:subject>根据协议v1和48件教学模拟试件，在同批、同应力可比条件下，改性工艺的疲劳寿命证据支持什么，如何用下一批试验检验？用户要求7–9页、8–10分钟、可编辑PPTX、逐页讲稿、可恢复工程和真实渲染逐页审查。</dc:subject>
  <dc:creator>DSH Academic PPT</dc:creator>
  <cp:lastModifiedBy>DSH Academic PPT</cp:lastModifiedBy>
  <cp:revision>1</cp:revision>
  <dcterms:created xsi:type="dcterms:W3CDTF">2026-10-21T03:08:03Z</dcterms:created>
  <dcterms:modified xsi:type="dcterms:W3CDTF">2026-10-21T03:08:03Z</dcterms:modified>
</cp:coreProperties>
</file>